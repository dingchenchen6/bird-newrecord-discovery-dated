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0241280" cy="6766560"/>
            <a:chOff x="182880" y="182880"/>
            <a:chExt cx="10241280" cy="67665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0241280" cy="67665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0241279" cy="67665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5051050" cy="31875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303520" y="252469"/>
              <a:ext cx="5051050" cy="31875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01215" y="818749"/>
              <a:ext cx="4501084" cy="22448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01215" y="296158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01215" y="2242379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1215" y="1523176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1215" y="296158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905810" y="920789"/>
              <a:ext cx="4091894" cy="1848371"/>
            </a:xfrm>
            <a:custGeom>
              <a:avLst/>
              <a:pathLst>
                <a:path w="4091894" h="1848371">
                  <a:moveTo>
                    <a:pt x="0" y="989118"/>
                  </a:moveTo>
                  <a:lnTo>
                    <a:pt x="1363964" y="766715"/>
                  </a:lnTo>
                  <a:lnTo>
                    <a:pt x="2727929" y="155159"/>
                  </a:lnTo>
                  <a:lnTo>
                    <a:pt x="4091894" y="0"/>
                  </a:lnTo>
                  <a:lnTo>
                    <a:pt x="4091894" y="1163317"/>
                  </a:lnTo>
                  <a:lnTo>
                    <a:pt x="2727929" y="1263025"/>
                  </a:lnTo>
                  <a:lnTo>
                    <a:pt x="1363964" y="1731403"/>
                  </a:lnTo>
                  <a:lnTo>
                    <a:pt x="0" y="1848371"/>
                  </a:lnTo>
                  <a:close/>
                </a:path>
              </a:pathLst>
            </a:custGeom>
            <a:solidFill>
              <a:srgbClr val="0072B2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05810" y="920789"/>
              <a:ext cx="4091894" cy="989118"/>
            </a:xfrm>
            <a:custGeom>
              <a:avLst/>
              <a:pathLst>
                <a:path w="4091894" h="989118">
                  <a:moveTo>
                    <a:pt x="0" y="989118"/>
                  </a:moveTo>
                  <a:lnTo>
                    <a:pt x="1363964" y="766715"/>
                  </a:lnTo>
                  <a:lnTo>
                    <a:pt x="2727929" y="155159"/>
                  </a:lnTo>
                  <a:lnTo>
                    <a:pt x="40918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05810" y="2084107"/>
              <a:ext cx="4091894" cy="685053"/>
            </a:xfrm>
            <a:custGeom>
              <a:avLst/>
              <a:pathLst>
                <a:path w="4091894" h="685053">
                  <a:moveTo>
                    <a:pt x="4091894" y="0"/>
                  </a:moveTo>
                  <a:lnTo>
                    <a:pt x="2727929" y="99707"/>
                  </a:lnTo>
                  <a:lnTo>
                    <a:pt x="1363964" y="568086"/>
                  </a:lnTo>
                  <a:lnTo>
                    <a:pt x="0" y="6850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905810" y="1085787"/>
              <a:ext cx="4091894" cy="1727642"/>
            </a:xfrm>
            <a:custGeom>
              <a:avLst/>
              <a:pathLst>
                <a:path w="4091894" h="1727642">
                  <a:moveTo>
                    <a:pt x="0" y="865811"/>
                  </a:moveTo>
                  <a:lnTo>
                    <a:pt x="1363964" y="687414"/>
                  </a:lnTo>
                  <a:lnTo>
                    <a:pt x="2727929" y="227129"/>
                  </a:lnTo>
                  <a:lnTo>
                    <a:pt x="4091894" y="0"/>
                  </a:lnTo>
                  <a:lnTo>
                    <a:pt x="4091894" y="1102166"/>
                  </a:lnTo>
                  <a:lnTo>
                    <a:pt x="2727929" y="1262568"/>
                  </a:lnTo>
                  <a:lnTo>
                    <a:pt x="1363964" y="1626419"/>
                  </a:lnTo>
                  <a:lnTo>
                    <a:pt x="0" y="1727642"/>
                  </a:lnTo>
                  <a:close/>
                </a:path>
              </a:pathLst>
            </a:custGeom>
            <a:solidFill>
              <a:srgbClr val="999999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05810" y="1085787"/>
              <a:ext cx="4091894" cy="865811"/>
            </a:xfrm>
            <a:custGeom>
              <a:avLst/>
              <a:pathLst>
                <a:path w="4091894" h="865811">
                  <a:moveTo>
                    <a:pt x="0" y="865811"/>
                  </a:moveTo>
                  <a:lnTo>
                    <a:pt x="1363964" y="687414"/>
                  </a:lnTo>
                  <a:lnTo>
                    <a:pt x="2727929" y="227129"/>
                  </a:lnTo>
                  <a:lnTo>
                    <a:pt x="40918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05810" y="2187953"/>
              <a:ext cx="4091894" cy="625476"/>
            </a:xfrm>
            <a:custGeom>
              <a:avLst/>
              <a:pathLst>
                <a:path w="4091894" h="625476">
                  <a:moveTo>
                    <a:pt x="4091894" y="0"/>
                  </a:moveTo>
                  <a:lnTo>
                    <a:pt x="2727929" y="160402"/>
                  </a:lnTo>
                  <a:lnTo>
                    <a:pt x="1363964" y="524253"/>
                  </a:lnTo>
                  <a:lnTo>
                    <a:pt x="0" y="6254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905810" y="942931"/>
              <a:ext cx="4091894" cy="1687811"/>
            </a:xfrm>
            <a:custGeom>
              <a:avLst/>
              <a:pathLst>
                <a:path w="4091894" h="1687811">
                  <a:moveTo>
                    <a:pt x="0" y="781385"/>
                  </a:moveTo>
                  <a:lnTo>
                    <a:pt x="1363964" y="568564"/>
                  </a:lnTo>
                  <a:lnTo>
                    <a:pt x="2727929" y="140755"/>
                  </a:lnTo>
                  <a:lnTo>
                    <a:pt x="4091894" y="0"/>
                  </a:lnTo>
                  <a:lnTo>
                    <a:pt x="4091894" y="1126544"/>
                  </a:lnTo>
                  <a:lnTo>
                    <a:pt x="2727929" y="1241480"/>
                  </a:lnTo>
                  <a:lnTo>
                    <a:pt x="1363964" y="1567476"/>
                  </a:lnTo>
                  <a:lnTo>
                    <a:pt x="0" y="1687811"/>
                  </a:lnTo>
                  <a:close/>
                </a:path>
              </a:pathLst>
            </a:custGeom>
            <a:solidFill>
              <a:srgbClr val="009E73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05810" y="942931"/>
              <a:ext cx="4091894" cy="781385"/>
            </a:xfrm>
            <a:custGeom>
              <a:avLst/>
              <a:pathLst>
                <a:path w="4091894" h="781385">
                  <a:moveTo>
                    <a:pt x="0" y="781385"/>
                  </a:moveTo>
                  <a:lnTo>
                    <a:pt x="1363964" y="568564"/>
                  </a:lnTo>
                  <a:lnTo>
                    <a:pt x="2727929" y="140755"/>
                  </a:lnTo>
                  <a:lnTo>
                    <a:pt x="40918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05810" y="2069475"/>
              <a:ext cx="4091894" cy="561267"/>
            </a:xfrm>
            <a:custGeom>
              <a:avLst/>
              <a:pathLst>
                <a:path w="4091894" h="561267">
                  <a:moveTo>
                    <a:pt x="4091894" y="0"/>
                  </a:moveTo>
                  <a:lnTo>
                    <a:pt x="2727929" y="114935"/>
                  </a:lnTo>
                  <a:lnTo>
                    <a:pt x="1363964" y="440931"/>
                  </a:lnTo>
                  <a:lnTo>
                    <a:pt x="0" y="5612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05810" y="1536023"/>
              <a:ext cx="4091894" cy="825447"/>
            </a:xfrm>
            <a:custGeom>
              <a:avLst/>
              <a:pathLst>
                <a:path w="4091894" h="825447">
                  <a:moveTo>
                    <a:pt x="0" y="825447"/>
                  </a:moveTo>
                  <a:lnTo>
                    <a:pt x="1363964" y="660418"/>
                  </a:lnTo>
                  <a:lnTo>
                    <a:pt x="2727929" y="125091"/>
                  </a:lnTo>
                  <a:lnTo>
                    <a:pt x="409189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05810" y="1667826"/>
              <a:ext cx="4091894" cy="736985"/>
            </a:xfrm>
            <a:custGeom>
              <a:avLst/>
              <a:pathLst>
                <a:path w="4091894" h="736985">
                  <a:moveTo>
                    <a:pt x="0" y="736985"/>
                  </a:moveTo>
                  <a:lnTo>
                    <a:pt x="1363964" y="600497"/>
                  </a:lnTo>
                  <a:lnTo>
                    <a:pt x="2727929" y="191247"/>
                  </a:lnTo>
                  <a:lnTo>
                    <a:pt x="4091894" y="0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05810" y="1537706"/>
              <a:ext cx="4091894" cy="663333"/>
            </a:xfrm>
            <a:custGeom>
              <a:avLst/>
              <a:pathLst>
                <a:path w="4091894" h="663333">
                  <a:moveTo>
                    <a:pt x="0" y="663333"/>
                  </a:moveTo>
                  <a:lnTo>
                    <a:pt x="1363964" y="500761"/>
                  </a:lnTo>
                  <a:lnTo>
                    <a:pt x="2727929" y="127199"/>
                  </a:lnTo>
                  <a:lnTo>
                    <a:pt x="409189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882748" y="2177978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246713" y="2015406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10678" y="1641844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974643" y="1514644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882748" y="2381750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246713" y="2245262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610678" y="1836012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974643" y="1644764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882748" y="2338408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246713" y="2173379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610678" y="1638052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74643" y="1512961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01215" y="818749"/>
              <a:ext cx="0" cy="2244873"/>
            </a:xfrm>
            <a:custGeom>
              <a:avLst/>
              <a:pathLst>
                <a:path w="0" h="2244873">
                  <a:moveTo>
                    <a:pt x="0" y="22448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503004" y="292519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3004" y="220598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03004" y="148678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669584" y="296158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69584" y="224237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69584" y="152317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01215" y="306362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05810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269775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633739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97704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77555" y="312055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213265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577230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941194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047873" y="3246374"/>
              <a:ext cx="180776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-215250" y="1895694"/>
              <a:ext cx="12288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2498992" y="2372816"/>
              <a:ext cx="1805746" cy="5734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2562255" y="2445177"/>
              <a:ext cx="681136" cy="61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baseline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2562255" y="2579351"/>
              <a:ext cx="113872" cy="101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573642" y="2629961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596130" y="2606900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562255" y="2680572"/>
              <a:ext cx="113872" cy="101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73642" y="273118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596130" y="2708120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562255" y="2781792"/>
              <a:ext cx="113872" cy="101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573642" y="283240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596130" y="2809340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739391" y="2601844"/>
              <a:ext cx="1170980" cy="56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WorldClim 10' , 1980-2000 (main)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739391" y="2703064"/>
              <a:ext cx="1462674" cy="56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CRU TS 0.5° , 1980-2000 (source control)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739391" y="2804284"/>
              <a:ext cx="1502084" cy="56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CRU TS 0.5° , 1970-2000 (longer baseline)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01215" y="521126"/>
              <a:ext cx="355509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Every source and baseline gives the same rise from W = 5 to W = 20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01215" y="328384"/>
              <a:ext cx="28031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warming signal is decadal, not annual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32029" y="314803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5752266" y="818749"/>
              <a:ext cx="4501084" cy="22448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52266" y="296158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52266" y="2267385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752266" y="1573187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752266" y="878990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752266" y="296158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  <a:lnTo>
                    <a:pt x="4501084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5956861" y="920789"/>
              <a:ext cx="4091894" cy="1230277"/>
            </a:xfrm>
            <a:custGeom>
              <a:avLst/>
              <a:pathLst>
                <a:path w="4091894" h="1230277">
                  <a:moveTo>
                    <a:pt x="0" y="59059"/>
                  </a:moveTo>
                  <a:lnTo>
                    <a:pt x="1363964" y="0"/>
                  </a:lnTo>
                  <a:lnTo>
                    <a:pt x="2727929" y="18802"/>
                  </a:lnTo>
                  <a:lnTo>
                    <a:pt x="4091894" y="38415"/>
                  </a:lnTo>
                  <a:lnTo>
                    <a:pt x="4091894" y="1198196"/>
                  </a:lnTo>
                  <a:lnTo>
                    <a:pt x="2727929" y="1189466"/>
                  </a:lnTo>
                  <a:lnTo>
                    <a:pt x="1363964" y="1186280"/>
                  </a:lnTo>
                  <a:lnTo>
                    <a:pt x="0" y="1230277"/>
                  </a:lnTo>
                  <a:close/>
                </a:path>
              </a:pathLst>
            </a:custGeom>
            <a:solidFill>
              <a:srgbClr val="0072B2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956861" y="920789"/>
              <a:ext cx="4091894" cy="59059"/>
            </a:xfrm>
            <a:custGeom>
              <a:avLst/>
              <a:pathLst>
                <a:path w="4091894" h="59059">
                  <a:moveTo>
                    <a:pt x="0" y="59059"/>
                  </a:moveTo>
                  <a:lnTo>
                    <a:pt x="1363964" y="0"/>
                  </a:lnTo>
                  <a:lnTo>
                    <a:pt x="2727929" y="18802"/>
                  </a:lnTo>
                  <a:lnTo>
                    <a:pt x="4091894" y="384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956861" y="2107069"/>
              <a:ext cx="4091894" cy="43997"/>
            </a:xfrm>
            <a:custGeom>
              <a:avLst/>
              <a:pathLst>
                <a:path w="4091894" h="43997">
                  <a:moveTo>
                    <a:pt x="4091894" y="11916"/>
                  </a:moveTo>
                  <a:lnTo>
                    <a:pt x="2727929" y="3186"/>
                  </a:lnTo>
                  <a:lnTo>
                    <a:pt x="1363964" y="0"/>
                  </a:lnTo>
                  <a:lnTo>
                    <a:pt x="0" y="439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5956861" y="1108908"/>
              <a:ext cx="4091894" cy="1190145"/>
            </a:xfrm>
            <a:custGeom>
              <a:avLst/>
              <a:pathLst>
                <a:path w="4091894" h="1190145">
                  <a:moveTo>
                    <a:pt x="0" y="48679"/>
                  </a:moveTo>
                  <a:lnTo>
                    <a:pt x="1363964" y="0"/>
                  </a:lnTo>
                  <a:lnTo>
                    <a:pt x="2727929" y="53971"/>
                  </a:lnTo>
                  <a:lnTo>
                    <a:pt x="4091894" y="72693"/>
                  </a:lnTo>
                  <a:lnTo>
                    <a:pt x="4091894" y="1190145"/>
                  </a:lnTo>
                  <a:lnTo>
                    <a:pt x="2727929" y="1181872"/>
                  </a:lnTo>
                  <a:lnTo>
                    <a:pt x="1363964" y="1157626"/>
                  </a:lnTo>
                  <a:lnTo>
                    <a:pt x="0" y="1187298"/>
                  </a:lnTo>
                  <a:close/>
                </a:path>
              </a:pathLst>
            </a:custGeom>
            <a:solidFill>
              <a:srgbClr val="999999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956861" y="1108908"/>
              <a:ext cx="4091894" cy="72693"/>
            </a:xfrm>
            <a:custGeom>
              <a:avLst/>
              <a:pathLst>
                <a:path w="4091894" h="72693">
                  <a:moveTo>
                    <a:pt x="0" y="48679"/>
                  </a:moveTo>
                  <a:lnTo>
                    <a:pt x="1363964" y="0"/>
                  </a:lnTo>
                  <a:lnTo>
                    <a:pt x="2727929" y="53971"/>
                  </a:lnTo>
                  <a:lnTo>
                    <a:pt x="4091894" y="726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956861" y="2266534"/>
              <a:ext cx="4091894" cy="32519"/>
            </a:xfrm>
            <a:custGeom>
              <a:avLst/>
              <a:pathLst>
                <a:path w="4091894" h="32519">
                  <a:moveTo>
                    <a:pt x="4091894" y="32519"/>
                  </a:moveTo>
                  <a:lnTo>
                    <a:pt x="2727929" y="24246"/>
                  </a:lnTo>
                  <a:lnTo>
                    <a:pt x="1363964" y="0"/>
                  </a:lnTo>
                  <a:lnTo>
                    <a:pt x="0" y="296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956861" y="1049089"/>
              <a:ext cx="4091894" cy="1221950"/>
            </a:xfrm>
            <a:custGeom>
              <a:avLst/>
              <a:pathLst>
                <a:path w="4091894" h="1221950">
                  <a:moveTo>
                    <a:pt x="0" y="75892"/>
                  </a:moveTo>
                  <a:lnTo>
                    <a:pt x="1363964" y="0"/>
                  </a:lnTo>
                  <a:lnTo>
                    <a:pt x="2727929" y="31740"/>
                  </a:lnTo>
                  <a:lnTo>
                    <a:pt x="4091894" y="20104"/>
                  </a:lnTo>
                  <a:lnTo>
                    <a:pt x="4091894" y="1164572"/>
                  </a:lnTo>
                  <a:lnTo>
                    <a:pt x="2727929" y="1181460"/>
                  </a:lnTo>
                  <a:lnTo>
                    <a:pt x="1363964" y="1171263"/>
                  </a:lnTo>
                  <a:lnTo>
                    <a:pt x="0" y="1221950"/>
                  </a:lnTo>
                  <a:close/>
                </a:path>
              </a:pathLst>
            </a:custGeom>
            <a:solidFill>
              <a:srgbClr val="009E73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956861" y="1049089"/>
              <a:ext cx="4091894" cy="75892"/>
            </a:xfrm>
            <a:custGeom>
              <a:avLst/>
              <a:pathLst>
                <a:path w="4091894" h="75892">
                  <a:moveTo>
                    <a:pt x="0" y="75892"/>
                  </a:moveTo>
                  <a:lnTo>
                    <a:pt x="1363964" y="0"/>
                  </a:lnTo>
                  <a:lnTo>
                    <a:pt x="2727929" y="31740"/>
                  </a:lnTo>
                  <a:lnTo>
                    <a:pt x="4091894" y="201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956861" y="2213662"/>
              <a:ext cx="4091894" cy="57377"/>
            </a:xfrm>
            <a:custGeom>
              <a:avLst/>
              <a:pathLst>
                <a:path w="4091894" h="57377">
                  <a:moveTo>
                    <a:pt x="4091894" y="0"/>
                  </a:moveTo>
                  <a:lnTo>
                    <a:pt x="2727929" y="16887"/>
                  </a:lnTo>
                  <a:lnTo>
                    <a:pt x="1363964" y="6690"/>
                  </a:lnTo>
                  <a:lnTo>
                    <a:pt x="0" y="573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956861" y="1549823"/>
              <a:ext cx="4091894" cy="50992"/>
            </a:xfrm>
            <a:custGeom>
              <a:avLst/>
              <a:pathLst>
                <a:path w="4091894" h="50992">
                  <a:moveTo>
                    <a:pt x="0" y="50992"/>
                  </a:moveTo>
                  <a:lnTo>
                    <a:pt x="1363964" y="0"/>
                  </a:lnTo>
                  <a:lnTo>
                    <a:pt x="2727929" y="10130"/>
                  </a:lnTo>
                  <a:lnTo>
                    <a:pt x="4091894" y="23752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956861" y="1723157"/>
              <a:ext cx="4091894" cy="50553"/>
            </a:xfrm>
            <a:custGeom>
              <a:avLst/>
              <a:pathLst>
                <a:path w="4091894" h="50553">
                  <a:moveTo>
                    <a:pt x="0" y="38305"/>
                  </a:moveTo>
                  <a:lnTo>
                    <a:pt x="1363964" y="0"/>
                  </a:lnTo>
                  <a:lnTo>
                    <a:pt x="2727929" y="37587"/>
                  </a:lnTo>
                  <a:lnTo>
                    <a:pt x="4091894" y="50553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956861" y="1670597"/>
              <a:ext cx="4091894" cy="62219"/>
            </a:xfrm>
            <a:custGeom>
              <a:avLst/>
              <a:pathLst>
                <a:path w="4091894" h="62219">
                  <a:moveTo>
                    <a:pt x="0" y="62219"/>
                  </a:moveTo>
                  <a:lnTo>
                    <a:pt x="1363964" y="0"/>
                  </a:lnTo>
                  <a:lnTo>
                    <a:pt x="2727929" y="19809"/>
                  </a:lnTo>
                  <a:lnTo>
                    <a:pt x="4091894" y="5126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933799" y="1709754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297764" y="1647535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8661729" y="1667344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0025694" y="1652661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933799" y="1738400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297764" y="1700095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61729" y="1737683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0025694" y="1750649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933799" y="1577754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297764" y="1526762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8661729" y="1536892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0025694" y="1550514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752266" y="818749"/>
              <a:ext cx="0" cy="2244873"/>
            </a:xfrm>
            <a:custGeom>
              <a:avLst/>
              <a:pathLst>
                <a:path w="0" h="2244873">
                  <a:moveTo>
                    <a:pt x="0" y="22448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5554055" y="292519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554055" y="223099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554055" y="153679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554055" y="84259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5720634" y="296158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720634" y="226738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720634" y="157318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720634" y="87899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752266" y="3063623"/>
              <a:ext cx="4501084" cy="0"/>
            </a:xfrm>
            <a:custGeom>
              <a:avLst/>
              <a:pathLst>
                <a:path w="4501084" h="0">
                  <a:moveTo>
                    <a:pt x="0" y="0"/>
                  </a:moveTo>
                  <a:lnTo>
                    <a:pt x="4501084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956861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320826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684790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0048755" y="306362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5928606" y="312055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264316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8628280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9992245" y="3120559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098924" y="3246374"/>
              <a:ext cx="180776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5400000">
              <a:off x="4835800" y="1895694"/>
              <a:ext cx="12288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752266" y="521126"/>
              <a:ext cx="213439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1.34-1.41 across all twelve combinations,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752266" y="647313"/>
              <a:ext cx="272509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as expected if the two terms are separately identified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5752266" y="328384"/>
              <a:ext cx="232943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effort coefficient does not care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378554" y="314803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5" name="rc125"/>
            <p:cNvSpPr/>
            <p:nvPr/>
          </p:nvSpPr>
          <p:spPr>
            <a:xfrm>
              <a:off x="252469" y="3439972"/>
              <a:ext cx="5065178" cy="34398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317647" y="3439972"/>
              <a:ext cx="5036923" cy="34398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701215" y="4258627"/>
              <a:ext cx="4515211" cy="22448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01215" y="6075797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01215" y="5529211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01215" y="4982625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01215" y="4436039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01215" y="4982625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906452" y="4996608"/>
              <a:ext cx="4104737" cy="1404853"/>
            </a:xfrm>
            <a:custGeom>
              <a:avLst/>
              <a:pathLst>
                <a:path w="4104737" h="1404853">
                  <a:moveTo>
                    <a:pt x="0" y="0"/>
                  </a:moveTo>
                  <a:lnTo>
                    <a:pt x="1368245" y="309844"/>
                  </a:lnTo>
                  <a:lnTo>
                    <a:pt x="2736491" y="269341"/>
                  </a:lnTo>
                  <a:lnTo>
                    <a:pt x="4104737" y="447718"/>
                  </a:lnTo>
                  <a:lnTo>
                    <a:pt x="4104737" y="1404853"/>
                  </a:lnTo>
                  <a:lnTo>
                    <a:pt x="2736491" y="1294254"/>
                  </a:lnTo>
                  <a:lnTo>
                    <a:pt x="1368245" y="1285823"/>
                  </a:lnTo>
                  <a:lnTo>
                    <a:pt x="0" y="1040011"/>
                  </a:lnTo>
                  <a:close/>
                </a:path>
              </a:pathLst>
            </a:custGeom>
            <a:solidFill>
              <a:srgbClr val="0072B2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906452" y="4996608"/>
              <a:ext cx="4104737" cy="447718"/>
            </a:xfrm>
            <a:custGeom>
              <a:avLst/>
              <a:pathLst>
                <a:path w="4104737" h="447718">
                  <a:moveTo>
                    <a:pt x="0" y="0"/>
                  </a:moveTo>
                  <a:lnTo>
                    <a:pt x="1368245" y="309844"/>
                  </a:lnTo>
                  <a:lnTo>
                    <a:pt x="2736491" y="269341"/>
                  </a:lnTo>
                  <a:lnTo>
                    <a:pt x="4104737" y="4477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906452" y="6036619"/>
              <a:ext cx="4104737" cy="364842"/>
            </a:xfrm>
            <a:custGeom>
              <a:avLst/>
              <a:pathLst>
                <a:path w="4104737" h="364842">
                  <a:moveTo>
                    <a:pt x="4104737" y="364842"/>
                  </a:moveTo>
                  <a:lnTo>
                    <a:pt x="2736491" y="254242"/>
                  </a:lnTo>
                  <a:lnTo>
                    <a:pt x="1368245" y="24581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906452" y="4360667"/>
              <a:ext cx="4104737" cy="1711990"/>
            </a:xfrm>
            <a:custGeom>
              <a:avLst/>
              <a:pathLst>
                <a:path w="4104737" h="1711990">
                  <a:moveTo>
                    <a:pt x="0" y="0"/>
                  </a:moveTo>
                  <a:lnTo>
                    <a:pt x="1368245" y="413250"/>
                  </a:lnTo>
                  <a:lnTo>
                    <a:pt x="2736491" y="502089"/>
                  </a:lnTo>
                  <a:lnTo>
                    <a:pt x="4104737" y="642948"/>
                  </a:lnTo>
                  <a:lnTo>
                    <a:pt x="4104737" y="1711990"/>
                  </a:lnTo>
                  <a:lnTo>
                    <a:pt x="2736491" y="1577226"/>
                  </a:lnTo>
                  <a:lnTo>
                    <a:pt x="1368245" y="1513332"/>
                  </a:lnTo>
                  <a:lnTo>
                    <a:pt x="0" y="1197326"/>
                  </a:lnTo>
                  <a:close/>
                </a:path>
              </a:pathLst>
            </a:custGeom>
            <a:solidFill>
              <a:srgbClr val="999999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906452" y="4360667"/>
              <a:ext cx="4104737" cy="642948"/>
            </a:xfrm>
            <a:custGeom>
              <a:avLst/>
              <a:pathLst>
                <a:path w="4104737" h="642948">
                  <a:moveTo>
                    <a:pt x="0" y="0"/>
                  </a:moveTo>
                  <a:lnTo>
                    <a:pt x="1368245" y="413250"/>
                  </a:lnTo>
                  <a:lnTo>
                    <a:pt x="2736491" y="502089"/>
                  </a:lnTo>
                  <a:lnTo>
                    <a:pt x="4104737" y="642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906452" y="5557993"/>
              <a:ext cx="4104737" cy="514664"/>
            </a:xfrm>
            <a:custGeom>
              <a:avLst/>
              <a:pathLst>
                <a:path w="4104737" h="514664">
                  <a:moveTo>
                    <a:pt x="4104737" y="514664"/>
                  </a:moveTo>
                  <a:lnTo>
                    <a:pt x="2736491" y="379900"/>
                  </a:lnTo>
                  <a:lnTo>
                    <a:pt x="1368245" y="3160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906452" y="4701137"/>
              <a:ext cx="4104737" cy="1470941"/>
            </a:xfrm>
            <a:custGeom>
              <a:avLst/>
              <a:pathLst>
                <a:path w="4104737" h="1470941">
                  <a:moveTo>
                    <a:pt x="0" y="0"/>
                  </a:moveTo>
                  <a:lnTo>
                    <a:pt x="1368245" y="332026"/>
                  </a:lnTo>
                  <a:lnTo>
                    <a:pt x="2736491" y="283117"/>
                  </a:lnTo>
                  <a:lnTo>
                    <a:pt x="4104737" y="434203"/>
                  </a:lnTo>
                  <a:lnTo>
                    <a:pt x="4104737" y="1470941"/>
                  </a:lnTo>
                  <a:lnTo>
                    <a:pt x="2736491" y="1349058"/>
                  </a:lnTo>
                  <a:lnTo>
                    <a:pt x="1368245" y="1374268"/>
                  </a:lnTo>
                  <a:lnTo>
                    <a:pt x="0" y="1128210"/>
                  </a:lnTo>
                  <a:close/>
                </a:path>
              </a:pathLst>
            </a:custGeom>
            <a:solidFill>
              <a:srgbClr val="009E73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906452" y="4701137"/>
              <a:ext cx="4104737" cy="434203"/>
            </a:xfrm>
            <a:custGeom>
              <a:avLst/>
              <a:pathLst>
                <a:path w="4104737" h="434203">
                  <a:moveTo>
                    <a:pt x="0" y="0"/>
                  </a:moveTo>
                  <a:lnTo>
                    <a:pt x="1368245" y="332026"/>
                  </a:lnTo>
                  <a:lnTo>
                    <a:pt x="2736491" y="283117"/>
                  </a:lnTo>
                  <a:lnTo>
                    <a:pt x="4104737" y="4342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906452" y="5829348"/>
              <a:ext cx="4104737" cy="342731"/>
            </a:xfrm>
            <a:custGeom>
              <a:avLst/>
              <a:pathLst>
                <a:path w="4104737" h="342731">
                  <a:moveTo>
                    <a:pt x="4104737" y="342731"/>
                  </a:moveTo>
                  <a:lnTo>
                    <a:pt x="2736491" y="220848"/>
                  </a:lnTo>
                  <a:lnTo>
                    <a:pt x="1368245" y="24605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906452" y="5544104"/>
              <a:ext cx="4104737" cy="404164"/>
            </a:xfrm>
            <a:custGeom>
              <a:avLst/>
              <a:pathLst>
                <a:path w="4104737" h="404164">
                  <a:moveTo>
                    <a:pt x="0" y="0"/>
                  </a:moveTo>
                  <a:lnTo>
                    <a:pt x="1368245" y="275991"/>
                  </a:lnTo>
                  <a:lnTo>
                    <a:pt x="2736491" y="262502"/>
                  </a:lnTo>
                  <a:lnTo>
                    <a:pt x="4104737" y="404164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906452" y="4992074"/>
              <a:ext cx="4104737" cy="575242"/>
            </a:xfrm>
            <a:custGeom>
              <a:avLst/>
              <a:pathLst>
                <a:path w="4104737" h="575242">
                  <a:moveTo>
                    <a:pt x="0" y="0"/>
                  </a:moveTo>
                  <a:lnTo>
                    <a:pt x="1368245" y="361489"/>
                  </a:lnTo>
                  <a:lnTo>
                    <a:pt x="2736491" y="436955"/>
                  </a:lnTo>
                  <a:lnTo>
                    <a:pt x="4104737" y="575242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906452" y="5296030"/>
              <a:ext cx="4104737" cy="385783"/>
            </a:xfrm>
            <a:custGeom>
              <a:avLst/>
              <a:pathLst>
                <a:path w="4104737" h="385783">
                  <a:moveTo>
                    <a:pt x="0" y="0"/>
                  </a:moveTo>
                  <a:lnTo>
                    <a:pt x="1368245" y="286077"/>
                  </a:lnTo>
                  <a:lnTo>
                    <a:pt x="2736491" y="250081"/>
                  </a:lnTo>
                  <a:lnTo>
                    <a:pt x="4104737" y="385783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83390" y="5272969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251636" y="5559046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619882" y="5523050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988128" y="5658752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83390" y="4969012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251636" y="5330502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619882" y="5405967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988128" y="5544254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883390" y="5521042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251636" y="5797034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619882" y="5783545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88128" y="5925207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01215" y="4258627"/>
              <a:ext cx="0" cy="2244873"/>
            </a:xfrm>
            <a:custGeom>
              <a:avLst/>
              <a:pathLst>
                <a:path w="0" h="2244873">
                  <a:moveTo>
                    <a:pt x="0" y="22448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503004" y="603940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03004" y="5492818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03004" y="494623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503004" y="4399646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1.1</a:t>
              </a:r>
            </a:p>
          </p:txBody>
        </p:sp>
        <p:sp>
          <p:nvSpPr>
            <p:cNvPr id="162" name="pl162"/>
            <p:cNvSpPr/>
            <p:nvPr/>
          </p:nvSpPr>
          <p:spPr>
            <a:xfrm>
              <a:off x="669584" y="607579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69584" y="552921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69584" y="498262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69584" y="443603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701215" y="6503501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906452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274698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42944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011190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878197" y="6560437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2218188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586434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4954680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2054936" y="6686252"/>
              <a:ext cx="180776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5400000">
              <a:off x="-215250" y="5335573"/>
              <a:ext cx="12288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01215" y="3708629"/>
              <a:ext cx="356177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Warming x effort stays below 1 at every window, source and baseline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701215" y="3515888"/>
              <a:ext cx="25463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interaction is negative throughout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332100" y="3506092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80" name="rc180"/>
            <p:cNvSpPr/>
            <p:nvPr/>
          </p:nvSpPr>
          <p:spPr>
            <a:xfrm>
              <a:off x="5738138" y="4258627"/>
              <a:ext cx="4515211" cy="22448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738138" y="6401461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738138" y="5972628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5738138" y="5543795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738138" y="5114961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738138" y="4686128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  <a:lnTo>
                    <a:pt x="451521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943375" y="4360667"/>
              <a:ext cx="4104737" cy="2040794"/>
            </a:xfrm>
            <a:custGeom>
              <a:avLst/>
              <a:pathLst>
                <a:path w="4104737" h="2040794">
                  <a:moveTo>
                    <a:pt x="0" y="0"/>
                  </a:moveTo>
                  <a:lnTo>
                    <a:pt x="1368245" y="591278"/>
                  </a:lnTo>
                  <a:lnTo>
                    <a:pt x="2736491" y="1851859"/>
                  </a:lnTo>
                  <a:lnTo>
                    <a:pt x="4104737" y="2040794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5943375" y="4659582"/>
              <a:ext cx="4104737" cy="1741878"/>
            </a:xfrm>
            <a:custGeom>
              <a:avLst/>
              <a:pathLst>
                <a:path w="4104737" h="1741878">
                  <a:moveTo>
                    <a:pt x="0" y="0"/>
                  </a:moveTo>
                  <a:lnTo>
                    <a:pt x="1368245" y="235111"/>
                  </a:lnTo>
                  <a:lnTo>
                    <a:pt x="2736491" y="1263716"/>
                  </a:lnTo>
                  <a:lnTo>
                    <a:pt x="4104737" y="1741878"/>
                  </a:lnTo>
                </a:path>
              </a:pathLst>
            </a:custGeom>
            <a:ln w="1897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943375" y="4454000"/>
              <a:ext cx="4104737" cy="1947461"/>
            </a:xfrm>
            <a:custGeom>
              <a:avLst/>
              <a:pathLst>
                <a:path w="4104737" h="1947461">
                  <a:moveTo>
                    <a:pt x="0" y="0"/>
                  </a:moveTo>
                  <a:lnTo>
                    <a:pt x="1368245" y="478751"/>
                  </a:lnTo>
                  <a:lnTo>
                    <a:pt x="2736491" y="1517292"/>
                  </a:lnTo>
                  <a:lnTo>
                    <a:pt x="4104737" y="1947461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920314" y="4430938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7288559" y="4909690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8656805" y="5948231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0025051" y="6378399"/>
              <a:ext cx="46123" cy="46123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920314" y="4636521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288559" y="4871632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8656805" y="5900237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0025051" y="6378399"/>
              <a:ext cx="46123" cy="46123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920314" y="4337605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7288559" y="4928883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8656805" y="6189465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0025051" y="6378399"/>
              <a:ext cx="46123" cy="4612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9994841" y="6348189"/>
              <a:ext cx="106544" cy="106544"/>
            </a:xfrm>
            <a:prstGeom prst="ellipse">
              <a:avLst/>
            </a:prstGeom>
            <a:ln w="14400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9994841" y="6348189"/>
              <a:ext cx="106544" cy="106544"/>
            </a:xfrm>
            <a:prstGeom prst="ellipse">
              <a:avLst/>
            </a:prstGeom>
            <a:ln w="14400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9994841" y="6348189"/>
              <a:ext cx="106544" cy="106544"/>
            </a:xfrm>
            <a:prstGeom prst="ellipse">
              <a:avLst/>
            </a:prstGeom>
            <a:ln w="144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5738138" y="4258627"/>
              <a:ext cx="0" cy="2244873"/>
            </a:xfrm>
            <a:custGeom>
              <a:avLst/>
              <a:pathLst>
                <a:path w="0" h="2244873">
                  <a:moveTo>
                    <a:pt x="0" y="22448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tx205"/>
            <p:cNvSpPr/>
            <p:nvPr/>
          </p:nvSpPr>
          <p:spPr>
            <a:xfrm>
              <a:off x="5624692" y="6365068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5624692" y="593623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5568182" y="5507401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568182" y="5078568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568182" y="464973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0" name="pl210"/>
            <p:cNvSpPr/>
            <p:nvPr/>
          </p:nvSpPr>
          <p:spPr>
            <a:xfrm>
              <a:off x="5706507" y="640146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706507" y="597262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706507" y="554379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706507" y="511496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706507" y="468612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5738138" y="6503501"/>
              <a:ext cx="4515211" cy="0"/>
            </a:xfrm>
            <a:custGeom>
              <a:avLst/>
              <a:pathLst>
                <a:path w="4515211" h="0">
                  <a:moveTo>
                    <a:pt x="0" y="0"/>
                  </a:moveTo>
                  <a:lnTo>
                    <a:pt x="4515211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5943375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311621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679867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10048113" y="650350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5915120" y="6560437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7255111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8623357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9991603" y="6560437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7091860" y="6686252"/>
              <a:ext cx="180776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W (years)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5400000">
              <a:off x="4828805" y="5335573"/>
              <a:ext cx="127110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Delta AIC within series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738138" y="3708629"/>
              <a:ext cx="417414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Circles mark the AIC optimum; W = 15 is within 2.2-5.6 units of it in every series. 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738138" y="3834817"/>
              <a:ext cx="393640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 finer grid (3-23 yr, Extended Data Table 2) places the optimum at 18-20 yr 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738138" y="3961004"/>
              <a:ext cx="191402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and shows AIC rising again by 23 yr, 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738138" y="4087191"/>
              <a:ext cx="341327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 the optimum is interior rather than an artefact of stopping at 20.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738138" y="3515888"/>
              <a:ext cx="282778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All three series select a 15-20 year window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392611" y="3506092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2026-09-22T13:14:51Z</dcterms:modified>
  <cp:category/>
</cp:coreProperties>
</file>