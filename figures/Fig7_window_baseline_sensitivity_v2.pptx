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6766560"/>
            <a:chOff x="182880" y="182880"/>
            <a:chExt cx="10241280" cy="67665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6766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79" cy="6766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051050" cy="31875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303520" y="252469"/>
              <a:ext cx="5051050" cy="31875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701215" y="818749"/>
              <a:ext cx="4501084" cy="2244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01215" y="2961583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01215" y="2247675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1215" y="1533767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215" y="819860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01215" y="2961583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905810" y="920789"/>
              <a:ext cx="4091894" cy="1838368"/>
            </a:xfrm>
            <a:custGeom>
              <a:avLst/>
              <a:pathLst>
                <a:path w="4091894" h="1838368">
                  <a:moveTo>
                    <a:pt x="0" y="982300"/>
                  </a:moveTo>
                  <a:lnTo>
                    <a:pt x="1363964" y="741814"/>
                  </a:lnTo>
                  <a:lnTo>
                    <a:pt x="2727929" y="155166"/>
                  </a:lnTo>
                  <a:lnTo>
                    <a:pt x="4091894" y="0"/>
                  </a:lnTo>
                  <a:lnTo>
                    <a:pt x="4091894" y="1158940"/>
                  </a:lnTo>
                  <a:lnTo>
                    <a:pt x="2727929" y="1259884"/>
                  </a:lnTo>
                  <a:lnTo>
                    <a:pt x="1363964" y="1707998"/>
                  </a:lnTo>
                  <a:lnTo>
                    <a:pt x="0" y="1838368"/>
                  </a:lnTo>
                  <a:close/>
                </a:path>
              </a:pathLst>
            </a:custGeom>
            <a:solidFill>
              <a:srgbClr val="0072B2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05810" y="920789"/>
              <a:ext cx="4091894" cy="982300"/>
            </a:xfrm>
            <a:custGeom>
              <a:avLst/>
              <a:pathLst>
                <a:path w="4091894" h="982300">
                  <a:moveTo>
                    <a:pt x="0" y="982300"/>
                  </a:moveTo>
                  <a:lnTo>
                    <a:pt x="1363964" y="741814"/>
                  </a:lnTo>
                  <a:lnTo>
                    <a:pt x="2727929" y="155166"/>
                  </a:lnTo>
                  <a:lnTo>
                    <a:pt x="4091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05810" y="2079729"/>
              <a:ext cx="4091894" cy="679428"/>
            </a:xfrm>
            <a:custGeom>
              <a:avLst/>
              <a:pathLst>
                <a:path w="4091894" h="679428">
                  <a:moveTo>
                    <a:pt x="4091894" y="0"/>
                  </a:moveTo>
                  <a:lnTo>
                    <a:pt x="2727929" y="100944"/>
                  </a:lnTo>
                  <a:lnTo>
                    <a:pt x="1363964" y="549058"/>
                  </a:lnTo>
                  <a:lnTo>
                    <a:pt x="0" y="679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905810" y="1026196"/>
              <a:ext cx="4091894" cy="1766242"/>
            </a:xfrm>
            <a:custGeom>
              <a:avLst/>
              <a:pathLst>
                <a:path w="4091894" h="1766242">
                  <a:moveTo>
                    <a:pt x="0" y="906638"/>
                  </a:moveTo>
                  <a:lnTo>
                    <a:pt x="1363964" y="696380"/>
                  </a:lnTo>
                  <a:lnTo>
                    <a:pt x="2727929" y="247330"/>
                  </a:lnTo>
                  <a:lnTo>
                    <a:pt x="4091894" y="0"/>
                  </a:lnTo>
                  <a:lnTo>
                    <a:pt x="4091894" y="1111982"/>
                  </a:lnTo>
                  <a:lnTo>
                    <a:pt x="2727929" y="1288190"/>
                  </a:lnTo>
                  <a:lnTo>
                    <a:pt x="1363964" y="1640704"/>
                  </a:lnTo>
                  <a:lnTo>
                    <a:pt x="0" y="1766242"/>
                  </a:lnTo>
                  <a:close/>
                </a:path>
              </a:pathLst>
            </a:custGeom>
            <a:solidFill>
              <a:srgbClr val="999999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05810" y="1026196"/>
              <a:ext cx="4091894" cy="906638"/>
            </a:xfrm>
            <a:custGeom>
              <a:avLst/>
              <a:pathLst>
                <a:path w="4091894" h="906638">
                  <a:moveTo>
                    <a:pt x="0" y="906638"/>
                  </a:moveTo>
                  <a:lnTo>
                    <a:pt x="1363964" y="696380"/>
                  </a:lnTo>
                  <a:lnTo>
                    <a:pt x="2727929" y="247330"/>
                  </a:lnTo>
                  <a:lnTo>
                    <a:pt x="4091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05810" y="2138178"/>
              <a:ext cx="4091894" cy="654259"/>
            </a:xfrm>
            <a:custGeom>
              <a:avLst/>
              <a:pathLst>
                <a:path w="4091894" h="654259">
                  <a:moveTo>
                    <a:pt x="4091894" y="0"/>
                  </a:moveTo>
                  <a:lnTo>
                    <a:pt x="2727929" y="176208"/>
                  </a:lnTo>
                  <a:lnTo>
                    <a:pt x="1363964" y="528722"/>
                  </a:lnTo>
                  <a:lnTo>
                    <a:pt x="0" y="654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905810" y="924584"/>
              <a:ext cx="4091894" cy="1688926"/>
            </a:xfrm>
            <a:custGeom>
              <a:avLst/>
              <a:pathLst>
                <a:path w="4091894" h="1688926">
                  <a:moveTo>
                    <a:pt x="0" y="783802"/>
                  </a:moveTo>
                  <a:lnTo>
                    <a:pt x="1363964" y="550565"/>
                  </a:lnTo>
                  <a:lnTo>
                    <a:pt x="2727929" y="148723"/>
                  </a:lnTo>
                  <a:lnTo>
                    <a:pt x="4091894" y="0"/>
                  </a:lnTo>
                  <a:lnTo>
                    <a:pt x="4091894" y="1128601"/>
                  </a:lnTo>
                  <a:lnTo>
                    <a:pt x="2727929" y="1250520"/>
                  </a:lnTo>
                  <a:lnTo>
                    <a:pt x="1363964" y="1555386"/>
                  </a:lnTo>
                  <a:lnTo>
                    <a:pt x="0" y="1688926"/>
                  </a:lnTo>
                  <a:close/>
                </a:path>
              </a:pathLst>
            </a:custGeom>
            <a:solidFill>
              <a:srgbClr val="009E73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05810" y="924584"/>
              <a:ext cx="4091894" cy="783802"/>
            </a:xfrm>
            <a:custGeom>
              <a:avLst/>
              <a:pathLst>
                <a:path w="4091894" h="783802">
                  <a:moveTo>
                    <a:pt x="0" y="783802"/>
                  </a:moveTo>
                  <a:lnTo>
                    <a:pt x="1363964" y="550565"/>
                  </a:lnTo>
                  <a:lnTo>
                    <a:pt x="2727929" y="148723"/>
                  </a:lnTo>
                  <a:lnTo>
                    <a:pt x="4091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05810" y="2053186"/>
              <a:ext cx="4091894" cy="560324"/>
            </a:xfrm>
            <a:custGeom>
              <a:avLst/>
              <a:pathLst>
                <a:path w="4091894" h="560324">
                  <a:moveTo>
                    <a:pt x="4091894" y="0"/>
                  </a:moveTo>
                  <a:lnTo>
                    <a:pt x="2727929" y="121919"/>
                  </a:lnTo>
                  <a:lnTo>
                    <a:pt x="1363964" y="426785"/>
                  </a:lnTo>
                  <a:lnTo>
                    <a:pt x="0" y="560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05810" y="1533743"/>
              <a:ext cx="4091894" cy="819248"/>
            </a:xfrm>
            <a:custGeom>
              <a:avLst/>
              <a:pathLst>
                <a:path w="4091894" h="819248">
                  <a:moveTo>
                    <a:pt x="0" y="819248"/>
                  </a:moveTo>
                  <a:lnTo>
                    <a:pt x="1363964" y="638642"/>
                  </a:lnTo>
                  <a:lnTo>
                    <a:pt x="2727929" y="125785"/>
                  </a:lnTo>
                  <a:lnTo>
                    <a:pt x="4091894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5810" y="1613518"/>
              <a:ext cx="4091894" cy="771335"/>
            </a:xfrm>
            <a:custGeom>
              <a:avLst/>
              <a:pathLst>
                <a:path w="4091894" h="771335">
                  <a:moveTo>
                    <a:pt x="0" y="771335"/>
                  </a:moveTo>
                  <a:lnTo>
                    <a:pt x="1363964" y="607002"/>
                  </a:lnTo>
                  <a:lnTo>
                    <a:pt x="2727929" y="209112"/>
                  </a:lnTo>
                  <a:lnTo>
                    <a:pt x="4091894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05810" y="1520561"/>
              <a:ext cx="4091894" cy="663883"/>
            </a:xfrm>
            <a:custGeom>
              <a:avLst/>
              <a:pathLst>
                <a:path w="4091894" h="663883">
                  <a:moveTo>
                    <a:pt x="0" y="663883"/>
                  </a:moveTo>
                  <a:lnTo>
                    <a:pt x="1363964" y="484800"/>
                  </a:lnTo>
                  <a:lnTo>
                    <a:pt x="2727929" y="134668"/>
                  </a:lnTo>
                  <a:lnTo>
                    <a:pt x="4091894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882748" y="2161383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246713" y="1982300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610678" y="1632168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974643" y="1497500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882748" y="2361791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246713" y="2197458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610678" y="1799569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974643" y="1590456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882748" y="2329929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46713" y="2149323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610678" y="1636467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974643" y="1510681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01215" y="818749"/>
              <a:ext cx="0" cy="2244873"/>
            </a:xfrm>
            <a:custGeom>
              <a:avLst/>
              <a:pathLst>
                <a:path w="0" h="2244873">
                  <a:moveTo>
                    <a:pt x="0" y="224487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503004" y="292519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3004" y="221128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3004" y="149737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3004" y="78346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669584" y="29615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69584" y="224767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669584" y="15337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669584" y="8198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01215" y="3063623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905810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269775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633739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997704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77555" y="312055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213265" y="312055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577230" y="312055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941194" y="312055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047873" y="3246374"/>
              <a:ext cx="180776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215250" y="1895694"/>
              <a:ext cx="12288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2498992" y="2372816"/>
              <a:ext cx="1805746" cy="573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2562255" y="2445177"/>
              <a:ext cx="681136" cy="618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Climate baseline</a:t>
              </a:r>
            </a:p>
          </p:txBody>
        </p:sp>
        <p:sp>
          <p:nvSpPr>
            <p:cNvPr id="59" name="rc59"/>
            <p:cNvSpPr/>
            <p:nvPr/>
          </p:nvSpPr>
          <p:spPr>
            <a:xfrm>
              <a:off x="2562255" y="2579351"/>
              <a:ext cx="113872" cy="1012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573642" y="262996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96130" y="2606900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562255" y="2680572"/>
              <a:ext cx="113872" cy="1012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573642" y="2731182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96130" y="2708120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562255" y="2781792"/>
              <a:ext cx="113872" cy="1012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573642" y="2832402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596130" y="2809340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2739391" y="2601844"/>
              <a:ext cx="1170980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WorldClim 10' , 1980-2000 (main)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739391" y="2703064"/>
              <a:ext cx="1462674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CRU TS 0.5° , 1980-2000 (source control)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739391" y="2804284"/>
              <a:ext cx="1502084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CRU TS 0.5° , 1970-2000 (longer baseline)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01215" y="521126"/>
              <a:ext cx="3555095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Every source and baseline gives the same rise from W = 5 to W = 20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701215" y="328384"/>
              <a:ext cx="28031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warming signal is decadal, not annual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32029" y="31480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5752266" y="818749"/>
              <a:ext cx="4501084" cy="2244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752266" y="2961583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752266" y="2302026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752266" y="1642469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752266" y="982912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752266" y="2961583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  <a:lnTo>
                    <a:pt x="4501084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956861" y="920789"/>
              <a:ext cx="4091894" cy="1195307"/>
            </a:xfrm>
            <a:custGeom>
              <a:avLst/>
              <a:pathLst>
                <a:path w="4091894" h="1195307">
                  <a:moveTo>
                    <a:pt x="0" y="64131"/>
                  </a:moveTo>
                  <a:lnTo>
                    <a:pt x="1363964" y="0"/>
                  </a:lnTo>
                  <a:lnTo>
                    <a:pt x="2727929" y="25607"/>
                  </a:lnTo>
                  <a:lnTo>
                    <a:pt x="4091894" y="52343"/>
                  </a:lnTo>
                  <a:lnTo>
                    <a:pt x="4091894" y="1171008"/>
                  </a:lnTo>
                  <a:lnTo>
                    <a:pt x="2727929" y="1156642"/>
                  </a:lnTo>
                  <a:lnTo>
                    <a:pt x="1363964" y="1146573"/>
                  </a:lnTo>
                  <a:lnTo>
                    <a:pt x="0" y="1195307"/>
                  </a:lnTo>
                  <a:close/>
                </a:path>
              </a:pathLst>
            </a:custGeom>
            <a:solidFill>
              <a:srgbClr val="0072B2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956861" y="920789"/>
              <a:ext cx="4091894" cy="64131"/>
            </a:xfrm>
            <a:custGeom>
              <a:avLst/>
              <a:pathLst>
                <a:path w="4091894" h="64131">
                  <a:moveTo>
                    <a:pt x="0" y="64131"/>
                  </a:moveTo>
                  <a:lnTo>
                    <a:pt x="1363964" y="0"/>
                  </a:lnTo>
                  <a:lnTo>
                    <a:pt x="2727929" y="25607"/>
                  </a:lnTo>
                  <a:lnTo>
                    <a:pt x="4091894" y="5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956861" y="2067362"/>
              <a:ext cx="4091894" cy="48734"/>
            </a:xfrm>
            <a:custGeom>
              <a:avLst/>
              <a:pathLst>
                <a:path w="4091894" h="48734">
                  <a:moveTo>
                    <a:pt x="4091894" y="24435"/>
                  </a:moveTo>
                  <a:lnTo>
                    <a:pt x="2727929" y="10069"/>
                  </a:lnTo>
                  <a:lnTo>
                    <a:pt x="1363964" y="0"/>
                  </a:lnTo>
                  <a:lnTo>
                    <a:pt x="0" y="48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956861" y="1059659"/>
              <a:ext cx="4091894" cy="1177132"/>
            </a:xfrm>
            <a:custGeom>
              <a:avLst/>
              <a:pathLst>
                <a:path w="4091894" h="1177132">
                  <a:moveTo>
                    <a:pt x="0" y="70856"/>
                  </a:moveTo>
                  <a:lnTo>
                    <a:pt x="1363964" y="0"/>
                  </a:lnTo>
                  <a:lnTo>
                    <a:pt x="2727929" y="68200"/>
                  </a:lnTo>
                  <a:lnTo>
                    <a:pt x="4091894" y="93306"/>
                  </a:lnTo>
                  <a:lnTo>
                    <a:pt x="4091894" y="1177132"/>
                  </a:lnTo>
                  <a:lnTo>
                    <a:pt x="2727929" y="1164417"/>
                  </a:lnTo>
                  <a:lnTo>
                    <a:pt x="1363964" y="1128224"/>
                  </a:lnTo>
                  <a:lnTo>
                    <a:pt x="0" y="1176760"/>
                  </a:lnTo>
                  <a:close/>
                </a:path>
              </a:pathLst>
            </a:custGeom>
            <a:solidFill>
              <a:srgbClr val="999999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956861" y="1059659"/>
              <a:ext cx="4091894" cy="93306"/>
            </a:xfrm>
            <a:custGeom>
              <a:avLst/>
              <a:pathLst>
                <a:path w="4091894" h="93306">
                  <a:moveTo>
                    <a:pt x="0" y="70856"/>
                  </a:moveTo>
                  <a:lnTo>
                    <a:pt x="1363964" y="0"/>
                  </a:lnTo>
                  <a:lnTo>
                    <a:pt x="2727929" y="68200"/>
                  </a:lnTo>
                  <a:lnTo>
                    <a:pt x="4091894" y="93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956861" y="2187883"/>
              <a:ext cx="4091894" cy="48908"/>
            </a:xfrm>
            <a:custGeom>
              <a:avLst/>
              <a:pathLst>
                <a:path w="4091894" h="48908">
                  <a:moveTo>
                    <a:pt x="4091894" y="48908"/>
                  </a:moveTo>
                  <a:lnTo>
                    <a:pt x="2727929" y="36193"/>
                  </a:lnTo>
                  <a:lnTo>
                    <a:pt x="1363964" y="0"/>
                  </a:lnTo>
                  <a:lnTo>
                    <a:pt x="0" y="48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956861" y="996659"/>
              <a:ext cx="4091894" cy="1212041"/>
            </a:xfrm>
            <a:custGeom>
              <a:avLst/>
              <a:pathLst>
                <a:path w="4091894" h="1212041">
                  <a:moveTo>
                    <a:pt x="0" y="97828"/>
                  </a:moveTo>
                  <a:lnTo>
                    <a:pt x="1363964" y="0"/>
                  </a:lnTo>
                  <a:lnTo>
                    <a:pt x="2727929" y="48892"/>
                  </a:lnTo>
                  <a:lnTo>
                    <a:pt x="4091894" y="49173"/>
                  </a:lnTo>
                  <a:lnTo>
                    <a:pt x="4091894" y="1159997"/>
                  </a:lnTo>
                  <a:lnTo>
                    <a:pt x="2727929" y="1168067"/>
                  </a:lnTo>
                  <a:lnTo>
                    <a:pt x="1363964" y="1143027"/>
                  </a:lnTo>
                  <a:lnTo>
                    <a:pt x="0" y="1212041"/>
                  </a:lnTo>
                  <a:close/>
                </a:path>
              </a:pathLst>
            </a:custGeom>
            <a:solidFill>
              <a:srgbClr val="009E73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956861" y="996659"/>
              <a:ext cx="4091894" cy="97828"/>
            </a:xfrm>
            <a:custGeom>
              <a:avLst/>
              <a:pathLst>
                <a:path w="4091894" h="97828">
                  <a:moveTo>
                    <a:pt x="0" y="97828"/>
                  </a:moveTo>
                  <a:lnTo>
                    <a:pt x="1363964" y="0"/>
                  </a:lnTo>
                  <a:lnTo>
                    <a:pt x="2727929" y="48892"/>
                  </a:lnTo>
                  <a:lnTo>
                    <a:pt x="4091894" y="49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5956861" y="2139686"/>
              <a:ext cx="4091894" cy="69014"/>
            </a:xfrm>
            <a:custGeom>
              <a:avLst/>
              <a:pathLst>
                <a:path w="4091894" h="69014">
                  <a:moveTo>
                    <a:pt x="4091894" y="16969"/>
                  </a:moveTo>
                  <a:lnTo>
                    <a:pt x="2727929" y="25040"/>
                  </a:lnTo>
                  <a:lnTo>
                    <a:pt x="1363964" y="0"/>
                  </a:lnTo>
                  <a:lnTo>
                    <a:pt x="0" y="69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5956861" y="1528686"/>
              <a:ext cx="4091894" cy="55913"/>
            </a:xfrm>
            <a:custGeom>
              <a:avLst/>
              <a:pathLst>
                <a:path w="4091894" h="55913">
                  <a:moveTo>
                    <a:pt x="0" y="55913"/>
                  </a:moveTo>
                  <a:lnTo>
                    <a:pt x="1363964" y="0"/>
                  </a:lnTo>
                  <a:lnTo>
                    <a:pt x="2727929" y="17030"/>
                  </a:lnTo>
                  <a:lnTo>
                    <a:pt x="4091894" y="36988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956861" y="1658223"/>
              <a:ext cx="4091894" cy="68938"/>
            </a:xfrm>
            <a:custGeom>
              <a:avLst/>
              <a:pathLst>
                <a:path w="4091894" h="68938">
                  <a:moveTo>
                    <a:pt x="0" y="58776"/>
                  </a:moveTo>
                  <a:lnTo>
                    <a:pt x="1363964" y="0"/>
                  </a:lnTo>
                  <a:lnTo>
                    <a:pt x="2727929" y="50635"/>
                  </a:lnTo>
                  <a:lnTo>
                    <a:pt x="4091894" y="68938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956861" y="1603116"/>
              <a:ext cx="4091894" cy="82281"/>
            </a:xfrm>
            <a:custGeom>
              <a:avLst/>
              <a:pathLst>
                <a:path w="4091894" h="82281">
                  <a:moveTo>
                    <a:pt x="0" y="82281"/>
                  </a:moveTo>
                  <a:lnTo>
                    <a:pt x="1363964" y="0"/>
                  </a:lnTo>
                  <a:lnTo>
                    <a:pt x="2727929" y="35786"/>
                  </a:lnTo>
                  <a:lnTo>
                    <a:pt x="4091894" y="31359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33799" y="1662335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7297764" y="1580054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8661729" y="1615840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0025694" y="1611414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933799" y="1693938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297764" y="1635161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8661729" y="1685797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0025694" y="1704099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933799" y="1561537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297764" y="1505624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8661729" y="1522654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0025694" y="1542613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52266" y="818749"/>
              <a:ext cx="0" cy="2244873"/>
            </a:xfrm>
            <a:custGeom>
              <a:avLst/>
              <a:pathLst>
                <a:path w="0" h="2244873">
                  <a:moveTo>
                    <a:pt x="0" y="224487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5"/>
            <p:cNvSpPr/>
            <p:nvPr/>
          </p:nvSpPr>
          <p:spPr>
            <a:xfrm>
              <a:off x="5554055" y="292519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554055" y="226563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554055" y="160607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5554055" y="9465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09" name="pl109"/>
            <p:cNvSpPr/>
            <p:nvPr/>
          </p:nvSpPr>
          <p:spPr>
            <a:xfrm>
              <a:off x="5720634" y="29615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720634" y="23020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720634" y="164246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720634" y="9829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752266" y="3063623"/>
              <a:ext cx="4501084" cy="0"/>
            </a:xfrm>
            <a:custGeom>
              <a:avLst/>
              <a:pathLst>
                <a:path w="4501084" h="0">
                  <a:moveTo>
                    <a:pt x="0" y="0"/>
                  </a:moveTo>
                  <a:lnTo>
                    <a:pt x="4501084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956861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7320826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684790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0048755" y="306362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tx118"/>
            <p:cNvSpPr/>
            <p:nvPr/>
          </p:nvSpPr>
          <p:spPr>
            <a:xfrm>
              <a:off x="5928606" y="312055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264316" y="312055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628280" y="312055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9992245" y="312055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098924" y="3246374"/>
              <a:ext cx="180776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123" name="tx123"/>
            <p:cNvSpPr/>
            <p:nvPr/>
          </p:nvSpPr>
          <p:spPr>
            <a:xfrm rot="-5400000">
              <a:off x="4835800" y="1895694"/>
              <a:ext cx="12288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5752266" y="521126"/>
              <a:ext cx="213439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1.37-1.43 across all twelve combinations,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5752266" y="647313"/>
              <a:ext cx="272509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as expected if the two terms are separately identified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5752266" y="328384"/>
              <a:ext cx="23294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effort coefficient does not care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5378554" y="314803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28" name="rc128"/>
            <p:cNvSpPr/>
            <p:nvPr/>
          </p:nvSpPr>
          <p:spPr>
            <a:xfrm>
              <a:off x="252469" y="3439972"/>
              <a:ext cx="5065178" cy="34398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317647" y="3439972"/>
              <a:ext cx="5036923" cy="34398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701215" y="4258627"/>
              <a:ext cx="4515211" cy="2244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01215" y="6003957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01215" y="5402287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01215" y="4800617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01215" y="4800617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906452" y="4883853"/>
              <a:ext cx="4104737" cy="1517608"/>
            </a:xfrm>
            <a:custGeom>
              <a:avLst/>
              <a:pathLst>
                <a:path w="4104737" h="1517608">
                  <a:moveTo>
                    <a:pt x="0" y="0"/>
                  </a:moveTo>
                  <a:lnTo>
                    <a:pt x="1368245" y="371423"/>
                  </a:lnTo>
                  <a:lnTo>
                    <a:pt x="2736491" y="299444"/>
                  </a:lnTo>
                  <a:lnTo>
                    <a:pt x="4104737" y="480379"/>
                  </a:lnTo>
                  <a:lnTo>
                    <a:pt x="4104737" y="1517608"/>
                  </a:lnTo>
                  <a:lnTo>
                    <a:pt x="2736491" y="1411357"/>
                  </a:lnTo>
                  <a:lnTo>
                    <a:pt x="1368245" y="1418216"/>
                  </a:lnTo>
                  <a:lnTo>
                    <a:pt x="0" y="1125879"/>
                  </a:lnTo>
                  <a:close/>
                </a:path>
              </a:pathLst>
            </a:custGeom>
            <a:solidFill>
              <a:srgbClr val="0072B2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906452" y="4883853"/>
              <a:ext cx="4104737" cy="480379"/>
            </a:xfrm>
            <a:custGeom>
              <a:avLst/>
              <a:pathLst>
                <a:path w="4104737" h="480379">
                  <a:moveTo>
                    <a:pt x="0" y="0"/>
                  </a:moveTo>
                  <a:lnTo>
                    <a:pt x="1368245" y="371423"/>
                  </a:lnTo>
                  <a:lnTo>
                    <a:pt x="2736491" y="299444"/>
                  </a:lnTo>
                  <a:lnTo>
                    <a:pt x="4104737" y="480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906452" y="6009732"/>
              <a:ext cx="4104737" cy="391729"/>
            </a:xfrm>
            <a:custGeom>
              <a:avLst/>
              <a:pathLst>
                <a:path w="4104737" h="391729">
                  <a:moveTo>
                    <a:pt x="4104737" y="391729"/>
                  </a:moveTo>
                  <a:lnTo>
                    <a:pt x="2736491" y="285478"/>
                  </a:lnTo>
                  <a:lnTo>
                    <a:pt x="1368245" y="292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906452" y="4360667"/>
              <a:ext cx="4104737" cy="1813646"/>
            </a:xfrm>
            <a:custGeom>
              <a:avLst/>
              <a:pathLst>
                <a:path w="4104737" h="1813646">
                  <a:moveTo>
                    <a:pt x="0" y="0"/>
                  </a:moveTo>
                  <a:lnTo>
                    <a:pt x="1368245" y="497192"/>
                  </a:lnTo>
                  <a:lnTo>
                    <a:pt x="2736491" y="531456"/>
                  </a:lnTo>
                  <a:lnTo>
                    <a:pt x="4104737" y="683757"/>
                  </a:lnTo>
                  <a:lnTo>
                    <a:pt x="4104737" y="1813646"/>
                  </a:lnTo>
                  <a:lnTo>
                    <a:pt x="2736491" y="1672807"/>
                  </a:lnTo>
                  <a:lnTo>
                    <a:pt x="1368245" y="1656445"/>
                  </a:lnTo>
                  <a:lnTo>
                    <a:pt x="0" y="1275040"/>
                  </a:lnTo>
                  <a:close/>
                </a:path>
              </a:pathLst>
            </a:custGeom>
            <a:solidFill>
              <a:srgbClr val="999999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906452" y="4360667"/>
              <a:ext cx="4104737" cy="683757"/>
            </a:xfrm>
            <a:custGeom>
              <a:avLst/>
              <a:pathLst>
                <a:path w="4104737" h="683757">
                  <a:moveTo>
                    <a:pt x="0" y="0"/>
                  </a:moveTo>
                  <a:lnTo>
                    <a:pt x="1368245" y="497192"/>
                  </a:lnTo>
                  <a:lnTo>
                    <a:pt x="2736491" y="531456"/>
                  </a:lnTo>
                  <a:lnTo>
                    <a:pt x="4104737" y="683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906452" y="5635707"/>
              <a:ext cx="4104737" cy="538606"/>
            </a:xfrm>
            <a:custGeom>
              <a:avLst/>
              <a:pathLst>
                <a:path w="4104737" h="538606">
                  <a:moveTo>
                    <a:pt x="4104737" y="538606"/>
                  </a:moveTo>
                  <a:lnTo>
                    <a:pt x="2736491" y="397767"/>
                  </a:lnTo>
                  <a:lnTo>
                    <a:pt x="1368245" y="3814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906452" y="4698303"/>
              <a:ext cx="4104737" cy="1539400"/>
            </a:xfrm>
            <a:custGeom>
              <a:avLst/>
              <a:pathLst>
                <a:path w="4104737" h="1539400">
                  <a:moveTo>
                    <a:pt x="0" y="0"/>
                  </a:moveTo>
                  <a:lnTo>
                    <a:pt x="1368245" y="395943"/>
                  </a:lnTo>
                  <a:lnTo>
                    <a:pt x="2736491" y="290948"/>
                  </a:lnTo>
                  <a:lnTo>
                    <a:pt x="4104737" y="434504"/>
                  </a:lnTo>
                  <a:lnTo>
                    <a:pt x="4104737" y="1539400"/>
                  </a:lnTo>
                  <a:lnTo>
                    <a:pt x="2736491" y="1426744"/>
                  </a:lnTo>
                  <a:lnTo>
                    <a:pt x="1368245" y="1499934"/>
                  </a:lnTo>
                  <a:lnTo>
                    <a:pt x="0" y="1206351"/>
                  </a:lnTo>
                  <a:close/>
                </a:path>
              </a:pathLst>
            </a:custGeom>
            <a:solidFill>
              <a:srgbClr val="009E73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906452" y="4698303"/>
              <a:ext cx="4104737" cy="434504"/>
            </a:xfrm>
            <a:custGeom>
              <a:avLst/>
              <a:pathLst>
                <a:path w="4104737" h="434504">
                  <a:moveTo>
                    <a:pt x="0" y="0"/>
                  </a:moveTo>
                  <a:lnTo>
                    <a:pt x="1368245" y="395943"/>
                  </a:lnTo>
                  <a:lnTo>
                    <a:pt x="2736491" y="290948"/>
                  </a:lnTo>
                  <a:lnTo>
                    <a:pt x="4104737" y="434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906452" y="5904655"/>
              <a:ext cx="4104737" cy="333048"/>
            </a:xfrm>
            <a:custGeom>
              <a:avLst/>
              <a:pathLst>
                <a:path w="4104737" h="333048">
                  <a:moveTo>
                    <a:pt x="4104737" y="333048"/>
                  </a:moveTo>
                  <a:lnTo>
                    <a:pt x="2736491" y="220392"/>
                  </a:lnTo>
                  <a:lnTo>
                    <a:pt x="1368245" y="2935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906452" y="5476378"/>
              <a:ext cx="4104737" cy="433797"/>
            </a:xfrm>
            <a:custGeom>
              <a:avLst/>
              <a:pathLst>
                <a:path w="4104737" h="433797">
                  <a:moveTo>
                    <a:pt x="0" y="0"/>
                  </a:moveTo>
                  <a:lnTo>
                    <a:pt x="1368245" y="329553"/>
                  </a:lnTo>
                  <a:lnTo>
                    <a:pt x="2736491" y="293401"/>
                  </a:lnTo>
                  <a:lnTo>
                    <a:pt x="4104737" y="433797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906452" y="5033215"/>
              <a:ext cx="4104737" cy="606886"/>
            </a:xfrm>
            <a:custGeom>
              <a:avLst/>
              <a:pathLst>
                <a:path w="4104737" h="606886">
                  <a:moveTo>
                    <a:pt x="0" y="0"/>
                  </a:moveTo>
                  <a:lnTo>
                    <a:pt x="1368245" y="435586"/>
                  </a:lnTo>
                  <a:lnTo>
                    <a:pt x="2736491" y="460082"/>
                  </a:lnTo>
                  <a:lnTo>
                    <a:pt x="4104737" y="606886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906452" y="5334558"/>
              <a:ext cx="4104737" cy="380519"/>
            </a:xfrm>
            <a:custGeom>
              <a:avLst/>
              <a:pathLst>
                <a:path w="4104737" h="380519">
                  <a:moveTo>
                    <a:pt x="0" y="0"/>
                  </a:moveTo>
                  <a:lnTo>
                    <a:pt x="1368245" y="341230"/>
                  </a:lnTo>
                  <a:lnTo>
                    <a:pt x="2736491" y="253337"/>
                  </a:lnTo>
                  <a:lnTo>
                    <a:pt x="4104737" y="380519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883390" y="5311496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51636" y="5652727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19882" y="5564834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88128" y="5692016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883390" y="5010153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251636" y="5445740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19882" y="5470235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988128" y="5617039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83390" y="5453316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251636" y="5782869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619882" y="5746718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988128" y="5887114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01215" y="4258627"/>
              <a:ext cx="0" cy="2244873"/>
            </a:xfrm>
            <a:custGeom>
              <a:avLst/>
              <a:pathLst>
                <a:path w="0" h="2244873">
                  <a:moveTo>
                    <a:pt x="0" y="224487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503004" y="596756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503004" y="536589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0.9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03004" y="476422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63" name="pl163"/>
            <p:cNvSpPr/>
            <p:nvPr/>
          </p:nvSpPr>
          <p:spPr>
            <a:xfrm>
              <a:off x="669584" y="600395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69584" y="54022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69584" y="48006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01215" y="6503501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906452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274698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642944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5011190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878197" y="656043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218188" y="6560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586434" y="6560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4954680" y="6560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2054936" y="6686252"/>
              <a:ext cx="180776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176" name="tx176"/>
            <p:cNvSpPr/>
            <p:nvPr/>
          </p:nvSpPr>
          <p:spPr>
            <a:xfrm rot="-5400000">
              <a:off x="-215250" y="5335573"/>
              <a:ext cx="12288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01215" y="3708629"/>
              <a:ext cx="356177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Warming x effort stays below 1 at every window, source and baseline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01215" y="3515888"/>
              <a:ext cx="254632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interaction is negative throughout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32100" y="3506092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80" name="rc180"/>
            <p:cNvSpPr/>
            <p:nvPr/>
          </p:nvSpPr>
          <p:spPr>
            <a:xfrm>
              <a:off x="5738138" y="4258627"/>
              <a:ext cx="4515211" cy="2244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5738138" y="6401461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5738138" y="5975427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5738138" y="5549394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5738138" y="5123360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5738138" y="4697326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5738138" y="4271292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  <a:lnTo>
                    <a:pt x="451521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5943375" y="4360667"/>
              <a:ext cx="4104737" cy="2040794"/>
            </a:xfrm>
            <a:custGeom>
              <a:avLst/>
              <a:pathLst>
                <a:path w="4104737" h="2040794">
                  <a:moveTo>
                    <a:pt x="0" y="0"/>
                  </a:moveTo>
                  <a:lnTo>
                    <a:pt x="1368245" y="702011"/>
                  </a:lnTo>
                  <a:lnTo>
                    <a:pt x="2736491" y="1862957"/>
                  </a:lnTo>
                  <a:lnTo>
                    <a:pt x="4104737" y="2040794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5943375" y="4471410"/>
              <a:ext cx="4104737" cy="1930051"/>
            </a:xfrm>
            <a:custGeom>
              <a:avLst/>
              <a:pathLst>
                <a:path w="4104737" h="1930051">
                  <a:moveTo>
                    <a:pt x="0" y="0"/>
                  </a:moveTo>
                  <a:lnTo>
                    <a:pt x="1368245" y="446463"/>
                  </a:lnTo>
                  <a:lnTo>
                    <a:pt x="2736491" y="1418935"/>
                  </a:lnTo>
                  <a:lnTo>
                    <a:pt x="4104737" y="1930051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5943375" y="4395914"/>
              <a:ext cx="4104737" cy="2005547"/>
            </a:xfrm>
            <a:custGeom>
              <a:avLst/>
              <a:pathLst>
                <a:path w="4104737" h="2005547">
                  <a:moveTo>
                    <a:pt x="0" y="0"/>
                  </a:moveTo>
                  <a:lnTo>
                    <a:pt x="1368245" y="664677"/>
                  </a:lnTo>
                  <a:lnTo>
                    <a:pt x="2736491" y="1571367"/>
                  </a:lnTo>
                  <a:lnTo>
                    <a:pt x="4104737" y="2005547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920314" y="4372852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288559" y="5037529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8656805" y="5944220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0025051" y="6378399"/>
              <a:ext cx="46123" cy="46123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920314" y="4448348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7288559" y="4894811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8656805" y="5867283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0025051" y="6378399"/>
              <a:ext cx="46123" cy="46123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920314" y="4337605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288559" y="5039617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8656805" y="6200563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0025051" y="6378399"/>
              <a:ext cx="46123" cy="4612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9994841" y="6348189"/>
              <a:ext cx="106544" cy="106544"/>
            </a:xfrm>
            <a:prstGeom prst="ellipse">
              <a:avLst/>
            </a:prstGeom>
            <a:ln w="14400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9994841" y="6348189"/>
              <a:ext cx="106544" cy="106544"/>
            </a:xfrm>
            <a:prstGeom prst="ellipse">
              <a:avLst/>
            </a:prstGeom>
            <a:ln w="14400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9994841" y="6348189"/>
              <a:ext cx="106544" cy="106544"/>
            </a:xfrm>
            <a:prstGeom prst="ellipse">
              <a:avLst/>
            </a:prstGeom>
            <a:ln w="144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5738138" y="4258627"/>
              <a:ext cx="0" cy="2244873"/>
            </a:xfrm>
            <a:custGeom>
              <a:avLst/>
              <a:pathLst>
                <a:path w="0" h="2244873">
                  <a:moveTo>
                    <a:pt x="0" y="224487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5624692" y="6365068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624692" y="5939034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568182" y="551300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568182" y="508696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568182" y="466093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568182" y="423489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12" name="pl212"/>
            <p:cNvSpPr/>
            <p:nvPr/>
          </p:nvSpPr>
          <p:spPr>
            <a:xfrm>
              <a:off x="5706507" y="64014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706507" y="59754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706507" y="554939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5706507" y="51233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5706507" y="46973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5706507" y="42712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5738138" y="6503501"/>
              <a:ext cx="4515211" cy="0"/>
            </a:xfrm>
            <a:custGeom>
              <a:avLst/>
              <a:pathLst>
                <a:path w="4515211" h="0">
                  <a:moveTo>
                    <a:pt x="0" y="0"/>
                  </a:moveTo>
                  <a:lnTo>
                    <a:pt x="451521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5943375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311621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8679867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10048113" y="65035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tx223"/>
            <p:cNvSpPr/>
            <p:nvPr/>
          </p:nvSpPr>
          <p:spPr>
            <a:xfrm>
              <a:off x="5915120" y="656043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255111" y="6560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8623357" y="6560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991603" y="6560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7091860" y="6686252"/>
              <a:ext cx="180776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228" name="tx228"/>
            <p:cNvSpPr/>
            <p:nvPr/>
          </p:nvSpPr>
          <p:spPr>
            <a:xfrm rot="-5400000">
              <a:off x="4828805" y="5335573"/>
              <a:ext cx="127110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Delta AIC within series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5738138" y="3708629"/>
              <a:ext cx="417414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Circles mark the AIC optimum; W = 15 is within 2.1-6.0 units of it in every series. 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738138" y="3834817"/>
              <a:ext cx="393640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 finer grid (3-23 yr, Extended Data Table 2) places the optimum at 18-20 yr 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738138" y="3961004"/>
              <a:ext cx="191402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and shows AIC rising again by 23 yr, 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738138" y="4087191"/>
              <a:ext cx="341327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 the optimum is interior rather than an artefact of stopping at 20.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738138" y="3515888"/>
              <a:ext cx="282778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All three series select a 15-20 year window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392611" y="3506092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2026-10-13T21:30:37Z</dcterms:modified>
  <cp:category/>
</cp:coreProperties>
</file>