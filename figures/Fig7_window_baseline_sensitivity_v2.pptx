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241280" cy="6766560"/>
            <a:chOff x="182880" y="182880"/>
            <a:chExt cx="10241280" cy="67665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241280" cy="67665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241279" cy="67665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051050" cy="32012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303520" y="252469"/>
              <a:ext cx="5051050" cy="32012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66023" y="656226"/>
              <a:ext cx="4536275" cy="24515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66023" y="2996341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66023" y="2210924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66023" y="1425506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66023" y="2996341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872218" y="767660"/>
              <a:ext cx="4123886" cy="2018542"/>
            </a:xfrm>
            <a:custGeom>
              <a:avLst/>
              <a:pathLst>
                <a:path w="4123886" h="2018542">
                  <a:moveTo>
                    <a:pt x="0" y="1080182"/>
                  </a:moveTo>
                  <a:lnTo>
                    <a:pt x="1374628" y="837303"/>
                  </a:lnTo>
                  <a:lnTo>
                    <a:pt x="2749257" y="169444"/>
                  </a:lnTo>
                  <a:lnTo>
                    <a:pt x="4123886" y="0"/>
                  </a:lnTo>
                  <a:lnTo>
                    <a:pt x="4123886" y="1270419"/>
                  </a:lnTo>
                  <a:lnTo>
                    <a:pt x="2749257" y="1379306"/>
                  </a:lnTo>
                  <a:lnTo>
                    <a:pt x="1374628" y="1890806"/>
                  </a:lnTo>
                  <a:lnTo>
                    <a:pt x="0" y="2018542"/>
                  </a:lnTo>
                  <a:close/>
                </a:path>
              </a:pathLst>
            </a:custGeom>
            <a:solidFill>
              <a:srgbClr val="0072B2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2218" y="767660"/>
              <a:ext cx="4123886" cy="1080182"/>
            </a:xfrm>
            <a:custGeom>
              <a:avLst/>
              <a:pathLst>
                <a:path w="4123886" h="1080182">
                  <a:moveTo>
                    <a:pt x="0" y="1080182"/>
                  </a:moveTo>
                  <a:lnTo>
                    <a:pt x="1374628" y="837303"/>
                  </a:lnTo>
                  <a:lnTo>
                    <a:pt x="2749257" y="169444"/>
                  </a:lnTo>
                  <a:lnTo>
                    <a:pt x="412388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2218" y="2038080"/>
              <a:ext cx="4123886" cy="748122"/>
            </a:xfrm>
            <a:custGeom>
              <a:avLst/>
              <a:pathLst>
                <a:path w="4123886" h="748122">
                  <a:moveTo>
                    <a:pt x="4123886" y="0"/>
                  </a:moveTo>
                  <a:lnTo>
                    <a:pt x="2749257" y="108886"/>
                  </a:lnTo>
                  <a:lnTo>
                    <a:pt x="1374628" y="620387"/>
                  </a:lnTo>
                  <a:lnTo>
                    <a:pt x="0" y="748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872218" y="947850"/>
              <a:ext cx="4123886" cy="1886699"/>
            </a:xfrm>
            <a:custGeom>
              <a:avLst/>
              <a:pathLst>
                <a:path w="4123886" h="1886699">
                  <a:moveTo>
                    <a:pt x="0" y="945522"/>
                  </a:moveTo>
                  <a:lnTo>
                    <a:pt x="1374628" y="750701"/>
                  </a:lnTo>
                  <a:lnTo>
                    <a:pt x="2749257" y="248039"/>
                  </a:lnTo>
                  <a:lnTo>
                    <a:pt x="4123886" y="0"/>
                  </a:lnTo>
                  <a:lnTo>
                    <a:pt x="4123886" y="1203637"/>
                  </a:lnTo>
                  <a:lnTo>
                    <a:pt x="2749257" y="1378807"/>
                  </a:lnTo>
                  <a:lnTo>
                    <a:pt x="1374628" y="1776156"/>
                  </a:lnTo>
                  <a:lnTo>
                    <a:pt x="0" y="1886699"/>
                  </a:lnTo>
                  <a:close/>
                </a:path>
              </a:pathLst>
            </a:custGeom>
            <a:solidFill>
              <a:srgbClr val="999999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2218" y="947850"/>
              <a:ext cx="4123886" cy="945522"/>
            </a:xfrm>
            <a:custGeom>
              <a:avLst/>
              <a:pathLst>
                <a:path w="4123886" h="945522">
                  <a:moveTo>
                    <a:pt x="0" y="945522"/>
                  </a:moveTo>
                  <a:lnTo>
                    <a:pt x="1374628" y="750701"/>
                  </a:lnTo>
                  <a:lnTo>
                    <a:pt x="2749257" y="248039"/>
                  </a:lnTo>
                  <a:lnTo>
                    <a:pt x="412388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2218" y="2151487"/>
              <a:ext cx="4123886" cy="683061"/>
            </a:xfrm>
            <a:custGeom>
              <a:avLst/>
              <a:pathLst>
                <a:path w="4123886" h="683061">
                  <a:moveTo>
                    <a:pt x="4123886" y="0"/>
                  </a:moveTo>
                  <a:lnTo>
                    <a:pt x="2749257" y="175170"/>
                  </a:lnTo>
                  <a:lnTo>
                    <a:pt x="1374628" y="572519"/>
                  </a:lnTo>
                  <a:lnTo>
                    <a:pt x="0" y="683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872218" y="791841"/>
              <a:ext cx="4123886" cy="1843201"/>
            </a:xfrm>
            <a:custGeom>
              <a:avLst/>
              <a:pathLst>
                <a:path w="4123886" h="1843201">
                  <a:moveTo>
                    <a:pt x="0" y="853324"/>
                  </a:moveTo>
                  <a:lnTo>
                    <a:pt x="1374628" y="620910"/>
                  </a:lnTo>
                  <a:lnTo>
                    <a:pt x="2749257" y="153713"/>
                  </a:lnTo>
                  <a:lnTo>
                    <a:pt x="4123886" y="0"/>
                  </a:lnTo>
                  <a:lnTo>
                    <a:pt x="4123886" y="1230260"/>
                  </a:lnTo>
                  <a:lnTo>
                    <a:pt x="2749257" y="1355778"/>
                  </a:lnTo>
                  <a:lnTo>
                    <a:pt x="1374628" y="1711786"/>
                  </a:lnTo>
                  <a:lnTo>
                    <a:pt x="0" y="1843201"/>
                  </a:lnTo>
                  <a:close/>
                </a:path>
              </a:pathLst>
            </a:custGeom>
            <a:solidFill>
              <a:srgbClr val="009E73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72218" y="791841"/>
              <a:ext cx="4123886" cy="853324"/>
            </a:xfrm>
            <a:custGeom>
              <a:avLst/>
              <a:pathLst>
                <a:path w="4123886" h="853324">
                  <a:moveTo>
                    <a:pt x="0" y="853324"/>
                  </a:moveTo>
                  <a:lnTo>
                    <a:pt x="1374628" y="620910"/>
                  </a:lnTo>
                  <a:lnTo>
                    <a:pt x="2749257" y="153713"/>
                  </a:lnTo>
                  <a:lnTo>
                    <a:pt x="412388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72218" y="2022101"/>
              <a:ext cx="4123886" cy="612940"/>
            </a:xfrm>
            <a:custGeom>
              <a:avLst/>
              <a:pathLst>
                <a:path w="4123886" h="612940">
                  <a:moveTo>
                    <a:pt x="4123886" y="0"/>
                  </a:moveTo>
                  <a:lnTo>
                    <a:pt x="2749257" y="125517"/>
                  </a:lnTo>
                  <a:lnTo>
                    <a:pt x="1374628" y="481526"/>
                  </a:lnTo>
                  <a:lnTo>
                    <a:pt x="0" y="612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72218" y="1439536"/>
              <a:ext cx="4123886" cy="901442"/>
            </a:xfrm>
            <a:custGeom>
              <a:avLst/>
              <a:pathLst>
                <a:path w="4123886" h="901442">
                  <a:moveTo>
                    <a:pt x="0" y="901442"/>
                  </a:moveTo>
                  <a:lnTo>
                    <a:pt x="1374628" y="721219"/>
                  </a:lnTo>
                  <a:lnTo>
                    <a:pt x="2749257" y="136607"/>
                  </a:lnTo>
                  <a:lnTo>
                    <a:pt x="4123886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72218" y="1583474"/>
              <a:ext cx="4123886" cy="804836"/>
            </a:xfrm>
            <a:custGeom>
              <a:avLst/>
              <a:pathLst>
                <a:path w="4123886" h="804836">
                  <a:moveTo>
                    <a:pt x="0" y="804836"/>
                  </a:moveTo>
                  <a:lnTo>
                    <a:pt x="1374628" y="655782"/>
                  </a:lnTo>
                  <a:lnTo>
                    <a:pt x="2749257" y="208854"/>
                  </a:lnTo>
                  <a:lnTo>
                    <a:pt x="4123886" y="0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72218" y="1441374"/>
              <a:ext cx="4123886" cy="724404"/>
            </a:xfrm>
            <a:custGeom>
              <a:avLst/>
              <a:pathLst>
                <a:path w="4123886" h="724404">
                  <a:moveTo>
                    <a:pt x="0" y="724404"/>
                  </a:moveTo>
                  <a:lnTo>
                    <a:pt x="1374628" y="546864"/>
                  </a:lnTo>
                  <a:lnTo>
                    <a:pt x="2749257" y="138910"/>
                  </a:lnTo>
                  <a:lnTo>
                    <a:pt x="4123886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849565" y="2143126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224194" y="1965586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598823" y="1557632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973452" y="1418722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849565" y="2365658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224194" y="2216604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598823" y="1769676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973452" y="1560821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849565" y="2318326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24194" y="2138103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98823" y="1553492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973452" y="1416884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666023" y="656226"/>
              <a:ext cx="0" cy="2451548"/>
            </a:xfrm>
            <a:custGeom>
              <a:avLst/>
              <a:pathLst>
                <a:path w="0" h="2451548">
                  <a:moveTo>
                    <a:pt x="0" y="2451548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487953" y="296365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953" y="217823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87953" y="139281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637555" y="29963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37555" y="22109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37555" y="14255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66023" y="3107775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72218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246847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621476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996105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846843" y="315901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196098" y="31590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570727" y="31590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5356" y="31590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121214" y="3271977"/>
              <a:ext cx="162589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-157963" y="1841081"/>
              <a:ext cx="110514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2494405" y="2389256"/>
              <a:ext cx="1786767" cy="5544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2551342" y="2455291"/>
              <a:ext cx="681136" cy="618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Climate baseline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2551342" y="2583139"/>
              <a:ext cx="113872" cy="1012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562729" y="2633749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85625" y="2611097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551342" y="2684360"/>
              <a:ext cx="113872" cy="1012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562729" y="273497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85625" y="2712317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551342" y="2785580"/>
              <a:ext cx="113872" cy="1012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562729" y="283619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85625" y="2813537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2722151" y="2605631"/>
              <a:ext cx="1170980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WorldClim 10' , 1980-2000 (main)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722151" y="2706852"/>
              <a:ext cx="1462674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CRU TS 0.5° , 1980-2000 (source control)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722151" y="2808072"/>
              <a:ext cx="1502084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CRU TS 0.5° , 1970-2000 (longer baseline)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6023" y="503004"/>
              <a:ext cx="316665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Every source and baseline gives the same rise from W = 5 to W = 20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66023" y="328384"/>
              <a:ext cx="254788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warming signal is decadal, not annual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335550" y="319535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5717074" y="656226"/>
              <a:ext cx="4536275" cy="24515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717074" y="2996341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5717074" y="2238232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717074" y="1480122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717074" y="722013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717074" y="2996341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  <a:lnTo>
                    <a:pt x="4536275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923269" y="767660"/>
              <a:ext cx="4123886" cy="1343543"/>
            </a:xfrm>
            <a:custGeom>
              <a:avLst/>
              <a:pathLst>
                <a:path w="4123886" h="1343543">
                  <a:moveTo>
                    <a:pt x="0" y="64496"/>
                  </a:moveTo>
                  <a:lnTo>
                    <a:pt x="1374628" y="0"/>
                  </a:lnTo>
                  <a:lnTo>
                    <a:pt x="2749257" y="20533"/>
                  </a:lnTo>
                  <a:lnTo>
                    <a:pt x="4123886" y="41952"/>
                  </a:lnTo>
                  <a:lnTo>
                    <a:pt x="4123886" y="1308508"/>
                  </a:lnTo>
                  <a:lnTo>
                    <a:pt x="2749257" y="1298975"/>
                  </a:lnTo>
                  <a:lnTo>
                    <a:pt x="1374628" y="1295495"/>
                  </a:lnTo>
                  <a:lnTo>
                    <a:pt x="0" y="1343543"/>
                  </a:lnTo>
                  <a:close/>
                </a:path>
              </a:pathLst>
            </a:custGeom>
            <a:solidFill>
              <a:srgbClr val="0072B2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923269" y="767660"/>
              <a:ext cx="4123886" cy="64496"/>
            </a:xfrm>
            <a:custGeom>
              <a:avLst/>
              <a:pathLst>
                <a:path w="4123886" h="64496">
                  <a:moveTo>
                    <a:pt x="0" y="64496"/>
                  </a:moveTo>
                  <a:lnTo>
                    <a:pt x="1374628" y="0"/>
                  </a:lnTo>
                  <a:lnTo>
                    <a:pt x="2749257" y="20533"/>
                  </a:lnTo>
                  <a:lnTo>
                    <a:pt x="4123886" y="41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923269" y="2063156"/>
              <a:ext cx="4123886" cy="48047"/>
            </a:xfrm>
            <a:custGeom>
              <a:avLst/>
              <a:pathLst>
                <a:path w="4123886" h="48047">
                  <a:moveTo>
                    <a:pt x="4123886" y="13013"/>
                  </a:moveTo>
                  <a:lnTo>
                    <a:pt x="2749257" y="3479"/>
                  </a:lnTo>
                  <a:lnTo>
                    <a:pt x="1374628" y="0"/>
                  </a:lnTo>
                  <a:lnTo>
                    <a:pt x="0" y="480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923269" y="973099"/>
              <a:ext cx="4123886" cy="1299716"/>
            </a:xfrm>
            <a:custGeom>
              <a:avLst/>
              <a:pathLst>
                <a:path w="4123886" h="1299716">
                  <a:moveTo>
                    <a:pt x="0" y="53161"/>
                  </a:moveTo>
                  <a:lnTo>
                    <a:pt x="1374628" y="0"/>
                  </a:lnTo>
                  <a:lnTo>
                    <a:pt x="2749257" y="58940"/>
                  </a:lnTo>
                  <a:lnTo>
                    <a:pt x="4123886" y="79385"/>
                  </a:lnTo>
                  <a:lnTo>
                    <a:pt x="4123886" y="1299716"/>
                  </a:lnTo>
                  <a:lnTo>
                    <a:pt x="2749257" y="1290682"/>
                  </a:lnTo>
                  <a:lnTo>
                    <a:pt x="1374628" y="1264203"/>
                  </a:lnTo>
                  <a:lnTo>
                    <a:pt x="0" y="1296607"/>
                  </a:lnTo>
                  <a:close/>
                </a:path>
              </a:pathLst>
            </a:custGeom>
            <a:solidFill>
              <a:srgbClr val="999999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923269" y="973099"/>
              <a:ext cx="4123886" cy="79385"/>
            </a:xfrm>
            <a:custGeom>
              <a:avLst/>
              <a:pathLst>
                <a:path w="4123886" h="79385">
                  <a:moveTo>
                    <a:pt x="0" y="53161"/>
                  </a:moveTo>
                  <a:lnTo>
                    <a:pt x="1374628" y="0"/>
                  </a:lnTo>
                  <a:lnTo>
                    <a:pt x="2749257" y="58940"/>
                  </a:lnTo>
                  <a:lnTo>
                    <a:pt x="4123886" y="79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923269" y="2237302"/>
              <a:ext cx="4123886" cy="35513"/>
            </a:xfrm>
            <a:custGeom>
              <a:avLst/>
              <a:pathLst>
                <a:path w="4123886" h="35513">
                  <a:moveTo>
                    <a:pt x="4123886" y="35513"/>
                  </a:moveTo>
                  <a:lnTo>
                    <a:pt x="2749257" y="26478"/>
                  </a:lnTo>
                  <a:lnTo>
                    <a:pt x="1374628" y="0"/>
                  </a:lnTo>
                  <a:lnTo>
                    <a:pt x="0" y="3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923269" y="907773"/>
              <a:ext cx="4123886" cy="1334450"/>
            </a:xfrm>
            <a:custGeom>
              <a:avLst/>
              <a:pathLst>
                <a:path w="4123886" h="1334450">
                  <a:moveTo>
                    <a:pt x="0" y="82879"/>
                  </a:moveTo>
                  <a:lnTo>
                    <a:pt x="1374628" y="0"/>
                  </a:lnTo>
                  <a:lnTo>
                    <a:pt x="2749257" y="34662"/>
                  </a:lnTo>
                  <a:lnTo>
                    <a:pt x="4123886" y="21955"/>
                  </a:lnTo>
                  <a:lnTo>
                    <a:pt x="4123886" y="1271789"/>
                  </a:lnTo>
                  <a:lnTo>
                    <a:pt x="2749257" y="1290232"/>
                  </a:lnTo>
                  <a:lnTo>
                    <a:pt x="1374628" y="1279096"/>
                  </a:lnTo>
                  <a:lnTo>
                    <a:pt x="0" y="1334450"/>
                  </a:lnTo>
                  <a:close/>
                </a:path>
              </a:pathLst>
            </a:custGeom>
            <a:solidFill>
              <a:srgbClr val="009E73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923269" y="907773"/>
              <a:ext cx="4123886" cy="82879"/>
            </a:xfrm>
            <a:custGeom>
              <a:avLst/>
              <a:pathLst>
                <a:path w="4123886" h="82879">
                  <a:moveTo>
                    <a:pt x="0" y="82879"/>
                  </a:moveTo>
                  <a:lnTo>
                    <a:pt x="1374628" y="0"/>
                  </a:lnTo>
                  <a:lnTo>
                    <a:pt x="2749257" y="34662"/>
                  </a:lnTo>
                  <a:lnTo>
                    <a:pt x="4123886" y="219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923269" y="2179563"/>
              <a:ext cx="4123886" cy="62660"/>
            </a:xfrm>
            <a:custGeom>
              <a:avLst/>
              <a:pathLst>
                <a:path w="4123886" h="62660">
                  <a:moveTo>
                    <a:pt x="4123886" y="0"/>
                  </a:moveTo>
                  <a:lnTo>
                    <a:pt x="2749257" y="18442"/>
                  </a:lnTo>
                  <a:lnTo>
                    <a:pt x="1374628" y="7306"/>
                  </a:lnTo>
                  <a:lnTo>
                    <a:pt x="0" y="62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923269" y="1454607"/>
              <a:ext cx="4123886" cy="55687"/>
            </a:xfrm>
            <a:custGeom>
              <a:avLst/>
              <a:pathLst>
                <a:path w="4123886" h="55687">
                  <a:moveTo>
                    <a:pt x="0" y="55687"/>
                  </a:moveTo>
                  <a:lnTo>
                    <a:pt x="1374628" y="0"/>
                  </a:lnTo>
                  <a:lnTo>
                    <a:pt x="2749257" y="11063"/>
                  </a:lnTo>
                  <a:lnTo>
                    <a:pt x="4123886" y="25938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5923269" y="1643899"/>
              <a:ext cx="4123886" cy="55208"/>
            </a:xfrm>
            <a:custGeom>
              <a:avLst/>
              <a:pathLst>
                <a:path w="4123886" h="55208">
                  <a:moveTo>
                    <a:pt x="0" y="41831"/>
                  </a:moveTo>
                  <a:lnTo>
                    <a:pt x="1374628" y="0"/>
                  </a:lnTo>
                  <a:lnTo>
                    <a:pt x="2749257" y="41047"/>
                  </a:lnTo>
                  <a:lnTo>
                    <a:pt x="4123886" y="55208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5923269" y="1586500"/>
              <a:ext cx="4123886" cy="67947"/>
            </a:xfrm>
            <a:custGeom>
              <a:avLst/>
              <a:pathLst>
                <a:path w="4123886" h="67947">
                  <a:moveTo>
                    <a:pt x="0" y="67947"/>
                  </a:moveTo>
                  <a:lnTo>
                    <a:pt x="1374628" y="0"/>
                  </a:lnTo>
                  <a:lnTo>
                    <a:pt x="2749257" y="21632"/>
                  </a:lnTo>
                  <a:lnTo>
                    <a:pt x="4123886" y="5598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900616" y="1631794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7275245" y="1563847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8649874" y="1585480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0024503" y="1569446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00616" y="1663078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275245" y="1621246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8649874" y="1662294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0024503" y="1676455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900616" y="1487642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275245" y="1431955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8649874" y="1443018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0024503" y="1457894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717074" y="656226"/>
              <a:ext cx="0" cy="2451548"/>
            </a:xfrm>
            <a:custGeom>
              <a:avLst/>
              <a:pathLst>
                <a:path w="0" h="2451548">
                  <a:moveTo>
                    <a:pt x="0" y="2451548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5539004" y="296365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5539004" y="2205542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539004" y="144743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5539004" y="68932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106" name="pl106"/>
            <p:cNvSpPr/>
            <p:nvPr/>
          </p:nvSpPr>
          <p:spPr>
            <a:xfrm>
              <a:off x="5688606" y="29963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88606" y="22382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88606" y="14801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5688606" y="7220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717074" y="3107775"/>
              <a:ext cx="4536275" cy="0"/>
            </a:xfrm>
            <a:custGeom>
              <a:avLst/>
              <a:pathLst>
                <a:path w="4536275" h="0">
                  <a:moveTo>
                    <a:pt x="0" y="0"/>
                  </a:moveTo>
                  <a:lnTo>
                    <a:pt x="453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923269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7297898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672527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0047156" y="310777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5897894" y="315901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247149" y="31590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8621777" y="31590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9996406" y="31590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172265" y="3271977"/>
              <a:ext cx="162589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120" name="tx120"/>
            <p:cNvSpPr/>
            <p:nvPr/>
          </p:nvSpPr>
          <p:spPr>
            <a:xfrm rot="-5400000">
              <a:off x="4893087" y="1841081"/>
              <a:ext cx="110514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5717074" y="503004"/>
              <a:ext cx="4357390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1.34-1.41 across all twelve combinations, as expected if the two terms are separately identified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5717074" y="328384"/>
              <a:ext cx="21177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effort coefficient does not care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5382440" y="319535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24" name="rc124"/>
            <p:cNvSpPr/>
            <p:nvPr/>
          </p:nvSpPr>
          <p:spPr>
            <a:xfrm>
              <a:off x="252469" y="3453688"/>
              <a:ext cx="5063715" cy="34261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316184" y="3453688"/>
              <a:ext cx="5038386" cy="34261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66023" y="4082389"/>
              <a:ext cx="4548940" cy="24515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666023" y="6066856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66023" y="5469949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66023" y="4873042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66023" y="4276134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666023" y="4873042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872793" y="4888311"/>
              <a:ext cx="4135400" cy="1534192"/>
            </a:xfrm>
            <a:custGeom>
              <a:avLst/>
              <a:pathLst>
                <a:path w="4135400" h="1534192">
                  <a:moveTo>
                    <a:pt x="0" y="0"/>
                  </a:moveTo>
                  <a:lnTo>
                    <a:pt x="1378466" y="338370"/>
                  </a:lnTo>
                  <a:lnTo>
                    <a:pt x="2756933" y="294138"/>
                  </a:lnTo>
                  <a:lnTo>
                    <a:pt x="4135400" y="488938"/>
                  </a:lnTo>
                  <a:lnTo>
                    <a:pt x="4135400" y="1534192"/>
                  </a:lnTo>
                  <a:lnTo>
                    <a:pt x="2756933" y="1413410"/>
                  </a:lnTo>
                  <a:lnTo>
                    <a:pt x="1378466" y="1404203"/>
                  </a:lnTo>
                  <a:lnTo>
                    <a:pt x="0" y="1135760"/>
                  </a:lnTo>
                  <a:close/>
                </a:path>
              </a:pathLst>
            </a:custGeom>
            <a:solidFill>
              <a:srgbClr val="0072B2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72793" y="4888311"/>
              <a:ext cx="4135400" cy="488938"/>
            </a:xfrm>
            <a:custGeom>
              <a:avLst/>
              <a:pathLst>
                <a:path w="4135400" h="488938">
                  <a:moveTo>
                    <a:pt x="0" y="0"/>
                  </a:moveTo>
                  <a:lnTo>
                    <a:pt x="1378466" y="338370"/>
                  </a:lnTo>
                  <a:lnTo>
                    <a:pt x="2756933" y="294138"/>
                  </a:lnTo>
                  <a:lnTo>
                    <a:pt x="4135400" y="48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72793" y="6024072"/>
              <a:ext cx="4135400" cy="398431"/>
            </a:xfrm>
            <a:custGeom>
              <a:avLst/>
              <a:pathLst>
                <a:path w="4135400" h="398431">
                  <a:moveTo>
                    <a:pt x="4135400" y="398431"/>
                  </a:moveTo>
                  <a:lnTo>
                    <a:pt x="2756933" y="277649"/>
                  </a:lnTo>
                  <a:lnTo>
                    <a:pt x="1378466" y="2684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872793" y="4193823"/>
              <a:ext cx="4135400" cy="1869605"/>
            </a:xfrm>
            <a:custGeom>
              <a:avLst/>
              <a:pathLst>
                <a:path w="4135400" h="1869605">
                  <a:moveTo>
                    <a:pt x="0" y="0"/>
                  </a:moveTo>
                  <a:lnTo>
                    <a:pt x="1378466" y="451296"/>
                  </a:lnTo>
                  <a:lnTo>
                    <a:pt x="2756933" y="548314"/>
                  </a:lnTo>
                  <a:lnTo>
                    <a:pt x="4135400" y="702141"/>
                  </a:lnTo>
                  <a:lnTo>
                    <a:pt x="4135400" y="1869605"/>
                  </a:lnTo>
                  <a:lnTo>
                    <a:pt x="2756933" y="1722434"/>
                  </a:lnTo>
                  <a:lnTo>
                    <a:pt x="1378466" y="1652658"/>
                  </a:lnTo>
                  <a:lnTo>
                    <a:pt x="0" y="1307558"/>
                  </a:lnTo>
                  <a:close/>
                </a:path>
              </a:pathLst>
            </a:custGeom>
            <a:solidFill>
              <a:srgbClr val="999999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72793" y="4193823"/>
              <a:ext cx="4135400" cy="702141"/>
            </a:xfrm>
            <a:custGeom>
              <a:avLst/>
              <a:pathLst>
                <a:path w="4135400" h="702141">
                  <a:moveTo>
                    <a:pt x="0" y="0"/>
                  </a:moveTo>
                  <a:lnTo>
                    <a:pt x="1378466" y="451296"/>
                  </a:lnTo>
                  <a:lnTo>
                    <a:pt x="2756933" y="548314"/>
                  </a:lnTo>
                  <a:lnTo>
                    <a:pt x="4135400" y="702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72793" y="5501381"/>
              <a:ext cx="4135400" cy="562046"/>
            </a:xfrm>
            <a:custGeom>
              <a:avLst/>
              <a:pathLst>
                <a:path w="4135400" h="562046">
                  <a:moveTo>
                    <a:pt x="4135400" y="562046"/>
                  </a:moveTo>
                  <a:lnTo>
                    <a:pt x="2756933" y="414875"/>
                  </a:lnTo>
                  <a:lnTo>
                    <a:pt x="1378466" y="3450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872793" y="4565639"/>
              <a:ext cx="4135400" cy="1606364"/>
            </a:xfrm>
            <a:custGeom>
              <a:avLst/>
              <a:pathLst>
                <a:path w="4135400" h="1606364">
                  <a:moveTo>
                    <a:pt x="0" y="0"/>
                  </a:moveTo>
                  <a:lnTo>
                    <a:pt x="1378466" y="362594"/>
                  </a:lnTo>
                  <a:lnTo>
                    <a:pt x="2756933" y="309183"/>
                  </a:lnTo>
                  <a:lnTo>
                    <a:pt x="4135400" y="474179"/>
                  </a:lnTo>
                  <a:lnTo>
                    <a:pt x="4135400" y="1606364"/>
                  </a:lnTo>
                  <a:lnTo>
                    <a:pt x="2756933" y="1473260"/>
                  </a:lnTo>
                  <a:lnTo>
                    <a:pt x="1378466" y="1500790"/>
                  </a:lnTo>
                  <a:lnTo>
                    <a:pt x="0" y="1232079"/>
                  </a:lnTo>
                  <a:close/>
                </a:path>
              </a:pathLst>
            </a:custGeom>
            <a:solidFill>
              <a:srgbClr val="009E73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72793" y="4565639"/>
              <a:ext cx="4135400" cy="474179"/>
            </a:xfrm>
            <a:custGeom>
              <a:avLst/>
              <a:pathLst>
                <a:path w="4135400" h="474179">
                  <a:moveTo>
                    <a:pt x="0" y="0"/>
                  </a:moveTo>
                  <a:lnTo>
                    <a:pt x="1378466" y="362594"/>
                  </a:lnTo>
                  <a:lnTo>
                    <a:pt x="2756933" y="309183"/>
                  </a:lnTo>
                  <a:lnTo>
                    <a:pt x="4135400" y="4741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72793" y="5797718"/>
              <a:ext cx="4135400" cy="374285"/>
            </a:xfrm>
            <a:custGeom>
              <a:avLst/>
              <a:pathLst>
                <a:path w="4135400" h="374285">
                  <a:moveTo>
                    <a:pt x="4135400" y="374285"/>
                  </a:moveTo>
                  <a:lnTo>
                    <a:pt x="2756933" y="241181"/>
                  </a:lnTo>
                  <a:lnTo>
                    <a:pt x="1378466" y="2687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72793" y="5486213"/>
              <a:ext cx="4135400" cy="441374"/>
            </a:xfrm>
            <a:custGeom>
              <a:avLst/>
              <a:pathLst>
                <a:path w="4135400" h="441374">
                  <a:moveTo>
                    <a:pt x="0" y="0"/>
                  </a:moveTo>
                  <a:lnTo>
                    <a:pt x="1378466" y="301401"/>
                  </a:lnTo>
                  <a:lnTo>
                    <a:pt x="2756933" y="286670"/>
                  </a:lnTo>
                  <a:lnTo>
                    <a:pt x="4135400" y="441374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72793" y="4883360"/>
              <a:ext cx="4135400" cy="628202"/>
            </a:xfrm>
            <a:custGeom>
              <a:avLst/>
              <a:pathLst>
                <a:path w="4135400" h="628202">
                  <a:moveTo>
                    <a:pt x="0" y="0"/>
                  </a:moveTo>
                  <a:lnTo>
                    <a:pt x="1378466" y="394770"/>
                  </a:lnTo>
                  <a:lnTo>
                    <a:pt x="2756933" y="477183"/>
                  </a:lnTo>
                  <a:lnTo>
                    <a:pt x="4135400" y="628202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72793" y="5215301"/>
              <a:ext cx="4135400" cy="421300"/>
            </a:xfrm>
            <a:custGeom>
              <a:avLst/>
              <a:pathLst>
                <a:path w="4135400" h="421300">
                  <a:moveTo>
                    <a:pt x="0" y="0"/>
                  </a:moveTo>
                  <a:lnTo>
                    <a:pt x="1378466" y="312415"/>
                  </a:lnTo>
                  <a:lnTo>
                    <a:pt x="2756933" y="273105"/>
                  </a:lnTo>
                  <a:lnTo>
                    <a:pt x="4135400" y="42130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850141" y="5192648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228607" y="5505063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607074" y="5465754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985541" y="5613948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850141" y="4860707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228607" y="5255478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607074" y="5337891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985541" y="5488910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850141" y="5463561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228607" y="5764962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7074" y="5750231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985541" y="5904935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666023" y="4082389"/>
              <a:ext cx="0" cy="2451548"/>
            </a:xfrm>
            <a:custGeom>
              <a:avLst/>
              <a:pathLst>
                <a:path w="0" h="2451548">
                  <a:moveTo>
                    <a:pt x="0" y="2451548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487953" y="603416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487953" y="543725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0.9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487953" y="4840352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87953" y="424344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1.1</a:t>
              </a:r>
            </a:p>
          </p:txBody>
        </p:sp>
        <p:sp>
          <p:nvSpPr>
            <p:cNvPr id="161" name="pl161"/>
            <p:cNvSpPr/>
            <p:nvPr/>
          </p:nvSpPr>
          <p:spPr>
            <a:xfrm>
              <a:off x="637555" y="60668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637555" y="54699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637555" y="48730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37555" y="42761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66023" y="6533937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72793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251260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3629727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5008194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847419" y="658518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200511" y="6585180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3578978" y="6585180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4957444" y="6585180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2127546" y="6698139"/>
              <a:ext cx="162589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175" name="tx175"/>
            <p:cNvSpPr/>
            <p:nvPr/>
          </p:nvSpPr>
          <p:spPr>
            <a:xfrm rot="-5400000">
              <a:off x="-157963" y="5267244"/>
              <a:ext cx="110514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666023" y="3704223"/>
              <a:ext cx="3172510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Warming x effort stays below 1 at every window, source and baseline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666023" y="3529604"/>
              <a:ext cx="231471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interaction is negative throughout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35613" y="3524129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79" name="rc179"/>
            <p:cNvSpPr/>
            <p:nvPr/>
          </p:nvSpPr>
          <p:spPr>
            <a:xfrm>
              <a:off x="5704410" y="4082389"/>
              <a:ext cx="4548940" cy="24515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704410" y="6422503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5704410" y="5954189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5704410" y="5485875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5704410" y="5017561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5704410" y="4549247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  <a:lnTo>
                    <a:pt x="454894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5911180" y="4193823"/>
              <a:ext cx="4135400" cy="2228680"/>
            </a:xfrm>
            <a:custGeom>
              <a:avLst/>
              <a:pathLst>
                <a:path w="4135400" h="2228680">
                  <a:moveTo>
                    <a:pt x="0" y="0"/>
                  </a:moveTo>
                  <a:lnTo>
                    <a:pt x="1378466" y="645714"/>
                  </a:lnTo>
                  <a:lnTo>
                    <a:pt x="2756933" y="2022351"/>
                  </a:lnTo>
                  <a:lnTo>
                    <a:pt x="4135400" y="222868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5911180" y="4520258"/>
              <a:ext cx="4135400" cy="1902245"/>
            </a:xfrm>
            <a:custGeom>
              <a:avLst/>
              <a:pathLst>
                <a:path w="4135400" h="1902245">
                  <a:moveTo>
                    <a:pt x="0" y="0"/>
                  </a:moveTo>
                  <a:lnTo>
                    <a:pt x="1378466" y="256757"/>
                  </a:lnTo>
                  <a:lnTo>
                    <a:pt x="2756933" y="1380060"/>
                  </a:lnTo>
                  <a:lnTo>
                    <a:pt x="4135400" y="1902245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5911180" y="4295748"/>
              <a:ext cx="4135400" cy="2126754"/>
            </a:xfrm>
            <a:custGeom>
              <a:avLst/>
              <a:pathLst>
                <a:path w="4135400" h="2126754">
                  <a:moveTo>
                    <a:pt x="0" y="0"/>
                  </a:moveTo>
                  <a:lnTo>
                    <a:pt x="1378466" y="522828"/>
                  </a:lnTo>
                  <a:lnTo>
                    <a:pt x="2756933" y="1656983"/>
                  </a:lnTo>
                  <a:lnTo>
                    <a:pt x="4135400" y="2126754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888527" y="4273096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266994" y="4795924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645461" y="5930079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0023927" y="6399851"/>
              <a:ext cx="45305" cy="45305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888527" y="4497605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7266994" y="4754362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8645461" y="5877666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0023927" y="6399851"/>
              <a:ext cx="45305" cy="4530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888527" y="4171170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266994" y="4816885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645461" y="6193522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0023927" y="6399851"/>
              <a:ext cx="45305" cy="4530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9993308" y="6369231"/>
              <a:ext cx="106544" cy="106544"/>
            </a:xfrm>
            <a:prstGeom prst="ellipse">
              <a:avLst/>
            </a:prstGeom>
            <a:ln w="14400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9993308" y="6369231"/>
              <a:ext cx="106544" cy="106544"/>
            </a:xfrm>
            <a:prstGeom prst="ellipse">
              <a:avLst/>
            </a:prstGeom>
            <a:ln w="14400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9993308" y="6369231"/>
              <a:ext cx="106544" cy="106544"/>
            </a:xfrm>
            <a:prstGeom prst="ellipse">
              <a:avLst/>
            </a:prstGeom>
            <a:ln w="144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5704410" y="4082389"/>
              <a:ext cx="0" cy="2451548"/>
            </a:xfrm>
            <a:custGeom>
              <a:avLst/>
              <a:pathLst>
                <a:path w="0" h="2451548">
                  <a:moveTo>
                    <a:pt x="0" y="2451548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4"/>
            <p:cNvSpPr/>
            <p:nvPr/>
          </p:nvSpPr>
          <p:spPr>
            <a:xfrm>
              <a:off x="5602418" y="638981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5602418" y="592150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5551669" y="5453186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551669" y="4984872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551669" y="4516557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9" name="pl209"/>
            <p:cNvSpPr/>
            <p:nvPr/>
          </p:nvSpPr>
          <p:spPr>
            <a:xfrm>
              <a:off x="5675942" y="64225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5675942" y="59541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5675942" y="54858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5675942" y="50175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5675942" y="45492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704410" y="6533937"/>
              <a:ext cx="4548940" cy="0"/>
            </a:xfrm>
            <a:custGeom>
              <a:avLst/>
              <a:pathLst>
                <a:path w="4548940" h="0">
                  <a:moveTo>
                    <a:pt x="0" y="0"/>
                  </a:moveTo>
                  <a:lnTo>
                    <a:pt x="454894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5911180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289647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8668113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10046580" y="65339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tx219"/>
            <p:cNvSpPr/>
            <p:nvPr/>
          </p:nvSpPr>
          <p:spPr>
            <a:xfrm>
              <a:off x="5885805" y="658518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38897" y="6585180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8617364" y="6585180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9995831" y="6585180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7165933" y="6698139"/>
              <a:ext cx="162589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W (years)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4886641" y="5267244"/>
              <a:ext cx="114336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Delta AIC within series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5704410" y="3704223"/>
              <a:ext cx="3718499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Circles mark the AIC optimum; W = 15 is within 2.2-5.6 units of it in every series. 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5704410" y="3816695"/>
              <a:ext cx="5210525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 finer grid (3-23 yr, Extended Data Table 2) places the optimum at 18-20 yr and shows AIC rising again by 23 yr, 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5704410" y="3929166"/>
              <a:ext cx="303964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 the optimum is interior rather than an artefact of stopping at 20.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5704410" y="3529604"/>
              <a:ext cx="257065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All three series select a 15-20 year window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5395041" y="3524129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2026-07-26T23:07:35Z</dcterms:modified>
  <cp:category/>
</cp:coreProperties>
</file>