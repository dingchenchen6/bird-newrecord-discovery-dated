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10241280" cy="6766560"/>
            <a:chOff x="182880" y="182880"/>
            <a:chExt cx="10241280" cy="676656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10241280" cy="67665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10241280" cy="67665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3700757"/>
              <a:ext cx="10102101" cy="31790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252469" y="252469"/>
              <a:ext cx="4377382" cy="344828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4629851" y="252469"/>
              <a:ext cx="5724719" cy="344828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691444" y="656226"/>
              <a:ext cx="3837186" cy="269861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91444" y="3232180"/>
              <a:ext cx="3837186" cy="0"/>
            </a:xfrm>
            <a:custGeom>
              <a:avLst/>
              <a:pathLst>
                <a:path w="3837186" h="0">
                  <a:moveTo>
                    <a:pt x="0" y="0"/>
                  </a:moveTo>
                  <a:lnTo>
                    <a:pt x="3837186" y="0"/>
                  </a:lnTo>
                  <a:lnTo>
                    <a:pt x="383718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1444" y="2617074"/>
              <a:ext cx="3837186" cy="0"/>
            </a:xfrm>
            <a:custGeom>
              <a:avLst/>
              <a:pathLst>
                <a:path w="3837186" h="0">
                  <a:moveTo>
                    <a:pt x="0" y="0"/>
                  </a:moveTo>
                  <a:lnTo>
                    <a:pt x="3837186" y="0"/>
                  </a:lnTo>
                  <a:lnTo>
                    <a:pt x="383718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1444" y="2001968"/>
              <a:ext cx="3837186" cy="0"/>
            </a:xfrm>
            <a:custGeom>
              <a:avLst/>
              <a:pathLst>
                <a:path w="3837186" h="0">
                  <a:moveTo>
                    <a:pt x="0" y="0"/>
                  </a:moveTo>
                  <a:lnTo>
                    <a:pt x="3837186" y="0"/>
                  </a:lnTo>
                  <a:lnTo>
                    <a:pt x="383718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1444" y="1386862"/>
              <a:ext cx="3837186" cy="0"/>
            </a:xfrm>
            <a:custGeom>
              <a:avLst/>
              <a:pathLst>
                <a:path w="3837186" h="0">
                  <a:moveTo>
                    <a:pt x="0" y="0"/>
                  </a:moveTo>
                  <a:lnTo>
                    <a:pt x="3837186" y="0"/>
                  </a:lnTo>
                  <a:lnTo>
                    <a:pt x="383718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1444" y="771756"/>
              <a:ext cx="3837186" cy="0"/>
            </a:xfrm>
            <a:custGeom>
              <a:avLst/>
              <a:pathLst>
                <a:path w="3837186" h="0">
                  <a:moveTo>
                    <a:pt x="0" y="0"/>
                  </a:moveTo>
                  <a:lnTo>
                    <a:pt x="3837186" y="0"/>
                  </a:lnTo>
                  <a:lnTo>
                    <a:pt x="383718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865861" y="2803820"/>
              <a:ext cx="111925" cy="428359"/>
            </a:xfrm>
            <a:prstGeom prst="rect">
              <a:avLst/>
            </a:prstGeom>
            <a:solidFill>
              <a:srgbClr val="0072B2">
                <a:alpha val="85098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015096" y="2277289"/>
              <a:ext cx="111925" cy="954890"/>
            </a:xfrm>
            <a:prstGeom prst="rect">
              <a:avLst/>
            </a:prstGeom>
            <a:solidFill>
              <a:srgbClr val="0072B2">
                <a:alpha val="85098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164330" y="2830146"/>
              <a:ext cx="111925" cy="402033"/>
            </a:xfrm>
            <a:prstGeom prst="rect">
              <a:avLst/>
            </a:prstGeom>
            <a:solidFill>
              <a:srgbClr val="0072B2">
                <a:alpha val="85098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313564" y="2983185"/>
              <a:ext cx="111925" cy="248994"/>
            </a:xfrm>
            <a:prstGeom prst="rect">
              <a:avLst/>
            </a:prstGeom>
            <a:solidFill>
              <a:srgbClr val="0072B2">
                <a:alpha val="85098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462799" y="3083816"/>
              <a:ext cx="111925" cy="148363"/>
            </a:xfrm>
            <a:prstGeom prst="rect">
              <a:avLst/>
            </a:prstGeom>
            <a:solidFill>
              <a:srgbClr val="0072B2">
                <a:alpha val="85098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612033" y="3162796"/>
              <a:ext cx="111925" cy="69383"/>
            </a:xfrm>
            <a:prstGeom prst="rect">
              <a:avLst/>
            </a:prstGeom>
            <a:solidFill>
              <a:srgbClr val="0072B2">
                <a:alpha val="85098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761267" y="3191583"/>
              <a:ext cx="111925" cy="40596"/>
            </a:xfrm>
            <a:prstGeom prst="rect">
              <a:avLst/>
            </a:prstGeom>
            <a:solidFill>
              <a:srgbClr val="0072B2">
                <a:alpha val="85098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910501" y="3198718"/>
              <a:ext cx="111925" cy="33461"/>
            </a:xfrm>
            <a:prstGeom prst="rect">
              <a:avLst/>
            </a:prstGeom>
            <a:solidFill>
              <a:srgbClr val="0072B2">
                <a:alpha val="85098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59736" y="3203393"/>
              <a:ext cx="111925" cy="28786"/>
            </a:xfrm>
            <a:prstGeom prst="rect">
              <a:avLst/>
            </a:prstGeom>
            <a:solidFill>
              <a:srgbClr val="0072B2">
                <a:alpha val="85098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208970" y="3217909"/>
              <a:ext cx="111925" cy="14270"/>
            </a:xfrm>
            <a:prstGeom prst="rect">
              <a:avLst/>
            </a:prstGeom>
            <a:solidFill>
              <a:srgbClr val="0072B2">
                <a:alpha val="85098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358204" y="3208314"/>
              <a:ext cx="111925" cy="23866"/>
            </a:xfrm>
            <a:prstGeom prst="rect">
              <a:avLst/>
            </a:prstGeom>
            <a:solidFill>
              <a:srgbClr val="0072B2">
                <a:alpha val="85098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507439" y="3215449"/>
              <a:ext cx="111925" cy="16730"/>
            </a:xfrm>
            <a:prstGeom prst="rect">
              <a:avLst/>
            </a:prstGeom>
            <a:solidFill>
              <a:srgbClr val="0072B2">
                <a:alpha val="85098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656673" y="3229719"/>
              <a:ext cx="111925" cy="2460"/>
            </a:xfrm>
            <a:prstGeom prst="rect">
              <a:avLst/>
            </a:prstGeom>
            <a:solidFill>
              <a:srgbClr val="0072B2">
                <a:alpha val="85098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1058" y="778891"/>
              <a:ext cx="3283154" cy="1057736"/>
            </a:xfrm>
            <a:custGeom>
              <a:avLst/>
              <a:pathLst>
                <a:path w="3283154" h="1057736">
                  <a:moveTo>
                    <a:pt x="0" y="1057736"/>
                  </a:moveTo>
                  <a:lnTo>
                    <a:pt x="149234" y="652012"/>
                  </a:lnTo>
                  <a:lnTo>
                    <a:pt x="298468" y="400803"/>
                  </a:lnTo>
                  <a:lnTo>
                    <a:pt x="447702" y="251209"/>
                  </a:lnTo>
                  <a:lnTo>
                    <a:pt x="596937" y="181087"/>
                  </a:lnTo>
                  <a:lnTo>
                    <a:pt x="746171" y="140244"/>
                  </a:lnTo>
                  <a:lnTo>
                    <a:pt x="895405" y="106290"/>
                  </a:lnTo>
                  <a:lnTo>
                    <a:pt x="1044640" y="77257"/>
                  </a:lnTo>
                  <a:lnTo>
                    <a:pt x="1193874" y="62986"/>
                  </a:lnTo>
                  <a:lnTo>
                    <a:pt x="1343108" y="38628"/>
                  </a:lnTo>
                  <a:lnTo>
                    <a:pt x="1492342" y="21897"/>
                  </a:lnTo>
                  <a:lnTo>
                    <a:pt x="1641577" y="19437"/>
                  </a:lnTo>
                  <a:lnTo>
                    <a:pt x="1790811" y="12302"/>
                  </a:lnTo>
                  <a:lnTo>
                    <a:pt x="1940045" y="2460"/>
                  </a:lnTo>
                  <a:lnTo>
                    <a:pt x="2089280" y="2460"/>
                  </a:lnTo>
                  <a:lnTo>
                    <a:pt x="2238514" y="2460"/>
                  </a:lnTo>
                  <a:lnTo>
                    <a:pt x="2387748" y="2460"/>
                  </a:lnTo>
                  <a:lnTo>
                    <a:pt x="2536983" y="2460"/>
                  </a:lnTo>
                  <a:lnTo>
                    <a:pt x="2686217" y="2460"/>
                  </a:lnTo>
                  <a:lnTo>
                    <a:pt x="2835451" y="2460"/>
                  </a:lnTo>
                  <a:lnTo>
                    <a:pt x="2984685" y="2460"/>
                  </a:lnTo>
                  <a:lnTo>
                    <a:pt x="3133920" y="0"/>
                  </a:lnTo>
                  <a:lnTo>
                    <a:pt x="3283154" y="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335626" y="760303"/>
              <a:ext cx="37175" cy="37175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7363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86391" y="760303"/>
              <a:ext cx="37175" cy="37175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7363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037157" y="762764"/>
              <a:ext cx="37175" cy="37175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7363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87923" y="762764"/>
              <a:ext cx="37175" cy="37175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7363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738688" y="762764"/>
              <a:ext cx="37175" cy="37175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7363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589454" y="762764"/>
              <a:ext cx="37175" cy="37175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7363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440220" y="762764"/>
              <a:ext cx="37175" cy="37175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7363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290985" y="762764"/>
              <a:ext cx="37175" cy="37175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7363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141751" y="762764"/>
              <a:ext cx="37175" cy="37175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7363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992517" y="762764"/>
              <a:ext cx="37175" cy="37175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7363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843283" y="772605"/>
              <a:ext cx="37175" cy="37175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7363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694048" y="779741"/>
              <a:ext cx="37175" cy="37175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7363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544814" y="782201"/>
              <a:ext cx="37175" cy="37175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7363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95580" y="798932"/>
              <a:ext cx="37175" cy="37175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7363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246345" y="823290"/>
              <a:ext cx="37175" cy="37175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7363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097111" y="837561"/>
              <a:ext cx="37175" cy="37175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7363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947877" y="866594"/>
              <a:ext cx="37175" cy="37175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7363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798642" y="900548"/>
              <a:ext cx="37175" cy="37175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7363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649408" y="941391"/>
              <a:ext cx="37175" cy="37175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7363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500174" y="1011513"/>
              <a:ext cx="37175" cy="37175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7363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350940" y="1161106"/>
              <a:ext cx="37175" cy="37175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7363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201705" y="1412316"/>
              <a:ext cx="37175" cy="37175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7363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052471" y="1818040"/>
              <a:ext cx="37175" cy="37175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7363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2041081" y="933705"/>
              <a:ext cx="1219078" cy="69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68" i="0" b="0">
                  <a:solidFill>
                    <a:srgbClr val="D55E00">
                      <a:alpha val="100000"/>
                    </a:srgbClr>
                  </a:solidFill>
                  <a:latin typeface="Arial"/>
                  <a:cs typeface="Arial"/>
                </a:rPr>
                <a:t>Reporting completeness c(t)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48608" y="2315109"/>
              <a:ext cx="634136" cy="69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68" i="0" b="0">
                  <a:solidFill>
                    <a:srgbClr val="0072B2">
                      <a:alpha val="100000"/>
                    </a:srgbClr>
                  </a:solidFill>
                  <a:latin typeface="Arial"/>
                  <a:cs typeface="Arial"/>
                </a:rPr>
                <a:t>Publication lag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548608" y="2455602"/>
              <a:ext cx="612099" cy="69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68" i="0" b="0">
                  <a:solidFill>
                    <a:srgbClr val="0072B2">
                      <a:alpha val="100000"/>
                    </a:srgbClr>
                  </a:solidFill>
                  <a:latin typeface="Arial"/>
                  <a:cs typeface="Arial"/>
                </a:rPr>
                <a:t>(% of records)</a:t>
              </a:r>
            </a:p>
          </p:txBody>
        </p:sp>
        <p:sp>
          <p:nvSpPr>
            <p:cNvPr id="54" name="pl54"/>
            <p:cNvSpPr/>
            <p:nvPr/>
          </p:nvSpPr>
          <p:spPr>
            <a:xfrm>
              <a:off x="691444" y="656226"/>
              <a:ext cx="0" cy="2698617"/>
            </a:xfrm>
            <a:custGeom>
              <a:avLst/>
              <a:pathLst>
                <a:path w="0" h="2698617">
                  <a:moveTo>
                    <a:pt x="0" y="2698617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tx55"/>
            <p:cNvSpPr/>
            <p:nvPr/>
          </p:nvSpPr>
          <p:spPr>
            <a:xfrm>
              <a:off x="589452" y="319949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538702" y="2584384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538702" y="1969278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538702" y="1354172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75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487953" y="739066"/>
              <a:ext cx="15224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60" name="pl60"/>
            <p:cNvSpPr/>
            <p:nvPr/>
          </p:nvSpPr>
          <p:spPr>
            <a:xfrm>
              <a:off x="662975" y="32321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662975" y="261707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662975" y="20019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62975" y="138686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62975" y="77175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691444" y="3354844"/>
              <a:ext cx="3837186" cy="0"/>
            </a:xfrm>
            <a:custGeom>
              <a:avLst/>
              <a:pathLst>
                <a:path w="3837186" h="0">
                  <a:moveTo>
                    <a:pt x="0" y="0"/>
                  </a:moveTo>
                  <a:lnTo>
                    <a:pt x="3837186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921824" y="335484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1667996" y="335484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414167" y="335484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3160339" y="335484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3906510" y="335484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tx71"/>
            <p:cNvSpPr/>
            <p:nvPr/>
          </p:nvSpPr>
          <p:spPr>
            <a:xfrm>
              <a:off x="896450" y="3406087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1642621" y="3406087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2363418" y="3406087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3109589" y="3406087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3855761" y="3406087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1576628" y="3519046"/>
              <a:ext cx="2066818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Years between discovery and publication</a:t>
              </a:r>
            </a:p>
          </p:txBody>
        </p:sp>
        <p:sp>
          <p:nvSpPr>
            <p:cNvPr id="77" name="tx77"/>
            <p:cNvSpPr/>
            <p:nvPr/>
          </p:nvSpPr>
          <p:spPr>
            <a:xfrm rot="-5400000">
              <a:off x="181827" y="1964616"/>
              <a:ext cx="42556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Per cent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691444" y="503004"/>
              <a:ext cx="3317077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Median lag 1 yr, mean 2.09 yr; 81.7% of records lag by at least one year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691444" y="328384"/>
              <a:ext cx="2993928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Records appear in print years after they are made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32181" y="323241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81" name="rc81"/>
            <p:cNvSpPr/>
            <p:nvPr/>
          </p:nvSpPr>
          <p:spPr>
            <a:xfrm>
              <a:off x="5018077" y="656226"/>
              <a:ext cx="3837186" cy="269861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5018077" y="2609122"/>
              <a:ext cx="3837186" cy="0"/>
            </a:xfrm>
            <a:custGeom>
              <a:avLst/>
              <a:pathLst>
                <a:path w="3837186" h="0">
                  <a:moveTo>
                    <a:pt x="0" y="0"/>
                  </a:moveTo>
                  <a:lnTo>
                    <a:pt x="3837186" y="0"/>
                  </a:lnTo>
                  <a:lnTo>
                    <a:pt x="383718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5018077" y="1830300"/>
              <a:ext cx="3837186" cy="0"/>
            </a:xfrm>
            <a:custGeom>
              <a:avLst/>
              <a:pathLst>
                <a:path w="3837186" h="0">
                  <a:moveTo>
                    <a:pt x="0" y="0"/>
                  </a:moveTo>
                  <a:lnTo>
                    <a:pt x="3837186" y="0"/>
                  </a:lnTo>
                  <a:lnTo>
                    <a:pt x="383718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5018077" y="1051479"/>
              <a:ext cx="3837186" cy="0"/>
            </a:xfrm>
            <a:custGeom>
              <a:avLst/>
              <a:pathLst>
                <a:path w="3837186" h="0">
                  <a:moveTo>
                    <a:pt x="0" y="0"/>
                  </a:moveTo>
                  <a:lnTo>
                    <a:pt x="3837186" y="0"/>
                  </a:lnTo>
                  <a:lnTo>
                    <a:pt x="383718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5192495" y="1168302"/>
              <a:ext cx="3410832" cy="2024936"/>
            </a:xfrm>
            <a:custGeom>
              <a:avLst/>
              <a:pathLst>
                <a:path w="3410832" h="2024936">
                  <a:moveTo>
                    <a:pt x="0" y="1869172"/>
                  </a:moveTo>
                  <a:lnTo>
                    <a:pt x="155037" y="2024936"/>
                  </a:lnTo>
                  <a:lnTo>
                    <a:pt x="310075" y="1479761"/>
                  </a:lnTo>
                  <a:lnTo>
                    <a:pt x="465113" y="1713408"/>
                  </a:lnTo>
                  <a:lnTo>
                    <a:pt x="620151" y="1246114"/>
                  </a:lnTo>
                  <a:lnTo>
                    <a:pt x="775189" y="1401879"/>
                  </a:lnTo>
                  <a:lnTo>
                    <a:pt x="930227" y="1908113"/>
                  </a:lnTo>
                  <a:lnTo>
                    <a:pt x="1085264" y="1362938"/>
                  </a:lnTo>
                  <a:lnTo>
                    <a:pt x="1240302" y="1090350"/>
                  </a:lnTo>
                  <a:lnTo>
                    <a:pt x="1395340" y="1051409"/>
                  </a:lnTo>
                  <a:lnTo>
                    <a:pt x="1550378" y="1323997"/>
                  </a:lnTo>
                  <a:lnTo>
                    <a:pt x="1705416" y="856704"/>
                  </a:lnTo>
                  <a:lnTo>
                    <a:pt x="1860454" y="817762"/>
                  </a:lnTo>
                  <a:lnTo>
                    <a:pt x="2015492" y="895645"/>
                  </a:lnTo>
                  <a:lnTo>
                    <a:pt x="2170529" y="467293"/>
                  </a:lnTo>
                  <a:lnTo>
                    <a:pt x="2325567" y="467293"/>
                  </a:lnTo>
                  <a:lnTo>
                    <a:pt x="2480605" y="1090350"/>
                  </a:lnTo>
                  <a:lnTo>
                    <a:pt x="2635643" y="0"/>
                  </a:lnTo>
                  <a:lnTo>
                    <a:pt x="2790681" y="467293"/>
                  </a:lnTo>
                  <a:lnTo>
                    <a:pt x="2945719" y="661998"/>
                  </a:lnTo>
                  <a:lnTo>
                    <a:pt x="3100757" y="895645"/>
                  </a:lnTo>
                  <a:lnTo>
                    <a:pt x="3255794" y="700939"/>
                  </a:lnTo>
                  <a:lnTo>
                    <a:pt x="3410832" y="1674466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5192495" y="778891"/>
              <a:ext cx="3410832" cy="2453288"/>
            </a:xfrm>
            <a:custGeom>
              <a:avLst/>
              <a:pathLst>
                <a:path w="3410832" h="2453288">
                  <a:moveTo>
                    <a:pt x="0" y="2414347"/>
                  </a:moveTo>
                  <a:lnTo>
                    <a:pt x="155037" y="2258583"/>
                  </a:lnTo>
                  <a:lnTo>
                    <a:pt x="310075" y="2453288"/>
                  </a:lnTo>
                  <a:lnTo>
                    <a:pt x="465113" y="2414347"/>
                  </a:lnTo>
                  <a:lnTo>
                    <a:pt x="620151" y="1323997"/>
                  </a:lnTo>
                  <a:lnTo>
                    <a:pt x="775189" y="1947054"/>
                  </a:lnTo>
                  <a:lnTo>
                    <a:pt x="930227" y="2219642"/>
                  </a:lnTo>
                  <a:lnTo>
                    <a:pt x="1085264" y="1985995"/>
                  </a:lnTo>
                  <a:lnTo>
                    <a:pt x="1240302" y="1246114"/>
                  </a:lnTo>
                  <a:lnTo>
                    <a:pt x="1395340" y="1596584"/>
                  </a:lnTo>
                  <a:lnTo>
                    <a:pt x="1550378" y="2024936"/>
                  </a:lnTo>
                  <a:lnTo>
                    <a:pt x="1705416" y="1557643"/>
                  </a:lnTo>
                  <a:lnTo>
                    <a:pt x="1860454" y="1362938"/>
                  </a:lnTo>
                  <a:lnTo>
                    <a:pt x="2015492" y="1674466"/>
                  </a:lnTo>
                  <a:lnTo>
                    <a:pt x="2170529" y="1557643"/>
                  </a:lnTo>
                  <a:lnTo>
                    <a:pt x="2325567" y="856704"/>
                  </a:lnTo>
                  <a:lnTo>
                    <a:pt x="2480605" y="1012468"/>
                  </a:lnTo>
                  <a:lnTo>
                    <a:pt x="2635643" y="817762"/>
                  </a:lnTo>
                  <a:lnTo>
                    <a:pt x="2790681" y="1285056"/>
                  </a:lnTo>
                  <a:lnTo>
                    <a:pt x="2945719" y="1323997"/>
                  </a:lnTo>
                  <a:lnTo>
                    <a:pt x="3100757" y="895645"/>
                  </a:lnTo>
                  <a:lnTo>
                    <a:pt x="3255794" y="272587"/>
                  </a:lnTo>
                  <a:lnTo>
                    <a:pt x="3410832" y="0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8583385" y="2822826"/>
              <a:ext cx="39885" cy="3988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498120" y="1615652"/>
              <a:ext cx="39885" cy="3988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8118271" y="1810358"/>
              <a:ext cx="39885" cy="3988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77968" y="2005063"/>
              <a:ext cx="39885" cy="3988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7343082" y="1615652"/>
              <a:ext cx="39885" cy="3988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6412855" y="2238710"/>
              <a:ext cx="39885" cy="3988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6722931" y="2472356"/>
              <a:ext cx="39885" cy="3988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7653158" y="2238710"/>
              <a:ext cx="39885" cy="3988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7963233" y="1615652"/>
              <a:ext cx="39885" cy="3988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792703" y="2394474"/>
              <a:ext cx="39885" cy="3988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102779" y="3056473"/>
              <a:ext cx="39885" cy="3988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567893" y="2199769"/>
              <a:ext cx="39885" cy="3988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7808196" y="1148359"/>
              <a:ext cx="39885" cy="3988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8273309" y="2044004"/>
              <a:ext cx="39885" cy="3988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7188044" y="2044004"/>
              <a:ext cx="39885" cy="3988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8428347" y="1849299"/>
              <a:ext cx="39885" cy="3988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637666" y="2861767"/>
              <a:ext cx="39885" cy="3988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257817" y="2511297"/>
              <a:ext cx="39885" cy="3988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327590" y="3173296"/>
              <a:ext cx="39885" cy="3988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947741" y="2550239"/>
              <a:ext cx="39885" cy="3988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7033006" y="1966122"/>
              <a:ext cx="39885" cy="3988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482628" y="2628121"/>
              <a:ext cx="39885" cy="3988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172552" y="3017532"/>
              <a:ext cx="39885" cy="3988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8583385" y="758948"/>
              <a:ext cx="39885" cy="3988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7808196" y="1576711"/>
              <a:ext cx="39885" cy="3988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7653158" y="1771417"/>
              <a:ext cx="39885" cy="3988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7498120" y="1615652"/>
              <a:ext cx="39885" cy="3988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6877968" y="2316592"/>
              <a:ext cx="39885" cy="3988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7188044" y="2433415"/>
              <a:ext cx="39885" cy="3988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7963233" y="2044004"/>
              <a:ext cx="39885" cy="3988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8428347" y="1031536"/>
              <a:ext cx="39885" cy="3988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6412855" y="2005063"/>
              <a:ext cx="39885" cy="3988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8273309" y="1654593"/>
              <a:ext cx="39885" cy="3988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6102779" y="2978591"/>
              <a:ext cx="39885" cy="3988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8118271" y="2082945"/>
              <a:ext cx="39885" cy="3988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947741" y="2706003"/>
              <a:ext cx="39885" cy="3988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6722931" y="2783885"/>
              <a:ext cx="39885" cy="3988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792703" y="2082945"/>
              <a:ext cx="39885" cy="3988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7343082" y="2316592"/>
              <a:ext cx="39885" cy="3988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482628" y="3212237"/>
              <a:ext cx="39885" cy="3988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172552" y="3173296"/>
              <a:ext cx="39885" cy="3988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257817" y="2744944"/>
              <a:ext cx="39885" cy="3988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637666" y="3173296"/>
              <a:ext cx="39885" cy="3988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033006" y="2121886"/>
              <a:ext cx="39885" cy="3988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5327590" y="3017532"/>
              <a:ext cx="39885" cy="3988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567893" y="2355533"/>
              <a:ext cx="39885" cy="3988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8215733" y="656226"/>
              <a:ext cx="465113" cy="2698617"/>
            </a:xfrm>
            <a:prstGeom prst="rect">
              <a:avLst/>
            </a:prstGeom>
            <a:solidFill>
              <a:srgbClr val="B3B3B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34" name="tx134"/>
            <p:cNvSpPr/>
            <p:nvPr/>
          </p:nvSpPr>
          <p:spPr>
            <a:xfrm>
              <a:off x="8171272" y="763677"/>
              <a:ext cx="554034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right-censored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8113436" y="888560"/>
              <a:ext cx="669706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by publication lag</a:t>
              </a:r>
            </a:p>
          </p:txBody>
        </p:sp>
        <p:sp>
          <p:nvSpPr>
            <p:cNvPr id="136" name="pl136"/>
            <p:cNvSpPr/>
            <p:nvPr/>
          </p:nvSpPr>
          <p:spPr>
            <a:xfrm>
              <a:off x="5018077" y="656226"/>
              <a:ext cx="0" cy="2698617"/>
            </a:xfrm>
            <a:custGeom>
              <a:avLst/>
              <a:pathLst>
                <a:path w="0" h="2698617">
                  <a:moveTo>
                    <a:pt x="0" y="2698617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tx137"/>
            <p:cNvSpPr/>
            <p:nvPr/>
          </p:nvSpPr>
          <p:spPr>
            <a:xfrm>
              <a:off x="4865336" y="2576432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4865336" y="1797611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4865336" y="1018789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40" name="pl140"/>
            <p:cNvSpPr/>
            <p:nvPr/>
          </p:nvSpPr>
          <p:spPr>
            <a:xfrm>
              <a:off x="4989609" y="26091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4989609" y="183030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4989609" y="105147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5018077" y="3354844"/>
              <a:ext cx="3837186" cy="0"/>
            </a:xfrm>
            <a:custGeom>
              <a:avLst/>
              <a:pathLst>
                <a:path w="3837186" h="0">
                  <a:moveTo>
                    <a:pt x="0" y="0"/>
                  </a:moveTo>
                  <a:lnTo>
                    <a:pt x="3837186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5657608" y="335484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6432797" y="335484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7207987" y="335484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7983176" y="335484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8758365" y="335484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tx149"/>
            <p:cNvSpPr/>
            <p:nvPr/>
          </p:nvSpPr>
          <p:spPr>
            <a:xfrm>
              <a:off x="5556110" y="3406087"/>
              <a:ext cx="20299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2005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6331299" y="3406087"/>
              <a:ext cx="20299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2010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106488" y="3406087"/>
              <a:ext cx="20299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2015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881678" y="3406087"/>
              <a:ext cx="20299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8656867" y="3406087"/>
              <a:ext cx="20299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2025</a:t>
              </a:r>
            </a:p>
          </p:txBody>
        </p:sp>
        <p:sp>
          <p:nvSpPr>
            <p:cNvPr id="154" name="tx154"/>
            <p:cNvSpPr/>
            <p:nvPr/>
          </p:nvSpPr>
          <p:spPr>
            <a:xfrm rot="-5400000">
              <a:off x="4193999" y="1964616"/>
              <a:ext cx="115598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New provincial records</a:t>
              </a:r>
            </a:p>
          </p:txBody>
        </p:sp>
        <p:sp>
          <p:nvSpPr>
            <p:cNvPr id="155" name="rc155"/>
            <p:cNvSpPr/>
            <p:nvPr/>
          </p:nvSpPr>
          <p:spPr>
            <a:xfrm>
              <a:off x="5333471" y="836237"/>
              <a:ext cx="1211061" cy="34161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390408" y="893174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5401795" y="950110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427402" y="930168"/>
              <a:ext cx="39885" cy="3988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5390408" y="1007047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5401795" y="1063983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427402" y="1044041"/>
              <a:ext cx="39885" cy="3988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tx162"/>
            <p:cNvSpPr/>
            <p:nvPr/>
          </p:nvSpPr>
          <p:spPr>
            <a:xfrm>
              <a:off x="5561217" y="913717"/>
              <a:ext cx="875355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Discovery year (v2)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5561217" y="1027590"/>
              <a:ext cx="92637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Publication year (v1)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5018077" y="503004"/>
              <a:ext cx="2525298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The same events, dated two ways; 83.1% change year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5018077" y="328384"/>
              <a:ext cx="3289645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Publication-year dating manufactures a terminal surge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4712140" y="323241"/>
              <a:ext cx="9308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67" name="rc167"/>
            <p:cNvSpPr/>
            <p:nvPr/>
          </p:nvSpPr>
          <p:spPr>
            <a:xfrm>
              <a:off x="691444" y="4104515"/>
              <a:ext cx="8163820" cy="25636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691444" y="6177257"/>
              <a:ext cx="8163820" cy="0"/>
            </a:xfrm>
            <a:custGeom>
              <a:avLst/>
              <a:pathLst>
                <a:path w="8163820" h="0">
                  <a:moveTo>
                    <a:pt x="0" y="0"/>
                  </a:moveTo>
                  <a:lnTo>
                    <a:pt x="8163820" y="0"/>
                  </a:lnTo>
                  <a:lnTo>
                    <a:pt x="816382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691444" y="5680528"/>
              <a:ext cx="8163820" cy="0"/>
            </a:xfrm>
            <a:custGeom>
              <a:avLst/>
              <a:pathLst>
                <a:path w="8163820" h="0">
                  <a:moveTo>
                    <a:pt x="0" y="0"/>
                  </a:moveTo>
                  <a:lnTo>
                    <a:pt x="8163820" y="0"/>
                  </a:lnTo>
                  <a:lnTo>
                    <a:pt x="816382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691444" y="5183800"/>
              <a:ext cx="8163820" cy="0"/>
            </a:xfrm>
            <a:custGeom>
              <a:avLst/>
              <a:pathLst>
                <a:path w="8163820" h="0">
                  <a:moveTo>
                    <a:pt x="0" y="0"/>
                  </a:moveTo>
                  <a:lnTo>
                    <a:pt x="8163820" y="0"/>
                  </a:lnTo>
                  <a:lnTo>
                    <a:pt x="816382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691444" y="4687072"/>
              <a:ext cx="8163820" cy="0"/>
            </a:xfrm>
            <a:custGeom>
              <a:avLst/>
              <a:pathLst>
                <a:path w="8163820" h="0">
                  <a:moveTo>
                    <a:pt x="0" y="0"/>
                  </a:moveTo>
                  <a:lnTo>
                    <a:pt x="8163820" y="0"/>
                  </a:lnTo>
                  <a:lnTo>
                    <a:pt x="816382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691444" y="4190344"/>
              <a:ext cx="8163820" cy="0"/>
            </a:xfrm>
            <a:custGeom>
              <a:avLst/>
              <a:pathLst>
                <a:path w="8163820" h="0">
                  <a:moveTo>
                    <a:pt x="0" y="0"/>
                  </a:moveTo>
                  <a:lnTo>
                    <a:pt x="8163820" y="0"/>
                  </a:lnTo>
                  <a:lnTo>
                    <a:pt x="816382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691444" y="6177257"/>
              <a:ext cx="8163820" cy="0"/>
            </a:xfrm>
            <a:custGeom>
              <a:avLst/>
              <a:pathLst>
                <a:path w="8163820" h="0">
                  <a:moveTo>
                    <a:pt x="0" y="0"/>
                  </a:moveTo>
                  <a:lnTo>
                    <a:pt x="8163820" y="0"/>
                  </a:lnTo>
                  <a:lnTo>
                    <a:pt x="816382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1481491" y="4221046"/>
              <a:ext cx="6583726" cy="1294089"/>
            </a:xfrm>
            <a:custGeom>
              <a:avLst/>
              <a:pathLst>
                <a:path w="6583726" h="1294089">
                  <a:moveTo>
                    <a:pt x="0" y="0"/>
                  </a:moveTo>
                  <a:lnTo>
                    <a:pt x="1316745" y="1198491"/>
                  </a:lnTo>
                  <a:lnTo>
                    <a:pt x="2633490" y="1294089"/>
                  </a:lnTo>
                  <a:lnTo>
                    <a:pt x="3950235" y="1238601"/>
                  </a:lnTo>
                  <a:lnTo>
                    <a:pt x="5266980" y="843627"/>
                  </a:lnTo>
                  <a:lnTo>
                    <a:pt x="6583726" y="953273"/>
                  </a:lnTo>
                </a:path>
              </a:pathLst>
            </a:custGeom>
            <a:ln w="17615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1481491" y="5092204"/>
              <a:ext cx="6583726" cy="186849"/>
            </a:xfrm>
            <a:custGeom>
              <a:avLst/>
              <a:pathLst>
                <a:path w="6583726" h="186849">
                  <a:moveTo>
                    <a:pt x="0" y="106571"/>
                  </a:moveTo>
                  <a:lnTo>
                    <a:pt x="1316745" y="0"/>
                  </a:lnTo>
                  <a:lnTo>
                    <a:pt x="2633490" y="11110"/>
                  </a:lnTo>
                  <a:lnTo>
                    <a:pt x="3950235" y="12854"/>
                  </a:lnTo>
                  <a:lnTo>
                    <a:pt x="5266980" y="21936"/>
                  </a:lnTo>
                  <a:lnTo>
                    <a:pt x="6583726" y="186849"/>
                  </a:lnTo>
                </a:path>
              </a:pathLst>
            </a:custGeom>
            <a:ln w="17615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1481491" y="6189437"/>
              <a:ext cx="6583726" cy="359592"/>
            </a:xfrm>
            <a:custGeom>
              <a:avLst/>
              <a:pathLst>
                <a:path w="6583726" h="359592">
                  <a:moveTo>
                    <a:pt x="0" y="359592"/>
                  </a:moveTo>
                  <a:lnTo>
                    <a:pt x="1316745" y="59554"/>
                  </a:lnTo>
                  <a:lnTo>
                    <a:pt x="2633490" y="90987"/>
                  </a:lnTo>
                  <a:lnTo>
                    <a:pt x="3950235" y="91415"/>
                  </a:lnTo>
                  <a:lnTo>
                    <a:pt x="5266980" y="83307"/>
                  </a:lnTo>
                  <a:lnTo>
                    <a:pt x="6583726" y="0"/>
                  </a:lnTo>
                </a:path>
              </a:pathLst>
            </a:custGeom>
            <a:ln w="17615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1481491" y="6485391"/>
              <a:ext cx="6583726" cy="66279"/>
            </a:xfrm>
            <a:custGeom>
              <a:avLst/>
              <a:pathLst>
                <a:path w="6583726" h="66279">
                  <a:moveTo>
                    <a:pt x="0" y="0"/>
                  </a:moveTo>
                  <a:lnTo>
                    <a:pt x="1316745" y="42397"/>
                  </a:lnTo>
                  <a:lnTo>
                    <a:pt x="2633490" y="30967"/>
                  </a:lnTo>
                  <a:lnTo>
                    <a:pt x="3950235" y="32364"/>
                  </a:lnTo>
                  <a:lnTo>
                    <a:pt x="5266980" y="33546"/>
                  </a:lnTo>
                  <a:lnTo>
                    <a:pt x="6583726" y="66279"/>
                  </a:lnTo>
                </a:path>
              </a:pathLst>
            </a:custGeom>
            <a:ln w="17615" cap="flat">
              <a:solidFill>
                <a:srgbClr val="CC79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1450708" y="4190263"/>
              <a:ext cx="61566" cy="6156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767453" y="5388754"/>
              <a:ext cx="61566" cy="6156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084198" y="5484353"/>
              <a:ext cx="61566" cy="6156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400943" y="5428864"/>
              <a:ext cx="61566" cy="6156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6717689" y="5033890"/>
              <a:ext cx="61566" cy="6156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8034434" y="5143537"/>
              <a:ext cx="61566" cy="6156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1450708" y="5167993"/>
              <a:ext cx="61566" cy="6156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767453" y="5061421"/>
              <a:ext cx="61566" cy="6156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84198" y="5072531"/>
              <a:ext cx="61566" cy="6156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400943" y="5074276"/>
              <a:ext cx="61566" cy="6156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6717689" y="5083358"/>
              <a:ext cx="61566" cy="6156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8034434" y="5248271"/>
              <a:ext cx="61566" cy="6156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1450708" y="6518246"/>
              <a:ext cx="61566" cy="61566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67453" y="6218209"/>
              <a:ext cx="61566" cy="61566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084198" y="6249641"/>
              <a:ext cx="61566" cy="61566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400943" y="6250069"/>
              <a:ext cx="61566" cy="61566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6717689" y="6241961"/>
              <a:ext cx="61566" cy="61566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8034434" y="6158654"/>
              <a:ext cx="61566" cy="61566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1450708" y="6454608"/>
              <a:ext cx="61566" cy="61566"/>
            </a:xfrm>
            <a:prstGeom prst="ellipse">
              <a:avLst/>
            </a:prstGeom>
            <a:solidFill>
              <a:srgbClr val="CC79A7">
                <a:alpha val="100000"/>
              </a:srgbClr>
            </a:solidFill>
            <a:ln w="7363" cap="rnd">
              <a:solidFill>
                <a:srgbClr val="CC79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767453" y="6497005"/>
              <a:ext cx="61566" cy="61566"/>
            </a:xfrm>
            <a:prstGeom prst="ellipse">
              <a:avLst/>
            </a:prstGeom>
            <a:solidFill>
              <a:srgbClr val="CC79A7">
                <a:alpha val="100000"/>
              </a:srgbClr>
            </a:solidFill>
            <a:ln w="7363" cap="rnd">
              <a:solidFill>
                <a:srgbClr val="CC79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084198" y="6485576"/>
              <a:ext cx="61566" cy="61566"/>
            </a:xfrm>
            <a:prstGeom prst="ellipse">
              <a:avLst/>
            </a:prstGeom>
            <a:solidFill>
              <a:srgbClr val="CC79A7">
                <a:alpha val="100000"/>
              </a:srgbClr>
            </a:solidFill>
            <a:ln w="7363" cap="rnd">
              <a:solidFill>
                <a:srgbClr val="CC79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5400943" y="6486972"/>
              <a:ext cx="61566" cy="61566"/>
            </a:xfrm>
            <a:prstGeom prst="ellipse">
              <a:avLst/>
            </a:prstGeom>
            <a:solidFill>
              <a:srgbClr val="CC79A7">
                <a:alpha val="100000"/>
              </a:srgbClr>
            </a:solidFill>
            <a:ln w="7363" cap="rnd">
              <a:solidFill>
                <a:srgbClr val="CC79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717689" y="6488154"/>
              <a:ext cx="61566" cy="61566"/>
            </a:xfrm>
            <a:prstGeom prst="ellipse">
              <a:avLst/>
            </a:prstGeom>
            <a:solidFill>
              <a:srgbClr val="CC79A7">
                <a:alpha val="100000"/>
              </a:srgbClr>
            </a:solidFill>
            <a:ln w="7363" cap="rnd">
              <a:solidFill>
                <a:srgbClr val="CC79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8034434" y="6520887"/>
              <a:ext cx="61566" cy="61566"/>
            </a:xfrm>
            <a:prstGeom prst="ellipse">
              <a:avLst/>
            </a:prstGeom>
            <a:solidFill>
              <a:srgbClr val="CC79A7">
                <a:alpha val="100000"/>
              </a:srgbClr>
            </a:solidFill>
            <a:ln w="7363" cap="rnd">
              <a:solidFill>
                <a:srgbClr val="CC79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2139863" y="4104515"/>
              <a:ext cx="1316745" cy="2563686"/>
            </a:xfrm>
            <a:prstGeom prst="rect">
              <a:avLst/>
            </a:prstGeom>
            <a:solidFill>
              <a:srgbClr val="D55E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3" name="tx203"/>
            <p:cNvSpPr/>
            <p:nvPr/>
          </p:nvSpPr>
          <p:spPr>
            <a:xfrm>
              <a:off x="2620111" y="4356711"/>
              <a:ext cx="356250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D55E00">
                      <a:alpha val="100000"/>
                    </a:srgbClr>
                  </a:solidFill>
                  <a:latin typeface="Arial"/>
                  <a:cs typeface="Arial"/>
                </a:rPr>
                <a:t>re-dating</a:t>
              </a:r>
            </a:p>
          </p:txBody>
        </p:sp>
        <p:sp>
          <p:nvSpPr>
            <p:cNvPr id="204" name="pl204"/>
            <p:cNvSpPr/>
            <p:nvPr/>
          </p:nvSpPr>
          <p:spPr>
            <a:xfrm>
              <a:off x="691444" y="4104515"/>
              <a:ext cx="0" cy="2563686"/>
            </a:xfrm>
            <a:custGeom>
              <a:avLst/>
              <a:pathLst>
                <a:path w="0" h="2563686">
                  <a:moveTo>
                    <a:pt x="0" y="2563686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tx205"/>
            <p:cNvSpPr/>
            <p:nvPr/>
          </p:nvSpPr>
          <p:spPr>
            <a:xfrm>
              <a:off x="513374" y="6144567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513374" y="5647839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1.2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513374" y="515111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1.4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513374" y="4654382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1.6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513374" y="4157654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1.8</a:t>
              </a:r>
            </a:p>
          </p:txBody>
        </p:sp>
        <p:sp>
          <p:nvSpPr>
            <p:cNvPr id="210" name="pl210"/>
            <p:cNvSpPr/>
            <p:nvPr/>
          </p:nvSpPr>
          <p:spPr>
            <a:xfrm>
              <a:off x="662975" y="61772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662975" y="568052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662975" y="518380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662975" y="468707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662975" y="419034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691444" y="6668202"/>
              <a:ext cx="8163820" cy="0"/>
            </a:xfrm>
            <a:custGeom>
              <a:avLst/>
              <a:pathLst>
                <a:path w="8163820" h="0">
                  <a:moveTo>
                    <a:pt x="0" y="0"/>
                  </a:moveTo>
                  <a:lnTo>
                    <a:pt x="816382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1481491" y="666820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2798236" y="666820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4114981" y="666820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5431726" y="666820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6748472" y="666820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8065217" y="666820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tx222"/>
            <p:cNvSpPr/>
            <p:nvPr/>
          </p:nvSpPr>
          <p:spPr>
            <a:xfrm>
              <a:off x="1425667" y="6719445"/>
              <a:ext cx="11164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2742412" y="6719445"/>
              <a:ext cx="11164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S1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4059157" y="6719445"/>
              <a:ext cx="11164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S2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5375902" y="6719445"/>
              <a:ext cx="11164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S3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6692648" y="6719445"/>
              <a:ext cx="11164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S4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8009393" y="6719445"/>
              <a:ext cx="11164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S5</a:t>
              </a:r>
            </a:p>
          </p:txBody>
        </p:sp>
        <p:sp>
          <p:nvSpPr>
            <p:cNvPr id="228" name="tx228"/>
            <p:cNvSpPr/>
            <p:nvPr/>
          </p:nvSpPr>
          <p:spPr>
            <a:xfrm rot="-5400000">
              <a:off x="-157963" y="5345439"/>
              <a:ext cx="110514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Hazard ratio per 1 SD</a:t>
              </a:r>
            </a:p>
          </p:txBody>
        </p:sp>
        <p:sp>
          <p:nvSpPr>
            <p:cNvPr id="229" name="rc229"/>
            <p:cNvSpPr/>
            <p:nvPr/>
          </p:nvSpPr>
          <p:spPr>
            <a:xfrm>
              <a:off x="8969137" y="5101676"/>
              <a:ext cx="1284213" cy="5693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rc230"/>
            <p:cNvSpPr/>
            <p:nvPr/>
          </p:nvSpPr>
          <p:spPr>
            <a:xfrm>
              <a:off x="9026073" y="5158612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9037461" y="5215549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7615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9052227" y="5184766"/>
              <a:ext cx="61566" cy="6156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rc233"/>
            <p:cNvSpPr/>
            <p:nvPr/>
          </p:nvSpPr>
          <p:spPr>
            <a:xfrm>
              <a:off x="9026073" y="5272485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l234"/>
            <p:cNvSpPr/>
            <p:nvPr/>
          </p:nvSpPr>
          <p:spPr>
            <a:xfrm>
              <a:off x="9037461" y="5329422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7615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9052227" y="5298639"/>
              <a:ext cx="61566" cy="6156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rc236"/>
            <p:cNvSpPr/>
            <p:nvPr/>
          </p:nvSpPr>
          <p:spPr>
            <a:xfrm>
              <a:off x="9026073" y="5386358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9037461" y="5443295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7615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9052227" y="5412512"/>
              <a:ext cx="61566" cy="61566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9026073" y="5500231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9037461" y="5557168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7615" cap="flat">
              <a:solidFill>
                <a:srgbClr val="CC79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9052227" y="5526385"/>
              <a:ext cx="61566" cy="61566"/>
            </a:xfrm>
            <a:prstGeom prst="ellipse">
              <a:avLst/>
            </a:prstGeom>
            <a:solidFill>
              <a:srgbClr val="CC79A7">
                <a:alpha val="100000"/>
              </a:srgbClr>
            </a:solidFill>
            <a:ln w="7363" cap="rnd">
              <a:solidFill>
                <a:srgbClr val="CC79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tx242"/>
            <p:cNvSpPr/>
            <p:nvPr/>
          </p:nvSpPr>
          <p:spPr>
            <a:xfrm>
              <a:off x="9196883" y="5179156"/>
              <a:ext cx="57433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Survey effort</a:t>
              </a:r>
            </a:p>
          </p:txBody>
        </p:sp>
        <p:sp>
          <p:nvSpPr>
            <p:cNvPr id="243" name="tx243"/>
            <p:cNvSpPr/>
            <p:nvPr/>
          </p:nvSpPr>
          <p:spPr>
            <a:xfrm>
              <a:off x="9196883" y="5293029"/>
              <a:ext cx="999530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Accumulated warming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9196883" y="5406902"/>
              <a:ext cx="76827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Annual variability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9196883" y="5520775"/>
              <a:ext cx="73984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Warming x effort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691444" y="3951292"/>
              <a:ext cx="4997927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S0 v1 published -&gt; S1 discovery-year -&gt; S2 effort gaps -&gt; S3 area weights -&gt; S4 offset -&gt; S5 province x year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691444" y="3776672"/>
              <a:ext cx="2548524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Re-dating is the single decisive correction</a:t>
              </a:r>
            </a:p>
          </p:txBody>
        </p:sp>
        <p:sp>
          <p:nvSpPr>
            <p:cNvPr id="248" name="tx248"/>
            <p:cNvSpPr/>
            <p:nvPr/>
          </p:nvSpPr>
          <p:spPr>
            <a:xfrm>
              <a:off x="360805" y="3767492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2026-07-26T19:00:57Z</dcterms:modified>
  <cp:category/>
</cp:coreProperties>
</file>