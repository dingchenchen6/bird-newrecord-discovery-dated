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8229600" cy="5852160"/>
            <a:chOff x="182880" y="182880"/>
            <a:chExt cx="8229600" cy="585216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82296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8229600" cy="58521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3299618"/>
              <a:ext cx="8090421" cy="266583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52469" y="252469"/>
              <a:ext cx="3296245" cy="30471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548714" y="252469"/>
              <a:ext cx="4794176" cy="304714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729470" y="806953"/>
              <a:ext cx="2718023" cy="21163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729470" y="2827072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729470" y="2344693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29470" y="1862313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9470" y="1379934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729470" y="897554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853016" y="2491143"/>
              <a:ext cx="79281" cy="335929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958725" y="2078226"/>
              <a:ext cx="79281" cy="748846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1064433" y="2511789"/>
              <a:ext cx="79281" cy="315283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1170141" y="2631805"/>
              <a:ext cx="79281" cy="195267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1275849" y="2710723"/>
              <a:ext cx="79281" cy="116349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1381558" y="2772660"/>
              <a:ext cx="79281" cy="54412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487266" y="2795235"/>
              <a:ext cx="79281" cy="31837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1592974" y="2800831"/>
              <a:ext cx="79281" cy="26241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1698682" y="2804497"/>
              <a:ext cx="79281" cy="22575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1804391" y="2815881"/>
              <a:ext cx="79281" cy="11191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1910099" y="2808356"/>
              <a:ext cx="79281" cy="18716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2015807" y="2813952"/>
              <a:ext cx="79281" cy="13120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2121515" y="2825143"/>
              <a:ext cx="79281" cy="1929"/>
            </a:xfrm>
            <a:prstGeom prst="rect">
              <a:avLst/>
            </a:prstGeom>
            <a:solidFill>
              <a:srgbClr val="0072B2">
                <a:alpha val="85098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998365" y="903150"/>
              <a:ext cx="2325581" cy="829500"/>
            </a:xfrm>
            <a:custGeom>
              <a:avLst/>
              <a:pathLst>
                <a:path w="2325581" h="829500">
                  <a:moveTo>
                    <a:pt x="0" y="829500"/>
                  </a:moveTo>
                  <a:lnTo>
                    <a:pt x="105708" y="511322"/>
                  </a:lnTo>
                  <a:lnTo>
                    <a:pt x="211416" y="314318"/>
                  </a:lnTo>
                  <a:lnTo>
                    <a:pt x="317124" y="197003"/>
                  </a:lnTo>
                  <a:lnTo>
                    <a:pt x="422832" y="142012"/>
                  </a:lnTo>
                  <a:lnTo>
                    <a:pt x="528541" y="109982"/>
                  </a:lnTo>
                  <a:lnTo>
                    <a:pt x="634249" y="83355"/>
                  </a:lnTo>
                  <a:lnTo>
                    <a:pt x="739957" y="60586"/>
                  </a:lnTo>
                  <a:lnTo>
                    <a:pt x="845665" y="49395"/>
                  </a:lnTo>
                  <a:lnTo>
                    <a:pt x="951374" y="30293"/>
                  </a:lnTo>
                  <a:lnTo>
                    <a:pt x="1057082" y="17172"/>
                  </a:lnTo>
                  <a:lnTo>
                    <a:pt x="1162790" y="15243"/>
                  </a:lnTo>
                  <a:lnTo>
                    <a:pt x="1268498" y="9647"/>
                  </a:lnTo>
                  <a:lnTo>
                    <a:pt x="1374207" y="1929"/>
                  </a:lnTo>
                  <a:lnTo>
                    <a:pt x="1479915" y="1929"/>
                  </a:lnTo>
                  <a:lnTo>
                    <a:pt x="1585623" y="1929"/>
                  </a:lnTo>
                  <a:lnTo>
                    <a:pt x="1691331" y="1929"/>
                  </a:lnTo>
                  <a:lnTo>
                    <a:pt x="1797040" y="1929"/>
                  </a:lnTo>
                  <a:lnTo>
                    <a:pt x="1902748" y="1929"/>
                  </a:lnTo>
                  <a:lnTo>
                    <a:pt x="2008456" y="1929"/>
                  </a:lnTo>
                  <a:lnTo>
                    <a:pt x="2114164" y="1929"/>
                  </a:lnTo>
                  <a:lnTo>
                    <a:pt x="2219873" y="0"/>
                  </a:lnTo>
                  <a:lnTo>
                    <a:pt x="2325581" y="0"/>
                  </a:lnTo>
                </a:path>
              </a:pathLst>
            </a:custGeom>
            <a:ln w="18970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304950" y="884153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199242" y="884153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093534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987825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82117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776409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2670701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564992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459284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2353576" y="88608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2247868" y="893801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142159" y="899396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2036451" y="901326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930743" y="914446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1825035" y="933549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1719326" y="944740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613618" y="967508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1507910" y="994135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402202" y="1026166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1296493" y="1081157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1190785" y="1198472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085077" y="1395475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979369" y="1713653"/>
              <a:ext cx="37993" cy="37993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1685469" y="1015111"/>
              <a:ext cx="128500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Reporting completeness c(t)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36632" y="2079378"/>
              <a:ext cx="668517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0072B2">
                      <a:alpha val="100000"/>
                    </a:srgbClr>
                  </a:solidFill>
                  <a:latin typeface="Arial"/>
                  <a:cs typeface="Arial"/>
                </a:rPr>
                <a:t>Publication lag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36632" y="2227676"/>
              <a:ext cx="645109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0072B2">
                      <a:alpha val="100000"/>
                    </a:srgbClr>
                  </a:solidFill>
                  <a:latin typeface="Arial"/>
                  <a:cs typeface="Arial"/>
                </a:rPr>
                <a:t>(% of records)</a:t>
              </a:r>
            </a:p>
          </p:txBody>
        </p:sp>
        <p:sp>
          <p:nvSpPr>
            <p:cNvPr id="54" name="pl54"/>
            <p:cNvSpPr/>
            <p:nvPr/>
          </p:nvSpPr>
          <p:spPr>
            <a:xfrm>
              <a:off x="729470" y="806953"/>
              <a:ext cx="0" cy="2116315"/>
            </a:xfrm>
            <a:custGeom>
              <a:avLst/>
              <a:pathLst>
                <a:path w="0" h="2116315">
                  <a:moveTo>
                    <a:pt x="0" y="2116315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tx55"/>
            <p:cNvSpPr/>
            <p:nvPr/>
          </p:nvSpPr>
          <p:spPr>
            <a:xfrm>
              <a:off x="616023" y="2790679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559514" y="230830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25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559514" y="182592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559514" y="1343540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75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503004" y="861161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697838" y="282707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697838" y="234469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697838" y="186231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697838" y="137993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697838" y="89755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29470" y="2923269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92657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1421198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1949739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478281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06822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tx71"/>
            <p:cNvSpPr/>
            <p:nvPr/>
          </p:nvSpPr>
          <p:spPr>
            <a:xfrm>
              <a:off x="864402" y="298020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1392943" y="298020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1893230" y="298020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421771" y="298020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950312" y="298020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939218" y="3106020"/>
              <a:ext cx="229852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Years between discovery and publication</a:t>
              </a:r>
            </a:p>
          </p:txBody>
        </p:sp>
        <p:sp>
          <p:nvSpPr>
            <p:cNvPr id="77" name="tx77"/>
            <p:cNvSpPr/>
            <p:nvPr/>
          </p:nvSpPr>
          <p:spPr>
            <a:xfrm rot="-5400000">
              <a:off x="162579" y="1819620"/>
              <a:ext cx="47320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Per cent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729470" y="509330"/>
              <a:ext cx="1570299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Median lag 1 yr, mean 2.09 yr;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729470" y="635517"/>
              <a:ext cx="1602943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81.7% lag by at least one year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729470" y="328384"/>
              <a:ext cx="2507010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Records reach print years after discovery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23255" y="312698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82" name="rc82"/>
            <p:cNvSpPr/>
            <p:nvPr/>
          </p:nvSpPr>
          <p:spPr>
            <a:xfrm>
              <a:off x="3969205" y="806953"/>
              <a:ext cx="2718023" cy="211631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969205" y="2338457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969205" y="1727688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969205" y="1116919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  <a:lnTo>
                    <a:pt x="271802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4092752" y="1208534"/>
              <a:ext cx="2416020" cy="1587999"/>
            </a:xfrm>
            <a:custGeom>
              <a:avLst/>
              <a:pathLst>
                <a:path w="2416020" h="1587999">
                  <a:moveTo>
                    <a:pt x="0" y="1465846"/>
                  </a:moveTo>
                  <a:lnTo>
                    <a:pt x="109819" y="1587999"/>
                  </a:lnTo>
                  <a:lnTo>
                    <a:pt x="219638" y="1160461"/>
                  </a:lnTo>
                  <a:lnTo>
                    <a:pt x="329457" y="1343692"/>
                  </a:lnTo>
                  <a:lnTo>
                    <a:pt x="439276" y="977230"/>
                  </a:lnTo>
                  <a:lnTo>
                    <a:pt x="549095" y="1099384"/>
                  </a:lnTo>
                  <a:lnTo>
                    <a:pt x="658914" y="1496384"/>
                  </a:lnTo>
                  <a:lnTo>
                    <a:pt x="768733" y="1068846"/>
                  </a:lnTo>
                  <a:lnTo>
                    <a:pt x="878553" y="855076"/>
                  </a:lnTo>
                  <a:lnTo>
                    <a:pt x="988372" y="824538"/>
                  </a:lnTo>
                  <a:lnTo>
                    <a:pt x="1098191" y="1038307"/>
                  </a:lnTo>
                  <a:lnTo>
                    <a:pt x="1208010" y="671846"/>
                  </a:lnTo>
                  <a:lnTo>
                    <a:pt x="1317829" y="641307"/>
                  </a:lnTo>
                  <a:lnTo>
                    <a:pt x="1427648" y="702384"/>
                  </a:lnTo>
                  <a:lnTo>
                    <a:pt x="1537467" y="366461"/>
                  </a:lnTo>
                  <a:lnTo>
                    <a:pt x="1647286" y="366461"/>
                  </a:lnTo>
                  <a:lnTo>
                    <a:pt x="1757106" y="855076"/>
                  </a:lnTo>
                  <a:lnTo>
                    <a:pt x="1866925" y="0"/>
                  </a:lnTo>
                  <a:lnTo>
                    <a:pt x="1976744" y="366461"/>
                  </a:lnTo>
                  <a:lnTo>
                    <a:pt x="2086563" y="519153"/>
                  </a:lnTo>
                  <a:lnTo>
                    <a:pt x="2196382" y="702384"/>
                  </a:lnTo>
                  <a:lnTo>
                    <a:pt x="2306201" y="549692"/>
                  </a:lnTo>
                  <a:lnTo>
                    <a:pt x="2416020" y="1313153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4092752" y="903150"/>
              <a:ext cx="2416020" cy="1923922"/>
            </a:xfrm>
            <a:custGeom>
              <a:avLst/>
              <a:pathLst>
                <a:path w="2416020" h="1923922">
                  <a:moveTo>
                    <a:pt x="0" y="1893384"/>
                  </a:moveTo>
                  <a:lnTo>
                    <a:pt x="109819" y="1771230"/>
                  </a:lnTo>
                  <a:lnTo>
                    <a:pt x="219638" y="1923922"/>
                  </a:lnTo>
                  <a:lnTo>
                    <a:pt x="329457" y="1893384"/>
                  </a:lnTo>
                  <a:lnTo>
                    <a:pt x="439276" y="1038307"/>
                  </a:lnTo>
                  <a:lnTo>
                    <a:pt x="549095" y="1526922"/>
                  </a:lnTo>
                  <a:lnTo>
                    <a:pt x="658914" y="1740692"/>
                  </a:lnTo>
                  <a:lnTo>
                    <a:pt x="768733" y="1557461"/>
                  </a:lnTo>
                  <a:lnTo>
                    <a:pt x="878553" y="977230"/>
                  </a:lnTo>
                  <a:lnTo>
                    <a:pt x="988372" y="1252076"/>
                  </a:lnTo>
                  <a:lnTo>
                    <a:pt x="1098191" y="1587999"/>
                  </a:lnTo>
                  <a:lnTo>
                    <a:pt x="1208010" y="1221538"/>
                  </a:lnTo>
                  <a:lnTo>
                    <a:pt x="1317829" y="1068846"/>
                  </a:lnTo>
                  <a:lnTo>
                    <a:pt x="1427648" y="1313153"/>
                  </a:lnTo>
                  <a:lnTo>
                    <a:pt x="1537467" y="1221538"/>
                  </a:lnTo>
                  <a:lnTo>
                    <a:pt x="1647286" y="671846"/>
                  </a:lnTo>
                  <a:lnTo>
                    <a:pt x="1757106" y="793999"/>
                  </a:lnTo>
                  <a:lnTo>
                    <a:pt x="1866925" y="641307"/>
                  </a:lnTo>
                  <a:lnTo>
                    <a:pt x="1976744" y="1007769"/>
                  </a:lnTo>
                  <a:lnTo>
                    <a:pt x="2086563" y="1038307"/>
                  </a:lnTo>
                  <a:lnTo>
                    <a:pt x="2196382" y="702384"/>
                  </a:lnTo>
                  <a:lnTo>
                    <a:pt x="2306201" y="213769"/>
                  </a:lnTo>
                  <a:lnTo>
                    <a:pt x="2416020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6488421" y="2501336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5719687" y="1554644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158963" y="1707336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5280410" y="1860029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5609868" y="1554644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4950953" y="2043259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5170591" y="2226490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5829506" y="2043259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6049144" y="1554644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4511676" y="2165413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731315" y="2684567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060772" y="2012721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5939325" y="1188182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6268782" y="1890567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5500049" y="1890567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6378602" y="1737875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4401857" y="2531875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4841134" y="2257029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4182219" y="2776182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621496" y="2287567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390229" y="1829490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292038" y="2348644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072400" y="2654029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6488421" y="882798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5939325" y="1524106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5829506" y="1676798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5719687" y="1554644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5280410" y="2104336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500049" y="2195952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6049144" y="1890567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6378602" y="1096567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950953" y="1860029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6268782" y="1585182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731315" y="2623490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6158963" y="1921106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621496" y="2409721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170591" y="2470798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511676" y="1921106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609868" y="2104336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4292038" y="2806721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4072400" y="2776182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841134" y="2440259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401857" y="2776182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5390229" y="1951644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4182219" y="2654029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5060772" y="2134875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rc134"/>
            <p:cNvSpPr/>
            <p:nvPr/>
          </p:nvSpPr>
          <p:spPr>
            <a:xfrm>
              <a:off x="6234225" y="806953"/>
              <a:ext cx="329457" cy="2116315"/>
            </a:xfrm>
            <a:prstGeom prst="rect">
              <a:avLst/>
            </a:prstGeom>
            <a:solidFill>
              <a:srgbClr val="B3B3B3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35" name="tx135"/>
            <p:cNvSpPr/>
            <p:nvPr/>
          </p:nvSpPr>
          <p:spPr>
            <a:xfrm>
              <a:off x="5544465" y="853578"/>
              <a:ext cx="656813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right-censored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5407122" y="1001876"/>
              <a:ext cx="79415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by publication lag</a:t>
              </a:r>
            </a:p>
          </p:txBody>
        </p:sp>
        <p:sp>
          <p:nvSpPr>
            <p:cNvPr id="137" name="pl137"/>
            <p:cNvSpPr/>
            <p:nvPr/>
          </p:nvSpPr>
          <p:spPr>
            <a:xfrm>
              <a:off x="3969205" y="806953"/>
              <a:ext cx="0" cy="2116315"/>
            </a:xfrm>
            <a:custGeom>
              <a:avLst/>
              <a:pathLst>
                <a:path w="0" h="2116315">
                  <a:moveTo>
                    <a:pt x="0" y="2116315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3799249" y="2302064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799249" y="1691295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3799249" y="1080526"/>
              <a:ext cx="11301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60</a:t>
              </a:r>
            </a:p>
          </p:txBody>
        </p:sp>
        <p:sp>
          <p:nvSpPr>
            <p:cNvPr id="141" name="pl141"/>
            <p:cNvSpPr/>
            <p:nvPr/>
          </p:nvSpPr>
          <p:spPr>
            <a:xfrm>
              <a:off x="3937574" y="233845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3937574" y="172768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3937574" y="1116919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969205" y="2923269"/>
              <a:ext cx="2718023" cy="0"/>
            </a:xfrm>
            <a:custGeom>
              <a:avLst/>
              <a:pathLst>
                <a:path w="2718023" h="0">
                  <a:moveTo>
                    <a:pt x="0" y="0"/>
                  </a:moveTo>
                  <a:lnTo>
                    <a:pt x="2718023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4422209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4971305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520400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6069496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6618591" y="2923269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tx150"/>
            <p:cNvSpPr/>
            <p:nvPr/>
          </p:nvSpPr>
          <p:spPr>
            <a:xfrm>
              <a:off x="4309189" y="2980205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2005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4858285" y="2980205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2010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5407380" y="2980205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2015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5956476" y="2980205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2020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6505572" y="2980205"/>
              <a:ext cx="22603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155" name="tx155"/>
            <p:cNvSpPr/>
            <p:nvPr/>
          </p:nvSpPr>
          <p:spPr>
            <a:xfrm rot="-5400000">
              <a:off x="3052694" y="1819620"/>
              <a:ext cx="128546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New provincial records</a:t>
              </a:r>
            </a:p>
          </p:txBody>
        </p:sp>
        <p:sp>
          <p:nvSpPr>
            <p:cNvPr id="156" name="rc156"/>
            <p:cNvSpPr/>
            <p:nvPr/>
          </p:nvSpPr>
          <p:spPr>
            <a:xfrm>
              <a:off x="3948858" y="904939"/>
              <a:ext cx="1345345" cy="35427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4012121" y="96820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4023508" y="1025138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048705" y="1004786"/>
              <a:ext cx="40703" cy="40703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4012121" y="1082074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4023508" y="1139011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8970" cap="flat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4048705" y="1118659"/>
              <a:ext cx="40703" cy="40703"/>
            </a:xfrm>
            <a:prstGeom prst="ellipse">
              <a:avLst/>
            </a:prstGeom>
            <a:solidFill>
              <a:srgbClr val="E69F00">
                <a:alpha val="100000"/>
              </a:srgbClr>
            </a:solidFill>
            <a:ln w="8181" cap="rnd">
              <a:solidFill>
                <a:srgbClr val="E69F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tx163"/>
            <p:cNvSpPr/>
            <p:nvPr/>
          </p:nvSpPr>
          <p:spPr>
            <a:xfrm>
              <a:off x="4189256" y="984218"/>
              <a:ext cx="98426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Discovery year (v2)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4189256" y="1098091"/>
              <a:ext cx="104168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Publication year (v1)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3969205" y="509330"/>
              <a:ext cx="179716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The same events, dated two ways;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3969205" y="635517"/>
              <a:ext cx="103839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83.1% change year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3969205" y="328384"/>
              <a:ext cx="278160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Publication-year dating fakes a terminal surge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3622464" y="312698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69" name="rc169"/>
            <p:cNvSpPr/>
            <p:nvPr/>
          </p:nvSpPr>
          <p:spPr>
            <a:xfrm>
              <a:off x="729470" y="3727916"/>
              <a:ext cx="5957758" cy="20104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729470" y="5353405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  <a:lnTo>
                    <a:pt x="595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729470" y="4963860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  <a:lnTo>
                    <a:pt x="595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729470" y="4574315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  <a:lnTo>
                    <a:pt x="595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729470" y="4184770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  <a:lnTo>
                    <a:pt x="595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729470" y="3795225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  <a:lnTo>
                    <a:pt x="595775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729470" y="5353405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  <a:lnTo>
                    <a:pt x="5957758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1306027" y="3819302"/>
              <a:ext cx="4804644" cy="1014853"/>
            </a:xfrm>
            <a:custGeom>
              <a:avLst/>
              <a:pathLst>
                <a:path w="4804644" h="1014853">
                  <a:moveTo>
                    <a:pt x="0" y="0"/>
                  </a:moveTo>
                  <a:lnTo>
                    <a:pt x="960928" y="939883"/>
                  </a:lnTo>
                  <a:lnTo>
                    <a:pt x="1921857" y="1014853"/>
                  </a:lnTo>
                  <a:lnTo>
                    <a:pt x="2882786" y="971338"/>
                  </a:lnTo>
                  <a:lnTo>
                    <a:pt x="3843715" y="661591"/>
                  </a:lnTo>
                  <a:lnTo>
                    <a:pt x="4804644" y="747578"/>
                  </a:lnTo>
                </a:path>
              </a:pathLst>
            </a:custGeom>
            <a:ln w="1761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306027" y="4502484"/>
              <a:ext cx="4804644" cy="146531"/>
            </a:xfrm>
            <a:custGeom>
              <a:avLst/>
              <a:pathLst>
                <a:path w="4804644" h="146531">
                  <a:moveTo>
                    <a:pt x="0" y="83575"/>
                  </a:moveTo>
                  <a:lnTo>
                    <a:pt x="960928" y="0"/>
                  </a:lnTo>
                  <a:lnTo>
                    <a:pt x="1921857" y="8712"/>
                  </a:lnTo>
                  <a:lnTo>
                    <a:pt x="2882786" y="10081"/>
                  </a:lnTo>
                  <a:lnTo>
                    <a:pt x="3843715" y="17203"/>
                  </a:lnTo>
                  <a:lnTo>
                    <a:pt x="4804644" y="146531"/>
                  </a:lnTo>
                </a:path>
              </a:pathLst>
            </a:custGeom>
            <a:ln w="1761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306027" y="5362958"/>
              <a:ext cx="4804644" cy="282000"/>
            </a:xfrm>
            <a:custGeom>
              <a:avLst/>
              <a:pathLst>
                <a:path w="4804644" h="282000">
                  <a:moveTo>
                    <a:pt x="0" y="282000"/>
                  </a:moveTo>
                  <a:lnTo>
                    <a:pt x="960928" y="46704"/>
                  </a:lnTo>
                  <a:lnTo>
                    <a:pt x="1921857" y="71354"/>
                  </a:lnTo>
                  <a:lnTo>
                    <a:pt x="2882786" y="71690"/>
                  </a:lnTo>
                  <a:lnTo>
                    <a:pt x="3843715" y="65331"/>
                  </a:lnTo>
                  <a:lnTo>
                    <a:pt x="4804644" y="0"/>
                  </a:lnTo>
                </a:path>
              </a:pathLst>
            </a:custGeom>
            <a:ln w="1761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306027" y="5595051"/>
              <a:ext cx="4804644" cy="51977"/>
            </a:xfrm>
            <a:custGeom>
              <a:avLst/>
              <a:pathLst>
                <a:path w="4804644" h="51977">
                  <a:moveTo>
                    <a:pt x="0" y="0"/>
                  </a:moveTo>
                  <a:lnTo>
                    <a:pt x="960928" y="33248"/>
                  </a:lnTo>
                  <a:lnTo>
                    <a:pt x="1921857" y="24285"/>
                  </a:lnTo>
                  <a:lnTo>
                    <a:pt x="2882786" y="25380"/>
                  </a:lnTo>
                  <a:lnTo>
                    <a:pt x="3843715" y="26307"/>
                  </a:lnTo>
                  <a:lnTo>
                    <a:pt x="4804644" y="51977"/>
                  </a:lnTo>
                </a:path>
              </a:pathLst>
            </a:custGeom>
            <a:ln w="1761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1274835" y="3788110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2235764" y="4727993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196693" y="4802964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157621" y="4759448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5118550" y="4449701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6079479" y="4535688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1274835" y="4554867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235764" y="4471292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3196693" y="4480004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4157621" y="4481373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5118550" y="4488495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6079479" y="4617823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1274835" y="5613766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235764" y="5378470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196693" y="5403119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4157621" y="5403455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5118550" y="5397097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6079479" y="5331765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1274835" y="5563859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235764" y="5597108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196693" y="5588145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621" y="5589240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118550" y="5590167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6079479" y="5615837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1786492" y="3727916"/>
              <a:ext cx="960928" cy="2010499"/>
            </a:xfrm>
            <a:prstGeom prst="rect">
              <a:avLst/>
            </a:prstGeom>
            <a:solidFill>
              <a:srgbClr val="D55E00">
                <a:alpha val="10196"/>
              </a:srgbClr>
            </a:solidFill>
          </p:spPr>
          <p:txBody>
            <a:bodyPr/>
            <a:lstStyle/>
            <a:p/>
          </p:txBody>
        </p:sp>
        <p:sp>
          <p:nvSpPr>
            <p:cNvPr id="205" name="tx205"/>
            <p:cNvSpPr/>
            <p:nvPr/>
          </p:nvSpPr>
          <p:spPr>
            <a:xfrm>
              <a:off x="2064188" y="3914238"/>
              <a:ext cx="405536" cy="736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10" i="0" b="0">
                  <a:solidFill>
                    <a:srgbClr val="D55E00">
                      <a:alpha val="100000"/>
                    </a:srgbClr>
                  </a:solidFill>
                  <a:latin typeface="Arial"/>
                  <a:cs typeface="Arial"/>
                </a:rPr>
                <a:t>re-dating</a:t>
              </a:r>
            </a:p>
          </p:txBody>
        </p:sp>
        <p:sp>
          <p:nvSpPr>
            <p:cNvPr id="206" name="pl206"/>
            <p:cNvSpPr/>
            <p:nvPr/>
          </p:nvSpPr>
          <p:spPr>
            <a:xfrm>
              <a:off x="729470" y="3727916"/>
              <a:ext cx="0" cy="2010499"/>
            </a:xfrm>
            <a:custGeom>
              <a:avLst/>
              <a:pathLst>
                <a:path w="0" h="2010499">
                  <a:moveTo>
                    <a:pt x="0" y="2010499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tx207"/>
            <p:cNvSpPr/>
            <p:nvPr/>
          </p:nvSpPr>
          <p:spPr>
            <a:xfrm>
              <a:off x="531259" y="531701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531259" y="492746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1.2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531259" y="453792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1.4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531259" y="4148377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1.6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531259" y="3758832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1.8</a:t>
              </a:r>
            </a:p>
          </p:txBody>
        </p:sp>
        <p:sp>
          <p:nvSpPr>
            <p:cNvPr id="212" name="pl212"/>
            <p:cNvSpPr/>
            <p:nvPr/>
          </p:nvSpPr>
          <p:spPr>
            <a:xfrm>
              <a:off x="697838" y="535340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l213"/>
            <p:cNvSpPr/>
            <p:nvPr/>
          </p:nvSpPr>
          <p:spPr>
            <a:xfrm>
              <a:off x="697838" y="496386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l214"/>
            <p:cNvSpPr/>
            <p:nvPr/>
          </p:nvSpPr>
          <p:spPr>
            <a:xfrm>
              <a:off x="697838" y="457431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l215"/>
            <p:cNvSpPr/>
            <p:nvPr/>
          </p:nvSpPr>
          <p:spPr>
            <a:xfrm>
              <a:off x="697838" y="418477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l216"/>
            <p:cNvSpPr/>
            <p:nvPr/>
          </p:nvSpPr>
          <p:spPr>
            <a:xfrm>
              <a:off x="697838" y="379522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l217"/>
            <p:cNvSpPr/>
            <p:nvPr/>
          </p:nvSpPr>
          <p:spPr>
            <a:xfrm>
              <a:off x="729470" y="5738415"/>
              <a:ext cx="5957758" cy="0"/>
            </a:xfrm>
            <a:custGeom>
              <a:avLst/>
              <a:pathLst>
                <a:path w="5957758" h="0">
                  <a:moveTo>
                    <a:pt x="0" y="0"/>
                  </a:moveTo>
                  <a:lnTo>
                    <a:pt x="5957758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l218"/>
            <p:cNvSpPr/>
            <p:nvPr/>
          </p:nvSpPr>
          <p:spPr>
            <a:xfrm>
              <a:off x="1306027" y="573841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l219"/>
            <p:cNvSpPr/>
            <p:nvPr/>
          </p:nvSpPr>
          <p:spPr>
            <a:xfrm>
              <a:off x="2266956" y="573841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l220"/>
            <p:cNvSpPr/>
            <p:nvPr/>
          </p:nvSpPr>
          <p:spPr>
            <a:xfrm>
              <a:off x="3227885" y="573841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l221"/>
            <p:cNvSpPr/>
            <p:nvPr/>
          </p:nvSpPr>
          <p:spPr>
            <a:xfrm>
              <a:off x="4188814" y="573841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l222"/>
            <p:cNvSpPr/>
            <p:nvPr/>
          </p:nvSpPr>
          <p:spPr>
            <a:xfrm>
              <a:off x="5149742" y="573841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l223"/>
            <p:cNvSpPr/>
            <p:nvPr/>
          </p:nvSpPr>
          <p:spPr>
            <a:xfrm>
              <a:off x="6110671" y="5738415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tx224"/>
            <p:cNvSpPr/>
            <p:nvPr/>
          </p:nvSpPr>
          <p:spPr>
            <a:xfrm>
              <a:off x="1243894" y="5795352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S0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2204822" y="5795352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S1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3165751" y="5795352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S2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4126680" y="5795352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S3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5087609" y="5795352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S4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6048538" y="5795352"/>
              <a:ext cx="1242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S5</a:t>
              </a:r>
            </a:p>
          </p:txBody>
        </p:sp>
        <p:sp>
          <p:nvSpPr>
            <p:cNvPr id="230" name="tx230"/>
            <p:cNvSpPr/>
            <p:nvPr/>
          </p:nvSpPr>
          <p:spPr>
            <a:xfrm rot="-5400000">
              <a:off x="-215250" y="4687674"/>
              <a:ext cx="122886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Hazard ratio per 1 SD</a:t>
              </a:r>
            </a:p>
          </p:txBody>
        </p:sp>
        <p:sp>
          <p:nvSpPr>
            <p:cNvPr id="231" name="rc231"/>
            <p:cNvSpPr/>
            <p:nvPr/>
          </p:nvSpPr>
          <p:spPr>
            <a:xfrm>
              <a:off x="6813754" y="4442157"/>
              <a:ext cx="1427916" cy="58201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2" name="rc232"/>
            <p:cNvSpPr/>
            <p:nvPr/>
          </p:nvSpPr>
          <p:spPr>
            <a:xfrm>
              <a:off x="6877017" y="4505420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6888404" y="4562356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7615" cap="flat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6902761" y="4531164"/>
              <a:ext cx="62384" cy="62384"/>
            </a:xfrm>
            <a:prstGeom prst="ellipse">
              <a:avLst/>
            </a:prstGeom>
            <a:solidFill>
              <a:srgbClr val="0072B2">
                <a:alpha val="100000"/>
              </a:srgbClr>
            </a:solidFill>
            <a:ln w="8181" cap="rnd">
              <a:solidFill>
                <a:srgbClr val="0072B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rc235"/>
            <p:cNvSpPr/>
            <p:nvPr/>
          </p:nvSpPr>
          <p:spPr>
            <a:xfrm>
              <a:off x="6877017" y="4619293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6" name="pl236"/>
            <p:cNvSpPr/>
            <p:nvPr/>
          </p:nvSpPr>
          <p:spPr>
            <a:xfrm>
              <a:off x="6888404" y="4676229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7615" cap="flat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6902761" y="4645037"/>
              <a:ext cx="62384" cy="62384"/>
            </a:xfrm>
            <a:prstGeom prst="ellipse">
              <a:avLst/>
            </a:prstGeom>
            <a:solidFill>
              <a:srgbClr val="009E73">
                <a:alpha val="100000"/>
              </a:srgbClr>
            </a:solidFill>
            <a:ln w="8181" cap="rnd">
              <a:solidFill>
                <a:srgbClr val="009E7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rc238"/>
            <p:cNvSpPr/>
            <p:nvPr/>
          </p:nvSpPr>
          <p:spPr>
            <a:xfrm>
              <a:off x="6877017" y="4733166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9" name="pl239"/>
            <p:cNvSpPr/>
            <p:nvPr/>
          </p:nvSpPr>
          <p:spPr>
            <a:xfrm>
              <a:off x="6888404" y="4790102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761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6902761" y="4758910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rc241"/>
            <p:cNvSpPr/>
            <p:nvPr/>
          </p:nvSpPr>
          <p:spPr>
            <a:xfrm>
              <a:off x="6877017" y="484703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2" name="pl242"/>
            <p:cNvSpPr/>
            <p:nvPr/>
          </p:nvSpPr>
          <p:spPr>
            <a:xfrm>
              <a:off x="6888404" y="4903975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7615" cap="flat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6902761" y="4872783"/>
              <a:ext cx="62384" cy="62384"/>
            </a:xfrm>
            <a:prstGeom prst="ellipse">
              <a:avLst/>
            </a:prstGeom>
            <a:solidFill>
              <a:srgbClr val="CC79A7">
                <a:alpha val="100000"/>
              </a:srgbClr>
            </a:solidFill>
            <a:ln w="8181" cap="rnd">
              <a:solidFill>
                <a:srgbClr val="CC79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tx244"/>
            <p:cNvSpPr/>
            <p:nvPr/>
          </p:nvSpPr>
          <p:spPr>
            <a:xfrm>
              <a:off x="7054152" y="4521437"/>
              <a:ext cx="645657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Survey effort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7054152" y="4635310"/>
              <a:ext cx="1124254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Accumulated warming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7054152" y="4749183"/>
              <a:ext cx="86401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Annual variability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7054152" y="4863056"/>
              <a:ext cx="831829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Warming x effort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729470" y="3556480"/>
              <a:ext cx="5611032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S0 v1 published -&gt; S1 discovery-year -&gt; S2 effort gaps -&gt; S3 area weights -&gt; S4 offset -&gt; S5 province x year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729470" y="3375534"/>
              <a:ext cx="2548524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Re-dating is the single decisive correction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347226" y="3354128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2026-09-22T12:32:26Z</dcterms:modified>
  <cp:category/>
</cp:coreProperties>
</file>