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10241280" cy="7040880"/>
            <a:chOff x="182880" y="182880"/>
            <a:chExt cx="10241280" cy="704088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10241280" cy="70408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10241279" cy="70408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252469"/>
              <a:ext cx="5051050" cy="32382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5303520" y="252469"/>
              <a:ext cx="5051050" cy="32382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66023" y="881169"/>
              <a:ext cx="4536275" cy="22636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66023" y="2862521"/>
              <a:ext cx="4536275" cy="0"/>
            </a:xfrm>
            <a:custGeom>
              <a:avLst/>
              <a:pathLst>
                <a:path w="4536275" h="0">
                  <a:moveTo>
                    <a:pt x="0" y="0"/>
                  </a:moveTo>
                  <a:lnTo>
                    <a:pt x="4536275" y="0"/>
                  </a:lnTo>
                  <a:lnTo>
                    <a:pt x="45362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66023" y="2373033"/>
              <a:ext cx="4536275" cy="0"/>
            </a:xfrm>
            <a:custGeom>
              <a:avLst/>
              <a:pathLst>
                <a:path w="4536275" h="0">
                  <a:moveTo>
                    <a:pt x="0" y="0"/>
                  </a:moveTo>
                  <a:lnTo>
                    <a:pt x="4536275" y="0"/>
                  </a:lnTo>
                  <a:lnTo>
                    <a:pt x="45362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66023" y="1883545"/>
              <a:ext cx="4536275" cy="0"/>
            </a:xfrm>
            <a:custGeom>
              <a:avLst/>
              <a:pathLst>
                <a:path w="4536275" h="0">
                  <a:moveTo>
                    <a:pt x="0" y="0"/>
                  </a:moveTo>
                  <a:lnTo>
                    <a:pt x="4536275" y="0"/>
                  </a:lnTo>
                  <a:lnTo>
                    <a:pt x="45362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66023" y="1394058"/>
              <a:ext cx="4536275" cy="0"/>
            </a:xfrm>
            <a:custGeom>
              <a:avLst/>
              <a:pathLst>
                <a:path w="4536275" h="0">
                  <a:moveTo>
                    <a:pt x="0" y="0"/>
                  </a:moveTo>
                  <a:lnTo>
                    <a:pt x="4536275" y="0"/>
                  </a:lnTo>
                  <a:lnTo>
                    <a:pt x="45362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66023" y="904570"/>
              <a:ext cx="4536275" cy="0"/>
            </a:xfrm>
            <a:custGeom>
              <a:avLst/>
              <a:pathLst>
                <a:path w="4536275" h="0">
                  <a:moveTo>
                    <a:pt x="0" y="0"/>
                  </a:moveTo>
                  <a:lnTo>
                    <a:pt x="4536275" y="0"/>
                  </a:lnTo>
                  <a:lnTo>
                    <a:pt x="45362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66023" y="2373033"/>
              <a:ext cx="4536275" cy="0"/>
            </a:xfrm>
            <a:custGeom>
              <a:avLst/>
              <a:pathLst>
                <a:path w="4536275" h="0">
                  <a:moveTo>
                    <a:pt x="0" y="0"/>
                  </a:moveTo>
                  <a:lnTo>
                    <a:pt x="4536275" y="0"/>
                  </a:lnTo>
                  <a:lnTo>
                    <a:pt x="4536275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872218" y="984060"/>
              <a:ext cx="4123886" cy="1258028"/>
            </a:xfrm>
            <a:custGeom>
              <a:avLst/>
              <a:pathLst>
                <a:path w="4123886" h="1258028">
                  <a:moveTo>
                    <a:pt x="0" y="673229"/>
                  </a:moveTo>
                  <a:lnTo>
                    <a:pt x="1374628" y="521838"/>
                  </a:lnTo>
                  <a:lnTo>
                    <a:pt x="2749257" y="105598"/>
                  </a:lnTo>
                  <a:lnTo>
                    <a:pt x="4123886" y="0"/>
                  </a:lnTo>
                  <a:lnTo>
                    <a:pt x="4123886" y="791752"/>
                  </a:lnTo>
                  <a:lnTo>
                    <a:pt x="2749257" y="859612"/>
                  </a:lnTo>
                  <a:lnTo>
                    <a:pt x="1374628" y="1178402"/>
                  </a:lnTo>
                  <a:lnTo>
                    <a:pt x="0" y="1258028"/>
                  </a:lnTo>
                  <a:close/>
                </a:path>
              </a:pathLst>
            </a:custGeom>
            <a:solidFill>
              <a:srgbClr val="0072B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2218" y="984060"/>
              <a:ext cx="4123886" cy="673229"/>
            </a:xfrm>
            <a:custGeom>
              <a:avLst/>
              <a:pathLst>
                <a:path w="4123886" h="673229">
                  <a:moveTo>
                    <a:pt x="0" y="673229"/>
                  </a:moveTo>
                  <a:lnTo>
                    <a:pt x="1374628" y="521838"/>
                  </a:lnTo>
                  <a:lnTo>
                    <a:pt x="2749257" y="105598"/>
                  </a:lnTo>
                  <a:lnTo>
                    <a:pt x="412388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2218" y="1775813"/>
              <a:ext cx="4123886" cy="466275"/>
            </a:xfrm>
            <a:custGeom>
              <a:avLst/>
              <a:pathLst>
                <a:path w="4123886" h="466275">
                  <a:moveTo>
                    <a:pt x="4123886" y="0"/>
                  </a:moveTo>
                  <a:lnTo>
                    <a:pt x="2749257" y="67859"/>
                  </a:lnTo>
                  <a:lnTo>
                    <a:pt x="1374628" y="386649"/>
                  </a:lnTo>
                  <a:lnTo>
                    <a:pt x="0" y="4662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872218" y="1272117"/>
              <a:ext cx="4123886" cy="998544"/>
            </a:xfrm>
            <a:custGeom>
              <a:avLst/>
              <a:pathLst>
                <a:path w="4123886" h="998544">
                  <a:moveTo>
                    <a:pt x="0" y="411528"/>
                  </a:moveTo>
                  <a:lnTo>
                    <a:pt x="1374628" y="143842"/>
                  </a:lnTo>
                  <a:lnTo>
                    <a:pt x="2749257" y="2355"/>
                  </a:lnTo>
                  <a:lnTo>
                    <a:pt x="4123886" y="0"/>
                  </a:lnTo>
                  <a:lnTo>
                    <a:pt x="4123886" y="717240"/>
                  </a:lnTo>
                  <a:lnTo>
                    <a:pt x="2749257" y="699217"/>
                  </a:lnTo>
                  <a:lnTo>
                    <a:pt x="1374628" y="816415"/>
                  </a:lnTo>
                  <a:lnTo>
                    <a:pt x="0" y="998544"/>
                  </a:lnTo>
                  <a:close/>
                </a:path>
              </a:pathLst>
            </a:custGeom>
            <a:solidFill>
              <a:srgbClr val="D55E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2218" y="1272117"/>
              <a:ext cx="4123886" cy="411528"/>
            </a:xfrm>
            <a:custGeom>
              <a:avLst/>
              <a:pathLst>
                <a:path w="4123886" h="411528">
                  <a:moveTo>
                    <a:pt x="0" y="411528"/>
                  </a:moveTo>
                  <a:lnTo>
                    <a:pt x="1374628" y="143842"/>
                  </a:lnTo>
                  <a:lnTo>
                    <a:pt x="2749257" y="2355"/>
                  </a:lnTo>
                  <a:lnTo>
                    <a:pt x="412388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72218" y="1971335"/>
              <a:ext cx="4123886" cy="299326"/>
            </a:xfrm>
            <a:custGeom>
              <a:avLst/>
              <a:pathLst>
                <a:path w="4123886" h="299326">
                  <a:moveTo>
                    <a:pt x="4123886" y="18023"/>
                  </a:moveTo>
                  <a:lnTo>
                    <a:pt x="2749257" y="0"/>
                  </a:lnTo>
                  <a:lnTo>
                    <a:pt x="1374628" y="117197"/>
                  </a:lnTo>
                  <a:lnTo>
                    <a:pt x="0" y="2993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872218" y="1136893"/>
              <a:ext cx="4123886" cy="1194472"/>
            </a:xfrm>
            <a:custGeom>
              <a:avLst/>
              <a:pathLst>
                <a:path w="4123886" h="1194472">
                  <a:moveTo>
                    <a:pt x="0" y="618796"/>
                  </a:moveTo>
                  <a:lnTo>
                    <a:pt x="1374628" y="506081"/>
                  </a:lnTo>
                  <a:lnTo>
                    <a:pt x="2749257" y="105402"/>
                  </a:lnTo>
                  <a:lnTo>
                    <a:pt x="4123886" y="0"/>
                  </a:lnTo>
                  <a:lnTo>
                    <a:pt x="4123886" y="778172"/>
                  </a:lnTo>
                  <a:lnTo>
                    <a:pt x="2749257" y="848641"/>
                  </a:lnTo>
                  <a:lnTo>
                    <a:pt x="1374628" y="1155884"/>
                  </a:lnTo>
                  <a:lnTo>
                    <a:pt x="0" y="1194472"/>
                  </a:lnTo>
                  <a:close/>
                </a:path>
              </a:pathLst>
            </a:custGeom>
            <a:solidFill>
              <a:srgbClr val="CC79A7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72218" y="1136893"/>
              <a:ext cx="4123886" cy="618796"/>
            </a:xfrm>
            <a:custGeom>
              <a:avLst/>
              <a:pathLst>
                <a:path w="4123886" h="618796">
                  <a:moveTo>
                    <a:pt x="0" y="618796"/>
                  </a:moveTo>
                  <a:lnTo>
                    <a:pt x="1374628" y="506081"/>
                  </a:lnTo>
                  <a:lnTo>
                    <a:pt x="2749257" y="105402"/>
                  </a:lnTo>
                  <a:lnTo>
                    <a:pt x="412388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72218" y="1915065"/>
              <a:ext cx="4123886" cy="416300"/>
            </a:xfrm>
            <a:custGeom>
              <a:avLst/>
              <a:pathLst>
                <a:path w="4123886" h="416300">
                  <a:moveTo>
                    <a:pt x="4123886" y="0"/>
                  </a:moveTo>
                  <a:lnTo>
                    <a:pt x="2749257" y="70468"/>
                  </a:lnTo>
                  <a:lnTo>
                    <a:pt x="1374628" y="377711"/>
                  </a:lnTo>
                  <a:lnTo>
                    <a:pt x="0" y="4163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872218" y="2549889"/>
              <a:ext cx="4123886" cy="491995"/>
            </a:xfrm>
            <a:custGeom>
              <a:avLst/>
              <a:pathLst>
                <a:path w="4123886" h="491995">
                  <a:moveTo>
                    <a:pt x="0" y="4733"/>
                  </a:moveTo>
                  <a:lnTo>
                    <a:pt x="1374628" y="8563"/>
                  </a:lnTo>
                  <a:lnTo>
                    <a:pt x="2749257" y="0"/>
                  </a:lnTo>
                  <a:lnTo>
                    <a:pt x="4123886" y="1183"/>
                  </a:lnTo>
                  <a:lnTo>
                    <a:pt x="4123886" y="485579"/>
                  </a:lnTo>
                  <a:lnTo>
                    <a:pt x="2749257" y="484617"/>
                  </a:lnTo>
                  <a:lnTo>
                    <a:pt x="1374628" y="491995"/>
                  </a:lnTo>
                  <a:lnTo>
                    <a:pt x="0" y="489394"/>
                  </a:lnTo>
                  <a:close/>
                </a:path>
              </a:pathLst>
            </a:custGeom>
            <a:solidFill>
              <a:srgbClr val="E69F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72218" y="2549889"/>
              <a:ext cx="4123886" cy="8563"/>
            </a:xfrm>
            <a:custGeom>
              <a:avLst/>
              <a:pathLst>
                <a:path w="4123886" h="8563">
                  <a:moveTo>
                    <a:pt x="0" y="4733"/>
                  </a:moveTo>
                  <a:lnTo>
                    <a:pt x="1374628" y="8563"/>
                  </a:lnTo>
                  <a:lnTo>
                    <a:pt x="2749257" y="0"/>
                  </a:lnTo>
                  <a:lnTo>
                    <a:pt x="4123886" y="11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72218" y="3034507"/>
              <a:ext cx="4123886" cy="7377"/>
            </a:xfrm>
            <a:custGeom>
              <a:avLst/>
              <a:pathLst>
                <a:path w="4123886" h="7377">
                  <a:moveTo>
                    <a:pt x="4123886" y="962"/>
                  </a:moveTo>
                  <a:lnTo>
                    <a:pt x="2749257" y="0"/>
                  </a:lnTo>
                  <a:lnTo>
                    <a:pt x="1374628" y="7377"/>
                  </a:lnTo>
                  <a:lnTo>
                    <a:pt x="0" y="47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872218" y="1972063"/>
              <a:ext cx="4123886" cy="486090"/>
            </a:xfrm>
            <a:custGeom>
              <a:avLst/>
              <a:pathLst>
                <a:path w="4123886" h="486090">
                  <a:moveTo>
                    <a:pt x="0" y="0"/>
                  </a:moveTo>
                  <a:lnTo>
                    <a:pt x="1374628" y="52757"/>
                  </a:lnTo>
                  <a:lnTo>
                    <a:pt x="2749257" y="29614"/>
                  </a:lnTo>
                  <a:lnTo>
                    <a:pt x="4123886" y="33950"/>
                  </a:lnTo>
                  <a:lnTo>
                    <a:pt x="4123886" y="471497"/>
                  </a:lnTo>
                  <a:lnTo>
                    <a:pt x="2749257" y="462198"/>
                  </a:lnTo>
                  <a:lnTo>
                    <a:pt x="1374628" y="486090"/>
                  </a:lnTo>
                  <a:lnTo>
                    <a:pt x="0" y="440801"/>
                  </a:lnTo>
                  <a:close/>
                </a:path>
              </a:pathLst>
            </a:custGeom>
            <a:solidFill>
              <a:srgbClr val="009E7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872218" y="1972063"/>
              <a:ext cx="4123886" cy="52757"/>
            </a:xfrm>
            <a:custGeom>
              <a:avLst/>
              <a:pathLst>
                <a:path w="4123886" h="52757">
                  <a:moveTo>
                    <a:pt x="0" y="0"/>
                  </a:moveTo>
                  <a:lnTo>
                    <a:pt x="1374628" y="52757"/>
                  </a:lnTo>
                  <a:lnTo>
                    <a:pt x="2749257" y="29614"/>
                  </a:lnTo>
                  <a:lnTo>
                    <a:pt x="4123886" y="3395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872218" y="2412865"/>
              <a:ext cx="4123886" cy="45289"/>
            </a:xfrm>
            <a:custGeom>
              <a:avLst/>
              <a:pathLst>
                <a:path w="4123886" h="45289">
                  <a:moveTo>
                    <a:pt x="4123886" y="30696"/>
                  </a:moveTo>
                  <a:lnTo>
                    <a:pt x="2749257" y="21397"/>
                  </a:lnTo>
                  <a:lnTo>
                    <a:pt x="1374628" y="4528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872218" y="2306181"/>
              <a:ext cx="4123886" cy="393416"/>
            </a:xfrm>
            <a:custGeom>
              <a:avLst/>
              <a:pathLst>
                <a:path w="4123886" h="393416">
                  <a:moveTo>
                    <a:pt x="0" y="0"/>
                  </a:moveTo>
                  <a:lnTo>
                    <a:pt x="1374628" y="3282"/>
                  </a:lnTo>
                  <a:lnTo>
                    <a:pt x="2749257" y="2785"/>
                  </a:lnTo>
                  <a:lnTo>
                    <a:pt x="4123886" y="2840"/>
                  </a:lnTo>
                  <a:lnTo>
                    <a:pt x="4123886" y="393168"/>
                  </a:lnTo>
                  <a:lnTo>
                    <a:pt x="2749257" y="393071"/>
                  </a:lnTo>
                  <a:lnTo>
                    <a:pt x="1374628" y="393416"/>
                  </a:lnTo>
                  <a:lnTo>
                    <a:pt x="0" y="390626"/>
                  </a:lnTo>
                  <a:close/>
                </a:path>
              </a:pathLst>
            </a:custGeom>
            <a:solidFill>
              <a:srgbClr val="999999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72218" y="2306181"/>
              <a:ext cx="4123886" cy="3282"/>
            </a:xfrm>
            <a:custGeom>
              <a:avLst/>
              <a:pathLst>
                <a:path w="4123886" h="3282">
                  <a:moveTo>
                    <a:pt x="0" y="0"/>
                  </a:moveTo>
                  <a:lnTo>
                    <a:pt x="1374628" y="3282"/>
                  </a:lnTo>
                  <a:lnTo>
                    <a:pt x="2749257" y="2785"/>
                  </a:lnTo>
                  <a:lnTo>
                    <a:pt x="4123886" y="28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72218" y="2696808"/>
              <a:ext cx="4123886" cy="2789"/>
            </a:xfrm>
            <a:custGeom>
              <a:avLst/>
              <a:pathLst>
                <a:path w="4123886" h="2789">
                  <a:moveTo>
                    <a:pt x="4123886" y="2542"/>
                  </a:moveTo>
                  <a:lnTo>
                    <a:pt x="2749257" y="2445"/>
                  </a:lnTo>
                  <a:lnTo>
                    <a:pt x="1374628" y="278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72218" y="1402788"/>
              <a:ext cx="4123886" cy="561830"/>
            </a:xfrm>
            <a:custGeom>
              <a:avLst/>
              <a:pathLst>
                <a:path w="4123886" h="561830">
                  <a:moveTo>
                    <a:pt x="0" y="561830"/>
                  </a:moveTo>
                  <a:lnTo>
                    <a:pt x="1374628" y="449491"/>
                  </a:lnTo>
                  <a:lnTo>
                    <a:pt x="2749257" y="85135"/>
                  </a:lnTo>
                  <a:lnTo>
                    <a:pt x="4123886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72218" y="1641944"/>
              <a:ext cx="4123886" cy="350398"/>
            </a:xfrm>
            <a:custGeom>
              <a:avLst/>
              <a:pathLst>
                <a:path w="4123886" h="350398">
                  <a:moveTo>
                    <a:pt x="0" y="350398"/>
                  </a:moveTo>
                  <a:lnTo>
                    <a:pt x="1374628" y="128786"/>
                  </a:lnTo>
                  <a:lnTo>
                    <a:pt x="2749257" y="0"/>
                  </a:lnTo>
                  <a:lnTo>
                    <a:pt x="4123886" y="9017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72218" y="1549036"/>
              <a:ext cx="4123886" cy="509449"/>
            </a:xfrm>
            <a:custGeom>
              <a:avLst/>
              <a:pathLst>
                <a:path w="4123886" h="509449">
                  <a:moveTo>
                    <a:pt x="0" y="509449"/>
                  </a:moveTo>
                  <a:lnTo>
                    <a:pt x="1374628" y="437403"/>
                  </a:lnTo>
                  <a:lnTo>
                    <a:pt x="2749257" y="86485"/>
                  </a:lnTo>
                  <a:lnTo>
                    <a:pt x="4123886" y="0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72218" y="2806723"/>
              <a:ext cx="4123886" cy="7956"/>
            </a:xfrm>
            <a:custGeom>
              <a:avLst/>
              <a:pathLst>
                <a:path w="4123886" h="7956">
                  <a:moveTo>
                    <a:pt x="0" y="4792"/>
                  </a:moveTo>
                  <a:lnTo>
                    <a:pt x="1374628" y="7956"/>
                  </a:lnTo>
                  <a:lnTo>
                    <a:pt x="2749257" y="0"/>
                  </a:lnTo>
                  <a:lnTo>
                    <a:pt x="4123886" y="1067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72218" y="2201722"/>
              <a:ext cx="4123886" cy="48882"/>
            </a:xfrm>
            <a:custGeom>
              <a:avLst/>
              <a:pathLst>
                <a:path w="4123886" h="48882">
                  <a:moveTo>
                    <a:pt x="0" y="0"/>
                  </a:moveTo>
                  <a:lnTo>
                    <a:pt x="1374628" y="48882"/>
                  </a:lnTo>
                  <a:lnTo>
                    <a:pt x="2749257" y="25251"/>
                  </a:lnTo>
                  <a:lnTo>
                    <a:pt x="4123886" y="32301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72218" y="2509734"/>
              <a:ext cx="4123886" cy="3025"/>
            </a:xfrm>
            <a:custGeom>
              <a:avLst/>
              <a:pathLst>
                <a:path w="4123886" h="3025">
                  <a:moveTo>
                    <a:pt x="0" y="0"/>
                  </a:moveTo>
                  <a:lnTo>
                    <a:pt x="1374628" y="3025"/>
                  </a:lnTo>
                  <a:lnTo>
                    <a:pt x="2749257" y="2610"/>
                  </a:lnTo>
                  <a:lnTo>
                    <a:pt x="4123886" y="2688"/>
                  </a:lnTo>
                </a:path>
              </a:pathLst>
            </a:custGeom>
            <a:ln w="1897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848210" y="1940611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222839" y="1828272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597468" y="1463915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972097" y="1378780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848210" y="1968335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222839" y="1746723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597468" y="1617936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972097" y="1626954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848210" y="2485726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222839" y="2488752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597468" y="2488337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972097" y="2488415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848210" y="2177715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222839" y="2226597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597468" y="2202966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972097" y="2210016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848210" y="2034477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222839" y="1962431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597468" y="1611514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972097" y="1525028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848210" y="2787508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222839" y="2790672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597468" y="2782716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972097" y="2783783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66023" y="881169"/>
              <a:ext cx="0" cy="2263606"/>
            </a:xfrm>
            <a:custGeom>
              <a:avLst/>
              <a:pathLst>
                <a:path w="0" h="2263606">
                  <a:moveTo>
                    <a:pt x="0" y="2263606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487953" y="2829831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87953" y="2340343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7953" y="1850856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487953" y="1361368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1.4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87953" y="871880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1.6</a:t>
              </a:r>
            </a:p>
          </p:txBody>
        </p:sp>
        <p:sp>
          <p:nvSpPr>
            <p:cNvPr id="68" name="pl68"/>
            <p:cNvSpPr/>
            <p:nvPr/>
          </p:nvSpPr>
          <p:spPr>
            <a:xfrm>
              <a:off x="637555" y="286252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37555" y="237303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37555" y="188354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37555" y="139405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37555" y="90457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66023" y="3144775"/>
              <a:ext cx="4536275" cy="0"/>
            </a:xfrm>
            <a:custGeom>
              <a:avLst/>
              <a:pathLst>
                <a:path w="4536275" h="0">
                  <a:moveTo>
                    <a:pt x="0" y="0"/>
                  </a:moveTo>
                  <a:lnTo>
                    <a:pt x="4536275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72218" y="314477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246847" y="314477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621476" y="314477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996105" y="314477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846843" y="3196018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196098" y="3196018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570727" y="3196018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945356" y="3196018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121214" y="3308977"/>
              <a:ext cx="162589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Accumulation window W (years)</a:t>
              </a:r>
            </a:p>
          </p:txBody>
        </p:sp>
        <p:sp>
          <p:nvSpPr>
            <p:cNvPr id="83" name="tx83"/>
            <p:cNvSpPr/>
            <p:nvPr/>
          </p:nvSpPr>
          <p:spPr>
            <a:xfrm rot="-5400000">
              <a:off x="-157963" y="1972053"/>
              <a:ext cx="110514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Hazard ratio per 1 SD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666023" y="503004"/>
              <a:ext cx="3964472" cy="74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Niche proximity and niche tracking sit on 1 at every window; heat exposure is negative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66023" y="328384"/>
              <a:ext cx="388382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Every proxy carries a signal except the two niche-centre metrics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35550" y="320090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87" name="rc87"/>
            <p:cNvSpPr/>
            <p:nvPr/>
          </p:nvSpPr>
          <p:spPr>
            <a:xfrm>
              <a:off x="5717074" y="881169"/>
              <a:ext cx="4536275" cy="22636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717074" y="2790515"/>
              <a:ext cx="4536275" cy="0"/>
            </a:xfrm>
            <a:custGeom>
              <a:avLst/>
              <a:pathLst>
                <a:path w="4536275" h="0">
                  <a:moveTo>
                    <a:pt x="0" y="0"/>
                  </a:moveTo>
                  <a:lnTo>
                    <a:pt x="4536275" y="0"/>
                  </a:lnTo>
                  <a:lnTo>
                    <a:pt x="45362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717074" y="2368670"/>
              <a:ext cx="4536275" cy="0"/>
            </a:xfrm>
            <a:custGeom>
              <a:avLst/>
              <a:pathLst>
                <a:path w="4536275" h="0">
                  <a:moveTo>
                    <a:pt x="0" y="0"/>
                  </a:moveTo>
                  <a:lnTo>
                    <a:pt x="4536275" y="0"/>
                  </a:lnTo>
                  <a:lnTo>
                    <a:pt x="45362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717074" y="1946825"/>
              <a:ext cx="4536275" cy="0"/>
            </a:xfrm>
            <a:custGeom>
              <a:avLst/>
              <a:pathLst>
                <a:path w="4536275" h="0">
                  <a:moveTo>
                    <a:pt x="0" y="0"/>
                  </a:moveTo>
                  <a:lnTo>
                    <a:pt x="4536275" y="0"/>
                  </a:lnTo>
                  <a:lnTo>
                    <a:pt x="45362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717074" y="1524980"/>
              <a:ext cx="4536275" cy="0"/>
            </a:xfrm>
            <a:custGeom>
              <a:avLst/>
              <a:pathLst>
                <a:path w="4536275" h="0">
                  <a:moveTo>
                    <a:pt x="0" y="0"/>
                  </a:moveTo>
                  <a:lnTo>
                    <a:pt x="4536275" y="0"/>
                  </a:lnTo>
                  <a:lnTo>
                    <a:pt x="45362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717074" y="1103135"/>
              <a:ext cx="4536275" cy="0"/>
            </a:xfrm>
            <a:custGeom>
              <a:avLst/>
              <a:pathLst>
                <a:path w="4536275" h="0">
                  <a:moveTo>
                    <a:pt x="0" y="0"/>
                  </a:moveTo>
                  <a:lnTo>
                    <a:pt x="4536275" y="0"/>
                  </a:lnTo>
                  <a:lnTo>
                    <a:pt x="45362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717074" y="1946825"/>
              <a:ext cx="4536275" cy="0"/>
            </a:xfrm>
            <a:custGeom>
              <a:avLst/>
              <a:pathLst>
                <a:path w="4536275" h="0">
                  <a:moveTo>
                    <a:pt x="0" y="0"/>
                  </a:moveTo>
                  <a:lnTo>
                    <a:pt x="4536275" y="0"/>
                  </a:lnTo>
                  <a:lnTo>
                    <a:pt x="4536275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5923269" y="1957614"/>
              <a:ext cx="4123886" cy="1084270"/>
            </a:xfrm>
            <a:custGeom>
              <a:avLst/>
              <a:pathLst>
                <a:path w="4123886" h="1084270">
                  <a:moveTo>
                    <a:pt x="0" y="0"/>
                  </a:moveTo>
                  <a:lnTo>
                    <a:pt x="1374628" y="239135"/>
                  </a:lnTo>
                  <a:lnTo>
                    <a:pt x="2749257" y="207881"/>
                  </a:lnTo>
                  <a:lnTo>
                    <a:pt x="4123886" y="345577"/>
                  </a:lnTo>
                  <a:lnTo>
                    <a:pt x="4123886" y="1084270"/>
                  </a:lnTo>
                  <a:lnTo>
                    <a:pt x="2749257" y="998889"/>
                  </a:lnTo>
                  <a:lnTo>
                    <a:pt x="1374628" y="992377"/>
                  </a:lnTo>
                  <a:lnTo>
                    <a:pt x="0" y="802660"/>
                  </a:lnTo>
                  <a:close/>
                </a:path>
              </a:pathLst>
            </a:custGeom>
            <a:solidFill>
              <a:srgbClr val="0072B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923269" y="1957614"/>
              <a:ext cx="4123886" cy="345577"/>
            </a:xfrm>
            <a:custGeom>
              <a:avLst/>
              <a:pathLst>
                <a:path w="4123886" h="345577">
                  <a:moveTo>
                    <a:pt x="0" y="0"/>
                  </a:moveTo>
                  <a:lnTo>
                    <a:pt x="1374628" y="239135"/>
                  </a:lnTo>
                  <a:lnTo>
                    <a:pt x="2749257" y="207881"/>
                  </a:lnTo>
                  <a:lnTo>
                    <a:pt x="4123886" y="3455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5923269" y="2760275"/>
              <a:ext cx="4123886" cy="281609"/>
            </a:xfrm>
            <a:custGeom>
              <a:avLst/>
              <a:pathLst>
                <a:path w="4123886" h="281609">
                  <a:moveTo>
                    <a:pt x="4123886" y="281609"/>
                  </a:moveTo>
                  <a:lnTo>
                    <a:pt x="2749257" y="196228"/>
                  </a:lnTo>
                  <a:lnTo>
                    <a:pt x="1374628" y="18971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5923269" y="1384640"/>
              <a:ext cx="4123886" cy="1159133"/>
            </a:xfrm>
            <a:custGeom>
              <a:avLst/>
              <a:pathLst>
                <a:path w="4123886" h="1159133">
                  <a:moveTo>
                    <a:pt x="0" y="0"/>
                  </a:moveTo>
                  <a:lnTo>
                    <a:pt x="1374628" y="349514"/>
                  </a:lnTo>
                  <a:lnTo>
                    <a:pt x="2749257" y="178366"/>
                  </a:lnTo>
                  <a:lnTo>
                    <a:pt x="4123886" y="201596"/>
                  </a:lnTo>
                  <a:lnTo>
                    <a:pt x="4123886" y="1078896"/>
                  </a:lnTo>
                  <a:lnTo>
                    <a:pt x="2749257" y="1046191"/>
                  </a:lnTo>
                  <a:lnTo>
                    <a:pt x="1374628" y="1159133"/>
                  </a:lnTo>
                  <a:lnTo>
                    <a:pt x="0" y="888511"/>
                  </a:lnTo>
                  <a:close/>
                </a:path>
              </a:pathLst>
            </a:custGeom>
            <a:solidFill>
              <a:srgbClr val="D55E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923269" y="1384640"/>
              <a:ext cx="4123886" cy="349514"/>
            </a:xfrm>
            <a:custGeom>
              <a:avLst/>
              <a:pathLst>
                <a:path w="4123886" h="349514">
                  <a:moveTo>
                    <a:pt x="0" y="0"/>
                  </a:moveTo>
                  <a:lnTo>
                    <a:pt x="1374628" y="349514"/>
                  </a:lnTo>
                  <a:lnTo>
                    <a:pt x="2749257" y="178366"/>
                  </a:lnTo>
                  <a:lnTo>
                    <a:pt x="4123886" y="2015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923269" y="2273152"/>
              <a:ext cx="4123886" cy="270621"/>
            </a:xfrm>
            <a:custGeom>
              <a:avLst/>
              <a:pathLst>
                <a:path w="4123886" h="270621">
                  <a:moveTo>
                    <a:pt x="4123886" y="190384"/>
                  </a:moveTo>
                  <a:lnTo>
                    <a:pt x="2749257" y="157679"/>
                  </a:lnTo>
                  <a:lnTo>
                    <a:pt x="1374628" y="27062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5923269" y="1843039"/>
              <a:ext cx="4123886" cy="1158120"/>
            </a:xfrm>
            <a:custGeom>
              <a:avLst/>
              <a:pathLst>
                <a:path w="4123886" h="1158120">
                  <a:moveTo>
                    <a:pt x="0" y="0"/>
                  </a:moveTo>
                  <a:lnTo>
                    <a:pt x="1374628" y="285800"/>
                  </a:lnTo>
                  <a:lnTo>
                    <a:pt x="2749257" y="304669"/>
                  </a:lnTo>
                  <a:lnTo>
                    <a:pt x="4123886" y="418140"/>
                  </a:lnTo>
                  <a:lnTo>
                    <a:pt x="4123886" y="1158120"/>
                  </a:lnTo>
                  <a:lnTo>
                    <a:pt x="2749257" y="1090989"/>
                  </a:lnTo>
                  <a:lnTo>
                    <a:pt x="1374628" y="1055040"/>
                  </a:lnTo>
                  <a:lnTo>
                    <a:pt x="0" y="835374"/>
                  </a:lnTo>
                  <a:close/>
                </a:path>
              </a:pathLst>
            </a:custGeom>
            <a:solidFill>
              <a:srgbClr val="CC79A7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923269" y="1843039"/>
              <a:ext cx="4123886" cy="418140"/>
            </a:xfrm>
            <a:custGeom>
              <a:avLst/>
              <a:pathLst>
                <a:path w="4123886" h="418140">
                  <a:moveTo>
                    <a:pt x="0" y="0"/>
                  </a:moveTo>
                  <a:lnTo>
                    <a:pt x="1374628" y="285800"/>
                  </a:lnTo>
                  <a:lnTo>
                    <a:pt x="2749257" y="304669"/>
                  </a:lnTo>
                  <a:lnTo>
                    <a:pt x="4123886" y="4181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923269" y="2678414"/>
              <a:ext cx="4123886" cy="322746"/>
            </a:xfrm>
            <a:custGeom>
              <a:avLst/>
              <a:pathLst>
                <a:path w="4123886" h="322746">
                  <a:moveTo>
                    <a:pt x="4123886" y="322746"/>
                  </a:moveTo>
                  <a:lnTo>
                    <a:pt x="2749257" y="255615"/>
                  </a:lnTo>
                  <a:lnTo>
                    <a:pt x="1374628" y="21966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5923269" y="1388929"/>
              <a:ext cx="4123886" cy="911391"/>
            </a:xfrm>
            <a:custGeom>
              <a:avLst/>
              <a:pathLst>
                <a:path w="4123886" h="911391">
                  <a:moveTo>
                    <a:pt x="0" y="19277"/>
                  </a:moveTo>
                  <a:lnTo>
                    <a:pt x="1374628" y="16513"/>
                  </a:lnTo>
                  <a:lnTo>
                    <a:pt x="2749257" y="6763"/>
                  </a:lnTo>
                  <a:lnTo>
                    <a:pt x="4123886" y="0"/>
                  </a:lnTo>
                  <a:lnTo>
                    <a:pt x="4123886" y="895829"/>
                  </a:lnTo>
                  <a:lnTo>
                    <a:pt x="2749257" y="901813"/>
                  </a:lnTo>
                  <a:lnTo>
                    <a:pt x="1374628" y="910216"/>
                  </a:lnTo>
                  <a:lnTo>
                    <a:pt x="0" y="911391"/>
                  </a:lnTo>
                  <a:close/>
                </a:path>
              </a:pathLst>
            </a:custGeom>
            <a:solidFill>
              <a:srgbClr val="E69F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923269" y="1388929"/>
              <a:ext cx="4123886" cy="19277"/>
            </a:xfrm>
            <a:custGeom>
              <a:avLst/>
              <a:pathLst>
                <a:path w="4123886" h="19277">
                  <a:moveTo>
                    <a:pt x="0" y="19277"/>
                  </a:moveTo>
                  <a:lnTo>
                    <a:pt x="1374628" y="16513"/>
                  </a:lnTo>
                  <a:lnTo>
                    <a:pt x="2749257" y="6763"/>
                  </a:lnTo>
                  <a:lnTo>
                    <a:pt x="412388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923269" y="2284758"/>
              <a:ext cx="4123886" cy="15562"/>
            </a:xfrm>
            <a:custGeom>
              <a:avLst/>
              <a:pathLst>
                <a:path w="4123886" h="15562">
                  <a:moveTo>
                    <a:pt x="4123886" y="0"/>
                  </a:moveTo>
                  <a:lnTo>
                    <a:pt x="2749257" y="5983"/>
                  </a:lnTo>
                  <a:lnTo>
                    <a:pt x="1374628" y="14386"/>
                  </a:lnTo>
                  <a:lnTo>
                    <a:pt x="0" y="155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5923269" y="984060"/>
              <a:ext cx="4123886" cy="1003933"/>
            </a:xfrm>
            <a:custGeom>
              <a:avLst/>
              <a:pathLst>
                <a:path w="4123886" h="1003933">
                  <a:moveTo>
                    <a:pt x="0" y="192314"/>
                  </a:moveTo>
                  <a:lnTo>
                    <a:pt x="1374628" y="71892"/>
                  </a:lnTo>
                  <a:lnTo>
                    <a:pt x="2749257" y="0"/>
                  </a:lnTo>
                  <a:lnTo>
                    <a:pt x="4123886" y="164718"/>
                  </a:lnTo>
                  <a:lnTo>
                    <a:pt x="4123886" y="977843"/>
                  </a:lnTo>
                  <a:lnTo>
                    <a:pt x="2749257" y="873978"/>
                  </a:lnTo>
                  <a:lnTo>
                    <a:pt x="1374628" y="891715"/>
                  </a:lnTo>
                  <a:lnTo>
                    <a:pt x="0" y="1003933"/>
                  </a:lnTo>
                  <a:close/>
                </a:path>
              </a:pathLst>
            </a:custGeom>
            <a:solidFill>
              <a:srgbClr val="009E7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923269" y="984060"/>
              <a:ext cx="4123886" cy="192314"/>
            </a:xfrm>
            <a:custGeom>
              <a:avLst/>
              <a:pathLst>
                <a:path w="4123886" h="192314">
                  <a:moveTo>
                    <a:pt x="0" y="192314"/>
                  </a:moveTo>
                  <a:lnTo>
                    <a:pt x="1374628" y="71892"/>
                  </a:lnTo>
                  <a:lnTo>
                    <a:pt x="2749257" y="0"/>
                  </a:lnTo>
                  <a:lnTo>
                    <a:pt x="4123886" y="16471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923269" y="1858039"/>
              <a:ext cx="4123886" cy="129955"/>
            </a:xfrm>
            <a:custGeom>
              <a:avLst/>
              <a:pathLst>
                <a:path w="4123886" h="129955">
                  <a:moveTo>
                    <a:pt x="4123886" y="103864"/>
                  </a:moveTo>
                  <a:lnTo>
                    <a:pt x="2749257" y="0"/>
                  </a:lnTo>
                  <a:lnTo>
                    <a:pt x="1374628" y="17737"/>
                  </a:lnTo>
                  <a:lnTo>
                    <a:pt x="0" y="12995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5923269" y="1963626"/>
              <a:ext cx="4123886" cy="648640"/>
            </a:xfrm>
            <a:custGeom>
              <a:avLst/>
              <a:pathLst>
                <a:path w="4123886" h="648640">
                  <a:moveTo>
                    <a:pt x="0" y="495"/>
                  </a:moveTo>
                  <a:lnTo>
                    <a:pt x="1374628" y="0"/>
                  </a:lnTo>
                  <a:lnTo>
                    <a:pt x="2749257" y="1929"/>
                  </a:lnTo>
                  <a:lnTo>
                    <a:pt x="4123886" y="4813"/>
                  </a:lnTo>
                  <a:lnTo>
                    <a:pt x="4123886" y="648640"/>
                  </a:lnTo>
                  <a:lnTo>
                    <a:pt x="2749257" y="645694"/>
                  </a:lnTo>
                  <a:lnTo>
                    <a:pt x="1374628" y="644331"/>
                  </a:lnTo>
                  <a:lnTo>
                    <a:pt x="0" y="644831"/>
                  </a:lnTo>
                  <a:close/>
                </a:path>
              </a:pathLst>
            </a:custGeom>
            <a:solidFill>
              <a:srgbClr val="999999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923269" y="1963626"/>
              <a:ext cx="4123886" cy="4813"/>
            </a:xfrm>
            <a:custGeom>
              <a:avLst/>
              <a:pathLst>
                <a:path w="4123886" h="4813">
                  <a:moveTo>
                    <a:pt x="0" y="495"/>
                  </a:moveTo>
                  <a:lnTo>
                    <a:pt x="1374628" y="0"/>
                  </a:lnTo>
                  <a:lnTo>
                    <a:pt x="2749257" y="1929"/>
                  </a:lnTo>
                  <a:lnTo>
                    <a:pt x="4123886" y="481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923269" y="2607958"/>
              <a:ext cx="4123886" cy="4308"/>
            </a:xfrm>
            <a:custGeom>
              <a:avLst/>
              <a:pathLst>
                <a:path w="4123886" h="4308">
                  <a:moveTo>
                    <a:pt x="4123886" y="4308"/>
                  </a:moveTo>
                  <a:lnTo>
                    <a:pt x="2749257" y="1362"/>
                  </a:lnTo>
                  <a:lnTo>
                    <a:pt x="1374628" y="0"/>
                  </a:lnTo>
                  <a:lnTo>
                    <a:pt x="0" y="4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923269" y="2380161"/>
              <a:ext cx="4123886" cy="311960"/>
            </a:xfrm>
            <a:custGeom>
              <a:avLst/>
              <a:pathLst>
                <a:path w="4123886" h="311960">
                  <a:moveTo>
                    <a:pt x="0" y="0"/>
                  </a:moveTo>
                  <a:lnTo>
                    <a:pt x="1374628" y="213008"/>
                  </a:lnTo>
                  <a:lnTo>
                    <a:pt x="2749257" y="202603"/>
                  </a:lnTo>
                  <a:lnTo>
                    <a:pt x="4123886" y="31196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923269" y="1851713"/>
              <a:ext cx="4123886" cy="307652"/>
            </a:xfrm>
            <a:custGeom>
              <a:avLst/>
              <a:pathLst>
                <a:path w="4123886" h="307652">
                  <a:moveTo>
                    <a:pt x="0" y="0"/>
                  </a:moveTo>
                  <a:lnTo>
                    <a:pt x="1374628" y="307652"/>
                  </a:lnTo>
                  <a:lnTo>
                    <a:pt x="2749257" y="167852"/>
                  </a:lnTo>
                  <a:lnTo>
                    <a:pt x="4123886" y="196475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923269" y="2283132"/>
              <a:ext cx="4123886" cy="367458"/>
            </a:xfrm>
            <a:custGeom>
              <a:avLst/>
              <a:pathLst>
                <a:path w="4123886" h="367458">
                  <a:moveTo>
                    <a:pt x="0" y="0"/>
                  </a:moveTo>
                  <a:lnTo>
                    <a:pt x="1374628" y="250639"/>
                  </a:lnTo>
                  <a:lnTo>
                    <a:pt x="2749257" y="279124"/>
                  </a:lnTo>
                  <a:lnTo>
                    <a:pt x="4123886" y="367458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923269" y="1860081"/>
              <a:ext cx="4123886" cy="17320"/>
            </a:xfrm>
            <a:custGeom>
              <a:avLst/>
              <a:pathLst>
                <a:path w="4123886" h="17320">
                  <a:moveTo>
                    <a:pt x="0" y="17320"/>
                  </a:moveTo>
                  <a:lnTo>
                    <a:pt x="1374628" y="15422"/>
                  </a:lnTo>
                  <a:lnTo>
                    <a:pt x="2749257" y="6367"/>
                  </a:lnTo>
                  <a:lnTo>
                    <a:pt x="4123886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923269" y="1441218"/>
              <a:ext cx="4123886" cy="158967"/>
            </a:xfrm>
            <a:custGeom>
              <a:avLst/>
              <a:pathLst>
                <a:path w="4123886" h="158967">
                  <a:moveTo>
                    <a:pt x="0" y="158967"/>
                  </a:moveTo>
                  <a:lnTo>
                    <a:pt x="1374628" y="42558"/>
                  </a:lnTo>
                  <a:lnTo>
                    <a:pt x="2749257" y="0"/>
                  </a:lnTo>
                  <a:lnTo>
                    <a:pt x="4123886" y="132086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923269" y="2299192"/>
              <a:ext cx="4123886" cy="4555"/>
            </a:xfrm>
            <a:custGeom>
              <a:avLst/>
              <a:pathLst>
                <a:path w="4123886" h="4555">
                  <a:moveTo>
                    <a:pt x="0" y="499"/>
                  </a:moveTo>
                  <a:lnTo>
                    <a:pt x="1374628" y="0"/>
                  </a:lnTo>
                  <a:lnTo>
                    <a:pt x="2749257" y="1627"/>
                  </a:lnTo>
                  <a:lnTo>
                    <a:pt x="4123886" y="4555"/>
                  </a:lnTo>
                </a:path>
              </a:pathLst>
            </a:custGeom>
            <a:ln w="1897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5899261" y="2356153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7273890" y="2569162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8648519" y="2558757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0023148" y="2668114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5899261" y="1827705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7273890" y="2135358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8648519" y="1995557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0023148" y="2024181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5899261" y="2275684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7273890" y="2275184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8648519" y="2276812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0023148" y="2279740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5899261" y="1576178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7273890" y="1459768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8648519" y="1417210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0023148" y="1549296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5899261" y="2259124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7273890" y="2509763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8648519" y="2538248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10023148" y="2626583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899261" y="1853394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7273890" y="1851496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8648519" y="1842441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10023148" y="1836074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717074" y="881169"/>
              <a:ext cx="0" cy="2263606"/>
            </a:xfrm>
            <a:custGeom>
              <a:avLst/>
              <a:pathLst>
                <a:path w="0" h="2263606">
                  <a:moveTo>
                    <a:pt x="0" y="2263606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tx143"/>
            <p:cNvSpPr/>
            <p:nvPr/>
          </p:nvSpPr>
          <p:spPr>
            <a:xfrm>
              <a:off x="5539004" y="2757825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5539004" y="2335980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0.9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5539004" y="1914135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5539004" y="1492290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1.1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5539004" y="1070446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148" name="pl148"/>
            <p:cNvSpPr/>
            <p:nvPr/>
          </p:nvSpPr>
          <p:spPr>
            <a:xfrm>
              <a:off x="5688606" y="279051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688606" y="236867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688606" y="194682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688606" y="152498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688606" y="110313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717074" y="3144775"/>
              <a:ext cx="4536275" cy="0"/>
            </a:xfrm>
            <a:custGeom>
              <a:avLst/>
              <a:pathLst>
                <a:path w="4536275" h="0">
                  <a:moveTo>
                    <a:pt x="0" y="0"/>
                  </a:moveTo>
                  <a:lnTo>
                    <a:pt x="4536275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923269" y="314477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7297898" y="314477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672527" y="314477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10047156" y="314477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tx158"/>
            <p:cNvSpPr/>
            <p:nvPr/>
          </p:nvSpPr>
          <p:spPr>
            <a:xfrm>
              <a:off x="5897894" y="3196018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7247149" y="3196018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8621777" y="3196018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9996406" y="3196018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7172265" y="3308977"/>
              <a:ext cx="162589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Accumulation window W (years)</a:t>
              </a:r>
            </a:p>
          </p:txBody>
        </p:sp>
        <p:sp>
          <p:nvSpPr>
            <p:cNvPr id="163" name="tx163"/>
            <p:cNvSpPr/>
            <p:nvPr/>
          </p:nvSpPr>
          <p:spPr>
            <a:xfrm rot="-5400000">
              <a:off x="4893087" y="1972053"/>
              <a:ext cx="110514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Hazard ratio per 1 SD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5717074" y="503004"/>
              <a:ext cx="3530498" cy="74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Both proxies built on the warmest-month maximum sit on 1 at every window. 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5717074" y="615475"/>
              <a:ext cx="3888760" cy="74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Those built on annual mean temperature depart from it - downward for the main and 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5717074" y="727946"/>
              <a:ext cx="3465484" cy="74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moderated specifications and for niche proximity, upward for niche tracking.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5717074" y="328384"/>
              <a:ext cx="428368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The interaction follows the underlying indicator, not the transformation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5382440" y="320090"/>
              <a:ext cx="9308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69" name="rc169"/>
            <p:cNvSpPr/>
            <p:nvPr/>
          </p:nvSpPr>
          <p:spPr>
            <a:xfrm>
              <a:off x="252469" y="3490688"/>
              <a:ext cx="5025676" cy="36634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5278145" y="3490688"/>
              <a:ext cx="5076425" cy="36634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666023" y="4006917"/>
              <a:ext cx="4510901" cy="22636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666023" y="6167633"/>
              <a:ext cx="4510901" cy="0"/>
            </a:xfrm>
            <a:custGeom>
              <a:avLst/>
              <a:pathLst>
                <a:path w="4510901" h="0">
                  <a:moveTo>
                    <a:pt x="0" y="0"/>
                  </a:moveTo>
                  <a:lnTo>
                    <a:pt x="4510901" y="0"/>
                  </a:lnTo>
                  <a:lnTo>
                    <a:pt x="451090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666023" y="5551483"/>
              <a:ext cx="4510901" cy="0"/>
            </a:xfrm>
            <a:custGeom>
              <a:avLst/>
              <a:pathLst>
                <a:path w="4510901" h="0">
                  <a:moveTo>
                    <a:pt x="0" y="0"/>
                  </a:moveTo>
                  <a:lnTo>
                    <a:pt x="4510901" y="0"/>
                  </a:lnTo>
                  <a:lnTo>
                    <a:pt x="451090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666023" y="4935333"/>
              <a:ext cx="4510901" cy="0"/>
            </a:xfrm>
            <a:custGeom>
              <a:avLst/>
              <a:pathLst>
                <a:path w="4510901" h="0">
                  <a:moveTo>
                    <a:pt x="0" y="0"/>
                  </a:moveTo>
                  <a:lnTo>
                    <a:pt x="4510901" y="0"/>
                  </a:lnTo>
                  <a:lnTo>
                    <a:pt x="451090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666023" y="4319182"/>
              <a:ext cx="4510901" cy="0"/>
            </a:xfrm>
            <a:custGeom>
              <a:avLst/>
              <a:pathLst>
                <a:path w="4510901" h="0">
                  <a:moveTo>
                    <a:pt x="0" y="0"/>
                  </a:moveTo>
                  <a:lnTo>
                    <a:pt x="4510901" y="0"/>
                  </a:lnTo>
                  <a:lnTo>
                    <a:pt x="451090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666023" y="6167633"/>
              <a:ext cx="4510901" cy="0"/>
            </a:xfrm>
            <a:custGeom>
              <a:avLst/>
              <a:pathLst>
                <a:path w="4510901" h="0">
                  <a:moveTo>
                    <a:pt x="0" y="0"/>
                  </a:moveTo>
                  <a:lnTo>
                    <a:pt x="4510901" y="0"/>
                  </a:lnTo>
                  <a:lnTo>
                    <a:pt x="4510901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871064" y="4384890"/>
              <a:ext cx="4100819" cy="1466114"/>
            </a:xfrm>
            <a:custGeom>
              <a:avLst/>
              <a:pathLst>
                <a:path w="4100819" h="1466114">
                  <a:moveTo>
                    <a:pt x="0" y="0"/>
                  </a:moveTo>
                  <a:lnTo>
                    <a:pt x="1366939" y="424776"/>
                  </a:lnTo>
                  <a:lnTo>
                    <a:pt x="2733879" y="1330382"/>
                  </a:lnTo>
                  <a:lnTo>
                    <a:pt x="4100819" y="1466114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871064" y="4380213"/>
              <a:ext cx="4100819" cy="915007"/>
            </a:xfrm>
            <a:custGeom>
              <a:avLst/>
              <a:pathLst>
                <a:path w="4100819" h="915007">
                  <a:moveTo>
                    <a:pt x="0" y="0"/>
                  </a:moveTo>
                  <a:lnTo>
                    <a:pt x="1366939" y="536545"/>
                  </a:lnTo>
                  <a:lnTo>
                    <a:pt x="2733879" y="915007"/>
                  </a:lnTo>
                  <a:lnTo>
                    <a:pt x="4100819" y="84619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871064" y="4882068"/>
              <a:ext cx="4100819" cy="1285564"/>
            </a:xfrm>
            <a:custGeom>
              <a:avLst/>
              <a:pathLst>
                <a:path w="4100819" h="1285564">
                  <a:moveTo>
                    <a:pt x="0" y="0"/>
                  </a:moveTo>
                  <a:lnTo>
                    <a:pt x="1366939" y="387774"/>
                  </a:lnTo>
                  <a:lnTo>
                    <a:pt x="2733879" y="1224106"/>
                  </a:lnTo>
                  <a:lnTo>
                    <a:pt x="4100819" y="1285564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871064" y="4356764"/>
              <a:ext cx="4100819" cy="13107"/>
            </a:xfrm>
            <a:custGeom>
              <a:avLst/>
              <a:pathLst>
                <a:path w="4100819" h="13107">
                  <a:moveTo>
                    <a:pt x="0" y="2384"/>
                  </a:moveTo>
                  <a:lnTo>
                    <a:pt x="1366939" y="13107"/>
                  </a:lnTo>
                  <a:lnTo>
                    <a:pt x="2733879" y="0"/>
                  </a:lnTo>
                  <a:lnTo>
                    <a:pt x="4100819" y="1419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871064" y="4109809"/>
              <a:ext cx="4100819" cy="157976"/>
            </a:xfrm>
            <a:custGeom>
              <a:avLst/>
              <a:pathLst>
                <a:path w="4100819" h="157976">
                  <a:moveTo>
                    <a:pt x="0" y="0"/>
                  </a:moveTo>
                  <a:lnTo>
                    <a:pt x="1366939" y="77777"/>
                  </a:lnTo>
                  <a:lnTo>
                    <a:pt x="2733879" y="157976"/>
                  </a:lnTo>
                  <a:lnTo>
                    <a:pt x="4100819" y="74359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871064" y="4155081"/>
              <a:ext cx="4100819" cy="7095"/>
            </a:xfrm>
            <a:custGeom>
              <a:avLst/>
              <a:pathLst>
                <a:path w="4100819" h="7095">
                  <a:moveTo>
                    <a:pt x="0" y="0"/>
                  </a:moveTo>
                  <a:lnTo>
                    <a:pt x="1366939" y="976"/>
                  </a:lnTo>
                  <a:lnTo>
                    <a:pt x="2733879" y="3012"/>
                  </a:lnTo>
                  <a:lnTo>
                    <a:pt x="4100819" y="7095"/>
                  </a:lnTo>
                </a:path>
              </a:pathLst>
            </a:custGeom>
            <a:ln w="1897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847057" y="4360883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2213996" y="4785659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580936" y="5691265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947876" y="5826997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847057" y="4356205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2213996" y="4892751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580936" y="5271213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4947876" y="5202396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847057" y="4131074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2213996" y="4132050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580936" y="4134086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4947876" y="4138169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847057" y="4085801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2213996" y="4163578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580936" y="4243777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4947876" y="4160161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847057" y="4858060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2213996" y="5245835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580936" y="6082166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947876" y="6143625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847057" y="4335141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213996" y="4345864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3580936" y="4332757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4947876" y="4334176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666023" y="4006917"/>
              <a:ext cx="0" cy="2263606"/>
            </a:xfrm>
            <a:custGeom>
              <a:avLst/>
              <a:pathLst>
                <a:path w="0" h="2263606">
                  <a:moveTo>
                    <a:pt x="0" y="2263606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tx208"/>
            <p:cNvSpPr/>
            <p:nvPr/>
          </p:nvSpPr>
          <p:spPr>
            <a:xfrm>
              <a:off x="564031" y="6134943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513282" y="5518793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513282" y="4902643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513282" y="4286493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12" name="pl212"/>
            <p:cNvSpPr/>
            <p:nvPr/>
          </p:nvSpPr>
          <p:spPr>
            <a:xfrm>
              <a:off x="637555" y="616763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637555" y="555148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637555" y="493533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637555" y="431918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666023" y="6270524"/>
              <a:ext cx="4510901" cy="0"/>
            </a:xfrm>
            <a:custGeom>
              <a:avLst/>
              <a:pathLst>
                <a:path w="4510901" h="0">
                  <a:moveTo>
                    <a:pt x="0" y="0"/>
                  </a:moveTo>
                  <a:lnTo>
                    <a:pt x="4510901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871064" y="627052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2238004" y="627052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3604944" y="627052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4971884" y="627052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tx221"/>
            <p:cNvSpPr/>
            <p:nvPr/>
          </p:nvSpPr>
          <p:spPr>
            <a:xfrm>
              <a:off x="845690" y="6321767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2187255" y="6321767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3554195" y="6321767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4921134" y="6321767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2108527" y="6434726"/>
              <a:ext cx="162589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Accumulation window W (years)</a:t>
              </a:r>
            </a:p>
          </p:txBody>
        </p:sp>
        <p:sp>
          <p:nvSpPr>
            <p:cNvPr id="226" name="tx226"/>
            <p:cNvSpPr/>
            <p:nvPr/>
          </p:nvSpPr>
          <p:spPr>
            <a:xfrm rot="-5400000">
              <a:off x="-319811" y="5097801"/>
              <a:ext cx="142884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Delta AIC (common row set)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666023" y="3741223"/>
              <a:ext cx="3348807" cy="74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All fits share one row set (n = 175,901), so AIC is comparable throughout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666023" y="3566604"/>
              <a:ext cx="410154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Heat-exposure moderation is the best specification at every window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335423" y="3564689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230" name="rc230"/>
            <p:cNvSpPr/>
            <p:nvPr/>
          </p:nvSpPr>
          <p:spPr>
            <a:xfrm>
              <a:off x="5742449" y="4006917"/>
              <a:ext cx="4510901" cy="22636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5742449" y="5858541"/>
              <a:ext cx="4510901" cy="0"/>
            </a:xfrm>
            <a:custGeom>
              <a:avLst/>
              <a:pathLst>
                <a:path w="4510901" h="0">
                  <a:moveTo>
                    <a:pt x="0" y="0"/>
                  </a:moveTo>
                  <a:lnTo>
                    <a:pt x="4510901" y="0"/>
                  </a:lnTo>
                  <a:lnTo>
                    <a:pt x="451090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5742449" y="5199097"/>
              <a:ext cx="4510901" cy="0"/>
            </a:xfrm>
            <a:custGeom>
              <a:avLst/>
              <a:pathLst>
                <a:path w="4510901" h="0">
                  <a:moveTo>
                    <a:pt x="0" y="0"/>
                  </a:moveTo>
                  <a:lnTo>
                    <a:pt x="4510901" y="0"/>
                  </a:lnTo>
                  <a:lnTo>
                    <a:pt x="451090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5742449" y="4539653"/>
              <a:ext cx="4510901" cy="0"/>
            </a:xfrm>
            <a:custGeom>
              <a:avLst/>
              <a:pathLst>
                <a:path w="4510901" h="0">
                  <a:moveTo>
                    <a:pt x="0" y="0"/>
                  </a:moveTo>
                  <a:lnTo>
                    <a:pt x="4510901" y="0"/>
                  </a:lnTo>
                  <a:lnTo>
                    <a:pt x="451090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5742449" y="5724766"/>
              <a:ext cx="4510901" cy="0"/>
            </a:xfrm>
            <a:custGeom>
              <a:avLst/>
              <a:pathLst>
                <a:path w="4510901" h="0">
                  <a:moveTo>
                    <a:pt x="0" y="0"/>
                  </a:moveTo>
                  <a:lnTo>
                    <a:pt x="4510901" y="0"/>
                  </a:lnTo>
                  <a:lnTo>
                    <a:pt x="4510901" y="0"/>
                  </a:lnTo>
                </a:path>
              </a:pathLst>
            </a:custGeom>
            <a:ln w="9485" cap="flat">
              <a:solidFill>
                <a:srgbClr val="737373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5947490" y="4749761"/>
              <a:ext cx="4100819" cy="975004"/>
            </a:xfrm>
            <a:custGeom>
              <a:avLst/>
              <a:pathLst>
                <a:path w="4100819" h="975004">
                  <a:moveTo>
                    <a:pt x="0" y="0"/>
                  </a:moveTo>
                  <a:lnTo>
                    <a:pt x="1366939" y="159780"/>
                  </a:lnTo>
                  <a:lnTo>
                    <a:pt x="2733879" y="975004"/>
                  </a:lnTo>
                  <a:lnTo>
                    <a:pt x="4100819" y="940561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5947490" y="4109809"/>
              <a:ext cx="4100819" cy="654550"/>
            </a:xfrm>
            <a:custGeom>
              <a:avLst/>
              <a:pathLst>
                <a:path w="4100819" h="654550">
                  <a:moveTo>
                    <a:pt x="0" y="654550"/>
                  </a:moveTo>
                  <a:lnTo>
                    <a:pt x="1366939" y="0"/>
                  </a:lnTo>
                  <a:lnTo>
                    <a:pt x="2733879" y="542884"/>
                  </a:lnTo>
                  <a:lnTo>
                    <a:pt x="4100819" y="618422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5947490" y="5062902"/>
              <a:ext cx="4100819" cy="1104730"/>
            </a:xfrm>
            <a:custGeom>
              <a:avLst/>
              <a:pathLst>
                <a:path w="4100819" h="1104730">
                  <a:moveTo>
                    <a:pt x="0" y="0"/>
                  </a:moveTo>
                  <a:lnTo>
                    <a:pt x="1366939" y="316773"/>
                  </a:lnTo>
                  <a:lnTo>
                    <a:pt x="2733879" y="1104730"/>
                  </a:lnTo>
                  <a:lnTo>
                    <a:pt x="4100819" y="842891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5947490" y="4974596"/>
              <a:ext cx="4100819" cy="31930"/>
            </a:xfrm>
            <a:custGeom>
              <a:avLst/>
              <a:pathLst>
                <a:path w="4100819" h="31930">
                  <a:moveTo>
                    <a:pt x="0" y="15705"/>
                  </a:moveTo>
                  <a:lnTo>
                    <a:pt x="1366939" y="31930"/>
                  </a:lnTo>
                  <a:lnTo>
                    <a:pt x="2733879" y="4429"/>
                  </a:lnTo>
                  <a:lnTo>
                    <a:pt x="4100819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5947490" y="4959158"/>
              <a:ext cx="4100819" cy="75545"/>
            </a:xfrm>
            <a:custGeom>
              <a:avLst/>
              <a:pathLst>
                <a:path w="4100819" h="75545">
                  <a:moveTo>
                    <a:pt x="0" y="75545"/>
                  </a:moveTo>
                  <a:lnTo>
                    <a:pt x="1366939" y="20349"/>
                  </a:lnTo>
                  <a:lnTo>
                    <a:pt x="2733879" y="75502"/>
                  </a:lnTo>
                  <a:lnTo>
                    <a:pt x="4100819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5947490" y="4891213"/>
              <a:ext cx="4100819" cy="36220"/>
            </a:xfrm>
            <a:custGeom>
              <a:avLst/>
              <a:pathLst>
                <a:path w="4100819" h="36220">
                  <a:moveTo>
                    <a:pt x="0" y="36220"/>
                  </a:moveTo>
                  <a:lnTo>
                    <a:pt x="1366939" y="0"/>
                  </a:lnTo>
                  <a:lnTo>
                    <a:pt x="2733879" y="5709"/>
                  </a:lnTo>
                  <a:lnTo>
                    <a:pt x="4100819" y="10947"/>
                  </a:lnTo>
                </a:path>
              </a:pathLst>
            </a:custGeom>
            <a:ln w="1897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923482" y="4725754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7290422" y="4885534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8657362" y="5700758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10024301" y="5666315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5923482" y="4740351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7290422" y="4085801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8657362" y="4628686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10024301" y="4704224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5923482" y="4903425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7290422" y="4867205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8657362" y="4872914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10024301" y="4878153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923482" y="5010695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7290422" y="4955499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8657362" y="5010653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10024301" y="4935150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923482" y="5038895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7290422" y="5355668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8657362" y="6143625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10024301" y="5881786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923482" y="4966293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7290422" y="4982519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8657362" y="4955018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0024301" y="4950588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5742449" y="4006917"/>
              <a:ext cx="0" cy="2263606"/>
            </a:xfrm>
            <a:custGeom>
              <a:avLst/>
              <a:pathLst>
                <a:path w="0" h="2263606">
                  <a:moveTo>
                    <a:pt x="0" y="2263606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tx266"/>
            <p:cNvSpPr/>
            <p:nvPr/>
          </p:nvSpPr>
          <p:spPr>
            <a:xfrm>
              <a:off x="5513630" y="5825851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0.80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5513630" y="5166407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0.82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5513630" y="4506963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0.84</a:t>
              </a:r>
            </a:p>
          </p:txBody>
        </p:sp>
        <p:sp>
          <p:nvSpPr>
            <p:cNvPr id="269" name="pl269"/>
            <p:cNvSpPr/>
            <p:nvPr/>
          </p:nvSpPr>
          <p:spPr>
            <a:xfrm>
              <a:off x="5713981" y="585854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5713981" y="519909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5713981" y="453965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5742449" y="6270524"/>
              <a:ext cx="4510901" cy="0"/>
            </a:xfrm>
            <a:custGeom>
              <a:avLst/>
              <a:pathLst>
                <a:path w="4510901" h="0">
                  <a:moveTo>
                    <a:pt x="0" y="0"/>
                  </a:moveTo>
                  <a:lnTo>
                    <a:pt x="4510901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5947490" y="627052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7314430" y="627052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8681369" y="627052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10048309" y="627052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tx277"/>
            <p:cNvSpPr/>
            <p:nvPr/>
          </p:nvSpPr>
          <p:spPr>
            <a:xfrm>
              <a:off x="5922115" y="6321767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7263680" y="6321767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8630620" y="6321767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9997560" y="6321767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7184952" y="6434726"/>
              <a:ext cx="162589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Accumulation window W (years)</a:t>
              </a:r>
            </a:p>
          </p:txBody>
        </p:sp>
        <p:sp>
          <p:nvSpPr>
            <p:cNvPr id="282" name="tx282"/>
            <p:cNvSpPr/>
            <p:nvPr/>
          </p:nvSpPr>
          <p:spPr>
            <a:xfrm rot="-5400000">
              <a:off x="4543787" y="5097801"/>
              <a:ext cx="1752996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SD of the province x year intercept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5742449" y="3741223"/>
              <a:ext cx="4342759" cy="74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Dotted line: the main model at W = 15. Adding heat exposure absorbs province-year variance; 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5742449" y="3853695"/>
              <a:ext cx="2582997" cy="744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the warmest-month proxy leaves more of it unexplained.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5742449" y="3566604"/>
              <a:ext cx="234049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 second criterion, independent of AIC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5357192" y="3564689"/>
              <a:ext cx="9308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287" name="rc287"/>
            <p:cNvSpPr/>
            <p:nvPr/>
          </p:nvSpPr>
          <p:spPr>
            <a:xfrm>
              <a:off x="3540484" y="6679700"/>
              <a:ext cx="3838405" cy="3985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tx288"/>
            <p:cNvSpPr/>
            <p:nvPr/>
          </p:nvSpPr>
          <p:spPr>
            <a:xfrm>
              <a:off x="3597421" y="6845373"/>
              <a:ext cx="620603" cy="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Climate proxy</a:t>
              </a:r>
            </a:p>
          </p:txBody>
        </p:sp>
        <p:sp>
          <p:nvSpPr>
            <p:cNvPr id="289" name="rc289"/>
            <p:cNvSpPr/>
            <p:nvPr/>
          </p:nvSpPr>
          <p:spPr>
            <a:xfrm>
              <a:off x="4274960" y="6736636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4286348" y="6793573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307889" y="6769565"/>
              <a:ext cx="48015" cy="4801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4274960" y="6907446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4286348" y="6964382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4307889" y="6940374"/>
              <a:ext cx="48015" cy="4801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5324478" y="6736636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5335865" y="6793573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5357406" y="6769565"/>
              <a:ext cx="48015" cy="48015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5324478" y="6907446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5335865" y="6964382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5357406" y="6940374"/>
              <a:ext cx="48015" cy="4801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6543433" y="6736636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6554820" y="6793573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6576362" y="6769565"/>
              <a:ext cx="48015" cy="4801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6543433" y="6907446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6554820" y="6964382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6576362" y="6940374"/>
              <a:ext cx="48015" cy="48015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7363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tx307"/>
            <p:cNvSpPr/>
            <p:nvPr/>
          </p:nvSpPr>
          <p:spPr>
            <a:xfrm>
              <a:off x="4445770" y="6761752"/>
              <a:ext cx="80074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Annual mean (main)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4445770" y="6932561"/>
              <a:ext cx="82177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Warmest-month max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5495287" y="6761752"/>
              <a:ext cx="99120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Annual mean + exposure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5495287" y="6932561"/>
              <a:ext cx="57835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Heat exposure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6714243" y="6761752"/>
              <a:ext cx="56336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Niche tracking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6714243" y="6932561"/>
              <a:ext cx="60771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Niche proximity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2026-07-28T10:07:42Z</dcterms:modified>
  <cp:category/>
</cp:coreProperties>
</file>