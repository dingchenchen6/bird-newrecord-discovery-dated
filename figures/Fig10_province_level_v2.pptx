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182880" y="182880"/>
            <a:ext cx="10972800" cy="7315200"/>
            <a:chOff x="182880" y="182880"/>
            <a:chExt cx="10972800" cy="7315200"/>
          </a:xfrm>
        </p:grpSpPr>
        <p:sp>
          <p:nvSpPr>
            <p:cNvPr id="3" name="rc3"/>
            <p:cNvSpPr/>
            <p:nvPr/>
          </p:nvSpPr>
          <p:spPr>
            <a:xfrm>
              <a:off x="182880" y="182880"/>
              <a:ext cx="10972800" cy="73152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182880" y="182880"/>
              <a:ext cx="10972799" cy="731519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252469" y="252469"/>
              <a:ext cx="5416810" cy="4025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5669279" y="252469"/>
              <a:ext cx="5416810" cy="4025113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900092" y="1163840"/>
              <a:ext cx="1745629" cy="193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900092" y="3102108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00092" y="2558578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1900092" y="2015048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1900092" y="1471518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2063744" y="1459508"/>
              <a:ext cx="327305" cy="1642599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609253" y="1762214"/>
              <a:ext cx="327305" cy="1339893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54763" y="1651951"/>
              <a:ext cx="327305" cy="1450157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tx15"/>
            <p:cNvSpPr/>
            <p:nvPr/>
          </p:nvSpPr>
          <p:spPr>
            <a:xfrm>
              <a:off x="2089368" y="1372233"/>
              <a:ext cx="27605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302.21</a:t>
              </a:r>
            </a:p>
          </p:txBody>
        </p:sp>
        <p:sp>
          <p:nvSpPr>
            <p:cNvPr id="16" name="tx16"/>
            <p:cNvSpPr/>
            <p:nvPr/>
          </p:nvSpPr>
          <p:spPr>
            <a:xfrm>
              <a:off x="2634878" y="1674939"/>
              <a:ext cx="27605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246.52</a:t>
              </a:r>
            </a:p>
          </p:txBody>
        </p:sp>
        <p:sp>
          <p:nvSpPr>
            <p:cNvPr id="17" name="tx17"/>
            <p:cNvSpPr/>
            <p:nvPr/>
          </p:nvSpPr>
          <p:spPr>
            <a:xfrm>
              <a:off x="3180387" y="1564676"/>
              <a:ext cx="276057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266.80</a:t>
              </a:r>
            </a:p>
          </p:txBody>
        </p:sp>
        <p:sp>
          <p:nvSpPr>
            <p:cNvPr id="18" name="rc18"/>
            <p:cNvSpPr/>
            <p:nvPr/>
          </p:nvSpPr>
          <p:spPr>
            <a:xfrm>
              <a:off x="3822430" y="1163840"/>
              <a:ext cx="1745629" cy="193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822430" y="3102108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3822430" y="2515977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3822430" y="1929846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3822430" y="1343715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rc23"/>
            <p:cNvSpPr/>
            <p:nvPr/>
          </p:nvSpPr>
          <p:spPr>
            <a:xfrm>
              <a:off x="3986083" y="1459508"/>
              <a:ext cx="327305" cy="1642599"/>
            </a:xfrm>
            <a:prstGeom prst="rect">
              <a:avLst/>
            </a:prstGeom>
            <a:solidFill>
              <a:srgbClr val="99999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4" name="rc24"/>
            <p:cNvSpPr/>
            <p:nvPr/>
          </p:nvSpPr>
          <p:spPr>
            <a:xfrm>
              <a:off x="4531592" y="2739865"/>
              <a:ext cx="327305" cy="362243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5" name="rc25"/>
            <p:cNvSpPr/>
            <p:nvPr/>
          </p:nvSpPr>
          <p:spPr>
            <a:xfrm>
              <a:off x="5077101" y="2657377"/>
              <a:ext cx="327305" cy="444731"/>
            </a:xfrm>
            <a:prstGeom prst="rect">
              <a:avLst/>
            </a:prstGeom>
            <a:solidFill>
              <a:srgbClr val="009E7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3822430" y="2809043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  <a:lnTo>
                    <a:pt x="1745629" y="0"/>
                  </a:lnTo>
                </a:path>
              </a:pathLst>
            </a:custGeom>
            <a:ln w="9485" cap="flat">
              <a:solidFill>
                <a:srgbClr val="737373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tx27"/>
            <p:cNvSpPr/>
            <p:nvPr/>
          </p:nvSpPr>
          <p:spPr>
            <a:xfrm>
              <a:off x="4061907" y="1372233"/>
              <a:ext cx="17565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5.60</a:t>
              </a:r>
            </a:p>
          </p:txBody>
        </p:sp>
        <p:sp>
          <p:nvSpPr>
            <p:cNvPr id="28" name="tx28"/>
            <p:cNvSpPr/>
            <p:nvPr/>
          </p:nvSpPr>
          <p:spPr>
            <a:xfrm>
              <a:off x="4607416" y="2652590"/>
              <a:ext cx="17565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1.24</a:t>
              </a:r>
            </a:p>
          </p:txBody>
        </p:sp>
        <p:sp>
          <p:nvSpPr>
            <p:cNvPr id="29" name="tx29"/>
            <p:cNvSpPr/>
            <p:nvPr/>
          </p:nvSpPr>
          <p:spPr>
            <a:xfrm>
              <a:off x="5152925" y="2570102"/>
              <a:ext cx="175656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333333">
                      <a:alpha val="100000"/>
                    </a:srgbClr>
                  </a:solidFill>
                  <a:latin typeface="Arial"/>
                  <a:cs typeface="Arial"/>
                </a:rPr>
                <a:t>1.52</a:t>
              </a:r>
            </a:p>
          </p:txBody>
        </p:sp>
        <p:sp>
          <p:nvSpPr>
            <p:cNvPr id="30" name="pl30"/>
            <p:cNvSpPr/>
            <p:nvPr/>
          </p:nvSpPr>
          <p:spPr>
            <a:xfrm>
              <a:off x="3822430" y="1163840"/>
              <a:ext cx="0" cy="1938267"/>
            </a:xfrm>
            <a:custGeom>
              <a:avLst/>
              <a:pathLst>
                <a:path w="0" h="1938267">
                  <a:moveTo>
                    <a:pt x="0" y="193826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708984" y="306571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3708984" y="2479584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708984" y="189345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3708984" y="1307322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6</a:t>
              </a:r>
            </a:p>
          </p:txBody>
        </p:sp>
        <p:sp>
          <p:nvSpPr>
            <p:cNvPr id="35" name="pl35"/>
            <p:cNvSpPr/>
            <p:nvPr/>
          </p:nvSpPr>
          <p:spPr>
            <a:xfrm>
              <a:off x="3790799" y="310210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790799" y="2515977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790799" y="192984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790799" y="1343715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1950702" y="1008897"/>
              <a:ext cx="1270741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AICc (lower is better)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73040" y="1008897"/>
              <a:ext cx="1313169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Dispersion (1 is ideal)</a:t>
              </a:r>
            </a:p>
          </p:txBody>
        </p:sp>
        <p:sp>
          <p:nvSpPr>
            <p:cNvPr id="41" name="pl41"/>
            <p:cNvSpPr/>
            <p:nvPr/>
          </p:nvSpPr>
          <p:spPr>
            <a:xfrm>
              <a:off x="1900092" y="3102108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2227397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2772906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3318415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tx45"/>
            <p:cNvSpPr/>
            <p:nvPr/>
          </p:nvSpPr>
          <p:spPr>
            <a:xfrm rot="-960000">
              <a:off x="1654665" y="3239537"/>
              <a:ext cx="59298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Poisson (main)</a:t>
              </a:r>
            </a:p>
          </p:txBody>
        </p:sp>
        <p:sp>
          <p:nvSpPr>
            <p:cNvPr id="46" name="tx46"/>
            <p:cNvSpPr/>
            <p:nvPr/>
          </p:nvSpPr>
          <p:spPr>
            <a:xfrm rot="-960000">
              <a:off x="1817199" y="3293360"/>
              <a:ext cx="98352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Negative binomial (main)</a:t>
              </a:r>
            </a:p>
          </p:txBody>
        </p:sp>
        <p:sp>
          <p:nvSpPr>
            <p:cNvPr id="47" name="tx47"/>
            <p:cNvSpPr/>
            <p:nvPr/>
          </p:nvSpPr>
          <p:spPr>
            <a:xfrm rot="-960000">
              <a:off x="1735922" y="3381449"/>
              <a:ext cx="162269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Negative binomial (recent effort as offset)</a:t>
              </a:r>
            </a:p>
          </p:txBody>
        </p:sp>
        <p:sp>
          <p:nvSpPr>
            <p:cNvPr id="48" name="pl48"/>
            <p:cNvSpPr/>
            <p:nvPr/>
          </p:nvSpPr>
          <p:spPr>
            <a:xfrm>
              <a:off x="3822430" y="3102108"/>
              <a:ext cx="1745629" cy="0"/>
            </a:xfrm>
            <a:custGeom>
              <a:avLst/>
              <a:pathLst>
                <a:path w="1745629" h="0">
                  <a:moveTo>
                    <a:pt x="0" y="0"/>
                  </a:moveTo>
                  <a:lnTo>
                    <a:pt x="1745629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4149735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4695245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5240754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tx52"/>
            <p:cNvSpPr/>
            <p:nvPr/>
          </p:nvSpPr>
          <p:spPr>
            <a:xfrm rot="-960000">
              <a:off x="3577004" y="3239537"/>
              <a:ext cx="59298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Poisson (main)</a:t>
              </a:r>
            </a:p>
          </p:txBody>
        </p:sp>
        <p:sp>
          <p:nvSpPr>
            <p:cNvPr id="53" name="tx53"/>
            <p:cNvSpPr/>
            <p:nvPr/>
          </p:nvSpPr>
          <p:spPr>
            <a:xfrm rot="-960000">
              <a:off x="3739537" y="3293360"/>
              <a:ext cx="983528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Negative binomial (main)</a:t>
              </a:r>
            </a:p>
          </p:txBody>
        </p:sp>
        <p:sp>
          <p:nvSpPr>
            <p:cNvPr id="54" name="tx54"/>
            <p:cNvSpPr/>
            <p:nvPr/>
          </p:nvSpPr>
          <p:spPr>
            <a:xfrm rot="-960000">
              <a:off x="3658261" y="3381449"/>
              <a:ext cx="1622694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Negative binomial (recent effort as offset)</a:t>
              </a:r>
            </a:p>
          </p:txBody>
        </p:sp>
        <p:sp>
          <p:nvSpPr>
            <p:cNvPr id="55" name="pl55"/>
            <p:cNvSpPr/>
            <p:nvPr/>
          </p:nvSpPr>
          <p:spPr>
            <a:xfrm>
              <a:off x="1900092" y="1163840"/>
              <a:ext cx="0" cy="1938267"/>
            </a:xfrm>
            <a:custGeom>
              <a:avLst/>
              <a:pathLst>
                <a:path w="0" h="1938267">
                  <a:moveTo>
                    <a:pt x="0" y="193826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tx56"/>
            <p:cNvSpPr/>
            <p:nvPr/>
          </p:nvSpPr>
          <p:spPr>
            <a:xfrm>
              <a:off x="1786645" y="3065715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57" name="tx57"/>
            <p:cNvSpPr/>
            <p:nvPr/>
          </p:nvSpPr>
          <p:spPr>
            <a:xfrm>
              <a:off x="1673625" y="2522185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8" name="tx58"/>
            <p:cNvSpPr/>
            <p:nvPr/>
          </p:nvSpPr>
          <p:spPr>
            <a:xfrm>
              <a:off x="1673625" y="1978655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59" name="tx59"/>
            <p:cNvSpPr/>
            <p:nvPr/>
          </p:nvSpPr>
          <p:spPr>
            <a:xfrm>
              <a:off x="1673625" y="1435125"/>
              <a:ext cx="16952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60" name="pl60"/>
            <p:cNvSpPr/>
            <p:nvPr/>
          </p:nvSpPr>
          <p:spPr>
            <a:xfrm>
              <a:off x="1868460" y="310210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1868460" y="255857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1868460" y="201504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868460" y="147151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tx64"/>
            <p:cNvSpPr/>
            <p:nvPr/>
          </p:nvSpPr>
          <p:spPr>
            <a:xfrm>
              <a:off x="1900092" y="773500"/>
              <a:ext cx="4596231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Poisson dispersion 5.60 (P = 2.3e-17); the negative binomial reduces it to 1.24 (P = 0.20)</a:t>
              </a:r>
            </a:p>
          </p:txBody>
        </p:sp>
        <p:sp>
          <p:nvSpPr>
            <p:cNvPr id="65" name="tx65"/>
            <p:cNvSpPr/>
            <p:nvPr/>
          </p:nvSpPr>
          <p:spPr>
            <a:xfrm>
              <a:off x="1900092" y="328384"/>
              <a:ext cx="2943270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Poisson is rejected, negative binomial is not</a:t>
              </a:r>
            </a:p>
          </p:txBody>
        </p:sp>
        <p:sp>
          <p:nvSpPr>
            <p:cNvPr id="66" name="tx66"/>
            <p:cNvSpPr/>
            <p:nvPr/>
          </p:nvSpPr>
          <p:spPr>
            <a:xfrm>
              <a:off x="333858" y="327367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67" name="rc67"/>
            <p:cNvSpPr/>
            <p:nvPr/>
          </p:nvSpPr>
          <p:spPr>
            <a:xfrm>
              <a:off x="7316903" y="1163840"/>
              <a:ext cx="1802352" cy="193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412955" y="1163840"/>
              <a:ext cx="0" cy="1938267"/>
            </a:xfrm>
            <a:custGeom>
              <a:avLst/>
              <a:pathLst>
                <a:path w="0" h="1938267">
                  <a:moveTo>
                    <a:pt x="0" y="19382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7995318" y="2914534"/>
              <a:ext cx="618140" cy="0"/>
            </a:xfrm>
            <a:custGeom>
              <a:avLst/>
              <a:pathLst>
                <a:path w="618140" h="0">
                  <a:moveTo>
                    <a:pt x="0" y="0"/>
                  </a:moveTo>
                  <a:lnTo>
                    <a:pt x="618140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7911324" y="2601910"/>
              <a:ext cx="815430" cy="0"/>
            </a:xfrm>
            <a:custGeom>
              <a:avLst/>
              <a:pathLst>
                <a:path w="815430" h="0">
                  <a:moveTo>
                    <a:pt x="0" y="0"/>
                  </a:moveTo>
                  <a:lnTo>
                    <a:pt x="815430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432514" y="1351414"/>
              <a:ext cx="545585" cy="0"/>
            </a:xfrm>
            <a:custGeom>
              <a:avLst/>
              <a:pathLst>
                <a:path w="545585" h="0">
                  <a:moveTo>
                    <a:pt x="0" y="0"/>
                  </a:moveTo>
                  <a:lnTo>
                    <a:pt x="545585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151457" y="1976662"/>
              <a:ext cx="750029" cy="0"/>
            </a:xfrm>
            <a:custGeom>
              <a:avLst/>
              <a:pathLst>
                <a:path w="750029" h="0">
                  <a:moveTo>
                    <a:pt x="0" y="0"/>
                  </a:moveTo>
                  <a:lnTo>
                    <a:pt x="750029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336100" y="1664038"/>
              <a:ext cx="549068" cy="0"/>
            </a:xfrm>
            <a:custGeom>
              <a:avLst/>
              <a:pathLst>
                <a:path w="549068" h="0">
                  <a:moveTo>
                    <a:pt x="0" y="0"/>
                  </a:moveTo>
                  <a:lnTo>
                    <a:pt x="549068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190153" y="2289286"/>
              <a:ext cx="426666" cy="0"/>
            </a:xfrm>
            <a:custGeom>
              <a:avLst/>
              <a:pathLst>
                <a:path w="426666" h="0">
                  <a:moveTo>
                    <a:pt x="0" y="0"/>
                  </a:moveTo>
                  <a:lnTo>
                    <a:pt x="426666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8273196" y="2883342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8287847" y="2570718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8674115" y="1320222"/>
              <a:ext cx="62384" cy="62384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8495279" y="1945470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8579442" y="1632846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8372294" y="2258094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tx81"/>
            <p:cNvSpPr/>
            <p:nvPr/>
          </p:nvSpPr>
          <p:spPr>
            <a:xfrm>
              <a:off x="8227121" y="2803626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0.92</a:t>
              </a:r>
            </a:p>
          </p:txBody>
        </p:sp>
        <p:sp>
          <p:nvSpPr>
            <p:cNvPr id="82" name="tx82"/>
            <p:cNvSpPr/>
            <p:nvPr/>
          </p:nvSpPr>
          <p:spPr>
            <a:xfrm>
              <a:off x="8241772" y="2491002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0.93</a:t>
              </a:r>
            </a:p>
          </p:txBody>
        </p:sp>
        <p:sp>
          <p:nvSpPr>
            <p:cNvPr id="83" name="tx83"/>
            <p:cNvSpPr/>
            <p:nvPr/>
          </p:nvSpPr>
          <p:spPr>
            <a:xfrm>
              <a:off x="8628040" y="1240507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1.27</a:t>
              </a:r>
            </a:p>
          </p:txBody>
        </p:sp>
        <p:sp>
          <p:nvSpPr>
            <p:cNvPr id="84" name="tx84"/>
            <p:cNvSpPr/>
            <p:nvPr/>
          </p:nvSpPr>
          <p:spPr>
            <a:xfrm>
              <a:off x="8449204" y="1865755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1.10</a:t>
              </a:r>
            </a:p>
          </p:txBody>
        </p:sp>
        <p:sp>
          <p:nvSpPr>
            <p:cNvPr id="85" name="tx85"/>
            <p:cNvSpPr/>
            <p:nvPr/>
          </p:nvSpPr>
          <p:spPr>
            <a:xfrm>
              <a:off x="8533368" y="1553131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1.17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8326220" y="2178378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0.99</a:t>
              </a:r>
            </a:p>
          </p:txBody>
        </p:sp>
        <p:sp>
          <p:nvSpPr>
            <p:cNvPr id="87" name="rc87"/>
            <p:cNvSpPr/>
            <p:nvPr/>
          </p:nvSpPr>
          <p:spPr>
            <a:xfrm>
              <a:off x="9182518" y="1163840"/>
              <a:ext cx="1802352" cy="193826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10278570" y="1163840"/>
              <a:ext cx="0" cy="1938267"/>
            </a:xfrm>
            <a:custGeom>
              <a:avLst/>
              <a:pathLst>
                <a:path w="0" h="1938267">
                  <a:moveTo>
                    <a:pt x="0" y="1938267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89" name="pl89"/>
            <p:cNvSpPr/>
            <p:nvPr/>
          </p:nvSpPr>
          <p:spPr>
            <a:xfrm>
              <a:off x="9468884" y="2914534"/>
              <a:ext cx="763842" cy="0"/>
            </a:xfrm>
            <a:custGeom>
              <a:avLst/>
              <a:pathLst>
                <a:path w="763842" h="0">
                  <a:moveTo>
                    <a:pt x="0" y="0"/>
                  </a:moveTo>
                  <a:lnTo>
                    <a:pt x="763842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9772311" y="1351414"/>
              <a:ext cx="729355" cy="0"/>
            </a:xfrm>
            <a:custGeom>
              <a:avLst/>
              <a:pathLst>
                <a:path w="729355" h="0">
                  <a:moveTo>
                    <a:pt x="0" y="0"/>
                  </a:moveTo>
                  <a:lnTo>
                    <a:pt x="729355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9264443" y="1976662"/>
              <a:ext cx="800980" cy="0"/>
            </a:xfrm>
            <a:custGeom>
              <a:avLst/>
              <a:pathLst>
                <a:path w="800980" h="0">
                  <a:moveTo>
                    <a:pt x="0" y="0"/>
                  </a:moveTo>
                  <a:lnTo>
                    <a:pt x="800980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10113078" y="1664038"/>
              <a:ext cx="789867" cy="0"/>
            </a:xfrm>
            <a:custGeom>
              <a:avLst/>
              <a:pathLst>
                <a:path w="789867" h="0">
                  <a:moveTo>
                    <a:pt x="0" y="0"/>
                  </a:moveTo>
                  <a:lnTo>
                    <a:pt x="789867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l93"/>
            <p:cNvSpPr/>
            <p:nvPr/>
          </p:nvSpPr>
          <p:spPr>
            <a:xfrm>
              <a:off x="10008800" y="2289286"/>
              <a:ext cx="616868" cy="0"/>
            </a:xfrm>
            <a:custGeom>
              <a:avLst/>
              <a:pathLst>
                <a:path w="616868" h="0">
                  <a:moveTo>
                    <a:pt x="0" y="0"/>
                  </a:moveTo>
                  <a:lnTo>
                    <a:pt x="616868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9819613" y="2883342"/>
              <a:ext cx="62384" cy="62384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10105796" y="1320222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9633741" y="1945470"/>
              <a:ext cx="62384" cy="62384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10476819" y="1632846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10286042" y="2258094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tx99"/>
            <p:cNvSpPr/>
            <p:nvPr/>
          </p:nvSpPr>
          <p:spPr>
            <a:xfrm>
              <a:off x="9773538" y="2803626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0.71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10059722" y="1240507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0.89</a:t>
              </a:r>
            </a:p>
          </p:txBody>
        </p:sp>
        <p:sp>
          <p:nvSpPr>
            <p:cNvPr id="101" name="tx101"/>
            <p:cNvSpPr/>
            <p:nvPr/>
          </p:nvSpPr>
          <p:spPr>
            <a:xfrm>
              <a:off x="9587666" y="1865755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0.61</a:t>
              </a:r>
            </a:p>
          </p:txBody>
        </p:sp>
        <p:sp>
          <p:nvSpPr>
            <p:cNvPr id="102" name="tx102"/>
            <p:cNvSpPr/>
            <p:nvPr/>
          </p:nvSpPr>
          <p:spPr>
            <a:xfrm>
              <a:off x="10430745" y="1553131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1.20</a:t>
              </a:r>
            </a:p>
          </p:txBody>
        </p:sp>
        <p:sp>
          <p:nvSpPr>
            <p:cNvPr id="103" name="tx103"/>
            <p:cNvSpPr/>
            <p:nvPr/>
          </p:nvSpPr>
          <p:spPr>
            <a:xfrm>
              <a:off x="10239967" y="2178378"/>
              <a:ext cx="154533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1.03</a:t>
              </a:r>
            </a:p>
          </p:txBody>
        </p:sp>
        <p:sp>
          <p:nvSpPr>
            <p:cNvPr id="104" name="tx104"/>
            <p:cNvSpPr/>
            <p:nvPr/>
          </p:nvSpPr>
          <p:spPr>
            <a:xfrm>
              <a:off x="7367513" y="1008897"/>
              <a:ext cx="43735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Counts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9233128" y="1008897"/>
              <a:ext cx="1708282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1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Rate per unit of recent effort</a:t>
              </a:r>
            </a:p>
          </p:txBody>
        </p:sp>
        <p:sp>
          <p:nvSpPr>
            <p:cNvPr id="106" name="pl106"/>
            <p:cNvSpPr/>
            <p:nvPr/>
          </p:nvSpPr>
          <p:spPr>
            <a:xfrm>
              <a:off x="7316903" y="3102108"/>
              <a:ext cx="1802352" cy="0"/>
            </a:xfrm>
            <a:custGeom>
              <a:avLst/>
              <a:pathLst>
                <a:path w="1802352" h="0">
                  <a:moveTo>
                    <a:pt x="0" y="0"/>
                  </a:moveTo>
                  <a:lnTo>
                    <a:pt x="1802352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7556455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7972223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412955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tx110"/>
            <p:cNvSpPr/>
            <p:nvPr/>
          </p:nvSpPr>
          <p:spPr>
            <a:xfrm>
              <a:off x="7485818" y="315904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11" name="tx111"/>
            <p:cNvSpPr/>
            <p:nvPr/>
          </p:nvSpPr>
          <p:spPr>
            <a:xfrm>
              <a:off x="7901586" y="315904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0.7</a:t>
              </a:r>
            </a:p>
          </p:txBody>
        </p:sp>
        <p:sp>
          <p:nvSpPr>
            <p:cNvPr id="112" name="tx112"/>
            <p:cNvSpPr/>
            <p:nvPr/>
          </p:nvSpPr>
          <p:spPr>
            <a:xfrm>
              <a:off x="8342317" y="315904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13" name="pl113"/>
            <p:cNvSpPr/>
            <p:nvPr/>
          </p:nvSpPr>
          <p:spPr>
            <a:xfrm>
              <a:off x="9182518" y="3102108"/>
              <a:ext cx="1802352" cy="0"/>
            </a:xfrm>
            <a:custGeom>
              <a:avLst/>
              <a:pathLst>
                <a:path w="1802352" h="0">
                  <a:moveTo>
                    <a:pt x="0" y="0"/>
                  </a:moveTo>
                  <a:lnTo>
                    <a:pt x="1802352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9422070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9837838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10278570" y="3102108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tx117"/>
            <p:cNvSpPr/>
            <p:nvPr/>
          </p:nvSpPr>
          <p:spPr>
            <a:xfrm>
              <a:off x="9351433" y="315904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118" name="tx118"/>
            <p:cNvSpPr/>
            <p:nvPr/>
          </p:nvSpPr>
          <p:spPr>
            <a:xfrm>
              <a:off x="9767201" y="315904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0.7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0207932" y="3159044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120" name="pl120"/>
            <p:cNvSpPr/>
            <p:nvPr/>
          </p:nvSpPr>
          <p:spPr>
            <a:xfrm>
              <a:off x="7316903" y="1163840"/>
              <a:ext cx="0" cy="1938267"/>
            </a:xfrm>
            <a:custGeom>
              <a:avLst/>
              <a:pathLst>
                <a:path w="0" h="1938267">
                  <a:moveTo>
                    <a:pt x="0" y="1938267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tx121"/>
            <p:cNvSpPr/>
            <p:nvPr/>
          </p:nvSpPr>
          <p:spPr>
            <a:xfrm>
              <a:off x="5860934" y="2878141"/>
              <a:ext cx="139903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Early survey effort (2002-2008)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5770500" y="2565517"/>
              <a:ext cx="14894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Recent survey effort (2009-2024)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6293902" y="2252893"/>
              <a:ext cx="9660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6567125" y="1940269"/>
              <a:ext cx="69284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GDP per capita</a:t>
              </a:r>
            </a:p>
          </p:txBody>
        </p:sp>
        <p:sp>
          <p:nvSpPr>
            <p:cNvPr id="125" name="tx125"/>
            <p:cNvSpPr/>
            <p:nvPr/>
          </p:nvSpPr>
          <p:spPr>
            <a:xfrm>
              <a:off x="6390189" y="1627645"/>
              <a:ext cx="86977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Administrative area</a:t>
              </a:r>
            </a:p>
          </p:txBody>
        </p:sp>
        <p:sp>
          <p:nvSpPr>
            <p:cNvPr id="126" name="tx126"/>
            <p:cNvSpPr/>
            <p:nvPr/>
          </p:nvSpPr>
          <p:spPr>
            <a:xfrm>
              <a:off x="6079293" y="1315021"/>
              <a:ext cx="118067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Regional species richness</a:t>
              </a:r>
            </a:p>
          </p:txBody>
        </p:sp>
        <p:sp>
          <p:nvSpPr>
            <p:cNvPr id="127" name="pl127"/>
            <p:cNvSpPr/>
            <p:nvPr/>
          </p:nvSpPr>
          <p:spPr>
            <a:xfrm>
              <a:off x="7285271" y="291453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285271" y="260191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7285271" y="228928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7285271" y="1976662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7285271" y="166403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7285271" y="1351414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tx133"/>
            <p:cNvSpPr/>
            <p:nvPr/>
          </p:nvSpPr>
          <p:spPr>
            <a:xfrm>
              <a:off x="8073815" y="3717059"/>
              <a:ext cx="2154143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Incidence rate ratio per 1 SD (95% CI)</a:t>
              </a:r>
            </a:p>
          </p:txBody>
        </p:sp>
        <p:sp>
          <p:nvSpPr>
            <p:cNvPr id="134" name="rc134"/>
            <p:cNvSpPr/>
            <p:nvPr/>
          </p:nvSpPr>
          <p:spPr>
            <a:xfrm>
              <a:off x="8573401" y="3961268"/>
              <a:ext cx="1154970" cy="2403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5" name="rc135"/>
            <p:cNvSpPr/>
            <p:nvPr/>
          </p:nvSpPr>
          <p:spPr>
            <a:xfrm>
              <a:off x="8636664" y="4024531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648051" y="408146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4905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8662408" y="4050275"/>
              <a:ext cx="62384" cy="62384"/>
            </a:xfrm>
            <a:prstGeom prst="ellipse">
              <a:avLst/>
            </a:prstGeom>
            <a:solidFill>
              <a:srgbClr val="999999">
                <a:alpha val="100000"/>
              </a:srgbClr>
            </a:solidFill>
            <a:ln w="8181" cap="rnd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rc138"/>
            <p:cNvSpPr/>
            <p:nvPr/>
          </p:nvSpPr>
          <p:spPr>
            <a:xfrm>
              <a:off x="9061223" y="4024531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9072610" y="4081467"/>
              <a:ext cx="91098" cy="0"/>
            </a:xfrm>
            <a:custGeom>
              <a:avLst/>
              <a:pathLst>
                <a:path w="91098" h="0">
                  <a:moveTo>
                    <a:pt x="0" y="0"/>
                  </a:moveTo>
                  <a:lnTo>
                    <a:pt x="91098" y="0"/>
                  </a:lnTo>
                </a:path>
              </a:pathLst>
            </a:custGeom>
            <a:ln w="14905" cap="flat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9086967" y="4050275"/>
              <a:ext cx="62384" cy="62384"/>
            </a:xfrm>
            <a:prstGeom prst="ellipse">
              <a:avLst/>
            </a:prstGeom>
            <a:solidFill>
              <a:srgbClr val="D55E00">
                <a:alpha val="100000"/>
              </a:srgbClr>
            </a:solidFill>
            <a:ln w="8181" cap="rnd">
              <a:solidFill>
                <a:srgbClr val="D55E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tx141"/>
            <p:cNvSpPr/>
            <p:nvPr/>
          </p:nvSpPr>
          <p:spPr>
            <a:xfrm>
              <a:off x="8813800" y="4040548"/>
              <a:ext cx="18416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n.s.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9238358" y="4040548"/>
              <a:ext cx="426750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 &lt; 0.05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7316903" y="521126"/>
              <a:ext cx="326431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Left: both efforts as predictors. Right: recent effort as an offset, 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7316903" y="647313"/>
              <a:ext cx="281406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so the response is the discovery rate per unit of effort. 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7316903" y="773500"/>
              <a:ext cx="3594140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Provinces already well covered in 2002-2008 then yield fewer records</a:t>
              </a:r>
            </a:p>
          </p:txBody>
        </p:sp>
        <p:sp>
          <p:nvSpPr>
            <p:cNvPr id="146" name="tx146"/>
            <p:cNvSpPr/>
            <p:nvPr/>
          </p:nvSpPr>
          <p:spPr>
            <a:xfrm>
              <a:off x="7316903" y="328384"/>
              <a:ext cx="2593146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Effort shows up as diminishing returns</a:t>
              </a:r>
            </a:p>
          </p:txBody>
        </p:sp>
        <p:sp>
          <p:nvSpPr>
            <p:cNvPr id="147" name="tx147"/>
            <p:cNvSpPr/>
            <p:nvPr/>
          </p:nvSpPr>
          <p:spPr>
            <a:xfrm>
              <a:off x="5746143" y="327367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48" name="rc148"/>
            <p:cNvSpPr/>
            <p:nvPr/>
          </p:nvSpPr>
          <p:spPr>
            <a:xfrm>
              <a:off x="252469" y="4277582"/>
              <a:ext cx="5416810" cy="31509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rc149"/>
            <p:cNvSpPr/>
            <p:nvPr/>
          </p:nvSpPr>
          <p:spPr>
            <a:xfrm>
              <a:off x="5669279" y="4277582"/>
              <a:ext cx="5416810" cy="315090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318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rc150"/>
            <p:cNvSpPr/>
            <p:nvPr/>
          </p:nvSpPr>
          <p:spPr>
            <a:xfrm>
              <a:off x="1900092" y="4843862"/>
              <a:ext cx="3667967" cy="18413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2282714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3406096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4529478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2282714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rc155"/>
            <p:cNvSpPr/>
            <p:nvPr/>
          </p:nvSpPr>
          <p:spPr>
            <a:xfrm>
              <a:off x="2537005" y="4932960"/>
              <a:ext cx="2864327" cy="17819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6" name="rc156"/>
            <p:cNvSpPr/>
            <p:nvPr/>
          </p:nvSpPr>
          <p:spPr>
            <a:xfrm>
              <a:off x="3311646" y="5229953"/>
              <a:ext cx="1861055" cy="17819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7" name="rc157"/>
            <p:cNvSpPr/>
            <p:nvPr/>
          </p:nvSpPr>
          <p:spPr>
            <a:xfrm>
              <a:off x="2793800" y="5526945"/>
              <a:ext cx="347327" cy="17819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8" name="rc158"/>
            <p:cNvSpPr/>
            <p:nvPr/>
          </p:nvSpPr>
          <p:spPr>
            <a:xfrm>
              <a:off x="2282714" y="5823938"/>
              <a:ext cx="259374" cy="17819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9" name="rc159"/>
            <p:cNvSpPr/>
            <p:nvPr/>
          </p:nvSpPr>
          <p:spPr>
            <a:xfrm>
              <a:off x="2282714" y="6120931"/>
              <a:ext cx="247465" cy="17819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0" name="rc160"/>
            <p:cNvSpPr/>
            <p:nvPr/>
          </p:nvSpPr>
          <p:spPr>
            <a:xfrm>
              <a:off x="2343613" y="6417923"/>
              <a:ext cx="13922" cy="178195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1" name="rc161"/>
            <p:cNvSpPr/>
            <p:nvPr/>
          </p:nvSpPr>
          <p:spPr>
            <a:xfrm>
              <a:off x="2282714" y="4932960"/>
              <a:ext cx="254291" cy="178195"/>
            </a:xfrm>
            <a:prstGeom prst="rect">
              <a:avLst/>
            </a:prstGeom>
            <a:solidFill>
              <a:srgbClr val="F0E4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rc162"/>
            <p:cNvSpPr/>
            <p:nvPr/>
          </p:nvSpPr>
          <p:spPr>
            <a:xfrm>
              <a:off x="2282714" y="5229953"/>
              <a:ext cx="1028932" cy="178195"/>
            </a:xfrm>
            <a:prstGeom prst="rect">
              <a:avLst/>
            </a:prstGeom>
            <a:solidFill>
              <a:srgbClr val="F0E4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3" name="rc163"/>
            <p:cNvSpPr/>
            <p:nvPr/>
          </p:nvSpPr>
          <p:spPr>
            <a:xfrm>
              <a:off x="2282714" y="5526945"/>
              <a:ext cx="511086" cy="178195"/>
            </a:xfrm>
            <a:prstGeom prst="rect">
              <a:avLst/>
            </a:prstGeom>
            <a:solidFill>
              <a:srgbClr val="F0E4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4" name="rc164"/>
            <p:cNvSpPr/>
            <p:nvPr/>
          </p:nvSpPr>
          <p:spPr>
            <a:xfrm>
              <a:off x="2066817" y="5823938"/>
              <a:ext cx="215896" cy="178195"/>
            </a:xfrm>
            <a:prstGeom prst="rect">
              <a:avLst/>
            </a:prstGeom>
            <a:solidFill>
              <a:srgbClr val="F0E4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5" name="rc165"/>
            <p:cNvSpPr/>
            <p:nvPr/>
          </p:nvSpPr>
          <p:spPr>
            <a:xfrm>
              <a:off x="2130016" y="6120931"/>
              <a:ext cx="152697" cy="178195"/>
            </a:xfrm>
            <a:prstGeom prst="rect">
              <a:avLst/>
            </a:prstGeom>
            <a:solidFill>
              <a:srgbClr val="F0E4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6" name="rc166"/>
            <p:cNvSpPr/>
            <p:nvPr/>
          </p:nvSpPr>
          <p:spPr>
            <a:xfrm>
              <a:off x="2282714" y="6417923"/>
              <a:ext cx="60898" cy="178195"/>
            </a:xfrm>
            <a:prstGeom prst="rect">
              <a:avLst/>
            </a:prstGeom>
            <a:solidFill>
              <a:srgbClr val="F0E4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7" name="pl167"/>
            <p:cNvSpPr/>
            <p:nvPr/>
          </p:nvSpPr>
          <p:spPr>
            <a:xfrm>
              <a:off x="1900092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tx168"/>
            <p:cNvSpPr/>
            <p:nvPr/>
          </p:nvSpPr>
          <p:spPr>
            <a:xfrm>
              <a:off x="877092" y="6470628"/>
              <a:ext cx="9660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444123" y="6173635"/>
              <a:ext cx="139903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Early survey effort (2002-2008)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353689" y="5876643"/>
              <a:ext cx="14894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Recent survey effort (2009-2024)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1150314" y="5579650"/>
              <a:ext cx="69284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GDP per capita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973378" y="5282657"/>
              <a:ext cx="86977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Administrative area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662482" y="4985665"/>
              <a:ext cx="118067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Regional species richness</a:t>
              </a:r>
            </a:p>
          </p:txBody>
        </p:sp>
        <p:sp>
          <p:nvSpPr>
            <p:cNvPr id="174" name="pl174"/>
            <p:cNvSpPr/>
            <p:nvPr/>
          </p:nvSpPr>
          <p:spPr>
            <a:xfrm>
              <a:off x="1868460" y="650702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1868460" y="621002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1868460" y="59130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1868460" y="56160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1868460" y="531905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1868460" y="502205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1900092" y="6685217"/>
              <a:ext cx="3667967" cy="0"/>
            </a:xfrm>
            <a:custGeom>
              <a:avLst/>
              <a:pathLst>
                <a:path w="3667967" h="0">
                  <a:moveTo>
                    <a:pt x="0" y="0"/>
                  </a:moveTo>
                  <a:lnTo>
                    <a:pt x="3667967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2282714" y="668521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3406096" y="668521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4529478" y="668521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tx184"/>
            <p:cNvSpPr/>
            <p:nvPr/>
          </p:nvSpPr>
          <p:spPr>
            <a:xfrm>
              <a:off x="2254459" y="674215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185" name="tx185"/>
            <p:cNvSpPr/>
            <p:nvPr/>
          </p:nvSpPr>
          <p:spPr>
            <a:xfrm>
              <a:off x="3377841" y="674215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4</a:t>
              </a:r>
            </a:p>
          </p:txBody>
        </p:sp>
        <p:sp>
          <p:nvSpPr>
            <p:cNvPr id="186" name="tx186"/>
            <p:cNvSpPr/>
            <p:nvPr/>
          </p:nvSpPr>
          <p:spPr>
            <a:xfrm>
              <a:off x="4501223" y="6742153"/>
              <a:ext cx="56509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8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2642602" y="6867968"/>
              <a:ext cx="2182947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Contribution to explained deviance (%)</a:t>
              </a:r>
            </a:p>
          </p:txBody>
        </p:sp>
        <p:sp>
          <p:nvSpPr>
            <p:cNvPr id="188" name="rc188"/>
            <p:cNvSpPr/>
            <p:nvPr/>
          </p:nvSpPr>
          <p:spPr>
            <a:xfrm>
              <a:off x="3023636" y="7112177"/>
              <a:ext cx="1420877" cy="240398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9" name="rc189"/>
            <p:cNvSpPr/>
            <p:nvPr/>
          </p:nvSpPr>
          <p:spPr>
            <a:xfrm>
              <a:off x="3086899" y="717543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0" name="rc190"/>
            <p:cNvSpPr/>
            <p:nvPr/>
          </p:nvSpPr>
          <p:spPr>
            <a:xfrm>
              <a:off x="3095081" y="7183621"/>
              <a:ext cx="97509" cy="97509"/>
            </a:xfrm>
            <a:prstGeom prst="rect">
              <a:avLst/>
            </a:prstGeom>
            <a:solidFill>
              <a:srgbClr val="0072B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1" name="rc191"/>
            <p:cNvSpPr/>
            <p:nvPr/>
          </p:nvSpPr>
          <p:spPr>
            <a:xfrm>
              <a:off x="3962714" y="7175439"/>
              <a:ext cx="113872" cy="11387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2" name="rc192"/>
            <p:cNvSpPr/>
            <p:nvPr/>
          </p:nvSpPr>
          <p:spPr>
            <a:xfrm>
              <a:off x="3970896" y="7183621"/>
              <a:ext cx="97509" cy="97509"/>
            </a:xfrm>
            <a:prstGeom prst="rect">
              <a:avLst/>
            </a:prstGeom>
            <a:solidFill>
              <a:srgbClr val="F0E442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3" name="tx193"/>
            <p:cNvSpPr/>
            <p:nvPr/>
          </p:nvSpPr>
          <p:spPr>
            <a:xfrm>
              <a:off x="3264035" y="7191456"/>
              <a:ext cx="635416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Independent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4139850" y="7191456"/>
              <a:ext cx="241401" cy="8183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00" i="0" b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Joint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900092" y="4546239"/>
              <a:ext cx="4139763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Full model explains 20.5% of deviance; independent contributions sum to 19.9%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1900092" y="4353497"/>
              <a:ext cx="160742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Hierarchical partitioning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333858" y="4339367"/>
              <a:ext cx="91805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98" name="rc198"/>
            <p:cNvSpPr/>
            <p:nvPr/>
          </p:nvSpPr>
          <p:spPr>
            <a:xfrm>
              <a:off x="7316903" y="4843862"/>
              <a:ext cx="3667967" cy="184135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7868380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8894385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9920390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10946395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l203"/>
            <p:cNvSpPr/>
            <p:nvPr/>
          </p:nvSpPr>
          <p:spPr>
            <a:xfrm>
              <a:off x="8894385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9485" cap="flat">
              <a:solidFill>
                <a:srgbClr val="8C8C8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rc204"/>
            <p:cNvSpPr/>
            <p:nvPr/>
          </p:nvSpPr>
          <p:spPr>
            <a:xfrm>
              <a:off x="8560635" y="6417923"/>
              <a:ext cx="333749" cy="178195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5" name="rc205"/>
            <p:cNvSpPr/>
            <p:nvPr/>
          </p:nvSpPr>
          <p:spPr>
            <a:xfrm>
              <a:off x="8750365" y="6120931"/>
              <a:ext cx="144019" cy="178195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6" name="rc206"/>
            <p:cNvSpPr/>
            <p:nvPr/>
          </p:nvSpPr>
          <p:spPr>
            <a:xfrm>
              <a:off x="8769503" y="5823938"/>
              <a:ext cx="124882" cy="178195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7" name="rc207"/>
            <p:cNvSpPr/>
            <p:nvPr/>
          </p:nvSpPr>
          <p:spPr>
            <a:xfrm>
              <a:off x="8894385" y="5526945"/>
              <a:ext cx="195247" cy="178195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8" name="rc208"/>
            <p:cNvSpPr/>
            <p:nvPr/>
          </p:nvSpPr>
          <p:spPr>
            <a:xfrm>
              <a:off x="8894385" y="5229953"/>
              <a:ext cx="606766" cy="178195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09" name="rc209"/>
            <p:cNvSpPr/>
            <p:nvPr/>
          </p:nvSpPr>
          <p:spPr>
            <a:xfrm>
              <a:off x="8894385" y="4932960"/>
              <a:ext cx="798245" cy="178195"/>
            </a:xfrm>
            <a:prstGeom prst="rect">
              <a:avLst/>
            </a:prstGeom>
            <a:solidFill>
              <a:srgbClr val="56B4E9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210" name="tx210"/>
            <p:cNvSpPr/>
            <p:nvPr/>
          </p:nvSpPr>
          <p:spPr>
            <a:xfrm>
              <a:off x="7883992" y="6478583"/>
              <a:ext cx="638342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 = -0.13, P = 0.49</a:t>
              </a:r>
            </a:p>
          </p:txBody>
        </p:sp>
        <p:sp>
          <p:nvSpPr>
            <p:cNvPr id="211" name="tx211"/>
            <p:cNvSpPr/>
            <p:nvPr/>
          </p:nvSpPr>
          <p:spPr>
            <a:xfrm>
              <a:off x="8073722" y="6181591"/>
              <a:ext cx="638342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 = -0.06, P = 0.76</a:t>
              </a:r>
            </a:p>
          </p:txBody>
        </p:sp>
        <p:sp>
          <p:nvSpPr>
            <p:cNvPr id="212" name="tx212"/>
            <p:cNvSpPr/>
            <p:nvPr/>
          </p:nvSpPr>
          <p:spPr>
            <a:xfrm>
              <a:off x="8092859" y="5884598"/>
              <a:ext cx="638342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 = -0.05, P = 0.79</a:t>
              </a:r>
            </a:p>
          </p:txBody>
        </p:sp>
        <p:sp>
          <p:nvSpPr>
            <p:cNvPr id="213" name="tx213"/>
            <p:cNvSpPr/>
            <p:nvPr/>
          </p:nvSpPr>
          <p:spPr>
            <a:xfrm>
              <a:off x="9126348" y="5587605"/>
              <a:ext cx="611916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 = 0.08, P = 0.68</a:t>
              </a:r>
            </a:p>
          </p:txBody>
        </p:sp>
        <p:sp>
          <p:nvSpPr>
            <p:cNvPr id="214" name="tx214"/>
            <p:cNvSpPr/>
            <p:nvPr/>
          </p:nvSpPr>
          <p:spPr>
            <a:xfrm>
              <a:off x="9537866" y="5290613"/>
              <a:ext cx="611916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 = 0.24, P = 0.20</a:t>
              </a:r>
            </a:p>
          </p:txBody>
        </p:sp>
        <p:sp>
          <p:nvSpPr>
            <p:cNvPr id="215" name="tx215"/>
            <p:cNvSpPr/>
            <p:nvPr/>
          </p:nvSpPr>
          <p:spPr>
            <a:xfrm>
              <a:off x="9729345" y="4993620"/>
              <a:ext cx="611916" cy="5687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625" i="0" b="0">
                  <a:solidFill>
                    <a:srgbClr val="404040">
                      <a:alpha val="100000"/>
                    </a:srgbClr>
                  </a:solidFill>
                  <a:latin typeface="Arial"/>
                  <a:cs typeface="Arial"/>
                </a:rPr>
                <a:t>r = 0.31, P = 0.09</a:t>
              </a:r>
            </a:p>
          </p:txBody>
        </p:sp>
        <p:sp>
          <p:nvSpPr>
            <p:cNvPr id="216" name="pl216"/>
            <p:cNvSpPr/>
            <p:nvPr/>
          </p:nvSpPr>
          <p:spPr>
            <a:xfrm>
              <a:off x="7316903" y="4843862"/>
              <a:ext cx="0" cy="1841354"/>
            </a:xfrm>
            <a:custGeom>
              <a:avLst/>
              <a:pathLst>
                <a:path w="0" h="1841354">
                  <a:moveTo>
                    <a:pt x="0" y="1841354"/>
                  </a:moveTo>
                  <a:lnTo>
                    <a:pt x="0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tx217"/>
            <p:cNvSpPr/>
            <p:nvPr/>
          </p:nvSpPr>
          <p:spPr>
            <a:xfrm>
              <a:off x="5860934" y="6470628"/>
              <a:ext cx="1399032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Early survey effort (2002-2008)</a:t>
              </a:r>
            </a:p>
          </p:txBody>
        </p:sp>
        <p:sp>
          <p:nvSpPr>
            <p:cNvPr id="218" name="tx218"/>
            <p:cNvSpPr/>
            <p:nvPr/>
          </p:nvSpPr>
          <p:spPr>
            <a:xfrm>
              <a:off x="5770500" y="6173635"/>
              <a:ext cx="1489466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Recent survey effort (2009-2024)</a:t>
              </a:r>
            </a:p>
          </p:txBody>
        </p:sp>
        <p:sp>
          <p:nvSpPr>
            <p:cNvPr id="219" name="tx219"/>
            <p:cNvSpPr/>
            <p:nvPr/>
          </p:nvSpPr>
          <p:spPr>
            <a:xfrm>
              <a:off x="6293902" y="5876643"/>
              <a:ext cx="96606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Habitat heterogeneity</a:t>
              </a:r>
            </a:p>
          </p:txBody>
        </p:sp>
        <p:sp>
          <p:nvSpPr>
            <p:cNvPr id="220" name="tx220"/>
            <p:cNvSpPr/>
            <p:nvPr/>
          </p:nvSpPr>
          <p:spPr>
            <a:xfrm>
              <a:off x="6567125" y="5579650"/>
              <a:ext cx="692840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GDP per capita</a:t>
              </a:r>
            </a:p>
          </p:txBody>
        </p:sp>
        <p:sp>
          <p:nvSpPr>
            <p:cNvPr id="221" name="tx221"/>
            <p:cNvSpPr/>
            <p:nvPr/>
          </p:nvSpPr>
          <p:spPr>
            <a:xfrm>
              <a:off x="6390189" y="5282657"/>
              <a:ext cx="86977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Administrative area</a:t>
              </a:r>
            </a:p>
          </p:txBody>
        </p:sp>
        <p:sp>
          <p:nvSpPr>
            <p:cNvPr id="222" name="tx222"/>
            <p:cNvSpPr/>
            <p:nvPr/>
          </p:nvSpPr>
          <p:spPr>
            <a:xfrm>
              <a:off x="6079293" y="4985665"/>
              <a:ext cx="1180673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Regional species richness</a:t>
              </a:r>
            </a:p>
          </p:txBody>
        </p:sp>
        <p:sp>
          <p:nvSpPr>
            <p:cNvPr id="223" name="pl223"/>
            <p:cNvSpPr/>
            <p:nvPr/>
          </p:nvSpPr>
          <p:spPr>
            <a:xfrm>
              <a:off x="7285271" y="6507021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l224"/>
            <p:cNvSpPr/>
            <p:nvPr/>
          </p:nvSpPr>
          <p:spPr>
            <a:xfrm>
              <a:off x="7285271" y="621002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l225"/>
            <p:cNvSpPr/>
            <p:nvPr/>
          </p:nvSpPr>
          <p:spPr>
            <a:xfrm>
              <a:off x="7285271" y="5913036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l226"/>
            <p:cNvSpPr/>
            <p:nvPr/>
          </p:nvSpPr>
          <p:spPr>
            <a:xfrm>
              <a:off x="7285271" y="5616043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l227"/>
            <p:cNvSpPr/>
            <p:nvPr/>
          </p:nvSpPr>
          <p:spPr>
            <a:xfrm>
              <a:off x="7285271" y="5319050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l228"/>
            <p:cNvSpPr/>
            <p:nvPr/>
          </p:nvSpPr>
          <p:spPr>
            <a:xfrm>
              <a:off x="7285271" y="5022058"/>
              <a:ext cx="31631" cy="0"/>
            </a:xfrm>
            <a:custGeom>
              <a:avLst/>
              <a:pathLst>
                <a:path w="31631" h="0">
                  <a:moveTo>
                    <a:pt x="0" y="0"/>
                  </a:moveTo>
                  <a:lnTo>
                    <a:pt x="31631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l229"/>
            <p:cNvSpPr/>
            <p:nvPr/>
          </p:nvSpPr>
          <p:spPr>
            <a:xfrm>
              <a:off x="7316903" y="6685217"/>
              <a:ext cx="3667967" cy="0"/>
            </a:xfrm>
            <a:custGeom>
              <a:avLst/>
              <a:pathLst>
                <a:path w="3667967" h="0">
                  <a:moveTo>
                    <a:pt x="0" y="0"/>
                  </a:moveTo>
                  <a:lnTo>
                    <a:pt x="3667967" y="0"/>
                  </a:lnTo>
                </a:path>
              </a:pathLst>
            </a:custGeom>
            <a:ln w="9485" cap="sq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l230"/>
            <p:cNvSpPr/>
            <p:nvPr/>
          </p:nvSpPr>
          <p:spPr>
            <a:xfrm>
              <a:off x="7868380" y="668521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l231"/>
            <p:cNvSpPr/>
            <p:nvPr/>
          </p:nvSpPr>
          <p:spPr>
            <a:xfrm>
              <a:off x="8894385" y="668521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l232"/>
            <p:cNvSpPr/>
            <p:nvPr/>
          </p:nvSpPr>
          <p:spPr>
            <a:xfrm>
              <a:off x="9920390" y="668521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l233"/>
            <p:cNvSpPr/>
            <p:nvPr/>
          </p:nvSpPr>
          <p:spPr>
            <a:xfrm>
              <a:off x="10946395" y="6685217"/>
              <a:ext cx="0" cy="31631"/>
            </a:xfrm>
            <a:custGeom>
              <a:avLst/>
              <a:pathLst>
                <a:path w="0" h="31631">
                  <a:moveTo>
                    <a:pt x="0" y="31631"/>
                  </a:moveTo>
                  <a:lnTo>
                    <a:pt x="0" y="0"/>
                  </a:lnTo>
                </a:path>
              </a:pathLst>
            </a:custGeom>
            <a:ln w="8130" cap="flat">
              <a:solidFill>
                <a:srgbClr val="33333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tx234"/>
            <p:cNvSpPr/>
            <p:nvPr/>
          </p:nvSpPr>
          <p:spPr>
            <a:xfrm>
              <a:off x="7780826" y="6742153"/>
              <a:ext cx="175107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-0.4</a:t>
              </a:r>
            </a:p>
          </p:txBody>
        </p:sp>
        <p:sp>
          <p:nvSpPr>
            <p:cNvPr id="235" name="tx235"/>
            <p:cNvSpPr/>
            <p:nvPr/>
          </p:nvSpPr>
          <p:spPr>
            <a:xfrm>
              <a:off x="8823748" y="674215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236" name="tx236"/>
            <p:cNvSpPr/>
            <p:nvPr/>
          </p:nvSpPr>
          <p:spPr>
            <a:xfrm>
              <a:off x="9849753" y="674215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0.4</a:t>
              </a:r>
            </a:p>
          </p:txBody>
        </p:sp>
        <p:sp>
          <p:nvSpPr>
            <p:cNvPr id="237" name="tx237"/>
            <p:cNvSpPr/>
            <p:nvPr/>
          </p:nvSpPr>
          <p:spPr>
            <a:xfrm>
              <a:off x="10875757" y="6742153"/>
              <a:ext cx="141274" cy="7278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00" i="0" b="0">
                  <a:solidFill>
                    <a:srgbClr val="262626">
                      <a:alpha val="100000"/>
                    </a:srgbClr>
                  </a:solidFill>
                  <a:latin typeface="Arial"/>
                  <a:cs typeface="Arial"/>
                </a:rPr>
                <a:t>0.8</a:t>
              </a:r>
            </a:p>
          </p:txBody>
        </p:sp>
        <p:sp>
          <p:nvSpPr>
            <p:cNvPr id="238" name="tx238"/>
            <p:cNvSpPr/>
            <p:nvPr/>
          </p:nvSpPr>
          <p:spPr>
            <a:xfrm>
              <a:off x="8017213" y="6867968"/>
              <a:ext cx="2267346" cy="9098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000" i="0" b="0">
                  <a:solidFill>
                    <a:srgbClr val="0D0D0D">
                      <a:alpha val="100000"/>
                    </a:srgbClr>
                  </a:solidFill>
                  <a:latin typeface="Arial"/>
                  <a:cs typeface="Arial"/>
                </a:rPr>
                <a:t>Partial correlation with new-record count</a:t>
              </a:r>
            </a:p>
          </p:txBody>
        </p:sp>
        <p:sp>
          <p:nvSpPr>
            <p:cNvPr id="239" name="tx239"/>
            <p:cNvSpPr/>
            <p:nvPr/>
          </p:nvSpPr>
          <p:spPr>
            <a:xfrm>
              <a:off x="7316903" y="4546239"/>
              <a:ext cx="2433126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Each predictor against the residuals of a model</a:t>
              </a:r>
            </a:p>
          </p:txBody>
        </p:sp>
        <p:sp>
          <p:nvSpPr>
            <p:cNvPr id="240" name="tx240"/>
            <p:cNvSpPr/>
            <p:nvPr/>
          </p:nvSpPr>
          <p:spPr>
            <a:xfrm>
              <a:off x="7316903" y="4672426"/>
              <a:ext cx="1583375" cy="835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19" i="0" b="0">
                  <a:solidFill>
                    <a:srgbClr val="4D4D4D">
                      <a:alpha val="100000"/>
                    </a:srgbClr>
                  </a:solidFill>
                  <a:latin typeface="Arial"/>
                  <a:cs typeface="Arial"/>
                </a:rPr>
                <a:t> holding all the others constant</a:t>
              </a:r>
            </a:p>
          </p:txBody>
        </p:sp>
        <p:sp>
          <p:nvSpPr>
            <p:cNvPr id="241" name="tx241"/>
            <p:cNvSpPr/>
            <p:nvPr/>
          </p:nvSpPr>
          <p:spPr>
            <a:xfrm>
              <a:off x="7316903" y="4353497"/>
              <a:ext cx="1180673" cy="10003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1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Partial regression</a:t>
              </a:r>
            </a:p>
          </p:txBody>
        </p:sp>
        <p:sp>
          <p:nvSpPr>
            <p:cNvPr id="242" name="tx242"/>
            <p:cNvSpPr/>
            <p:nvPr/>
          </p:nvSpPr>
          <p:spPr>
            <a:xfrm>
              <a:off x="5746143" y="4339367"/>
              <a:ext cx="100858" cy="11823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1300" i="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2026-09-22T13:14:59Z</dcterms:modified>
  <cp:category/>
</cp:coreProperties>
</file>