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972800" cy="7315200"/>
            <a:chOff x="182880" y="18288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972799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416810" cy="40180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669280" y="252469"/>
              <a:ext cx="5416810" cy="40180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42059" y="965592"/>
              <a:ext cx="1833535" cy="21754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2059" y="3141071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42059" y="2531022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742059" y="1920973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42059" y="1310924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13953" y="1297445"/>
              <a:ext cx="343787" cy="184362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486933" y="1637197"/>
              <a:ext cx="343787" cy="1503874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059913" y="1513439"/>
              <a:ext cx="343787" cy="1627631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947818" y="1210170"/>
              <a:ext cx="276057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302.21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2520798" y="1549922"/>
              <a:ext cx="276057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246.52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3093778" y="1426164"/>
              <a:ext cx="276057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266.80</a:t>
              </a:r>
            </a:p>
          </p:txBody>
        </p:sp>
        <p:sp>
          <p:nvSpPr>
            <p:cNvPr id="18" name="rc18"/>
            <p:cNvSpPr/>
            <p:nvPr/>
          </p:nvSpPr>
          <p:spPr>
            <a:xfrm>
              <a:off x="3734523" y="965592"/>
              <a:ext cx="1833535" cy="21754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734523" y="3141071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34523" y="2483208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34523" y="1825344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4523" y="1167481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906417" y="1297445"/>
              <a:ext cx="343787" cy="184362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479397" y="2734496"/>
              <a:ext cx="343787" cy="40657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052377" y="2641912"/>
              <a:ext cx="343787" cy="499158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34523" y="2812139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  <a:lnTo>
                    <a:pt x="1833535" y="0"/>
                  </a:lnTo>
                </a:path>
              </a:pathLst>
            </a:custGeom>
            <a:ln w="9485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90483" y="1210170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5.60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63463" y="2647221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1.24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136443" y="2554637"/>
              <a:ext cx="1756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1.52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734523" y="965592"/>
              <a:ext cx="0" cy="2175478"/>
            </a:xfrm>
            <a:custGeom>
              <a:avLst/>
              <a:pathLst>
                <a:path w="0" h="2175478">
                  <a:moveTo>
                    <a:pt x="0" y="217547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32531" y="310838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632531" y="245051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632531" y="179265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632531" y="113479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706055" y="31410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706055" y="2483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706055" y="18253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706055" y="11674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1787608" y="826225"/>
              <a:ext cx="114290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AICc (lower is better)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780072" y="826225"/>
              <a:ext cx="11812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Dispersion (1 is ideal)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1742059" y="3141071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085847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58827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231807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 rot="-960000">
              <a:off x="1513115" y="3272806"/>
              <a:ext cx="59298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Poisson (main)</a:t>
              </a:r>
            </a:p>
          </p:txBody>
        </p:sp>
        <p:sp>
          <p:nvSpPr>
            <p:cNvPr id="46" name="tx46"/>
            <p:cNvSpPr/>
            <p:nvPr/>
          </p:nvSpPr>
          <p:spPr>
            <a:xfrm rot="-960000">
              <a:off x="1703119" y="3326630"/>
              <a:ext cx="98352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(main)</a:t>
              </a:r>
            </a:p>
          </p:txBody>
        </p:sp>
        <p:sp>
          <p:nvSpPr>
            <p:cNvPr id="47" name="tx47"/>
            <p:cNvSpPr/>
            <p:nvPr/>
          </p:nvSpPr>
          <p:spPr>
            <a:xfrm rot="-960000">
              <a:off x="1649314" y="3414719"/>
              <a:ext cx="1622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(recent effort as offset)</a:t>
              </a:r>
            </a:p>
          </p:txBody>
        </p:sp>
        <p:sp>
          <p:nvSpPr>
            <p:cNvPr id="48" name="pl48"/>
            <p:cNvSpPr/>
            <p:nvPr/>
          </p:nvSpPr>
          <p:spPr>
            <a:xfrm>
              <a:off x="3734523" y="3141071"/>
              <a:ext cx="1833535" cy="0"/>
            </a:xfrm>
            <a:custGeom>
              <a:avLst/>
              <a:pathLst>
                <a:path w="1833535" h="0">
                  <a:moveTo>
                    <a:pt x="0" y="0"/>
                  </a:moveTo>
                  <a:lnTo>
                    <a:pt x="18335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078311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651291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224271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 rot="-960000">
              <a:off x="3505580" y="3272806"/>
              <a:ext cx="59298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Poisson (main)</a:t>
              </a:r>
            </a:p>
          </p:txBody>
        </p:sp>
        <p:sp>
          <p:nvSpPr>
            <p:cNvPr id="53" name="tx53"/>
            <p:cNvSpPr/>
            <p:nvPr/>
          </p:nvSpPr>
          <p:spPr>
            <a:xfrm rot="-960000">
              <a:off x="3695584" y="3326630"/>
              <a:ext cx="98352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(main)</a:t>
              </a:r>
            </a:p>
          </p:txBody>
        </p:sp>
        <p:sp>
          <p:nvSpPr>
            <p:cNvPr id="54" name="tx54"/>
            <p:cNvSpPr/>
            <p:nvPr/>
          </p:nvSpPr>
          <p:spPr>
            <a:xfrm rot="-960000">
              <a:off x="3641778" y="3414719"/>
              <a:ext cx="1622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Negative binomial (recent effort as offset)</a:t>
              </a:r>
            </a:p>
          </p:txBody>
        </p:sp>
        <p:sp>
          <p:nvSpPr>
            <p:cNvPr id="55" name="pl55"/>
            <p:cNvSpPr/>
            <p:nvPr/>
          </p:nvSpPr>
          <p:spPr>
            <a:xfrm>
              <a:off x="1742059" y="965592"/>
              <a:ext cx="0" cy="2175478"/>
            </a:xfrm>
            <a:custGeom>
              <a:avLst/>
              <a:pathLst>
                <a:path w="0" h="2175478">
                  <a:moveTo>
                    <a:pt x="0" y="217547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1640067" y="310838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538568" y="2498332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538568" y="1888283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538568" y="1278235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300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1713591" y="31410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713591" y="25310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713591" y="19209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713591" y="13109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1742059" y="615475"/>
              <a:ext cx="4093494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Poisson dispersion 5.60 (P = 2.3e-17); the negative binomial reduces it to 1.24 (P = 0.20)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742059" y="328384"/>
              <a:ext cx="267535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Poisson is rejected, negative binomial is not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337378" y="331787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7" name="rc67"/>
            <p:cNvSpPr/>
            <p:nvPr/>
          </p:nvSpPr>
          <p:spPr>
            <a:xfrm>
              <a:off x="7158870" y="965592"/>
              <a:ext cx="1884531" cy="21754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304897" y="965592"/>
              <a:ext cx="0" cy="2175478"/>
            </a:xfrm>
            <a:custGeom>
              <a:avLst/>
              <a:pathLst>
                <a:path w="0" h="2175478">
                  <a:moveTo>
                    <a:pt x="0" y="21754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868218" y="2930541"/>
              <a:ext cx="646324" cy="0"/>
            </a:xfrm>
            <a:custGeom>
              <a:avLst/>
              <a:pathLst>
                <a:path w="646324" h="0">
                  <a:moveTo>
                    <a:pt x="0" y="0"/>
                  </a:moveTo>
                  <a:lnTo>
                    <a:pt x="646324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7780394" y="2579657"/>
              <a:ext cx="852610" cy="0"/>
            </a:xfrm>
            <a:custGeom>
              <a:avLst/>
              <a:pathLst>
                <a:path w="852610" h="0">
                  <a:moveTo>
                    <a:pt x="0" y="0"/>
                  </a:moveTo>
                  <a:lnTo>
                    <a:pt x="852610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325349" y="1176122"/>
              <a:ext cx="570461" cy="0"/>
            </a:xfrm>
            <a:custGeom>
              <a:avLst/>
              <a:pathLst>
                <a:path w="570461" h="0">
                  <a:moveTo>
                    <a:pt x="0" y="0"/>
                  </a:moveTo>
                  <a:lnTo>
                    <a:pt x="570461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031476" y="1877890"/>
              <a:ext cx="784227" cy="0"/>
            </a:xfrm>
            <a:custGeom>
              <a:avLst/>
              <a:pathLst>
                <a:path w="784227" h="0">
                  <a:moveTo>
                    <a:pt x="0" y="0"/>
                  </a:moveTo>
                  <a:lnTo>
                    <a:pt x="784227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224538" y="1527006"/>
              <a:ext cx="574103" cy="0"/>
            </a:xfrm>
            <a:custGeom>
              <a:avLst/>
              <a:pathLst>
                <a:path w="574103" h="0">
                  <a:moveTo>
                    <a:pt x="0" y="0"/>
                  </a:moveTo>
                  <a:lnTo>
                    <a:pt x="574103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071937" y="2228773"/>
              <a:ext cx="446121" cy="0"/>
            </a:xfrm>
            <a:custGeom>
              <a:avLst/>
              <a:pathLst>
                <a:path w="446121" h="0">
                  <a:moveTo>
                    <a:pt x="0" y="0"/>
                  </a:moveTo>
                  <a:lnTo>
                    <a:pt x="446121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8160597" y="2899758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8175916" y="2548874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8579796" y="1145339"/>
              <a:ext cx="61566" cy="61566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8392806" y="1847107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8480807" y="1496223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8264214" y="2197990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8114113" y="2819633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9433" y="2468750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533313" y="1065215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1.27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346323" y="1766982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1.10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8434323" y="1416098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1.17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8217730" y="2117866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0.99</a:t>
              </a:r>
            </a:p>
          </p:txBody>
        </p:sp>
        <p:sp>
          <p:nvSpPr>
            <p:cNvPr id="87" name="rc87"/>
            <p:cNvSpPr/>
            <p:nvPr/>
          </p:nvSpPr>
          <p:spPr>
            <a:xfrm>
              <a:off x="9100338" y="965592"/>
              <a:ext cx="1884531" cy="21754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0246365" y="965592"/>
              <a:ext cx="0" cy="2175478"/>
            </a:xfrm>
            <a:custGeom>
              <a:avLst/>
              <a:pathLst>
                <a:path w="0" h="2175478">
                  <a:moveTo>
                    <a:pt x="0" y="217547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9399762" y="2930541"/>
              <a:ext cx="798670" cy="0"/>
            </a:xfrm>
            <a:custGeom>
              <a:avLst/>
              <a:pathLst>
                <a:path w="798670" h="0">
                  <a:moveTo>
                    <a:pt x="0" y="0"/>
                  </a:moveTo>
                  <a:lnTo>
                    <a:pt x="798670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9717024" y="1176122"/>
              <a:ext cx="762610" cy="0"/>
            </a:xfrm>
            <a:custGeom>
              <a:avLst/>
              <a:pathLst>
                <a:path w="762610" h="0">
                  <a:moveTo>
                    <a:pt x="0" y="0"/>
                  </a:moveTo>
                  <a:lnTo>
                    <a:pt x="762610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9185999" y="1877890"/>
              <a:ext cx="837501" cy="0"/>
            </a:xfrm>
            <a:custGeom>
              <a:avLst/>
              <a:pathLst>
                <a:path w="837501" h="0">
                  <a:moveTo>
                    <a:pt x="0" y="0"/>
                  </a:moveTo>
                  <a:lnTo>
                    <a:pt x="837501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0073328" y="1527006"/>
              <a:ext cx="825881" cy="0"/>
            </a:xfrm>
            <a:custGeom>
              <a:avLst/>
              <a:pathLst>
                <a:path w="825881" h="0">
                  <a:moveTo>
                    <a:pt x="0" y="0"/>
                  </a:moveTo>
                  <a:lnTo>
                    <a:pt x="825881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9964295" y="2228773"/>
              <a:ext cx="644994" cy="0"/>
            </a:xfrm>
            <a:custGeom>
              <a:avLst/>
              <a:pathLst>
                <a:path w="644994" h="0">
                  <a:moveTo>
                    <a:pt x="0" y="0"/>
                  </a:moveTo>
                  <a:lnTo>
                    <a:pt x="644994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9768314" y="2899758"/>
              <a:ext cx="61566" cy="61566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0067546" y="1145339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9573966" y="1847107"/>
              <a:ext cx="61566" cy="61566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0455486" y="1496223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0256009" y="2197990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9721830" y="2819633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0.71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10021062" y="1065215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0.89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9527483" y="1766982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0.61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0409002" y="1416098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0209526" y="2117866"/>
              <a:ext cx="15453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204419" y="826225"/>
              <a:ext cx="3937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Counts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9145887" y="826225"/>
              <a:ext cx="153655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Rate per unit of recent effort</a:t>
              </a:r>
            </a:p>
          </p:txBody>
        </p:sp>
        <p:sp>
          <p:nvSpPr>
            <p:cNvPr id="106" name="pl106"/>
            <p:cNvSpPr/>
            <p:nvPr/>
          </p:nvSpPr>
          <p:spPr>
            <a:xfrm>
              <a:off x="7158870" y="3141071"/>
              <a:ext cx="1884531" cy="0"/>
            </a:xfrm>
            <a:custGeom>
              <a:avLst/>
              <a:pathLst>
                <a:path w="1884531" h="0">
                  <a:moveTo>
                    <a:pt x="0" y="0"/>
                  </a:moveTo>
                  <a:lnTo>
                    <a:pt x="188453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7409345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844070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304897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7345932" y="319231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780657" y="319231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8241484" y="319231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13" name="pl113"/>
            <p:cNvSpPr/>
            <p:nvPr/>
          </p:nvSpPr>
          <p:spPr>
            <a:xfrm>
              <a:off x="9100338" y="3141071"/>
              <a:ext cx="1884531" cy="0"/>
            </a:xfrm>
            <a:custGeom>
              <a:avLst/>
              <a:pathLst>
                <a:path w="1884531" h="0">
                  <a:moveTo>
                    <a:pt x="0" y="0"/>
                  </a:moveTo>
                  <a:lnTo>
                    <a:pt x="188453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9350813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9785538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0246365" y="314107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9287400" y="319231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9722125" y="319231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0182952" y="319231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7158870" y="965592"/>
              <a:ext cx="0" cy="2175478"/>
            </a:xfrm>
            <a:custGeom>
              <a:avLst/>
              <a:pathLst>
                <a:path w="0" h="2175478">
                  <a:moveTo>
                    <a:pt x="0" y="2175478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1"/>
            <p:cNvSpPr/>
            <p:nvPr/>
          </p:nvSpPr>
          <p:spPr>
            <a:xfrm>
              <a:off x="5851699" y="2897851"/>
              <a:ext cx="12559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 (2002-2008)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5770500" y="2546967"/>
              <a:ext cx="13371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Recent survey effort (2009-2024)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240227" y="2196084"/>
              <a:ext cx="8673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6485469" y="1845200"/>
              <a:ext cx="622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GDP per capita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6326638" y="1494316"/>
              <a:ext cx="78098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Administrative area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047472" y="1143433"/>
              <a:ext cx="106015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Regional species richness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7130402" y="29305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130402" y="25796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130402" y="22287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130402" y="18778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130402" y="15270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130402" y="11761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8103337" y="3747165"/>
              <a:ext cx="193706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Incidence rate ratio per 1 SD (95% CI)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8543942" y="3966834"/>
              <a:ext cx="1055856" cy="2277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8600878" y="402377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612266" y="408070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8627032" y="4049924"/>
              <a:ext cx="61566" cy="61566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8992485" y="402377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9003872" y="408070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9018638" y="4049924"/>
              <a:ext cx="61566" cy="61566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7363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8771688" y="4044314"/>
              <a:ext cx="16386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n.s.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9163294" y="4044314"/>
              <a:ext cx="37956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 &lt; 0.05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7158870" y="503004"/>
              <a:ext cx="4600254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Left: both efforts as predictors. Right: recent effort as an offset, so the response is the discovery rate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158870" y="615475"/>
              <a:ext cx="398559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per unit of effort. Provinces already well covered in 2002-2008 then yield fewer records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7158870" y="328384"/>
              <a:ext cx="235704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Effort shows up as diminishing returns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5750029" y="331787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7" name="rc147"/>
            <p:cNvSpPr/>
            <p:nvPr/>
          </p:nvSpPr>
          <p:spPr>
            <a:xfrm>
              <a:off x="252469" y="4270496"/>
              <a:ext cx="5416810" cy="31579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669280" y="4270496"/>
              <a:ext cx="5416810" cy="31579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742059" y="4674253"/>
              <a:ext cx="3826000" cy="20667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2141166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3312949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484732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2141166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2406414" y="4774255"/>
              <a:ext cx="2987736" cy="2000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214430" y="5107595"/>
              <a:ext cx="1941238" cy="2000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2674272" y="5440934"/>
              <a:ext cx="362292" cy="2000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2141166" y="5774274"/>
              <a:ext cx="270549" cy="2000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2141166" y="6107613"/>
              <a:ext cx="258127" cy="2000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2204689" y="6440953"/>
              <a:ext cx="14522" cy="2000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2141166" y="4774255"/>
              <a:ext cx="265247" cy="200003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2141166" y="5107595"/>
              <a:ext cx="1073263" cy="200003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2141166" y="5440934"/>
              <a:ext cx="533105" cy="200003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1915968" y="5774274"/>
              <a:ext cx="225198" cy="200003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981890" y="6107613"/>
              <a:ext cx="159276" cy="200003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2141166" y="6440953"/>
              <a:ext cx="63522" cy="200003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742059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823416" y="6508265"/>
              <a:ext cx="8673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434888" y="6174925"/>
              <a:ext cx="12559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 (2002-2008)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53689" y="5841586"/>
              <a:ext cx="13371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Recent survey effort (2009-2024)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068658" y="5508246"/>
              <a:ext cx="622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GDP per capita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909827" y="5174907"/>
              <a:ext cx="78098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Administrative area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630661" y="4841567"/>
              <a:ext cx="106015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Regional species richness</a:t>
              </a:r>
            </a:p>
          </p:txBody>
        </p:sp>
        <p:sp>
          <p:nvSpPr>
            <p:cNvPr id="173" name="pl173"/>
            <p:cNvSpPr/>
            <p:nvPr/>
          </p:nvSpPr>
          <p:spPr>
            <a:xfrm>
              <a:off x="1713591" y="65409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713591" y="62076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713591" y="58742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713591" y="55409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713591" y="52075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713591" y="4874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1742059" y="6740958"/>
              <a:ext cx="3826000" cy="0"/>
            </a:xfrm>
            <a:custGeom>
              <a:avLst/>
              <a:pathLst>
                <a:path w="3826000" h="0">
                  <a:moveTo>
                    <a:pt x="0" y="0"/>
                  </a:moveTo>
                  <a:lnTo>
                    <a:pt x="382600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2141166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3312949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4484732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tx183"/>
            <p:cNvSpPr/>
            <p:nvPr/>
          </p:nvSpPr>
          <p:spPr>
            <a:xfrm>
              <a:off x="2115792" y="67922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3287574" y="67922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4459357" y="67922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2673633" y="6905160"/>
              <a:ext cx="196285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Contribution to explained deviance (%)</a:t>
              </a:r>
            </a:p>
          </p:txBody>
        </p:sp>
        <p:sp>
          <p:nvSpPr>
            <p:cNvPr id="187" name="rc187"/>
            <p:cNvSpPr/>
            <p:nvPr/>
          </p:nvSpPr>
          <p:spPr>
            <a:xfrm>
              <a:off x="3008945" y="7124829"/>
              <a:ext cx="1292228" cy="2277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065881" y="718176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073245" y="7189129"/>
              <a:ext cx="99145" cy="99145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858726" y="718176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866090" y="7189129"/>
              <a:ext cx="99145" cy="99145"/>
            </a:xfrm>
            <a:prstGeom prst="rect">
              <a:avLst/>
            </a:prstGeom>
            <a:solidFill>
              <a:srgbClr val="F0E4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3236691" y="7202309"/>
              <a:ext cx="56509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Independent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4029536" y="7202309"/>
              <a:ext cx="21470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Joint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1742059" y="4521031"/>
              <a:ext cx="3687043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Full model explains 20.5% of deviance; independent contributions sum to 19.9%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1742059" y="4346411"/>
              <a:ext cx="146121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Hierarchical partitioning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337378" y="4336914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197" name="rc197"/>
            <p:cNvSpPr/>
            <p:nvPr/>
          </p:nvSpPr>
          <p:spPr>
            <a:xfrm>
              <a:off x="7158870" y="4674253"/>
              <a:ext cx="3826000" cy="20667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7734108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804318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9874527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10944737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804318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8456188" y="6440953"/>
              <a:ext cx="348129" cy="200003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8654093" y="6107613"/>
              <a:ext cx="150224" cy="200003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8674054" y="5774274"/>
              <a:ext cx="130263" cy="200003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8804318" y="5440934"/>
              <a:ext cx="203659" cy="200003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8804318" y="5107595"/>
              <a:ext cx="632908" cy="200003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8804318" y="4774255"/>
              <a:ext cx="832637" cy="200003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tx209"/>
            <p:cNvSpPr/>
            <p:nvPr/>
          </p:nvSpPr>
          <p:spPr>
            <a:xfrm>
              <a:off x="7779545" y="6512517"/>
              <a:ext cx="638342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-0.13, P = 0.49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7977450" y="6179177"/>
              <a:ext cx="638342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-0.06, P = 0.76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7997411" y="5845838"/>
              <a:ext cx="638342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-0.05, P = 0.79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9044692" y="5512498"/>
              <a:ext cx="611916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0.08, P = 0.68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9473941" y="5179159"/>
              <a:ext cx="611916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0.24, P = 0.20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9673670" y="4845819"/>
              <a:ext cx="611916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 = 0.31, P = 0.09</a:t>
              </a:r>
            </a:p>
          </p:txBody>
        </p:sp>
        <p:sp>
          <p:nvSpPr>
            <p:cNvPr id="215" name="pl215"/>
            <p:cNvSpPr/>
            <p:nvPr/>
          </p:nvSpPr>
          <p:spPr>
            <a:xfrm>
              <a:off x="7158870" y="4674253"/>
              <a:ext cx="0" cy="2066704"/>
            </a:xfrm>
            <a:custGeom>
              <a:avLst/>
              <a:pathLst>
                <a:path w="0" h="2066704">
                  <a:moveTo>
                    <a:pt x="0" y="206670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5851699" y="6508265"/>
              <a:ext cx="12559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 (2002-2008)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5770500" y="6174925"/>
              <a:ext cx="13371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Recent survey effort (2009-2024)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6240227" y="5841586"/>
              <a:ext cx="8673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6485469" y="5508246"/>
              <a:ext cx="622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GDP per capita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6326638" y="5174907"/>
              <a:ext cx="78098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Administrative area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6047472" y="4841567"/>
              <a:ext cx="106015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Regional species richness</a:t>
              </a:r>
            </a:p>
          </p:txBody>
        </p:sp>
        <p:sp>
          <p:nvSpPr>
            <p:cNvPr id="222" name="pl222"/>
            <p:cNvSpPr/>
            <p:nvPr/>
          </p:nvSpPr>
          <p:spPr>
            <a:xfrm>
              <a:off x="7130402" y="65409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130402" y="62076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130402" y="58742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130402" y="55409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130402" y="52075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130402" y="4874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158870" y="6740958"/>
              <a:ext cx="3826000" cy="0"/>
            </a:xfrm>
            <a:custGeom>
              <a:avLst/>
              <a:pathLst>
                <a:path w="3826000" h="0">
                  <a:moveTo>
                    <a:pt x="0" y="0"/>
                  </a:moveTo>
                  <a:lnTo>
                    <a:pt x="382600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734108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8804318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9874527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10944737" y="67409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tx233"/>
            <p:cNvSpPr/>
            <p:nvPr/>
          </p:nvSpPr>
          <p:spPr>
            <a:xfrm>
              <a:off x="7655515" y="6792201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-0.4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8740904" y="679220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9811114" y="679220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0881324" y="679220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8052451" y="6905160"/>
              <a:ext cx="203883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Partial correlation with new-record count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7158870" y="4521031"/>
              <a:ext cx="357731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Each predictor against the residuals of a model holding all the others constant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7158870" y="4346411"/>
              <a:ext cx="107332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regression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5750029" y="4336914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2026-07-27T11:30:07Z</dcterms:modified>
  <cp:category/>
</cp:coreProperties>
</file>