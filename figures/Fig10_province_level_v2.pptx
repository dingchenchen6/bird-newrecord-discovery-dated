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0972800" cy="7315200"/>
            <a:chOff x="182880" y="18288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0972799" cy="73151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5416810" cy="4025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5669279" y="252469"/>
              <a:ext cx="5416810" cy="4025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900092" y="1163840"/>
              <a:ext cx="1745629" cy="193826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00092" y="3102108"/>
              <a:ext cx="1745629" cy="0"/>
            </a:xfrm>
            <a:custGeom>
              <a:avLst/>
              <a:pathLst>
                <a:path w="1745629" h="0">
                  <a:moveTo>
                    <a:pt x="0" y="0"/>
                  </a:moveTo>
                  <a:lnTo>
                    <a:pt x="1745629" y="0"/>
                  </a:lnTo>
                  <a:lnTo>
                    <a:pt x="17456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00092" y="2558318"/>
              <a:ext cx="1745629" cy="0"/>
            </a:xfrm>
            <a:custGeom>
              <a:avLst/>
              <a:pathLst>
                <a:path w="1745629" h="0">
                  <a:moveTo>
                    <a:pt x="0" y="0"/>
                  </a:moveTo>
                  <a:lnTo>
                    <a:pt x="1745629" y="0"/>
                  </a:lnTo>
                  <a:lnTo>
                    <a:pt x="17456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900092" y="2014527"/>
              <a:ext cx="1745629" cy="0"/>
            </a:xfrm>
            <a:custGeom>
              <a:avLst/>
              <a:pathLst>
                <a:path w="1745629" h="0">
                  <a:moveTo>
                    <a:pt x="0" y="0"/>
                  </a:moveTo>
                  <a:lnTo>
                    <a:pt x="1745629" y="0"/>
                  </a:lnTo>
                  <a:lnTo>
                    <a:pt x="17456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900092" y="1470737"/>
              <a:ext cx="1745629" cy="0"/>
            </a:xfrm>
            <a:custGeom>
              <a:avLst/>
              <a:pathLst>
                <a:path w="1745629" h="0">
                  <a:moveTo>
                    <a:pt x="0" y="0"/>
                  </a:moveTo>
                  <a:lnTo>
                    <a:pt x="1745629" y="0"/>
                  </a:lnTo>
                  <a:lnTo>
                    <a:pt x="17456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2063744" y="1459508"/>
              <a:ext cx="327305" cy="1642599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2609253" y="1761778"/>
              <a:ext cx="327305" cy="1340329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154763" y="1653331"/>
              <a:ext cx="327305" cy="1448776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2089368" y="1372233"/>
              <a:ext cx="276057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302.06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2634878" y="1674503"/>
              <a:ext cx="276057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246.48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3180387" y="1566056"/>
              <a:ext cx="276057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266.42</a:t>
              </a:r>
            </a:p>
          </p:txBody>
        </p:sp>
        <p:sp>
          <p:nvSpPr>
            <p:cNvPr id="18" name="rc18"/>
            <p:cNvSpPr/>
            <p:nvPr/>
          </p:nvSpPr>
          <p:spPr>
            <a:xfrm>
              <a:off x="3822430" y="1163840"/>
              <a:ext cx="1745629" cy="193826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22430" y="3102108"/>
              <a:ext cx="1745629" cy="0"/>
            </a:xfrm>
            <a:custGeom>
              <a:avLst/>
              <a:pathLst>
                <a:path w="1745629" h="0">
                  <a:moveTo>
                    <a:pt x="0" y="0"/>
                  </a:moveTo>
                  <a:lnTo>
                    <a:pt x="1745629" y="0"/>
                  </a:lnTo>
                  <a:lnTo>
                    <a:pt x="17456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822430" y="2514010"/>
              <a:ext cx="1745629" cy="0"/>
            </a:xfrm>
            <a:custGeom>
              <a:avLst/>
              <a:pathLst>
                <a:path w="1745629" h="0">
                  <a:moveTo>
                    <a:pt x="0" y="0"/>
                  </a:moveTo>
                  <a:lnTo>
                    <a:pt x="1745629" y="0"/>
                  </a:lnTo>
                  <a:lnTo>
                    <a:pt x="17456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822430" y="1925912"/>
              <a:ext cx="1745629" cy="0"/>
            </a:xfrm>
            <a:custGeom>
              <a:avLst/>
              <a:pathLst>
                <a:path w="1745629" h="0">
                  <a:moveTo>
                    <a:pt x="0" y="0"/>
                  </a:moveTo>
                  <a:lnTo>
                    <a:pt x="1745629" y="0"/>
                  </a:lnTo>
                  <a:lnTo>
                    <a:pt x="17456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822430" y="1337814"/>
              <a:ext cx="1745629" cy="0"/>
            </a:xfrm>
            <a:custGeom>
              <a:avLst/>
              <a:pathLst>
                <a:path w="1745629" h="0">
                  <a:moveTo>
                    <a:pt x="0" y="0"/>
                  </a:moveTo>
                  <a:lnTo>
                    <a:pt x="1745629" y="0"/>
                  </a:lnTo>
                  <a:lnTo>
                    <a:pt x="17456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986083" y="1459508"/>
              <a:ext cx="327305" cy="1642599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4531592" y="2740322"/>
              <a:ext cx="327305" cy="36178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5077101" y="2644366"/>
              <a:ext cx="327305" cy="457741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822430" y="2808059"/>
              <a:ext cx="1745629" cy="0"/>
            </a:xfrm>
            <a:custGeom>
              <a:avLst/>
              <a:pathLst>
                <a:path w="1745629" h="0">
                  <a:moveTo>
                    <a:pt x="0" y="0"/>
                  </a:moveTo>
                  <a:lnTo>
                    <a:pt x="1745629" y="0"/>
                  </a:lnTo>
                  <a:lnTo>
                    <a:pt x="1745629" y="0"/>
                  </a:lnTo>
                </a:path>
              </a:pathLst>
            </a:custGeom>
            <a:ln w="9485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4061907" y="1372233"/>
              <a:ext cx="1756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5.59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607416" y="2653047"/>
              <a:ext cx="1756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1.23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5152925" y="2557091"/>
              <a:ext cx="1756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1.56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822430" y="1163840"/>
              <a:ext cx="0" cy="1938267"/>
            </a:xfrm>
            <a:custGeom>
              <a:avLst/>
              <a:pathLst>
                <a:path w="0" h="1938267">
                  <a:moveTo>
                    <a:pt x="0" y="1938267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708984" y="3065715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708984" y="2477617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708984" y="1889519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708984" y="1301421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790799" y="310210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790799" y="251401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790799" y="192591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790799" y="133781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1950702" y="1008897"/>
              <a:ext cx="1270741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AICc (lower is better)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73040" y="1008897"/>
              <a:ext cx="131316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Dispersion (1 is ideal)</a:t>
              </a:r>
            </a:p>
          </p:txBody>
        </p:sp>
        <p:sp>
          <p:nvSpPr>
            <p:cNvPr id="41" name="pl41"/>
            <p:cNvSpPr/>
            <p:nvPr/>
          </p:nvSpPr>
          <p:spPr>
            <a:xfrm>
              <a:off x="1900092" y="3102108"/>
              <a:ext cx="1745629" cy="0"/>
            </a:xfrm>
            <a:custGeom>
              <a:avLst/>
              <a:pathLst>
                <a:path w="1745629" h="0">
                  <a:moveTo>
                    <a:pt x="0" y="0"/>
                  </a:moveTo>
                  <a:lnTo>
                    <a:pt x="1745629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227397" y="310210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72906" y="310210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318415" y="310210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 rot="-960000">
              <a:off x="1654665" y="3239537"/>
              <a:ext cx="59298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Poisson (main)</a:t>
              </a:r>
            </a:p>
          </p:txBody>
        </p:sp>
        <p:sp>
          <p:nvSpPr>
            <p:cNvPr id="46" name="tx46"/>
            <p:cNvSpPr/>
            <p:nvPr/>
          </p:nvSpPr>
          <p:spPr>
            <a:xfrm rot="-960000">
              <a:off x="1817199" y="3293360"/>
              <a:ext cx="98352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Negative binomial (main)</a:t>
              </a:r>
            </a:p>
          </p:txBody>
        </p:sp>
        <p:sp>
          <p:nvSpPr>
            <p:cNvPr id="47" name="tx47"/>
            <p:cNvSpPr/>
            <p:nvPr/>
          </p:nvSpPr>
          <p:spPr>
            <a:xfrm rot="-960000">
              <a:off x="1735922" y="3381449"/>
              <a:ext cx="162269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Negative binomial (recent effort as offset)</a:t>
              </a:r>
            </a:p>
          </p:txBody>
        </p:sp>
        <p:sp>
          <p:nvSpPr>
            <p:cNvPr id="48" name="pl48"/>
            <p:cNvSpPr/>
            <p:nvPr/>
          </p:nvSpPr>
          <p:spPr>
            <a:xfrm>
              <a:off x="3822430" y="3102108"/>
              <a:ext cx="1745629" cy="0"/>
            </a:xfrm>
            <a:custGeom>
              <a:avLst/>
              <a:pathLst>
                <a:path w="1745629" h="0">
                  <a:moveTo>
                    <a:pt x="0" y="0"/>
                  </a:moveTo>
                  <a:lnTo>
                    <a:pt x="1745629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149735" y="310210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695245" y="310210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5240754" y="310210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tx52"/>
            <p:cNvSpPr/>
            <p:nvPr/>
          </p:nvSpPr>
          <p:spPr>
            <a:xfrm rot="-960000">
              <a:off x="3577004" y="3239537"/>
              <a:ext cx="59298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Poisson (main)</a:t>
              </a:r>
            </a:p>
          </p:txBody>
        </p:sp>
        <p:sp>
          <p:nvSpPr>
            <p:cNvPr id="53" name="tx53"/>
            <p:cNvSpPr/>
            <p:nvPr/>
          </p:nvSpPr>
          <p:spPr>
            <a:xfrm rot="-960000">
              <a:off x="3739537" y="3293360"/>
              <a:ext cx="98352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Negative binomial (main)</a:t>
              </a:r>
            </a:p>
          </p:txBody>
        </p:sp>
        <p:sp>
          <p:nvSpPr>
            <p:cNvPr id="54" name="tx54"/>
            <p:cNvSpPr/>
            <p:nvPr/>
          </p:nvSpPr>
          <p:spPr>
            <a:xfrm rot="-960000">
              <a:off x="3658261" y="3381449"/>
              <a:ext cx="162269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Negative binomial (recent effort as offset)</a:t>
              </a:r>
            </a:p>
          </p:txBody>
        </p:sp>
        <p:sp>
          <p:nvSpPr>
            <p:cNvPr id="55" name="pl55"/>
            <p:cNvSpPr/>
            <p:nvPr/>
          </p:nvSpPr>
          <p:spPr>
            <a:xfrm>
              <a:off x="1900092" y="1163840"/>
              <a:ext cx="0" cy="1938267"/>
            </a:xfrm>
            <a:custGeom>
              <a:avLst/>
              <a:pathLst>
                <a:path w="0" h="1938267">
                  <a:moveTo>
                    <a:pt x="0" y="1938267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1786645" y="3065715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1673625" y="2521925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673625" y="1978134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673625" y="1434344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300</a:t>
              </a:r>
            </a:p>
          </p:txBody>
        </p:sp>
        <p:sp>
          <p:nvSpPr>
            <p:cNvPr id="60" name="pl60"/>
            <p:cNvSpPr/>
            <p:nvPr/>
          </p:nvSpPr>
          <p:spPr>
            <a:xfrm>
              <a:off x="1868460" y="310210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868460" y="255831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868460" y="201452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1868460" y="147073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1900092" y="773500"/>
              <a:ext cx="4596231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Poisson dispersion 5.60 (P = 2.3e-17); the negative binomial reduces it to 1.24 (P = 0.20)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900092" y="328384"/>
              <a:ext cx="294327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Poisson is rejected, negative binomial is not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333858" y="327367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67" name="rc67"/>
            <p:cNvSpPr/>
            <p:nvPr/>
          </p:nvSpPr>
          <p:spPr>
            <a:xfrm>
              <a:off x="7316903" y="1163840"/>
              <a:ext cx="1802352" cy="193826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401919" y="1163840"/>
              <a:ext cx="0" cy="1938267"/>
            </a:xfrm>
            <a:custGeom>
              <a:avLst/>
              <a:pathLst>
                <a:path w="0" h="1938267">
                  <a:moveTo>
                    <a:pt x="0" y="19382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987382" y="2601910"/>
              <a:ext cx="621588" cy="0"/>
            </a:xfrm>
            <a:custGeom>
              <a:avLst/>
              <a:pathLst>
                <a:path w="621588" h="0">
                  <a:moveTo>
                    <a:pt x="0" y="0"/>
                  </a:moveTo>
                  <a:lnTo>
                    <a:pt x="621588" y="0"/>
                  </a:lnTo>
                </a:path>
              </a:pathLst>
            </a:custGeom>
            <a:ln w="1490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7877781" y="2914534"/>
              <a:ext cx="838327" cy="0"/>
            </a:xfrm>
            <a:custGeom>
              <a:avLst/>
              <a:pathLst>
                <a:path w="838327" h="0">
                  <a:moveTo>
                    <a:pt x="0" y="0"/>
                  </a:moveTo>
                  <a:lnTo>
                    <a:pt x="838327" y="0"/>
                  </a:lnTo>
                </a:path>
              </a:pathLst>
            </a:custGeom>
            <a:ln w="1490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422198" y="1351414"/>
              <a:ext cx="551774" cy="0"/>
            </a:xfrm>
            <a:custGeom>
              <a:avLst/>
              <a:pathLst>
                <a:path w="551774" h="0">
                  <a:moveTo>
                    <a:pt x="0" y="0"/>
                  </a:moveTo>
                  <a:lnTo>
                    <a:pt x="551774" y="0"/>
                  </a:lnTo>
                </a:path>
              </a:pathLst>
            </a:custGeom>
            <a:ln w="14905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146594" y="1976662"/>
              <a:ext cx="748621" cy="0"/>
            </a:xfrm>
            <a:custGeom>
              <a:avLst/>
              <a:pathLst>
                <a:path w="748621" h="0">
                  <a:moveTo>
                    <a:pt x="0" y="0"/>
                  </a:moveTo>
                  <a:lnTo>
                    <a:pt x="748621" y="0"/>
                  </a:lnTo>
                </a:path>
              </a:pathLst>
            </a:custGeom>
            <a:ln w="1490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324024" y="1664038"/>
              <a:ext cx="545467" cy="0"/>
            </a:xfrm>
            <a:custGeom>
              <a:avLst/>
              <a:pathLst>
                <a:path w="545467" h="0">
                  <a:moveTo>
                    <a:pt x="0" y="0"/>
                  </a:moveTo>
                  <a:lnTo>
                    <a:pt x="545467" y="0"/>
                  </a:lnTo>
                </a:path>
              </a:pathLst>
            </a:custGeom>
            <a:ln w="1490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180425" y="2289286"/>
              <a:ext cx="423805" cy="0"/>
            </a:xfrm>
            <a:custGeom>
              <a:avLst/>
              <a:pathLst>
                <a:path w="423805" h="0">
                  <a:moveTo>
                    <a:pt x="0" y="0"/>
                  </a:moveTo>
                  <a:lnTo>
                    <a:pt x="423805" y="0"/>
                  </a:lnTo>
                </a:path>
              </a:pathLst>
            </a:custGeom>
            <a:ln w="1490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8266984" y="2570718"/>
              <a:ext cx="62384" cy="6238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8265753" y="2883342"/>
              <a:ext cx="62384" cy="6238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8666893" y="1320222"/>
              <a:ext cx="62384" cy="62384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8489713" y="1945470"/>
              <a:ext cx="62384" cy="6238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8565565" y="1632846"/>
              <a:ext cx="62384" cy="6238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8361136" y="2258094"/>
              <a:ext cx="62384" cy="6238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8220909" y="2491002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0.92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8219678" y="2803626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0.92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8620818" y="1240507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1.27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8443638" y="1865755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1.10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8519491" y="1553131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1.17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8315061" y="2178378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0.99</a:t>
              </a:r>
            </a:p>
          </p:txBody>
        </p:sp>
        <p:sp>
          <p:nvSpPr>
            <p:cNvPr id="87" name="rc87"/>
            <p:cNvSpPr/>
            <p:nvPr/>
          </p:nvSpPr>
          <p:spPr>
            <a:xfrm>
              <a:off x="9182518" y="1163840"/>
              <a:ext cx="1802352" cy="193826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0267534" y="1163840"/>
              <a:ext cx="0" cy="1938267"/>
            </a:xfrm>
            <a:custGeom>
              <a:avLst/>
              <a:pathLst>
                <a:path w="0" h="1938267">
                  <a:moveTo>
                    <a:pt x="0" y="19382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9453002" y="2601910"/>
              <a:ext cx="754210" cy="0"/>
            </a:xfrm>
            <a:custGeom>
              <a:avLst/>
              <a:pathLst>
                <a:path w="754210" h="0">
                  <a:moveTo>
                    <a:pt x="0" y="0"/>
                  </a:moveTo>
                  <a:lnTo>
                    <a:pt x="754210" y="0"/>
                  </a:lnTo>
                </a:path>
              </a:pathLst>
            </a:custGeom>
            <a:ln w="14905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9743726" y="1351414"/>
              <a:ext cx="720192" cy="0"/>
            </a:xfrm>
            <a:custGeom>
              <a:avLst/>
              <a:pathLst>
                <a:path w="720192" h="0">
                  <a:moveTo>
                    <a:pt x="0" y="0"/>
                  </a:moveTo>
                  <a:lnTo>
                    <a:pt x="720192" y="0"/>
                  </a:lnTo>
                </a:path>
              </a:pathLst>
            </a:custGeom>
            <a:ln w="1490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9264443" y="1976662"/>
              <a:ext cx="791220" cy="0"/>
            </a:xfrm>
            <a:custGeom>
              <a:avLst/>
              <a:pathLst>
                <a:path w="791220" h="0">
                  <a:moveTo>
                    <a:pt x="0" y="0"/>
                  </a:moveTo>
                  <a:lnTo>
                    <a:pt x="791220" y="0"/>
                  </a:lnTo>
                </a:path>
              </a:pathLst>
            </a:custGeom>
            <a:ln w="14905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10123211" y="1664038"/>
              <a:ext cx="779733" cy="0"/>
            </a:xfrm>
            <a:custGeom>
              <a:avLst/>
              <a:pathLst>
                <a:path w="779733" h="0">
                  <a:moveTo>
                    <a:pt x="0" y="0"/>
                  </a:moveTo>
                  <a:lnTo>
                    <a:pt x="779733" y="0"/>
                  </a:lnTo>
                </a:path>
              </a:pathLst>
            </a:custGeom>
            <a:ln w="1490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10001880" y="2289286"/>
              <a:ext cx="609219" cy="0"/>
            </a:xfrm>
            <a:custGeom>
              <a:avLst/>
              <a:pathLst>
                <a:path w="609219" h="0">
                  <a:moveTo>
                    <a:pt x="0" y="0"/>
                  </a:moveTo>
                  <a:lnTo>
                    <a:pt x="609219" y="0"/>
                  </a:lnTo>
                </a:path>
              </a:pathLst>
            </a:custGeom>
            <a:ln w="1490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9798915" y="2570718"/>
              <a:ext cx="62384" cy="62384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0072630" y="1320222"/>
              <a:ext cx="62384" cy="6238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9628861" y="1945470"/>
              <a:ext cx="62384" cy="62384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0481886" y="1632846"/>
              <a:ext cx="62384" cy="6238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0275298" y="2258094"/>
              <a:ext cx="62384" cy="6238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tx99"/>
            <p:cNvSpPr/>
            <p:nvPr/>
          </p:nvSpPr>
          <p:spPr>
            <a:xfrm>
              <a:off x="9752841" y="2491002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0.70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10026555" y="1240507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0.88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9582786" y="1865755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0.61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10435811" y="1553131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1.22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10229223" y="2178378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1.03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367513" y="1008897"/>
              <a:ext cx="43735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Counts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9233128" y="1008897"/>
              <a:ext cx="170828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Rate per unit of recent effort</a:t>
              </a:r>
            </a:p>
          </p:txBody>
        </p:sp>
        <p:sp>
          <p:nvSpPr>
            <p:cNvPr id="106" name="pl106"/>
            <p:cNvSpPr/>
            <p:nvPr/>
          </p:nvSpPr>
          <p:spPr>
            <a:xfrm>
              <a:off x="7316903" y="3102108"/>
              <a:ext cx="1802352" cy="0"/>
            </a:xfrm>
            <a:custGeom>
              <a:avLst/>
              <a:pathLst>
                <a:path w="1802352" h="0">
                  <a:moveTo>
                    <a:pt x="0" y="0"/>
                  </a:moveTo>
                  <a:lnTo>
                    <a:pt x="1802352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7550650" y="310210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7963879" y="310210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401919" y="310210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7480013" y="3159044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893242" y="3159044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0.7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8331282" y="3159044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13" name="pl113"/>
            <p:cNvSpPr/>
            <p:nvPr/>
          </p:nvSpPr>
          <p:spPr>
            <a:xfrm>
              <a:off x="9182518" y="3102108"/>
              <a:ext cx="1802352" cy="0"/>
            </a:xfrm>
            <a:custGeom>
              <a:avLst/>
              <a:pathLst>
                <a:path w="1802352" h="0">
                  <a:moveTo>
                    <a:pt x="0" y="0"/>
                  </a:moveTo>
                  <a:lnTo>
                    <a:pt x="1802352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9416266" y="310210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9829494" y="310210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0267534" y="310210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9345628" y="3159044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9758857" y="3159044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0.7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10196897" y="3159044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20" name="pl120"/>
            <p:cNvSpPr/>
            <p:nvPr/>
          </p:nvSpPr>
          <p:spPr>
            <a:xfrm>
              <a:off x="7316903" y="1163840"/>
              <a:ext cx="0" cy="1938267"/>
            </a:xfrm>
            <a:custGeom>
              <a:avLst/>
              <a:pathLst>
                <a:path w="0" h="1938267">
                  <a:moveTo>
                    <a:pt x="0" y="1938267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1"/>
            <p:cNvSpPr/>
            <p:nvPr/>
          </p:nvSpPr>
          <p:spPr>
            <a:xfrm>
              <a:off x="5770500" y="2878141"/>
              <a:ext cx="148946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Recent survey effort (2009-2024)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5860934" y="2565517"/>
              <a:ext cx="139903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Early survey effort (2002-2008)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293902" y="2252893"/>
              <a:ext cx="96606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heterogeneity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6567125" y="1940269"/>
              <a:ext cx="69284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GDP per capita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6390189" y="1627645"/>
              <a:ext cx="86977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Administrative area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6079293" y="1315021"/>
              <a:ext cx="118067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Regional species richness</a:t>
              </a:r>
            </a:p>
          </p:txBody>
        </p:sp>
        <p:sp>
          <p:nvSpPr>
            <p:cNvPr id="127" name="pl127"/>
            <p:cNvSpPr/>
            <p:nvPr/>
          </p:nvSpPr>
          <p:spPr>
            <a:xfrm>
              <a:off x="7285271" y="291453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285271" y="260191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285271" y="228928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7285271" y="197666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7285271" y="166403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285271" y="135141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8073815" y="3717059"/>
              <a:ext cx="215414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Incidence rate ratio per 1 SD (95% CI)</a:t>
              </a:r>
            </a:p>
          </p:txBody>
        </p:sp>
        <p:sp>
          <p:nvSpPr>
            <p:cNvPr id="134" name="rc134"/>
            <p:cNvSpPr/>
            <p:nvPr/>
          </p:nvSpPr>
          <p:spPr>
            <a:xfrm>
              <a:off x="8573401" y="3961268"/>
              <a:ext cx="1154970" cy="2403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8636664" y="4024531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648051" y="4081467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490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8662408" y="4050275"/>
              <a:ext cx="62384" cy="6238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9061223" y="4024531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9072610" y="4081467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4905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9086967" y="4050275"/>
              <a:ext cx="62384" cy="62384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8813800" y="4040548"/>
              <a:ext cx="18416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n.s.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9238358" y="4040548"/>
              <a:ext cx="42675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 &lt; 0.05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7316903" y="521126"/>
              <a:ext cx="3264316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Left: both efforts as predictors. Right: recent effort as an offset, 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7316903" y="647313"/>
              <a:ext cx="2814066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so the response is the discovery rate per unit of effort. 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7316903" y="773500"/>
              <a:ext cx="3594140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Provinces already well covered in 2002-2008 then yield fewer records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7316903" y="328384"/>
              <a:ext cx="259314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Effort shows up as diminishing returns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5746143" y="327367"/>
              <a:ext cx="100858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48" name="rc148"/>
            <p:cNvSpPr/>
            <p:nvPr/>
          </p:nvSpPr>
          <p:spPr>
            <a:xfrm>
              <a:off x="252469" y="4277582"/>
              <a:ext cx="5416810" cy="31509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669279" y="4277582"/>
              <a:ext cx="5416810" cy="31509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1900092" y="4843862"/>
              <a:ext cx="3667967" cy="18413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2314238" y="4843862"/>
              <a:ext cx="0" cy="1841354"/>
            </a:xfrm>
            <a:custGeom>
              <a:avLst/>
              <a:pathLst>
                <a:path w="0" h="1841354">
                  <a:moveTo>
                    <a:pt x="0" y="1841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3426265" y="4843862"/>
              <a:ext cx="0" cy="1841354"/>
            </a:xfrm>
            <a:custGeom>
              <a:avLst/>
              <a:pathLst>
                <a:path w="0" h="1841354">
                  <a:moveTo>
                    <a:pt x="0" y="1841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4538291" y="4843862"/>
              <a:ext cx="0" cy="1841354"/>
            </a:xfrm>
            <a:custGeom>
              <a:avLst/>
              <a:pathLst>
                <a:path w="0" h="1841354">
                  <a:moveTo>
                    <a:pt x="0" y="1841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2314238" y="4843862"/>
              <a:ext cx="0" cy="1841354"/>
            </a:xfrm>
            <a:custGeom>
              <a:avLst/>
              <a:pathLst>
                <a:path w="0" h="1841354">
                  <a:moveTo>
                    <a:pt x="0" y="1841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2547934" y="4932960"/>
              <a:ext cx="2853399" cy="17819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3338545" y="5229953"/>
              <a:ext cx="1836467" cy="17819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2814916" y="5526945"/>
              <a:ext cx="349058" cy="17819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2314238" y="5823938"/>
              <a:ext cx="285736" cy="17819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2314238" y="6120931"/>
              <a:ext cx="239203" cy="17819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2374493" y="6417923"/>
              <a:ext cx="13809" cy="17819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2314238" y="4932960"/>
              <a:ext cx="233695" cy="178195"/>
            </a:xfrm>
            <a:prstGeom prst="rect">
              <a:avLst/>
            </a:prstGeom>
            <a:solidFill>
              <a:srgbClr val="F0E4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2314238" y="5229953"/>
              <a:ext cx="1024307" cy="178195"/>
            </a:xfrm>
            <a:prstGeom prst="rect">
              <a:avLst/>
            </a:prstGeom>
            <a:solidFill>
              <a:srgbClr val="F0E4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2314238" y="5526945"/>
              <a:ext cx="500678" cy="178195"/>
            </a:xfrm>
            <a:prstGeom prst="rect">
              <a:avLst/>
            </a:prstGeom>
            <a:solidFill>
              <a:srgbClr val="F0E4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2066817" y="5823938"/>
              <a:ext cx="247420" cy="178195"/>
            </a:xfrm>
            <a:prstGeom prst="rect">
              <a:avLst/>
            </a:prstGeom>
            <a:solidFill>
              <a:srgbClr val="F0E4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2168844" y="6120931"/>
              <a:ext cx="145393" cy="178195"/>
            </a:xfrm>
            <a:prstGeom prst="rect">
              <a:avLst/>
            </a:prstGeom>
            <a:solidFill>
              <a:srgbClr val="F0E4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2314238" y="6417923"/>
              <a:ext cx="60254" cy="178195"/>
            </a:xfrm>
            <a:prstGeom prst="rect">
              <a:avLst/>
            </a:prstGeom>
            <a:solidFill>
              <a:srgbClr val="F0E4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900092" y="4843862"/>
              <a:ext cx="0" cy="1841354"/>
            </a:xfrm>
            <a:custGeom>
              <a:avLst/>
              <a:pathLst>
                <a:path w="0" h="1841354">
                  <a:moveTo>
                    <a:pt x="0" y="184135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tx168"/>
            <p:cNvSpPr/>
            <p:nvPr/>
          </p:nvSpPr>
          <p:spPr>
            <a:xfrm>
              <a:off x="877092" y="6470628"/>
              <a:ext cx="96606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heterogeneity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444123" y="6173635"/>
              <a:ext cx="139903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Early survey effort (2002-2008)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353689" y="5876643"/>
              <a:ext cx="148946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Recent survey effort (2009-2024)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1150314" y="5579650"/>
              <a:ext cx="69284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GDP per capita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973378" y="5282657"/>
              <a:ext cx="86977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Administrative area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662482" y="4985665"/>
              <a:ext cx="118067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Regional species richness</a:t>
              </a:r>
            </a:p>
          </p:txBody>
        </p:sp>
        <p:sp>
          <p:nvSpPr>
            <p:cNvPr id="174" name="pl174"/>
            <p:cNvSpPr/>
            <p:nvPr/>
          </p:nvSpPr>
          <p:spPr>
            <a:xfrm>
              <a:off x="1868460" y="650702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1868460" y="621002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1868460" y="591303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1868460" y="561604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1868460" y="531905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1868460" y="502205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1900092" y="6685217"/>
              <a:ext cx="3667967" cy="0"/>
            </a:xfrm>
            <a:custGeom>
              <a:avLst/>
              <a:pathLst>
                <a:path w="3667967" h="0">
                  <a:moveTo>
                    <a:pt x="0" y="0"/>
                  </a:moveTo>
                  <a:lnTo>
                    <a:pt x="3667967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2314238" y="668521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3426265" y="668521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4538291" y="668521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tx184"/>
            <p:cNvSpPr/>
            <p:nvPr/>
          </p:nvSpPr>
          <p:spPr>
            <a:xfrm>
              <a:off x="2285983" y="6742153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3398010" y="6742153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4510036" y="6742153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2642602" y="6867968"/>
              <a:ext cx="218294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Contribution to explained deviance (%)</a:t>
              </a:r>
            </a:p>
          </p:txBody>
        </p:sp>
        <p:sp>
          <p:nvSpPr>
            <p:cNvPr id="188" name="rc188"/>
            <p:cNvSpPr/>
            <p:nvPr/>
          </p:nvSpPr>
          <p:spPr>
            <a:xfrm>
              <a:off x="3023636" y="7112177"/>
              <a:ext cx="1420877" cy="2403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3086899" y="7175439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3095081" y="7183621"/>
              <a:ext cx="97509" cy="97509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3962714" y="7175439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3970896" y="7183621"/>
              <a:ext cx="97509" cy="97509"/>
            </a:xfrm>
            <a:prstGeom prst="rect">
              <a:avLst/>
            </a:prstGeom>
            <a:solidFill>
              <a:srgbClr val="F0E4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tx193"/>
            <p:cNvSpPr/>
            <p:nvPr/>
          </p:nvSpPr>
          <p:spPr>
            <a:xfrm>
              <a:off x="3264035" y="7191456"/>
              <a:ext cx="635416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Independent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4139850" y="7191456"/>
              <a:ext cx="2414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Joint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1900092" y="4546239"/>
              <a:ext cx="4139763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Full model explains 20.5% of deviance; independent contributions sum to 19.9%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1900092" y="4353497"/>
              <a:ext cx="160742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Hierarchical partitioning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333858" y="4339367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98" name="rc198"/>
            <p:cNvSpPr/>
            <p:nvPr/>
          </p:nvSpPr>
          <p:spPr>
            <a:xfrm>
              <a:off x="7316903" y="4843862"/>
              <a:ext cx="3667967" cy="18413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7868380" y="4843862"/>
              <a:ext cx="0" cy="1841354"/>
            </a:xfrm>
            <a:custGeom>
              <a:avLst/>
              <a:pathLst>
                <a:path w="0" h="1841354">
                  <a:moveTo>
                    <a:pt x="0" y="1841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894385" y="4843862"/>
              <a:ext cx="0" cy="1841354"/>
            </a:xfrm>
            <a:custGeom>
              <a:avLst/>
              <a:pathLst>
                <a:path w="0" h="1841354">
                  <a:moveTo>
                    <a:pt x="0" y="1841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9920390" y="4843862"/>
              <a:ext cx="0" cy="1841354"/>
            </a:xfrm>
            <a:custGeom>
              <a:avLst/>
              <a:pathLst>
                <a:path w="0" h="1841354">
                  <a:moveTo>
                    <a:pt x="0" y="1841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10946395" y="4843862"/>
              <a:ext cx="0" cy="1841354"/>
            </a:xfrm>
            <a:custGeom>
              <a:avLst/>
              <a:pathLst>
                <a:path w="0" h="1841354">
                  <a:moveTo>
                    <a:pt x="0" y="1841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894385" y="4843862"/>
              <a:ext cx="0" cy="1841354"/>
            </a:xfrm>
            <a:custGeom>
              <a:avLst/>
              <a:pathLst>
                <a:path w="0" h="1841354">
                  <a:moveTo>
                    <a:pt x="0" y="18413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8565595" y="6417923"/>
              <a:ext cx="328789" cy="178195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8751214" y="6120931"/>
              <a:ext cx="143170" cy="178195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8769234" y="5823938"/>
              <a:ext cx="125151" cy="178195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8894385" y="5526945"/>
              <a:ext cx="194315" cy="178195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8894385" y="5229953"/>
              <a:ext cx="603522" cy="178195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8894385" y="4932960"/>
              <a:ext cx="789095" cy="178195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tx210"/>
            <p:cNvSpPr/>
            <p:nvPr/>
          </p:nvSpPr>
          <p:spPr>
            <a:xfrm>
              <a:off x="7888952" y="6478583"/>
              <a:ext cx="638342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 = -0.13, P = 0.49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8074571" y="6181591"/>
              <a:ext cx="638342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 = -0.06, P = 0.77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8092591" y="5884598"/>
              <a:ext cx="638342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 = -0.05, P = 0.79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9125416" y="5587605"/>
              <a:ext cx="611916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 = 0.08, P = 0.69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9534622" y="5290613"/>
              <a:ext cx="611916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 = 0.24, P = 0.20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9720196" y="4993620"/>
              <a:ext cx="611916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 = 0.31, P = 0.09</a:t>
              </a:r>
            </a:p>
          </p:txBody>
        </p:sp>
        <p:sp>
          <p:nvSpPr>
            <p:cNvPr id="216" name="pl216"/>
            <p:cNvSpPr/>
            <p:nvPr/>
          </p:nvSpPr>
          <p:spPr>
            <a:xfrm>
              <a:off x="7316903" y="4843862"/>
              <a:ext cx="0" cy="1841354"/>
            </a:xfrm>
            <a:custGeom>
              <a:avLst/>
              <a:pathLst>
                <a:path w="0" h="1841354">
                  <a:moveTo>
                    <a:pt x="0" y="184135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tx217"/>
            <p:cNvSpPr/>
            <p:nvPr/>
          </p:nvSpPr>
          <p:spPr>
            <a:xfrm>
              <a:off x="5860934" y="6470628"/>
              <a:ext cx="139903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Early survey effort (2002-2008)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5770500" y="6173635"/>
              <a:ext cx="148946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Recent survey effort (2009-2024)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6293902" y="5876643"/>
              <a:ext cx="96606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heterogeneity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6567125" y="5579650"/>
              <a:ext cx="69284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GDP per capita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6390189" y="5282657"/>
              <a:ext cx="86977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Administrative area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079293" y="4985665"/>
              <a:ext cx="118067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Regional species richness</a:t>
              </a:r>
            </a:p>
          </p:txBody>
        </p:sp>
        <p:sp>
          <p:nvSpPr>
            <p:cNvPr id="223" name="pl223"/>
            <p:cNvSpPr/>
            <p:nvPr/>
          </p:nvSpPr>
          <p:spPr>
            <a:xfrm>
              <a:off x="7285271" y="650702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285271" y="621002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285271" y="591303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285271" y="561604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285271" y="531905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285271" y="502205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316903" y="6685217"/>
              <a:ext cx="3667967" cy="0"/>
            </a:xfrm>
            <a:custGeom>
              <a:avLst/>
              <a:pathLst>
                <a:path w="3667967" h="0">
                  <a:moveTo>
                    <a:pt x="0" y="0"/>
                  </a:moveTo>
                  <a:lnTo>
                    <a:pt x="3667967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868380" y="668521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8894385" y="668521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9920390" y="668521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10946395" y="668521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tx234"/>
            <p:cNvSpPr/>
            <p:nvPr/>
          </p:nvSpPr>
          <p:spPr>
            <a:xfrm>
              <a:off x="7780826" y="6742153"/>
              <a:ext cx="1751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-0.4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8823748" y="6742153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9849753" y="6742153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10875757" y="6742153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0.8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8017213" y="6867968"/>
              <a:ext cx="226734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Partial correlation with new-record count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7316903" y="4546239"/>
              <a:ext cx="2433126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Each predictor against the residuals of a model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7316903" y="4672426"/>
              <a:ext cx="1583375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holding all the others constant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7316903" y="4353497"/>
              <a:ext cx="118067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Partial regression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5746143" y="4339367"/>
              <a:ext cx="100858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2026-10-13T21:00:01Z</dcterms:modified>
  <cp:category/>
</cp:coreProperties>
</file>