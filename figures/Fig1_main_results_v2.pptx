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82880" y="182880"/>
            <a:ext cx="8229600" cy="6309360"/>
            <a:chOff x="182880" y="182880"/>
            <a:chExt cx="8229600" cy="6309360"/>
          </a:xfrm>
        </p:grpSpPr>
        <p:sp>
          <p:nvSpPr>
            <p:cNvPr id="3" name="rc3"/>
            <p:cNvSpPr/>
            <p:nvPr/>
          </p:nvSpPr>
          <p:spPr>
            <a:xfrm>
              <a:off x="182880" y="182880"/>
              <a:ext cx="8229600" cy="63093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2880" y="182880"/>
              <a:ext cx="8229599" cy="630935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2469" y="252469"/>
              <a:ext cx="4459117" cy="276038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711586" y="252469"/>
              <a:ext cx="3631304" cy="276038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529028" y="680766"/>
              <a:ext cx="3081337" cy="19557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29028" y="2357117"/>
              <a:ext cx="3081337" cy="0"/>
            </a:xfrm>
            <a:custGeom>
              <a:avLst/>
              <a:pathLst>
                <a:path w="3081337" h="0">
                  <a:moveTo>
                    <a:pt x="0" y="0"/>
                  </a:moveTo>
                  <a:lnTo>
                    <a:pt x="3081337" y="0"/>
                  </a:lnTo>
                  <a:lnTo>
                    <a:pt x="308133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529028" y="1891464"/>
              <a:ext cx="3081337" cy="0"/>
            </a:xfrm>
            <a:custGeom>
              <a:avLst/>
              <a:pathLst>
                <a:path w="3081337" h="0">
                  <a:moveTo>
                    <a:pt x="0" y="0"/>
                  </a:moveTo>
                  <a:lnTo>
                    <a:pt x="3081337" y="0"/>
                  </a:lnTo>
                  <a:lnTo>
                    <a:pt x="308133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529028" y="1425811"/>
              <a:ext cx="3081337" cy="0"/>
            </a:xfrm>
            <a:custGeom>
              <a:avLst/>
              <a:pathLst>
                <a:path w="3081337" h="0">
                  <a:moveTo>
                    <a:pt x="0" y="0"/>
                  </a:moveTo>
                  <a:lnTo>
                    <a:pt x="3081337" y="0"/>
                  </a:lnTo>
                  <a:lnTo>
                    <a:pt x="308133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529028" y="960158"/>
              <a:ext cx="3081337" cy="0"/>
            </a:xfrm>
            <a:custGeom>
              <a:avLst/>
              <a:pathLst>
                <a:path w="3081337" h="0">
                  <a:moveTo>
                    <a:pt x="0" y="0"/>
                  </a:moveTo>
                  <a:lnTo>
                    <a:pt x="3081337" y="0"/>
                  </a:lnTo>
                  <a:lnTo>
                    <a:pt x="308133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07139" y="680766"/>
              <a:ext cx="0" cy="1955742"/>
            </a:xfrm>
            <a:custGeom>
              <a:avLst/>
              <a:pathLst>
                <a:path w="0" h="1955742">
                  <a:moveTo>
                    <a:pt x="0" y="19557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539099" y="1053289"/>
              <a:ext cx="909047" cy="0"/>
            </a:xfrm>
            <a:custGeom>
              <a:avLst/>
              <a:pathLst>
                <a:path w="909047" h="0">
                  <a:moveTo>
                    <a:pt x="0" y="0"/>
                  </a:moveTo>
                  <a:lnTo>
                    <a:pt x="909047" y="0"/>
                  </a:lnTo>
                </a:path>
              </a:pathLst>
            </a:custGeom>
            <a:ln w="1490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540720" y="960158"/>
              <a:ext cx="912370" cy="0"/>
            </a:xfrm>
            <a:custGeom>
              <a:avLst/>
              <a:pathLst>
                <a:path w="912370" h="0">
                  <a:moveTo>
                    <a:pt x="0" y="0"/>
                  </a:moveTo>
                  <a:lnTo>
                    <a:pt x="912370" y="0"/>
                  </a:lnTo>
                </a:path>
              </a:pathLst>
            </a:custGeom>
            <a:ln w="14905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553523" y="867027"/>
              <a:ext cx="916782" cy="0"/>
            </a:xfrm>
            <a:custGeom>
              <a:avLst/>
              <a:pathLst>
                <a:path w="916782" h="0">
                  <a:moveTo>
                    <a:pt x="0" y="0"/>
                  </a:moveTo>
                  <a:lnTo>
                    <a:pt x="916782" y="0"/>
                  </a:lnTo>
                </a:path>
              </a:pathLst>
            </a:custGeom>
            <a:ln w="14905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449785" y="1518942"/>
              <a:ext cx="856319" cy="0"/>
            </a:xfrm>
            <a:custGeom>
              <a:avLst/>
              <a:pathLst>
                <a:path w="856319" h="0">
                  <a:moveTo>
                    <a:pt x="0" y="0"/>
                  </a:moveTo>
                  <a:lnTo>
                    <a:pt x="856319" y="0"/>
                  </a:lnTo>
                </a:path>
              </a:pathLst>
            </a:custGeom>
            <a:ln w="1490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480516" y="1425811"/>
              <a:ext cx="873873" cy="0"/>
            </a:xfrm>
            <a:custGeom>
              <a:avLst/>
              <a:pathLst>
                <a:path w="873873" h="0">
                  <a:moveTo>
                    <a:pt x="0" y="0"/>
                  </a:moveTo>
                  <a:lnTo>
                    <a:pt x="873873" y="0"/>
                  </a:lnTo>
                </a:path>
              </a:pathLst>
            </a:custGeom>
            <a:ln w="14905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458860" y="1332680"/>
              <a:ext cx="894088" cy="0"/>
            </a:xfrm>
            <a:custGeom>
              <a:avLst/>
              <a:pathLst>
                <a:path w="894088" h="0">
                  <a:moveTo>
                    <a:pt x="0" y="0"/>
                  </a:moveTo>
                  <a:lnTo>
                    <a:pt x="894088" y="0"/>
                  </a:lnTo>
                </a:path>
              </a:pathLst>
            </a:custGeom>
            <a:ln w="14905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343417" y="1984595"/>
              <a:ext cx="690152" cy="0"/>
            </a:xfrm>
            <a:custGeom>
              <a:avLst/>
              <a:pathLst>
                <a:path w="690152" h="0">
                  <a:moveTo>
                    <a:pt x="0" y="0"/>
                  </a:moveTo>
                  <a:lnTo>
                    <a:pt x="690152" y="0"/>
                  </a:lnTo>
                </a:path>
              </a:pathLst>
            </a:custGeom>
            <a:ln w="1490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343003" y="1891464"/>
              <a:ext cx="693282" cy="0"/>
            </a:xfrm>
            <a:custGeom>
              <a:avLst/>
              <a:pathLst>
                <a:path w="693282" h="0">
                  <a:moveTo>
                    <a:pt x="0" y="0"/>
                  </a:moveTo>
                  <a:lnTo>
                    <a:pt x="693282" y="0"/>
                  </a:lnTo>
                </a:path>
              </a:pathLst>
            </a:custGeom>
            <a:ln w="14905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342632" y="1798333"/>
              <a:ext cx="695958" cy="0"/>
            </a:xfrm>
            <a:custGeom>
              <a:avLst/>
              <a:pathLst>
                <a:path w="695958" h="0">
                  <a:moveTo>
                    <a:pt x="0" y="0"/>
                  </a:moveTo>
                  <a:lnTo>
                    <a:pt x="695958" y="0"/>
                  </a:lnTo>
                </a:path>
              </a:pathLst>
            </a:custGeom>
            <a:ln w="14905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69519" y="2450248"/>
              <a:ext cx="835738" cy="0"/>
            </a:xfrm>
            <a:custGeom>
              <a:avLst/>
              <a:pathLst>
                <a:path w="835738" h="0">
                  <a:moveTo>
                    <a:pt x="0" y="0"/>
                  </a:moveTo>
                  <a:lnTo>
                    <a:pt x="835738" y="0"/>
                  </a:lnTo>
                </a:path>
              </a:pathLst>
            </a:custGeom>
            <a:ln w="1490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674740" y="2357117"/>
              <a:ext cx="838468" cy="0"/>
            </a:xfrm>
            <a:custGeom>
              <a:avLst/>
              <a:pathLst>
                <a:path w="838468" h="0">
                  <a:moveTo>
                    <a:pt x="0" y="0"/>
                  </a:moveTo>
                  <a:lnTo>
                    <a:pt x="838468" y="0"/>
                  </a:lnTo>
                </a:path>
              </a:pathLst>
            </a:custGeom>
            <a:ln w="14905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669089" y="2263986"/>
              <a:ext cx="840467" cy="0"/>
            </a:xfrm>
            <a:custGeom>
              <a:avLst/>
              <a:pathLst>
                <a:path w="840467" h="0">
                  <a:moveTo>
                    <a:pt x="0" y="0"/>
                  </a:moveTo>
                  <a:lnTo>
                    <a:pt x="840467" y="0"/>
                  </a:lnTo>
                </a:path>
              </a:pathLst>
            </a:custGeom>
            <a:ln w="14905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963785" y="1023451"/>
              <a:ext cx="59674" cy="5967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967069" y="930321"/>
              <a:ext cx="59674" cy="59674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982077" y="837190"/>
              <a:ext cx="59674" cy="59674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848108" y="1489105"/>
              <a:ext cx="59674" cy="5967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887616" y="1395974"/>
              <a:ext cx="59674" cy="59674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876067" y="1302843"/>
              <a:ext cx="59674" cy="59674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658656" y="1954758"/>
              <a:ext cx="59674" cy="5967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659807" y="1861627"/>
              <a:ext cx="59674" cy="59674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660774" y="1768496"/>
              <a:ext cx="59674" cy="59674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057551" y="2420411"/>
              <a:ext cx="59674" cy="5967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064138" y="2327280"/>
              <a:ext cx="59674" cy="59674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059485" y="2234149"/>
              <a:ext cx="59674" cy="59674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529028" y="680766"/>
              <a:ext cx="0" cy="1955742"/>
            </a:xfrm>
            <a:custGeom>
              <a:avLst/>
              <a:pathLst>
                <a:path w="0" h="1955742">
                  <a:moveTo>
                    <a:pt x="0" y="1955742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732251" y="2320724"/>
              <a:ext cx="73984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Warming x effort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53689" y="1855071"/>
              <a:ext cx="111840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Annual climate variability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472561" y="1389418"/>
              <a:ext cx="999530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Accumulated warming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97757" y="923765"/>
              <a:ext cx="57433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Survey effort</a:t>
              </a:r>
            </a:p>
          </p:txBody>
        </p:sp>
        <p:sp>
          <p:nvSpPr>
            <p:cNvPr id="42" name="pl42"/>
            <p:cNvSpPr/>
            <p:nvPr/>
          </p:nvSpPr>
          <p:spPr>
            <a:xfrm>
              <a:off x="1497397" y="2357117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1497397" y="189146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497397" y="142581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497397" y="96015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529028" y="2636509"/>
              <a:ext cx="3081337" cy="0"/>
            </a:xfrm>
            <a:custGeom>
              <a:avLst/>
              <a:pathLst>
                <a:path w="3081337" h="0">
                  <a:moveTo>
                    <a:pt x="0" y="0"/>
                  </a:moveTo>
                  <a:lnTo>
                    <a:pt x="3081337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860811" y="26365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307533" y="26365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07139" y="26365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398640" y="26365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983296" y="26365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489747" y="26365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1790173" y="2693445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236895" y="2693445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0.9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2636502" y="2693445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328003" y="2693445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1.2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912658" y="2693445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1.4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4419110" y="2693445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1.6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186981" y="2819260"/>
              <a:ext cx="176543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Hazard ratio per 1 SD (95% CI)</a:t>
              </a:r>
            </a:p>
          </p:txBody>
        </p:sp>
        <p:sp>
          <p:nvSpPr>
            <p:cNvPr id="60" name="rc60"/>
            <p:cNvSpPr/>
            <p:nvPr/>
          </p:nvSpPr>
          <p:spPr>
            <a:xfrm>
              <a:off x="3629803" y="1825922"/>
              <a:ext cx="1098349" cy="7606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3693066" y="1901163"/>
              <a:ext cx="965149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Minimum suitable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3693066" y="2024607"/>
              <a:ext cx="97182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cells per province</a:t>
              </a:r>
            </a:p>
          </p:txBody>
        </p:sp>
        <p:sp>
          <p:nvSpPr>
            <p:cNvPr id="63" name="rc63"/>
            <p:cNvSpPr/>
            <p:nvPr/>
          </p:nvSpPr>
          <p:spPr>
            <a:xfrm>
              <a:off x="3693066" y="2181687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704454" y="2238624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490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720166" y="2208787"/>
              <a:ext cx="59674" cy="5967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3693066" y="2295560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04454" y="2352497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4905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720166" y="2322660"/>
              <a:ext cx="59674" cy="59674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3693066" y="2409433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704454" y="2466370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4905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720166" y="2436533"/>
              <a:ext cx="59674" cy="59674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3870202" y="2197704"/>
              <a:ext cx="38752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 cells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3870202" y="2311577"/>
              <a:ext cx="45107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 cells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870202" y="2425450"/>
              <a:ext cx="45107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200 cells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1529028" y="509330"/>
              <a:ext cx="2425994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Discrete-time proportional hazards, cloglog link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1529028" y="328384"/>
              <a:ext cx="270973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Effort and warming contribute independently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29069" y="308396"/>
              <a:ext cx="9180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78" name="rc78"/>
            <p:cNvSpPr/>
            <p:nvPr/>
          </p:nvSpPr>
          <p:spPr>
            <a:xfrm>
              <a:off x="5160332" y="680766"/>
              <a:ext cx="3081337" cy="19557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160332" y="2632046"/>
              <a:ext cx="3081337" cy="0"/>
            </a:xfrm>
            <a:custGeom>
              <a:avLst/>
              <a:pathLst>
                <a:path w="3081337" h="0">
                  <a:moveTo>
                    <a:pt x="0" y="0"/>
                  </a:moveTo>
                  <a:lnTo>
                    <a:pt x="3081337" y="0"/>
                  </a:lnTo>
                  <a:lnTo>
                    <a:pt x="308133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160332" y="2083244"/>
              <a:ext cx="3081337" cy="0"/>
            </a:xfrm>
            <a:custGeom>
              <a:avLst/>
              <a:pathLst>
                <a:path w="3081337" h="0">
                  <a:moveTo>
                    <a:pt x="0" y="0"/>
                  </a:moveTo>
                  <a:lnTo>
                    <a:pt x="3081337" y="0"/>
                  </a:lnTo>
                  <a:lnTo>
                    <a:pt x="308133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160332" y="1534442"/>
              <a:ext cx="3081337" cy="0"/>
            </a:xfrm>
            <a:custGeom>
              <a:avLst/>
              <a:pathLst>
                <a:path w="3081337" h="0">
                  <a:moveTo>
                    <a:pt x="0" y="0"/>
                  </a:moveTo>
                  <a:lnTo>
                    <a:pt x="3081337" y="0"/>
                  </a:lnTo>
                  <a:lnTo>
                    <a:pt x="308133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160332" y="985640"/>
              <a:ext cx="3081337" cy="0"/>
            </a:xfrm>
            <a:custGeom>
              <a:avLst/>
              <a:pathLst>
                <a:path w="3081337" h="0">
                  <a:moveTo>
                    <a:pt x="0" y="0"/>
                  </a:moveTo>
                  <a:lnTo>
                    <a:pt x="3081337" y="0"/>
                  </a:lnTo>
                  <a:lnTo>
                    <a:pt x="308133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5300393" y="808469"/>
              <a:ext cx="2801215" cy="1739142"/>
            </a:xfrm>
            <a:custGeom>
              <a:avLst/>
              <a:pathLst>
                <a:path w="2801215" h="1739142">
                  <a:moveTo>
                    <a:pt x="0" y="1580613"/>
                  </a:moveTo>
                  <a:lnTo>
                    <a:pt x="47478" y="1574720"/>
                  </a:lnTo>
                  <a:lnTo>
                    <a:pt x="94956" y="1568662"/>
                  </a:lnTo>
                  <a:lnTo>
                    <a:pt x="142434" y="1562433"/>
                  </a:lnTo>
                  <a:lnTo>
                    <a:pt x="189912" y="1556026"/>
                  </a:lnTo>
                  <a:lnTo>
                    <a:pt x="237391" y="1549434"/>
                  </a:lnTo>
                  <a:lnTo>
                    <a:pt x="284869" y="1542648"/>
                  </a:lnTo>
                  <a:lnTo>
                    <a:pt x="332347" y="1535659"/>
                  </a:lnTo>
                  <a:lnTo>
                    <a:pt x="379825" y="1528458"/>
                  </a:lnTo>
                  <a:lnTo>
                    <a:pt x="427304" y="1521034"/>
                  </a:lnTo>
                  <a:lnTo>
                    <a:pt x="474782" y="1513377"/>
                  </a:lnTo>
                  <a:lnTo>
                    <a:pt x="522260" y="1505474"/>
                  </a:lnTo>
                  <a:lnTo>
                    <a:pt x="569738" y="1497311"/>
                  </a:lnTo>
                  <a:lnTo>
                    <a:pt x="617217" y="1488874"/>
                  </a:lnTo>
                  <a:lnTo>
                    <a:pt x="664695" y="1480147"/>
                  </a:lnTo>
                  <a:lnTo>
                    <a:pt x="712173" y="1471113"/>
                  </a:lnTo>
                  <a:lnTo>
                    <a:pt x="759651" y="1461752"/>
                  </a:lnTo>
                  <a:lnTo>
                    <a:pt x="807130" y="1452043"/>
                  </a:lnTo>
                  <a:lnTo>
                    <a:pt x="854608" y="1441963"/>
                  </a:lnTo>
                  <a:lnTo>
                    <a:pt x="902086" y="1431485"/>
                  </a:lnTo>
                  <a:lnTo>
                    <a:pt x="949564" y="1420581"/>
                  </a:lnTo>
                  <a:lnTo>
                    <a:pt x="997042" y="1409221"/>
                  </a:lnTo>
                  <a:lnTo>
                    <a:pt x="1044521" y="1397369"/>
                  </a:lnTo>
                  <a:lnTo>
                    <a:pt x="1091999" y="1384988"/>
                  </a:lnTo>
                  <a:lnTo>
                    <a:pt x="1139477" y="1372035"/>
                  </a:lnTo>
                  <a:lnTo>
                    <a:pt x="1186955" y="1358467"/>
                  </a:lnTo>
                  <a:lnTo>
                    <a:pt x="1234434" y="1344233"/>
                  </a:lnTo>
                  <a:lnTo>
                    <a:pt x="1281912" y="1329280"/>
                  </a:lnTo>
                  <a:lnTo>
                    <a:pt x="1329390" y="1313550"/>
                  </a:lnTo>
                  <a:lnTo>
                    <a:pt x="1376868" y="1296983"/>
                  </a:lnTo>
                  <a:lnTo>
                    <a:pt x="1424347" y="1279512"/>
                  </a:lnTo>
                  <a:lnTo>
                    <a:pt x="1471825" y="1261069"/>
                  </a:lnTo>
                  <a:lnTo>
                    <a:pt x="1519303" y="1241582"/>
                  </a:lnTo>
                  <a:lnTo>
                    <a:pt x="1566781" y="1220977"/>
                  </a:lnTo>
                  <a:lnTo>
                    <a:pt x="1614260" y="1199175"/>
                  </a:lnTo>
                  <a:lnTo>
                    <a:pt x="1661738" y="1176098"/>
                  </a:lnTo>
                  <a:lnTo>
                    <a:pt x="1709216" y="1151667"/>
                  </a:lnTo>
                  <a:lnTo>
                    <a:pt x="1756694" y="1125798"/>
                  </a:lnTo>
                  <a:lnTo>
                    <a:pt x="1804173" y="1098410"/>
                  </a:lnTo>
                  <a:lnTo>
                    <a:pt x="1851651" y="1069419"/>
                  </a:lnTo>
                  <a:lnTo>
                    <a:pt x="1899129" y="1038739"/>
                  </a:lnTo>
                  <a:lnTo>
                    <a:pt x="1946607" y="1006284"/>
                  </a:lnTo>
                  <a:lnTo>
                    <a:pt x="1994085" y="971967"/>
                  </a:lnTo>
                  <a:lnTo>
                    <a:pt x="2041564" y="935697"/>
                  </a:lnTo>
                  <a:lnTo>
                    <a:pt x="2089042" y="897381"/>
                  </a:lnTo>
                  <a:lnTo>
                    <a:pt x="2136520" y="856922"/>
                  </a:lnTo>
                  <a:lnTo>
                    <a:pt x="2183998" y="814221"/>
                  </a:lnTo>
                  <a:lnTo>
                    <a:pt x="2231477" y="769174"/>
                  </a:lnTo>
                  <a:lnTo>
                    <a:pt x="2278955" y="721672"/>
                  </a:lnTo>
                  <a:lnTo>
                    <a:pt x="2326433" y="671601"/>
                  </a:lnTo>
                  <a:lnTo>
                    <a:pt x="2373911" y="618842"/>
                  </a:lnTo>
                  <a:lnTo>
                    <a:pt x="2421390" y="563269"/>
                  </a:lnTo>
                  <a:lnTo>
                    <a:pt x="2468868" y="504750"/>
                  </a:lnTo>
                  <a:lnTo>
                    <a:pt x="2516346" y="443146"/>
                  </a:lnTo>
                  <a:lnTo>
                    <a:pt x="2563824" y="378311"/>
                  </a:lnTo>
                  <a:lnTo>
                    <a:pt x="2611303" y="310092"/>
                  </a:lnTo>
                  <a:lnTo>
                    <a:pt x="2658781" y="238325"/>
                  </a:lnTo>
                  <a:lnTo>
                    <a:pt x="2706259" y="162842"/>
                  </a:lnTo>
                  <a:lnTo>
                    <a:pt x="2753737" y="83463"/>
                  </a:lnTo>
                  <a:lnTo>
                    <a:pt x="2801215" y="0"/>
                  </a:lnTo>
                  <a:lnTo>
                    <a:pt x="2801215" y="1038009"/>
                  </a:lnTo>
                  <a:lnTo>
                    <a:pt x="2753737" y="1057405"/>
                  </a:lnTo>
                  <a:lnTo>
                    <a:pt x="2706259" y="1076447"/>
                  </a:lnTo>
                  <a:lnTo>
                    <a:pt x="2658781" y="1095148"/>
                  </a:lnTo>
                  <a:lnTo>
                    <a:pt x="2611303" y="1113520"/>
                  </a:lnTo>
                  <a:lnTo>
                    <a:pt x="2563824" y="1131576"/>
                  </a:lnTo>
                  <a:lnTo>
                    <a:pt x="2516346" y="1149329"/>
                  </a:lnTo>
                  <a:lnTo>
                    <a:pt x="2468868" y="1166791"/>
                  </a:lnTo>
                  <a:lnTo>
                    <a:pt x="2421390" y="1183976"/>
                  </a:lnTo>
                  <a:lnTo>
                    <a:pt x="2373911" y="1200895"/>
                  </a:lnTo>
                  <a:lnTo>
                    <a:pt x="2326433" y="1217561"/>
                  </a:lnTo>
                  <a:lnTo>
                    <a:pt x="2278955" y="1233987"/>
                  </a:lnTo>
                  <a:lnTo>
                    <a:pt x="2231477" y="1250184"/>
                  </a:lnTo>
                  <a:lnTo>
                    <a:pt x="2183998" y="1266163"/>
                  </a:lnTo>
                  <a:lnTo>
                    <a:pt x="2136520" y="1281936"/>
                  </a:lnTo>
                  <a:lnTo>
                    <a:pt x="2089042" y="1297513"/>
                  </a:lnTo>
                  <a:lnTo>
                    <a:pt x="2041564" y="1312902"/>
                  </a:lnTo>
                  <a:lnTo>
                    <a:pt x="1994085" y="1328112"/>
                  </a:lnTo>
                  <a:lnTo>
                    <a:pt x="1946607" y="1343148"/>
                  </a:lnTo>
                  <a:lnTo>
                    <a:pt x="1899129" y="1358014"/>
                  </a:lnTo>
                  <a:lnTo>
                    <a:pt x="1851651" y="1372712"/>
                  </a:lnTo>
                  <a:lnTo>
                    <a:pt x="1804173" y="1387242"/>
                  </a:lnTo>
                  <a:lnTo>
                    <a:pt x="1756694" y="1401601"/>
                  </a:lnTo>
                  <a:lnTo>
                    <a:pt x="1709216" y="1415783"/>
                  </a:lnTo>
                  <a:lnTo>
                    <a:pt x="1661738" y="1429781"/>
                  </a:lnTo>
                  <a:lnTo>
                    <a:pt x="1614260" y="1443584"/>
                  </a:lnTo>
                  <a:lnTo>
                    <a:pt x="1566781" y="1457179"/>
                  </a:lnTo>
                  <a:lnTo>
                    <a:pt x="1519303" y="1470553"/>
                  </a:lnTo>
                  <a:lnTo>
                    <a:pt x="1471825" y="1483689"/>
                  </a:lnTo>
                  <a:lnTo>
                    <a:pt x="1424347" y="1496573"/>
                  </a:lnTo>
                  <a:lnTo>
                    <a:pt x="1376868" y="1509189"/>
                  </a:lnTo>
                  <a:lnTo>
                    <a:pt x="1329390" y="1521522"/>
                  </a:lnTo>
                  <a:lnTo>
                    <a:pt x="1281912" y="1533558"/>
                  </a:lnTo>
                  <a:lnTo>
                    <a:pt x="1234434" y="1545283"/>
                  </a:lnTo>
                  <a:lnTo>
                    <a:pt x="1186955" y="1556689"/>
                  </a:lnTo>
                  <a:lnTo>
                    <a:pt x="1139477" y="1567765"/>
                  </a:lnTo>
                  <a:lnTo>
                    <a:pt x="1091999" y="1578505"/>
                  </a:lnTo>
                  <a:lnTo>
                    <a:pt x="1044521" y="1588904"/>
                  </a:lnTo>
                  <a:lnTo>
                    <a:pt x="997042" y="1598960"/>
                  </a:lnTo>
                  <a:lnTo>
                    <a:pt x="949564" y="1608672"/>
                  </a:lnTo>
                  <a:lnTo>
                    <a:pt x="902086" y="1618040"/>
                  </a:lnTo>
                  <a:lnTo>
                    <a:pt x="854608" y="1627068"/>
                  </a:lnTo>
                  <a:lnTo>
                    <a:pt x="807130" y="1635758"/>
                  </a:lnTo>
                  <a:lnTo>
                    <a:pt x="759651" y="1644117"/>
                  </a:lnTo>
                  <a:lnTo>
                    <a:pt x="712173" y="1652150"/>
                  </a:lnTo>
                  <a:lnTo>
                    <a:pt x="664695" y="1659864"/>
                  </a:lnTo>
                  <a:lnTo>
                    <a:pt x="617217" y="1667266"/>
                  </a:lnTo>
                  <a:lnTo>
                    <a:pt x="569738" y="1674365"/>
                  </a:lnTo>
                  <a:lnTo>
                    <a:pt x="522260" y="1681169"/>
                  </a:lnTo>
                  <a:lnTo>
                    <a:pt x="474782" y="1687688"/>
                  </a:lnTo>
                  <a:lnTo>
                    <a:pt x="427304" y="1693929"/>
                  </a:lnTo>
                  <a:lnTo>
                    <a:pt x="379825" y="1699902"/>
                  </a:lnTo>
                  <a:lnTo>
                    <a:pt x="332347" y="1705617"/>
                  </a:lnTo>
                  <a:lnTo>
                    <a:pt x="284869" y="1711083"/>
                  </a:lnTo>
                  <a:lnTo>
                    <a:pt x="237391" y="1716308"/>
                  </a:lnTo>
                  <a:lnTo>
                    <a:pt x="189912" y="1721302"/>
                  </a:lnTo>
                  <a:lnTo>
                    <a:pt x="142434" y="1726074"/>
                  </a:lnTo>
                  <a:lnTo>
                    <a:pt x="94956" y="1730632"/>
                  </a:lnTo>
                  <a:lnTo>
                    <a:pt x="47478" y="1734985"/>
                  </a:lnTo>
                  <a:lnTo>
                    <a:pt x="0" y="1739142"/>
                  </a:lnTo>
                  <a:close/>
                </a:path>
              </a:pathLst>
            </a:custGeom>
            <a:solidFill>
              <a:srgbClr val="56B4E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300393" y="808469"/>
              <a:ext cx="2801215" cy="1580613"/>
            </a:xfrm>
            <a:custGeom>
              <a:avLst/>
              <a:pathLst>
                <a:path w="2801215" h="1580613">
                  <a:moveTo>
                    <a:pt x="0" y="1580613"/>
                  </a:moveTo>
                  <a:lnTo>
                    <a:pt x="47478" y="1574720"/>
                  </a:lnTo>
                  <a:lnTo>
                    <a:pt x="94956" y="1568662"/>
                  </a:lnTo>
                  <a:lnTo>
                    <a:pt x="142434" y="1562433"/>
                  </a:lnTo>
                  <a:lnTo>
                    <a:pt x="189912" y="1556026"/>
                  </a:lnTo>
                  <a:lnTo>
                    <a:pt x="237391" y="1549434"/>
                  </a:lnTo>
                  <a:lnTo>
                    <a:pt x="284869" y="1542648"/>
                  </a:lnTo>
                  <a:lnTo>
                    <a:pt x="332347" y="1535659"/>
                  </a:lnTo>
                  <a:lnTo>
                    <a:pt x="379825" y="1528458"/>
                  </a:lnTo>
                  <a:lnTo>
                    <a:pt x="427304" y="1521034"/>
                  </a:lnTo>
                  <a:lnTo>
                    <a:pt x="474782" y="1513377"/>
                  </a:lnTo>
                  <a:lnTo>
                    <a:pt x="522260" y="1505474"/>
                  </a:lnTo>
                  <a:lnTo>
                    <a:pt x="569738" y="1497311"/>
                  </a:lnTo>
                  <a:lnTo>
                    <a:pt x="617217" y="1488874"/>
                  </a:lnTo>
                  <a:lnTo>
                    <a:pt x="664695" y="1480147"/>
                  </a:lnTo>
                  <a:lnTo>
                    <a:pt x="712173" y="1471113"/>
                  </a:lnTo>
                  <a:lnTo>
                    <a:pt x="759651" y="1461752"/>
                  </a:lnTo>
                  <a:lnTo>
                    <a:pt x="807130" y="1452043"/>
                  </a:lnTo>
                  <a:lnTo>
                    <a:pt x="854608" y="1441963"/>
                  </a:lnTo>
                  <a:lnTo>
                    <a:pt x="902086" y="1431485"/>
                  </a:lnTo>
                  <a:lnTo>
                    <a:pt x="949564" y="1420581"/>
                  </a:lnTo>
                  <a:lnTo>
                    <a:pt x="997042" y="1409221"/>
                  </a:lnTo>
                  <a:lnTo>
                    <a:pt x="1044521" y="1397369"/>
                  </a:lnTo>
                  <a:lnTo>
                    <a:pt x="1091999" y="1384988"/>
                  </a:lnTo>
                  <a:lnTo>
                    <a:pt x="1139477" y="1372035"/>
                  </a:lnTo>
                  <a:lnTo>
                    <a:pt x="1186955" y="1358467"/>
                  </a:lnTo>
                  <a:lnTo>
                    <a:pt x="1234434" y="1344233"/>
                  </a:lnTo>
                  <a:lnTo>
                    <a:pt x="1281912" y="1329280"/>
                  </a:lnTo>
                  <a:lnTo>
                    <a:pt x="1329390" y="1313550"/>
                  </a:lnTo>
                  <a:lnTo>
                    <a:pt x="1376868" y="1296983"/>
                  </a:lnTo>
                  <a:lnTo>
                    <a:pt x="1424347" y="1279512"/>
                  </a:lnTo>
                  <a:lnTo>
                    <a:pt x="1471825" y="1261069"/>
                  </a:lnTo>
                  <a:lnTo>
                    <a:pt x="1519303" y="1241582"/>
                  </a:lnTo>
                  <a:lnTo>
                    <a:pt x="1566781" y="1220977"/>
                  </a:lnTo>
                  <a:lnTo>
                    <a:pt x="1614260" y="1199175"/>
                  </a:lnTo>
                  <a:lnTo>
                    <a:pt x="1661738" y="1176098"/>
                  </a:lnTo>
                  <a:lnTo>
                    <a:pt x="1709216" y="1151667"/>
                  </a:lnTo>
                  <a:lnTo>
                    <a:pt x="1756694" y="1125798"/>
                  </a:lnTo>
                  <a:lnTo>
                    <a:pt x="1804173" y="1098410"/>
                  </a:lnTo>
                  <a:lnTo>
                    <a:pt x="1851651" y="1069419"/>
                  </a:lnTo>
                  <a:lnTo>
                    <a:pt x="1899129" y="1038739"/>
                  </a:lnTo>
                  <a:lnTo>
                    <a:pt x="1946607" y="1006284"/>
                  </a:lnTo>
                  <a:lnTo>
                    <a:pt x="1994085" y="971967"/>
                  </a:lnTo>
                  <a:lnTo>
                    <a:pt x="2041564" y="935697"/>
                  </a:lnTo>
                  <a:lnTo>
                    <a:pt x="2089042" y="897381"/>
                  </a:lnTo>
                  <a:lnTo>
                    <a:pt x="2136520" y="856922"/>
                  </a:lnTo>
                  <a:lnTo>
                    <a:pt x="2183998" y="814221"/>
                  </a:lnTo>
                  <a:lnTo>
                    <a:pt x="2231477" y="769174"/>
                  </a:lnTo>
                  <a:lnTo>
                    <a:pt x="2278955" y="721672"/>
                  </a:lnTo>
                  <a:lnTo>
                    <a:pt x="2326433" y="671601"/>
                  </a:lnTo>
                  <a:lnTo>
                    <a:pt x="2373911" y="618842"/>
                  </a:lnTo>
                  <a:lnTo>
                    <a:pt x="2421390" y="563269"/>
                  </a:lnTo>
                  <a:lnTo>
                    <a:pt x="2468868" y="504750"/>
                  </a:lnTo>
                  <a:lnTo>
                    <a:pt x="2516346" y="443146"/>
                  </a:lnTo>
                  <a:lnTo>
                    <a:pt x="2563824" y="378311"/>
                  </a:lnTo>
                  <a:lnTo>
                    <a:pt x="2611303" y="310092"/>
                  </a:lnTo>
                  <a:lnTo>
                    <a:pt x="2658781" y="238325"/>
                  </a:lnTo>
                  <a:lnTo>
                    <a:pt x="2706259" y="162842"/>
                  </a:lnTo>
                  <a:lnTo>
                    <a:pt x="2753737" y="83463"/>
                  </a:lnTo>
                  <a:lnTo>
                    <a:pt x="280121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300393" y="1846479"/>
              <a:ext cx="2801215" cy="701132"/>
            </a:xfrm>
            <a:custGeom>
              <a:avLst/>
              <a:pathLst>
                <a:path w="2801215" h="701132">
                  <a:moveTo>
                    <a:pt x="2801215" y="0"/>
                  </a:moveTo>
                  <a:lnTo>
                    <a:pt x="2753737" y="19395"/>
                  </a:lnTo>
                  <a:lnTo>
                    <a:pt x="2706259" y="38437"/>
                  </a:lnTo>
                  <a:lnTo>
                    <a:pt x="2658781" y="57138"/>
                  </a:lnTo>
                  <a:lnTo>
                    <a:pt x="2611303" y="75510"/>
                  </a:lnTo>
                  <a:lnTo>
                    <a:pt x="2563824" y="93566"/>
                  </a:lnTo>
                  <a:lnTo>
                    <a:pt x="2516346" y="111319"/>
                  </a:lnTo>
                  <a:lnTo>
                    <a:pt x="2468868" y="128781"/>
                  </a:lnTo>
                  <a:lnTo>
                    <a:pt x="2421390" y="145966"/>
                  </a:lnTo>
                  <a:lnTo>
                    <a:pt x="2373911" y="162885"/>
                  </a:lnTo>
                  <a:lnTo>
                    <a:pt x="2326433" y="179551"/>
                  </a:lnTo>
                  <a:lnTo>
                    <a:pt x="2278955" y="195977"/>
                  </a:lnTo>
                  <a:lnTo>
                    <a:pt x="2231477" y="212174"/>
                  </a:lnTo>
                  <a:lnTo>
                    <a:pt x="2183998" y="228153"/>
                  </a:lnTo>
                  <a:lnTo>
                    <a:pt x="2136520" y="243926"/>
                  </a:lnTo>
                  <a:lnTo>
                    <a:pt x="2089042" y="259503"/>
                  </a:lnTo>
                  <a:lnTo>
                    <a:pt x="2041564" y="274892"/>
                  </a:lnTo>
                  <a:lnTo>
                    <a:pt x="1994085" y="290102"/>
                  </a:lnTo>
                  <a:lnTo>
                    <a:pt x="1946607" y="305138"/>
                  </a:lnTo>
                  <a:lnTo>
                    <a:pt x="1899129" y="320004"/>
                  </a:lnTo>
                  <a:lnTo>
                    <a:pt x="1851651" y="334702"/>
                  </a:lnTo>
                  <a:lnTo>
                    <a:pt x="1804173" y="349232"/>
                  </a:lnTo>
                  <a:lnTo>
                    <a:pt x="1756694" y="363591"/>
                  </a:lnTo>
                  <a:lnTo>
                    <a:pt x="1709216" y="377773"/>
                  </a:lnTo>
                  <a:lnTo>
                    <a:pt x="1661738" y="391771"/>
                  </a:lnTo>
                  <a:lnTo>
                    <a:pt x="1614260" y="405574"/>
                  </a:lnTo>
                  <a:lnTo>
                    <a:pt x="1566781" y="419169"/>
                  </a:lnTo>
                  <a:lnTo>
                    <a:pt x="1519303" y="432543"/>
                  </a:lnTo>
                  <a:lnTo>
                    <a:pt x="1471825" y="445679"/>
                  </a:lnTo>
                  <a:lnTo>
                    <a:pt x="1424347" y="458563"/>
                  </a:lnTo>
                  <a:lnTo>
                    <a:pt x="1376868" y="471179"/>
                  </a:lnTo>
                  <a:lnTo>
                    <a:pt x="1329390" y="483512"/>
                  </a:lnTo>
                  <a:lnTo>
                    <a:pt x="1281912" y="495548"/>
                  </a:lnTo>
                  <a:lnTo>
                    <a:pt x="1234434" y="507273"/>
                  </a:lnTo>
                  <a:lnTo>
                    <a:pt x="1186955" y="518679"/>
                  </a:lnTo>
                  <a:lnTo>
                    <a:pt x="1139477" y="529755"/>
                  </a:lnTo>
                  <a:lnTo>
                    <a:pt x="1091999" y="540495"/>
                  </a:lnTo>
                  <a:lnTo>
                    <a:pt x="1044521" y="550894"/>
                  </a:lnTo>
                  <a:lnTo>
                    <a:pt x="997042" y="560950"/>
                  </a:lnTo>
                  <a:lnTo>
                    <a:pt x="949564" y="570662"/>
                  </a:lnTo>
                  <a:lnTo>
                    <a:pt x="902086" y="580030"/>
                  </a:lnTo>
                  <a:lnTo>
                    <a:pt x="854608" y="589058"/>
                  </a:lnTo>
                  <a:lnTo>
                    <a:pt x="807130" y="597748"/>
                  </a:lnTo>
                  <a:lnTo>
                    <a:pt x="759651" y="606107"/>
                  </a:lnTo>
                  <a:lnTo>
                    <a:pt x="712173" y="614140"/>
                  </a:lnTo>
                  <a:lnTo>
                    <a:pt x="664695" y="621854"/>
                  </a:lnTo>
                  <a:lnTo>
                    <a:pt x="617217" y="629256"/>
                  </a:lnTo>
                  <a:lnTo>
                    <a:pt x="569738" y="636355"/>
                  </a:lnTo>
                  <a:lnTo>
                    <a:pt x="522260" y="643159"/>
                  </a:lnTo>
                  <a:lnTo>
                    <a:pt x="474782" y="649678"/>
                  </a:lnTo>
                  <a:lnTo>
                    <a:pt x="427304" y="655919"/>
                  </a:lnTo>
                  <a:lnTo>
                    <a:pt x="379825" y="661892"/>
                  </a:lnTo>
                  <a:lnTo>
                    <a:pt x="332347" y="667607"/>
                  </a:lnTo>
                  <a:lnTo>
                    <a:pt x="284869" y="673073"/>
                  </a:lnTo>
                  <a:lnTo>
                    <a:pt x="237391" y="678298"/>
                  </a:lnTo>
                  <a:lnTo>
                    <a:pt x="189912" y="683292"/>
                  </a:lnTo>
                  <a:lnTo>
                    <a:pt x="142434" y="688064"/>
                  </a:lnTo>
                  <a:lnTo>
                    <a:pt x="94956" y="692622"/>
                  </a:lnTo>
                  <a:lnTo>
                    <a:pt x="47478" y="696975"/>
                  </a:lnTo>
                  <a:lnTo>
                    <a:pt x="0" y="70113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5300393" y="1015745"/>
              <a:ext cx="2801215" cy="1367823"/>
            </a:xfrm>
            <a:custGeom>
              <a:avLst/>
              <a:pathLst>
                <a:path w="2801215" h="1367823">
                  <a:moveTo>
                    <a:pt x="0" y="1145723"/>
                  </a:moveTo>
                  <a:lnTo>
                    <a:pt x="47478" y="1138456"/>
                  </a:lnTo>
                  <a:lnTo>
                    <a:pt x="94956" y="1131043"/>
                  </a:lnTo>
                  <a:lnTo>
                    <a:pt x="142434" y="1123478"/>
                  </a:lnTo>
                  <a:lnTo>
                    <a:pt x="189912" y="1115755"/>
                  </a:lnTo>
                  <a:lnTo>
                    <a:pt x="237391" y="1107869"/>
                  </a:lnTo>
                  <a:lnTo>
                    <a:pt x="284869" y="1099812"/>
                  </a:lnTo>
                  <a:lnTo>
                    <a:pt x="332347" y="1091577"/>
                  </a:lnTo>
                  <a:lnTo>
                    <a:pt x="379825" y="1083157"/>
                  </a:lnTo>
                  <a:lnTo>
                    <a:pt x="427304" y="1074543"/>
                  </a:lnTo>
                  <a:lnTo>
                    <a:pt x="474782" y="1065726"/>
                  </a:lnTo>
                  <a:lnTo>
                    <a:pt x="522260" y="1056698"/>
                  </a:lnTo>
                  <a:lnTo>
                    <a:pt x="569738" y="1047447"/>
                  </a:lnTo>
                  <a:lnTo>
                    <a:pt x="617217" y="1037962"/>
                  </a:lnTo>
                  <a:lnTo>
                    <a:pt x="664695" y="1028232"/>
                  </a:lnTo>
                  <a:lnTo>
                    <a:pt x="712173" y="1018245"/>
                  </a:lnTo>
                  <a:lnTo>
                    <a:pt x="759651" y="1007986"/>
                  </a:lnTo>
                  <a:lnTo>
                    <a:pt x="807130" y="997441"/>
                  </a:lnTo>
                  <a:lnTo>
                    <a:pt x="854608" y="986595"/>
                  </a:lnTo>
                  <a:lnTo>
                    <a:pt x="902086" y="975431"/>
                  </a:lnTo>
                  <a:lnTo>
                    <a:pt x="949564" y="963931"/>
                  </a:lnTo>
                  <a:lnTo>
                    <a:pt x="997042" y="952077"/>
                  </a:lnTo>
                  <a:lnTo>
                    <a:pt x="1044521" y="939849"/>
                  </a:lnTo>
                  <a:lnTo>
                    <a:pt x="1091999" y="927227"/>
                  </a:lnTo>
                  <a:lnTo>
                    <a:pt x="1139477" y="914188"/>
                  </a:lnTo>
                  <a:lnTo>
                    <a:pt x="1186955" y="900709"/>
                  </a:lnTo>
                  <a:lnTo>
                    <a:pt x="1234434" y="886768"/>
                  </a:lnTo>
                  <a:lnTo>
                    <a:pt x="1281912" y="872339"/>
                  </a:lnTo>
                  <a:lnTo>
                    <a:pt x="1329390" y="857397"/>
                  </a:lnTo>
                  <a:lnTo>
                    <a:pt x="1376868" y="841917"/>
                  </a:lnTo>
                  <a:lnTo>
                    <a:pt x="1424347" y="825872"/>
                  </a:lnTo>
                  <a:lnTo>
                    <a:pt x="1471825" y="809237"/>
                  </a:lnTo>
                  <a:lnTo>
                    <a:pt x="1519303" y="791983"/>
                  </a:lnTo>
                  <a:lnTo>
                    <a:pt x="1566781" y="774085"/>
                  </a:lnTo>
                  <a:lnTo>
                    <a:pt x="1614260" y="755517"/>
                  </a:lnTo>
                  <a:lnTo>
                    <a:pt x="1661738" y="736251"/>
                  </a:lnTo>
                  <a:lnTo>
                    <a:pt x="1709216" y="716263"/>
                  </a:lnTo>
                  <a:lnTo>
                    <a:pt x="1756694" y="695526"/>
                  </a:lnTo>
                  <a:lnTo>
                    <a:pt x="1804173" y="674015"/>
                  </a:lnTo>
                  <a:lnTo>
                    <a:pt x="1851651" y="651706"/>
                  </a:lnTo>
                  <a:lnTo>
                    <a:pt x="1899129" y="628574"/>
                  </a:lnTo>
                  <a:lnTo>
                    <a:pt x="1946607" y="604596"/>
                  </a:lnTo>
                  <a:lnTo>
                    <a:pt x="1994085" y="579746"/>
                  </a:lnTo>
                  <a:lnTo>
                    <a:pt x="2041564" y="554002"/>
                  </a:lnTo>
                  <a:lnTo>
                    <a:pt x="2089042" y="527339"/>
                  </a:lnTo>
                  <a:lnTo>
                    <a:pt x="2136520" y="499735"/>
                  </a:lnTo>
                  <a:lnTo>
                    <a:pt x="2183998" y="471164"/>
                  </a:lnTo>
                  <a:lnTo>
                    <a:pt x="2231477" y="441603"/>
                  </a:lnTo>
                  <a:lnTo>
                    <a:pt x="2278955" y="411028"/>
                  </a:lnTo>
                  <a:lnTo>
                    <a:pt x="2326433" y="379412"/>
                  </a:lnTo>
                  <a:lnTo>
                    <a:pt x="2373911" y="346730"/>
                  </a:lnTo>
                  <a:lnTo>
                    <a:pt x="2421390" y="312957"/>
                  </a:lnTo>
                  <a:lnTo>
                    <a:pt x="2468868" y="278064"/>
                  </a:lnTo>
                  <a:lnTo>
                    <a:pt x="2516346" y="242023"/>
                  </a:lnTo>
                  <a:lnTo>
                    <a:pt x="2563824" y="204807"/>
                  </a:lnTo>
                  <a:lnTo>
                    <a:pt x="2611303" y="166384"/>
                  </a:lnTo>
                  <a:lnTo>
                    <a:pt x="2658781" y="126724"/>
                  </a:lnTo>
                  <a:lnTo>
                    <a:pt x="2706259" y="85796"/>
                  </a:lnTo>
                  <a:lnTo>
                    <a:pt x="2753737" y="43566"/>
                  </a:lnTo>
                  <a:lnTo>
                    <a:pt x="2801215" y="0"/>
                  </a:lnTo>
                  <a:lnTo>
                    <a:pt x="2801215" y="686790"/>
                  </a:lnTo>
                  <a:lnTo>
                    <a:pt x="2753737" y="701453"/>
                  </a:lnTo>
                  <a:lnTo>
                    <a:pt x="2706259" y="715983"/>
                  </a:lnTo>
                  <a:lnTo>
                    <a:pt x="2658781" y="730384"/>
                  </a:lnTo>
                  <a:lnTo>
                    <a:pt x="2611303" y="744662"/>
                  </a:lnTo>
                  <a:lnTo>
                    <a:pt x="2563824" y="758821"/>
                  </a:lnTo>
                  <a:lnTo>
                    <a:pt x="2516346" y="772868"/>
                  </a:lnTo>
                  <a:lnTo>
                    <a:pt x="2468868" y="786808"/>
                  </a:lnTo>
                  <a:lnTo>
                    <a:pt x="2421390" y="800646"/>
                  </a:lnTo>
                  <a:lnTo>
                    <a:pt x="2373911" y="814387"/>
                  </a:lnTo>
                  <a:lnTo>
                    <a:pt x="2326433" y="828037"/>
                  </a:lnTo>
                  <a:lnTo>
                    <a:pt x="2278955" y="841600"/>
                  </a:lnTo>
                  <a:lnTo>
                    <a:pt x="2231477" y="855081"/>
                  </a:lnTo>
                  <a:lnTo>
                    <a:pt x="2183998" y="868486"/>
                  </a:lnTo>
                  <a:lnTo>
                    <a:pt x="2136520" y="881819"/>
                  </a:lnTo>
                  <a:lnTo>
                    <a:pt x="2089042" y="895082"/>
                  </a:lnTo>
                  <a:lnTo>
                    <a:pt x="2041564" y="908281"/>
                  </a:lnTo>
                  <a:lnTo>
                    <a:pt x="1994085" y="921417"/>
                  </a:lnTo>
                  <a:lnTo>
                    <a:pt x="1946607" y="934493"/>
                  </a:lnTo>
                  <a:lnTo>
                    <a:pt x="1899129" y="947511"/>
                  </a:lnTo>
                  <a:lnTo>
                    <a:pt x="1851651" y="960471"/>
                  </a:lnTo>
                  <a:lnTo>
                    <a:pt x="1804173" y="973372"/>
                  </a:lnTo>
                  <a:lnTo>
                    <a:pt x="1756694" y="986214"/>
                  </a:lnTo>
                  <a:lnTo>
                    <a:pt x="1709216" y="998994"/>
                  </a:lnTo>
                  <a:lnTo>
                    <a:pt x="1661738" y="1011710"/>
                  </a:lnTo>
                  <a:lnTo>
                    <a:pt x="1614260" y="1024356"/>
                  </a:lnTo>
                  <a:lnTo>
                    <a:pt x="1566781" y="1036928"/>
                  </a:lnTo>
                  <a:lnTo>
                    <a:pt x="1519303" y="1049420"/>
                  </a:lnTo>
                  <a:lnTo>
                    <a:pt x="1471825" y="1061824"/>
                  </a:lnTo>
                  <a:lnTo>
                    <a:pt x="1424347" y="1074134"/>
                  </a:lnTo>
                  <a:lnTo>
                    <a:pt x="1376868" y="1086341"/>
                  </a:lnTo>
                  <a:lnTo>
                    <a:pt x="1329390" y="1098437"/>
                  </a:lnTo>
                  <a:lnTo>
                    <a:pt x="1281912" y="1110413"/>
                  </a:lnTo>
                  <a:lnTo>
                    <a:pt x="1234434" y="1122261"/>
                  </a:lnTo>
                  <a:lnTo>
                    <a:pt x="1186955" y="1133972"/>
                  </a:lnTo>
                  <a:lnTo>
                    <a:pt x="1139477" y="1145538"/>
                  </a:lnTo>
                  <a:lnTo>
                    <a:pt x="1091999" y="1156950"/>
                  </a:lnTo>
                  <a:lnTo>
                    <a:pt x="1044521" y="1168202"/>
                  </a:lnTo>
                  <a:lnTo>
                    <a:pt x="997042" y="1179287"/>
                  </a:lnTo>
                  <a:lnTo>
                    <a:pt x="949564" y="1190197"/>
                  </a:lnTo>
                  <a:lnTo>
                    <a:pt x="902086" y="1200928"/>
                  </a:lnTo>
                  <a:lnTo>
                    <a:pt x="854608" y="1211474"/>
                  </a:lnTo>
                  <a:lnTo>
                    <a:pt x="807130" y="1221832"/>
                  </a:lnTo>
                  <a:lnTo>
                    <a:pt x="759651" y="1231998"/>
                  </a:lnTo>
                  <a:lnTo>
                    <a:pt x="712173" y="1241968"/>
                  </a:lnTo>
                  <a:lnTo>
                    <a:pt x="664695" y="1251741"/>
                  </a:lnTo>
                  <a:lnTo>
                    <a:pt x="617217" y="1261315"/>
                  </a:lnTo>
                  <a:lnTo>
                    <a:pt x="569738" y="1270689"/>
                  </a:lnTo>
                  <a:lnTo>
                    <a:pt x="522260" y="1279863"/>
                  </a:lnTo>
                  <a:lnTo>
                    <a:pt x="474782" y="1288836"/>
                  </a:lnTo>
                  <a:lnTo>
                    <a:pt x="427304" y="1297609"/>
                  </a:lnTo>
                  <a:lnTo>
                    <a:pt x="379825" y="1306183"/>
                  </a:lnTo>
                  <a:lnTo>
                    <a:pt x="332347" y="1314560"/>
                  </a:lnTo>
                  <a:lnTo>
                    <a:pt x="284869" y="1322740"/>
                  </a:lnTo>
                  <a:lnTo>
                    <a:pt x="237391" y="1330726"/>
                  </a:lnTo>
                  <a:lnTo>
                    <a:pt x="189912" y="1338519"/>
                  </a:lnTo>
                  <a:lnTo>
                    <a:pt x="142434" y="1346123"/>
                  </a:lnTo>
                  <a:lnTo>
                    <a:pt x="94956" y="1353540"/>
                  </a:lnTo>
                  <a:lnTo>
                    <a:pt x="47478" y="1360772"/>
                  </a:lnTo>
                  <a:lnTo>
                    <a:pt x="0" y="1367823"/>
                  </a:lnTo>
                  <a:close/>
                </a:path>
              </a:pathLst>
            </a:custGeom>
            <a:solidFill>
              <a:srgbClr val="0072B2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300393" y="1015745"/>
              <a:ext cx="2801215" cy="1145723"/>
            </a:xfrm>
            <a:custGeom>
              <a:avLst/>
              <a:pathLst>
                <a:path w="2801215" h="1145723">
                  <a:moveTo>
                    <a:pt x="0" y="1145723"/>
                  </a:moveTo>
                  <a:lnTo>
                    <a:pt x="47478" y="1138456"/>
                  </a:lnTo>
                  <a:lnTo>
                    <a:pt x="94956" y="1131043"/>
                  </a:lnTo>
                  <a:lnTo>
                    <a:pt x="142434" y="1123478"/>
                  </a:lnTo>
                  <a:lnTo>
                    <a:pt x="189912" y="1115755"/>
                  </a:lnTo>
                  <a:lnTo>
                    <a:pt x="237391" y="1107869"/>
                  </a:lnTo>
                  <a:lnTo>
                    <a:pt x="284869" y="1099812"/>
                  </a:lnTo>
                  <a:lnTo>
                    <a:pt x="332347" y="1091577"/>
                  </a:lnTo>
                  <a:lnTo>
                    <a:pt x="379825" y="1083157"/>
                  </a:lnTo>
                  <a:lnTo>
                    <a:pt x="427304" y="1074543"/>
                  </a:lnTo>
                  <a:lnTo>
                    <a:pt x="474782" y="1065726"/>
                  </a:lnTo>
                  <a:lnTo>
                    <a:pt x="522260" y="1056698"/>
                  </a:lnTo>
                  <a:lnTo>
                    <a:pt x="569738" y="1047447"/>
                  </a:lnTo>
                  <a:lnTo>
                    <a:pt x="617217" y="1037962"/>
                  </a:lnTo>
                  <a:lnTo>
                    <a:pt x="664695" y="1028232"/>
                  </a:lnTo>
                  <a:lnTo>
                    <a:pt x="712173" y="1018245"/>
                  </a:lnTo>
                  <a:lnTo>
                    <a:pt x="759651" y="1007986"/>
                  </a:lnTo>
                  <a:lnTo>
                    <a:pt x="807130" y="997441"/>
                  </a:lnTo>
                  <a:lnTo>
                    <a:pt x="854608" y="986595"/>
                  </a:lnTo>
                  <a:lnTo>
                    <a:pt x="902086" y="975431"/>
                  </a:lnTo>
                  <a:lnTo>
                    <a:pt x="949564" y="963931"/>
                  </a:lnTo>
                  <a:lnTo>
                    <a:pt x="997042" y="952077"/>
                  </a:lnTo>
                  <a:lnTo>
                    <a:pt x="1044521" y="939849"/>
                  </a:lnTo>
                  <a:lnTo>
                    <a:pt x="1091999" y="927227"/>
                  </a:lnTo>
                  <a:lnTo>
                    <a:pt x="1139477" y="914188"/>
                  </a:lnTo>
                  <a:lnTo>
                    <a:pt x="1186955" y="900709"/>
                  </a:lnTo>
                  <a:lnTo>
                    <a:pt x="1234434" y="886768"/>
                  </a:lnTo>
                  <a:lnTo>
                    <a:pt x="1281912" y="872339"/>
                  </a:lnTo>
                  <a:lnTo>
                    <a:pt x="1329390" y="857397"/>
                  </a:lnTo>
                  <a:lnTo>
                    <a:pt x="1376868" y="841917"/>
                  </a:lnTo>
                  <a:lnTo>
                    <a:pt x="1424347" y="825872"/>
                  </a:lnTo>
                  <a:lnTo>
                    <a:pt x="1471825" y="809237"/>
                  </a:lnTo>
                  <a:lnTo>
                    <a:pt x="1519303" y="791983"/>
                  </a:lnTo>
                  <a:lnTo>
                    <a:pt x="1566781" y="774085"/>
                  </a:lnTo>
                  <a:lnTo>
                    <a:pt x="1614260" y="755517"/>
                  </a:lnTo>
                  <a:lnTo>
                    <a:pt x="1661738" y="736251"/>
                  </a:lnTo>
                  <a:lnTo>
                    <a:pt x="1709216" y="716263"/>
                  </a:lnTo>
                  <a:lnTo>
                    <a:pt x="1756694" y="695526"/>
                  </a:lnTo>
                  <a:lnTo>
                    <a:pt x="1804173" y="674015"/>
                  </a:lnTo>
                  <a:lnTo>
                    <a:pt x="1851651" y="651706"/>
                  </a:lnTo>
                  <a:lnTo>
                    <a:pt x="1899129" y="628574"/>
                  </a:lnTo>
                  <a:lnTo>
                    <a:pt x="1946607" y="604596"/>
                  </a:lnTo>
                  <a:lnTo>
                    <a:pt x="1994085" y="579746"/>
                  </a:lnTo>
                  <a:lnTo>
                    <a:pt x="2041564" y="554002"/>
                  </a:lnTo>
                  <a:lnTo>
                    <a:pt x="2089042" y="527339"/>
                  </a:lnTo>
                  <a:lnTo>
                    <a:pt x="2136520" y="499735"/>
                  </a:lnTo>
                  <a:lnTo>
                    <a:pt x="2183998" y="471164"/>
                  </a:lnTo>
                  <a:lnTo>
                    <a:pt x="2231477" y="441603"/>
                  </a:lnTo>
                  <a:lnTo>
                    <a:pt x="2278955" y="411028"/>
                  </a:lnTo>
                  <a:lnTo>
                    <a:pt x="2326433" y="379412"/>
                  </a:lnTo>
                  <a:lnTo>
                    <a:pt x="2373911" y="346730"/>
                  </a:lnTo>
                  <a:lnTo>
                    <a:pt x="2421390" y="312957"/>
                  </a:lnTo>
                  <a:lnTo>
                    <a:pt x="2468868" y="278064"/>
                  </a:lnTo>
                  <a:lnTo>
                    <a:pt x="2516346" y="242023"/>
                  </a:lnTo>
                  <a:lnTo>
                    <a:pt x="2563824" y="204807"/>
                  </a:lnTo>
                  <a:lnTo>
                    <a:pt x="2611303" y="166384"/>
                  </a:lnTo>
                  <a:lnTo>
                    <a:pt x="2658781" y="126724"/>
                  </a:lnTo>
                  <a:lnTo>
                    <a:pt x="2706259" y="85796"/>
                  </a:lnTo>
                  <a:lnTo>
                    <a:pt x="2753737" y="43566"/>
                  </a:lnTo>
                  <a:lnTo>
                    <a:pt x="280121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5300393" y="1702536"/>
              <a:ext cx="2801215" cy="681032"/>
            </a:xfrm>
            <a:custGeom>
              <a:avLst/>
              <a:pathLst>
                <a:path w="2801215" h="681032">
                  <a:moveTo>
                    <a:pt x="2801215" y="0"/>
                  </a:moveTo>
                  <a:lnTo>
                    <a:pt x="2753737" y="14663"/>
                  </a:lnTo>
                  <a:lnTo>
                    <a:pt x="2706259" y="29192"/>
                  </a:lnTo>
                  <a:lnTo>
                    <a:pt x="2658781" y="43593"/>
                  </a:lnTo>
                  <a:lnTo>
                    <a:pt x="2611303" y="57871"/>
                  </a:lnTo>
                  <a:lnTo>
                    <a:pt x="2563824" y="72031"/>
                  </a:lnTo>
                  <a:lnTo>
                    <a:pt x="2516346" y="86078"/>
                  </a:lnTo>
                  <a:lnTo>
                    <a:pt x="2468868" y="100017"/>
                  </a:lnTo>
                  <a:lnTo>
                    <a:pt x="2421390" y="113855"/>
                  </a:lnTo>
                  <a:lnTo>
                    <a:pt x="2373911" y="127596"/>
                  </a:lnTo>
                  <a:lnTo>
                    <a:pt x="2326433" y="141246"/>
                  </a:lnTo>
                  <a:lnTo>
                    <a:pt x="2278955" y="154809"/>
                  </a:lnTo>
                  <a:lnTo>
                    <a:pt x="2231477" y="168291"/>
                  </a:lnTo>
                  <a:lnTo>
                    <a:pt x="2183998" y="181696"/>
                  </a:lnTo>
                  <a:lnTo>
                    <a:pt x="2136520" y="195028"/>
                  </a:lnTo>
                  <a:lnTo>
                    <a:pt x="2089042" y="208292"/>
                  </a:lnTo>
                  <a:lnTo>
                    <a:pt x="2041564" y="221490"/>
                  </a:lnTo>
                  <a:lnTo>
                    <a:pt x="1994085" y="234627"/>
                  </a:lnTo>
                  <a:lnTo>
                    <a:pt x="1946607" y="247703"/>
                  </a:lnTo>
                  <a:lnTo>
                    <a:pt x="1899129" y="260721"/>
                  </a:lnTo>
                  <a:lnTo>
                    <a:pt x="1851651" y="273680"/>
                  </a:lnTo>
                  <a:lnTo>
                    <a:pt x="1804173" y="286582"/>
                  </a:lnTo>
                  <a:lnTo>
                    <a:pt x="1756694" y="299424"/>
                  </a:lnTo>
                  <a:lnTo>
                    <a:pt x="1709216" y="312204"/>
                  </a:lnTo>
                  <a:lnTo>
                    <a:pt x="1661738" y="324919"/>
                  </a:lnTo>
                  <a:lnTo>
                    <a:pt x="1614260" y="337566"/>
                  </a:lnTo>
                  <a:lnTo>
                    <a:pt x="1566781" y="350138"/>
                  </a:lnTo>
                  <a:lnTo>
                    <a:pt x="1519303" y="362629"/>
                  </a:lnTo>
                  <a:lnTo>
                    <a:pt x="1471825" y="375034"/>
                  </a:lnTo>
                  <a:lnTo>
                    <a:pt x="1424347" y="387344"/>
                  </a:lnTo>
                  <a:lnTo>
                    <a:pt x="1376868" y="399551"/>
                  </a:lnTo>
                  <a:lnTo>
                    <a:pt x="1329390" y="411647"/>
                  </a:lnTo>
                  <a:lnTo>
                    <a:pt x="1281912" y="423623"/>
                  </a:lnTo>
                  <a:lnTo>
                    <a:pt x="1234434" y="435471"/>
                  </a:lnTo>
                  <a:lnTo>
                    <a:pt x="1186955" y="447182"/>
                  </a:lnTo>
                  <a:lnTo>
                    <a:pt x="1139477" y="458747"/>
                  </a:lnTo>
                  <a:lnTo>
                    <a:pt x="1091999" y="470160"/>
                  </a:lnTo>
                  <a:lnTo>
                    <a:pt x="1044521" y="481412"/>
                  </a:lnTo>
                  <a:lnTo>
                    <a:pt x="997042" y="492496"/>
                  </a:lnTo>
                  <a:lnTo>
                    <a:pt x="949564" y="503406"/>
                  </a:lnTo>
                  <a:lnTo>
                    <a:pt x="902086" y="514137"/>
                  </a:lnTo>
                  <a:lnTo>
                    <a:pt x="854608" y="524684"/>
                  </a:lnTo>
                  <a:lnTo>
                    <a:pt x="807130" y="535042"/>
                  </a:lnTo>
                  <a:lnTo>
                    <a:pt x="759651" y="545207"/>
                  </a:lnTo>
                  <a:lnTo>
                    <a:pt x="712173" y="555178"/>
                  </a:lnTo>
                  <a:lnTo>
                    <a:pt x="664695" y="564951"/>
                  </a:lnTo>
                  <a:lnTo>
                    <a:pt x="617217" y="574525"/>
                  </a:lnTo>
                  <a:lnTo>
                    <a:pt x="569738" y="583899"/>
                  </a:lnTo>
                  <a:lnTo>
                    <a:pt x="522260" y="593072"/>
                  </a:lnTo>
                  <a:lnTo>
                    <a:pt x="474782" y="602046"/>
                  </a:lnTo>
                  <a:lnTo>
                    <a:pt x="427304" y="610819"/>
                  </a:lnTo>
                  <a:lnTo>
                    <a:pt x="379825" y="619393"/>
                  </a:lnTo>
                  <a:lnTo>
                    <a:pt x="332347" y="627769"/>
                  </a:lnTo>
                  <a:lnTo>
                    <a:pt x="284869" y="635949"/>
                  </a:lnTo>
                  <a:lnTo>
                    <a:pt x="237391" y="643935"/>
                  </a:lnTo>
                  <a:lnTo>
                    <a:pt x="189912" y="651729"/>
                  </a:lnTo>
                  <a:lnTo>
                    <a:pt x="142434" y="659333"/>
                  </a:lnTo>
                  <a:lnTo>
                    <a:pt x="94956" y="666749"/>
                  </a:lnTo>
                  <a:lnTo>
                    <a:pt x="47478" y="673982"/>
                  </a:lnTo>
                  <a:lnTo>
                    <a:pt x="0" y="68103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5300393" y="769664"/>
              <a:ext cx="2801215" cy="1295981"/>
            </a:xfrm>
            <a:custGeom>
              <a:avLst/>
              <a:pathLst>
                <a:path w="2801215" h="1295981">
                  <a:moveTo>
                    <a:pt x="0" y="463299"/>
                  </a:moveTo>
                  <a:lnTo>
                    <a:pt x="47478" y="469054"/>
                  </a:lnTo>
                  <a:lnTo>
                    <a:pt x="94956" y="474658"/>
                  </a:lnTo>
                  <a:lnTo>
                    <a:pt x="142434" y="480104"/>
                  </a:lnTo>
                  <a:lnTo>
                    <a:pt x="189912" y="485385"/>
                  </a:lnTo>
                  <a:lnTo>
                    <a:pt x="237391" y="490491"/>
                  </a:lnTo>
                  <a:lnTo>
                    <a:pt x="284869" y="495413"/>
                  </a:lnTo>
                  <a:lnTo>
                    <a:pt x="332347" y="500142"/>
                  </a:lnTo>
                  <a:lnTo>
                    <a:pt x="379825" y="504665"/>
                  </a:lnTo>
                  <a:lnTo>
                    <a:pt x="427304" y="508971"/>
                  </a:lnTo>
                  <a:lnTo>
                    <a:pt x="474782" y="513046"/>
                  </a:lnTo>
                  <a:lnTo>
                    <a:pt x="522260" y="516875"/>
                  </a:lnTo>
                  <a:lnTo>
                    <a:pt x="569738" y="520443"/>
                  </a:lnTo>
                  <a:lnTo>
                    <a:pt x="617217" y="523733"/>
                  </a:lnTo>
                  <a:lnTo>
                    <a:pt x="664695" y="526725"/>
                  </a:lnTo>
                  <a:lnTo>
                    <a:pt x="712173" y="529400"/>
                  </a:lnTo>
                  <a:lnTo>
                    <a:pt x="759651" y="531736"/>
                  </a:lnTo>
                  <a:lnTo>
                    <a:pt x="807130" y="533708"/>
                  </a:lnTo>
                  <a:lnTo>
                    <a:pt x="854608" y="535293"/>
                  </a:lnTo>
                  <a:lnTo>
                    <a:pt x="902086" y="536462"/>
                  </a:lnTo>
                  <a:lnTo>
                    <a:pt x="949564" y="537187"/>
                  </a:lnTo>
                  <a:lnTo>
                    <a:pt x="997042" y="537437"/>
                  </a:lnTo>
                  <a:lnTo>
                    <a:pt x="1044521" y="537182"/>
                  </a:lnTo>
                  <a:lnTo>
                    <a:pt x="1091999" y="536387"/>
                  </a:lnTo>
                  <a:lnTo>
                    <a:pt x="1139477" y="535020"/>
                  </a:lnTo>
                  <a:lnTo>
                    <a:pt x="1186955" y="533045"/>
                  </a:lnTo>
                  <a:lnTo>
                    <a:pt x="1234434" y="530429"/>
                  </a:lnTo>
                  <a:lnTo>
                    <a:pt x="1281912" y="527136"/>
                  </a:lnTo>
                  <a:lnTo>
                    <a:pt x="1329390" y="523134"/>
                  </a:lnTo>
                  <a:lnTo>
                    <a:pt x="1376868" y="518393"/>
                  </a:lnTo>
                  <a:lnTo>
                    <a:pt x="1424347" y="512881"/>
                  </a:lnTo>
                  <a:lnTo>
                    <a:pt x="1471825" y="506575"/>
                  </a:lnTo>
                  <a:lnTo>
                    <a:pt x="1519303" y="499450"/>
                  </a:lnTo>
                  <a:lnTo>
                    <a:pt x="1566781" y="491489"/>
                  </a:lnTo>
                  <a:lnTo>
                    <a:pt x="1614260" y="482676"/>
                  </a:lnTo>
                  <a:lnTo>
                    <a:pt x="1661738" y="473002"/>
                  </a:lnTo>
                  <a:lnTo>
                    <a:pt x="1709216" y="462461"/>
                  </a:lnTo>
                  <a:lnTo>
                    <a:pt x="1756694" y="451051"/>
                  </a:lnTo>
                  <a:lnTo>
                    <a:pt x="1804173" y="438773"/>
                  </a:lnTo>
                  <a:lnTo>
                    <a:pt x="1851651" y="425635"/>
                  </a:lnTo>
                  <a:lnTo>
                    <a:pt x="1899129" y="411643"/>
                  </a:lnTo>
                  <a:lnTo>
                    <a:pt x="1946607" y="396808"/>
                  </a:lnTo>
                  <a:lnTo>
                    <a:pt x="1994085" y="381143"/>
                  </a:lnTo>
                  <a:lnTo>
                    <a:pt x="2041564" y="364660"/>
                  </a:lnTo>
                  <a:lnTo>
                    <a:pt x="2089042" y="347375"/>
                  </a:lnTo>
                  <a:lnTo>
                    <a:pt x="2136520" y="329302"/>
                  </a:lnTo>
                  <a:lnTo>
                    <a:pt x="2183998" y="310454"/>
                  </a:lnTo>
                  <a:lnTo>
                    <a:pt x="2231477" y="290846"/>
                  </a:lnTo>
                  <a:lnTo>
                    <a:pt x="2278955" y="270491"/>
                  </a:lnTo>
                  <a:lnTo>
                    <a:pt x="2326433" y="249401"/>
                  </a:lnTo>
                  <a:lnTo>
                    <a:pt x="2373911" y="227588"/>
                  </a:lnTo>
                  <a:lnTo>
                    <a:pt x="2421390" y="205061"/>
                  </a:lnTo>
                  <a:lnTo>
                    <a:pt x="2468868" y="181829"/>
                  </a:lnTo>
                  <a:lnTo>
                    <a:pt x="2516346" y="157901"/>
                  </a:lnTo>
                  <a:lnTo>
                    <a:pt x="2563824" y="133283"/>
                  </a:lnTo>
                  <a:lnTo>
                    <a:pt x="2611303" y="107981"/>
                  </a:lnTo>
                  <a:lnTo>
                    <a:pt x="2658781" y="81999"/>
                  </a:lnTo>
                  <a:lnTo>
                    <a:pt x="2706259" y="55340"/>
                  </a:lnTo>
                  <a:lnTo>
                    <a:pt x="2753737" y="28006"/>
                  </a:lnTo>
                  <a:lnTo>
                    <a:pt x="2801215" y="0"/>
                  </a:lnTo>
                  <a:lnTo>
                    <a:pt x="2801215" y="1012688"/>
                  </a:lnTo>
                  <a:lnTo>
                    <a:pt x="2753737" y="1009750"/>
                  </a:lnTo>
                  <a:lnTo>
                    <a:pt x="2706259" y="1006921"/>
                  </a:lnTo>
                  <a:lnTo>
                    <a:pt x="2658781" y="1004212"/>
                  </a:lnTo>
                  <a:lnTo>
                    <a:pt x="2611303" y="1001635"/>
                  </a:lnTo>
                  <a:lnTo>
                    <a:pt x="2563824" y="999201"/>
                  </a:lnTo>
                  <a:lnTo>
                    <a:pt x="2516346" y="996923"/>
                  </a:lnTo>
                  <a:lnTo>
                    <a:pt x="2468868" y="994815"/>
                  </a:lnTo>
                  <a:lnTo>
                    <a:pt x="2421390" y="992893"/>
                  </a:lnTo>
                  <a:lnTo>
                    <a:pt x="2373911" y="991171"/>
                  </a:lnTo>
                  <a:lnTo>
                    <a:pt x="2326433" y="989667"/>
                  </a:lnTo>
                  <a:lnTo>
                    <a:pt x="2278955" y="988398"/>
                  </a:lnTo>
                  <a:lnTo>
                    <a:pt x="2231477" y="987385"/>
                  </a:lnTo>
                  <a:lnTo>
                    <a:pt x="2183998" y="986645"/>
                  </a:lnTo>
                  <a:lnTo>
                    <a:pt x="2136520" y="986201"/>
                  </a:lnTo>
                  <a:lnTo>
                    <a:pt x="2089042" y="986073"/>
                  </a:lnTo>
                  <a:lnTo>
                    <a:pt x="2041564" y="986282"/>
                  </a:lnTo>
                  <a:lnTo>
                    <a:pt x="1994085" y="986850"/>
                  </a:lnTo>
                  <a:lnTo>
                    <a:pt x="1946607" y="987797"/>
                  </a:lnTo>
                  <a:lnTo>
                    <a:pt x="1899129" y="989145"/>
                  </a:lnTo>
                  <a:lnTo>
                    <a:pt x="1851651" y="990911"/>
                  </a:lnTo>
                  <a:lnTo>
                    <a:pt x="1804173" y="993114"/>
                  </a:lnTo>
                  <a:lnTo>
                    <a:pt x="1756694" y="995767"/>
                  </a:lnTo>
                  <a:lnTo>
                    <a:pt x="1709216" y="998882"/>
                  </a:lnTo>
                  <a:lnTo>
                    <a:pt x="1661738" y="1002468"/>
                  </a:lnTo>
                  <a:lnTo>
                    <a:pt x="1614260" y="1006528"/>
                  </a:lnTo>
                  <a:lnTo>
                    <a:pt x="1566781" y="1011064"/>
                  </a:lnTo>
                  <a:lnTo>
                    <a:pt x="1519303" y="1016069"/>
                  </a:lnTo>
                  <a:lnTo>
                    <a:pt x="1471825" y="1021537"/>
                  </a:lnTo>
                  <a:lnTo>
                    <a:pt x="1424347" y="1027453"/>
                  </a:lnTo>
                  <a:lnTo>
                    <a:pt x="1376868" y="1033800"/>
                  </a:lnTo>
                  <a:lnTo>
                    <a:pt x="1329390" y="1040559"/>
                  </a:lnTo>
                  <a:lnTo>
                    <a:pt x="1281912" y="1047704"/>
                  </a:lnTo>
                  <a:lnTo>
                    <a:pt x="1234434" y="1055210"/>
                  </a:lnTo>
                  <a:lnTo>
                    <a:pt x="1186955" y="1063050"/>
                  </a:lnTo>
                  <a:lnTo>
                    <a:pt x="1139477" y="1071194"/>
                  </a:lnTo>
                  <a:lnTo>
                    <a:pt x="1091999" y="1079612"/>
                  </a:lnTo>
                  <a:lnTo>
                    <a:pt x="1044521" y="1088275"/>
                  </a:lnTo>
                  <a:lnTo>
                    <a:pt x="997042" y="1097153"/>
                  </a:lnTo>
                  <a:lnTo>
                    <a:pt x="949564" y="1106220"/>
                  </a:lnTo>
                  <a:lnTo>
                    <a:pt x="902086" y="1115446"/>
                  </a:lnTo>
                  <a:lnTo>
                    <a:pt x="854608" y="1124807"/>
                  </a:lnTo>
                  <a:lnTo>
                    <a:pt x="807130" y="1134278"/>
                  </a:lnTo>
                  <a:lnTo>
                    <a:pt x="759651" y="1143837"/>
                  </a:lnTo>
                  <a:lnTo>
                    <a:pt x="712173" y="1153462"/>
                  </a:lnTo>
                  <a:lnTo>
                    <a:pt x="664695" y="1163134"/>
                  </a:lnTo>
                  <a:lnTo>
                    <a:pt x="617217" y="1172835"/>
                  </a:lnTo>
                  <a:lnTo>
                    <a:pt x="569738" y="1182550"/>
                  </a:lnTo>
                  <a:lnTo>
                    <a:pt x="522260" y="1192262"/>
                  </a:lnTo>
                  <a:lnTo>
                    <a:pt x="474782" y="1201960"/>
                  </a:lnTo>
                  <a:lnTo>
                    <a:pt x="427304" y="1211630"/>
                  </a:lnTo>
                  <a:lnTo>
                    <a:pt x="379825" y="1221262"/>
                  </a:lnTo>
                  <a:lnTo>
                    <a:pt x="332347" y="1230846"/>
                  </a:lnTo>
                  <a:lnTo>
                    <a:pt x="284869" y="1240374"/>
                  </a:lnTo>
                  <a:lnTo>
                    <a:pt x="237391" y="1249838"/>
                  </a:lnTo>
                  <a:lnTo>
                    <a:pt x="189912" y="1259230"/>
                  </a:lnTo>
                  <a:lnTo>
                    <a:pt x="142434" y="1268546"/>
                  </a:lnTo>
                  <a:lnTo>
                    <a:pt x="94956" y="1277779"/>
                  </a:lnTo>
                  <a:lnTo>
                    <a:pt x="47478" y="1286926"/>
                  </a:lnTo>
                  <a:lnTo>
                    <a:pt x="0" y="1295981"/>
                  </a:lnTo>
                  <a:close/>
                </a:path>
              </a:pathLst>
            </a:custGeom>
            <a:solidFill>
              <a:srgbClr val="D55E00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300393" y="769664"/>
              <a:ext cx="2801215" cy="537437"/>
            </a:xfrm>
            <a:custGeom>
              <a:avLst/>
              <a:pathLst>
                <a:path w="2801215" h="537437">
                  <a:moveTo>
                    <a:pt x="0" y="463299"/>
                  </a:moveTo>
                  <a:lnTo>
                    <a:pt x="47478" y="469054"/>
                  </a:lnTo>
                  <a:lnTo>
                    <a:pt x="94956" y="474658"/>
                  </a:lnTo>
                  <a:lnTo>
                    <a:pt x="142434" y="480104"/>
                  </a:lnTo>
                  <a:lnTo>
                    <a:pt x="189912" y="485385"/>
                  </a:lnTo>
                  <a:lnTo>
                    <a:pt x="237391" y="490491"/>
                  </a:lnTo>
                  <a:lnTo>
                    <a:pt x="284869" y="495413"/>
                  </a:lnTo>
                  <a:lnTo>
                    <a:pt x="332347" y="500142"/>
                  </a:lnTo>
                  <a:lnTo>
                    <a:pt x="379825" y="504665"/>
                  </a:lnTo>
                  <a:lnTo>
                    <a:pt x="427304" y="508971"/>
                  </a:lnTo>
                  <a:lnTo>
                    <a:pt x="474782" y="513046"/>
                  </a:lnTo>
                  <a:lnTo>
                    <a:pt x="522260" y="516875"/>
                  </a:lnTo>
                  <a:lnTo>
                    <a:pt x="569738" y="520443"/>
                  </a:lnTo>
                  <a:lnTo>
                    <a:pt x="617217" y="523733"/>
                  </a:lnTo>
                  <a:lnTo>
                    <a:pt x="664695" y="526725"/>
                  </a:lnTo>
                  <a:lnTo>
                    <a:pt x="712173" y="529400"/>
                  </a:lnTo>
                  <a:lnTo>
                    <a:pt x="759651" y="531736"/>
                  </a:lnTo>
                  <a:lnTo>
                    <a:pt x="807130" y="533708"/>
                  </a:lnTo>
                  <a:lnTo>
                    <a:pt x="854608" y="535293"/>
                  </a:lnTo>
                  <a:lnTo>
                    <a:pt x="902086" y="536462"/>
                  </a:lnTo>
                  <a:lnTo>
                    <a:pt x="949564" y="537187"/>
                  </a:lnTo>
                  <a:lnTo>
                    <a:pt x="997042" y="537437"/>
                  </a:lnTo>
                  <a:lnTo>
                    <a:pt x="1044521" y="537182"/>
                  </a:lnTo>
                  <a:lnTo>
                    <a:pt x="1091999" y="536387"/>
                  </a:lnTo>
                  <a:lnTo>
                    <a:pt x="1139477" y="535020"/>
                  </a:lnTo>
                  <a:lnTo>
                    <a:pt x="1186955" y="533045"/>
                  </a:lnTo>
                  <a:lnTo>
                    <a:pt x="1234434" y="530429"/>
                  </a:lnTo>
                  <a:lnTo>
                    <a:pt x="1281912" y="527136"/>
                  </a:lnTo>
                  <a:lnTo>
                    <a:pt x="1329390" y="523134"/>
                  </a:lnTo>
                  <a:lnTo>
                    <a:pt x="1376868" y="518393"/>
                  </a:lnTo>
                  <a:lnTo>
                    <a:pt x="1424347" y="512881"/>
                  </a:lnTo>
                  <a:lnTo>
                    <a:pt x="1471825" y="506575"/>
                  </a:lnTo>
                  <a:lnTo>
                    <a:pt x="1519303" y="499450"/>
                  </a:lnTo>
                  <a:lnTo>
                    <a:pt x="1566781" y="491489"/>
                  </a:lnTo>
                  <a:lnTo>
                    <a:pt x="1614260" y="482676"/>
                  </a:lnTo>
                  <a:lnTo>
                    <a:pt x="1661738" y="473002"/>
                  </a:lnTo>
                  <a:lnTo>
                    <a:pt x="1709216" y="462461"/>
                  </a:lnTo>
                  <a:lnTo>
                    <a:pt x="1756694" y="451051"/>
                  </a:lnTo>
                  <a:lnTo>
                    <a:pt x="1804173" y="438773"/>
                  </a:lnTo>
                  <a:lnTo>
                    <a:pt x="1851651" y="425635"/>
                  </a:lnTo>
                  <a:lnTo>
                    <a:pt x="1899129" y="411643"/>
                  </a:lnTo>
                  <a:lnTo>
                    <a:pt x="1946607" y="396808"/>
                  </a:lnTo>
                  <a:lnTo>
                    <a:pt x="1994085" y="381143"/>
                  </a:lnTo>
                  <a:lnTo>
                    <a:pt x="2041564" y="364660"/>
                  </a:lnTo>
                  <a:lnTo>
                    <a:pt x="2089042" y="347375"/>
                  </a:lnTo>
                  <a:lnTo>
                    <a:pt x="2136520" y="329302"/>
                  </a:lnTo>
                  <a:lnTo>
                    <a:pt x="2183998" y="310454"/>
                  </a:lnTo>
                  <a:lnTo>
                    <a:pt x="2231477" y="290846"/>
                  </a:lnTo>
                  <a:lnTo>
                    <a:pt x="2278955" y="270491"/>
                  </a:lnTo>
                  <a:lnTo>
                    <a:pt x="2326433" y="249401"/>
                  </a:lnTo>
                  <a:lnTo>
                    <a:pt x="2373911" y="227588"/>
                  </a:lnTo>
                  <a:lnTo>
                    <a:pt x="2421390" y="205061"/>
                  </a:lnTo>
                  <a:lnTo>
                    <a:pt x="2468868" y="181829"/>
                  </a:lnTo>
                  <a:lnTo>
                    <a:pt x="2516346" y="157901"/>
                  </a:lnTo>
                  <a:lnTo>
                    <a:pt x="2563824" y="133283"/>
                  </a:lnTo>
                  <a:lnTo>
                    <a:pt x="2611303" y="107981"/>
                  </a:lnTo>
                  <a:lnTo>
                    <a:pt x="2658781" y="81999"/>
                  </a:lnTo>
                  <a:lnTo>
                    <a:pt x="2706259" y="55340"/>
                  </a:lnTo>
                  <a:lnTo>
                    <a:pt x="2753737" y="28006"/>
                  </a:lnTo>
                  <a:lnTo>
                    <a:pt x="280121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300393" y="1755737"/>
              <a:ext cx="2801215" cy="309908"/>
            </a:xfrm>
            <a:custGeom>
              <a:avLst/>
              <a:pathLst>
                <a:path w="2801215" h="309908">
                  <a:moveTo>
                    <a:pt x="2801215" y="26615"/>
                  </a:moveTo>
                  <a:lnTo>
                    <a:pt x="2753737" y="23676"/>
                  </a:lnTo>
                  <a:lnTo>
                    <a:pt x="2706259" y="20847"/>
                  </a:lnTo>
                  <a:lnTo>
                    <a:pt x="2658781" y="18139"/>
                  </a:lnTo>
                  <a:lnTo>
                    <a:pt x="2611303" y="15562"/>
                  </a:lnTo>
                  <a:lnTo>
                    <a:pt x="2563824" y="13128"/>
                  </a:lnTo>
                  <a:lnTo>
                    <a:pt x="2516346" y="10850"/>
                  </a:lnTo>
                  <a:lnTo>
                    <a:pt x="2468868" y="8742"/>
                  </a:lnTo>
                  <a:lnTo>
                    <a:pt x="2421390" y="6820"/>
                  </a:lnTo>
                  <a:lnTo>
                    <a:pt x="2373911" y="5098"/>
                  </a:lnTo>
                  <a:lnTo>
                    <a:pt x="2326433" y="3594"/>
                  </a:lnTo>
                  <a:lnTo>
                    <a:pt x="2278955" y="2325"/>
                  </a:lnTo>
                  <a:lnTo>
                    <a:pt x="2231477" y="1311"/>
                  </a:lnTo>
                  <a:lnTo>
                    <a:pt x="2183998" y="572"/>
                  </a:lnTo>
                  <a:lnTo>
                    <a:pt x="2136520" y="128"/>
                  </a:lnTo>
                  <a:lnTo>
                    <a:pt x="2089042" y="0"/>
                  </a:lnTo>
                  <a:lnTo>
                    <a:pt x="2041564" y="209"/>
                  </a:lnTo>
                  <a:lnTo>
                    <a:pt x="1994085" y="776"/>
                  </a:lnTo>
                  <a:lnTo>
                    <a:pt x="1946607" y="1724"/>
                  </a:lnTo>
                  <a:lnTo>
                    <a:pt x="1899129" y="3072"/>
                  </a:lnTo>
                  <a:lnTo>
                    <a:pt x="1851651" y="4838"/>
                  </a:lnTo>
                  <a:lnTo>
                    <a:pt x="1804173" y="7041"/>
                  </a:lnTo>
                  <a:lnTo>
                    <a:pt x="1756694" y="9694"/>
                  </a:lnTo>
                  <a:lnTo>
                    <a:pt x="1709216" y="12809"/>
                  </a:lnTo>
                  <a:lnTo>
                    <a:pt x="1661738" y="16395"/>
                  </a:lnTo>
                  <a:lnTo>
                    <a:pt x="1614260" y="20455"/>
                  </a:lnTo>
                  <a:lnTo>
                    <a:pt x="1566781" y="24990"/>
                  </a:lnTo>
                  <a:lnTo>
                    <a:pt x="1519303" y="29996"/>
                  </a:lnTo>
                  <a:lnTo>
                    <a:pt x="1471825" y="35464"/>
                  </a:lnTo>
                  <a:lnTo>
                    <a:pt x="1424347" y="41380"/>
                  </a:lnTo>
                  <a:lnTo>
                    <a:pt x="1376868" y="47727"/>
                  </a:lnTo>
                  <a:lnTo>
                    <a:pt x="1329390" y="54485"/>
                  </a:lnTo>
                  <a:lnTo>
                    <a:pt x="1281912" y="61631"/>
                  </a:lnTo>
                  <a:lnTo>
                    <a:pt x="1234434" y="69137"/>
                  </a:lnTo>
                  <a:lnTo>
                    <a:pt x="1186955" y="76977"/>
                  </a:lnTo>
                  <a:lnTo>
                    <a:pt x="1139477" y="85120"/>
                  </a:lnTo>
                  <a:lnTo>
                    <a:pt x="1091999" y="93538"/>
                  </a:lnTo>
                  <a:lnTo>
                    <a:pt x="1044521" y="102201"/>
                  </a:lnTo>
                  <a:lnTo>
                    <a:pt x="997042" y="111080"/>
                  </a:lnTo>
                  <a:lnTo>
                    <a:pt x="949564" y="120146"/>
                  </a:lnTo>
                  <a:lnTo>
                    <a:pt x="902086" y="129373"/>
                  </a:lnTo>
                  <a:lnTo>
                    <a:pt x="854608" y="138734"/>
                  </a:lnTo>
                  <a:lnTo>
                    <a:pt x="807130" y="148205"/>
                  </a:lnTo>
                  <a:lnTo>
                    <a:pt x="759651" y="157764"/>
                  </a:lnTo>
                  <a:lnTo>
                    <a:pt x="712173" y="167389"/>
                  </a:lnTo>
                  <a:lnTo>
                    <a:pt x="664695" y="177061"/>
                  </a:lnTo>
                  <a:lnTo>
                    <a:pt x="617217" y="186762"/>
                  </a:lnTo>
                  <a:lnTo>
                    <a:pt x="569738" y="196477"/>
                  </a:lnTo>
                  <a:lnTo>
                    <a:pt x="522260" y="206189"/>
                  </a:lnTo>
                  <a:lnTo>
                    <a:pt x="474782" y="215886"/>
                  </a:lnTo>
                  <a:lnTo>
                    <a:pt x="427304" y="225556"/>
                  </a:lnTo>
                  <a:lnTo>
                    <a:pt x="379825" y="235189"/>
                  </a:lnTo>
                  <a:lnTo>
                    <a:pt x="332347" y="244773"/>
                  </a:lnTo>
                  <a:lnTo>
                    <a:pt x="284869" y="254301"/>
                  </a:lnTo>
                  <a:lnTo>
                    <a:pt x="237391" y="263764"/>
                  </a:lnTo>
                  <a:lnTo>
                    <a:pt x="189912" y="273157"/>
                  </a:lnTo>
                  <a:lnTo>
                    <a:pt x="142434" y="282473"/>
                  </a:lnTo>
                  <a:lnTo>
                    <a:pt x="94956" y="291706"/>
                  </a:lnTo>
                  <a:lnTo>
                    <a:pt x="47478" y="300853"/>
                  </a:lnTo>
                  <a:lnTo>
                    <a:pt x="0" y="30990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5300393" y="1434922"/>
              <a:ext cx="2801215" cy="1053890"/>
            </a:xfrm>
            <a:custGeom>
              <a:avLst/>
              <a:pathLst>
                <a:path w="2801215" h="1053890">
                  <a:moveTo>
                    <a:pt x="0" y="1053890"/>
                  </a:moveTo>
                  <a:lnTo>
                    <a:pt x="47478" y="1048638"/>
                  </a:lnTo>
                  <a:lnTo>
                    <a:pt x="94956" y="1043194"/>
                  </a:lnTo>
                  <a:lnTo>
                    <a:pt x="142434" y="1037550"/>
                  </a:lnTo>
                  <a:lnTo>
                    <a:pt x="189912" y="1031699"/>
                  </a:lnTo>
                  <a:lnTo>
                    <a:pt x="237391" y="1025634"/>
                  </a:lnTo>
                  <a:lnTo>
                    <a:pt x="284869" y="1019346"/>
                  </a:lnTo>
                  <a:lnTo>
                    <a:pt x="332347" y="1012829"/>
                  </a:lnTo>
                  <a:lnTo>
                    <a:pt x="379825" y="1006072"/>
                  </a:lnTo>
                  <a:lnTo>
                    <a:pt x="427304" y="999067"/>
                  </a:lnTo>
                  <a:lnTo>
                    <a:pt x="474782" y="991806"/>
                  </a:lnTo>
                  <a:lnTo>
                    <a:pt x="522260" y="984279"/>
                  </a:lnTo>
                  <a:lnTo>
                    <a:pt x="569738" y="976476"/>
                  </a:lnTo>
                  <a:lnTo>
                    <a:pt x="617217" y="968387"/>
                  </a:lnTo>
                  <a:lnTo>
                    <a:pt x="664695" y="960002"/>
                  </a:lnTo>
                  <a:lnTo>
                    <a:pt x="712173" y="951309"/>
                  </a:lnTo>
                  <a:lnTo>
                    <a:pt x="759651" y="942298"/>
                  </a:lnTo>
                  <a:lnTo>
                    <a:pt x="807130" y="932956"/>
                  </a:lnTo>
                  <a:lnTo>
                    <a:pt x="854608" y="923273"/>
                  </a:lnTo>
                  <a:lnTo>
                    <a:pt x="902086" y="913234"/>
                  </a:lnTo>
                  <a:lnTo>
                    <a:pt x="949564" y="902828"/>
                  </a:lnTo>
                  <a:lnTo>
                    <a:pt x="997042" y="892040"/>
                  </a:lnTo>
                  <a:lnTo>
                    <a:pt x="1044521" y="880858"/>
                  </a:lnTo>
                  <a:lnTo>
                    <a:pt x="1091999" y="869266"/>
                  </a:lnTo>
                  <a:lnTo>
                    <a:pt x="1139477" y="857249"/>
                  </a:lnTo>
                  <a:lnTo>
                    <a:pt x="1186955" y="844791"/>
                  </a:lnTo>
                  <a:lnTo>
                    <a:pt x="1234434" y="831878"/>
                  </a:lnTo>
                  <a:lnTo>
                    <a:pt x="1281912" y="818492"/>
                  </a:lnTo>
                  <a:lnTo>
                    <a:pt x="1329390" y="804615"/>
                  </a:lnTo>
                  <a:lnTo>
                    <a:pt x="1376868" y="790230"/>
                  </a:lnTo>
                  <a:lnTo>
                    <a:pt x="1424347" y="775319"/>
                  </a:lnTo>
                  <a:lnTo>
                    <a:pt x="1471825" y="759861"/>
                  </a:lnTo>
                  <a:lnTo>
                    <a:pt x="1519303" y="743838"/>
                  </a:lnTo>
                  <a:lnTo>
                    <a:pt x="1566781" y="727227"/>
                  </a:lnTo>
                  <a:lnTo>
                    <a:pt x="1614260" y="710009"/>
                  </a:lnTo>
                  <a:lnTo>
                    <a:pt x="1661738" y="692160"/>
                  </a:lnTo>
                  <a:lnTo>
                    <a:pt x="1709216" y="673658"/>
                  </a:lnTo>
                  <a:lnTo>
                    <a:pt x="1756694" y="654479"/>
                  </a:lnTo>
                  <a:lnTo>
                    <a:pt x="1804173" y="634597"/>
                  </a:lnTo>
                  <a:lnTo>
                    <a:pt x="1851651" y="613988"/>
                  </a:lnTo>
                  <a:lnTo>
                    <a:pt x="1899129" y="592625"/>
                  </a:lnTo>
                  <a:lnTo>
                    <a:pt x="1946607" y="570480"/>
                  </a:lnTo>
                  <a:lnTo>
                    <a:pt x="1994085" y="547525"/>
                  </a:lnTo>
                  <a:lnTo>
                    <a:pt x="2041564" y="523730"/>
                  </a:lnTo>
                  <a:lnTo>
                    <a:pt x="2089042" y="499064"/>
                  </a:lnTo>
                  <a:lnTo>
                    <a:pt x="2136520" y="473496"/>
                  </a:lnTo>
                  <a:lnTo>
                    <a:pt x="2183998" y="446993"/>
                  </a:lnTo>
                  <a:lnTo>
                    <a:pt x="2231477" y="419521"/>
                  </a:lnTo>
                  <a:lnTo>
                    <a:pt x="2278955" y="391043"/>
                  </a:lnTo>
                  <a:lnTo>
                    <a:pt x="2326433" y="361525"/>
                  </a:lnTo>
                  <a:lnTo>
                    <a:pt x="2373911" y="330928"/>
                  </a:lnTo>
                  <a:lnTo>
                    <a:pt x="2421390" y="299211"/>
                  </a:lnTo>
                  <a:lnTo>
                    <a:pt x="2468868" y="266336"/>
                  </a:lnTo>
                  <a:lnTo>
                    <a:pt x="2516346" y="232259"/>
                  </a:lnTo>
                  <a:lnTo>
                    <a:pt x="2563824" y="196936"/>
                  </a:lnTo>
                  <a:lnTo>
                    <a:pt x="2611303" y="160323"/>
                  </a:lnTo>
                  <a:lnTo>
                    <a:pt x="2658781" y="122373"/>
                  </a:lnTo>
                  <a:lnTo>
                    <a:pt x="2706259" y="83036"/>
                  </a:lnTo>
                  <a:lnTo>
                    <a:pt x="2753737" y="42262"/>
                  </a:lnTo>
                  <a:lnTo>
                    <a:pt x="2801215" y="0"/>
                  </a:lnTo>
                </a:path>
              </a:pathLst>
            </a:custGeom>
            <a:ln w="18970" cap="flat">
              <a:solidFill>
                <a:srgbClr val="56B4E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5300393" y="1406229"/>
              <a:ext cx="2801215" cy="883859"/>
            </a:xfrm>
            <a:custGeom>
              <a:avLst/>
              <a:pathLst>
                <a:path w="2801215" h="883859">
                  <a:moveTo>
                    <a:pt x="0" y="883859"/>
                  </a:moveTo>
                  <a:lnTo>
                    <a:pt x="47478" y="876374"/>
                  </a:lnTo>
                  <a:lnTo>
                    <a:pt x="94956" y="868725"/>
                  </a:lnTo>
                  <a:lnTo>
                    <a:pt x="142434" y="860909"/>
                  </a:lnTo>
                  <a:lnTo>
                    <a:pt x="189912" y="852922"/>
                  </a:lnTo>
                  <a:lnTo>
                    <a:pt x="237391" y="844761"/>
                  </a:lnTo>
                  <a:lnTo>
                    <a:pt x="284869" y="836421"/>
                  </a:lnTo>
                  <a:lnTo>
                    <a:pt x="332347" y="827898"/>
                  </a:lnTo>
                  <a:lnTo>
                    <a:pt x="379825" y="819189"/>
                  </a:lnTo>
                  <a:lnTo>
                    <a:pt x="427304" y="810290"/>
                  </a:lnTo>
                  <a:lnTo>
                    <a:pt x="474782" y="801196"/>
                  </a:lnTo>
                  <a:lnTo>
                    <a:pt x="522260" y="791903"/>
                  </a:lnTo>
                  <a:lnTo>
                    <a:pt x="569738" y="782407"/>
                  </a:lnTo>
                  <a:lnTo>
                    <a:pt x="617217" y="772704"/>
                  </a:lnTo>
                  <a:lnTo>
                    <a:pt x="664695" y="762788"/>
                  </a:lnTo>
                  <a:lnTo>
                    <a:pt x="712173" y="752655"/>
                  </a:lnTo>
                  <a:lnTo>
                    <a:pt x="759651" y="742301"/>
                  </a:lnTo>
                  <a:lnTo>
                    <a:pt x="807130" y="731720"/>
                  </a:lnTo>
                  <a:lnTo>
                    <a:pt x="854608" y="720908"/>
                  </a:lnTo>
                  <a:lnTo>
                    <a:pt x="902086" y="709860"/>
                  </a:lnTo>
                  <a:lnTo>
                    <a:pt x="949564" y="698570"/>
                  </a:lnTo>
                  <a:lnTo>
                    <a:pt x="997042" y="687034"/>
                  </a:lnTo>
                  <a:lnTo>
                    <a:pt x="1044521" y="675245"/>
                  </a:lnTo>
                  <a:lnTo>
                    <a:pt x="1091999" y="663198"/>
                  </a:lnTo>
                  <a:lnTo>
                    <a:pt x="1139477" y="650889"/>
                  </a:lnTo>
                  <a:lnTo>
                    <a:pt x="1186955" y="638310"/>
                  </a:lnTo>
                  <a:lnTo>
                    <a:pt x="1234434" y="625456"/>
                  </a:lnTo>
                  <a:lnTo>
                    <a:pt x="1281912" y="612322"/>
                  </a:lnTo>
                  <a:lnTo>
                    <a:pt x="1329390" y="598900"/>
                  </a:lnTo>
                  <a:lnTo>
                    <a:pt x="1376868" y="585185"/>
                  </a:lnTo>
                  <a:lnTo>
                    <a:pt x="1424347" y="571171"/>
                  </a:lnTo>
                  <a:lnTo>
                    <a:pt x="1471825" y="556850"/>
                  </a:lnTo>
                  <a:lnTo>
                    <a:pt x="1519303" y="542216"/>
                  </a:lnTo>
                  <a:lnTo>
                    <a:pt x="1566781" y="527263"/>
                  </a:lnTo>
                  <a:lnTo>
                    <a:pt x="1614260" y="511983"/>
                  </a:lnTo>
                  <a:lnTo>
                    <a:pt x="1661738" y="496369"/>
                  </a:lnTo>
                  <a:lnTo>
                    <a:pt x="1709216" y="480414"/>
                  </a:lnTo>
                  <a:lnTo>
                    <a:pt x="1756694" y="464111"/>
                  </a:lnTo>
                  <a:lnTo>
                    <a:pt x="1804173" y="447451"/>
                  </a:lnTo>
                  <a:lnTo>
                    <a:pt x="1851651" y="430428"/>
                  </a:lnTo>
                  <a:lnTo>
                    <a:pt x="1899129" y="413033"/>
                  </a:lnTo>
                  <a:lnTo>
                    <a:pt x="1946607" y="395258"/>
                  </a:lnTo>
                  <a:lnTo>
                    <a:pt x="1994085" y="377095"/>
                  </a:lnTo>
                  <a:lnTo>
                    <a:pt x="2041564" y="358535"/>
                  </a:lnTo>
                  <a:lnTo>
                    <a:pt x="2089042" y="339570"/>
                  </a:lnTo>
                  <a:lnTo>
                    <a:pt x="2136520" y="320192"/>
                  </a:lnTo>
                  <a:lnTo>
                    <a:pt x="2183998" y="300390"/>
                  </a:lnTo>
                  <a:lnTo>
                    <a:pt x="2231477" y="280156"/>
                  </a:lnTo>
                  <a:lnTo>
                    <a:pt x="2278955" y="259480"/>
                  </a:lnTo>
                  <a:lnTo>
                    <a:pt x="2326433" y="238353"/>
                  </a:lnTo>
                  <a:lnTo>
                    <a:pt x="2373911" y="216765"/>
                  </a:lnTo>
                  <a:lnTo>
                    <a:pt x="2421390" y="194706"/>
                  </a:lnTo>
                  <a:lnTo>
                    <a:pt x="2468868" y="172166"/>
                  </a:lnTo>
                  <a:lnTo>
                    <a:pt x="2516346" y="149134"/>
                  </a:lnTo>
                  <a:lnTo>
                    <a:pt x="2563824" y="125599"/>
                  </a:lnTo>
                  <a:lnTo>
                    <a:pt x="2611303" y="101551"/>
                  </a:lnTo>
                  <a:lnTo>
                    <a:pt x="2658781" y="76979"/>
                  </a:lnTo>
                  <a:lnTo>
                    <a:pt x="2706259" y="51871"/>
                  </a:lnTo>
                  <a:lnTo>
                    <a:pt x="2753737" y="26215"/>
                  </a:lnTo>
                  <a:lnTo>
                    <a:pt x="2801215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5300393" y="1373864"/>
              <a:ext cx="2801215" cy="367839"/>
            </a:xfrm>
            <a:custGeom>
              <a:avLst/>
              <a:pathLst>
                <a:path w="2801215" h="367839">
                  <a:moveTo>
                    <a:pt x="0" y="367839"/>
                  </a:moveTo>
                  <a:lnTo>
                    <a:pt x="47478" y="362604"/>
                  </a:lnTo>
                  <a:lnTo>
                    <a:pt x="94956" y="357337"/>
                  </a:lnTo>
                  <a:lnTo>
                    <a:pt x="142434" y="352040"/>
                  </a:lnTo>
                  <a:lnTo>
                    <a:pt x="189912" y="346712"/>
                  </a:lnTo>
                  <a:lnTo>
                    <a:pt x="237391" y="341352"/>
                  </a:lnTo>
                  <a:lnTo>
                    <a:pt x="284869" y="335961"/>
                  </a:lnTo>
                  <a:lnTo>
                    <a:pt x="332347" y="330539"/>
                  </a:lnTo>
                  <a:lnTo>
                    <a:pt x="379825" y="325084"/>
                  </a:lnTo>
                  <a:lnTo>
                    <a:pt x="427304" y="319598"/>
                  </a:lnTo>
                  <a:lnTo>
                    <a:pt x="474782" y="314079"/>
                  </a:lnTo>
                  <a:lnTo>
                    <a:pt x="522260" y="308528"/>
                  </a:lnTo>
                  <a:lnTo>
                    <a:pt x="569738" y="302944"/>
                  </a:lnTo>
                  <a:lnTo>
                    <a:pt x="617217" y="297328"/>
                  </a:lnTo>
                  <a:lnTo>
                    <a:pt x="664695" y="291678"/>
                  </a:lnTo>
                  <a:lnTo>
                    <a:pt x="712173" y="285996"/>
                  </a:lnTo>
                  <a:lnTo>
                    <a:pt x="759651" y="280280"/>
                  </a:lnTo>
                  <a:lnTo>
                    <a:pt x="807130" y="274530"/>
                  </a:lnTo>
                  <a:lnTo>
                    <a:pt x="854608" y="268747"/>
                  </a:lnTo>
                  <a:lnTo>
                    <a:pt x="902086" y="262930"/>
                  </a:lnTo>
                  <a:lnTo>
                    <a:pt x="949564" y="257079"/>
                  </a:lnTo>
                  <a:lnTo>
                    <a:pt x="997042" y="251193"/>
                  </a:lnTo>
                  <a:lnTo>
                    <a:pt x="1044521" y="245273"/>
                  </a:lnTo>
                  <a:lnTo>
                    <a:pt x="1091999" y="239318"/>
                  </a:lnTo>
                  <a:lnTo>
                    <a:pt x="1139477" y="233328"/>
                  </a:lnTo>
                  <a:lnTo>
                    <a:pt x="1186955" y="227303"/>
                  </a:lnTo>
                  <a:lnTo>
                    <a:pt x="1234434" y="221243"/>
                  </a:lnTo>
                  <a:lnTo>
                    <a:pt x="1281912" y="215147"/>
                  </a:lnTo>
                  <a:lnTo>
                    <a:pt x="1329390" y="209015"/>
                  </a:lnTo>
                  <a:lnTo>
                    <a:pt x="1376868" y="202847"/>
                  </a:lnTo>
                  <a:lnTo>
                    <a:pt x="1424347" y="196643"/>
                  </a:lnTo>
                  <a:lnTo>
                    <a:pt x="1471825" y="190403"/>
                  </a:lnTo>
                  <a:lnTo>
                    <a:pt x="1519303" y="184126"/>
                  </a:lnTo>
                  <a:lnTo>
                    <a:pt x="1566781" y="177813"/>
                  </a:lnTo>
                  <a:lnTo>
                    <a:pt x="1614260" y="171462"/>
                  </a:lnTo>
                  <a:lnTo>
                    <a:pt x="1661738" y="165074"/>
                  </a:lnTo>
                  <a:lnTo>
                    <a:pt x="1709216" y="158648"/>
                  </a:lnTo>
                  <a:lnTo>
                    <a:pt x="1756694" y="152185"/>
                  </a:lnTo>
                  <a:lnTo>
                    <a:pt x="1804173" y="145684"/>
                  </a:lnTo>
                  <a:lnTo>
                    <a:pt x="1851651" y="139145"/>
                  </a:lnTo>
                  <a:lnTo>
                    <a:pt x="1899129" y="132567"/>
                  </a:lnTo>
                  <a:lnTo>
                    <a:pt x="1946607" y="125951"/>
                  </a:lnTo>
                  <a:lnTo>
                    <a:pt x="1994085" y="119296"/>
                  </a:lnTo>
                  <a:lnTo>
                    <a:pt x="2041564" y="112602"/>
                  </a:lnTo>
                  <a:lnTo>
                    <a:pt x="2089042" y="105869"/>
                  </a:lnTo>
                  <a:lnTo>
                    <a:pt x="2136520" y="99096"/>
                  </a:lnTo>
                  <a:lnTo>
                    <a:pt x="2183998" y="92284"/>
                  </a:lnTo>
                  <a:lnTo>
                    <a:pt x="2231477" y="85431"/>
                  </a:lnTo>
                  <a:lnTo>
                    <a:pt x="2278955" y="78539"/>
                  </a:lnTo>
                  <a:lnTo>
                    <a:pt x="2326433" y="71606"/>
                  </a:lnTo>
                  <a:lnTo>
                    <a:pt x="2373911" y="64632"/>
                  </a:lnTo>
                  <a:lnTo>
                    <a:pt x="2421390" y="57617"/>
                  </a:lnTo>
                  <a:lnTo>
                    <a:pt x="2468868" y="50562"/>
                  </a:lnTo>
                  <a:lnTo>
                    <a:pt x="2516346" y="43465"/>
                  </a:lnTo>
                  <a:lnTo>
                    <a:pt x="2563824" y="36326"/>
                  </a:lnTo>
                  <a:lnTo>
                    <a:pt x="2611303" y="29145"/>
                  </a:lnTo>
                  <a:lnTo>
                    <a:pt x="2658781" y="21923"/>
                  </a:lnTo>
                  <a:lnTo>
                    <a:pt x="2706259" y="14658"/>
                  </a:lnTo>
                  <a:lnTo>
                    <a:pt x="2753737" y="7350"/>
                  </a:lnTo>
                  <a:lnTo>
                    <a:pt x="2801215" y="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5160332" y="680766"/>
              <a:ext cx="0" cy="1955742"/>
            </a:xfrm>
            <a:custGeom>
              <a:avLst/>
              <a:pathLst>
                <a:path w="0" h="1955742">
                  <a:moveTo>
                    <a:pt x="0" y="1955742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tx96"/>
            <p:cNvSpPr/>
            <p:nvPr/>
          </p:nvSpPr>
          <p:spPr>
            <a:xfrm>
              <a:off x="4962121" y="2595653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4962121" y="2046851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4962121" y="1498049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4962121" y="94924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0.6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5128701" y="263204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128701" y="208324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5128701" y="153444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5128701" y="98564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160332" y="2636509"/>
              <a:ext cx="3081337" cy="0"/>
            </a:xfrm>
            <a:custGeom>
              <a:avLst/>
              <a:pathLst>
                <a:path w="3081337" h="0">
                  <a:moveTo>
                    <a:pt x="0" y="0"/>
                  </a:moveTo>
                  <a:lnTo>
                    <a:pt x="3081337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383572" y="26365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069709" y="26365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755846" y="26365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7441982" y="26365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8128119" y="263650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tx110"/>
            <p:cNvSpPr/>
            <p:nvPr/>
          </p:nvSpPr>
          <p:spPr>
            <a:xfrm>
              <a:off x="5338401" y="2693445"/>
              <a:ext cx="9034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6024538" y="2693445"/>
              <a:ext cx="9034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6727591" y="2693445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7413728" y="2693445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8099864" y="2693445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5159689" y="2819260"/>
              <a:ext cx="308262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Accumulated warming relative to the species' range (z)</a:t>
              </a:r>
            </a:p>
          </p:txBody>
        </p:sp>
        <p:sp>
          <p:nvSpPr>
            <p:cNvPr id="116" name="tx116"/>
            <p:cNvSpPr/>
            <p:nvPr/>
          </p:nvSpPr>
          <p:spPr>
            <a:xfrm rot="-5400000">
              <a:off x="3876461" y="1613146"/>
              <a:ext cx="1963674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Annual hazard of a new record (%)</a:t>
              </a:r>
            </a:p>
          </p:txBody>
        </p:sp>
        <p:sp>
          <p:nvSpPr>
            <p:cNvPr id="117" name="rc117"/>
            <p:cNvSpPr/>
            <p:nvPr/>
          </p:nvSpPr>
          <p:spPr>
            <a:xfrm>
              <a:off x="5351577" y="720498"/>
              <a:ext cx="1343059" cy="46814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5414840" y="783761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5426227" y="840697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8970" cap="flat">
              <a:solidFill>
                <a:srgbClr val="56B4E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5414840" y="897634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5426227" y="954570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5414840" y="1011507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426227" y="1068443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tx124"/>
            <p:cNvSpPr/>
            <p:nvPr/>
          </p:nvSpPr>
          <p:spPr>
            <a:xfrm>
              <a:off x="5591976" y="799778"/>
              <a:ext cx="1013978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Low effort (10th pct)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5591976" y="913651"/>
              <a:ext cx="664768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Median effort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5591976" y="1027524"/>
              <a:ext cx="1039398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High effort (90th pct)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5160332" y="509330"/>
              <a:ext cx="3111977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Marginal predictions at fixed-effect level; ribbons are 95% CI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5160332" y="328384"/>
              <a:ext cx="252237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Warming matters most where effort is low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779522" y="308396"/>
              <a:ext cx="100858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30" name="rc130"/>
            <p:cNvSpPr/>
            <p:nvPr/>
          </p:nvSpPr>
          <p:spPr>
            <a:xfrm>
              <a:off x="252469" y="3012858"/>
              <a:ext cx="4459117" cy="34097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4711586" y="3012858"/>
              <a:ext cx="3631304" cy="34097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1529028" y="3786247"/>
              <a:ext cx="675440" cy="19557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1598560" y="3786247"/>
              <a:ext cx="0" cy="1955742"/>
            </a:xfrm>
            <a:custGeom>
              <a:avLst/>
              <a:pathLst>
                <a:path w="0" h="1955742">
                  <a:moveTo>
                    <a:pt x="0" y="19557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1793805" y="3786247"/>
              <a:ext cx="0" cy="1955742"/>
            </a:xfrm>
            <a:custGeom>
              <a:avLst/>
              <a:pathLst>
                <a:path w="0" h="1955742">
                  <a:moveTo>
                    <a:pt x="0" y="19557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1989049" y="3786247"/>
              <a:ext cx="0" cy="1955742"/>
            </a:xfrm>
            <a:custGeom>
              <a:avLst/>
              <a:pathLst>
                <a:path w="0" h="1955742">
                  <a:moveTo>
                    <a:pt x="0" y="19557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184293" y="3786247"/>
              <a:ext cx="0" cy="1955742"/>
            </a:xfrm>
            <a:custGeom>
              <a:avLst/>
              <a:pathLst>
                <a:path w="0" h="1955742">
                  <a:moveTo>
                    <a:pt x="0" y="19557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1598560" y="5311261"/>
              <a:ext cx="560557" cy="302674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1598560" y="4845608"/>
              <a:ext cx="575206" cy="302674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1598560" y="4379955"/>
              <a:ext cx="126121" cy="302674"/>
            </a:xfrm>
            <a:prstGeom prst="rect">
              <a:avLst/>
            </a:prstGeom>
            <a:solidFill>
              <a:srgbClr val="CC79A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1559730" y="3914302"/>
              <a:ext cx="38830" cy="302674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1598560" y="3786247"/>
              <a:ext cx="0" cy="1955742"/>
            </a:xfrm>
            <a:custGeom>
              <a:avLst/>
              <a:pathLst>
                <a:path w="0" h="1955742">
                  <a:moveTo>
                    <a:pt x="0" y="19557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2330994" y="3786247"/>
              <a:ext cx="675440" cy="19557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361696" y="3786247"/>
              <a:ext cx="0" cy="1955742"/>
            </a:xfrm>
            <a:custGeom>
              <a:avLst/>
              <a:pathLst>
                <a:path w="0" h="1955742">
                  <a:moveTo>
                    <a:pt x="0" y="19557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2594464" y="3786247"/>
              <a:ext cx="0" cy="1955742"/>
            </a:xfrm>
            <a:custGeom>
              <a:avLst/>
              <a:pathLst>
                <a:path w="0" h="1955742">
                  <a:moveTo>
                    <a:pt x="0" y="19557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2827233" y="3786247"/>
              <a:ext cx="0" cy="1955742"/>
            </a:xfrm>
            <a:custGeom>
              <a:avLst/>
              <a:pathLst>
                <a:path w="0" h="1955742">
                  <a:moveTo>
                    <a:pt x="0" y="19557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2361696" y="5311261"/>
              <a:ext cx="614036" cy="302674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2361696" y="4845608"/>
              <a:ext cx="375241" cy="302674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2361696" y="4379955"/>
              <a:ext cx="26044" cy="302674"/>
            </a:xfrm>
            <a:prstGeom prst="rect">
              <a:avLst/>
            </a:prstGeom>
            <a:solidFill>
              <a:srgbClr val="CC79A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2361696" y="3914302"/>
              <a:ext cx="2118" cy="302674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2361696" y="3786247"/>
              <a:ext cx="0" cy="1955742"/>
            </a:xfrm>
            <a:custGeom>
              <a:avLst/>
              <a:pathLst>
                <a:path w="0" h="1955742">
                  <a:moveTo>
                    <a:pt x="0" y="19557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3132960" y="3786247"/>
              <a:ext cx="675440" cy="19557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3203797" y="3786247"/>
              <a:ext cx="0" cy="1955742"/>
            </a:xfrm>
            <a:custGeom>
              <a:avLst/>
              <a:pathLst>
                <a:path w="0" h="1955742">
                  <a:moveTo>
                    <a:pt x="0" y="19557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3494225" y="3786247"/>
              <a:ext cx="0" cy="1955742"/>
            </a:xfrm>
            <a:custGeom>
              <a:avLst/>
              <a:pathLst>
                <a:path w="0" h="1955742">
                  <a:moveTo>
                    <a:pt x="0" y="19557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3784654" y="3786247"/>
              <a:ext cx="0" cy="1955742"/>
            </a:xfrm>
            <a:custGeom>
              <a:avLst/>
              <a:pathLst>
                <a:path w="0" h="1955742">
                  <a:moveTo>
                    <a:pt x="0" y="19557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3203797" y="5311261"/>
              <a:ext cx="410568" cy="302674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3163661" y="4845608"/>
              <a:ext cx="40135" cy="302674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3203797" y="4379955"/>
              <a:ext cx="573901" cy="302674"/>
            </a:xfrm>
            <a:prstGeom prst="rect">
              <a:avLst/>
            </a:prstGeom>
            <a:solidFill>
              <a:srgbClr val="CC79A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3189242" y="3914302"/>
              <a:ext cx="14555" cy="302674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3203797" y="3786247"/>
              <a:ext cx="0" cy="1955742"/>
            </a:xfrm>
            <a:custGeom>
              <a:avLst/>
              <a:pathLst>
                <a:path w="0" h="1955742">
                  <a:moveTo>
                    <a:pt x="0" y="19557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3934925" y="3786247"/>
              <a:ext cx="675440" cy="19557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3965627" y="3786247"/>
              <a:ext cx="0" cy="1955742"/>
            </a:xfrm>
            <a:custGeom>
              <a:avLst/>
              <a:pathLst>
                <a:path w="0" h="1955742">
                  <a:moveTo>
                    <a:pt x="0" y="19557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4146655" y="3786247"/>
              <a:ext cx="0" cy="1955742"/>
            </a:xfrm>
            <a:custGeom>
              <a:avLst/>
              <a:pathLst>
                <a:path w="0" h="1955742">
                  <a:moveTo>
                    <a:pt x="0" y="19557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4327683" y="3786247"/>
              <a:ext cx="0" cy="1955742"/>
            </a:xfrm>
            <a:custGeom>
              <a:avLst/>
              <a:pathLst>
                <a:path w="0" h="1955742">
                  <a:moveTo>
                    <a:pt x="0" y="19557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4508710" y="3786247"/>
              <a:ext cx="0" cy="1955742"/>
            </a:xfrm>
            <a:custGeom>
              <a:avLst/>
              <a:pathLst>
                <a:path w="0" h="1955742">
                  <a:moveTo>
                    <a:pt x="0" y="19557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3965627" y="5311261"/>
              <a:ext cx="558823" cy="302674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3965627" y="4845608"/>
              <a:ext cx="614036" cy="302674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3965627" y="4379955"/>
              <a:ext cx="295806" cy="302674"/>
            </a:xfrm>
            <a:prstGeom prst="rect">
              <a:avLst/>
            </a:prstGeom>
            <a:solidFill>
              <a:srgbClr val="CC79A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3965627" y="3914302"/>
              <a:ext cx="8899" cy="302674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3965627" y="3786247"/>
              <a:ext cx="0" cy="1955742"/>
            </a:xfrm>
            <a:custGeom>
              <a:avLst/>
              <a:pathLst>
                <a:path w="0" h="1955742">
                  <a:moveTo>
                    <a:pt x="0" y="19557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tx170"/>
            <p:cNvSpPr/>
            <p:nvPr/>
          </p:nvSpPr>
          <p:spPr>
            <a:xfrm>
              <a:off x="1579638" y="3631304"/>
              <a:ext cx="309981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ΔAIC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2381604" y="3631304"/>
              <a:ext cx="36640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ΔAUC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3183570" y="3631304"/>
              <a:ext cx="22530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ΔR²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3985536" y="3631304"/>
              <a:ext cx="148681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|β|</a:t>
              </a:r>
            </a:p>
          </p:txBody>
        </p:sp>
        <p:sp>
          <p:nvSpPr>
            <p:cNvPr id="174" name="pl174"/>
            <p:cNvSpPr/>
            <p:nvPr/>
          </p:nvSpPr>
          <p:spPr>
            <a:xfrm>
              <a:off x="1529028" y="5741990"/>
              <a:ext cx="675440" cy="0"/>
            </a:xfrm>
            <a:custGeom>
              <a:avLst/>
              <a:pathLst>
                <a:path w="675440" h="0">
                  <a:moveTo>
                    <a:pt x="0" y="0"/>
                  </a:moveTo>
                  <a:lnTo>
                    <a:pt x="67544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1598560" y="574199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1793805" y="574199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1989049" y="574199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2184293" y="574199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tx179"/>
            <p:cNvSpPr/>
            <p:nvPr/>
          </p:nvSpPr>
          <p:spPr>
            <a:xfrm>
              <a:off x="1570305" y="5798926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1737295" y="5798926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1932539" y="5798926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2127783" y="5798926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83" name="pl183"/>
            <p:cNvSpPr/>
            <p:nvPr/>
          </p:nvSpPr>
          <p:spPr>
            <a:xfrm>
              <a:off x="2330994" y="5741990"/>
              <a:ext cx="675440" cy="0"/>
            </a:xfrm>
            <a:custGeom>
              <a:avLst/>
              <a:pathLst>
                <a:path w="675440" h="0">
                  <a:moveTo>
                    <a:pt x="0" y="0"/>
                  </a:moveTo>
                  <a:lnTo>
                    <a:pt x="67544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2361696" y="574199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2594464" y="574199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2827233" y="574199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tx187"/>
            <p:cNvSpPr/>
            <p:nvPr/>
          </p:nvSpPr>
          <p:spPr>
            <a:xfrm>
              <a:off x="2333441" y="5798926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2495572" y="5798926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0.02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2728340" y="5798926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0.04</a:t>
              </a:r>
            </a:p>
          </p:txBody>
        </p:sp>
        <p:sp>
          <p:nvSpPr>
            <p:cNvPr id="190" name="pl190"/>
            <p:cNvSpPr/>
            <p:nvPr/>
          </p:nvSpPr>
          <p:spPr>
            <a:xfrm>
              <a:off x="3132960" y="5741990"/>
              <a:ext cx="675440" cy="0"/>
            </a:xfrm>
            <a:custGeom>
              <a:avLst/>
              <a:pathLst>
                <a:path w="675440" h="0">
                  <a:moveTo>
                    <a:pt x="0" y="0"/>
                  </a:moveTo>
                  <a:lnTo>
                    <a:pt x="67544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3203797" y="574199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3494225" y="574199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3784654" y="574199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tx194"/>
            <p:cNvSpPr/>
            <p:nvPr/>
          </p:nvSpPr>
          <p:spPr>
            <a:xfrm>
              <a:off x="3175542" y="5798926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3367078" y="5798926"/>
              <a:ext cx="25429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0.005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3685762" y="5798926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0.01</a:t>
              </a:r>
            </a:p>
          </p:txBody>
        </p:sp>
        <p:sp>
          <p:nvSpPr>
            <p:cNvPr id="197" name="pl197"/>
            <p:cNvSpPr/>
            <p:nvPr/>
          </p:nvSpPr>
          <p:spPr>
            <a:xfrm>
              <a:off x="3934925" y="5741990"/>
              <a:ext cx="675440" cy="0"/>
            </a:xfrm>
            <a:custGeom>
              <a:avLst/>
              <a:pathLst>
                <a:path w="675440" h="0">
                  <a:moveTo>
                    <a:pt x="0" y="0"/>
                  </a:moveTo>
                  <a:lnTo>
                    <a:pt x="67544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3965627" y="574199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4146655" y="574199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4327683" y="574199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4508710" y="574199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tx202"/>
            <p:cNvSpPr/>
            <p:nvPr/>
          </p:nvSpPr>
          <p:spPr>
            <a:xfrm>
              <a:off x="3937372" y="5798926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4076017" y="5798926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0.1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4257045" y="5798926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4438073" y="5798926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0.3</a:t>
              </a:r>
            </a:p>
          </p:txBody>
        </p:sp>
        <p:sp>
          <p:nvSpPr>
            <p:cNvPr id="206" name="pl206"/>
            <p:cNvSpPr/>
            <p:nvPr/>
          </p:nvSpPr>
          <p:spPr>
            <a:xfrm>
              <a:off x="1529028" y="3786247"/>
              <a:ext cx="0" cy="1955742"/>
            </a:xfrm>
            <a:custGeom>
              <a:avLst/>
              <a:pathLst>
                <a:path w="0" h="1955742">
                  <a:moveTo>
                    <a:pt x="0" y="1955742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tx207"/>
            <p:cNvSpPr/>
            <p:nvPr/>
          </p:nvSpPr>
          <p:spPr>
            <a:xfrm>
              <a:off x="483808" y="5426205"/>
              <a:ext cx="98828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accumulated warming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914673" y="4960552"/>
              <a:ext cx="557418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survey effort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813084" y="4494899"/>
              <a:ext cx="659008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climate x effort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715060" y="4029246"/>
              <a:ext cx="75703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annual variability</a:t>
              </a:r>
            </a:p>
          </p:txBody>
        </p:sp>
        <p:sp>
          <p:nvSpPr>
            <p:cNvPr id="211" name="pl211"/>
            <p:cNvSpPr/>
            <p:nvPr/>
          </p:nvSpPr>
          <p:spPr>
            <a:xfrm>
              <a:off x="1497397" y="546259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1497397" y="499694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1497397" y="453129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1497397" y="406563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tx215"/>
            <p:cNvSpPr/>
            <p:nvPr/>
          </p:nvSpPr>
          <p:spPr>
            <a:xfrm>
              <a:off x="1660561" y="6229052"/>
              <a:ext cx="281827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Loss when the term is dropped from the full model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1529028" y="3269720"/>
              <a:ext cx="2547792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ΔAIC and ΔAUC on fixed effects; ΔR² conditional;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1529028" y="3395907"/>
              <a:ext cx="2181209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 |β| standardised. Larger = more important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1529028" y="3088774"/>
              <a:ext cx="2056394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Warming and effort matter equally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329069" y="3078527"/>
              <a:ext cx="9180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220" name="rc220"/>
            <p:cNvSpPr/>
            <p:nvPr/>
          </p:nvSpPr>
          <p:spPr>
            <a:xfrm>
              <a:off x="5160332" y="3786247"/>
              <a:ext cx="3081337" cy="19557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5160332" y="5534562"/>
              <a:ext cx="3081337" cy="0"/>
            </a:xfrm>
            <a:custGeom>
              <a:avLst/>
              <a:pathLst>
                <a:path w="3081337" h="0">
                  <a:moveTo>
                    <a:pt x="0" y="0"/>
                  </a:moveTo>
                  <a:lnTo>
                    <a:pt x="3081337" y="0"/>
                  </a:lnTo>
                  <a:lnTo>
                    <a:pt x="308133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5160332" y="4941913"/>
              <a:ext cx="3081337" cy="0"/>
            </a:xfrm>
            <a:custGeom>
              <a:avLst/>
              <a:pathLst>
                <a:path w="3081337" h="0">
                  <a:moveTo>
                    <a:pt x="0" y="0"/>
                  </a:moveTo>
                  <a:lnTo>
                    <a:pt x="3081337" y="0"/>
                  </a:lnTo>
                  <a:lnTo>
                    <a:pt x="308133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5160332" y="4349264"/>
              <a:ext cx="3081337" cy="0"/>
            </a:xfrm>
            <a:custGeom>
              <a:avLst/>
              <a:pathLst>
                <a:path w="3081337" h="0">
                  <a:moveTo>
                    <a:pt x="0" y="0"/>
                  </a:moveTo>
                  <a:lnTo>
                    <a:pt x="3081337" y="0"/>
                  </a:lnTo>
                  <a:lnTo>
                    <a:pt x="308133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5160332" y="4941913"/>
              <a:ext cx="3081337" cy="0"/>
            </a:xfrm>
            <a:custGeom>
              <a:avLst/>
              <a:pathLst>
                <a:path w="3081337" h="0">
                  <a:moveTo>
                    <a:pt x="0" y="0"/>
                  </a:moveTo>
                  <a:lnTo>
                    <a:pt x="3081337" y="0"/>
                  </a:lnTo>
                  <a:lnTo>
                    <a:pt x="3081337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5458526" y="4280054"/>
              <a:ext cx="2484949" cy="1188443"/>
            </a:xfrm>
            <a:custGeom>
              <a:avLst/>
              <a:pathLst>
                <a:path w="2484949" h="1188443">
                  <a:moveTo>
                    <a:pt x="0" y="1188443"/>
                  </a:moveTo>
                  <a:lnTo>
                    <a:pt x="496989" y="312995"/>
                  </a:lnTo>
                  <a:lnTo>
                    <a:pt x="993979" y="186637"/>
                  </a:lnTo>
                  <a:lnTo>
                    <a:pt x="1490969" y="12030"/>
                  </a:lnTo>
                  <a:lnTo>
                    <a:pt x="1987959" y="13262"/>
                  </a:lnTo>
                  <a:lnTo>
                    <a:pt x="2484949" y="0"/>
                  </a:lnTo>
                </a:path>
              </a:pathLst>
            </a:custGeom>
            <a:ln w="1355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5421914" y="5431885"/>
              <a:ext cx="73224" cy="7322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5918904" y="4556437"/>
              <a:ext cx="73224" cy="7322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6415894" y="4430079"/>
              <a:ext cx="73224" cy="7322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6912884" y="4255472"/>
              <a:ext cx="73224" cy="7322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7409874" y="4256704"/>
              <a:ext cx="73224" cy="7322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7906864" y="4243441"/>
              <a:ext cx="73224" cy="7322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tx232"/>
            <p:cNvSpPr/>
            <p:nvPr/>
          </p:nvSpPr>
          <p:spPr>
            <a:xfrm>
              <a:off x="5333757" y="5313918"/>
              <a:ext cx="249539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0.411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5826952" y="4438470"/>
              <a:ext cx="257129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0.559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6323942" y="4312112"/>
              <a:ext cx="257129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0.580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6820932" y="4137505"/>
              <a:ext cx="257129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0.610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7317922" y="4138737"/>
              <a:ext cx="257129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0.609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7814911" y="4125475"/>
              <a:ext cx="257129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0.612</a:t>
              </a:r>
            </a:p>
          </p:txBody>
        </p:sp>
        <p:sp>
          <p:nvSpPr>
            <p:cNvPr id="238" name="pl238"/>
            <p:cNvSpPr/>
            <p:nvPr/>
          </p:nvSpPr>
          <p:spPr>
            <a:xfrm>
              <a:off x="5160332" y="3786247"/>
              <a:ext cx="0" cy="1955742"/>
            </a:xfrm>
            <a:custGeom>
              <a:avLst/>
              <a:pathLst>
                <a:path w="0" h="1955742">
                  <a:moveTo>
                    <a:pt x="0" y="1955742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tx239"/>
            <p:cNvSpPr/>
            <p:nvPr/>
          </p:nvSpPr>
          <p:spPr>
            <a:xfrm>
              <a:off x="4962121" y="5498169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4962121" y="4905520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4962121" y="4312871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0.6</a:t>
              </a:r>
            </a:p>
          </p:txBody>
        </p:sp>
        <p:sp>
          <p:nvSpPr>
            <p:cNvPr id="242" name="pl242"/>
            <p:cNvSpPr/>
            <p:nvPr/>
          </p:nvSpPr>
          <p:spPr>
            <a:xfrm>
              <a:off x="5128701" y="553456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5128701" y="494191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5128701" y="434926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5160332" y="5741990"/>
              <a:ext cx="3081337" cy="0"/>
            </a:xfrm>
            <a:custGeom>
              <a:avLst/>
              <a:pathLst>
                <a:path w="3081337" h="0">
                  <a:moveTo>
                    <a:pt x="0" y="0"/>
                  </a:moveTo>
                  <a:lnTo>
                    <a:pt x="3081337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5458526" y="574199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5955516" y="574199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6452506" y="574199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6949496" y="574199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7446486" y="574199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7943476" y="574199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tx252"/>
            <p:cNvSpPr/>
            <p:nvPr/>
          </p:nvSpPr>
          <p:spPr>
            <a:xfrm rot="-1200000">
              <a:off x="5317552" y="5823784"/>
              <a:ext cx="15819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null</a:t>
              </a:r>
            </a:p>
          </p:txBody>
        </p:sp>
        <p:sp>
          <p:nvSpPr>
            <p:cNvPr id="253" name="tx253"/>
            <p:cNvSpPr/>
            <p:nvPr/>
          </p:nvSpPr>
          <p:spPr>
            <a:xfrm rot="-1200000">
              <a:off x="5745104" y="5836028"/>
              <a:ext cx="229788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effort</a:t>
              </a:r>
            </a:p>
          </p:txBody>
        </p:sp>
        <p:sp>
          <p:nvSpPr>
            <p:cNvPr id="254" name="tx254"/>
            <p:cNvSpPr/>
            <p:nvPr/>
          </p:nvSpPr>
          <p:spPr>
            <a:xfrm rot="-1200000">
              <a:off x="6152790" y="5851774"/>
              <a:ext cx="321868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climate</a:t>
              </a:r>
            </a:p>
          </p:txBody>
        </p:sp>
        <p:sp>
          <p:nvSpPr>
            <p:cNvPr id="255" name="tx255"/>
            <p:cNvSpPr/>
            <p:nvPr/>
          </p:nvSpPr>
          <p:spPr>
            <a:xfrm rot="-1200000">
              <a:off x="6314559" y="5910883"/>
              <a:ext cx="66751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effort + climate</a:t>
              </a:r>
            </a:p>
          </p:txBody>
        </p:sp>
        <p:sp>
          <p:nvSpPr>
            <p:cNvPr id="256" name="tx256"/>
            <p:cNvSpPr/>
            <p:nvPr/>
          </p:nvSpPr>
          <p:spPr>
            <a:xfrm rot="-1200000">
              <a:off x="6639771" y="5941172"/>
              <a:ext cx="84463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+ annual variability</a:t>
              </a:r>
            </a:p>
          </p:txBody>
        </p:sp>
        <p:sp>
          <p:nvSpPr>
            <p:cNvPr id="257" name="tx257"/>
            <p:cNvSpPr/>
            <p:nvPr/>
          </p:nvSpPr>
          <p:spPr>
            <a:xfrm rot="-1200000">
              <a:off x="7076900" y="5951727"/>
              <a:ext cx="90635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+ interaction (MAIN)</a:t>
              </a:r>
            </a:p>
          </p:txBody>
        </p:sp>
        <p:sp>
          <p:nvSpPr>
            <p:cNvPr id="258" name="tx258"/>
            <p:cNvSpPr/>
            <p:nvPr/>
          </p:nvSpPr>
          <p:spPr>
            <a:xfrm rot="-5400000">
              <a:off x="4089745" y="4718627"/>
              <a:ext cx="153710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AUC from fixed effects only</a:t>
              </a:r>
            </a:p>
          </p:txBody>
        </p:sp>
        <p:sp>
          <p:nvSpPr>
            <p:cNvPr id="259" name="tx259"/>
            <p:cNvSpPr/>
            <p:nvPr/>
          </p:nvSpPr>
          <p:spPr>
            <a:xfrm>
              <a:off x="5160332" y="3269720"/>
              <a:ext cx="2515240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Discrimination gained as fixed effects are added;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5160332" y="3395907"/>
              <a:ext cx="2128174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 random structure held at the main model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5160332" y="3088774"/>
              <a:ext cx="193441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Neither factor alone is sufficient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4779522" y="3078527"/>
              <a:ext cx="100858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2026-09-22T12:32:25Z</dcterms:modified>
  <cp:category/>
</cp:coreProperties>
</file>