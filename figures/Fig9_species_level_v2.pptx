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11338560" cy="7680960"/>
            <a:chOff x="182880" y="182880"/>
            <a:chExt cx="11338560" cy="76809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11338560" cy="7680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11338559" cy="76809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252469"/>
              <a:ext cx="5516663" cy="3593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769132" y="252469"/>
              <a:ext cx="5682718" cy="35935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884455" y="818749"/>
              <a:ext cx="3783456" cy="2284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70869" y="818749"/>
              <a:ext cx="0" cy="2284040"/>
            </a:xfrm>
            <a:custGeom>
              <a:avLst/>
              <a:pathLst>
                <a:path w="0" h="2284040">
                  <a:moveTo>
                    <a:pt x="0" y="228404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326271" y="2343558"/>
              <a:ext cx="1851418" cy="0"/>
            </a:xfrm>
            <a:custGeom>
              <a:avLst/>
              <a:pathLst>
                <a:path w="1851418" h="0">
                  <a:moveTo>
                    <a:pt x="0" y="0"/>
                  </a:moveTo>
                  <a:lnTo>
                    <a:pt x="1851418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56431" y="2026330"/>
              <a:ext cx="2069849" cy="0"/>
            </a:xfrm>
            <a:custGeom>
              <a:avLst/>
              <a:pathLst>
                <a:path w="2069849" h="0">
                  <a:moveTo>
                    <a:pt x="0" y="0"/>
                  </a:moveTo>
                  <a:lnTo>
                    <a:pt x="2069849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0731" y="1074646"/>
              <a:ext cx="1450525" cy="0"/>
            </a:xfrm>
            <a:custGeom>
              <a:avLst/>
              <a:pathLst>
                <a:path w="1450525" h="0">
                  <a:moveTo>
                    <a:pt x="0" y="0"/>
                  </a:moveTo>
                  <a:lnTo>
                    <a:pt x="1450525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92232" y="1391874"/>
              <a:ext cx="1229809" cy="0"/>
            </a:xfrm>
            <a:custGeom>
              <a:avLst/>
              <a:pathLst>
                <a:path w="1229809" h="0">
                  <a:moveTo>
                    <a:pt x="0" y="0"/>
                  </a:moveTo>
                  <a:lnTo>
                    <a:pt x="1229809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07932" y="1709102"/>
              <a:ext cx="1137464" cy="0"/>
            </a:xfrm>
            <a:custGeom>
              <a:avLst/>
              <a:pathLst>
                <a:path w="1137464" h="0">
                  <a:moveTo>
                    <a:pt x="0" y="0"/>
                  </a:moveTo>
                  <a:lnTo>
                    <a:pt x="1137464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394146" y="2978014"/>
              <a:ext cx="1122834" cy="0"/>
            </a:xfrm>
            <a:custGeom>
              <a:avLst/>
              <a:pathLst>
                <a:path w="1122834" h="0">
                  <a:moveTo>
                    <a:pt x="0" y="0"/>
                  </a:moveTo>
                  <a:lnTo>
                    <a:pt x="1122834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29323" y="2660786"/>
              <a:ext cx="1228651" cy="0"/>
            </a:xfrm>
            <a:custGeom>
              <a:avLst/>
              <a:pathLst>
                <a:path w="1228651" h="0">
                  <a:moveTo>
                    <a:pt x="0" y="0"/>
                  </a:moveTo>
                  <a:lnTo>
                    <a:pt x="1228651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31423" y="2277998"/>
              <a:ext cx="1982502" cy="0"/>
            </a:xfrm>
            <a:custGeom>
              <a:avLst/>
              <a:pathLst>
                <a:path w="1982502" h="0">
                  <a:moveTo>
                    <a:pt x="0" y="0"/>
                  </a:moveTo>
                  <a:lnTo>
                    <a:pt x="1982502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20514" y="1960770"/>
              <a:ext cx="1630179" cy="0"/>
            </a:xfrm>
            <a:custGeom>
              <a:avLst/>
              <a:pathLst>
                <a:path w="1630179" h="0">
                  <a:moveTo>
                    <a:pt x="0" y="0"/>
                  </a:moveTo>
                  <a:lnTo>
                    <a:pt x="1630179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53424" y="1009086"/>
              <a:ext cx="1414259" cy="0"/>
            </a:xfrm>
            <a:custGeom>
              <a:avLst/>
              <a:pathLst>
                <a:path w="1414259" h="0">
                  <a:moveTo>
                    <a:pt x="0" y="0"/>
                  </a:moveTo>
                  <a:lnTo>
                    <a:pt x="1414259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05627" y="1326314"/>
              <a:ext cx="1195752" cy="0"/>
            </a:xfrm>
            <a:custGeom>
              <a:avLst/>
              <a:pathLst>
                <a:path w="1195752" h="0">
                  <a:moveTo>
                    <a:pt x="0" y="0"/>
                  </a:moveTo>
                  <a:lnTo>
                    <a:pt x="1195752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56316" y="1643542"/>
              <a:ext cx="1086616" cy="0"/>
            </a:xfrm>
            <a:custGeom>
              <a:avLst/>
              <a:pathLst>
                <a:path w="1086616" h="0">
                  <a:moveTo>
                    <a:pt x="0" y="0"/>
                  </a:moveTo>
                  <a:lnTo>
                    <a:pt x="1086616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484138" y="2912453"/>
              <a:ext cx="1106532" cy="0"/>
            </a:xfrm>
            <a:custGeom>
              <a:avLst/>
              <a:pathLst>
                <a:path w="1106532" h="0">
                  <a:moveTo>
                    <a:pt x="0" y="0"/>
                  </a:moveTo>
                  <a:lnTo>
                    <a:pt x="1106532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417831" y="2595225"/>
              <a:ext cx="1199544" cy="0"/>
            </a:xfrm>
            <a:custGeom>
              <a:avLst/>
              <a:pathLst>
                <a:path w="1199544" h="0">
                  <a:moveTo>
                    <a:pt x="0" y="0"/>
                  </a:moveTo>
                  <a:lnTo>
                    <a:pt x="1199544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448544" y="2212437"/>
              <a:ext cx="1547026" cy="0"/>
            </a:xfrm>
            <a:custGeom>
              <a:avLst/>
              <a:pathLst>
                <a:path w="1547026" h="0">
                  <a:moveTo>
                    <a:pt x="0" y="0"/>
                  </a:moveTo>
                  <a:lnTo>
                    <a:pt x="1547026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69778" y="1895209"/>
              <a:ext cx="1461264" cy="0"/>
            </a:xfrm>
            <a:custGeom>
              <a:avLst/>
              <a:pathLst>
                <a:path w="1461264" h="0">
                  <a:moveTo>
                    <a:pt x="0" y="0"/>
                  </a:moveTo>
                  <a:lnTo>
                    <a:pt x="1461264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067135" y="943525"/>
              <a:ext cx="1428801" cy="0"/>
            </a:xfrm>
            <a:custGeom>
              <a:avLst/>
              <a:pathLst>
                <a:path w="1428801" h="0">
                  <a:moveTo>
                    <a:pt x="0" y="0"/>
                  </a:moveTo>
                  <a:lnTo>
                    <a:pt x="1428801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168433" y="1260753"/>
              <a:ext cx="1071772" cy="0"/>
            </a:xfrm>
            <a:custGeom>
              <a:avLst/>
              <a:pathLst>
                <a:path w="1071772" h="0">
                  <a:moveTo>
                    <a:pt x="0" y="0"/>
                  </a:moveTo>
                  <a:lnTo>
                    <a:pt x="1071772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13814" y="1577981"/>
              <a:ext cx="1073168" cy="0"/>
            </a:xfrm>
            <a:custGeom>
              <a:avLst/>
              <a:pathLst>
                <a:path w="1073168" h="0">
                  <a:moveTo>
                    <a:pt x="0" y="0"/>
                  </a:moveTo>
                  <a:lnTo>
                    <a:pt x="1073168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55564" y="2846893"/>
              <a:ext cx="1059015" cy="0"/>
            </a:xfrm>
            <a:custGeom>
              <a:avLst/>
              <a:pathLst>
                <a:path w="1059015" h="0">
                  <a:moveTo>
                    <a:pt x="0" y="0"/>
                  </a:moveTo>
                  <a:lnTo>
                    <a:pt x="1059015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358417" y="2529665"/>
              <a:ext cx="1145731" cy="0"/>
            </a:xfrm>
            <a:custGeom>
              <a:avLst/>
              <a:pathLst>
                <a:path w="1145731" h="0">
                  <a:moveTo>
                    <a:pt x="0" y="0"/>
                  </a:moveTo>
                  <a:lnTo>
                    <a:pt x="1145731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220788" y="2312366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060163" y="1995138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224801" y="1043454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75944" y="1360682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145472" y="1677910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924371" y="2946822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012457" y="2629594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091483" y="2246805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04411" y="1929577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129362" y="977894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772311" y="1295122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168433" y="1612350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006212" y="2881261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986411" y="2564033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190865" y="2181245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269218" y="1864017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750343" y="912333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73127" y="1229561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19206" y="1546789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853879" y="2815701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900090" y="2498473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884455" y="818749"/>
              <a:ext cx="0" cy="2284040"/>
            </a:xfrm>
            <a:custGeom>
              <a:avLst/>
              <a:pathLst>
                <a:path w="0" h="2284040">
                  <a:moveTo>
                    <a:pt x="0" y="2284040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353689" y="2876060"/>
              <a:ext cx="14738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breadth (BIRDBASE HB)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494964" y="2558832"/>
              <a:ext cx="133255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Diet breadth (BIRDBASE DB)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4873" y="2241604"/>
              <a:ext cx="50264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Body mass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568024" y="1924377"/>
              <a:ext cx="12594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Hand-wing index (dispersal)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50391" y="1607149"/>
              <a:ext cx="97712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Number of congeners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30451" y="1289921"/>
              <a:ext cx="49706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Clutch size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036654" y="972693"/>
              <a:ext cx="79086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Global range size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1852824" y="291245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852824" y="259522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852824" y="227799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852824" y="196077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852824" y="164354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852824" y="132631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852824" y="100908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884455" y="3102790"/>
              <a:ext cx="3783456" cy="0"/>
            </a:xfrm>
            <a:custGeom>
              <a:avLst/>
              <a:pathLst>
                <a:path w="3783456" h="0">
                  <a:moveTo>
                    <a:pt x="0" y="0"/>
                  </a:moveTo>
                  <a:lnTo>
                    <a:pt x="378345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032538" y="31027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533580" y="31027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370869" y="31027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1961900" y="315972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0.7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2462943" y="315972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3300232" y="315972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946457" y="3285541"/>
              <a:ext cx="165945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Odds ratio per 1 SD (95% CI)</a:t>
              </a:r>
            </a:p>
          </p:txBody>
        </p:sp>
        <p:sp>
          <p:nvSpPr>
            <p:cNvPr id="74" name="rc74"/>
            <p:cNvSpPr/>
            <p:nvPr/>
          </p:nvSpPr>
          <p:spPr>
            <a:xfrm>
              <a:off x="1748321" y="3529750"/>
              <a:ext cx="4055724" cy="2403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811584" y="359301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822971" y="3649949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837328" y="3618757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3163527" y="359301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174915" y="3649949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89272" y="3618757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4915795" y="359301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927182" y="3649949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941539" y="3618757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1988720" y="3609030"/>
              <a:ext cx="111154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M1 taxonomic nesting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340663" y="3609030"/>
              <a:ext cx="1511868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M2 phylogenetic eigenvectors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092930" y="3609030"/>
              <a:ext cx="64785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M3 phyloglm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884455" y="521126"/>
              <a:ext cx="463207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Filled points are significant. M3 uses the dated phylogeny directly (Ives &amp; Garland logistic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884455" y="647313"/>
              <a:ext cx="4324471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regression, alpha = 0.60); M1 and M2 are coarser treatments shown for robustness.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884455" y="328384"/>
              <a:ext cx="330811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Only range size survives among continuous traits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34357" y="320894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91" name="rc91"/>
            <p:cNvSpPr/>
            <p:nvPr/>
          </p:nvSpPr>
          <p:spPr>
            <a:xfrm>
              <a:off x="7567174" y="818749"/>
              <a:ext cx="3783456" cy="2284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9386028" y="818749"/>
              <a:ext cx="0" cy="2284040"/>
            </a:xfrm>
            <a:custGeom>
              <a:avLst/>
              <a:pathLst>
                <a:path w="0" h="2284040">
                  <a:moveTo>
                    <a:pt x="0" y="228404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10078528" y="958329"/>
              <a:ext cx="1100127" cy="0"/>
            </a:xfrm>
            <a:custGeom>
              <a:avLst/>
              <a:pathLst>
                <a:path w="1100127" h="0">
                  <a:moveTo>
                    <a:pt x="0" y="0"/>
                  </a:moveTo>
                  <a:lnTo>
                    <a:pt x="1100127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9316740" y="1304396"/>
              <a:ext cx="1115790" cy="0"/>
            </a:xfrm>
            <a:custGeom>
              <a:avLst/>
              <a:pathLst>
                <a:path w="1115790" h="0">
                  <a:moveTo>
                    <a:pt x="0" y="0"/>
                  </a:moveTo>
                  <a:lnTo>
                    <a:pt x="1115790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693768" y="2515630"/>
              <a:ext cx="1239941" cy="0"/>
            </a:xfrm>
            <a:custGeom>
              <a:avLst/>
              <a:pathLst>
                <a:path w="1239941" h="0">
                  <a:moveTo>
                    <a:pt x="0" y="0"/>
                  </a:moveTo>
                  <a:lnTo>
                    <a:pt x="1239941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464160" y="2342597"/>
              <a:ext cx="1654024" cy="0"/>
            </a:xfrm>
            <a:custGeom>
              <a:avLst/>
              <a:pathLst>
                <a:path w="1654024" h="0">
                  <a:moveTo>
                    <a:pt x="0" y="0"/>
                  </a:moveTo>
                  <a:lnTo>
                    <a:pt x="1654024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053461" y="2169563"/>
              <a:ext cx="1736099" cy="0"/>
            </a:xfrm>
            <a:custGeom>
              <a:avLst/>
              <a:pathLst>
                <a:path w="1736099" h="0">
                  <a:moveTo>
                    <a:pt x="0" y="0"/>
                  </a:moveTo>
                  <a:lnTo>
                    <a:pt x="1736099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438809" y="1996530"/>
              <a:ext cx="2286085" cy="0"/>
            </a:xfrm>
            <a:custGeom>
              <a:avLst/>
              <a:pathLst>
                <a:path w="2286085" h="0">
                  <a:moveTo>
                    <a:pt x="0" y="0"/>
                  </a:moveTo>
                  <a:lnTo>
                    <a:pt x="2286085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000898" y="2861697"/>
              <a:ext cx="2080495" cy="0"/>
            </a:xfrm>
            <a:custGeom>
              <a:avLst/>
              <a:pathLst>
                <a:path w="2080495" h="0">
                  <a:moveTo>
                    <a:pt x="0" y="0"/>
                  </a:moveTo>
                  <a:lnTo>
                    <a:pt x="2080495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219535" y="2688664"/>
              <a:ext cx="2482545" cy="0"/>
            </a:xfrm>
            <a:custGeom>
              <a:avLst/>
              <a:pathLst>
                <a:path w="2482545" h="0">
                  <a:moveTo>
                    <a:pt x="0" y="0"/>
                  </a:moveTo>
                  <a:lnTo>
                    <a:pt x="2482545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9078348" y="1823496"/>
              <a:ext cx="921147" cy="0"/>
            </a:xfrm>
            <a:custGeom>
              <a:avLst/>
              <a:pathLst>
                <a:path w="921147" h="0">
                  <a:moveTo>
                    <a:pt x="0" y="0"/>
                  </a:moveTo>
                  <a:lnTo>
                    <a:pt x="921147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502929" y="3034730"/>
              <a:ext cx="1138017" cy="0"/>
            </a:xfrm>
            <a:custGeom>
              <a:avLst/>
              <a:pathLst>
                <a:path w="1138017" h="0">
                  <a:moveTo>
                    <a:pt x="0" y="0"/>
                  </a:moveTo>
                  <a:lnTo>
                    <a:pt x="1138017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579409" y="1131363"/>
              <a:ext cx="1715543" cy="0"/>
            </a:xfrm>
            <a:custGeom>
              <a:avLst/>
              <a:pathLst>
                <a:path w="1715543" h="0">
                  <a:moveTo>
                    <a:pt x="0" y="0"/>
                  </a:moveTo>
                  <a:lnTo>
                    <a:pt x="1715543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930596" y="1477430"/>
              <a:ext cx="1512937" cy="0"/>
            </a:xfrm>
            <a:custGeom>
              <a:avLst/>
              <a:pathLst>
                <a:path w="1512937" h="0">
                  <a:moveTo>
                    <a:pt x="0" y="0"/>
                  </a:moveTo>
                  <a:lnTo>
                    <a:pt x="1512937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471383" y="1650463"/>
              <a:ext cx="1860914" cy="0"/>
            </a:xfrm>
            <a:custGeom>
              <a:avLst/>
              <a:pathLst>
                <a:path w="1860914" h="0">
                  <a:moveTo>
                    <a:pt x="0" y="0"/>
                  </a:moveTo>
                  <a:lnTo>
                    <a:pt x="1860914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0093811" y="922569"/>
              <a:ext cx="1080236" cy="0"/>
            </a:xfrm>
            <a:custGeom>
              <a:avLst/>
              <a:pathLst>
                <a:path w="1080236" h="0">
                  <a:moveTo>
                    <a:pt x="0" y="0"/>
                  </a:moveTo>
                  <a:lnTo>
                    <a:pt x="1080236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9399275" y="1268636"/>
              <a:ext cx="1073506" cy="0"/>
            </a:xfrm>
            <a:custGeom>
              <a:avLst/>
              <a:pathLst>
                <a:path w="1073506" h="0">
                  <a:moveTo>
                    <a:pt x="0" y="0"/>
                  </a:moveTo>
                  <a:lnTo>
                    <a:pt x="1073506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825186" y="2479870"/>
              <a:ext cx="1197166" cy="0"/>
            </a:xfrm>
            <a:custGeom>
              <a:avLst/>
              <a:pathLst>
                <a:path w="1197166" h="0">
                  <a:moveTo>
                    <a:pt x="0" y="0"/>
                  </a:moveTo>
                  <a:lnTo>
                    <a:pt x="1197166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856798" y="2306836"/>
              <a:ext cx="1775382" cy="0"/>
            </a:xfrm>
            <a:custGeom>
              <a:avLst/>
              <a:pathLst>
                <a:path w="1775382" h="0">
                  <a:moveTo>
                    <a:pt x="0" y="0"/>
                  </a:moveTo>
                  <a:lnTo>
                    <a:pt x="1775382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29404" y="2133803"/>
              <a:ext cx="1611938" cy="0"/>
            </a:xfrm>
            <a:custGeom>
              <a:avLst/>
              <a:pathLst>
                <a:path w="1611938" h="0">
                  <a:moveTo>
                    <a:pt x="0" y="0"/>
                  </a:moveTo>
                  <a:lnTo>
                    <a:pt x="1611938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7739149" y="1960770"/>
              <a:ext cx="2642872" cy="0"/>
            </a:xfrm>
            <a:custGeom>
              <a:avLst/>
              <a:pathLst>
                <a:path w="2642872" h="0">
                  <a:moveTo>
                    <a:pt x="0" y="0"/>
                  </a:moveTo>
                  <a:lnTo>
                    <a:pt x="2642872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167780" y="2825937"/>
              <a:ext cx="2045503" cy="0"/>
            </a:xfrm>
            <a:custGeom>
              <a:avLst/>
              <a:pathLst>
                <a:path w="2045503" h="0">
                  <a:moveTo>
                    <a:pt x="0" y="0"/>
                  </a:moveTo>
                  <a:lnTo>
                    <a:pt x="2045503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333249" y="2652903"/>
              <a:ext cx="2777811" cy="0"/>
            </a:xfrm>
            <a:custGeom>
              <a:avLst/>
              <a:pathLst>
                <a:path w="2777811" h="0">
                  <a:moveTo>
                    <a:pt x="0" y="0"/>
                  </a:moveTo>
                  <a:lnTo>
                    <a:pt x="2777811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9096904" y="1787736"/>
              <a:ext cx="898048" cy="0"/>
            </a:xfrm>
            <a:custGeom>
              <a:avLst/>
              <a:pathLst>
                <a:path w="898048" h="0">
                  <a:moveTo>
                    <a:pt x="0" y="0"/>
                  </a:moveTo>
                  <a:lnTo>
                    <a:pt x="898048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500014" y="2998970"/>
              <a:ext cx="1121904" cy="0"/>
            </a:xfrm>
            <a:custGeom>
              <a:avLst/>
              <a:pathLst>
                <a:path w="1121904" h="0">
                  <a:moveTo>
                    <a:pt x="0" y="0"/>
                  </a:moveTo>
                  <a:lnTo>
                    <a:pt x="1121904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639954" y="1095603"/>
              <a:ext cx="1691524" cy="0"/>
            </a:xfrm>
            <a:custGeom>
              <a:avLst/>
              <a:pathLst>
                <a:path w="1691524" h="0">
                  <a:moveTo>
                    <a:pt x="0" y="0"/>
                  </a:moveTo>
                  <a:lnTo>
                    <a:pt x="1691524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936809" y="1441669"/>
              <a:ext cx="1509743" cy="0"/>
            </a:xfrm>
            <a:custGeom>
              <a:avLst/>
              <a:pathLst>
                <a:path w="1509743" h="0">
                  <a:moveTo>
                    <a:pt x="0" y="0"/>
                  </a:moveTo>
                  <a:lnTo>
                    <a:pt x="1509743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459481" y="1614703"/>
              <a:ext cx="1843660" cy="0"/>
            </a:xfrm>
            <a:custGeom>
              <a:avLst/>
              <a:pathLst>
                <a:path w="1843660" h="0">
                  <a:moveTo>
                    <a:pt x="0" y="0"/>
                  </a:moveTo>
                  <a:lnTo>
                    <a:pt x="1843660" y="0"/>
                  </a:lnTo>
                </a:path>
              </a:pathLst>
            </a:custGeom>
            <a:ln w="13550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9737916" y="886809"/>
              <a:ext cx="1029065" cy="0"/>
            </a:xfrm>
            <a:custGeom>
              <a:avLst/>
              <a:pathLst>
                <a:path w="1029065" h="0">
                  <a:moveTo>
                    <a:pt x="0" y="0"/>
                  </a:moveTo>
                  <a:lnTo>
                    <a:pt x="1029065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9173646" y="1232876"/>
              <a:ext cx="1008268" cy="0"/>
            </a:xfrm>
            <a:custGeom>
              <a:avLst/>
              <a:pathLst>
                <a:path w="1008268" h="0">
                  <a:moveTo>
                    <a:pt x="0" y="0"/>
                  </a:moveTo>
                  <a:lnTo>
                    <a:pt x="1008268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447130" y="2444110"/>
              <a:ext cx="1157467" cy="0"/>
            </a:xfrm>
            <a:custGeom>
              <a:avLst/>
              <a:pathLst>
                <a:path w="1157467" h="0">
                  <a:moveTo>
                    <a:pt x="0" y="0"/>
                  </a:moveTo>
                  <a:lnTo>
                    <a:pt x="1157467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400615" y="2271076"/>
              <a:ext cx="1385726" cy="0"/>
            </a:xfrm>
            <a:custGeom>
              <a:avLst/>
              <a:pathLst>
                <a:path w="1385726" h="0">
                  <a:moveTo>
                    <a:pt x="0" y="0"/>
                  </a:moveTo>
                  <a:lnTo>
                    <a:pt x="1385726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348406" y="2098043"/>
              <a:ext cx="1544836" cy="0"/>
            </a:xfrm>
            <a:custGeom>
              <a:avLst/>
              <a:pathLst>
                <a:path w="1544836" h="0">
                  <a:moveTo>
                    <a:pt x="0" y="0"/>
                  </a:moveTo>
                  <a:lnTo>
                    <a:pt x="1544836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8369195" y="1925009"/>
              <a:ext cx="1905962" cy="0"/>
            </a:xfrm>
            <a:custGeom>
              <a:avLst/>
              <a:pathLst>
                <a:path w="1905962" h="0">
                  <a:moveTo>
                    <a:pt x="0" y="0"/>
                  </a:moveTo>
                  <a:lnTo>
                    <a:pt x="1905962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011226" y="2790176"/>
              <a:ext cx="1863199" cy="0"/>
            </a:xfrm>
            <a:custGeom>
              <a:avLst/>
              <a:pathLst>
                <a:path w="1863199" h="0">
                  <a:moveTo>
                    <a:pt x="0" y="0"/>
                  </a:moveTo>
                  <a:lnTo>
                    <a:pt x="1863199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774110" y="2617143"/>
              <a:ext cx="2362864" cy="0"/>
            </a:xfrm>
            <a:custGeom>
              <a:avLst/>
              <a:pathLst>
                <a:path w="2362864" h="0">
                  <a:moveTo>
                    <a:pt x="0" y="0"/>
                  </a:moveTo>
                  <a:lnTo>
                    <a:pt x="2362864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941986" y="1751976"/>
              <a:ext cx="860755" cy="0"/>
            </a:xfrm>
            <a:custGeom>
              <a:avLst/>
              <a:pathLst>
                <a:path w="860755" h="0">
                  <a:moveTo>
                    <a:pt x="0" y="0"/>
                  </a:moveTo>
                  <a:lnTo>
                    <a:pt x="860755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015492" y="2963210"/>
              <a:ext cx="1067078" cy="0"/>
            </a:xfrm>
            <a:custGeom>
              <a:avLst/>
              <a:pathLst>
                <a:path w="1067078" h="0">
                  <a:moveTo>
                    <a:pt x="0" y="0"/>
                  </a:moveTo>
                  <a:lnTo>
                    <a:pt x="1067078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908798" y="1059842"/>
              <a:ext cx="1553311" cy="0"/>
            </a:xfrm>
            <a:custGeom>
              <a:avLst/>
              <a:pathLst>
                <a:path w="1553311" h="0">
                  <a:moveTo>
                    <a:pt x="0" y="0"/>
                  </a:moveTo>
                  <a:lnTo>
                    <a:pt x="1553311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824440" y="1405909"/>
              <a:ext cx="1472122" cy="0"/>
            </a:xfrm>
            <a:custGeom>
              <a:avLst/>
              <a:pathLst>
                <a:path w="1472122" h="0">
                  <a:moveTo>
                    <a:pt x="0" y="0"/>
                  </a:moveTo>
                  <a:lnTo>
                    <a:pt x="1472122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538594" y="1578943"/>
              <a:ext cx="1741306" cy="0"/>
            </a:xfrm>
            <a:custGeom>
              <a:avLst/>
              <a:pathLst>
                <a:path w="1741306" h="0">
                  <a:moveTo>
                    <a:pt x="0" y="0"/>
                  </a:moveTo>
                  <a:lnTo>
                    <a:pt x="1741306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0597399" y="927137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9843444" y="1273204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9282546" y="2484438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9259980" y="2311405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8890319" y="2138371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9550659" y="1965338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9009954" y="2830505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9429615" y="2657471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9507730" y="1792304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9040745" y="3003538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9405989" y="1100171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9655873" y="1446237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9370648" y="1619271"/>
              <a:ext cx="62384" cy="62384"/>
            </a:xfrm>
            <a:prstGeom prst="ellipse">
              <a:avLst/>
            </a:prstGeom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0602737" y="891377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9904837" y="1201684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9392577" y="2448678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9713296" y="2275644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8904181" y="2102611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9029393" y="1929577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9159340" y="2794745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9690962" y="2621711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9514736" y="1756544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9029774" y="2967778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9454524" y="1064410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9660488" y="1410477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9350119" y="1583511"/>
              <a:ext cx="62384" cy="62384"/>
            </a:xfrm>
            <a:prstGeom prst="ellipse">
              <a:avLst/>
            </a:prstGeom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0221256" y="855617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9646588" y="1237444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8994671" y="2412917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9062286" y="2239884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9089632" y="2066851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9290983" y="1893817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8911633" y="2758984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8924350" y="2585951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9341172" y="1720784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8517838" y="2932018"/>
              <a:ext cx="62384" cy="6238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9654262" y="1028650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9529308" y="1374717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9378055" y="1547750"/>
              <a:ext cx="62384" cy="62384"/>
            </a:xfrm>
            <a:prstGeom prst="ellipse">
              <a:avLst/>
            </a:prstGeom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567174" y="818749"/>
              <a:ext cx="0" cy="2284040"/>
            </a:xfrm>
            <a:custGeom>
              <a:avLst/>
              <a:pathLst>
                <a:path w="0" h="2284040">
                  <a:moveTo>
                    <a:pt x="0" y="2284040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tx172"/>
            <p:cNvSpPr/>
            <p:nvPr/>
          </p:nvSpPr>
          <p:spPr>
            <a:xfrm>
              <a:off x="6532927" y="2962577"/>
              <a:ext cx="97731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density: Open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870352" y="2789544"/>
              <a:ext cx="16398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Frugivore/Nectarivore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6406922" y="2616510"/>
              <a:ext cx="110331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Herbivore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6407014" y="2443477"/>
              <a:ext cx="110322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Omnivore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6107273" y="2270443"/>
              <a:ext cx="140296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Aquatic predator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6401253" y="2097410"/>
              <a:ext cx="110898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Granivore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5932257" y="1924377"/>
              <a:ext cx="157798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Vertivore/Scavenger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6290153" y="1751343"/>
              <a:ext cx="122008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density: Semi-open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6578555" y="1578310"/>
              <a:ext cx="93168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Endemism: Endemic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6388086" y="1405276"/>
              <a:ext cx="112215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IUCN status: Threatened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6612388" y="1232243"/>
              <a:ext cx="89784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Migration: Migratory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6139643" y="1059209"/>
              <a:ext cx="13705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IUCN status: Near Threatened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6380770" y="886176"/>
              <a:ext cx="11294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Migration: Partial migrant</a:t>
              </a:r>
            </a:p>
          </p:txBody>
        </p:sp>
        <p:sp>
          <p:nvSpPr>
            <p:cNvPr id="185" name="pl185"/>
            <p:cNvSpPr/>
            <p:nvPr/>
          </p:nvSpPr>
          <p:spPr>
            <a:xfrm>
              <a:off x="7535542" y="299897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7535542" y="282593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7535542" y="265290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535542" y="247987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7535542" y="23068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7535542" y="213380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7535542" y="196077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535542" y="17877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7535542" y="161470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535542" y="144166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535542" y="12686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7535542" y="109560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7535542" y="92256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7567174" y="3102790"/>
              <a:ext cx="3783456" cy="0"/>
            </a:xfrm>
            <a:custGeom>
              <a:avLst/>
              <a:pathLst>
                <a:path w="3783456" h="0">
                  <a:moveTo>
                    <a:pt x="0" y="0"/>
                  </a:moveTo>
                  <a:lnTo>
                    <a:pt x="378345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7745480" y="31027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9386028" y="31027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10883010" y="3102790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tx202"/>
            <p:cNvSpPr/>
            <p:nvPr/>
          </p:nvSpPr>
          <p:spPr>
            <a:xfrm>
              <a:off x="7674843" y="315972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9315391" y="315972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10812373" y="315972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3.0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8381830" y="3285541"/>
              <a:ext cx="215414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Odds ratio vs reference level (95% CI)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7567174" y="521126"/>
              <a:ext cx="1712671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References: resident, invertivore,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7567174" y="647313"/>
              <a:ext cx="2297155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dense habitat, Least Concern, non-endemic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7567174" y="328384"/>
              <a:ext cx="172382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Partial migrants stand out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847325" y="320894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210" name="rc210"/>
            <p:cNvSpPr/>
            <p:nvPr/>
          </p:nvSpPr>
          <p:spPr>
            <a:xfrm>
              <a:off x="252469" y="3846064"/>
              <a:ext cx="5681392" cy="39481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5933861" y="3846064"/>
              <a:ext cx="5517989" cy="39481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1884455" y="4538532"/>
              <a:ext cx="3948185" cy="25124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185562" y="4538532"/>
              <a:ext cx="0" cy="2512445"/>
            </a:xfrm>
            <a:custGeom>
              <a:avLst/>
              <a:pathLst>
                <a:path w="0" h="2512445">
                  <a:moveTo>
                    <a:pt x="0" y="2512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2063918" y="4938239"/>
              <a:ext cx="1078379" cy="571010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2063918" y="6080259"/>
              <a:ext cx="2339428" cy="571010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tx216"/>
            <p:cNvSpPr/>
            <p:nvPr/>
          </p:nvSpPr>
          <p:spPr>
            <a:xfrm>
              <a:off x="3187342" y="5191420"/>
              <a:ext cx="75072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OR = 0.96, P = 0.7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4454716" y="6333440"/>
              <a:ext cx="85615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OR = 2.09, P = 5e-15</a:t>
              </a:r>
            </a:p>
          </p:txBody>
        </p:sp>
        <p:sp>
          <p:nvSpPr>
            <p:cNvPr id="218" name="pl218"/>
            <p:cNvSpPr/>
            <p:nvPr/>
          </p:nvSpPr>
          <p:spPr>
            <a:xfrm>
              <a:off x="1884455" y="4538532"/>
              <a:ext cx="0" cy="2512445"/>
            </a:xfrm>
            <a:custGeom>
              <a:avLst/>
              <a:pathLst>
                <a:path w="0" h="2512445">
                  <a:moveTo>
                    <a:pt x="0" y="2512445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tx219"/>
            <p:cNvSpPr/>
            <p:nvPr/>
          </p:nvSpPr>
          <p:spPr>
            <a:xfrm>
              <a:off x="556411" y="6274507"/>
              <a:ext cx="12711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Chinese provinces occupied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765443" y="6384235"/>
              <a:ext cx="106207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(contains the response)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036654" y="5132487"/>
              <a:ext cx="79086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Global range size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471555" y="5242215"/>
              <a:ext cx="135596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(independent of the response)</a:t>
              </a:r>
            </a:p>
          </p:txBody>
        </p:sp>
        <p:sp>
          <p:nvSpPr>
            <p:cNvPr id="223" name="pl223"/>
            <p:cNvSpPr/>
            <p:nvPr/>
          </p:nvSpPr>
          <p:spPr>
            <a:xfrm>
              <a:off x="1852824" y="636576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1852824" y="522374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1884455" y="7050977"/>
              <a:ext cx="3948185" cy="0"/>
            </a:xfrm>
            <a:custGeom>
              <a:avLst/>
              <a:pathLst>
                <a:path w="3948185" h="0">
                  <a:moveTo>
                    <a:pt x="0" y="0"/>
                  </a:moveTo>
                  <a:lnTo>
                    <a:pt x="394818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2063918" y="705097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3185562" y="705097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4307205" y="705097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5428849" y="705097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2035663" y="710791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157307" y="710791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4278951" y="710791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400594" y="710791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3297106" y="7233728"/>
              <a:ext cx="11228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Odds ratio per 1 SD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1884455" y="4114721"/>
              <a:ext cx="4418655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 trait database was published in 2022, so its provincial counts already contain the 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1884455" y="4240908"/>
              <a:ext cx="4782769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2002-2021 records used as the response. Entered together, the global measure is absorbed.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1884455" y="3921979"/>
              <a:ext cx="285777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Why range size must be measured globally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335181" y="3919809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39" name="rc239"/>
            <p:cNvSpPr/>
            <p:nvPr/>
          </p:nvSpPr>
          <p:spPr>
            <a:xfrm>
              <a:off x="7402445" y="4538532"/>
              <a:ext cx="3948185" cy="25124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7581908" y="4574601"/>
              <a:ext cx="2340821" cy="77114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7581908" y="4698980"/>
              <a:ext cx="2340821" cy="77114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7581908" y="4823358"/>
              <a:ext cx="780273" cy="77114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7581908" y="4947737"/>
              <a:ext cx="780273" cy="77114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7581908" y="5072115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7581908" y="5196494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7581908" y="5320872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7581908" y="5445251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7581908" y="5569629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7581908" y="5694008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7581908" y="5818386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7581908" y="5942765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7581908" y="6067143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7581908" y="6191522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7581908" y="6315900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7581908" y="6440278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7581908" y="6564657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7581908" y="6689035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7581908" y="6813414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7581908" y="6937792"/>
              <a:ext cx="0" cy="77114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tx260"/>
            <p:cNvSpPr/>
            <p:nvPr/>
          </p:nvSpPr>
          <p:spPr>
            <a:xfrm>
              <a:off x="9956278" y="4584721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1.89-2.50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9956278" y="4709099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1.23-1.46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8395731" y="4833478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0.54-0.79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8395731" y="4957856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1.24-1.50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7615457" y="5082235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1.04-1.25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7615457" y="5206613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1.14-1.25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7615457" y="5330992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0.72-0.87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7615457" y="5455370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0.71-0.82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7615457" y="5579749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1.06-1.12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7615457" y="5704127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0.89-0.92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7615457" y="5828506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0.88-0.91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7615457" y="5952884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0.93-0.98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7615457" y="6077263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0.94-0.97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7615457" y="6201641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1.00-1.02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7615457" y="6326019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0.99-1.12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7615457" y="6450398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0.81-1.30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7615457" y="6574776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0.73-1.28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7615457" y="6699155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0.77-1.03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7615457" y="6823533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0.79-1.15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7615457" y="6947912"/>
              <a:ext cx="33549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0.95-1.05</a:t>
              </a:r>
            </a:p>
          </p:txBody>
        </p:sp>
        <p:sp>
          <p:nvSpPr>
            <p:cNvPr id="280" name="pl280"/>
            <p:cNvSpPr/>
            <p:nvPr/>
          </p:nvSpPr>
          <p:spPr>
            <a:xfrm>
              <a:off x="7402445" y="4538532"/>
              <a:ext cx="0" cy="2512445"/>
            </a:xfrm>
            <a:custGeom>
              <a:avLst/>
              <a:pathLst>
                <a:path w="0" h="2512445">
                  <a:moveTo>
                    <a:pt x="0" y="2512445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tx281"/>
            <p:cNvSpPr/>
            <p:nvPr/>
          </p:nvSpPr>
          <p:spPr>
            <a:xfrm>
              <a:off x="6564428" y="6947272"/>
              <a:ext cx="781080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Number of congeners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6084551" y="6822893"/>
              <a:ext cx="1260957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Vertivore/Scavenger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6463844" y="6698515"/>
              <a:ext cx="881664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Omnivore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6463844" y="6574136"/>
              <a:ext cx="881664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Herbivore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6224362" y="6449758"/>
              <a:ext cx="1121145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Aquatic predator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6370392" y="6325379"/>
              <a:ext cx="975116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density: Semi-open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6600821" y="6201001"/>
              <a:ext cx="744687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Endemism: Endemic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6943812" y="6076622"/>
              <a:ext cx="401695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Body mass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6338937" y="5952244"/>
              <a:ext cx="1006571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Hand-wing index (dispersal)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6167578" y="5827866"/>
              <a:ext cx="1177930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breadth (BIRDBASE HB)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6280507" y="5703487"/>
              <a:ext cx="1065001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Diet breadth (BIRDBASE DB)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6948384" y="5579109"/>
              <a:ext cx="397123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Clutch size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6459272" y="5454730"/>
              <a:ext cx="886236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Granivore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6035082" y="5330352"/>
              <a:ext cx="1310426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Trophic niche: Frugivore/Nectarivore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6448665" y="5205973"/>
              <a:ext cx="896843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IUCN status: Threatened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6250057" y="5081595"/>
              <a:ext cx="1095451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IUCN status: Near Threatened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6627796" y="4957216"/>
              <a:ext cx="717712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Migration: Migratory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6564428" y="4832838"/>
              <a:ext cx="781080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density: Open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6713475" y="4708459"/>
              <a:ext cx="632033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Global range size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6442721" y="4584081"/>
              <a:ext cx="902787" cy="581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4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Migration: Partial migrant</a:t>
              </a:r>
            </a:p>
          </p:txBody>
        </p:sp>
        <p:sp>
          <p:nvSpPr>
            <p:cNvPr id="301" name="pl301"/>
            <p:cNvSpPr/>
            <p:nvPr/>
          </p:nvSpPr>
          <p:spPr>
            <a:xfrm>
              <a:off x="7370813" y="697635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370813" y="685197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7370813" y="672759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7370813" y="660321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7370813" y="64788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7370813" y="635445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7370813" y="623007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7370813" y="610570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370813" y="598132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7370813" y="585694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7370813" y="573256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7370813" y="560818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7370813" y="548380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7370813" y="535943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7370813" y="523505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7370813" y="511067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7370813" y="498629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7370813" y="486191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370813" y="473753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7370813" y="461315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7402445" y="7050977"/>
              <a:ext cx="3948185" cy="0"/>
            </a:xfrm>
            <a:custGeom>
              <a:avLst/>
              <a:pathLst>
                <a:path w="3948185" h="0">
                  <a:moveTo>
                    <a:pt x="0" y="0"/>
                  </a:moveTo>
                  <a:lnTo>
                    <a:pt x="394818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581908" y="705097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8362181" y="705097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9142455" y="705097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9922729" y="705097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tx326"/>
            <p:cNvSpPr/>
            <p:nvPr/>
          </p:nvSpPr>
          <p:spPr>
            <a:xfrm>
              <a:off x="7553653" y="710791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8333926" y="710791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28" name="tx328"/>
            <p:cNvSpPr/>
            <p:nvPr/>
          </p:nvSpPr>
          <p:spPr>
            <a:xfrm>
              <a:off x="9114200" y="710791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29" name="tx329"/>
            <p:cNvSpPr/>
            <p:nvPr/>
          </p:nvSpPr>
          <p:spPr>
            <a:xfrm>
              <a:off x="9894474" y="710791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7525975" y="7233728"/>
              <a:ext cx="370112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Number of phylogenetic treatments in which the term is significant</a:t>
              </a:r>
            </a:p>
          </p:txBody>
        </p:sp>
        <p:sp>
          <p:nvSpPr>
            <p:cNvPr id="331" name="rc331"/>
            <p:cNvSpPr/>
            <p:nvPr/>
          </p:nvSpPr>
          <p:spPr>
            <a:xfrm>
              <a:off x="7631271" y="7477937"/>
              <a:ext cx="3490533" cy="2403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7694533" y="7541199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7702715" y="7549381"/>
              <a:ext cx="97509" cy="97509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9002128" y="7541199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9010310" y="7549381"/>
              <a:ext cx="97509" cy="97509"/>
            </a:xfrm>
            <a:prstGeom prst="rect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10182621" y="7541199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10190803" y="7549381"/>
              <a:ext cx="97509" cy="97509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tx338"/>
            <p:cNvSpPr/>
            <p:nvPr/>
          </p:nvSpPr>
          <p:spPr>
            <a:xfrm>
              <a:off x="7871669" y="7557216"/>
              <a:ext cx="106719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significant in all three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9179264" y="7557216"/>
              <a:ext cx="94009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significant in some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10359757" y="7557216"/>
              <a:ext cx="69878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significant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7402445" y="4114721"/>
              <a:ext cx="2413558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Taxonomic nesting, phylogenetic eigenvectors,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7402445" y="4240908"/>
              <a:ext cx="2737987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phylogenetic logistic regression; text gives the range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7402445" y="4367095"/>
              <a:ext cx="1602760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of odds ratios across the three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7402445" y="3921979"/>
              <a:ext cx="275581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Robustness to how phylogeny is handled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6011230" y="3919809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2026-09-22T13:14:57Z</dcterms:modified>
  <cp:category/>
</cp:coreProperties>
</file>