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1338560" cy="7680960"/>
            <a:chOff x="182880" y="182880"/>
            <a:chExt cx="11338560" cy="76809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1338560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1338559" cy="7680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5525395" cy="36486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5777865" y="252469"/>
              <a:ext cx="5673985" cy="36486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728709" y="768698"/>
              <a:ext cx="3947935" cy="24448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79742" y="768698"/>
              <a:ext cx="0" cy="2444885"/>
            </a:xfrm>
            <a:custGeom>
              <a:avLst/>
              <a:pathLst>
                <a:path w="0" h="2444885">
                  <a:moveTo>
                    <a:pt x="0" y="24448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9731" y="2400885"/>
              <a:ext cx="1931905" cy="0"/>
            </a:xfrm>
            <a:custGeom>
              <a:avLst/>
              <a:pathLst>
                <a:path w="1931905" h="0">
                  <a:moveTo>
                    <a:pt x="0" y="0"/>
                  </a:moveTo>
                  <a:lnTo>
                    <a:pt x="1931905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08160" y="2061318"/>
              <a:ext cx="2159832" cy="0"/>
            </a:xfrm>
            <a:custGeom>
              <a:avLst/>
              <a:pathLst>
                <a:path w="2159832" h="0">
                  <a:moveTo>
                    <a:pt x="0" y="0"/>
                  </a:moveTo>
                  <a:lnTo>
                    <a:pt x="215983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446553" y="1042615"/>
              <a:ext cx="1513584" cy="0"/>
            </a:xfrm>
            <a:custGeom>
              <a:avLst/>
              <a:pathLst>
                <a:path w="1513584" h="0">
                  <a:moveTo>
                    <a:pt x="0" y="0"/>
                  </a:moveTo>
                  <a:lnTo>
                    <a:pt x="151358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4644" y="1382183"/>
              <a:ext cx="1283273" cy="0"/>
            </a:xfrm>
            <a:custGeom>
              <a:avLst/>
              <a:pathLst>
                <a:path w="1283273" h="0">
                  <a:moveTo>
                    <a:pt x="0" y="0"/>
                  </a:moveTo>
                  <a:lnTo>
                    <a:pt x="128327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483637" y="1721750"/>
              <a:ext cx="1186913" cy="0"/>
            </a:xfrm>
            <a:custGeom>
              <a:avLst/>
              <a:pathLst>
                <a:path w="1186913" h="0">
                  <a:moveTo>
                    <a:pt x="0" y="0"/>
                  </a:moveTo>
                  <a:lnTo>
                    <a:pt x="118691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60557" y="3080020"/>
              <a:ext cx="1171647" cy="0"/>
            </a:xfrm>
            <a:custGeom>
              <a:avLst/>
              <a:pathLst>
                <a:path w="1171647" h="0">
                  <a:moveTo>
                    <a:pt x="0" y="0"/>
                  </a:moveTo>
                  <a:lnTo>
                    <a:pt x="117164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97264" y="2740453"/>
              <a:ext cx="1282064" cy="0"/>
            </a:xfrm>
            <a:custGeom>
              <a:avLst/>
              <a:pathLst>
                <a:path w="1282064" h="0">
                  <a:moveTo>
                    <a:pt x="0" y="0"/>
                  </a:moveTo>
                  <a:lnTo>
                    <a:pt x="128206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986413" y="2330708"/>
              <a:ext cx="2068688" cy="0"/>
            </a:xfrm>
            <a:custGeom>
              <a:avLst/>
              <a:pathLst>
                <a:path w="2068688" h="0">
                  <a:moveTo>
                    <a:pt x="0" y="0"/>
                  </a:moveTo>
                  <a:lnTo>
                    <a:pt x="206868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88071" y="1991140"/>
              <a:ext cx="1701048" cy="0"/>
            </a:xfrm>
            <a:custGeom>
              <a:avLst/>
              <a:pathLst>
                <a:path w="1701048" h="0">
                  <a:moveTo>
                    <a:pt x="0" y="0"/>
                  </a:moveTo>
                  <a:lnTo>
                    <a:pt x="170104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365886" y="972438"/>
              <a:ext cx="1475742" cy="0"/>
            </a:xfrm>
            <a:custGeom>
              <a:avLst/>
              <a:pathLst>
                <a:path w="1475742" h="0">
                  <a:moveTo>
                    <a:pt x="0" y="0"/>
                  </a:moveTo>
                  <a:lnTo>
                    <a:pt x="147574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107316" y="1312006"/>
              <a:ext cx="1247736" cy="0"/>
            </a:xfrm>
            <a:custGeom>
              <a:avLst/>
              <a:pathLst>
                <a:path w="1247736" h="0">
                  <a:moveTo>
                    <a:pt x="0" y="0"/>
                  </a:moveTo>
                  <a:lnTo>
                    <a:pt x="124773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534125" y="1651573"/>
              <a:ext cx="1133855" cy="0"/>
            </a:xfrm>
            <a:custGeom>
              <a:avLst/>
              <a:pathLst>
                <a:path w="1133855" h="0">
                  <a:moveTo>
                    <a:pt x="0" y="0"/>
                  </a:moveTo>
                  <a:lnTo>
                    <a:pt x="1133855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354462" y="3009843"/>
              <a:ext cx="1154636" cy="0"/>
            </a:xfrm>
            <a:custGeom>
              <a:avLst/>
              <a:pathLst>
                <a:path w="1154636" h="0">
                  <a:moveTo>
                    <a:pt x="0" y="0"/>
                  </a:moveTo>
                  <a:lnTo>
                    <a:pt x="115463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85272" y="2670275"/>
              <a:ext cx="1251692" cy="0"/>
            </a:xfrm>
            <a:custGeom>
              <a:avLst/>
              <a:pathLst>
                <a:path w="1251692" h="0">
                  <a:moveTo>
                    <a:pt x="0" y="0"/>
                  </a:moveTo>
                  <a:lnTo>
                    <a:pt x="125169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17321" y="2260531"/>
              <a:ext cx="1614280" cy="0"/>
            </a:xfrm>
            <a:custGeom>
              <a:avLst/>
              <a:pathLst>
                <a:path w="1614280" h="0">
                  <a:moveTo>
                    <a:pt x="0" y="0"/>
                  </a:moveTo>
                  <a:lnTo>
                    <a:pt x="161428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43825" y="1920963"/>
              <a:ext cx="1524790" cy="0"/>
            </a:xfrm>
            <a:custGeom>
              <a:avLst/>
              <a:pathLst>
                <a:path w="1524790" h="0">
                  <a:moveTo>
                    <a:pt x="0" y="0"/>
                  </a:moveTo>
                  <a:lnTo>
                    <a:pt x="152479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06276" y="902261"/>
              <a:ext cx="1490916" cy="0"/>
            </a:xfrm>
            <a:custGeom>
              <a:avLst/>
              <a:pathLst>
                <a:path w="1490916" h="0">
                  <a:moveTo>
                    <a:pt x="0" y="0"/>
                  </a:moveTo>
                  <a:lnTo>
                    <a:pt x="149091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068505" y="1241828"/>
              <a:ext cx="1118365" cy="0"/>
            </a:xfrm>
            <a:custGeom>
              <a:avLst/>
              <a:pathLst>
                <a:path w="1118365" h="0">
                  <a:moveTo>
                    <a:pt x="0" y="0"/>
                  </a:moveTo>
                  <a:lnTo>
                    <a:pt x="111836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907164" y="1581396"/>
              <a:ext cx="1119822" cy="0"/>
            </a:xfrm>
            <a:custGeom>
              <a:avLst/>
              <a:pathLst>
                <a:path w="1119822" h="0">
                  <a:moveTo>
                    <a:pt x="0" y="0"/>
                  </a:moveTo>
                  <a:lnTo>
                    <a:pt x="1119822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220298" y="2939666"/>
              <a:ext cx="1105054" cy="0"/>
            </a:xfrm>
            <a:custGeom>
              <a:avLst/>
              <a:pathLst>
                <a:path w="1105054" h="0">
                  <a:moveTo>
                    <a:pt x="0" y="0"/>
                  </a:moveTo>
                  <a:lnTo>
                    <a:pt x="1105054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223275" y="2600098"/>
              <a:ext cx="1195540" cy="0"/>
            </a:xfrm>
            <a:custGeom>
              <a:avLst/>
              <a:pathLst>
                <a:path w="1195540" h="0">
                  <a:moveTo>
                    <a:pt x="0" y="0"/>
                  </a:moveTo>
                  <a:lnTo>
                    <a:pt x="119554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24901" y="237010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957294" y="2030535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72562" y="1011832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495497" y="135140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046311" y="1690967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15598" y="3049237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07513" y="270967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989974" y="229992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107812" y="1960357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072974" y="941655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700401" y="1281222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070270" y="1620790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900997" y="2979060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880335" y="2639492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093678" y="2229748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175437" y="1890180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720951" y="871478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596905" y="1211045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436292" y="1550613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742042" y="290888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90262" y="2569315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728709" y="768698"/>
              <a:ext cx="0" cy="2444885"/>
            </a:xfrm>
            <a:custGeom>
              <a:avLst/>
              <a:pathLst>
                <a:path w="0" h="2444885">
                  <a:moveTo>
                    <a:pt x="0" y="244488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tx52"/>
            <p:cNvSpPr/>
            <p:nvPr/>
          </p:nvSpPr>
          <p:spPr>
            <a:xfrm>
              <a:off x="353689" y="2977153"/>
              <a:ext cx="132377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breadth (BIRDBASE HB)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480516" y="2637586"/>
              <a:ext cx="11969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Diet breadth (BIRDBASE DB)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226118" y="2298018"/>
              <a:ext cx="45134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46444" y="1958451"/>
              <a:ext cx="11310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Hand-wing index (dispersal)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00099" y="1618883"/>
              <a:ext cx="8773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Number of congeners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1231147" y="1279316"/>
              <a:ext cx="44631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67343" y="939748"/>
              <a:ext cx="710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59" name="pl59"/>
            <p:cNvSpPr/>
            <p:nvPr/>
          </p:nvSpPr>
          <p:spPr>
            <a:xfrm>
              <a:off x="1700240" y="30098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1700240" y="26702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700240" y="23307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700240" y="1991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1700240" y="16515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1700240" y="131200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1700240" y="9724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1728709" y="3213583"/>
              <a:ext cx="3947935" cy="0"/>
            </a:xfrm>
            <a:custGeom>
              <a:avLst/>
              <a:pathLst>
                <a:path w="3947935" h="0">
                  <a:moveTo>
                    <a:pt x="0" y="0"/>
                  </a:moveTo>
                  <a:lnTo>
                    <a:pt x="39479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883229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406053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279742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70"/>
            <p:cNvSpPr/>
            <p:nvPr/>
          </p:nvSpPr>
          <p:spPr>
            <a:xfrm>
              <a:off x="1819815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0.7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2342639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0.8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216328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2956480" y="3377785"/>
              <a:ext cx="14923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per 1 SD (95% CI)</a:t>
              </a:r>
            </a:p>
          </p:txBody>
        </p:sp>
        <p:sp>
          <p:nvSpPr>
            <p:cNvPr id="74" name="rc74"/>
            <p:cNvSpPr/>
            <p:nvPr/>
          </p:nvSpPr>
          <p:spPr>
            <a:xfrm>
              <a:off x="1878099" y="3597454"/>
              <a:ext cx="3649155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935035" y="365439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1946423" y="371132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1961189" y="3680544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151248" y="365439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162635" y="371132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77401" y="368054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723527" y="365439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4734915" y="3711327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749681" y="3680544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tx84"/>
            <p:cNvSpPr/>
            <p:nvPr/>
          </p:nvSpPr>
          <p:spPr>
            <a:xfrm>
              <a:off x="2105845" y="3674934"/>
              <a:ext cx="98846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M1 taxonomic nesting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3322057" y="3674934"/>
              <a:ext cx="134453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M2 phylogenetic eigenvectors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894337" y="3674934"/>
              <a:ext cx="57598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M3 phyloglm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1728709" y="503004"/>
              <a:ext cx="412641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Filled points are significant. M3 uses the dated phylogeny directly (Ives &amp; Garland logistic 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1728709" y="615475"/>
              <a:ext cx="385145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regression, alpha = 0.60); M1 and M2 are coarser treatments shown for robustness.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1728709" y="328384"/>
              <a:ext cx="300718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Only range size survives among continuous traits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37921" y="32624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91" name="rc91"/>
            <p:cNvSpPr/>
            <p:nvPr/>
          </p:nvSpPr>
          <p:spPr>
            <a:xfrm>
              <a:off x="7402695" y="768698"/>
              <a:ext cx="3947935" cy="244488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9300620" y="768698"/>
              <a:ext cx="0" cy="2444885"/>
            </a:xfrm>
            <a:custGeom>
              <a:avLst/>
              <a:pathLst>
                <a:path w="0" h="2444885">
                  <a:moveTo>
                    <a:pt x="0" y="244488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10023225" y="918107"/>
              <a:ext cx="1147953" cy="0"/>
            </a:xfrm>
            <a:custGeom>
              <a:avLst/>
              <a:pathLst>
                <a:path w="1147953" h="0">
                  <a:moveTo>
                    <a:pt x="0" y="0"/>
                  </a:moveTo>
                  <a:lnTo>
                    <a:pt x="114795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9228321" y="1288545"/>
              <a:ext cx="1164297" cy="0"/>
            </a:xfrm>
            <a:custGeom>
              <a:avLst/>
              <a:pathLst>
                <a:path w="1164297" h="0">
                  <a:moveTo>
                    <a:pt x="0" y="0"/>
                  </a:moveTo>
                  <a:lnTo>
                    <a:pt x="116429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578265" y="2585075"/>
              <a:ext cx="1293845" cy="0"/>
            </a:xfrm>
            <a:custGeom>
              <a:avLst/>
              <a:pathLst>
                <a:path w="1293845" h="0">
                  <a:moveTo>
                    <a:pt x="0" y="0"/>
                  </a:moveTo>
                  <a:lnTo>
                    <a:pt x="1293845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338675" y="2399856"/>
              <a:ext cx="1725930" cy="0"/>
            </a:xfrm>
            <a:custGeom>
              <a:avLst/>
              <a:pathLst>
                <a:path w="1725930" h="0">
                  <a:moveTo>
                    <a:pt x="0" y="0"/>
                  </a:moveTo>
                  <a:lnTo>
                    <a:pt x="1725930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7910123" y="2214638"/>
              <a:ext cx="1811573" cy="0"/>
            </a:xfrm>
            <a:custGeom>
              <a:avLst/>
              <a:pathLst>
                <a:path w="1811573" h="0">
                  <a:moveTo>
                    <a:pt x="0" y="0"/>
                  </a:moveTo>
                  <a:lnTo>
                    <a:pt x="181157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312222" y="2029419"/>
              <a:ext cx="2385469" cy="0"/>
            </a:xfrm>
            <a:custGeom>
              <a:avLst/>
              <a:pathLst>
                <a:path w="2385469" h="0">
                  <a:moveTo>
                    <a:pt x="0" y="0"/>
                  </a:moveTo>
                  <a:lnTo>
                    <a:pt x="238546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7855275" y="2955512"/>
              <a:ext cx="2170941" cy="0"/>
            </a:xfrm>
            <a:custGeom>
              <a:avLst/>
              <a:pathLst>
                <a:path w="2170941" h="0">
                  <a:moveTo>
                    <a:pt x="0" y="0"/>
                  </a:moveTo>
                  <a:lnTo>
                    <a:pt x="2170941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083416" y="2770293"/>
              <a:ext cx="2590469" cy="0"/>
            </a:xfrm>
            <a:custGeom>
              <a:avLst/>
              <a:pathLst>
                <a:path w="2590469" h="0">
                  <a:moveTo>
                    <a:pt x="0" y="0"/>
                  </a:moveTo>
                  <a:lnTo>
                    <a:pt x="259046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979564" y="1844200"/>
              <a:ext cx="961192" cy="0"/>
            </a:xfrm>
            <a:custGeom>
              <a:avLst/>
              <a:pathLst>
                <a:path w="961192" h="0">
                  <a:moveTo>
                    <a:pt x="0" y="0"/>
                  </a:moveTo>
                  <a:lnTo>
                    <a:pt x="96119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379130" y="3140731"/>
              <a:ext cx="1187490" cy="0"/>
            </a:xfrm>
            <a:custGeom>
              <a:avLst/>
              <a:pathLst>
                <a:path w="1187490" h="0">
                  <a:moveTo>
                    <a:pt x="0" y="0"/>
                  </a:moveTo>
                  <a:lnTo>
                    <a:pt x="1187490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458935" y="1103326"/>
              <a:ext cx="1790123" cy="0"/>
            </a:xfrm>
            <a:custGeom>
              <a:avLst/>
              <a:pathLst>
                <a:path w="1790123" h="0">
                  <a:moveTo>
                    <a:pt x="0" y="0"/>
                  </a:moveTo>
                  <a:lnTo>
                    <a:pt x="179012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825390" y="1473763"/>
              <a:ext cx="1578709" cy="0"/>
            </a:xfrm>
            <a:custGeom>
              <a:avLst/>
              <a:pathLst>
                <a:path w="1578709" h="0">
                  <a:moveTo>
                    <a:pt x="0" y="0"/>
                  </a:moveTo>
                  <a:lnTo>
                    <a:pt x="1578709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346212" y="1658982"/>
              <a:ext cx="1941814" cy="0"/>
            </a:xfrm>
            <a:custGeom>
              <a:avLst/>
              <a:pathLst>
                <a:path w="1941814" h="0">
                  <a:moveTo>
                    <a:pt x="0" y="0"/>
                  </a:moveTo>
                  <a:lnTo>
                    <a:pt x="194181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10039173" y="879829"/>
              <a:ext cx="1127197" cy="0"/>
            </a:xfrm>
            <a:custGeom>
              <a:avLst/>
              <a:pathLst>
                <a:path w="1127197" h="0">
                  <a:moveTo>
                    <a:pt x="0" y="0"/>
                  </a:moveTo>
                  <a:lnTo>
                    <a:pt x="1127197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9314444" y="1250266"/>
              <a:ext cx="1120175" cy="0"/>
            </a:xfrm>
            <a:custGeom>
              <a:avLst/>
              <a:pathLst>
                <a:path w="1120175" h="0">
                  <a:moveTo>
                    <a:pt x="0" y="0"/>
                  </a:moveTo>
                  <a:lnTo>
                    <a:pt x="1120175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715396" y="2546796"/>
              <a:ext cx="1249210" cy="0"/>
            </a:xfrm>
            <a:custGeom>
              <a:avLst/>
              <a:pathLst>
                <a:path w="1249210" h="0">
                  <a:moveTo>
                    <a:pt x="0" y="0"/>
                  </a:moveTo>
                  <a:lnTo>
                    <a:pt x="124921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748383" y="2361578"/>
              <a:ext cx="1852563" cy="0"/>
            </a:xfrm>
            <a:custGeom>
              <a:avLst/>
              <a:pathLst>
                <a:path w="1852563" h="0">
                  <a:moveTo>
                    <a:pt x="0" y="0"/>
                  </a:moveTo>
                  <a:lnTo>
                    <a:pt x="1852563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7989367" y="2176359"/>
              <a:ext cx="1682014" cy="0"/>
            </a:xfrm>
            <a:custGeom>
              <a:avLst/>
              <a:pathLst>
                <a:path w="1682014" h="0">
                  <a:moveTo>
                    <a:pt x="0" y="0"/>
                  </a:moveTo>
                  <a:lnTo>
                    <a:pt x="1682014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7582146" y="1991140"/>
              <a:ext cx="2757766" cy="0"/>
            </a:xfrm>
            <a:custGeom>
              <a:avLst/>
              <a:pathLst>
                <a:path w="2757766" h="0">
                  <a:moveTo>
                    <a:pt x="0" y="0"/>
                  </a:moveTo>
                  <a:lnTo>
                    <a:pt x="275776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029411" y="2917233"/>
              <a:ext cx="2134428" cy="0"/>
            </a:xfrm>
            <a:custGeom>
              <a:avLst/>
              <a:pathLst>
                <a:path w="2134428" h="0">
                  <a:moveTo>
                    <a:pt x="0" y="0"/>
                  </a:moveTo>
                  <a:lnTo>
                    <a:pt x="2134428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202073" y="2732015"/>
              <a:ext cx="2898572" cy="0"/>
            </a:xfrm>
            <a:custGeom>
              <a:avLst/>
              <a:pathLst>
                <a:path w="2898572" h="0">
                  <a:moveTo>
                    <a:pt x="0" y="0"/>
                  </a:moveTo>
                  <a:lnTo>
                    <a:pt x="2898572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998927" y="1805922"/>
              <a:ext cx="937089" cy="0"/>
            </a:xfrm>
            <a:custGeom>
              <a:avLst/>
              <a:pathLst>
                <a:path w="937089" h="0">
                  <a:moveTo>
                    <a:pt x="0" y="0"/>
                  </a:moveTo>
                  <a:lnTo>
                    <a:pt x="937089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376088" y="3102452"/>
              <a:ext cx="1170676" cy="0"/>
            </a:xfrm>
            <a:custGeom>
              <a:avLst/>
              <a:pathLst>
                <a:path w="1170676" h="0">
                  <a:moveTo>
                    <a:pt x="0" y="0"/>
                  </a:moveTo>
                  <a:lnTo>
                    <a:pt x="1170676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522112" y="1065047"/>
              <a:ext cx="1765060" cy="0"/>
            </a:xfrm>
            <a:custGeom>
              <a:avLst/>
              <a:pathLst>
                <a:path w="1765060" h="0">
                  <a:moveTo>
                    <a:pt x="0" y="0"/>
                  </a:moveTo>
                  <a:lnTo>
                    <a:pt x="176506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831872" y="1435485"/>
              <a:ext cx="1575377" cy="0"/>
            </a:xfrm>
            <a:custGeom>
              <a:avLst/>
              <a:pathLst>
                <a:path w="1575377" h="0">
                  <a:moveTo>
                    <a:pt x="0" y="0"/>
                  </a:moveTo>
                  <a:lnTo>
                    <a:pt x="1575377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333794" y="1620703"/>
              <a:ext cx="1923810" cy="0"/>
            </a:xfrm>
            <a:custGeom>
              <a:avLst/>
              <a:pathLst>
                <a:path w="1923810" h="0">
                  <a:moveTo>
                    <a:pt x="0" y="0"/>
                  </a:moveTo>
                  <a:lnTo>
                    <a:pt x="1923810" y="0"/>
                  </a:lnTo>
                </a:path>
              </a:pathLst>
            </a:custGeom>
            <a:ln w="1355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9667806" y="841550"/>
              <a:ext cx="1073801" cy="0"/>
            </a:xfrm>
            <a:custGeom>
              <a:avLst/>
              <a:pathLst>
                <a:path w="1073801" h="0">
                  <a:moveTo>
                    <a:pt x="0" y="0"/>
                  </a:moveTo>
                  <a:lnTo>
                    <a:pt x="107380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9079005" y="1211988"/>
              <a:ext cx="1052101" cy="0"/>
            </a:xfrm>
            <a:custGeom>
              <a:avLst/>
              <a:pathLst>
                <a:path w="1052101" h="0">
                  <a:moveTo>
                    <a:pt x="0" y="0"/>
                  </a:moveTo>
                  <a:lnTo>
                    <a:pt x="1052101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320905" y="2508518"/>
              <a:ext cx="1207786" cy="0"/>
            </a:xfrm>
            <a:custGeom>
              <a:avLst/>
              <a:pathLst>
                <a:path w="1207786" h="0">
                  <a:moveTo>
                    <a:pt x="0" y="0"/>
                  </a:moveTo>
                  <a:lnTo>
                    <a:pt x="120778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272369" y="2323299"/>
              <a:ext cx="1445968" cy="0"/>
            </a:xfrm>
            <a:custGeom>
              <a:avLst/>
              <a:pathLst>
                <a:path w="1445968" h="0">
                  <a:moveTo>
                    <a:pt x="0" y="0"/>
                  </a:moveTo>
                  <a:lnTo>
                    <a:pt x="144596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217890" y="2138081"/>
              <a:ext cx="1611995" cy="0"/>
            </a:xfrm>
            <a:custGeom>
              <a:avLst/>
              <a:pathLst>
                <a:path w="1611995" h="0">
                  <a:moveTo>
                    <a:pt x="0" y="0"/>
                  </a:moveTo>
                  <a:lnTo>
                    <a:pt x="161199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239582" y="1952862"/>
              <a:ext cx="1988820" cy="0"/>
            </a:xfrm>
            <a:custGeom>
              <a:avLst/>
              <a:pathLst>
                <a:path w="1988820" h="0">
                  <a:moveTo>
                    <a:pt x="0" y="0"/>
                  </a:moveTo>
                  <a:lnTo>
                    <a:pt x="198882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866051" y="2878955"/>
              <a:ext cx="1944199" cy="0"/>
            </a:xfrm>
            <a:custGeom>
              <a:avLst/>
              <a:pathLst>
                <a:path w="1944199" h="0">
                  <a:moveTo>
                    <a:pt x="0" y="0"/>
                  </a:moveTo>
                  <a:lnTo>
                    <a:pt x="1944199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618627" y="2693736"/>
              <a:ext cx="2465586" cy="0"/>
            </a:xfrm>
            <a:custGeom>
              <a:avLst/>
              <a:pathLst>
                <a:path w="2465586" h="0">
                  <a:moveTo>
                    <a:pt x="0" y="0"/>
                  </a:moveTo>
                  <a:lnTo>
                    <a:pt x="246558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837275" y="1767643"/>
              <a:ext cx="898175" cy="0"/>
            </a:xfrm>
            <a:custGeom>
              <a:avLst/>
              <a:pathLst>
                <a:path w="898175" h="0">
                  <a:moveTo>
                    <a:pt x="0" y="0"/>
                  </a:moveTo>
                  <a:lnTo>
                    <a:pt x="89817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870502" y="3064174"/>
              <a:ext cx="1113467" cy="0"/>
            </a:xfrm>
            <a:custGeom>
              <a:avLst/>
              <a:pathLst>
                <a:path w="1113467" h="0">
                  <a:moveTo>
                    <a:pt x="0" y="0"/>
                  </a:moveTo>
                  <a:lnTo>
                    <a:pt x="1113467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802644" y="1026769"/>
              <a:ext cx="1620838" cy="0"/>
            </a:xfrm>
            <a:custGeom>
              <a:avLst/>
              <a:pathLst>
                <a:path w="1620838" h="0">
                  <a:moveTo>
                    <a:pt x="0" y="0"/>
                  </a:moveTo>
                  <a:lnTo>
                    <a:pt x="162083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714618" y="1397206"/>
              <a:ext cx="1536120" cy="0"/>
            </a:xfrm>
            <a:custGeom>
              <a:avLst/>
              <a:pathLst>
                <a:path w="1536120" h="0">
                  <a:moveTo>
                    <a:pt x="0" y="0"/>
                  </a:moveTo>
                  <a:lnTo>
                    <a:pt x="153612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416346" y="1582425"/>
              <a:ext cx="1817006" cy="0"/>
            </a:xfrm>
            <a:custGeom>
              <a:avLst/>
              <a:pathLst>
                <a:path w="1817006" h="0">
                  <a:moveTo>
                    <a:pt x="0" y="0"/>
                  </a:moveTo>
                  <a:lnTo>
                    <a:pt x="1817006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0566419" y="887324"/>
              <a:ext cx="61566" cy="61566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9779686" y="1257761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9194405" y="2554292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9170858" y="2369073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8785126" y="2183854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9474174" y="1998636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8909962" y="2924729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9347867" y="273951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9429378" y="1813417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8942092" y="3109948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9323214" y="1072543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9583961" y="1442980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9286337" y="1628199"/>
              <a:ext cx="61566" cy="61566"/>
            </a:xfrm>
            <a:prstGeom prst="ellipse">
              <a:avLst/>
            </a:prstGeom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0571988" y="849046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9843748" y="1181204"/>
              <a:ext cx="61566" cy="61566"/>
            </a:xfrm>
            <a:prstGeom prst="ellipse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9309219" y="2516013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9643881" y="2330795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8799591" y="2145576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8930247" y="1960357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9065842" y="2886450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9620576" y="2701232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9436688" y="1775139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930643" y="3071669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9373859" y="1034264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9588778" y="1404702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9264916" y="1589920"/>
              <a:ext cx="61566" cy="61566"/>
            </a:xfrm>
            <a:prstGeom prst="ellipse">
              <a:avLst/>
            </a:prstGeom>
            <a:ln w="7363" cap="rnd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0173924" y="810767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9574272" y="1219483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8894015" y="2477735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8964570" y="2292516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8993104" y="2107297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9203209" y="1922079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8807367" y="284817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8820637" y="2662953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9255579" y="1736860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8396453" y="3033391"/>
              <a:ext cx="61566" cy="61566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9582280" y="995986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9451895" y="1366423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9294066" y="1551642"/>
              <a:ext cx="61566" cy="61566"/>
            </a:xfrm>
            <a:prstGeom prst="ellipse">
              <a:avLst/>
            </a:prstGeom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7402695" y="768698"/>
              <a:ext cx="0" cy="2444885"/>
            </a:xfrm>
            <a:custGeom>
              <a:avLst/>
              <a:pathLst>
                <a:path w="0" h="2444885">
                  <a:moveTo>
                    <a:pt x="0" y="244488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tx172"/>
            <p:cNvSpPr/>
            <p:nvPr/>
          </p:nvSpPr>
          <p:spPr>
            <a:xfrm>
              <a:off x="6473994" y="3069762"/>
              <a:ext cx="8774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Open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879085" y="2884544"/>
              <a:ext cx="14723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Frugivore/Nectarivore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360791" y="2699325"/>
              <a:ext cx="9906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Herbivore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360882" y="2514106"/>
              <a:ext cx="99056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Omnivore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6091866" y="2328888"/>
              <a:ext cx="12595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Aquatic predator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6355762" y="2143669"/>
              <a:ext cx="9956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Granivore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5934680" y="1958451"/>
              <a:ext cx="14167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Vertivore/Scavenger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6255909" y="1773232"/>
              <a:ext cx="109554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Semi-open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6514684" y="1588013"/>
              <a:ext cx="83676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Endemism: Endemic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6343874" y="1402795"/>
              <a:ext cx="10075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Threatened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6545317" y="1217576"/>
              <a:ext cx="80613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Migratory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6120761" y="1032358"/>
              <a:ext cx="12306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Near Threatened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6337291" y="847139"/>
              <a:ext cx="10141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Partial migrant</a:t>
              </a:r>
            </a:p>
          </p:txBody>
        </p:sp>
        <p:sp>
          <p:nvSpPr>
            <p:cNvPr id="185" name="pl185"/>
            <p:cNvSpPr/>
            <p:nvPr/>
          </p:nvSpPr>
          <p:spPr>
            <a:xfrm>
              <a:off x="7374226" y="310245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7374226" y="29172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7374226" y="273201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7374226" y="254679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7374226" y="23615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7374226" y="21763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7374226" y="199114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7374226" y="180592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7374226" y="162070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7374226" y="143548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7374226" y="125026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7374226" y="10650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7374226" y="87982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7402695" y="3213583"/>
              <a:ext cx="3947935" cy="0"/>
            </a:xfrm>
            <a:custGeom>
              <a:avLst/>
              <a:pathLst>
                <a:path w="3947935" h="0">
                  <a:moveTo>
                    <a:pt x="0" y="0"/>
                  </a:moveTo>
                  <a:lnTo>
                    <a:pt x="394793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7588752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9300620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10862681" y="3213583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tx202"/>
            <p:cNvSpPr/>
            <p:nvPr/>
          </p:nvSpPr>
          <p:spPr>
            <a:xfrm>
              <a:off x="7525339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9237207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0799268" y="3264826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3.0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8408176" y="3377785"/>
              <a:ext cx="193697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vs reference level (95% CI)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7402695" y="503004"/>
              <a:ext cx="357137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References: resident, invertivore, dense habitat, Least Concern, non-endemic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7402695" y="328384"/>
              <a:ext cx="156700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Partial migrants stand out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859900" y="32624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209" name="rc209"/>
            <p:cNvSpPr/>
            <p:nvPr/>
          </p:nvSpPr>
          <p:spPr>
            <a:xfrm>
              <a:off x="252469" y="3901115"/>
              <a:ext cx="5606366" cy="38931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858835" y="3901115"/>
              <a:ext cx="5593015" cy="38931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1728709" y="4417344"/>
              <a:ext cx="4028905" cy="26893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056416" y="4417344"/>
              <a:ext cx="0" cy="2689374"/>
            </a:xfrm>
            <a:custGeom>
              <a:avLst/>
              <a:pathLst>
                <a:path w="0" h="2689374">
                  <a:moveTo>
                    <a:pt x="0" y="26893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1911841" y="4845199"/>
              <a:ext cx="1100427" cy="611221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1911841" y="6067642"/>
              <a:ext cx="2387258" cy="611221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3057311" y="5118486"/>
              <a:ext cx="75072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OR = 0.96, P = 0.7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4350468" y="6340929"/>
              <a:ext cx="85615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333333">
                      <a:alpha val="100000"/>
                    </a:srgbClr>
                  </a:solidFill>
                  <a:latin typeface="Arial"/>
                  <a:cs typeface="Arial"/>
                </a:rPr>
                <a:t>OR = 2.09, P = 5e-15</a:t>
              </a:r>
            </a:p>
          </p:txBody>
        </p:sp>
        <p:sp>
          <p:nvSpPr>
            <p:cNvPr id="217" name="pl217"/>
            <p:cNvSpPr/>
            <p:nvPr/>
          </p:nvSpPr>
          <p:spPr>
            <a:xfrm>
              <a:off x="1728709" y="4417344"/>
              <a:ext cx="0" cy="2689374"/>
            </a:xfrm>
            <a:custGeom>
              <a:avLst/>
              <a:pathLst>
                <a:path w="0" h="2689374">
                  <a:moveTo>
                    <a:pt x="0" y="268937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tx218"/>
            <p:cNvSpPr/>
            <p:nvPr/>
          </p:nvSpPr>
          <p:spPr>
            <a:xfrm>
              <a:off x="536112" y="6291185"/>
              <a:ext cx="11413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Chinese provinces occupied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4021" y="6389941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(contains the response)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967343" y="5068743"/>
              <a:ext cx="71012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60125" y="5167498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(independent of the response)</a:t>
              </a:r>
            </a:p>
          </p:txBody>
        </p:sp>
        <p:sp>
          <p:nvSpPr>
            <p:cNvPr id="222" name="pl222"/>
            <p:cNvSpPr/>
            <p:nvPr/>
          </p:nvSpPr>
          <p:spPr>
            <a:xfrm>
              <a:off x="1700240" y="6373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1700240" y="515081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1728709" y="7106718"/>
              <a:ext cx="4028905" cy="0"/>
            </a:xfrm>
            <a:custGeom>
              <a:avLst/>
              <a:pathLst>
                <a:path w="4028905" h="0">
                  <a:moveTo>
                    <a:pt x="0" y="0"/>
                  </a:moveTo>
                  <a:lnTo>
                    <a:pt x="402890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1911841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3056416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4200992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5345567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1886466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03104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4175617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532019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238230" y="7270920"/>
              <a:ext cx="100986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Odds ratio per 1 SD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1728709" y="4151650"/>
              <a:ext cx="3935760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trait database was published in 2022, so its provincial counts already contain the 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728709" y="4264122"/>
              <a:ext cx="425909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2002-2021 records used as the response. Entered together, the global measure is absorbed.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728709" y="3977031"/>
              <a:ext cx="259781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Why range size must be measured globally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338326" y="3978560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  <p:sp>
          <p:nvSpPr>
            <p:cNvPr id="238" name="rc238"/>
            <p:cNvSpPr/>
            <p:nvPr/>
          </p:nvSpPr>
          <p:spPr>
            <a:xfrm>
              <a:off x="7321725" y="4417344"/>
              <a:ext cx="4028905" cy="26893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7504857" y="4455954"/>
              <a:ext cx="2388679" cy="8254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7504857" y="4589091"/>
              <a:ext cx="2388679" cy="8254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7504857" y="4722229"/>
              <a:ext cx="796226" cy="8254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7504857" y="4855366"/>
              <a:ext cx="796226" cy="8254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7504857" y="4988503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7504857" y="5121641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7504857" y="5254778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7504857" y="5387915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7504857" y="5521053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7504857" y="5654190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7504857" y="5787327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7504857" y="5920465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7504857" y="6053602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7504857" y="6186740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7504857" y="6319877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7504857" y="6453014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7504857" y="6586152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7504857" y="6719289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7504857" y="6852426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7504857" y="6985564"/>
              <a:ext cx="0" cy="825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tx259"/>
            <p:cNvSpPr/>
            <p:nvPr/>
          </p:nvSpPr>
          <p:spPr>
            <a:xfrm>
              <a:off x="9927085" y="4468789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1.89-2.50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9927085" y="4601926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1.23-1.46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8334632" y="4735064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0.54-0.79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8334632" y="4868201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1.24-1.50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7538406" y="500133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1.04-1.25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7538406" y="5134476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1.14-1.25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7538406" y="5267613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0.72-0.87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7538406" y="5400750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0.71-0.82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7538406" y="553388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1.06-1.12</a:t>
              </a:r>
            </a:p>
          </p:txBody>
        </p:sp>
        <p:sp>
          <p:nvSpPr>
            <p:cNvPr id="268" name="tx268"/>
            <p:cNvSpPr/>
            <p:nvPr/>
          </p:nvSpPr>
          <p:spPr>
            <a:xfrm>
              <a:off x="7538406" y="5667025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0.89-0.92</a:t>
              </a:r>
            </a:p>
          </p:txBody>
        </p:sp>
        <p:sp>
          <p:nvSpPr>
            <p:cNvPr id="269" name="tx269"/>
            <p:cNvSpPr/>
            <p:nvPr/>
          </p:nvSpPr>
          <p:spPr>
            <a:xfrm>
              <a:off x="7538406" y="5800162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0.88-0.91</a:t>
              </a:r>
            </a:p>
          </p:txBody>
        </p:sp>
        <p:sp>
          <p:nvSpPr>
            <p:cNvPr id="270" name="tx270"/>
            <p:cNvSpPr/>
            <p:nvPr/>
          </p:nvSpPr>
          <p:spPr>
            <a:xfrm>
              <a:off x="7538406" y="5933300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0.93-0.98</a:t>
              </a:r>
            </a:p>
          </p:txBody>
        </p:sp>
        <p:sp>
          <p:nvSpPr>
            <p:cNvPr id="271" name="tx271"/>
            <p:cNvSpPr/>
            <p:nvPr/>
          </p:nvSpPr>
          <p:spPr>
            <a:xfrm>
              <a:off x="7538406" y="6066437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0.94-0.97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7538406" y="6199574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1.00-1.02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7538406" y="6332712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0.99-1.12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7538406" y="6465849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0.81-1.30</a:t>
              </a:r>
            </a:p>
          </p:txBody>
        </p:sp>
        <p:sp>
          <p:nvSpPr>
            <p:cNvPr id="275" name="tx275"/>
            <p:cNvSpPr/>
            <p:nvPr/>
          </p:nvSpPr>
          <p:spPr>
            <a:xfrm>
              <a:off x="7538406" y="6598986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0.73-1.28</a:t>
              </a:r>
            </a:p>
          </p:txBody>
        </p:sp>
        <p:sp>
          <p:nvSpPr>
            <p:cNvPr id="276" name="tx276"/>
            <p:cNvSpPr/>
            <p:nvPr/>
          </p:nvSpPr>
          <p:spPr>
            <a:xfrm>
              <a:off x="7538406" y="6732124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0.77-1.03</a:t>
              </a:r>
            </a:p>
          </p:txBody>
        </p:sp>
        <p:sp>
          <p:nvSpPr>
            <p:cNvPr id="277" name="tx277"/>
            <p:cNvSpPr/>
            <p:nvPr/>
          </p:nvSpPr>
          <p:spPr>
            <a:xfrm>
              <a:off x="7538406" y="6865261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0.79-1.15</a:t>
              </a:r>
            </a:p>
          </p:txBody>
        </p:sp>
        <p:sp>
          <p:nvSpPr>
            <p:cNvPr id="278" name="tx278"/>
            <p:cNvSpPr/>
            <p:nvPr/>
          </p:nvSpPr>
          <p:spPr>
            <a:xfrm>
              <a:off x="7538406" y="6998398"/>
              <a:ext cx="335493" cy="5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0.95-1.05</a:t>
              </a:r>
            </a:p>
          </p:txBody>
        </p:sp>
        <p:sp>
          <p:nvSpPr>
            <p:cNvPr id="279" name="pl279"/>
            <p:cNvSpPr/>
            <p:nvPr/>
          </p:nvSpPr>
          <p:spPr>
            <a:xfrm>
              <a:off x="7321725" y="4417344"/>
              <a:ext cx="0" cy="2689374"/>
            </a:xfrm>
            <a:custGeom>
              <a:avLst/>
              <a:pathLst>
                <a:path w="0" h="2689374">
                  <a:moveTo>
                    <a:pt x="0" y="268937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tx280"/>
            <p:cNvSpPr/>
            <p:nvPr/>
          </p:nvSpPr>
          <p:spPr>
            <a:xfrm>
              <a:off x="6489401" y="6997758"/>
              <a:ext cx="78108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Number of congeners</a:t>
              </a:r>
            </a:p>
          </p:txBody>
        </p:sp>
        <p:sp>
          <p:nvSpPr>
            <p:cNvPr id="281" name="tx281"/>
            <p:cNvSpPr/>
            <p:nvPr/>
          </p:nvSpPr>
          <p:spPr>
            <a:xfrm>
              <a:off x="6009524" y="6864621"/>
              <a:ext cx="126095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Vertivore/Scavenger</a:t>
              </a:r>
            </a:p>
          </p:txBody>
        </p:sp>
        <p:sp>
          <p:nvSpPr>
            <p:cNvPr id="282" name="tx282"/>
            <p:cNvSpPr/>
            <p:nvPr/>
          </p:nvSpPr>
          <p:spPr>
            <a:xfrm>
              <a:off x="6388817" y="6731483"/>
              <a:ext cx="881664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Omnivore</a:t>
              </a:r>
            </a:p>
          </p:txBody>
        </p:sp>
        <p:sp>
          <p:nvSpPr>
            <p:cNvPr id="283" name="tx283"/>
            <p:cNvSpPr/>
            <p:nvPr/>
          </p:nvSpPr>
          <p:spPr>
            <a:xfrm>
              <a:off x="6388817" y="6598346"/>
              <a:ext cx="881664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Herbivore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6149336" y="6465209"/>
              <a:ext cx="112114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Aquatic predator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6295366" y="6332071"/>
              <a:ext cx="97511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Semi-open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6525794" y="6198934"/>
              <a:ext cx="74468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Endemism: Endemic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6868786" y="6065797"/>
              <a:ext cx="401695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Body mass</a:t>
              </a:r>
            </a:p>
          </p:txBody>
        </p:sp>
        <p:sp>
          <p:nvSpPr>
            <p:cNvPr id="288" name="tx288"/>
            <p:cNvSpPr/>
            <p:nvPr/>
          </p:nvSpPr>
          <p:spPr>
            <a:xfrm>
              <a:off x="6263910" y="5932659"/>
              <a:ext cx="100657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Hand-wing index (dispersal)</a:t>
              </a:r>
            </a:p>
          </p:txBody>
        </p:sp>
        <p:sp>
          <p:nvSpPr>
            <p:cNvPr id="289" name="tx289"/>
            <p:cNvSpPr/>
            <p:nvPr/>
          </p:nvSpPr>
          <p:spPr>
            <a:xfrm>
              <a:off x="6092552" y="5799522"/>
              <a:ext cx="117793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breadth (BIRDBASE HB)</a:t>
              </a:r>
            </a:p>
          </p:txBody>
        </p:sp>
        <p:sp>
          <p:nvSpPr>
            <p:cNvPr id="290" name="tx290"/>
            <p:cNvSpPr/>
            <p:nvPr/>
          </p:nvSpPr>
          <p:spPr>
            <a:xfrm>
              <a:off x="6205480" y="5666385"/>
              <a:ext cx="106500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Diet breadth (BIRDBASE DB)</a:t>
              </a:r>
            </a:p>
          </p:txBody>
        </p:sp>
        <p:sp>
          <p:nvSpPr>
            <p:cNvPr id="291" name="tx291"/>
            <p:cNvSpPr/>
            <p:nvPr/>
          </p:nvSpPr>
          <p:spPr>
            <a:xfrm>
              <a:off x="6873358" y="5533247"/>
              <a:ext cx="39712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Clutch size</a:t>
              </a:r>
            </a:p>
          </p:txBody>
        </p:sp>
        <p:sp>
          <p:nvSpPr>
            <p:cNvPr id="292" name="tx292"/>
            <p:cNvSpPr/>
            <p:nvPr/>
          </p:nvSpPr>
          <p:spPr>
            <a:xfrm>
              <a:off x="6384245" y="5400110"/>
              <a:ext cx="88623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Granivore</a:t>
              </a:r>
            </a:p>
          </p:txBody>
        </p:sp>
        <p:sp>
          <p:nvSpPr>
            <p:cNvPr id="293" name="tx293"/>
            <p:cNvSpPr/>
            <p:nvPr/>
          </p:nvSpPr>
          <p:spPr>
            <a:xfrm>
              <a:off x="5960055" y="5266973"/>
              <a:ext cx="1310426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Trophic niche: Frugivore/Nectarivore</a:t>
              </a:r>
            </a:p>
          </p:txBody>
        </p:sp>
        <p:sp>
          <p:nvSpPr>
            <p:cNvPr id="294" name="tx294"/>
            <p:cNvSpPr/>
            <p:nvPr/>
          </p:nvSpPr>
          <p:spPr>
            <a:xfrm>
              <a:off x="6373638" y="5133835"/>
              <a:ext cx="89684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Threatened</a:t>
              </a:r>
            </a:p>
          </p:txBody>
        </p:sp>
        <p:sp>
          <p:nvSpPr>
            <p:cNvPr id="295" name="tx295"/>
            <p:cNvSpPr/>
            <p:nvPr/>
          </p:nvSpPr>
          <p:spPr>
            <a:xfrm>
              <a:off x="6175030" y="5000698"/>
              <a:ext cx="1095451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IUCN status: Near Threatened</a:t>
              </a:r>
            </a:p>
          </p:txBody>
        </p:sp>
        <p:sp>
          <p:nvSpPr>
            <p:cNvPr id="296" name="tx296"/>
            <p:cNvSpPr/>
            <p:nvPr/>
          </p:nvSpPr>
          <p:spPr>
            <a:xfrm>
              <a:off x="6552769" y="4867561"/>
              <a:ext cx="717712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Migratory</a:t>
              </a:r>
            </a:p>
          </p:txBody>
        </p:sp>
        <p:sp>
          <p:nvSpPr>
            <p:cNvPr id="297" name="tx297"/>
            <p:cNvSpPr/>
            <p:nvPr/>
          </p:nvSpPr>
          <p:spPr>
            <a:xfrm>
              <a:off x="6489401" y="4734423"/>
              <a:ext cx="781080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Habitat density: Open</a:t>
              </a:r>
            </a:p>
          </p:txBody>
        </p:sp>
        <p:sp>
          <p:nvSpPr>
            <p:cNvPr id="298" name="tx298"/>
            <p:cNvSpPr/>
            <p:nvPr/>
          </p:nvSpPr>
          <p:spPr>
            <a:xfrm>
              <a:off x="6638448" y="4601286"/>
              <a:ext cx="632033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Global range size</a:t>
              </a:r>
            </a:p>
          </p:txBody>
        </p:sp>
        <p:sp>
          <p:nvSpPr>
            <p:cNvPr id="299" name="tx299"/>
            <p:cNvSpPr/>
            <p:nvPr/>
          </p:nvSpPr>
          <p:spPr>
            <a:xfrm>
              <a:off x="6367695" y="4468149"/>
              <a:ext cx="902787" cy="581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Migration: Partial migrant</a:t>
              </a:r>
            </a:p>
          </p:txBody>
        </p:sp>
        <p:sp>
          <p:nvSpPr>
            <p:cNvPr id="300" name="pl300"/>
            <p:cNvSpPr/>
            <p:nvPr/>
          </p:nvSpPr>
          <p:spPr>
            <a:xfrm>
              <a:off x="7293256" y="70268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293256" y="689369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293256" y="67605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293256" y="662742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293256" y="649428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293256" y="63611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293256" y="62280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293256" y="609487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293256" y="59617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293256" y="58286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293256" y="569546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293256" y="55623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293256" y="54291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293256" y="529605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293256" y="51629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293256" y="502977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293256" y="489663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293256" y="47635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293256" y="463036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293256" y="449722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321725" y="7106718"/>
              <a:ext cx="4028905" cy="0"/>
            </a:xfrm>
            <a:custGeom>
              <a:avLst/>
              <a:pathLst>
                <a:path w="4028905" h="0">
                  <a:moveTo>
                    <a:pt x="0" y="0"/>
                  </a:moveTo>
                  <a:lnTo>
                    <a:pt x="4028905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504857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8301083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9097309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9893536" y="710671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tx325"/>
            <p:cNvSpPr/>
            <p:nvPr/>
          </p:nvSpPr>
          <p:spPr>
            <a:xfrm>
              <a:off x="7479482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8275708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9071935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9868161" y="715796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7672106" y="7270920"/>
              <a:ext cx="332814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Number of phylogenetic treatments in which the term is significant</a:t>
              </a:r>
            </a:p>
          </p:txBody>
        </p:sp>
        <p:sp>
          <p:nvSpPr>
            <p:cNvPr id="330" name="rc330"/>
            <p:cNvSpPr/>
            <p:nvPr/>
          </p:nvSpPr>
          <p:spPr>
            <a:xfrm>
              <a:off x="7762740" y="7490589"/>
              <a:ext cx="3146875" cy="22774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7819676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7827040" y="7554889"/>
              <a:ext cx="99145" cy="99145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8996569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9003933" y="7554889"/>
              <a:ext cx="99145" cy="99145"/>
            </a:xfrm>
            <a:prstGeom prst="rect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10060351" y="7547526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10067715" y="7554889"/>
              <a:ext cx="99145" cy="99145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tx337"/>
            <p:cNvSpPr/>
            <p:nvPr/>
          </p:nvSpPr>
          <p:spPr>
            <a:xfrm>
              <a:off x="7990486" y="7568069"/>
              <a:ext cx="94914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significant in all three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9167379" y="7568069"/>
              <a:ext cx="83603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significant in some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10231161" y="7568069"/>
              <a:ext cx="62151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significant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7321725" y="4151650"/>
              <a:ext cx="3652662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Taxonomic nesting, phylogenetic eigenvectors, phylogenetic logistic regression;</a:t>
              </a:r>
            </a:p>
          </p:txBody>
        </p:sp>
        <p:sp>
          <p:nvSpPr>
            <p:cNvPr id="341" name="tx341"/>
            <p:cNvSpPr/>
            <p:nvPr/>
          </p:nvSpPr>
          <p:spPr>
            <a:xfrm>
              <a:off x="7321725" y="4264122"/>
              <a:ext cx="2334828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text gives the range of odds ratios across the three</a:t>
              </a:r>
            </a:p>
          </p:txBody>
        </p:sp>
        <p:sp>
          <p:nvSpPr>
            <p:cNvPr id="342" name="tx342"/>
            <p:cNvSpPr/>
            <p:nvPr/>
          </p:nvSpPr>
          <p:spPr>
            <a:xfrm>
              <a:off x="7321725" y="3977031"/>
              <a:ext cx="250499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Robustness to how phylogeny is handled</a:t>
              </a:r>
            </a:p>
          </p:txBody>
        </p:sp>
        <p:sp>
          <p:nvSpPr>
            <p:cNvPr id="343" name="tx343"/>
            <p:cNvSpPr/>
            <p:nvPr/>
          </p:nvSpPr>
          <p:spPr>
            <a:xfrm>
              <a:off x="5940465" y="3978560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2026-07-27T12:02:26Z</dcterms:modified>
  <cp:category/>
</cp:coreProperties>
</file>