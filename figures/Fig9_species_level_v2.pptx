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1338560" cy="7680960"/>
            <a:chOff x="182880" y="182880"/>
            <a:chExt cx="11338560" cy="76809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1338560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1338559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525395" cy="35897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777865" y="252469"/>
              <a:ext cx="5673985" cy="35897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28709" y="656226"/>
              <a:ext cx="3947935" cy="24984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91081" y="656226"/>
              <a:ext cx="0" cy="2498443"/>
            </a:xfrm>
            <a:custGeom>
              <a:avLst/>
              <a:pathLst>
                <a:path w="0" h="2498443">
                  <a:moveTo>
                    <a:pt x="0" y="24984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92059" y="2324169"/>
              <a:ext cx="1947877" cy="0"/>
            </a:xfrm>
            <a:custGeom>
              <a:avLst/>
              <a:pathLst>
                <a:path w="1947877" h="0">
                  <a:moveTo>
                    <a:pt x="0" y="0"/>
                  </a:moveTo>
                  <a:lnTo>
                    <a:pt x="194787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08160" y="1977163"/>
              <a:ext cx="2177689" cy="0"/>
            </a:xfrm>
            <a:custGeom>
              <a:avLst/>
              <a:pathLst>
                <a:path w="2177689" h="0">
                  <a:moveTo>
                    <a:pt x="0" y="0"/>
                  </a:moveTo>
                  <a:lnTo>
                    <a:pt x="217768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459272" y="936145"/>
              <a:ext cx="1526097" cy="0"/>
            </a:xfrm>
            <a:custGeom>
              <a:avLst/>
              <a:pathLst>
                <a:path w="1526097" h="0">
                  <a:moveTo>
                    <a:pt x="0" y="0"/>
                  </a:moveTo>
                  <a:lnTo>
                    <a:pt x="152609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92717" y="1283151"/>
              <a:ext cx="1293882" cy="0"/>
            </a:xfrm>
            <a:custGeom>
              <a:avLst/>
              <a:pathLst>
                <a:path w="1293882" h="0">
                  <a:moveTo>
                    <a:pt x="0" y="0"/>
                  </a:moveTo>
                  <a:lnTo>
                    <a:pt x="129388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88395" y="1630157"/>
              <a:ext cx="1196726" cy="0"/>
            </a:xfrm>
            <a:custGeom>
              <a:avLst/>
              <a:pathLst>
                <a:path w="1196726" h="0">
                  <a:moveTo>
                    <a:pt x="0" y="0"/>
                  </a:moveTo>
                  <a:lnTo>
                    <a:pt x="1196726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63471" y="3018181"/>
              <a:ext cx="1181334" cy="0"/>
            </a:xfrm>
            <a:custGeom>
              <a:avLst/>
              <a:pathLst>
                <a:path w="1181334" h="0">
                  <a:moveTo>
                    <a:pt x="0" y="0"/>
                  </a:moveTo>
                  <a:lnTo>
                    <a:pt x="118133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0481" y="2671175"/>
              <a:ext cx="1292663" cy="0"/>
            </a:xfrm>
            <a:custGeom>
              <a:avLst/>
              <a:pathLst>
                <a:path w="1292663" h="0">
                  <a:moveTo>
                    <a:pt x="0" y="0"/>
                  </a:moveTo>
                  <a:lnTo>
                    <a:pt x="129266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987060" y="2252454"/>
              <a:ext cx="2085791" cy="0"/>
            </a:xfrm>
            <a:custGeom>
              <a:avLst/>
              <a:pathLst>
                <a:path w="2085791" h="0">
                  <a:moveTo>
                    <a:pt x="0" y="0"/>
                  </a:moveTo>
                  <a:lnTo>
                    <a:pt x="2085791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91212" y="1905448"/>
              <a:ext cx="1715111" cy="0"/>
            </a:xfrm>
            <a:custGeom>
              <a:avLst/>
              <a:pathLst>
                <a:path w="1715111" h="0">
                  <a:moveTo>
                    <a:pt x="0" y="0"/>
                  </a:moveTo>
                  <a:lnTo>
                    <a:pt x="1715111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77938" y="864430"/>
              <a:ext cx="1487942" cy="0"/>
            </a:xfrm>
            <a:custGeom>
              <a:avLst/>
              <a:pathLst>
                <a:path w="1487942" h="0">
                  <a:moveTo>
                    <a:pt x="0" y="0"/>
                  </a:moveTo>
                  <a:lnTo>
                    <a:pt x="148794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117230" y="1211436"/>
              <a:ext cx="1258051" cy="0"/>
            </a:xfrm>
            <a:custGeom>
              <a:avLst/>
              <a:pathLst>
                <a:path w="1258051" h="0">
                  <a:moveTo>
                    <a:pt x="0" y="0"/>
                  </a:moveTo>
                  <a:lnTo>
                    <a:pt x="1258051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39300" y="1558442"/>
              <a:ext cx="1143229" cy="0"/>
            </a:xfrm>
            <a:custGeom>
              <a:avLst/>
              <a:pathLst>
                <a:path w="1143229" h="0">
                  <a:moveTo>
                    <a:pt x="0" y="0"/>
                  </a:moveTo>
                  <a:lnTo>
                    <a:pt x="1143229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58151" y="2946466"/>
              <a:ext cx="1164182" cy="0"/>
            </a:xfrm>
            <a:custGeom>
              <a:avLst/>
              <a:pathLst>
                <a:path w="1164182" h="0">
                  <a:moveTo>
                    <a:pt x="0" y="0"/>
                  </a:moveTo>
                  <a:lnTo>
                    <a:pt x="116418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88389" y="2599460"/>
              <a:ext cx="1262040" cy="0"/>
            </a:xfrm>
            <a:custGeom>
              <a:avLst/>
              <a:pathLst>
                <a:path w="1262040" h="0">
                  <a:moveTo>
                    <a:pt x="0" y="0"/>
                  </a:moveTo>
                  <a:lnTo>
                    <a:pt x="126204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16962" y="2180740"/>
              <a:ext cx="1625756" cy="0"/>
            </a:xfrm>
            <a:custGeom>
              <a:avLst/>
              <a:pathLst>
                <a:path w="1625756" h="0">
                  <a:moveTo>
                    <a:pt x="0" y="0"/>
                  </a:moveTo>
                  <a:lnTo>
                    <a:pt x="162575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2479" y="1833734"/>
              <a:ext cx="1536245" cy="0"/>
            </a:xfrm>
            <a:custGeom>
              <a:avLst/>
              <a:pathLst>
                <a:path w="1536245" h="0">
                  <a:moveTo>
                    <a:pt x="0" y="0"/>
                  </a:moveTo>
                  <a:lnTo>
                    <a:pt x="153624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97931" y="792715"/>
              <a:ext cx="1499261" cy="0"/>
            </a:xfrm>
            <a:custGeom>
              <a:avLst/>
              <a:pathLst>
                <a:path w="1499261" h="0">
                  <a:moveTo>
                    <a:pt x="0" y="0"/>
                  </a:moveTo>
                  <a:lnTo>
                    <a:pt x="149926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089791" y="1139721"/>
              <a:ext cx="1125319" cy="0"/>
            </a:xfrm>
            <a:custGeom>
              <a:avLst/>
              <a:pathLst>
                <a:path w="1125319" h="0">
                  <a:moveTo>
                    <a:pt x="0" y="0"/>
                  </a:moveTo>
                  <a:lnTo>
                    <a:pt x="1125319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892146" y="1486728"/>
              <a:ext cx="1127901" cy="0"/>
            </a:xfrm>
            <a:custGeom>
              <a:avLst/>
              <a:pathLst>
                <a:path w="1127901" h="0">
                  <a:moveTo>
                    <a:pt x="0" y="0"/>
                  </a:moveTo>
                  <a:lnTo>
                    <a:pt x="112790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198724" y="2874752"/>
              <a:ext cx="1113656" cy="0"/>
            </a:xfrm>
            <a:custGeom>
              <a:avLst/>
              <a:pathLst>
                <a:path w="1113656" h="0">
                  <a:moveTo>
                    <a:pt x="0" y="0"/>
                  </a:moveTo>
                  <a:lnTo>
                    <a:pt x="111365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256534" y="2527746"/>
              <a:ext cx="1204374" cy="0"/>
            </a:xfrm>
            <a:custGeom>
              <a:avLst/>
              <a:pathLst>
                <a:path w="1204374" h="0">
                  <a:moveTo>
                    <a:pt x="0" y="0"/>
                  </a:moveTo>
                  <a:lnTo>
                    <a:pt x="1204374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35215" y="2293386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966222" y="194638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91537" y="905362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08875" y="125236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055975" y="1599374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23355" y="298739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16030" y="264039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999173" y="2221671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17985" y="187466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091126" y="833647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15473" y="1180653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080132" y="1527659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909460" y="2915683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88627" y="2568677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9057" y="2149956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79819" y="1802950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16779" y="761932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21667" y="1108938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425314" y="1455944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724769" y="2843969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27938" y="249696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728709" y="656226"/>
              <a:ext cx="0" cy="2498443"/>
            </a:xfrm>
            <a:custGeom>
              <a:avLst/>
              <a:pathLst>
                <a:path w="0" h="2498443">
                  <a:moveTo>
                    <a:pt x="0" y="249844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353689" y="2913776"/>
              <a:ext cx="13237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breadth (BIRDBASE HB)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80516" y="2566770"/>
              <a:ext cx="11969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Diet breadth (BIRDBASE DB)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226118" y="2219764"/>
              <a:ext cx="4513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46444" y="1872758"/>
              <a:ext cx="11310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Hand-wing index (dispersal)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00099" y="1525752"/>
              <a:ext cx="8773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Number of congeners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231147" y="1178746"/>
              <a:ext cx="44631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67343" y="831740"/>
              <a:ext cx="710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59" name="pl59"/>
            <p:cNvSpPr/>
            <p:nvPr/>
          </p:nvSpPr>
          <p:spPr>
            <a:xfrm>
              <a:off x="1700240" y="2946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700240" y="25994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700240" y="22524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700240" y="19054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700240" y="15584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1700240" y="12114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1700240" y="8644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1728709" y="3154670"/>
              <a:ext cx="3947935" cy="0"/>
            </a:xfrm>
            <a:custGeom>
              <a:avLst/>
              <a:pathLst>
                <a:path w="3947935" h="0">
                  <a:moveTo>
                    <a:pt x="0" y="0"/>
                  </a:moveTo>
                  <a:lnTo>
                    <a:pt x="39479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883023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410169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291081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1819609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346756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227668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956480" y="3318871"/>
              <a:ext cx="14923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per 1 SD (95% CI)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1878099" y="3538540"/>
              <a:ext cx="3649155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935035" y="359547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46423" y="365241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961189" y="3621630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151248" y="359547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62635" y="365241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77401" y="3621630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723527" y="359547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734915" y="365241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49681" y="3621630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2105845" y="3616020"/>
              <a:ext cx="9884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M1 taxonomic nesting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322057" y="3616020"/>
              <a:ext cx="134453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M2 phylogenetic eigenvectors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894337" y="3616020"/>
              <a:ext cx="57598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M3 phyloglm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728709" y="503004"/>
              <a:ext cx="437494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Filled points are significant. Body mass, clutch size, habitat breadth and diet breadth are all null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728709" y="328384"/>
              <a:ext cx="300718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Only range size survives among continuous traits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37921" y="325363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0" name="rc90"/>
            <p:cNvSpPr/>
            <p:nvPr/>
          </p:nvSpPr>
          <p:spPr>
            <a:xfrm>
              <a:off x="7402695" y="656226"/>
              <a:ext cx="3947935" cy="24984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9300620" y="656226"/>
              <a:ext cx="0" cy="2498443"/>
            </a:xfrm>
            <a:custGeom>
              <a:avLst/>
              <a:pathLst>
                <a:path w="0" h="2498443">
                  <a:moveTo>
                    <a:pt x="0" y="24984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0023225" y="808909"/>
              <a:ext cx="1147953" cy="0"/>
            </a:xfrm>
            <a:custGeom>
              <a:avLst/>
              <a:pathLst>
                <a:path w="1147953" h="0">
                  <a:moveTo>
                    <a:pt x="0" y="0"/>
                  </a:moveTo>
                  <a:lnTo>
                    <a:pt x="114795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9228321" y="1187461"/>
              <a:ext cx="1164297" cy="0"/>
            </a:xfrm>
            <a:custGeom>
              <a:avLst/>
              <a:pathLst>
                <a:path w="1164297" h="0">
                  <a:moveTo>
                    <a:pt x="0" y="0"/>
                  </a:moveTo>
                  <a:lnTo>
                    <a:pt x="116429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578265" y="2512393"/>
              <a:ext cx="1293845" cy="0"/>
            </a:xfrm>
            <a:custGeom>
              <a:avLst/>
              <a:pathLst>
                <a:path w="1293845" h="0">
                  <a:moveTo>
                    <a:pt x="0" y="0"/>
                  </a:moveTo>
                  <a:lnTo>
                    <a:pt x="1293845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338675" y="2323117"/>
              <a:ext cx="1725930" cy="0"/>
            </a:xfrm>
            <a:custGeom>
              <a:avLst/>
              <a:pathLst>
                <a:path w="1725930" h="0">
                  <a:moveTo>
                    <a:pt x="0" y="0"/>
                  </a:moveTo>
                  <a:lnTo>
                    <a:pt x="1725930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7910123" y="2133841"/>
              <a:ext cx="1811573" cy="0"/>
            </a:xfrm>
            <a:custGeom>
              <a:avLst/>
              <a:pathLst>
                <a:path w="1811573" h="0">
                  <a:moveTo>
                    <a:pt x="0" y="0"/>
                  </a:moveTo>
                  <a:lnTo>
                    <a:pt x="181157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312222" y="1944565"/>
              <a:ext cx="2385469" cy="0"/>
            </a:xfrm>
            <a:custGeom>
              <a:avLst/>
              <a:pathLst>
                <a:path w="2385469" h="0">
                  <a:moveTo>
                    <a:pt x="0" y="0"/>
                  </a:moveTo>
                  <a:lnTo>
                    <a:pt x="238546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7855275" y="2890945"/>
              <a:ext cx="2170941" cy="0"/>
            </a:xfrm>
            <a:custGeom>
              <a:avLst/>
              <a:pathLst>
                <a:path w="2170941" h="0">
                  <a:moveTo>
                    <a:pt x="0" y="0"/>
                  </a:moveTo>
                  <a:lnTo>
                    <a:pt x="2170941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083416" y="2701669"/>
              <a:ext cx="2590469" cy="0"/>
            </a:xfrm>
            <a:custGeom>
              <a:avLst/>
              <a:pathLst>
                <a:path w="2590469" h="0">
                  <a:moveTo>
                    <a:pt x="0" y="0"/>
                  </a:moveTo>
                  <a:lnTo>
                    <a:pt x="259046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979564" y="1755289"/>
              <a:ext cx="961192" cy="0"/>
            </a:xfrm>
            <a:custGeom>
              <a:avLst/>
              <a:pathLst>
                <a:path w="961192" h="0">
                  <a:moveTo>
                    <a:pt x="0" y="0"/>
                  </a:moveTo>
                  <a:lnTo>
                    <a:pt x="96119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379130" y="3080221"/>
              <a:ext cx="1187490" cy="0"/>
            </a:xfrm>
            <a:custGeom>
              <a:avLst/>
              <a:pathLst>
                <a:path w="1187490" h="0">
                  <a:moveTo>
                    <a:pt x="0" y="0"/>
                  </a:moveTo>
                  <a:lnTo>
                    <a:pt x="1187490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458935" y="998185"/>
              <a:ext cx="1790123" cy="0"/>
            </a:xfrm>
            <a:custGeom>
              <a:avLst/>
              <a:pathLst>
                <a:path w="1790123" h="0">
                  <a:moveTo>
                    <a:pt x="0" y="0"/>
                  </a:moveTo>
                  <a:lnTo>
                    <a:pt x="179012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825390" y="1376737"/>
              <a:ext cx="1578709" cy="0"/>
            </a:xfrm>
            <a:custGeom>
              <a:avLst/>
              <a:pathLst>
                <a:path w="1578709" h="0">
                  <a:moveTo>
                    <a:pt x="0" y="0"/>
                  </a:moveTo>
                  <a:lnTo>
                    <a:pt x="157870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346212" y="1566013"/>
              <a:ext cx="1941814" cy="0"/>
            </a:xfrm>
            <a:custGeom>
              <a:avLst/>
              <a:pathLst>
                <a:path w="1941814" h="0">
                  <a:moveTo>
                    <a:pt x="0" y="0"/>
                  </a:moveTo>
                  <a:lnTo>
                    <a:pt x="194181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10039173" y="769792"/>
              <a:ext cx="1127197" cy="0"/>
            </a:xfrm>
            <a:custGeom>
              <a:avLst/>
              <a:pathLst>
                <a:path w="1127197" h="0">
                  <a:moveTo>
                    <a:pt x="0" y="0"/>
                  </a:moveTo>
                  <a:lnTo>
                    <a:pt x="1127197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9314444" y="1148344"/>
              <a:ext cx="1120175" cy="0"/>
            </a:xfrm>
            <a:custGeom>
              <a:avLst/>
              <a:pathLst>
                <a:path w="1120175" h="0">
                  <a:moveTo>
                    <a:pt x="0" y="0"/>
                  </a:moveTo>
                  <a:lnTo>
                    <a:pt x="1120175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715396" y="2473276"/>
              <a:ext cx="1249210" cy="0"/>
            </a:xfrm>
            <a:custGeom>
              <a:avLst/>
              <a:pathLst>
                <a:path w="1249210" h="0">
                  <a:moveTo>
                    <a:pt x="0" y="0"/>
                  </a:moveTo>
                  <a:lnTo>
                    <a:pt x="124921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748383" y="2284000"/>
              <a:ext cx="1852563" cy="0"/>
            </a:xfrm>
            <a:custGeom>
              <a:avLst/>
              <a:pathLst>
                <a:path w="1852563" h="0">
                  <a:moveTo>
                    <a:pt x="0" y="0"/>
                  </a:moveTo>
                  <a:lnTo>
                    <a:pt x="1852563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7989367" y="2094724"/>
              <a:ext cx="1682014" cy="0"/>
            </a:xfrm>
            <a:custGeom>
              <a:avLst/>
              <a:pathLst>
                <a:path w="1682014" h="0">
                  <a:moveTo>
                    <a:pt x="0" y="0"/>
                  </a:moveTo>
                  <a:lnTo>
                    <a:pt x="1682014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582146" y="1905448"/>
              <a:ext cx="2757766" cy="0"/>
            </a:xfrm>
            <a:custGeom>
              <a:avLst/>
              <a:pathLst>
                <a:path w="2757766" h="0">
                  <a:moveTo>
                    <a:pt x="0" y="0"/>
                  </a:moveTo>
                  <a:lnTo>
                    <a:pt x="275776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029411" y="2851828"/>
              <a:ext cx="2134428" cy="0"/>
            </a:xfrm>
            <a:custGeom>
              <a:avLst/>
              <a:pathLst>
                <a:path w="2134428" h="0">
                  <a:moveTo>
                    <a:pt x="0" y="0"/>
                  </a:moveTo>
                  <a:lnTo>
                    <a:pt x="213442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202073" y="2662552"/>
              <a:ext cx="2898572" cy="0"/>
            </a:xfrm>
            <a:custGeom>
              <a:avLst/>
              <a:pathLst>
                <a:path w="2898572" h="0">
                  <a:moveTo>
                    <a:pt x="0" y="0"/>
                  </a:moveTo>
                  <a:lnTo>
                    <a:pt x="289857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998927" y="1716172"/>
              <a:ext cx="937089" cy="0"/>
            </a:xfrm>
            <a:custGeom>
              <a:avLst/>
              <a:pathLst>
                <a:path w="937089" h="0">
                  <a:moveTo>
                    <a:pt x="0" y="0"/>
                  </a:moveTo>
                  <a:lnTo>
                    <a:pt x="937089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376088" y="3041104"/>
              <a:ext cx="1170676" cy="0"/>
            </a:xfrm>
            <a:custGeom>
              <a:avLst/>
              <a:pathLst>
                <a:path w="1170676" h="0">
                  <a:moveTo>
                    <a:pt x="0" y="0"/>
                  </a:moveTo>
                  <a:lnTo>
                    <a:pt x="117067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522112" y="959068"/>
              <a:ext cx="1765060" cy="0"/>
            </a:xfrm>
            <a:custGeom>
              <a:avLst/>
              <a:pathLst>
                <a:path w="1765060" h="0">
                  <a:moveTo>
                    <a:pt x="0" y="0"/>
                  </a:moveTo>
                  <a:lnTo>
                    <a:pt x="176506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831872" y="1337620"/>
              <a:ext cx="1575377" cy="0"/>
            </a:xfrm>
            <a:custGeom>
              <a:avLst/>
              <a:pathLst>
                <a:path w="1575377" h="0">
                  <a:moveTo>
                    <a:pt x="0" y="0"/>
                  </a:moveTo>
                  <a:lnTo>
                    <a:pt x="1575377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333794" y="1526896"/>
              <a:ext cx="1923810" cy="0"/>
            </a:xfrm>
            <a:custGeom>
              <a:avLst/>
              <a:pathLst>
                <a:path w="1923810" h="0">
                  <a:moveTo>
                    <a:pt x="0" y="0"/>
                  </a:moveTo>
                  <a:lnTo>
                    <a:pt x="192381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681487" y="730675"/>
              <a:ext cx="1073578" cy="0"/>
            </a:xfrm>
            <a:custGeom>
              <a:avLst/>
              <a:pathLst>
                <a:path w="1073578" h="0">
                  <a:moveTo>
                    <a:pt x="0" y="0"/>
                  </a:moveTo>
                  <a:lnTo>
                    <a:pt x="107357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9083239" y="1109227"/>
              <a:ext cx="1051823" cy="0"/>
            </a:xfrm>
            <a:custGeom>
              <a:avLst/>
              <a:pathLst>
                <a:path w="1051823" h="0">
                  <a:moveTo>
                    <a:pt x="0" y="0"/>
                  </a:moveTo>
                  <a:lnTo>
                    <a:pt x="1051823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320328" y="2434159"/>
              <a:ext cx="1206292" cy="0"/>
            </a:xfrm>
            <a:custGeom>
              <a:avLst/>
              <a:pathLst>
                <a:path w="1206292" h="0">
                  <a:moveTo>
                    <a:pt x="0" y="0"/>
                  </a:moveTo>
                  <a:lnTo>
                    <a:pt x="1206292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270716" y="2244883"/>
              <a:ext cx="1445263" cy="0"/>
            </a:xfrm>
            <a:custGeom>
              <a:avLst/>
              <a:pathLst>
                <a:path w="1445263" h="0">
                  <a:moveTo>
                    <a:pt x="0" y="0"/>
                  </a:moveTo>
                  <a:lnTo>
                    <a:pt x="1445263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214499" y="2055607"/>
              <a:ext cx="1610581" cy="0"/>
            </a:xfrm>
            <a:custGeom>
              <a:avLst/>
              <a:pathLst>
                <a:path w="1610581" h="0">
                  <a:moveTo>
                    <a:pt x="0" y="0"/>
                  </a:moveTo>
                  <a:lnTo>
                    <a:pt x="161058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242737" y="1866331"/>
              <a:ext cx="1988917" cy="0"/>
            </a:xfrm>
            <a:custGeom>
              <a:avLst/>
              <a:pathLst>
                <a:path w="1988917" h="0">
                  <a:moveTo>
                    <a:pt x="0" y="0"/>
                  </a:moveTo>
                  <a:lnTo>
                    <a:pt x="1988917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863091" y="2812711"/>
              <a:ext cx="1943760" cy="0"/>
            </a:xfrm>
            <a:custGeom>
              <a:avLst/>
              <a:pathLst>
                <a:path w="1943760" h="0">
                  <a:moveTo>
                    <a:pt x="0" y="0"/>
                  </a:moveTo>
                  <a:lnTo>
                    <a:pt x="194376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19432" y="2623435"/>
              <a:ext cx="2458618" cy="0"/>
            </a:xfrm>
            <a:custGeom>
              <a:avLst/>
              <a:pathLst>
                <a:path w="2458618" h="0">
                  <a:moveTo>
                    <a:pt x="0" y="0"/>
                  </a:moveTo>
                  <a:lnTo>
                    <a:pt x="245861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844208" y="1677055"/>
              <a:ext cx="897923" cy="0"/>
            </a:xfrm>
            <a:custGeom>
              <a:avLst/>
              <a:pathLst>
                <a:path w="897923" h="0">
                  <a:moveTo>
                    <a:pt x="0" y="0"/>
                  </a:moveTo>
                  <a:lnTo>
                    <a:pt x="897923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882593" y="3001987"/>
              <a:ext cx="1112684" cy="0"/>
            </a:xfrm>
            <a:custGeom>
              <a:avLst/>
              <a:pathLst>
                <a:path w="1112684" h="0">
                  <a:moveTo>
                    <a:pt x="0" y="0"/>
                  </a:moveTo>
                  <a:lnTo>
                    <a:pt x="1112684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805167" y="919951"/>
              <a:ext cx="1618921" cy="0"/>
            </a:xfrm>
            <a:custGeom>
              <a:avLst/>
              <a:pathLst>
                <a:path w="1618921" h="0">
                  <a:moveTo>
                    <a:pt x="0" y="0"/>
                  </a:moveTo>
                  <a:lnTo>
                    <a:pt x="161892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715392" y="1298503"/>
              <a:ext cx="1535231" cy="0"/>
            </a:xfrm>
            <a:custGeom>
              <a:avLst/>
              <a:pathLst>
                <a:path w="1535231" h="0">
                  <a:moveTo>
                    <a:pt x="0" y="0"/>
                  </a:moveTo>
                  <a:lnTo>
                    <a:pt x="153523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411760" y="1487779"/>
              <a:ext cx="1813168" cy="0"/>
            </a:xfrm>
            <a:custGeom>
              <a:avLst/>
              <a:pathLst>
                <a:path w="1813168" h="0">
                  <a:moveTo>
                    <a:pt x="0" y="0"/>
                  </a:moveTo>
                  <a:lnTo>
                    <a:pt x="181316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0566419" y="778126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9779686" y="115667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9194405" y="248161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9170858" y="2292334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8785126" y="210305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9474174" y="191378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8909962" y="286016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9347867" y="2670886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9429378" y="1724506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8942092" y="304943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9323214" y="96740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9583961" y="1345954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9286337" y="153523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0571988" y="739009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9843748" y="107844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9309219" y="2442493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9643881" y="2253217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799591" y="2063941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8930247" y="187466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9065842" y="282104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9620576" y="2631769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9436688" y="1685389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930643" y="3010321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9373859" y="92828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9588778" y="1306837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9264916" y="1496113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0187493" y="699892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9578368" y="1117561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8892691" y="2403376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8962565" y="2214100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8989007" y="2024824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9206413" y="1835548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8804188" y="2781928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8817958" y="259265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9262387" y="164627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8408152" y="2971204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9583844" y="889168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9452225" y="1267720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9287561" y="1456996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402695" y="656226"/>
              <a:ext cx="0" cy="2498443"/>
            </a:xfrm>
            <a:custGeom>
              <a:avLst/>
              <a:pathLst>
                <a:path w="0" h="2498443">
                  <a:moveTo>
                    <a:pt x="0" y="249844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473994" y="3008414"/>
              <a:ext cx="8774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Open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879085" y="2819138"/>
              <a:ext cx="14723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Frugivore/Nectarivore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6360791" y="2629862"/>
              <a:ext cx="9906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Herbivore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360882" y="2440586"/>
              <a:ext cx="99056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Omnivore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091866" y="2251310"/>
              <a:ext cx="12595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Aquatic predator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355762" y="2062034"/>
              <a:ext cx="9956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Granivore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934680" y="1872758"/>
              <a:ext cx="14167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Vertivore/Scavenger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255909" y="1683482"/>
              <a:ext cx="109554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Semi-open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514684" y="1494206"/>
              <a:ext cx="83676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Endemism: Endemic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6343874" y="1304930"/>
              <a:ext cx="10075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Threatened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6545317" y="1115654"/>
              <a:ext cx="8061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Migratory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6120761" y="926378"/>
              <a:ext cx="12306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Near Threatened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6337291" y="737102"/>
              <a:ext cx="10141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Partial migrant</a:t>
              </a:r>
            </a:p>
          </p:txBody>
        </p:sp>
        <p:sp>
          <p:nvSpPr>
            <p:cNvPr id="184" name="pl184"/>
            <p:cNvSpPr/>
            <p:nvPr/>
          </p:nvSpPr>
          <p:spPr>
            <a:xfrm>
              <a:off x="7374226" y="30411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374226" y="2851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374226" y="26625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374226" y="24732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374226" y="22840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374226" y="20947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374226" y="19054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374226" y="17161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374226" y="15268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374226" y="13376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374226" y="11483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7374226" y="9590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374226" y="7697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402695" y="3154670"/>
              <a:ext cx="3947935" cy="0"/>
            </a:xfrm>
            <a:custGeom>
              <a:avLst/>
              <a:pathLst>
                <a:path w="3947935" h="0">
                  <a:moveTo>
                    <a:pt x="0" y="0"/>
                  </a:moveTo>
                  <a:lnTo>
                    <a:pt x="39479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588752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9300620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10862681" y="31546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tx201"/>
            <p:cNvSpPr/>
            <p:nvPr/>
          </p:nvSpPr>
          <p:spPr>
            <a:xfrm>
              <a:off x="7525339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237207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0799268" y="320591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3.0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8408176" y="3318871"/>
              <a:ext cx="19369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vs reference level (95% CI)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7402695" y="503004"/>
              <a:ext cx="357137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References: resident, invertivore, dense habitat, Least Concern, non-endemic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7402695" y="328384"/>
              <a:ext cx="15670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migrants stand out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859900" y="325363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08" name="rc208"/>
            <p:cNvSpPr/>
            <p:nvPr/>
          </p:nvSpPr>
          <p:spPr>
            <a:xfrm>
              <a:off x="252469" y="3842202"/>
              <a:ext cx="5606366" cy="3952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858835" y="3842202"/>
              <a:ext cx="5593015" cy="3952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1728709" y="4358431"/>
              <a:ext cx="4028905" cy="27482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056416" y="4358431"/>
              <a:ext cx="0" cy="2748287"/>
            </a:xfrm>
            <a:custGeom>
              <a:avLst/>
              <a:pathLst>
                <a:path w="0" h="2748287">
                  <a:moveTo>
                    <a:pt x="0" y="27482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1911841" y="4795658"/>
              <a:ext cx="1100427" cy="62461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1911841" y="6044880"/>
              <a:ext cx="2387258" cy="624610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tx214"/>
            <p:cNvSpPr/>
            <p:nvPr/>
          </p:nvSpPr>
          <p:spPr>
            <a:xfrm>
              <a:off x="3057311" y="5075640"/>
              <a:ext cx="75072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OR = 0.96, P = 0.7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4350468" y="6324861"/>
              <a:ext cx="85615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OR = 2.09, P = 5e-15</a:t>
              </a:r>
            </a:p>
          </p:txBody>
        </p:sp>
        <p:sp>
          <p:nvSpPr>
            <p:cNvPr id="216" name="pl216"/>
            <p:cNvSpPr/>
            <p:nvPr/>
          </p:nvSpPr>
          <p:spPr>
            <a:xfrm>
              <a:off x="1728709" y="4358431"/>
              <a:ext cx="0" cy="2748287"/>
            </a:xfrm>
            <a:custGeom>
              <a:avLst/>
              <a:pathLst>
                <a:path w="0" h="2748287">
                  <a:moveTo>
                    <a:pt x="0" y="274828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536112" y="6275118"/>
              <a:ext cx="11413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Chinese provinces occupied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4021" y="6373873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(contains the response)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967343" y="5025896"/>
              <a:ext cx="710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460125" y="5124652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(independent of the response)</a:t>
              </a:r>
            </a:p>
          </p:txBody>
        </p:sp>
        <p:sp>
          <p:nvSpPr>
            <p:cNvPr id="221" name="pl221"/>
            <p:cNvSpPr/>
            <p:nvPr/>
          </p:nvSpPr>
          <p:spPr>
            <a:xfrm>
              <a:off x="1700240" y="63571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1700240" y="51079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1728709" y="7106718"/>
              <a:ext cx="4028905" cy="0"/>
            </a:xfrm>
            <a:custGeom>
              <a:avLst/>
              <a:pathLst>
                <a:path w="4028905" h="0">
                  <a:moveTo>
                    <a:pt x="0" y="0"/>
                  </a:moveTo>
                  <a:lnTo>
                    <a:pt x="402890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1911841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3056416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4200992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5345567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1886466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03104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4175617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32019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38230" y="7270920"/>
              <a:ext cx="100986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per 1 SD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728709" y="4092737"/>
              <a:ext cx="3935760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trait database was published in 2022, so its provincial counts already contain the 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728709" y="4205208"/>
              <a:ext cx="425909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2002-2021 records used as the response. Entered together, the global measure is absorbed.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728709" y="3918117"/>
              <a:ext cx="259781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Why range size must be measured globally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338326" y="392053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37" name="rc237"/>
            <p:cNvSpPr/>
            <p:nvPr/>
          </p:nvSpPr>
          <p:spPr>
            <a:xfrm>
              <a:off x="7321725" y="4358431"/>
              <a:ext cx="4028905" cy="27482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7504857" y="4397886"/>
              <a:ext cx="2388679" cy="84353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7504857" y="4533940"/>
              <a:ext cx="2388679" cy="84353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7504857" y="4669994"/>
              <a:ext cx="796226" cy="84353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7504857" y="4806048"/>
              <a:ext cx="796226" cy="84353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7504857" y="4942102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7504857" y="5078156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7504857" y="5214210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7504857" y="5350263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7504857" y="5486317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7504857" y="5622371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7504857" y="5758425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7504857" y="5894479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7504857" y="6030533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7504857" y="6166586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7504857" y="6302640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7504857" y="6438694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7504857" y="6574748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7504857" y="6710802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7504857" y="6846856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7504857" y="6982909"/>
              <a:ext cx="0" cy="8435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tx258"/>
            <p:cNvSpPr/>
            <p:nvPr/>
          </p:nvSpPr>
          <p:spPr>
            <a:xfrm>
              <a:off x="9927085" y="4411625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1.91-2.50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9927085" y="4547679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1.23-1.45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334632" y="4683733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0.55-0.79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334632" y="4819787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1.24-1.50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7538406" y="4955841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1.04-1.25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7538406" y="5091895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1.14-1.25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7538406" y="522794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0.72-0.87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7538406" y="5364002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0.71-0.82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7538406" y="5500056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1.06-1.12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7538406" y="5636110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0.90-0.92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7538406" y="5772164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0.87-0.91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7538406" y="590821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0.93-0.98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7538406" y="6044271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0.94-0.97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7538406" y="6180325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1.00-1.01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7538406" y="6316379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0.99-1.12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7538406" y="6452433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0.81-1.30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7538406" y="6588487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0.73-1.28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7538406" y="6724541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0.77-1.03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7538406" y="6860594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0.79-1.15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538406" y="699664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0.95-1.04</a:t>
              </a:r>
            </a:p>
          </p:txBody>
        </p:sp>
        <p:sp>
          <p:nvSpPr>
            <p:cNvPr id="278" name="pl278"/>
            <p:cNvSpPr/>
            <p:nvPr/>
          </p:nvSpPr>
          <p:spPr>
            <a:xfrm>
              <a:off x="7321725" y="4358431"/>
              <a:ext cx="0" cy="2748287"/>
            </a:xfrm>
            <a:custGeom>
              <a:avLst/>
              <a:pathLst>
                <a:path w="0" h="2748287">
                  <a:moveTo>
                    <a:pt x="0" y="274828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tx279"/>
            <p:cNvSpPr/>
            <p:nvPr/>
          </p:nvSpPr>
          <p:spPr>
            <a:xfrm>
              <a:off x="6489401" y="6996008"/>
              <a:ext cx="78108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Number of congeners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6009524" y="6859954"/>
              <a:ext cx="126095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Vertivore/Scavenger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6388817" y="6723901"/>
              <a:ext cx="881664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Omnivore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6388817" y="6587847"/>
              <a:ext cx="881664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Herbivore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6149336" y="6451793"/>
              <a:ext cx="112114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Aquatic predator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6295366" y="6315739"/>
              <a:ext cx="97511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Semi-open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6525794" y="6179685"/>
              <a:ext cx="74468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Endemism: Endemic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6868786" y="6043631"/>
              <a:ext cx="40169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6263910" y="5907578"/>
              <a:ext cx="100657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Hand-wing index (dispersal)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6092552" y="5771524"/>
              <a:ext cx="117793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breadth (BIRDBASE HB)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6205480" y="5635470"/>
              <a:ext cx="106500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Diet breadth (BIRDBASE DB)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6873358" y="5499416"/>
              <a:ext cx="39712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6384245" y="5363362"/>
              <a:ext cx="88623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Granivore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5960055" y="5227308"/>
              <a:ext cx="131042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Frugivore/Nectarivore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6373638" y="5091254"/>
              <a:ext cx="89684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Threatened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6175030" y="4955201"/>
              <a:ext cx="109545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Near Threatened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6552769" y="4819147"/>
              <a:ext cx="717712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Migratory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6489401" y="4683093"/>
              <a:ext cx="78108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Open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6638448" y="4547039"/>
              <a:ext cx="63203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6367695" y="4410985"/>
              <a:ext cx="90278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Partial migrant</a:t>
              </a:r>
            </a:p>
          </p:txBody>
        </p:sp>
        <p:sp>
          <p:nvSpPr>
            <p:cNvPr id="299" name="pl299"/>
            <p:cNvSpPr/>
            <p:nvPr/>
          </p:nvSpPr>
          <p:spPr>
            <a:xfrm>
              <a:off x="7293256" y="70250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293256" y="68890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293256" y="67529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293256" y="6616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293256" y="64808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293256" y="63448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293256" y="62087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293256" y="60727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293256" y="59366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293256" y="58006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293256" y="56645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293256" y="5528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293256" y="53924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293256" y="52563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293256" y="51203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293256" y="49842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293256" y="48482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293256" y="47121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293256" y="45761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293256" y="44400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321725" y="7106718"/>
              <a:ext cx="4028905" cy="0"/>
            </a:xfrm>
            <a:custGeom>
              <a:avLst/>
              <a:pathLst>
                <a:path w="4028905" h="0">
                  <a:moveTo>
                    <a:pt x="0" y="0"/>
                  </a:moveTo>
                  <a:lnTo>
                    <a:pt x="402890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504857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8301083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9097309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9893536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tx324"/>
            <p:cNvSpPr/>
            <p:nvPr/>
          </p:nvSpPr>
          <p:spPr>
            <a:xfrm>
              <a:off x="747948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8275708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9071935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9868161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7672106" y="7270920"/>
              <a:ext cx="332814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Number of phylogenetic treatments in which the term is significant</a:t>
              </a:r>
            </a:p>
          </p:txBody>
        </p:sp>
        <p:sp>
          <p:nvSpPr>
            <p:cNvPr id="329" name="rc329"/>
            <p:cNvSpPr/>
            <p:nvPr/>
          </p:nvSpPr>
          <p:spPr>
            <a:xfrm>
              <a:off x="7762740" y="7490589"/>
              <a:ext cx="3146875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7819676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7827040" y="7554889"/>
              <a:ext cx="99145" cy="9914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996569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9003933" y="7554889"/>
              <a:ext cx="99145" cy="9914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10060351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10067715" y="7554889"/>
              <a:ext cx="99145" cy="991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tx336"/>
            <p:cNvSpPr/>
            <p:nvPr/>
          </p:nvSpPr>
          <p:spPr>
            <a:xfrm>
              <a:off x="7990486" y="7568069"/>
              <a:ext cx="9491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significant in all three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9167379" y="7568069"/>
              <a:ext cx="83603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significant in some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10231161" y="7568069"/>
              <a:ext cx="62151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significant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7321725" y="4092737"/>
              <a:ext cx="365266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Taxonomic nesting, phylogenetic eigenvectors, phylogenetic logistic regression;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7321725" y="4205208"/>
              <a:ext cx="233482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text gives the range of odds ratios across the three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7321725" y="3918117"/>
              <a:ext cx="250499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Robustness to how phylogeny is handled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5940465" y="3920531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2026-07-27T11:30:05Z</dcterms:modified>
  <cp:category/>
</cp:coreProperties>
</file>