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424160" cy="6949440"/>
            <a:chOff x="182880" y="182880"/>
            <a:chExt cx="10424160" cy="694944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424160" cy="69494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424160" cy="69494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4973753" cy="347760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5226222" y="252469"/>
              <a:ext cx="5311228" cy="347760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40695" y="853121"/>
              <a:ext cx="1321151" cy="23580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640695" y="3211160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  <a:lnTo>
                    <a:pt x="132115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40695" y="2597802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  <a:lnTo>
                    <a:pt x="132115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0695" y="1984443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  <a:lnTo>
                    <a:pt x="132115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0695" y="1371085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  <a:lnTo>
                    <a:pt x="132115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760424" y="1178368"/>
              <a:ext cx="255973" cy="2032792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173284" y="2064763"/>
              <a:ext cx="255973" cy="1146397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586143" y="1383689"/>
              <a:ext cx="255973" cy="1827470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815624" y="1091093"/>
              <a:ext cx="1455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66k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1228484" y="1977488"/>
              <a:ext cx="1455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37k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1641344" y="1296414"/>
              <a:ext cx="1455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60k</a:t>
              </a:r>
            </a:p>
          </p:txBody>
        </p:sp>
        <p:sp>
          <p:nvSpPr>
            <p:cNvPr id="18" name="rc18"/>
            <p:cNvSpPr/>
            <p:nvPr/>
          </p:nvSpPr>
          <p:spPr>
            <a:xfrm>
              <a:off x="2222273" y="853121"/>
              <a:ext cx="1321151" cy="23580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2273" y="3211160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  <a:lnTo>
                    <a:pt x="132115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222273" y="2744923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  <a:lnTo>
                    <a:pt x="132115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22273" y="2278687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  <a:lnTo>
                    <a:pt x="132115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22273" y="1812450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  <a:lnTo>
                    <a:pt x="132115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22273" y="1346213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  <a:lnTo>
                    <a:pt x="132115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22273" y="879976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  <a:lnTo>
                    <a:pt x="132115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342002" y="1178368"/>
              <a:ext cx="255973" cy="2032792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754862" y="1756501"/>
              <a:ext cx="255973" cy="1454658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67721" y="1579331"/>
              <a:ext cx="255973" cy="1631828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2394688" y="1091093"/>
              <a:ext cx="150601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218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07547" y="1669226"/>
              <a:ext cx="150601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156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220407" y="1492056"/>
              <a:ext cx="150601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175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803851" y="853121"/>
              <a:ext cx="1321151" cy="23580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803851" y="3211160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  <a:lnTo>
                    <a:pt x="132115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803851" y="2617644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  <a:lnTo>
                    <a:pt x="132115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803851" y="2024128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  <a:lnTo>
                    <a:pt x="132115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803851" y="1430612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  <a:lnTo>
                    <a:pt x="132115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923580" y="1178368"/>
              <a:ext cx="255973" cy="2032792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336440" y="2142831"/>
              <a:ext cx="255973" cy="1068328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749299" y="1623505"/>
              <a:ext cx="255973" cy="158765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976266" y="1091093"/>
              <a:ext cx="150601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137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414226" y="2055556"/>
              <a:ext cx="100401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72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801985" y="1536230"/>
              <a:ext cx="150601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107</a:t>
              </a:r>
            </a:p>
          </p:txBody>
        </p:sp>
        <p:sp>
          <p:nvSpPr>
            <p:cNvPr id="42" name="pl42"/>
            <p:cNvSpPr/>
            <p:nvPr/>
          </p:nvSpPr>
          <p:spPr>
            <a:xfrm>
              <a:off x="3803851" y="853121"/>
              <a:ext cx="0" cy="2358039"/>
            </a:xfrm>
            <a:custGeom>
              <a:avLst/>
              <a:pathLst>
                <a:path w="0" h="2358039">
                  <a:moveTo>
                    <a:pt x="0" y="235803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3701859" y="317847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651109" y="2584954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109" y="1991438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00360" y="1397922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47" name="pl47"/>
            <p:cNvSpPr/>
            <p:nvPr/>
          </p:nvSpPr>
          <p:spPr>
            <a:xfrm>
              <a:off x="3775382" y="32111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3775382" y="26176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3775382" y="20241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775382" y="14306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222273" y="853121"/>
              <a:ext cx="0" cy="2358039"/>
            </a:xfrm>
            <a:custGeom>
              <a:avLst/>
              <a:pathLst>
                <a:path w="0" h="2358039">
                  <a:moveTo>
                    <a:pt x="0" y="235803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tx52"/>
            <p:cNvSpPr/>
            <p:nvPr/>
          </p:nvSpPr>
          <p:spPr>
            <a:xfrm>
              <a:off x="2120281" y="317847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069531" y="2712233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018782" y="2245997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2018782" y="1779760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018782" y="1313523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018782" y="847286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250</a:t>
              </a:r>
            </a:p>
          </p:txBody>
        </p:sp>
        <p:sp>
          <p:nvSpPr>
            <p:cNvPr id="58" name="pl58"/>
            <p:cNvSpPr/>
            <p:nvPr/>
          </p:nvSpPr>
          <p:spPr>
            <a:xfrm>
              <a:off x="2193804" y="32111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3804" y="27449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193804" y="22786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193804" y="18124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193804" y="13462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193804" y="8799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686244" y="713754"/>
              <a:ext cx="110505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Risk-set rows (000s)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2267822" y="713754"/>
              <a:ext cx="37481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Events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3849400" y="713754"/>
              <a:ext cx="43205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Species</a:t>
              </a:r>
            </a:p>
          </p:txBody>
        </p:sp>
        <p:sp>
          <p:nvSpPr>
            <p:cNvPr id="67" name="pl67"/>
            <p:cNvSpPr/>
            <p:nvPr/>
          </p:nvSpPr>
          <p:spPr>
            <a:xfrm>
              <a:off x="640695" y="3211160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88410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301270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714130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 rot="-1080000">
              <a:off x="547144" y="3316454"/>
              <a:ext cx="36018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Resident</a:t>
              </a:r>
            </a:p>
          </p:txBody>
        </p:sp>
        <p:sp>
          <p:nvSpPr>
            <p:cNvPr id="72" name="tx72"/>
            <p:cNvSpPr/>
            <p:nvPr/>
          </p:nvSpPr>
          <p:spPr>
            <a:xfrm rot="-1080000">
              <a:off x="1059018" y="3300772"/>
              <a:ext cx="25868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Partial</a:t>
              </a:r>
            </a:p>
          </p:txBody>
        </p:sp>
        <p:sp>
          <p:nvSpPr>
            <p:cNvPr id="73" name="tx73"/>
            <p:cNvSpPr/>
            <p:nvPr/>
          </p:nvSpPr>
          <p:spPr>
            <a:xfrm rot="-1080000">
              <a:off x="1165022" y="3349373"/>
              <a:ext cx="57323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Long-distance</a:t>
              </a:r>
            </a:p>
          </p:txBody>
        </p:sp>
        <p:sp>
          <p:nvSpPr>
            <p:cNvPr id="74" name="pl74"/>
            <p:cNvSpPr/>
            <p:nvPr/>
          </p:nvSpPr>
          <p:spPr>
            <a:xfrm>
              <a:off x="2222273" y="3211160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469988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882848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295708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 rot="-1080000">
              <a:off x="2128722" y="3316454"/>
              <a:ext cx="36018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Resident</a:t>
              </a:r>
            </a:p>
          </p:txBody>
        </p:sp>
        <p:sp>
          <p:nvSpPr>
            <p:cNvPr id="79" name="tx79"/>
            <p:cNvSpPr/>
            <p:nvPr/>
          </p:nvSpPr>
          <p:spPr>
            <a:xfrm rot="-1080000">
              <a:off x="2640597" y="3300772"/>
              <a:ext cx="25868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Partial</a:t>
              </a:r>
            </a:p>
          </p:txBody>
        </p:sp>
        <p:sp>
          <p:nvSpPr>
            <p:cNvPr id="80" name="tx80"/>
            <p:cNvSpPr/>
            <p:nvPr/>
          </p:nvSpPr>
          <p:spPr>
            <a:xfrm rot="-1080000">
              <a:off x="2746600" y="3349373"/>
              <a:ext cx="57323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Long-distance</a:t>
              </a:r>
            </a:p>
          </p:txBody>
        </p:sp>
        <p:sp>
          <p:nvSpPr>
            <p:cNvPr id="81" name="pl81"/>
            <p:cNvSpPr/>
            <p:nvPr/>
          </p:nvSpPr>
          <p:spPr>
            <a:xfrm>
              <a:off x="3803851" y="3211160"/>
              <a:ext cx="1321151" cy="0"/>
            </a:xfrm>
            <a:custGeom>
              <a:avLst/>
              <a:pathLst>
                <a:path w="1321151" h="0">
                  <a:moveTo>
                    <a:pt x="0" y="0"/>
                  </a:moveTo>
                  <a:lnTo>
                    <a:pt x="1321151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4051566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4464426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4877286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tx85"/>
            <p:cNvSpPr/>
            <p:nvPr/>
          </p:nvSpPr>
          <p:spPr>
            <a:xfrm rot="-1080000">
              <a:off x="3710300" y="3316454"/>
              <a:ext cx="36018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Resident</a:t>
              </a:r>
            </a:p>
          </p:txBody>
        </p:sp>
        <p:sp>
          <p:nvSpPr>
            <p:cNvPr id="86" name="tx86"/>
            <p:cNvSpPr/>
            <p:nvPr/>
          </p:nvSpPr>
          <p:spPr>
            <a:xfrm rot="-1080000">
              <a:off x="4222175" y="3300772"/>
              <a:ext cx="25868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Partial</a:t>
              </a:r>
            </a:p>
          </p:txBody>
        </p:sp>
        <p:sp>
          <p:nvSpPr>
            <p:cNvPr id="87" name="tx87"/>
            <p:cNvSpPr/>
            <p:nvPr/>
          </p:nvSpPr>
          <p:spPr>
            <a:xfrm rot="-1080000">
              <a:off x="4328178" y="3349373"/>
              <a:ext cx="57323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Long-distance</a:t>
              </a:r>
            </a:p>
          </p:txBody>
        </p:sp>
        <p:sp>
          <p:nvSpPr>
            <p:cNvPr id="88" name="pl88"/>
            <p:cNvSpPr/>
            <p:nvPr/>
          </p:nvSpPr>
          <p:spPr>
            <a:xfrm>
              <a:off x="640695" y="853121"/>
              <a:ext cx="0" cy="2358039"/>
            </a:xfrm>
            <a:custGeom>
              <a:avLst/>
              <a:pathLst>
                <a:path w="0" h="2358039">
                  <a:moveTo>
                    <a:pt x="0" y="235803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tx89"/>
            <p:cNvSpPr/>
            <p:nvPr/>
          </p:nvSpPr>
          <p:spPr>
            <a:xfrm>
              <a:off x="538702" y="317847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487953" y="2565112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487953" y="1951753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487953" y="1338395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93" name="pl93"/>
            <p:cNvSpPr/>
            <p:nvPr/>
          </p:nvSpPr>
          <p:spPr>
            <a:xfrm>
              <a:off x="612226" y="32111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612226" y="25978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612226" y="19844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612226" y="13710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640695" y="503004"/>
              <a:ext cx="3132368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Every group carries at least 156 events, so none is a token category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40695" y="328384"/>
              <a:ext cx="212469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Power comes from all three groups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335163" y="323681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0" name="rc100"/>
            <p:cNvSpPr/>
            <p:nvPr/>
          </p:nvSpPr>
          <p:spPr>
            <a:xfrm>
              <a:off x="5951923" y="853121"/>
              <a:ext cx="2213685" cy="23580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6052545" y="853121"/>
              <a:ext cx="0" cy="2358039"/>
            </a:xfrm>
            <a:custGeom>
              <a:avLst/>
              <a:pathLst>
                <a:path w="0" h="2358039">
                  <a:moveTo>
                    <a:pt x="0" y="23580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437195" y="2769028"/>
              <a:ext cx="1088899" cy="0"/>
            </a:xfrm>
            <a:custGeom>
              <a:avLst/>
              <a:pathLst>
                <a:path w="1088899" h="0">
                  <a:moveTo>
                    <a:pt x="0" y="0"/>
                  </a:moveTo>
                  <a:lnTo>
                    <a:pt x="1088899" y="0"/>
                  </a:lnTo>
                </a:path>
              </a:pathLst>
            </a:custGeom>
            <a:ln w="1626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648441" y="2032140"/>
              <a:ext cx="1416545" cy="0"/>
            </a:xfrm>
            <a:custGeom>
              <a:avLst/>
              <a:pathLst>
                <a:path w="1416545" h="0">
                  <a:moveTo>
                    <a:pt x="0" y="0"/>
                  </a:moveTo>
                  <a:lnTo>
                    <a:pt x="1416545" y="0"/>
                  </a:lnTo>
                </a:path>
              </a:pathLst>
            </a:custGeom>
            <a:ln w="1626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6698200" y="1295253"/>
              <a:ext cx="1334202" cy="0"/>
            </a:xfrm>
            <a:custGeom>
              <a:avLst/>
              <a:pathLst>
                <a:path w="1334202" h="0">
                  <a:moveTo>
                    <a:pt x="0" y="0"/>
                  </a:moveTo>
                  <a:lnTo>
                    <a:pt x="1334202" y="0"/>
                  </a:lnTo>
                </a:path>
              </a:pathLst>
            </a:custGeom>
            <a:ln w="1626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905186" y="2736890"/>
              <a:ext cx="64276" cy="6427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7256923" y="2000002"/>
              <a:ext cx="64276" cy="6427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273349" y="1263115"/>
              <a:ext cx="64276" cy="6427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853017" y="2644852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1.36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7204753" y="1907965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1.51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7221180" y="1171078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1.51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8222545" y="853121"/>
              <a:ext cx="2213685" cy="23580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323167" y="853121"/>
              <a:ext cx="0" cy="2358039"/>
            </a:xfrm>
            <a:custGeom>
              <a:avLst/>
              <a:pathLst>
                <a:path w="0" h="2358039">
                  <a:moveTo>
                    <a:pt x="0" y="23580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591578" y="2769028"/>
              <a:ext cx="965877" cy="0"/>
            </a:xfrm>
            <a:custGeom>
              <a:avLst/>
              <a:pathLst>
                <a:path w="965877" h="0">
                  <a:moveTo>
                    <a:pt x="0" y="0"/>
                  </a:moveTo>
                  <a:lnTo>
                    <a:pt x="965877" y="0"/>
                  </a:lnTo>
                </a:path>
              </a:pathLst>
            </a:custGeom>
            <a:ln w="1626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396541" y="2032140"/>
              <a:ext cx="1307006" cy="0"/>
            </a:xfrm>
            <a:custGeom>
              <a:avLst/>
              <a:pathLst>
                <a:path w="1307006" h="0">
                  <a:moveTo>
                    <a:pt x="0" y="0"/>
                  </a:moveTo>
                  <a:lnTo>
                    <a:pt x="1307006" y="0"/>
                  </a:lnTo>
                </a:path>
              </a:pathLst>
            </a:custGeom>
            <a:ln w="1626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640714" y="1295253"/>
              <a:ext cx="1139168" cy="0"/>
            </a:xfrm>
            <a:custGeom>
              <a:avLst/>
              <a:pathLst>
                <a:path w="1139168" h="0">
                  <a:moveTo>
                    <a:pt x="0" y="0"/>
                  </a:moveTo>
                  <a:lnTo>
                    <a:pt x="1139168" y="0"/>
                  </a:lnTo>
                </a:path>
              </a:pathLst>
            </a:custGeom>
            <a:ln w="1626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9005593" y="2736890"/>
              <a:ext cx="64276" cy="6427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8949684" y="2000002"/>
              <a:ext cx="64276" cy="6427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9129001" y="1263115"/>
              <a:ext cx="64276" cy="6427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8953423" y="2644852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1.29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8897515" y="1907965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1.27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9076832" y="1171078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1.34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5997472" y="713754"/>
              <a:ext cx="121935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268094" y="713754"/>
              <a:ext cx="70491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5951923" y="3211160"/>
              <a:ext cx="2213685" cy="0"/>
            </a:xfrm>
            <a:custGeom>
              <a:avLst/>
              <a:pathLst>
                <a:path w="2213685" h="0">
                  <a:moveTo>
                    <a:pt x="0" y="0"/>
                  </a:moveTo>
                  <a:lnTo>
                    <a:pt x="221368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6052545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6539987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027428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514870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002312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tx130"/>
            <p:cNvSpPr/>
            <p:nvPr/>
          </p:nvSpPr>
          <p:spPr>
            <a:xfrm>
              <a:off x="5989131" y="326240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6476573" y="326240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6964015" y="326240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1.4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7451456" y="326240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1.6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7938898" y="326240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1.8</a:t>
              </a:r>
            </a:p>
          </p:txBody>
        </p:sp>
        <p:sp>
          <p:nvSpPr>
            <p:cNvPr id="135" name="pl135"/>
            <p:cNvSpPr/>
            <p:nvPr/>
          </p:nvSpPr>
          <p:spPr>
            <a:xfrm>
              <a:off x="8222545" y="3211160"/>
              <a:ext cx="2213685" cy="0"/>
            </a:xfrm>
            <a:custGeom>
              <a:avLst/>
              <a:pathLst>
                <a:path w="2213685" h="0">
                  <a:moveTo>
                    <a:pt x="0" y="0"/>
                  </a:moveTo>
                  <a:lnTo>
                    <a:pt x="221368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323167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810608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9298050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9785492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10272934" y="321116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8259753" y="326240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8747195" y="326240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9234636" y="326240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1.4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9722078" y="326240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1.6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10209520" y="326240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1.8</a:t>
              </a:r>
            </a:p>
          </p:txBody>
        </p:sp>
        <p:sp>
          <p:nvSpPr>
            <p:cNvPr id="146" name="pl146"/>
            <p:cNvSpPr/>
            <p:nvPr/>
          </p:nvSpPr>
          <p:spPr>
            <a:xfrm>
              <a:off x="5951923" y="853121"/>
              <a:ext cx="0" cy="2358039"/>
            </a:xfrm>
            <a:custGeom>
              <a:avLst/>
              <a:pathLst>
                <a:path w="0" h="2358039">
                  <a:moveTo>
                    <a:pt x="0" y="235803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tx147"/>
            <p:cNvSpPr/>
            <p:nvPr/>
          </p:nvSpPr>
          <p:spPr>
            <a:xfrm>
              <a:off x="5540498" y="2736338"/>
              <a:ext cx="36018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Resident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5641996" y="1999451"/>
              <a:ext cx="25868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Partial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5327443" y="1262563"/>
              <a:ext cx="57323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Long-distance</a:t>
              </a:r>
            </a:p>
          </p:txBody>
        </p:sp>
        <p:sp>
          <p:nvSpPr>
            <p:cNvPr id="150" name="pl150"/>
            <p:cNvSpPr/>
            <p:nvPr/>
          </p:nvSpPr>
          <p:spPr>
            <a:xfrm>
              <a:off x="5923455" y="27690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923455" y="20321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5923455" y="12952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tx153"/>
            <p:cNvSpPr/>
            <p:nvPr/>
          </p:nvSpPr>
          <p:spPr>
            <a:xfrm>
              <a:off x="7400240" y="3548367"/>
              <a:ext cx="158767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 (95% CI)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5951923" y="503004"/>
              <a:ext cx="3421136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Confidence intervals overlap heavily; no group is exempt from either driver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5951923" y="328384"/>
              <a:ext cx="249905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Both drivers act in every migratory group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5306444" y="323681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57" name="rc157"/>
            <p:cNvSpPr/>
            <p:nvPr/>
          </p:nvSpPr>
          <p:spPr>
            <a:xfrm>
              <a:off x="252469" y="3730078"/>
              <a:ext cx="4973753" cy="33326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226222" y="3730078"/>
              <a:ext cx="5311228" cy="33326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40695" y="4358778"/>
              <a:ext cx="4484307" cy="23580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640695" y="6716817"/>
              <a:ext cx="4484307" cy="0"/>
            </a:xfrm>
            <a:custGeom>
              <a:avLst/>
              <a:pathLst>
                <a:path w="4484307" h="0">
                  <a:moveTo>
                    <a:pt x="0" y="0"/>
                  </a:moveTo>
                  <a:lnTo>
                    <a:pt x="4484307" y="0"/>
                  </a:lnTo>
                  <a:lnTo>
                    <a:pt x="44843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640695" y="6130153"/>
              <a:ext cx="4484307" cy="0"/>
            </a:xfrm>
            <a:custGeom>
              <a:avLst/>
              <a:pathLst>
                <a:path w="4484307" h="0">
                  <a:moveTo>
                    <a:pt x="0" y="0"/>
                  </a:moveTo>
                  <a:lnTo>
                    <a:pt x="4484307" y="0"/>
                  </a:lnTo>
                  <a:lnTo>
                    <a:pt x="44843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640695" y="5543488"/>
              <a:ext cx="4484307" cy="0"/>
            </a:xfrm>
            <a:custGeom>
              <a:avLst/>
              <a:pathLst>
                <a:path w="4484307" h="0">
                  <a:moveTo>
                    <a:pt x="0" y="0"/>
                  </a:moveTo>
                  <a:lnTo>
                    <a:pt x="4484307" y="0"/>
                  </a:lnTo>
                  <a:lnTo>
                    <a:pt x="44843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640695" y="4956824"/>
              <a:ext cx="4484307" cy="0"/>
            </a:xfrm>
            <a:custGeom>
              <a:avLst/>
              <a:pathLst>
                <a:path w="4484307" h="0">
                  <a:moveTo>
                    <a:pt x="0" y="0"/>
                  </a:moveTo>
                  <a:lnTo>
                    <a:pt x="4484307" y="0"/>
                  </a:lnTo>
                  <a:lnTo>
                    <a:pt x="44843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640695" y="4370160"/>
              <a:ext cx="4484307" cy="0"/>
            </a:xfrm>
            <a:custGeom>
              <a:avLst/>
              <a:pathLst>
                <a:path w="4484307" h="0">
                  <a:moveTo>
                    <a:pt x="0" y="0"/>
                  </a:moveTo>
                  <a:lnTo>
                    <a:pt x="4484307" y="0"/>
                  </a:lnTo>
                  <a:lnTo>
                    <a:pt x="44843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850444" y="4898158"/>
              <a:ext cx="448430" cy="1818659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1573720" y="6716817"/>
              <a:ext cx="448430" cy="0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2296995" y="5757621"/>
              <a:ext cx="448430" cy="95919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3020270" y="5637355"/>
              <a:ext cx="448430" cy="1079462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3743546" y="4684025"/>
              <a:ext cx="448430" cy="2032792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4466821" y="5473089"/>
              <a:ext cx="448430" cy="1243728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1009417" y="4804066"/>
              <a:ext cx="13048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6.2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1732693" y="6622726"/>
              <a:ext cx="13048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2455968" y="5663529"/>
              <a:ext cx="13048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3.3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3179243" y="5543263"/>
              <a:ext cx="13048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3.7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2519" y="4589933"/>
              <a:ext cx="13048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6.9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4625794" y="5378997"/>
              <a:ext cx="13048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4.2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2366357" y="6511100"/>
              <a:ext cx="309707" cy="594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4" i="0" b="0">
                  <a:solidFill>
                    <a:srgbClr val="D55E00">
                      <a:alpha val="100000"/>
                    </a:srgbClr>
                  </a:solidFill>
                  <a:latin typeface="Arial"/>
                  <a:cs typeface="Arial"/>
                </a:rPr>
                <a:t>P = 0.69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089632" y="6511100"/>
              <a:ext cx="309707" cy="594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4" i="0" b="0">
                  <a:solidFill>
                    <a:srgbClr val="D55E00">
                      <a:alpha val="100000"/>
                    </a:srgbClr>
                  </a:solidFill>
                  <a:latin typeface="Arial"/>
                  <a:cs typeface="Arial"/>
                </a:rPr>
                <a:t>P = 0.85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812908" y="6511100"/>
              <a:ext cx="309707" cy="594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4" i="0" b="0">
                  <a:solidFill>
                    <a:srgbClr val="D55E00">
                      <a:alpha val="100000"/>
                    </a:srgbClr>
                  </a:solidFill>
                  <a:latin typeface="Arial"/>
                  <a:cs typeface="Arial"/>
                </a:rPr>
                <a:t>P = 0.90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4536183" y="6511100"/>
              <a:ext cx="309707" cy="594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4" i="0" b="0">
                  <a:solidFill>
                    <a:srgbClr val="D55E00">
                      <a:alpha val="100000"/>
                    </a:srgbClr>
                  </a:solidFill>
                  <a:latin typeface="Arial"/>
                  <a:cs typeface="Arial"/>
                </a:rPr>
                <a:t>P = 0.26</a:t>
              </a:r>
            </a:p>
          </p:txBody>
        </p:sp>
        <p:sp>
          <p:nvSpPr>
            <p:cNvPr id="181" name="pl181"/>
            <p:cNvSpPr/>
            <p:nvPr/>
          </p:nvSpPr>
          <p:spPr>
            <a:xfrm>
              <a:off x="640695" y="4358778"/>
              <a:ext cx="0" cy="2358039"/>
            </a:xfrm>
            <a:custGeom>
              <a:avLst/>
              <a:pathLst>
                <a:path w="0" h="2358039">
                  <a:moveTo>
                    <a:pt x="0" y="235803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tx182"/>
            <p:cNvSpPr/>
            <p:nvPr/>
          </p:nvSpPr>
          <p:spPr>
            <a:xfrm>
              <a:off x="538702" y="6684128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538702" y="609746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538702" y="5510799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538702" y="4924134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538702" y="433747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187" name="pl187"/>
            <p:cNvSpPr/>
            <p:nvPr/>
          </p:nvSpPr>
          <p:spPr>
            <a:xfrm>
              <a:off x="612226" y="67168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612226" y="61301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612226" y="55434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612226" y="49568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612226" y="43701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640695" y="6716817"/>
              <a:ext cx="4484307" cy="0"/>
            </a:xfrm>
            <a:custGeom>
              <a:avLst/>
              <a:pathLst>
                <a:path w="4484307" h="0">
                  <a:moveTo>
                    <a:pt x="0" y="0"/>
                  </a:moveTo>
                  <a:lnTo>
                    <a:pt x="4484307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1074660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1797935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2521210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3244486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3967761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4691037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9"/>
            <p:cNvSpPr/>
            <p:nvPr/>
          </p:nvSpPr>
          <p:spPr>
            <a:xfrm>
              <a:off x="1011292" y="6768060"/>
              <a:ext cx="12673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734567" y="6768060"/>
              <a:ext cx="12673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M1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457843" y="6768060"/>
              <a:ext cx="12673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M2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3181118" y="6768060"/>
              <a:ext cx="12673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M3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3904393" y="6768060"/>
              <a:ext cx="12673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M4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4627669" y="6768060"/>
              <a:ext cx="12673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M5</a:t>
              </a:r>
            </a:p>
          </p:txBody>
        </p:sp>
        <p:sp>
          <p:nvSpPr>
            <p:cNvPr id="205" name="tx205"/>
            <p:cNvSpPr/>
            <p:nvPr/>
          </p:nvSpPr>
          <p:spPr>
            <a:xfrm rot="-5400000">
              <a:off x="153207" y="5496878"/>
              <a:ext cx="48280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Delta AIC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640695" y="3980613"/>
              <a:ext cx="4436485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M0 main model | M1 + migratory main effect | M2 + warming x migratory | M3 + effort x migratory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640695" y="4093084"/>
              <a:ext cx="4181642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M4 + both | M5 + three-way warming x effort x migratory. Red: likelihood-ratio P against M1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640695" y="3805993"/>
              <a:ext cx="318384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Migratory strategy shifts the baseline, not the slopes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335163" y="3799116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10" name="rc210"/>
            <p:cNvSpPr/>
            <p:nvPr/>
          </p:nvSpPr>
          <p:spPr>
            <a:xfrm>
              <a:off x="5951923" y="4358778"/>
              <a:ext cx="4484307" cy="23580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8446421" y="4358778"/>
              <a:ext cx="0" cy="2358039"/>
            </a:xfrm>
            <a:custGeom>
              <a:avLst/>
              <a:pathLst>
                <a:path w="0" h="2358039">
                  <a:moveTo>
                    <a:pt x="0" y="23580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082664" y="6274685"/>
              <a:ext cx="2226407" cy="0"/>
            </a:xfrm>
            <a:custGeom>
              <a:avLst/>
              <a:pathLst>
                <a:path w="2226407" h="0">
                  <a:moveTo>
                    <a:pt x="0" y="0"/>
                  </a:moveTo>
                  <a:lnTo>
                    <a:pt x="2226407" y="0"/>
                  </a:lnTo>
                </a:path>
              </a:pathLst>
            </a:custGeom>
            <a:ln w="1626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577093" y="5537798"/>
              <a:ext cx="2655304" cy="0"/>
            </a:xfrm>
            <a:custGeom>
              <a:avLst/>
              <a:pathLst>
                <a:path w="2655304" h="0">
                  <a:moveTo>
                    <a:pt x="0" y="0"/>
                  </a:moveTo>
                  <a:lnTo>
                    <a:pt x="2655304" y="0"/>
                  </a:lnTo>
                </a:path>
              </a:pathLst>
            </a:custGeom>
            <a:ln w="1626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6155755" y="4800911"/>
              <a:ext cx="1693481" cy="0"/>
            </a:xfrm>
            <a:custGeom>
              <a:avLst/>
              <a:pathLst>
                <a:path w="1693481" h="0">
                  <a:moveTo>
                    <a:pt x="0" y="0"/>
                  </a:moveTo>
                  <a:lnTo>
                    <a:pt x="1693481" y="0"/>
                  </a:lnTo>
                </a:path>
              </a:pathLst>
            </a:custGeom>
            <a:ln w="1626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8055169" y="6239837"/>
              <a:ext cx="69696" cy="6969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8735306" y="5502950"/>
              <a:ext cx="69696" cy="6969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6890964" y="4766062"/>
              <a:ext cx="69696" cy="6969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tx218"/>
            <p:cNvSpPr/>
            <p:nvPr/>
          </p:nvSpPr>
          <p:spPr>
            <a:xfrm>
              <a:off x="7778893" y="6150510"/>
              <a:ext cx="622249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0.94 (P = 0.540)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8459029" y="5413622"/>
              <a:ext cx="622249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1.05 (P = 0.622)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6614688" y="4676735"/>
              <a:ext cx="622249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0.75 (P = 0.002)</a:t>
              </a:r>
            </a:p>
          </p:txBody>
        </p:sp>
        <p:sp>
          <p:nvSpPr>
            <p:cNvPr id="221" name="pl221"/>
            <p:cNvSpPr/>
            <p:nvPr/>
          </p:nvSpPr>
          <p:spPr>
            <a:xfrm>
              <a:off x="5951923" y="4358778"/>
              <a:ext cx="0" cy="2358039"/>
            </a:xfrm>
            <a:custGeom>
              <a:avLst/>
              <a:pathLst>
                <a:path w="0" h="2358039">
                  <a:moveTo>
                    <a:pt x="0" y="235803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tx222"/>
            <p:cNvSpPr/>
            <p:nvPr/>
          </p:nvSpPr>
          <p:spPr>
            <a:xfrm>
              <a:off x="5540498" y="6241995"/>
              <a:ext cx="36018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Resident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5641996" y="5505108"/>
              <a:ext cx="25868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Partial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5327443" y="4768221"/>
              <a:ext cx="57323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Long-distance</a:t>
              </a:r>
            </a:p>
          </p:txBody>
        </p:sp>
        <p:sp>
          <p:nvSpPr>
            <p:cNvPr id="225" name="pl225"/>
            <p:cNvSpPr/>
            <p:nvPr/>
          </p:nvSpPr>
          <p:spPr>
            <a:xfrm>
              <a:off x="5923455" y="62746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5923455" y="55377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5923455" y="48009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5951923" y="6716817"/>
              <a:ext cx="4484307" cy="0"/>
            </a:xfrm>
            <a:custGeom>
              <a:avLst/>
              <a:pathLst>
                <a:path w="4484307" h="0">
                  <a:moveTo>
                    <a:pt x="0" y="0"/>
                  </a:moveTo>
                  <a:lnTo>
                    <a:pt x="4484307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5983563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214992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8446421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9677850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tx233"/>
            <p:cNvSpPr/>
            <p:nvPr/>
          </p:nvSpPr>
          <p:spPr>
            <a:xfrm>
              <a:off x="5920149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0.6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7151578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8383007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9614436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7219326" y="6881019"/>
              <a:ext cx="194950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Warming x effort hazard ratio (95% CI)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5951923" y="3980613"/>
              <a:ext cx="3993276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The interaction is significant only among long-distance migrants, but the formal test for 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5951923" y="4093084"/>
              <a:ext cx="4180179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heterogeneity is not (three-way LR P = 0.26; long-distance vs resident contrast P = 0.078). 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5951923" y="4205555"/>
              <a:ext cx="4263024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With 156-218 events per group the design cannot resolve group differences in an interaction.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5951923" y="3805993"/>
              <a:ext cx="111026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 hint, not a result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5306444" y="3799116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2026-07-27T09:13:34Z</dcterms:modified>
  <cp:category/>
</cp:coreProperties>
</file>