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10424160" cy="6949440"/>
            <a:chOff x="182880" y="182880"/>
            <a:chExt cx="10424160" cy="694944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10424160" cy="69494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10424160" cy="69494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252469"/>
              <a:ext cx="4954441" cy="3421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5206910" y="252469"/>
              <a:ext cx="5330540" cy="3421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672960" y="911466"/>
              <a:ext cx="1284423" cy="21936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672960" y="3105082"/>
              <a:ext cx="1284423" cy="0"/>
            </a:xfrm>
            <a:custGeom>
              <a:avLst/>
              <a:pathLst>
                <a:path w="1284423" h="0">
                  <a:moveTo>
                    <a:pt x="0" y="0"/>
                  </a:moveTo>
                  <a:lnTo>
                    <a:pt x="1284423" y="0"/>
                  </a:lnTo>
                  <a:lnTo>
                    <a:pt x="128442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72960" y="2534492"/>
              <a:ext cx="1284423" cy="0"/>
            </a:xfrm>
            <a:custGeom>
              <a:avLst/>
              <a:pathLst>
                <a:path w="1284423" h="0">
                  <a:moveTo>
                    <a:pt x="0" y="0"/>
                  </a:moveTo>
                  <a:lnTo>
                    <a:pt x="1284423" y="0"/>
                  </a:lnTo>
                  <a:lnTo>
                    <a:pt x="128442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2960" y="1963903"/>
              <a:ext cx="1284423" cy="0"/>
            </a:xfrm>
            <a:custGeom>
              <a:avLst/>
              <a:pathLst>
                <a:path w="1284423" h="0">
                  <a:moveTo>
                    <a:pt x="0" y="0"/>
                  </a:moveTo>
                  <a:lnTo>
                    <a:pt x="1284423" y="0"/>
                  </a:lnTo>
                  <a:lnTo>
                    <a:pt x="128442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2960" y="1393313"/>
              <a:ext cx="1284423" cy="0"/>
            </a:xfrm>
            <a:custGeom>
              <a:avLst/>
              <a:pathLst>
                <a:path w="1284423" h="0">
                  <a:moveTo>
                    <a:pt x="0" y="0"/>
                  </a:moveTo>
                  <a:lnTo>
                    <a:pt x="1284423" y="0"/>
                  </a:lnTo>
                  <a:lnTo>
                    <a:pt x="128442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789361" y="1214033"/>
              <a:ext cx="248857" cy="1891048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190743" y="2038621"/>
              <a:ext cx="248857" cy="1066460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592126" y="1405038"/>
              <a:ext cx="248857" cy="1700043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841003" y="1126759"/>
              <a:ext cx="1455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66k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1242386" y="1951346"/>
              <a:ext cx="1455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37k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1643768" y="1317763"/>
              <a:ext cx="1455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60k</a:t>
              </a:r>
            </a:p>
          </p:txBody>
        </p:sp>
        <p:sp>
          <p:nvSpPr>
            <p:cNvPr id="18" name="rc18"/>
            <p:cNvSpPr/>
            <p:nvPr/>
          </p:nvSpPr>
          <p:spPr>
            <a:xfrm>
              <a:off x="2247113" y="911466"/>
              <a:ext cx="1284423" cy="21936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47113" y="3105082"/>
              <a:ext cx="1284423" cy="0"/>
            </a:xfrm>
            <a:custGeom>
              <a:avLst/>
              <a:pathLst>
                <a:path w="1284423" h="0">
                  <a:moveTo>
                    <a:pt x="0" y="0"/>
                  </a:moveTo>
                  <a:lnTo>
                    <a:pt x="1284423" y="0"/>
                  </a:lnTo>
                  <a:lnTo>
                    <a:pt x="128442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247113" y="2671355"/>
              <a:ext cx="1284423" cy="0"/>
            </a:xfrm>
            <a:custGeom>
              <a:avLst/>
              <a:pathLst>
                <a:path w="1284423" h="0">
                  <a:moveTo>
                    <a:pt x="0" y="0"/>
                  </a:moveTo>
                  <a:lnTo>
                    <a:pt x="1284423" y="0"/>
                  </a:lnTo>
                  <a:lnTo>
                    <a:pt x="128442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47113" y="2237629"/>
              <a:ext cx="1284423" cy="0"/>
            </a:xfrm>
            <a:custGeom>
              <a:avLst/>
              <a:pathLst>
                <a:path w="1284423" h="0">
                  <a:moveTo>
                    <a:pt x="0" y="0"/>
                  </a:moveTo>
                  <a:lnTo>
                    <a:pt x="1284423" y="0"/>
                  </a:lnTo>
                  <a:lnTo>
                    <a:pt x="128442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47113" y="1803902"/>
              <a:ext cx="1284423" cy="0"/>
            </a:xfrm>
            <a:custGeom>
              <a:avLst/>
              <a:pathLst>
                <a:path w="1284423" h="0">
                  <a:moveTo>
                    <a:pt x="0" y="0"/>
                  </a:moveTo>
                  <a:lnTo>
                    <a:pt x="1284423" y="0"/>
                  </a:lnTo>
                  <a:lnTo>
                    <a:pt x="128442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47113" y="1370175"/>
              <a:ext cx="1284423" cy="0"/>
            </a:xfrm>
            <a:custGeom>
              <a:avLst/>
              <a:pathLst>
                <a:path w="1284423" h="0">
                  <a:moveTo>
                    <a:pt x="0" y="0"/>
                  </a:moveTo>
                  <a:lnTo>
                    <a:pt x="1284423" y="0"/>
                  </a:lnTo>
                  <a:lnTo>
                    <a:pt x="128442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47113" y="936448"/>
              <a:ext cx="1284423" cy="0"/>
            </a:xfrm>
            <a:custGeom>
              <a:avLst/>
              <a:pathLst>
                <a:path w="1284423" h="0">
                  <a:moveTo>
                    <a:pt x="0" y="0"/>
                  </a:moveTo>
                  <a:lnTo>
                    <a:pt x="1284423" y="0"/>
                  </a:lnTo>
                  <a:lnTo>
                    <a:pt x="128442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363514" y="1214033"/>
              <a:ext cx="248857" cy="1891048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764896" y="1751855"/>
              <a:ext cx="248857" cy="1353227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66278" y="1587038"/>
              <a:ext cx="248857" cy="1518043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2412641" y="1126759"/>
              <a:ext cx="150601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218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14024" y="1664580"/>
              <a:ext cx="150601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156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215406" y="1499764"/>
              <a:ext cx="150601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175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821266" y="911466"/>
              <a:ext cx="1284423" cy="21936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821266" y="3105082"/>
              <a:ext cx="1284423" cy="0"/>
            </a:xfrm>
            <a:custGeom>
              <a:avLst/>
              <a:pathLst>
                <a:path w="1284423" h="0">
                  <a:moveTo>
                    <a:pt x="0" y="0"/>
                  </a:moveTo>
                  <a:lnTo>
                    <a:pt x="1284423" y="0"/>
                  </a:lnTo>
                  <a:lnTo>
                    <a:pt x="128442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821266" y="2552951"/>
              <a:ext cx="1284423" cy="0"/>
            </a:xfrm>
            <a:custGeom>
              <a:avLst/>
              <a:pathLst>
                <a:path w="1284423" h="0">
                  <a:moveTo>
                    <a:pt x="0" y="0"/>
                  </a:moveTo>
                  <a:lnTo>
                    <a:pt x="1284423" y="0"/>
                  </a:lnTo>
                  <a:lnTo>
                    <a:pt x="128442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821266" y="2000820"/>
              <a:ext cx="1284423" cy="0"/>
            </a:xfrm>
            <a:custGeom>
              <a:avLst/>
              <a:pathLst>
                <a:path w="1284423" h="0">
                  <a:moveTo>
                    <a:pt x="0" y="0"/>
                  </a:moveTo>
                  <a:lnTo>
                    <a:pt x="1284423" y="0"/>
                  </a:lnTo>
                  <a:lnTo>
                    <a:pt x="128442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821266" y="1448689"/>
              <a:ext cx="1284423" cy="0"/>
            </a:xfrm>
            <a:custGeom>
              <a:avLst/>
              <a:pathLst>
                <a:path w="1284423" h="0">
                  <a:moveTo>
                    <a:pt x="0" y="0"/>
                  </a:moveTo>
                  <a:lnTo>
                    <a:pt x="1284423" y="0"/>
                  </a:lnTo>
                  <a:lnTo>
                    <a:pt x="128442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937666" y="1214033"/>
              <a:ext cx="248857" cy="1891048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339049" y="2111246"/>
              <a:ext cx="248857" cy="993835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740431" y="1628132"/>
              <a:ext cx="248857" cy="1476950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986794" y="1126759"/>
              <a:ext cx="150601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137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413277" y="2023971"/>
              <a:ext cx="100401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72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789559" y="1540857"/>
              <a:ext cx="150601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107</a:t>
              </a:r>
            </a:p>
          </p:txBody>
        </p:sp>
        <p:sp>
          <p:nvSpPr>
            <p:cNvPr id="42" name="pl42"/>
            <p:cNvSpPr/>
            <p:nvPr/>
          </p:nvSpPr>
          <p:spPr>
            <a:xfrm>
              <a:off x="3821266" y="911466"/>
              <a:ext cx="0" cy="2193616"/>
            </a:xfrm>
            <a:custGeom>
              <a:avLst/>
              <a:pathLst>
                <a:path w="0" h="2193616">
                  <a:moveTo>
                    <a:pt x="0" y="2193616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3707819" y="3068689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651309" y="2516558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309" y="1964427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94799" y="1412296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120</a:t>
              </a:r>
            </a:p>
          </p:txBody>
        </p:sp>
        <p:sp>
          <p:nvSpPr>
            <p:cNvPr id="47" name="pl47"/>
            <p:cNvSpPr/>
            <p:nvPr/>
          </p:nvSpPr>
          <p:spPr>
            <a:xfrm>
              <a:off x="3789634" y="310508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3789634" y="255295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3789634" y="200082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789634" y="144868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247113" y="911466"/>
              <a:ext cx="0" cy="2193616"/>
            </a:xfrm>
            <a:custGeom>
              <a:avLst/>
              <a:pathLst>
                <a:path w="0" h="2193616">
                  <a:moveTo>
                    <a:pt x="0" y="2193616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tx52"/>
            <p:cNvSpPr/>
            <p:nvPr/>
          </p:nvSpPr>
          <p:spPr>
            <a:xfrm>
              <a:off x="2133666" y="3068689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077156" y="2634962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2020646" y="2201236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2020646" y="1767509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150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2020646" y="1333782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020646" y="900055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250</a:t>
              </a:r>
            </a:p>
          </p:txBody>
        </p:sp>
        <p:sp>
          <p:nvSpPr>
            <p:cNvPr id="58" name="pl58"/>
            <p:cNvSpPr/>
            <p:nvPr/>
          </p:nvSpPr>
          <p:spPr>
            <a:xfrm>
              <a:off x="2215481" y="310508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215481" y="267135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215481" y="223762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215481" y="180390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215481" y="137017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215481" y="93644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723570" y="756522"/>
              <a:ext cx="12288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Risk-set rows (000s)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2297723" y="756522"/>
              <a:ext cx="41660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Events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3871876" y="756522"/>
              <a:ext cx="48024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Species</a:t>
              </a:r>
            </a:p>
          </p:txBody>
        </p:sp>
        <p:sp>
          <p:nvSpPr>
            <p:cNvPr id="67" name="pl67"/>
            <p:cNvSpPr/>
            <p:nvPr/>
          </p:nvSpPr>
          <p:spPr>
            <a:xfrm>
              <a:off x="672960" y="3105082"/>
              <a:ext cx="1284423" cy="0"/>
            </a:xfrm>
            <a:custGeom>
              <a:avLst/>
              <a:pathLst>
                <a:path w="1284423" h="0">
                  <a:moveTo>
                    <a:pt x="0" y="0"/>
                  </a:moveTo>
                  <a:lnTo>
                    <a:pt x="1284423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13789" y="31050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315172" y="31050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716554" y="31050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tx71"/>
            <p:cNvSpPr/>
            <p:nvPr/>
          </p:nvSpPr>
          <p:spPr>
            <a:xfrm rot="-1080000">
              <a:off x="533794" y="3222204"/>
              <a:ext cx="401055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Resident</a:t>
              </a:r>
            </a:p>
          </p:txBody>
        </p:sp>
        <p:sp>
          <p:nvSpPr>
            <p:cNvPr id="72" name="tx72"/>
            <p:cNvSpPr/>
            <p:nvPr/>
          </p:nvSpPr>
          <p:spPr>
            <a:xfrm rot="-1080000">
              <a:off x="1045431" y="3204742"/>
              <a:ext cx="28803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Partial</a:t>
              </a:r>
            </a:p>
          </p:txBody>
        </p:sp>
        <p:sp>
          <p:nvSpPr>
            <p:cNvPr id="73" name="tx73"/>
            <p:cNvSpPr/>
            <p:nvPr/>
          </p:nvSpPr>
          <p:spPr>
            <a:xfrm rot="-1080000">
              <a:off x="1104990" y="3258881"/>
              <a:ext cx="63843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Long-distance</a:t>
              </a:r>
            </a:p>
          </p:txBody>
        </p:sp>
        <p:sp>
          <p:nvSpPr>
            <p:cNvPr id="74" name="pl74"/>
            <p:cNvSpPr/>
            <p:nvPr/>
          </p:nvSpPr>
          <p:spPr>
            <a:xfrm>
              <a:off x="2247113" y="3105082"/>
              <a:ext cx="1284423" cy="0"/>
            </a:xfrm>
            <a:custGeom>
              <a:avLst/>
              <a:pathLst>
                <a:path w="1284423" h="0">
                  <a:moveTo>
                    <a:pt x="0" y="0"/>
                  </a:moveTo>
                  <a:lnTo>
                    <a:pt x="1284423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2487942" y="31050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2889325" y="31050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290707" y="31050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tx78"/>
            <p:cNvSpPr/>
            <p:nvPr/>
          </p:nvSpPr>
          <p:spPr>
            <a:xfrm rot="-1080000">
              <a:off x="2107947" y="3222204"/>
              <a:ext cx="401055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Resident</a:t>
              </a:r>
            </a:p>
          </p:txBody>
        </p:sp>
        <p:sp>
          <p:nvSpPr>
            <p:cNvPr id="79" name="tx79"/>
            <p:cNvSpPr/>
            <p:nvPr/>
          </p:nvSpPr>
          <p:spPr>
            <a:xfrm rot="-1080000">
              <a:off x="2619583" y="3204742"/>
              <a:ext cx="28803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Partial</a:t>
              </a:r>
            </a:p>
          </p:txBody>
        </p:sp>
        <p:sp>
          <p:nvSpPr>
            <p:cNvPr id="80" name="tx80"/>
            <p:cNvSpPr/>
            <p:nvPr/>
          </p:nvSpPr>
          <p:spPr>
            <a:xfrm rot="-1080000">
              <a:off x="2679143" y="3258881"/>
              <a:ext cx="63843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Long-distance</a:t>
              </a:r>
            </a:p>
          </p:txBody>
        </p:sp>
        <p:sp>
          <p:nvSpPr>
            <p:cNvPr id="81" name="pl81"/>
            <p:cNvSpPr/>
            <p:nvPr/>
          </p:nvSpPr>
          <p:spPr>
            <a:xfrm>
              <a:off x="3821266" y="3105082"/>
              <a:ext cx="1284423" cy="0"/>
            </a:xfrm>
            <a:custGeom>
              <a:avLst/>
              <a:pathLst>
                <a:path w="1284423" h="0">
                  <a:moveTo>
                    <a:pt x="0" y="0"/>
                  </a:moveTo>
                  <a:lnTo>
                    <a:pt x="1284423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4062095" y="31050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4463477" y="31050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4864860" y="31050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tx85"/>
            <p:cNvSpPr/>
            <p:nvPr/>
          </p:nvSpPr>
          <p:spPr>
            <a:xfrm rot="-1080000">
              <a:off x="3682100" y="3222204"/>
              <a:ext cx="401055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Resident</a:t>
              </a:r>
            </a:p>
          </p:txBody>
        </p:sp>
        <p:sp>
          <p:nvSpPr>
            <p:cNvPr id="86" name="tx86"/>
            <p:cNvSpPr/>
            <p:nvPr/>
          </p:nvSpPr>
          <p:spPr>
            <a:xfrm rot="-1080000">
              <a:off x="4193736" y="3204742"/>
              <a:ext cx="28803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Partial</a:t>
              </a:r>
            </a:p>
          </p:txBody>
        </p:sp>
        <p:sp>
          <p:nvSpPr>
            <p:cNvPr id="87" name="tx87"/>
            <p:cNvSpPr/>
            <p:nvPr/>
          </p:nvSpPr>
          <p:spPr>
            <a:xfrm rot="-1080000">
              <a:off x="4253295" y="3258881"/>
              <a:ext cx="63843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Long-distance</a:t>
              </a:r>
            </a:p>
          </p:txBody>
        </p:sp>
        <p:sp>
          <p:nvSpPr>
            <p:cNvPr id="88" name="pl88"/>
            <p:cNvSpPr/>
            <p:nvPr/>
          </p:nvSpPr>
          <p:spPr>
            <a:xfrm>
              <a:off x="672960" y="911466"/>
              <a:ext cx="0" cy="2193616"/>
            </a:xfrm>
            <a:custGeom>
              <a:avLst/>
              <a:pathLst>
                <a:path w="0" h="2193616">
                  <a:moveTo>
                    <a:pt x="0" y="2193616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tx89"/>
            <p:cNvSpPr/>
            <p:nvPr/>
          </p:nvSpPr>
          <p:spPr>
            <a:xfrm>
              <a:off x="559514" y="3068689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503004" y="2498099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503004" y="1927509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503004" y="1356920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93" name="pl93"/>
            <p:cNvSpPr/>
            <p:nvPr/>
          </p:nvSpPr>
          <p:spPr>
            <a:xfrm>
              <a:off x="641329" y="310508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641329" y="253449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641329" y="196390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641329" y="139331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672960" y="521126"/>
              <a:ext cx="3516873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Every group carries at least 156 events, so none is a token category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672960" y="328384"/>
              <a:ext cx="233748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Power comes from all three groups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331546" y="318315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00" name="rc100"/>
            <p:cNvSpPr/>
            <p:nvPr/>
          </p:nvSpPr>
          <p:spPr>
            <a:xfrm>
              <a:off x="6003501" y="911466"/>
              <a:ext cx="2184733" cy="21936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6102807" y="911466"/>
              <a:ext cx="0" cy="2193616"/>
            </a:xfrm>
            <a:custGeom>
              <a:avLst/>
              <a:pathLst>
                <a:path w="0" h="2193616">
                  <a:moveTo>
                    <a:pt x="0" y="219361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6482426" y="2693779"/>
              <a:ext cx="1074657" cy="0"/>
            </a:xfrm>
            <a:custGeom>
              <a:avLst/>
              <a:pathLst>
                <a:path w="1074657" h="0">
                  <a:moveTo>
                    <a:pt x="0" y="0"/>
                  </a:moveTo>
                  <a:lnTo>
                    <a:pt x="1074657" y="0"/>
                  </a:lnTo>
                </a:path>
              </a:pathLst>
            </a:custGeom>
            <a:ln w="1626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6690909" y="2008274"/>
              <a:ext cx="1398018" cy="0"/>
            </a:xfrm>
            <a:custGeom>
              <a:avLst/>
              <a:pathLst>
                <a:path w="1398018" h="0">
                  <a:moveTo>
                    <a:pt x="0" y="0"/>
                  </a:moveTo>
                  <a:lnTo>
                    <a:pt x="1398018" y="0"/>
                  </a:lnTo>
                </a:path>
              </a:pathLst>
            </a:custGeom>
            <a:ln w="1626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6740018" y="1322769"/>
              <a:ext cx="1316752" cy="0"/>
            </a:xfrm>
            <a:custGeom>
              <a:avLst/>
              <a:pathLst>
                <a:path w="1316752" h="0">
                  <a:moveTo>
                    <a:pt x="0" y="0"/>
                  </a:moveTo>
                  <a:lnTo>
                    <a:pt x="1316752" y="0"/>
                  </a:lnTo>
                </a:path>
              </a:pathLst>
            </a:custGeom>
            <a:ln w="1626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943467" y="2661232"/>
              <a:ext cx="65094" cy="65094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7290604" y="1975727"/>
              <a:ext cx="65094" cy="65094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7306815" y="1290222"/>
              <a:ext cx="65094" cy="6509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891707" y="2569604"/>
              <a:ext cx="168615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1.36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7238843" y="1884098"/>
              <a:ext cx="168615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1.51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7255055" y="1198593"/>
              <a:ext cx="168615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1.51</a:t>
              </a:r>
            </a:p>
          </p:txBody>
        </p:sp>
        <p:sp>
          <p:nvSpPr>
            <p:cNvPr id="111" name="rc111"/>
            <p:cNvSpPr/>
            <p:nvPr/>
          </p:nvSpPr>
          <p:spPr>
            <a:xfrm>
              <a:off x="8251497" y="911466"/>
              <a:ext cx="2184733" cy="21936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350803" y="911466"/>
              <a:ext cx="0" cy="2193616"/>
            </a:xfrm>
            <a:custGeom>
              <a:avLst/>
              <a:pathLst>
                <a:path w="0" h="2193616">
                  <a:moveTo>
                    <a:pt x="0" y="219361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615703" y="2693779"/>
              <a:ext cx="953244" cy="0"/>
            </a:xfrm>
            <a:custGeom>
              <a:avLst/>
              <a:pathLst>
                <a:path w="953244" h="0">
                  <a:moveTo>
                    <a:pt x="0" y="0"/>
                  </a:moveTo>
                  <a:lnTo>
                    <a:pt x="953244" y="0"/>
                  </a:lnTo>
                </a:path>
              </a:pathLst>
            </a:custGeom>
            <a:ln w="1626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423218" y="2008274"/>
              <a:ext cx="1289912" cy="0"/>
            </a:xfrm>
            <a:custGeom>
              <a:avLst/>
              <a:pathLst>
                <a:path w="1289912" h="0">
                  <a:moveTo>
                    <a:pt x="0" y="0"/>
                  </a:moveTo>
                  <a:lnTo>
                    <a:pt x="1289912" y="0"/>
                  </a:lnTo>
                </a:path>
              </a:pathLst>
            </a:custGeom>
            <a:ln w="1626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664197" y="1322769"/>
              <a:ext cx="1124269" cy="0"/>
            </a:xfrm>
            <a:custGeom>
              <a:avLst/>
              <a:pathLst>
                <a:path w="1124269" h="0">
                  <a:moveTo>
                    <a:pt x="0" y="0"/>
                  </a:moveTo>
                  <a:lnTo>
                    <a:pt x="1124269" y="0"/>
                  </a:lnTo>
                </a:path>
              </a:pathLst>
            </a:custGeom>
            <a:ln w="1626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9023474" y="2661232"/>
              <a:ext cx="65094" cy="65094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8968297" y="1975727"/>
              <a:ext cx="65094" cy="65094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9145269" y="1290222"/>
              <a:ext cx="65094" cy="6509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8971714" y="2569604"/>
              <a:ext cx="168615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1.29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8916537" y="1884098"/>
              <a:ext cx="168615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1.27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9093508" y="1198593"/>
              <a:ext cx="168615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1.34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6054111" y="756522"/>
              <a:ext cx="135514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Accumulated warming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02107" y="756522"/>
              <a:ext cx="78373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Survey effort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6003501" y="3105082"/>
              <a:ext cx="2184733" cy="0"/>
            </a:xfrm>
            <a:custGeom>
              <a:avLst/>
              <a:pathLst>
                <a:path w="2184733" h="0">
                  <a:moveTo>
                    <a:pt x="0" y="0"/>
                  </a:moveTo>
                  <a:lnTo>
                    <a:pt x="2184733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6102807" y="31050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6583873" y="31050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7064940" y="31050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7546007" y="31050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8027073" y="31050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tx130"/>
            <p:cNvSpPr/>
            <p:nvPr/>
          </p:nvSpPr>
          <p:spPr>
            <a:xfrm>
              <a:off x="6032169" y="3162019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6513236" y="3162019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1.2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6994303" y="3162019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1.4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7475369" y="3162019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1.6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7956436" y="3162019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1.8</a:t>
              </a:r>
            </a:p>
          </p:txBody>
        </p:sp>
        <p:sp>
          <p:nvSpPr>
            <p:cNvPr id="135" name="pl135"/>
            <p:cNvSpPr/>
            <p:nvPr/>
          </p:nvSpPr>
          <p:spPr>
            <a:xfrm>
              <a:off x="8251497" y="3105082"/>
              <a:ext cx="2184733" cy="0"/>
            </a:xfrm>
            <a:custGeom>
              <a:avLst/>
              <a:pathLst>
                <a:path w="2184733" h="0">
                  <a:moveTo>
                    <a:pt x="0" y="0"/>
                  </a:moveTo>
                  <a:lnTo>
                    <a:pt x="2184733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8350803" y="31050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8831869" y="31050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9312936" y="31050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9794003" y="31050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10275069" y="310508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8280165" y="3162019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8761232" y="3162019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1.2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9242299" y="3162019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1.4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9723365" y="3162019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1.6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10204432" y="3162019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1.8</a:t>
              </a:r>
            </a:p>
          </p:txBody>
        </p:sp>
        <p:sp>
          <p:nvSpPr>
            <p:cNvPr id="146" name="pl146"/>
            <p:cNvSpPr/>
            <p:nvPr/>
          </p:nvSpPr>
          <p:spPr>
            <a:xfrm>
              <a:off x="6003501" y="911466"/>
              <a:ext cx="0" cy="2193616"/>
            </a:xfrm>
            <a:custGeom>
              <a:avLst/>
              <a:pathLst>
                <a:path w="0" h="2193616">
                  <a:moveTo>
                    <a:pt x="0" y="2193616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tx147"/>
            <p:cNvSpPr/>
            <p:nvPr/>
          </p:nvSpPr>
          <p:spPr>
            <a:xfrm>
              <a:off x="5545508" y="2657386"/>
              <a:ext cx="401055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Resident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5658528" y="1971881"/>
              <a:ext cx="28803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Partial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5308130" y="1286376"/>
              <a:ext cx="63843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Long-distance</a:t>
              </a:r>
            </a:p>
          </p:txBody>
        </p:sp>
        <p:sp>
          <p:nvSpPr>
            <p:cNvPr id="150" name="pl150"/>
            <p:cNvSpPr/>
            <p:nvPr/>
          </p:nvSpPr>
          <p:spPr>
            <a:xfrm>
              <a:off x="5971869" y="269377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5971869" y="200827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5971869" y="132276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tx153"/>
            <p:cNvSpPr/>
            <p:nvPr/>
          </p:nvSpPr>
          <p:spPr>
            <a:xfrm>
              <a:off x="7337149" y="3480511"/>
              <a:ext cx="176543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Hazard ratio per 1 SD (95% CI)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6003501" y="521126"/>
              <a:ext cx="3840571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Confidence intervals overlap heavily; no group is exempt from either driver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6003501" y="328384"/>
              <a:ext cx="274905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Both drivers act in every migratory group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5283341" y="318315"/>
              <a:ext cx="100858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57" name="rc157"/>
            <p:cNvSpPr/>
            <p:nvPr/>
          </p:nvSpPr>
          <p:spPr>
            <a:xfrm>
              <a:off x="252469" y="3674109"/>
              <a:ext cx="4954441" cy="33886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5206910" y="3674109"/>
              <a:ext cx="5330540" cy="33886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72960" y="4492764"/>
              <a:ext cx="4432729" cy="21936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672960" y="6686381"/>
              <a:ext cx="4432729" cy="0"/>
            </a:xfrm>
            <a:custGeom>
              <a:avLst/>
              <a:pathLst>
                <a:path w="4432729" h="0">
                  <a:moveTo>
                    <a:pt x="0" y="0"/>
                  </a:moveTo>
                  <a:lnTo>
                    <a:pt x="4432729" y="0"/>
                  </a:lnTo>
                  <a:lnTo>
                    <a:pt x="44327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672960" y="6140624"/>
              <a:ext cx="4432729" cy="0"/>
            </a:xfrm>
            <a:custGeom>
              <a:avLst/>
              <a:pathLst>
                <a:path w="4432729" h="0">
                  <a:moveTo>
                    <a:pt x="0" y="0"/>
                  </a:moveTo>
                  <a:lnTo>
                    <a:pt x="4432729" y="0"/>
                  </a:lnTo>
                  <a:lnTo>
                    <a:pt x="44327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672960" y="5594866"/>
              <a:ext cx="4432729" cy="0"/>
            </a:xfrm>
            <a:custGeom>
              <a:avLst/>
              <a:pathLst>
                <a:path w="4432729" h="0">
                  <a:moveTo>
                    <a:pt x="0" y="0"/>
                  </a:moveTo>
                  <a:lnTo>
                    <a:pt x="4432729" y="0"/>
                  </a:lnTo>
                  <a:lnTo>
                    <a:pt x="44327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672960" y="5049109"/>
              <a:ext cx="4432729" cy="0"/>
            </a:xfrm>
            <a:custGeom>
              <a:avLst/>
              <a:pathLst>
                <a:path w="4432729" h="0">
                  <a:moveTo>
                    <a:pt x="0" y="0"/>
                  </a:moveTo>
                  <a:lnTo>
                    <a:pt x="4432729" y="0"/>
                  </a:lnTo>
                  <a:lnTo>
                    <a:pt x="44327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672960" y="4503352"/>
              <a:ext cx="4432729" cy="0"/>
            </a:xfrm>
            <a:custGeom>
              <a:avLst/>
              <a:pathLst>
                <a:path w="4432729" h="0">
                  <a:moveTo>
                    <a:pt x="0" y="0"/>
                  </a:moveTo>
                  <a:lnTo>
                    <a:pt x="4432729" y="0"/>
                  </a:lnTo>
                  <a:lnTo>
                    <a:pt x="44327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880297" y="4994533"/>
              <a:ext cx="443272" cy="1691847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1595254" y="6686381"/>
              <a:ext cx="443272" cy="0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2310210" y="5794068"/>
              <a:ext cx="443272" cy="892313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3025166" y="5682188"/>
              <a:ext cx="443272" cy="1004193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3740123" y="4795332"/>
              <a:ext cx="443272" cy="1891048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4455079" y="5529375"/>
              <a:ext cx="443272" cy="115700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tx171"/>
            <p:cNvSpPr/>
            <p:nvPr/>
          </p:nvSpPr>
          <p:spPr>
            <a:xfrm>
              <a:off x="1036691" y="4900442"/>
              <a:ext cx="13048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6.2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1751648" y="6592289"/>
              <a:ext cx="13048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2466604" y="5699976"/>
              <a:ext cx="13048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3.3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3181560" y="5588096"/>
              <a:ext cx="13048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3.7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3896517" y="4701240"/>
              <a:ext cx="13048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6.9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4611473" y="5435284"/>
              <a:ext cx="13048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4.2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2376993" y="6492936"/>
              <a:ext cx="309707" cy="594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54" i="0" b="0">
                  <a:solidFill>
                    <a:srgbClr val="D55E00">
                      <a:alpha val="100000"/>
                    </a:srgbClr>
                  </a:solidFill>
                  <a:latin typeface="Arial"/>
                  <a:cs typeface="Arial"/>
                </a:rPr>
                <a:t>P = 0.69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3091949" y="6492936"/>
              <a:ext cx="309707" cy="594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54" i="0" b="0">
                  <a:solidFill>
                    <a:srgbClr val="D55E00">
                      <a:alpha val="100000"/>
                    </a:srgbClr>
                  </a:solidFill>
                  <a:latin typeface="Arial"/>
                  <a:cs typeface="Arial"/>
                </a:rPr>
                <a:t>P = 0.85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3806905" y="6492936"/>
              <a:ext cx="309707" cy="594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54" i="0" b="0">
                  <a:solidFill>
                    <a:srgbClr val="D55E00">
                      <a:alpha val="100000"/>
                    </a:srgbClr>
                  </a:solidFill>
                  <a:latin typeface="Arial"/>
                  <a:cs typeface="Arial"/>
                </a:rPr>
                <a:t>P = 0.90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4521862" y="6492936"/>
              <a:ext cx="309707" cy="594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54" i="0" b="0">
                  <a:solidFill>
                    <a:srgbClr val="D55E00">
                      <a:alpha val="100000"/>
                    </a:srgbClr>
                  </a:solidFill>
                  <a:latin typeface="Arial"/>
                  <a:cs typeface="Arial"/>
                </a:rPr>
                <a:t>P = 0.26</a:t>
              </a:r>
            </a:p>
          </p:txBody>
        </p:sp>
        <p:sp>
          <p:nvSpPr>
            <p:cNvPr id="181" name="pl181"/>
            <p:cNvSpPr/>
            <p:nvPr/>
          </p:nvSpPr>
          <p:spPr>
            <a:xfrm>
              <a:off x="672960" y="4492764"/>
              <a:ext cx="0" cy="2193616"/>
            </a:xfrm>
            <a:custGeom>
              <a:avLst/>
              <a:pathLst>
                <a:path w="0" h="2193616">
                  <a:moveTo>
                    <a:pt x="0" y="2193616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tx182"/>
            <p:cNvSpPr/>
            <p:nvPr/>
          </p:nvSpPr>
          <p:spPr>
            <a:xfrm>
              <a:off x="559514" y="6649988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559514" y="6104230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559514" y="5558473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559514" y="5012716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559514" y="4466959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187" name="pl187"/>
            <p:cNvSpPr/>
            <p:nvPr/>
          </p:nvSpPr>
          <p:spPr>
            <a:xfrm>
              <a:off x="641329" y="668638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641329" y="614062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641329" y="559486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641329" y="504910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641329" y="450335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672960" y="6686381"/>
              <a:ext cx="4432729" cy="0"/>
            </a:xfrm>
            <a:custGeom>
              <a:avLst/>
              <a:pathLst>
                <a:path w="4432729" h="0">
                  <a:moveTo>
                    <a:pt x="0" y="0"/>
                  </a:moveTo>
                  <a:lnTo>
                    <a:pt x="4432729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1101934" y="668638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1816890" y="668638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2531846" y="668638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3246803" y="668638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3961759" y="668638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4676715" y="668638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tx199"/>
            <p:cNvSpPr/>
            <p:nvPr/>
          </p:nvSpPr>
          <p:spPr>
            <a:xfrm>
              <a:off x="1031388" y="6743317"/>
              <a:ext cx="14109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M0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1746344" y="6743317"/>
              <a:ext cx="14109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M1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2461300" y="6743317"/>
              <a:ext cx="14109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M2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3176257" y="6743317"/>
              <a:ext cx="14109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M3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3891213" y="6743317"/>
              <a:ext cx="14109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M4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4606170" y="6743317"/>
              <a:ext cx="14109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M5</a:t>
              </a:r>
            </a:p>
          </p:txBody>
        </p:sp>
        <p:sp>
          <p:nvSpPr>
            <p:cNvPr id="205" name="tx205"/>
            <p:cNvSpPr/>
            <p:nvPr/>
          </p:nvSpPr>
          <p:spPr>
            <a:xfrm rot="-5400000">
              <a:off x="130895" y="5544081"/>
              <a:ext cx="53656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Delta AIC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672960" y="3942766"/>
              <a:ext cx="4980736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M0 main model | M1 + migratory main effect | M2 + warming x migratory | M3 + effort x migratory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672960" y="4068954"/>
              <a:ext cx="4694621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M4 + both | M5 + three-way warming x effort x migratory. Red: likelihood-ratio P against M1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672960" y="3750025"/>
              <a:ext cx="350224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Migratory strategy shifts the baseline, not the slopes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331546" y="3739460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210" name="rc210"/>
            <p:cNvSpPr/>
            <p:nvPr/>
          </p:nvSpPr>
          <p:spPr>
            <a:xfrm>
              <a:off x="6003501" y="4492764"/>
              <a:ext cx="4432729" cy="21936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8469307" y="4492764"/>
              <a:ext cx="0" cy="2193616"/>
            </a:xfrm>
            <a:custGeom>
              <a:avLst/>
              <a:pathLst>
                <a:path w="0" h="2193616">
                  <a:moveTo>
                    <a:pt x="0" y="219361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7121236" y="6275078"/>
              <a:ext cx="2200799" cy="0"/>
            </a:xfrm>
            <a:custGeom>
              <a:avLst/>
              <a:pathLst>
                <a:path w="2200799" h="0">
                  <a:moveTo>
                    <a:pt x="0" y="0"/>
                  </a:moveTo>
                  <a:lnTo>
                    <a:pt x="2200799" y="0"/>
                  </a:lnTo>
                </a:path>
              </a:pathLst>
            </a:custGeom>
            <a:ln w="1626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609979" y="5589573"/>
              <a:ext cx="2624763" cy="0"/>
            </a:xfrm>
            <a:custGeom>
              <a:avLst/>
              <a:pathLst>
                <a:path w="2624763" h="0">
                  <a:moveTo>
                    <a:pt x="0" y="0"/>
                  </a:moveTo>
                  <a:lnTo>
                    <a:pt x="2624763" y="0"/>
                  </a:lnTo>
                </a:path>
              </a:pathLst>
            </a:custGeom>
            <a:ln w="1626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6204988" y="4904067"/>
              <a:ext cx="1674003" cy="0"/>
            </a:xfrm>
            <a:custGeom>
              <a:avLst/>
              <a:pathLst>
                <a:path w="1674003" h="0">
                  <a:moveTo>
                    <a:pt x="0" y="0"/>
                  </a:moveTo>
                  <a:lnTo>
                    <a:pt x="1674003" y="0"/>
                  </a:lnTo>
                </a:path>
              </a:pathLst>
            </a:custGeom>
            <a:ln w="1626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8081746" y="6239820"/>
              <a:ext cx="70514" cy="70514"/>
            </a:xfrm>
            <a:prstGeom prst="ellipse">
              <a:avLst/>
            </a:prstGeom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8754059" y="5554315"/>
              <a:ext cx="70514" cy="70514"/>
            </a:xfrm>
            <a:prstGeom prst="ellipse">
              <a:avLst/>
            </a:prstGeom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6930931" y="4868810"/>
              <a:ext cx="70514" cy="7051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tx218"/>
            <p:cNvSpPr/>
            <p:nvPr/>
          </p:nvSpPr>
          <p:spPr>
            <a:xfrm>
              <a:off x="7805879" y="6150902"/>
              <a:ext cx="622249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0.94 (P = 0.540)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8478192" y="5465397"/>
              <a:ext cx="622249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1.05 (P = 0.622)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6655064" y="4779892"/>
              <a:ext cx="622249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0.75 (P = 0.002)</a:t>
              </a:r>
            </a:p>
          </p:txBody>
        </p:sp>
        <p:sp>
          <p:nvSpPr>
            <p:cNvPr id="221" name="pl221"/>
            <p:cNvSpPr/>
            <p:nvPr/>
          </p:nvSpPr>
          <p:spPr>
            <a:xfrm>
              <a:off x="6003501" y="4492764"/>
              <a:ext cx="0" cy="2193616"/>
            </a:xfrm>
            <a:custGeom>
              <a:avLst/>
              <a:pathLst>
                <a:path w="0" h="2193616">
                  <a:moveTo>
                    <a:pt x="0" y="2193616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tx222"/>
            <p:cNvSpPr/>
            <p:nvPr/>
          </p:nvSpPr>
          <p:spPr>
            <a:xfrm>
              <a:off x="5545508" y="6238685"/>
              <a:ext cx="401055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Resident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5658528" y="5553179"/>
              <a:ext cx="28803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Partial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5308130" y="4867674"/>
              <a:ext cx="63843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Long-distance</a:t>
              </a:r>
            </a:p>
          </p:txBody>
        </p:sp>
        <p:sp>
          <p:nvSpPr>
            <p:cNvPr id="225" name="pl225"/>
            <p:cNvSpPr/>
            <p:nvPr/>
          </p:nvSpPr>
          <p:spPr>
            <a:xfrm>
              <a:off x="5971869" y="627507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5971869" y="558957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5971869" y="490406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6003501" y="6686381"/>
              <a:ext cx="4432729" cy="0"/>
            </a:xfrm>
            <a:custGeom>
              <a:avLst/>
              <a:pathLst>
                <a:path w="4432729" h="0">
                  <a:moveTo>
                    <a:pt x="0" y="0"/>
                  </a:moveTo>
                  <a:lnTo>
                    <a:pt x="4432729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6034777" y="668638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7252042" y="668638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8469307" y="668638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9686572" y="668638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tx233"/>
            <p:cNvSpPr/>
            <p:nvPr/>
          </p:nvSpPr>
          <p:spPr>
            <a:xfrm>
              <a:off x="5964140" y="674331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0.6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7181405" y="674331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0.8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8398670" y="674331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9615935" y="674331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1.2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7135844" y="6869132"/>
              <a:ext cx="216804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Warming x effort hazard ratio (95% CI)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6003501" y="3942766"/>
              <a:ext cx="3347526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The interaction is significant only among long-distance migrants, 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6003501" y="4068954"/>
              <a:ext cx="3453140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but the formal test for heterogeneity is not (three-way LR P = 0.26; 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6003501" y="4195141"/>
              <a:ext cx="3680094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long-distance vs resident contrast P = 0.078). With 156-218 events per 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6003501" y="4321328"/>
              <a:ext cx="3482583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group the design cannot resolve group differences in an interaction.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6003501" y="3750025"/>
              <a:ext cx="1221455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 hint, not a result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5283341" y="3739460"/>
              <a:ext cx="100858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2026-09-22T13:14:54Z</dcterms:modified>
  <cp:category/>
</cp:coreProperties>
</file>