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08cc8a641b954a097df24a9100e1588bc648085.png"/>
<Relationship Id="rId3" Type="http://schemas.openxmlformats.org/officeDocument/2006/relationships/image" Target="../media/61044606ffbfc10e7a0119a026dc55a23228ee1d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8229600" cy="6035040"/>
            <a:chOff x="182880" y="182880"/>
            <a:chExt cx="8229600" cy="603504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8229600" cy="60350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8229600" cy="60350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3118364"/>
              <a:ext cx="8090421" cy="30299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52469" y="252469"/>
              <a:ext cx="3562499" cy="28658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14968" y="252469"/>
              <a:ext cx="4527922" cy="286589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09973" y="806953"/>
              <a:ext cx="1714756" cy="19350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675626" y="2235212"/>
              <a:ext cx="408275" cy="460728"/>
            </a:xfrm>
            <a:prstGeom prst="rect">
              <a:avLst/>
            </a:prstGeom>
            <a:solidFill>
              <a:srgbClr val="D55E00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67351" y="2235212"/>
              <a:ext cx="408275" cy="460728"/>
            </a:xfrm>
            <a:prstGeom prst="rect">
              <a:avLst/>
            </a:prstGeom>
            <a:solidFill>
              <a:srgbClr val="DC6C2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267351" y="1774484"/>
              <a:ext cx="408275" cy="460728"/>
            </a:xfrm>
            <a:prstGeom prst="rect">
              <a:avLst/>
            </a:prstGeom>
            <a:solidFill>
              <a:srgbClr val="E9884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675626" y="1774484"/>
              <a:ext cx="408275" cy="460728"/>
            </a:xfrm>
            <a:prstGeom prst="rect">
              <a:avLst/>
            </a:prstGeom>
            <a:solidFill>
              <a:srgbClr val="E9894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859076" y="2235212"/>
              <a:ext cx="408275" cy="460728"/>
            </a:xfrm>
            <a:prstGeom prst="rect">
              <a:avLst/>
            </a:prstGeom>
            <a:solidFill>
              <a:srgbClr val="F4A67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859076" y="1774484"/>
              <a:ext cx="408275" cy="460728"/>
            </a:xfrm>
            <a:prstGeom prst="rect">
              <a:avLst/>
            </a:prstGeom>
            <a:solidFill>
              <a:srgbClr val="F09C6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450801" y="2235212"/>
              <a:ext cx="408275" cy="460728"/>
            </a:xfrm>
            <a:prstGeom prst="rect">
              <a:avLst/>
            </a:prstGeom>
            <a:solidFill>
              <a:srgbClr val="F9BA9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450801" y="1774484"/>
              <a:ext cx="408275" cy="460728"/>
            </a:xfrm>
            <a:prstGeom prst="rect">
              <a:avLst/>
            </a:prstGeom>
            <a:solidFill>
              <a:srgbClr val="FBC09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267351" y="1313755"/>
              <a:ext cx="408275" cy="460728"/>
            </a:xfrm>
            <a:prstGeom prst="rect">
              <a:avLst/>
            </a:prstGeom>
            <a:solidFill>
              <a:srgbClr val="FFDFC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859076" y="1313755"/>
              <a:ext cx="408275" cy="460728"/>
            </a:xfrm>
            <a:prstGeom prst="rect">
              <a:avLst/>
            </a:prstGeom>
            <a:solidFill>
              <a:srgbClr val="FBFD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675626" y="1313755"/>
              <a:ext cx="408275" cy="460728"/>
            </a:xfrm>
            <a:prstGeom prst="rect">
              <a:avLst/>
            </a:prstGeom>
            <a:solidFill>
              <a:srgbClr val="FFF0E9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450801" y="1313755"/>
              <a:ext cx="408275" cy="460728"/>
            </a:xfrm>
            <a:prstGeom prst="rect">
              <a:avLst/>
            </a:prstGeom>
            <a:solidFill>
              <a:srgbClr val="FFF5E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859076" y="853026"/>
              <a:ext cx="408275" cy="460728"/>
            </a:xfrm>
            <a:prstGeom prst="rect">
              <a:avLst/>
            </a:prstGeom>
            <a:solidFill>
              <a:srgbClr val="F0F7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2675626" y="853026"/>
              <a:ext cx="408275" cy="460728"/>
            </a:xfrm>
            <a:prstGeom prst="rect">
              <a:avLst/>
            </a:prstGeom>
            <a:solidFill>
              <a:srgbClr val="FFFCF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267351" y="853026"/>
              <a:ext cx="408275" cy="460728"/>
            </a:xfrm>
            <a:prstGeom prst="rect">
              <a:avLst/>
            </a:prstGeom>
            <a:solidFill>
              <a:srgbClr val="FFF2E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450801" y="853026"/>
              <a:ext cx="408275" cy="460728"/>
            </a:xfrm>
            <a:prstGeom prst="rect">
              <a:avLst/>
            </a:prstGeom>
            <a:solidFill>
              <a:srgbClr val="F9FC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2719836" y="2428772"/>
              <a:ext cx="319857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1.40***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311560" y="2428772"/>
              <a:ext cx="319857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1.36***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311560" y="1968043"/>
              <a:ext cx="319857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1.30***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719836" y="1968043"/>
              <a:ext cx="319857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1.29***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903285" y="2428772"/>
              <a:ext cx="319857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1.22***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903285" y="1968043"/>
              <a:ext cx="319857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1.25***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514989" y="2428772"/>
              <a:ext cx="279897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1.17**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514989" y="1968043"/>
              <a:ext cx="279897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1.16**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2371499" y="1507315"/>
              <a:ext cx="19997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1.08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963224" y="1507315"/>
              <a:ext cx="19997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0.99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779774" y="1507315"/>
              <a:ext cx="19997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554949" y="1507315"/>
              <a:ext cx="19997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1.03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1963224" y="1046586"/>
              <a:ext cx="19997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0.96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779774" y="1046586"/>
              <a:ext cx="19997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371499" y="1046586"/>
              <a:ext cx="19997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54949" y="1046586"/>
              <a:ext cx="19997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0.98</a:t>
              </a:r>
            </a:p>
          </p:txBody>
        </p:sp>
        <p:sp>
          <p:nvSpPr>
            <p:cNvPr id="41" name="pl41"/>
            <p:cNvSpPr/>
            <p:nvPr/>
          </p:nvSpPr>
          <p:spPr>
            <a:xfrm>
              <a:off x="1409973" y="806953"/>
              <a:ext cx="0" cy="1935060"/>
            </a:xfrm>
            <a:custGeom>
              <a:avLst/>
              <a:pathLst>
                <a:path w="0" h="1935060">
                  <a:moveTo>
                    <a:pt x="0" y="1935060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65774" y="2429184"/>
              <a:ext cx="68726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Annual mean 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53689" y="1968455"/>
              <a:ext cx="99934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Warmest-month Tmax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40100" y="1507726"/>
              <a:ext cx="91293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Coldest-month Tmin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88542" y="1046997"/>
              <a:ext cx="6644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Winter mean T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1378342" y="246557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378342" y="200484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378342" y="154411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378342" y="108339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409973" y="2742014"/>
              <a:ext cx="1714756" cy="0"/>
            </a:xfrm>
            <a:custGeom>
              <a:avLst/>
              <a:pathLst>
                <a:path w="1714756" h="0">
                  <a:moveTo>
                    <a:pt x="0" y="0"/>
                  </a:moveTo>
                  <a:lnTo>
                    <a:pt x="1714756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654938" y="274201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063214" y="274201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471489" y="274201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79764" y="274201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1626683" y="2798950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2006704" y="2798950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414979" y="2798950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2823254" y="2798950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441054" y="2924765"/>
              <a:ext cx="165259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Accumulation window (years)</a:t>
              </a:r>
            </a:p>
          </p:txBody>
        </p:sp>
        <p:sp>
          <p:nvSpPr>
            <p:cNvPr id="60" name="rc60"/>
            <p:cNvSpPr/>
            <p:nvPr/>
          </p:nvSpPr>
          <p:spPr>
            <a:xfrm>
              <a:off x="3251255" y="1342009"/>
              <a:ext cx="462492" cy="8649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3314518" y="1417250"/>
              <a:ext cx="16514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HR</a:t>
              </a:r>
            </a:p>
          </p:txBody>
        </p:sp>
        <p:pic>
          <p:nvPicPr>
            <p:cNvPr id="62" name="pic6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4518" y="1574331"/>
              <a:ext cx="113872" cy="569364"/>
            </a:xfrm>
            <a:prstGeom prst="rect">
              <a:avLst/>
            </a:prstGeom>
          </p:spPr>
        </p:pic>
        <p:sp>
          <p:nvSpPr>
            <p:cNvPr id="63" name="pl63"/>
            <p:cNvSpPr/>
            <p:nvPr/>
          </p:nvSpPr>
          <p:spPr>
            <a:xfrm>
              <a:off x="3405616" y="2090071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405616" y="1961375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405616" y="1832680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05616" y="1703984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405616" y="1575288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314518" y="2090071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314518" y="1961375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314518" y="1832680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314518" y="1703984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314518" y="1575288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3491653" y="2049152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491653" y="1920456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1.1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491653" y="1791760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491653" y="1663065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1.3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491653" y="1534369"/>
              <a:ext cx="1588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1409973" y="509330"/>
              <a:ext cx="2004456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Hazard ratio for accumulated warming;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409973" y="635517"/>
              <a:ext cx="1716786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* P&lt;0.05, ** P&lt;0.01, *** P&lt;0.001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1409973" y="328384"/>
              <a:ext cx="216648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Signal is confined to annual mean T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24586" y="309979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4972472" y="806953"/>
              <a:ext cx="1714756" cy="19350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6238126" y="2235212"/>
              <a:ext cx="408275" cy="460728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5829850" y="2235212"/>
              <a:ext cx="408275" cy="460728"/>
            </a:xfrm>
            <a:prstGeom prst="rect">
              <a:avLst/>
            </a:prstGeom>
            <a:solidFill>
              <a:srgbClr val="29A47B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5829850" y="1774484"/>
              <a:ext cx="408275" cy="460728"/>
            </a:xfrm>
            <a:prstGeom prst="rect">
              <a:avLst/>
            </a:prstGeom>
            <a:solidFill>
              <a:srgbClr val="6BBB9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6238126" y="1774484"/>
              <a:ext cx="408275" cy="460728"/>
            </a:xfrm>
            <a:prstGeom prst="rect">
              <a:avLst/>
            </a:prstGeom>
            <a:solidFill>
              <a:srgbClr val="72BE9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5421575" y="2235212"/>
              <a:ext cx="408275" cy="460728"/>
            </a:xfrm>
            <a:prstGeom prst="rect">
              <a:avLst/>
            </a:prstGeom>
            <a:solidFill>
              <a:srgbClr val="8DCAA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5421575" y="1774484"/>
              <a:ext cx="408275" cy="460728"/>
            </a:xfrm>
            <a:prstGeom prst="rect">
              <a:avLst/>
            </a:prstGeom>
            <a:solidFill>
              <a:srgbClr val="91CCB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5013300" y="2235212"/>
              <a:ext cx="408275" cy="460728"/>
            </a:xfrm>
            <a:prstGeom prst="rect">
              <a:avLst/>
            </a:prstGeom>
            <a:solidFill>
              <a:srgbClr val="BEE1D1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5013300" y="1774484"/>
              <a:ext cx="408275" cy="460728"/>
            </a:xfrm>
            <a:prstGeom prst="rect">
              <a:avLst/>
            </a:prstGeom>
            <a:solidFill>
              <a:srgbClr val="C3E3D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5829850" y="1313755"/>
              <a:ext cx="408275" cy="460728"/>
            </a:xfrm>
            <a:prstGeom prst="rect">
              <a:avLst/>
            </a:prstGeom>
            <a:solidFill>
              <a:srgbClr val="EDF7F2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5421575" y="1313755"/>
              <a:ext cx="408275" cy="460728"/>
            </a:xfrm>
            <a:prstGeom prst="rect">
              <a:avLst/>
            </a:prstGeom>
            <a:solidFill>
              <a:srgbClr val="F0F8F4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6238126" y="1313755"/>
              <a:ext cx="408275" cy="460728"/>
            </a:xfrm>
            <a:prstGeom prst="rect">
              <a:avLst/>
            </a:prstGeom>
            <a:solidFill>
              <a:srgbClr val="F2F9F6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5013300" y="1313755"/>
              <a:ext cx="408275" cy="460728"/>
            </a:xfrm>
            <a:prstGeom prst="rect">
              <a:avLst/>
            </a:prstGeom>
            <a:solidFill>
              <a:srgbClr val="F6FBF8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5421575" y="853026"/>
              <a:ext cx="408275" cy="460728"/>
            </a:xfrm>
            <a:prstGeom prst="rect">
              <a:avLst/>
            </a:prstGeom>
            <a:solidFill>
              <a:srgbClr val="F8FCFA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6238126" y="853026"/>
              <a:ext cx="408275" cy="460728"/>
            </a:xfrm>
            <a:prstGeom prst="rect">
              <a:avLst/>
            </a:prstGeom>
            <a:solidFill>
              <a:srgbClr val="FCFEFD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5829850" y="853026"/>
              <a:ext cx="408275" cy="460728"/>
            </a:xfrm>
            <a:prstGeom prst="rect">
              <a:avLst/>
            </a:prstGeom>
            <a:solidFill>
              <a:srgbClr val="FEFFFE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013300" y="853026"/>
              <a:ext cx="408275" cy="4607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897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tx99"/>
            <p:cNvSpPr/>
            <p:nvPr/>
          </p:nvSpPr>
          <p:spPr>
            <a:xfrm>
              <a:off x="6413688" y="2428772"/>
              <a:ext cx="5715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6005413" y="2428772"/>
              <a:ext cx="5715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976838" y="1968043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6388908" y="1968043"/>
              <a:ext cx="10671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568563" y="2428772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568563" y="1968043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5160288" y="2428772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24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160288" y="1968043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5976838" y="1507315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32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5568563" y="1507315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33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6385113" y="1507315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33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5160288" y="1507315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34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5568563" y="1046586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34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385113" y="1046586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5976838" y="1046586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5160288" y="1046586"/>
              <a:ext cx="114300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115" name="pl115"/>
            <p:cNvSpPr/>
            <p:nvPr/>
          </p:nvSpPr>
          <p:spPr>
            <a:xfrm>
              <a:off x="4972472" y="806953"/>
              <a:ext cx="0" cy="1935060"/>
            </a:xfrm>
            <a:custGeom>
              <a:avLst/>
              <a:pathLst>
                <a:path w="0" h="1935060">
                  <a:moveTo>
                    <a:pt x="0" y="1935060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tx116"/>
            <p:cNvSpPr/>
            <p:nvPr/>
          </p:nvSpPr>
          <p:spPr>
            <a:xfrm>
              <a:off x="4228273" y="2429184"/>
              <a:ext cx="68726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Annual mean T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916188" y="1968455"/>
              <a:ext cx="99934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Warmest-month Tmax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4002599" y="1507726"/>
              <a:ext cx="91293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Coldest-month Tmin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4251041" y="1046997"/>
              <a:ext cx="66449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Winter mean T</a:t>
              </a:r>
            </a:p>
          </p:txBody>
        </p:sp>
        <p:sp>
          <p:nvSpPr>
            <p:cNvPr id="120" name="pl120"/>
            <p:cNvSpPr/>
            <p:nvPr/>
          </p:nvSpPr>
          <p:spPr>
            <a:xfrm>
              <a:off x="4940841" y="246557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4940841" y="200484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4940841" y="154411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940841" y="108339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972472" y="2742014"/>
              <a:ext cx="1714756" cy="0"/>
            </a:xfrm>
            <a:custGeom>
              <a:avLst/>
              <a:pathLst>
                <a:path w="1714756" h="0">
                  <a:moveTo>
                    <a:pt x="0" y="0"/>
                  </a:moveTo>
                  <a:lnTo>
                    <a:pt x="1714756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217438" y="274201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625713" y="274201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033988" y="274201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442263" y="2742014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tx129"/>
            <p:cNvSpPr/>
            <p:nvPr/>
          </p:nvSpPr>
          <p:spPr>
            <a:xfrm>
              <a:off x="5189183" y="2798950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5569203" y="2798950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977478" y="2798950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6385753" y="2798950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5003553" y="2924765"/>
              <a:ext cx="165259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Accumulation window (years)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7212532" y="1342009"/>
              <a:ext cx="630359" cy="8649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7275795" y="1417250"/>
              <a:ext cx="50383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Delta AIC</a:t>
              </a:r>
            </a:p>
          </p:txBody>
        </p:sp>
        <p:pic>
          <p:nvPicPr>
            <p:cNvPr id="136" name="pic1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5795" y="1574331"/>
              <a:ext cx="113872" cy="569364"/>
            </a:xfrm>
            <a:prstGeom prst="rect">
              <a:avLst/>
            </a:prstGeom>
          </p:spPr>
        </p:pic>
        <p:sp>
          <p:nvSpPr>
            <p:cNvPr id="137" name="pl137"/>
            <p:cNvSpPr/>
            <p:nvPr/>
          </p:nvSpPr>
          <p:spPr>
            <a:xfrm>
              <a:off x="7366893" y="2142747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7366893" y="1980949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7366893" y="1819151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7366893" y="1657353"/>
              <a:ext cx="22774" cy="0"/>
            </a:xfrm>
            <a:custGeom>
              <a:avLst/>
              <a:pathLst>
                <a:path w="22774" h="0">
                  <a:moveTo>
                    <a:pt x="0" y="0"/>
                  </a:moveTo>
                  <a:lnTo>
                    <a:pt x="22774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7275795" y="2142747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7275795" y="1980949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7275795" y="1819151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7275795" y="1657353"/>
              <a:ext cx="22774" cy="0"/>
            </a:xfrm>
            <a:custGeom>
              <a:avLst/>
              <a:pathLst>
                <a:path w="22774" h="0">
                  <a:moveTo>
                    <a:pt x="22774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tx145"/>
            <p:cNvSpPr/>
            <p:nvPr/>
          </p:nvSpPr>
          <p:spPr>
            <a:xfrm>
              <a:off x="7452931" y="2101827"/>
              <a:ext cx="6355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7452931" y="1940029"/>
              <a:ext cx="1271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7452931" y="1778232"/>
              <a:ext cx="1271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7452931" y="1616434"/>
              <a:ext cx="1271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4972472" y="509330"/>
              <a:ext cx="1719254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Delta AIC relative to the best cell;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4972472" y="635517"/>
              <a:ext cx="1388424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all fitted on the same rows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4972472" y="328384"/>
              <a:ext cx="220242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Model support across specifications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3887386" y="309979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53" name="rc153"/>
            <p:cNvSpPr/>
            <p:nvPr/>
          </p:nvSpPr>
          <p:spPr>
            <a:xfrm>
              <a:off x="1409973" y="3546661"/>
              <a:ext cx="5277255" cy="22253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409973" y="5454078"/>
              <a:ext cx="5277255" cy="0"/>
            </a:xfrm>
            <a:custGeom>
              <a:avLst/>
              <a:pathLst>
                <a:path w="5277255" h="0">
                  <a:moveTo>
                    <a:pt x="0" y="0"/>
                  </a:moveTo>
                  <a:lnTo>
                    <a:pt x="5277255" y="0"/>
                  </a:lnTo>
                  <a:lnTo>
                    <a:pt x="52772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1409973" y="4924240"/>
              <a:ext cx="5277255" cy="0"/>
            </a:xfrm>
            <a:custGeom>
              <a:avLst/>
              <a:pathLst>
                <a:path w="5277255" h="0">
                  <a:moveTo>
                    <a:pt x="0" y="0"/>
                  </a:moveTo>
                  <a:lnTo>
                    <a:pt x="5277255" y="0"/>
                  </a:lnTo>
                  <a:lnTo>
                    <a:pt x="52772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1409973" y="4394402"/>
              <a:ext cx="5277255" cy="0"/>
            </a:xfrm>
            <a:custGeom>
              <a:avLst/>
              <a:pathLst>
                <a:path w="5277255" h="0">
                  <a:moveTo>
                    <a:pt x="0" y="0"/>
                  </a:moveTo>
                  <a:lnTo>
                    <a:pt x="5277255" y="0"/>
                  </a:lnTo>
                  <a:lnTo>
                    <a:pt x="52772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1409973" y="3864564"/>
              <a:ext cx="5277255" cy="0"/>
            </a:xfrm>
            <a:custGeom>
              <a:avLst/>
              <a:pathLst>
                <a:path w="5277255" h="0">
                  <a:moveTo>
                    <a:pt x="0" y="0"/>
                  </a:moveTo>
                  <a:lnTo>
                    <a:pt x="5277255" y="0"/>
                  </a:lnTo>
                  <a:lnTo>
                    <a:pt x="527725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1649848" y="3546661"/>
              <a:ext cx="0" cy="2225319"/>
            </a:xfrm>
            <a:custGeom>
              <a:avLst/>
              <a:pathLst>
                <a:path w="0" h="2225319">
                  <a:moveTo>
                    <a:pt x="0" y="222531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349012" y="5546800"/>
              <a:ext cx="2173598" cy="0"/>
            </a:xfrm>
            <a:custGeom>
              <a:avLst/>
              <a:pathLst>
                <a:path w="2173598" h="0">
                  <a:moveTo>
                    <a:pt x="0" y="0"/>
                  </a:moveTo>
                  <a:lnTo>
                    <a:pt x="2173598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600880" y="5299542"/>
              <a:ext cx="2265899" cy="0"/>
            </a:xfrm>
            <a:custGeom>
              <a:avLst/>
              <a:pathLst>
                <a:path w="2265899" h="0">
                  <a:moveTo>
                    <a:pt x="0" y="0"/>
                  </a:moveTo>
                  <a:lnTo>
                    <a:pt x="2265899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3482604" y="5423171"/>
              <a:ext cx="2215859" cy="0"/>
            </a:xfrm>
            <a:custGeom>
              <a:avLst/>
              <a:pathLst>
                <a:path w="2215859" h="0">
                  <a:moveTo>
                    <a:pt x="0" y="0"/>
                  </a:moveTo>
                  <a:lnTo>
                    <a:pt x="2215859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509315" y="5016962"/>
              <a:ext cx="2140312" cy="0"/>
            </a:xfrm>
            <a:custGeom>
              <a:avLst/>
              <a:pathLst>
                <a:path w="2140312" h="0">
                  <a:moveTo>
                    <a:pt x="0" y="0"/>
                  </a:moveTo>
                  <a:lnTo>
                    <a:pt x="2140312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735886" y="4769704"/>
              <a:ext cx="2222076" cy="0"/>
            </a:xfrm>
            <a:custGeom>
              <a:avLst/>
              <a:pathLst>
                <a:path w="2222076" h="0">
                  <a:moveTo>
                    <a:pt x="0" y="0"/>
                  </a:moveTo>
                  <a:lnTo>
                    <a:pt x="2222076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636468" y="4893333"/>
              <a:ext cx="2179615" cy="0"/>
            </a:xfrm>
            <a:custGeom>
              <a:avLst/>
              <a:pathLst>
                <a:path w="2179615" h="0">
                  <a:moveTo>
                    <a:pt x="0" y="0"/>
                  </a:moveTo>
                  <a:lnTo>
                    <a:pt x="2179615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3669725" y="4487124"/>
              <a:ext cx="2346347" cy="0"/>
            </a:xfrm>
            <a:custGeom>
              <a:avLst/>
              <a:pathLst>
                <a:path w="2346347" h="0">
                  <a:moveTo>
                    <a:pt x="0" y="0"/>
                  </a:moveTo>
                  <a:lnTo>
                    <a:pt x="2346347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3965701" y="4239866"/>
              <a:ext cx="2481652" cy="0"/>
            </a:xfrm>
            <a:custGeom>
              <a:avLst/>
              <a:pathLst>
                <a:path w="2481652" h="0">
                  <a:moveTo>
                    <a:pt x="0" y="0"/>
                  </a:moveTo>
                  <a:lnTo>
                    <a:pt x="2481652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851667" y="4363495"/>
              <a:ext cx="2408988" cy="0"/>
            </a:xfrm>
            <a:custGeom>
              <a:avLst/>
              <a:pathLst>
                <a:path w="2408988" h="0">
                  <a:moveTo>
                    <a:pt x="0" y="0"/>
                  </a:moveTo>
                  <a:lnTo>
                    <a:pt x="2408988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370369" y="3957286"/>
              <a:ext cx="1877705" cy="0"/>
            </a:xfrm>
            <a:custGeom>
              <a:avLst/>
              <a:pathLst>
                <a:path w="1877705" h="0">
                  <a:moveTo>
                    <a:pt x="0" y="0"/>
                  </a:moveTo>
                  <a:lnTo>
                    <a:pt x="1877705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96696" y="3710028"/>
              <a:ext cx="1987279" cy="0"/>
            </a:xfrm>
            <a:custGeom>
              <a:avLst/>
              <a:pathLst>
                <a:path w="1987279" h="0">
                  <a:moveTo>
                    <a:pt x="0" y="0"/>
                  </a:moveTo>
                  <a:lnTo>
                    <a:pt x="1987279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483971" y="3833657"/>
              <a:ext cx="1911527" cy="0"/>
            </a:xfrm>
            <a:custGeom>
              <a:avLst/>
              <a:pathLst>
                <a:path w="1911527" h="0">
                  <a:moveTo>
                    <a:pt x="0" y="0"/>
                  </a:moveTo>
                  <a:lnTo>
                    <a:pt x="1911527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036343" y="5608614"/>
              <a:ext cx="1961406" cy="0"/>
            </a:xfrm>
            <a:custGeom>
              <a:avLst/>
              <a:pathLst>
                <a:path w="1961406" h="0">
                  <a:moveTo>
                    <a:pt x="0" y="0"/>
                  </a:moveTo>
                  <a:lnTo>
                    <a:pt x="1961406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078416" y="5361356"/>
              <a:ext cx="1953980" cy="0"/>
            </a:xfrm>
            <a:custGeom>
              <a:avLst/>
              <a:pathLst>
                <a:path w="1953980" h="0">
                  <a:moveTo>
                    <a:pt x="0" y="0"/>
                  </a:moveTo>
                  <a:lnTo>
                    <a:pt x="1953980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052657" y="5484985"/>
              <a:ext cx="1943129" cy="0"/>
            </a:xfrm>
            <a:custGeom>
              <a:avLst/>
              <a:pathLst>
                <a:path w="1943129" h="0">
                  <a:moveTo>
                    <a:pt x="0" y="0"/>
                  </a:moveTo>
                  <a:lnTo>
                    <a:pt x="1943129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2975686" y="5078776"/>
              <a:ext cx="1956028" cy="0"/>
            </a:xfrm>
            <a:custGeom>
              <a:avLst/>
              <a:pathLst>
                <a:path w="1956028" h="0">
                  <a:moveTo>
                    <a:pt x="0" y="0"/>
                  </a:moveTo>
                  <a:lnTo>
                    <a:pt x="1956028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3007215" y="4831518"/>
              <a:ext cx="1943446" cy="0"/>
            </a:xfrm>
            <a:custGeom>
              <a:avLst/>
              <a:pathLst>
                <a:path w="1943446" h="0">
                  <a:moveTo>
                    <a:pt x="0" y="0"/>
                  </a:moveTo>
                  <a:lnTo>
                    <a:pt x="1943446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2985152" y="4955147"/>
              <a:ext cx="1934572" cy="0"/>
            </a:xfrm>
            <a:custGeom>
              <a:avLst/>
              <a:pathLst>
                <a:path w="1934572" h="0">
                  <a:moveTo>
                    <a:pt x="0" y="0"/>
                  </a:moveTo>
                  <a:lnTo>
                    <a:pt x="1934572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3089615" y="4548938"/>
              <a:ext cx="2013967" cy="0"/>
            </a:xfrm>
            <a:custGeom>
              <a:avLst/>
              <a:pathLst>
                <a:path w="2013967" h="0">
                  <a:moveTo>
                    <a:pt x="0" y="0"/>
                  </a:moveTo>
                  <a:lnTo>
                    <a:pt x="2013967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3140960" y="4301680"/>
              <a:ext cx="2015154" cy="0"/>
            </a:xfrm>
            <a:custGeom>
              <a:avLst/>
              <a:pathLst>
                <a:path w="2015154" h="0">
                  <a:moveTo>
                    <a:pt x="0" y="0"/>
                  </a:moveTo>
                  <a:lnTo>
                    <a:pt x="2015154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3109612" y="4425309"/>
              <a:ext cx="2001963" cy="0"/>
            </a:xfrm>
            <a:custGeom>
              <a:avLst/>
              <a:pathLst>
                <a:path w="2001963" h="0">
                  <a:moveTo>
                    <a:pt x="0" y="0"/>
                  </a:moveTo>
                  <a:lnTo>
                    <a:pt x="2001963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2861996" y="4019100"/>
              <a:ext cx="1861678" cy="0"/>
            </a:xfrm>
            <a:custGeom>
              <a:avLst/>
              <a:pathLst>
                <a:path w="1861678" h="0">
                  <a:moveTo>
                    <a:pt x="0" y="0"/>
                  </a:moveTo>
                  <a:lnTo>
                    <a:pt x="1861678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2903246" y="3771842"/>
              <a:ext cx="1849109" cy="0"/>
            </a:xfrm>
            <a:custGeom>
              <a:avLst/>
              <a:pathLst>
                <a:path w="1849109" h="0">
                  <a:moveTo>
                    <a:pt x="0" y="0"/>
                  </a:moveTo>
                  <a:lnTo>
                    <a:pt x="1849109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2868984" y="3895471"/>
              <a:ext cx="1834619" cy="0"/>
            </a:xfrm>
            <a:custGeom>
              <a:avLst/>
              <a:pathLst>
                <a:path w="1834619" h="0">
                  <a:moveTo>
                    <a:pt x="0" y="0"/>
                  </a:moveTo>
                  <a:lnTo>
                    <a:pt x="1834619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4332491" y="5502507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4627105" y="5255249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4485788" y="5378878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4479115" y="4972669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4743612" y="4725411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4624623" y="4849040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4732058" y="4442831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090055" y="4195573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4943069" y="4319202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3215561" y="3912993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3592845" y="3665735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3344983" y="3789364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933144" y="5580132"/>
              <a:ext cx="56964" cy="5696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972166" y="5332874"/>
              <a:ext cx="56964" cy="5696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941395" y="5456503"/>
              <a:ext cx="56964" cy="5696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869696" y="5050294"/>
              <a:ext cx="56964" cy="5696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895808" y="4803036"/>
              <a:ext cx="56964" cy="5696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869641" y="4926665"/>
              <a:ext cx="56964" cy="5696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010209" y="4520456"/>
              <a:ext cx="56964" cy="5696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062422" y="4273198"/>
              <a:ext cx="56964" cy="5696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4024986" y="4396827"/>
              <a:ext cx="56964" cy="5696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713114" y="3990618"/>
              <a:ext cx="56964" cy="5696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748979" y="3743360"/>
              <a:ext cx="56964" cy="5696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08017" y="3866989"/>
              <a:ext cx="56964" cy="5696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409973" y="3546661"/>
              <a:ext cx="0" cy="2225319"/>
            </a:xfrm>
            <a:custGeom>
              <a:avLst/>
              <a:pathLst>
                <a:path w="0" h="2225319">
                  <a:moveTo>
                    <a:pt x="0" y="2225319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tx208"/>
            <p:cNvSpPr/>
            <p:nvPr/>
          </p:nvSpPr>
          <p:spPr>
            <a:xfrm>
              <a:off x="1112001" y="5417685"/>
              <a:ext cx="241035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Visits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884315" y="4887847"/>
              <a:ext cx="46872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Observers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793790" y="4358009"/>
              <a:ext cx="55924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Birding days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974658" y="3828171"/>
              <a:ext cx="378378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Records</a:t>
              </a:r>
            </a:p>
          </p:txBody>
        </p:sp>
        <p:sp>
          <p:nvSpPr>
            <p:cNvPr id="212" name="pl212"/>
            <p:cNvSpPr/>
            <p:nvPr/>
          </p:nvSpPr>
          <p:spPr>
            <a:xfrm>
              <a:off x="1378342" y="545407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1378342" y="492424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1378342" y="439440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1378342" y="386456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1409973" y="5771981"/>
              <a:ext cx="5277255" cy="0"/>
            </a:xfrm>
            <a:custGeom>
              <a:avLst/>
              <a:pathLst>
                <a:path w="5277255" h="0">
                  <a:moveTo>
                    <a:pt x="0" y="0"/>
                  </a:moveTo>
                  <a:lnTo>
                    <a:pt x="5277255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1649848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2917375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4184901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5452427" y="5771981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tx221"/>
            <p:cNvSpPr/>
            <p:nvPr/>
          </p:nvSpPr>
          <p:spPr>
            <a:xfrm>
              <a:off x="1579211" y="58289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2846737" y="58289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4114264" y="58289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5381790" y="582891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3165885" y="5954732"/>
              <a:ext cx="176543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 (95% CI)</a:t>
              </a:r>
            </a:p>
          </p:txBody>
        </p:sp>
        <p:sp>
          <p:nvSpPr>
            <p:cNvPr id="226" name="rc226"/>
            <p:cNvSpPr/>
            <p:nvPr/>
          </p:nvSpPr>
          <p:spPr>
            <a:xfrm>
              <a:off x="6813754" y="4015791"/>
              <a:ext cx="1351655" cy="6372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tx227"/>
            <p:cNvSpPr/>
            <p:nvPr/>
          </p:nvSpPr>
          <p:spPr>
            <a:xfrm>
              <a:off x="6877017" y="4091033"/>
              <a:ext cx="93982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Missing-data rule</a:t>
              </a:r>
            </a:p>
          </p:txBody>
        </p:sp>
        <p:sp>
          <p:nvSpPr>
            <p:cNvPr id="228" name="rc228"/>
            <p:cNvSpPr/>
            <p:nvPr/>
          </p:nvSpPr>
          <p:spPr>
            <a:xfrm>
              <a:off x="6877017" y="4248113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6888404" y="4305050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355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6905471" y="4276567"/>
              <a:ext cx="56964" cy="5696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6877017" y="436198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6888404" y="4418922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355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905471" y="4390440"/>
              <a:ext cx="56964" cy="56964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6877017" y="4475859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6888404" y="4532795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3550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6905471" y="4504313"/>
              <a:ext cx="56964" cy="5696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tx237"/>
            <p:cNvSpPr/>
            <p:nvPr/>
          </p:nvSpPr>
          <p:spPr>
            <a:xfrm>
              <a:off x="7054152" y="4264130"/>
              <a:ext cx="104799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coverage gap (main)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7054152" y="4378003"/>
              <a:ext cx="1003828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bounded imputation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7054152" y="4491876"/>
              <a:ext cx="72393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zero-filled (v1)</a:t>
              </a:r>
            </a:p>
          </p:txBody>
        </p:sp>
        <p:sp>
          <p:nvSpPr>
            <p:cNvPr id="240" name="rc240"/>
            <p:cNvSpPr/>
            <p:nvPr/>
          </p:nvSpPr>
          <p:spPr>
            <a:xfrm>
              <a:off x="6813754" y="4779520"/>
              <a:ext cx="1427916" cy="523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tx241"/>
            <p:cNvSpPr/>
            <p:nvPr/>
          </p:nvSpPr>
          <p:spPr>
            <a:xfrm>
              <a:off x="6877017" y="4854762"/>
              <a:ext cx="59051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Coefficient</a:t>
              </a:r>
            </a:p>
          </p:txBody>
        </p:sp>
        <p:sp>
          <p:nvSpPr>
            <p:cNvPr id="242" name="rc242"/>
            <p:cNvSpPr/>
            <p:nvPr/>
          </p:nvSpPr>
          <p:spPr>
            <a:xfrm>
              <a:off x="6877017" y="5011842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6905471" y="5040296"/>
              <a:ext cx="56964" cy="56964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6877017" y="5125715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895594" y="5138358"/>
              <a:ext cx="76717" cy="66439"/>
            </a:xfrm>
            <a:custGeom>
              <a:avLst/>
              <a:pathLst>
                <a:path w="76717" h="66439">
                  <a:moveTo>
                    <a:pt x="38358" y="0"/>
                  </a:moveTo>
                  <a:lnTo>
                    <a:pt x="76717" y="66439"/>
                  </a:lnTo>
                  <a:lnTo>
                    <a:pt x="0" y="66439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tx246"/>
            <p:cNvSpPr/>
            <p:nvPr/>
          </p:nvSpPr>
          <p:spPr>
            <a:xfrm>
              <a:off x="7054152" y="5027859"/>
              <a:ext cx="112425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Accumulated warming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7054152" y="5141732"/>
              <a:ext cx="645657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1409973" y="3375225"/>
              <a:ext cx="6012362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AIC is not comparable across rules because the sample size changes; the coefficients are what should be compared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1409973" y="3194279"/>
              <a:ext cx="350068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Robust to the choice of effort proxy and missing-data rule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347226" y="3178335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2026-10-13T20:59:15Z</dcterms:modified>
  <cp:category/>
</cp:coreProperties>
</file>