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7be2e1d6e4fea7f3253288abf3f36e340ed1861e.png"/>
<Relationship Id="rId3" Type="http://schemas.openxmlformats.org/officeDocument/2006/relationships/image" Target="../media/61044606ffbfc10e7a0119a026dc55a23228ee1d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10241280" cy="6949440"/>
            <a:chOff x="182880" y="182880"/>
            <a:chExt cx="10241280" cy="694944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1024128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10241280" cy="69494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472335"/>
              <a:ext cx="10102101" cy="35903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4621923" cy="32198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4874392" y="252469"/>
              <a:ext cx="5480178" cy="32198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1086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302233" y="656226"/>
              <a:ext cx="2931108" cy="24701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465670" y="2479466"/>
              <a:ext cx="697882" cy="588141"/>
            </a:xfrm>
            <a:prstGeom prst="rect">
              <a:avLst/>
            </a:prstGeom>
            <a:solidFill>
              <a:srgbClr val="D55E0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2767787" y="2479466"/>
              <a:ext cx="697882" cy="588141"/>
            </a:xfrm>
            <a:prstGeom prst="rect">
              <a:avLst/>
            </a:prstGeom>
            <a:solidFill>
              <a:srgbClr val="DC6C22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2767787" y="1891324"/>
              <a:ext cx="697882" cy="588141"/>
            </a:xfrm>
            <a:prstGeom prst="rect">
              <a:avLst/>
            </a:prstGeom>
            <a:solidFill>
              <a:srgbClr val="E8864A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465670" y="1891324"/>
              <a:ext cx="697882" cy="588141"/>
            </a:xfrm>
            <a:prstGeom prst="rect">
              <a:avLst/>
            </a:prstGeom>
            <a:solidFill>
              <a:srgbClr val="E9874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2069904" y="1891324"/>
              <a:ext cx="697882" cy="588141"/>
            </a:xfrm>
            <a:prstGeom prst="rect">
              <a:avLst/>
            </a:prstGeom>
            <a:solidFill>
              <a:srgbClr val="F09B6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2069904" y="2479466"/>
              <a:ext cx="697882" cy="588141"/>
            </a:xfrm>
            <a:prstGeom prst="rect">
              <a:avLst/>
            </a:prstGeom>
            <a:solidFill>
              <a:srgbClr val="F5A87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372021" y="2479466"/>
              <a:ext cx="697882" cy="588141"/>
            </a:xfrm>
            <a:prstGeom prst="rect">
              <a:avLst/>
            </a:prstGeom>
            <a:solidFill>
              <a:srgbClr val="FABB9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372021" y="1891324"/>
              <a:ext cx="697882" cy="588141"/>
            </a:xfrm>
            <a:prstGeom prst="rect">
              <a:avLst/>
            </a:prstGeom>
            <a:solidFill>
              <a:srgbClr val="FBBF9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2767787" y="1303182"/>
              <a:ext cx="697882" cy="588141"/>
            </a:xfrm>
            <a:prstGeom prst="rect">
              <a:avLst/>
            </a:prstGeom>
            <a:solidFill>
              <a:srgbClr val="FFDFC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2069904" y="1303182"/>
              <a:ext cx="697882" cy="588141"/>
            </a:xfrm>
            <a:prstGeom prst="rect">
              <a:avLst/>
            </a:prstGeom>
            <a:solidFill>
              <a:srgbClr val="FAFCF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465670" y="1303182"/>
              <a:ext cx="697882" cy="588141"/>
            </a:xfrm>
            <a:prstGeom prst="rect">
              <a:avLst/>
            </a:prstGeom>
            <a:solidFill>
              <a:srgbClr val="FFF1E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372021" y="1303182"/>
              <a:ext cx="697882" cy="588141"/>
            </a:xfrm>
            <a:prstGeom prst="rect">
              <a:avLst/>
            </a:prstGeom>
            <a:solidFill>
              <a:srgbClr val="FFF4E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069904" y="715041"/>
              <a:ext cx="697882" cy="588141"/>
            </a:xfrm>
            <a:prstGeom prst="rect">
              <a:avLst/>
            </a:prstGeom>
            <a:solidFill>
              <a:srgbClr val="EFF6F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3465670" y="715041"/>
              <a:ext cx="697882" cy="588141"/>
            </a:xfrm>
            <a:prstGeom prst="rect">
              <a:avLst/>
            </a:prstGeom>
            <a:solidFill>
              <a:srgbClr val="FFFDF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67787" y="715041"/>
              <a:ext cx="697882" cy="588141"/>
            </a:xfrm>
            <a:prstGeom prst="rect">
              <a:avLst/>
            </a:prstGeom>
            <a:solidFill>
              <a:srgbClr val="FFF3E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372021" y="715041"/>
              <a:ext cx="697882" cy="588141"/>
            </a:xfrm>
            <a:prstGeom prst="rect">
              <a:avLst/>
            </a:prstGeom>
            <a:solidFill>
              <a:srgbClr val="FAFCF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3668536" y="2739933"/>
              <a:ext cx="29215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1.40***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70653" y="2739933"/>
              <a:ext cx="29215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1.36***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970653" y="2151791"/>
              <a:ext cx="29215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1.30***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668536" y="2151791"/>
              <a:ext cx="29215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1.30***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272770" y="2151791"/>
              <a:ext cx="29215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1.25***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272770" y="2739933"/>
              <a:ext cx="292150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1.21***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93129" y="2739933"/>
              <a:ext cx="255666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1.17**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593129" y="2151791"/>
              <a:ext cx="255666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1.16**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025380" y="1563649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27497" y="1563649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0.99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723263" y="1563649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629614" y="1563649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327497" y="975507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0.96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723263" y="975507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025380" y="975507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1.03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629614" y="975507"/>
              <a:ext cx="182697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0.98</a:t>
              </a:r>
            </a:p>
          </p:txBody>
        </p:sp>
        <p:sp>
          <p:nvSpPr>
            <p:cNvPr id="41" name="pl41"/>
            <p:cNvSpPr/>
            <p:nvPr/>
          </p:nvSpPr>
          <p:spPr>
            <a:xfrm>
              <a:off x="1302233" y="656226"/>
              <a:ext cx="0" cy="2470195"/>
            </a:xfrm>
            <a:custGeom>
              <a:avLst/>
              <a:pathLst>
                <a:path w="0" h="2470195">
                  <a:moveTo>
                    <a:pt x="0" y="2470195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633770" y="2740847"/>
              <a:ext cx="6172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mean 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53689" y="2152705"/>
              <a:ext cx="89730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Warmest-month Tmax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31139" y="1564563"/>
              <a:ext cx="81985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Coldest-month Tmin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54344" y="976422"/>
              <a:ext cx="59664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Winter mean T</a:t>
              </a:r>
            </a:p>
          </p:txBody>
        </p:sp>
        <p:sp>
          <p:nvSpPr>
            <p:cNvPr id="46" name="pl46"/>
            <p:cNvSpPr/>
            <p:nvPr/>
          </p:nvSpPr>
          <p:spPr>
            <a:xfrm>
              <a:off x="1273764" y="27735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1273764" y="21853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273764" y="15972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273764" y="10091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1302233" y="3126422"/>
              <a:ext cx="2931108" cy="0"/>
            </a:xfrm>
            <a:custGeom>
              <a:avLst/>
              <a:pathLst>
                <a:path w="2931108" h="0">
                  <a:moveTo>
                    <a:pt x="0" y="0"/>
                  </a:moveTo>
                  <a:lnTo>
                    <a:pt x="293110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1720962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418845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116728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814611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tx55"/>
            <p:cNvSpPr/>
            <p:nvPr/>
          </p:nvSpPr>
          <p:spPr>
            <a:xfrm>
              <a:off x="1695588" y="317766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368096" y="317766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3065979" y="317766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3763862" y="317766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2024654" y="3290623"/>
              <a:ext cx="148626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(years)</a:t>
              </a:r>
            </a:p>
          </p:txBody>
        </p:sp>
        <p:sp>
          <p:nvSpPr>
            <p:cNvPr id="60" name="rc60"/>
            <p:cNvSpPr/>
            <p:nvPr/>
          </p:nvSpPr>
          <p:spPr>
            <a:xfrm>
              <a:off x="4347214" y="1474145"/>
              <a:ext cx="425957" cy="8343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4404150" y="1541780"/>
              <a:ext cx="14666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HR</a:t>
              </a:r>
            </a:p>
          </p:txBody>
        </p:sp>
        <p:pic>
          <p:nvPicPr>
            <p:cNvPr id="62" name="pic6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04150" y="1682202"/>
              <a:ext cx="113872" cy="569364"/>
            </a:xfrm>
            <a:prstGeom prst="rect">
              <a:avLst/>
            </a:prstGeom>
          </p:spPr>
        </p:pic>
        <p:sp>
          <p:nvSpPr>
            <p:cNvPr id="63" name="pl63"/>
            <p:cNvSpPr/>
            <p:nvPr/>
          </p:nvSpPr>
          <p:spPr>
            <a:xfrm>
              <a:off x="4495249" y="2194243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4495249" y="2065320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4495249" y="1936398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495249" y="1807475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404150" y="2194243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404150" y="2065320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404150" y="1936398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4404150" y="1807475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tx71"/>
            <p:cNvSpPr/>
            <p:nvPr/>
          </p:nvSpPr>
          <p:spPr>
            <a:xfrm>
              <a:off x="4574960" y="2157850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4574960" y="202892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1.1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4574960" y="1900004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4574960" y="1771082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1.3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1302233" y="503004"/>
              <a:ext cx="331378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Hazard ratio for accumulated warming; * P&lt;0.05, ** P&lt;0.01, *** P&lt;0.001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1302233" y="328384"/>
              <a:ext cx="2944093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Only annual mean temperature carries the signal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33404" y="319815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8" name="rc78"/>
            <p:cNvSpPr/>
            <p:nvPr/>
          </p:nvSpPr>
          <p:spPr>
            <a:xfrm>
              <a:off x="5924156" y="656226"/>
              <a:ext cx="2931108" cy="24701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8087593" y="2479466"/>
              <a:ext cx="697882" cy="588141"/>
            </a:xfrm>
            <a:prstGeom prst="rect">
              <a:avLst/>
            </a:prstGeom>
            <a:solidFill>
              <a:srgbClr val="009E7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7389710" y="2479466"/>
              <a:ext cx="697882" cy="588141"/>
            </a:xfrm>
            <a:prstGeom prst="rect">
              <a:avLst/>
            </a:prstGeom>
            <a:solidFill>
              <a:srgbClr val="2BA47C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7389710" y="1891324"/>
              <a:ext cx="697882" cy="588141"/>
            </a:xfrm>
            <a:prstGeom prst="rect">
              <a:avLst/>
            </a:prstGeom>
            <a:solidFill>
              <a:srgbClr val="65B89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8087593" y="1891324"/>
              <a:ext cx="697882" cy="588141"/>
            </a:xfrm>
            <a:prstGeom prst="rect">
              <a:avLst/>
            </a:prstGeom>
            <a:solidFill>
              <a:srgbClr val="6CBC9B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6691827" y="1891324"/>
              <a:ext cx="697882" cy="588141"/>
            </a:xfrm>
            <a:prstGeom prst="rect">
              <a:avLst/>
            </a:prstGeom>
            <a:solidFill>
              <a:srgbClr val="8DCAB0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6691827" y="2479466"/>
              <a:ext cx="697882" cy="588141"/>
            </a:xfrm>
            <a:prstGeom prst="rect">
              <a:avLst/>
            </a:prstGeom>
            <a:solidFill>
              <a:srgbClr val="98CFB7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993944" y="2479466"/>
              <a:ext cx="697882" cy="588141"/>
            </a:xfrm>
            <a:prstGeom prst="rect">
              <a:avLst/>
            </a:prstGeom>
            <a:solidFill>
              <a:srgbClr val="C3E3D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993944" y="1891324"/>
              <a:ext cx="697882" cy="588141"/>
            </a:xfrm>
            <a:prstGeom prst="rect">
              <a:avLst/>
            </a:prstGeom>
            <a:solidFill>
              <a:srgbClr val="C3E3D4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389710" y="1303182"/>
              <a:ext cx="697882" cy="588141"/>
            </a:xfrm>
            <a:prstGeom prst="rect">
              <a:avLst/>
            </a:prstGeom>
            <a:solidFill>
              <a:srgbClr val="EDF7F2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691827" y="1303182"/>
              <a:ext cx="697882" cy="588141"/>
            </a:xfrm>
            <a:prstGeom prst="rect">
              <a:avLst/>
            </a:prstGeom>
            <a:solidFill>
              <a:srgbClr val="EEF7F3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8087593" y="1303182"/>
              <a:ext cx="697882" cy="588141"/>
            </a:xfrm>
            <a:prstGeom prst="rect">
              <a:avLst/>
            </a:prstGeom>
            <a:solidFill>
              <a:srgbClr val="F2F9F6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5993944" y="1303182"/>
              <a:ext cx="697882" cy="588141"/>
            </a:xfrm>
            <a:prstGeom prst="rect">
              <a:avLst/>
            </a:prstGeom>
            <a:solidFill>
              <a:srgbClr val="F5FAF8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691827" y="715041"/>
              <a:ext cx="697882" cy="588141"/>
            </a:xfrm>
            <a:prstGeom prst="rect">
              <a:avLst/>
            </a:prstGeom>
            <a:solidFill>
              <a:srgbClr val="F6FBF9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087593" y="715041"/>
              <a:ext cx="697882" cy="588141"/>
            </a:xfrm>
            <a:prstGeom prst="rect">
              <a:avLst/>
            </a:prstGeom>
            <a:solidFill>
              <a:srgbClr val="FCFEFD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7389710" y="715041"/>
              <a:ext cx="697882" cy="588141"/>
            </a:xfrm>
            <a:prstGeom prst="rect">
              <a:avLst/>
            </a:prstGeom>
            <a:solidFill>
              <a:srgbClr val="FEFFFE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993944" y="715041"/>
              <a:ext cx="697882" cy="58814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897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tx95"/>
            <p:cNvSpPr/>
            <p:nvPr/>
          </p:nvSpPr>
          <p:spPr>
            <a:xfrm>
              <a:off x="8410428" y="2739933"/>
              <a:ext cx="5221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7712545" y="2739933"/>
              <a:ext cx="5221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97" name="tx97"/>
            <p:cNvSpPr/>
            <p:nvPr/>
          </p:nvSpPr>
          <p:spPr>
            <a:xfrm>
              <a:off x="7712545" y="2151791"/>
              <a:ext cx="52212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98" name="tx98"/>
            <p:cNvSpPr/>
            <p:nvPr/>
          </p:nvSpPr>
          <p:spPr>
            <a:xfrm>
              <a:off x="8384322" y="2151791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6988556" y="2151791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6988556" y="2739933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6290673" y="2739933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6290673" y="2151791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24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686439" y="1563649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6988556" y="1563649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31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8384322" y="1563649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6290673" y="1563649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988556" y="975507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32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384322" y="975507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33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7686439" y="975507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34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290673" y="975507"/>
              <a:ext cx="104424" cy="672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39" i="0" b="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34</a:t>
              </a:r>
            </a:p>
          </p:txBody>
        </p:sp>
        <p:sp>
          <p:nvSpPr>
            <p:cNvPr id="111" name="pl111"/>
            <p:cNvSpPr/>
            <p:nvPr/>
          </p:nvSpPr>
          <p:spPr>
            <a:xfrm>
              <a:off x="5924156" y="656226"/>
              <a:ext cx="0" cy="2470195"/>
            </a:xfrm>
            <a:custGeom>
              <a:avLst/>
              <a:pathLst>
                <a:path w="0" h="2470195">
                  <a:moveTo>
                    <a:pt x="0" y="2470195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5255693" y="2740847"/>
              <a:ext cx="61722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Annual mean T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4975612" y="2152705"/>
              <a:ext cx="897300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Warmest-month Tmax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5053062" y="1564563"/>
              <a:ext cx="81985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Coldest-month Tmin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5276267" y="976422"/>
              <a:ext cx="59664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Winter mean T</a:t>
              </a:r>
            </a:p>
          </p:txBody>
        </p:sp>
        <p:sp>
          <p:nvSpPr>
            <p:cNvPr id="116" name="pl116"/>
            <p:cNvSpPr/>
            <p:nvPr/>
          </p:nvSpPr>
          <p:spPr>
            <a:xfrm>
              <a:off x="5895687" y="27735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5895687" y="21853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5895687" y="159725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5895687" y="10091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5924156" y="3126422"/>
              <a:ext cx="2931108" cy="0"/>
            </a:xfrm>
            <a:custGeom>
              <a:avLst/>
              <a:pathLst>
                <a:path w="2931108" h="0">
                  <a:moveTo>
                    <a:pt x="0" y="0"/>
                  </a:moveTo>
                  <a:lnTo>
                    <a:pt x="2931108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342885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7040768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7738651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436534" y="3126422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tx125"/>
            <p:cNvSpPr/>
            <p:nvPr/>
          </p:nvSpPr>
          <p:spPr>
            <a:xfrm>
              <a:off x="6317511" y="3177665"/>
              <a:ext cx="50749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6990019" y="317766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7687902" y="317766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8385785" y="3177665"/>
              <a:ext cx="10149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6646577" y="3290623"/>
              <a:ext cx="1486265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Accumulation window (years)</a:t>
              </a:r>
            </a:p>
          </p:txBody>
        </p:sp>
        <p:sp>
          <p:nvSpPr>
            <p:cNvPr id="130" name="rc130"/>
            <p:cNvSpPr/>
            <p:nvPr/>
          </p:nvSpPr>
          <p:spPr>
            <a:xfrm>
              <a:off x="9330370" y="1474145"/>
              <a:ext cx="561746" cy="8343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tx131"/>
            <p:cNvSpPr/>
            <p:nvPr/>
          </p:nvSpPr>
          <p:spPr>
            <a:xfrm>
              <a:off x="9387307" y="1541780"/>
              <a:ext cx="447873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Delta AIC</a:t>
              </a:r>
            </a:p>
          </p:txBody>
        </p:sp>
        <p:pic>
          <p:nvPicPr>
            <p:cNvPr id="132" name="pic13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387307" y="1682202"/>
              <a:ext cx="113872" cy="569364"/>
            </a:xfrm>
            <a:prstGeom prst="rect">
              <a:avLst/>
            </a:prstGeom>
          </p:spPr>
        </p:pic>
        <p:sp>
          <p:nvSpPr>
            <p:cNvPr id="133" name="pl133"/>
            <p:cNvSpPr/>
            <p:nvPr/>
          </p:nvSpPr>
          <p:spPr>
            <a:xfrm>
              <a:off x="9478405" y="2250617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9478405" y="2082115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9478405" y="1913613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9478405" y="1745111"/>
              <a:ext cx="22774" cy="0"/>
            </a:xfrm>
            <a:custGeom>
              <a:avLst/>
              <a:pathLst>
                <a:path w="22774" h="0">
                  <a:moveTo>
                    <a:pt x="0" y="0"/>
                  </a:moveTo>
                  <a:lnTo>
                    <a:pt x="22774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9387307" y="2250617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9387307" y="2082115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9387307" y="1913613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9387307" y="1745111"/>
              <a:ext cx="22774" cy="0"/>
            </a:xfrm>
            <a:custGeom>
              <a:avLst/>
              <a:pathLst>
                <a:path w="22774" h="0">
                  <a:moveTo>
                    <a:pt x="22774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tx141"/>
            <p:cNvSpPr/>
            <p:nvPr/>
          </p:nvSpPr>
          <p:spPr>
            <a:xfrm>
              <a:off x="9558116" y="2214224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9558116" y="2045722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9558116" y="1877220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9558116" y="1708718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924156" y="503004"/>
              <a:ext cx="2768071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Delta AIC relative to the best cell; all fitted on the same rows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5924156" y="328384"/>
              <a:ext cx="2675625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Model support across climate specifications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4955458" y="319815"/>
              <a:ext cx="93085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1302233" y="3876093"/>
              <a:ext cx="7553031" cy="284072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1302233" y="6311000"/>
              <a:ext cx="7553031" cy="0"/>
            </a:xfrm>
            <a:custGeom>
              <a:avLst/>
              <a:pathLst>
                <a:path w="7553031" h="0">
                  <a:moveTo>
                    <a:pt x="0" y="0"/>
                  </a:moveTo>
                  <a:lnTo>
                    <a:pt x="7553031" y="0"/>
                  </a:lnTo>
                  <a:lnTo>
                    <a:pt x="755303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1302233" y="5634637"/>
              <a:ext cx="7553031" cy="0"/>
            </a:xfrm>
            <a:custGeom>
              <a:avLst/>
              <a:pathLst>
                <a:path w="7553031" h="0">
                  <a:moveTo>
                    <a:pt x="0" y="0"/>
                  </a:moveTo>
                  <a:lnTo>
                    <a:pt x="7553031" y="0"/>
                  </a:lnTo>
                  <a:lnTo>
                    <a:pt x="755303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1302233" y="4958274"/>
              <a:ext cx="7553031" cy="0"/>
            </a:xfrm>
            <a:custGeom>
              <a:avLst/>
              <a:pathLst>
                <a:path w="7553031" h="0">
                  <a:moveTo>
                    <a:pt x="0" y="0"/>
                  </a:moveTo>
                  <a:lnTo>
                    <a:pt x="7553031" y="0"/>
                  </a:lnTo>
                  <a:lnTo>
                    <a:pt x="755303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1302233" y="4281911"/>
              <a:ext cx="7553031" cy="0"/>
            </a:xfrm>
            <a:custGeom>
              <a:avLst/>
              <a:pathLst>
                <a:path w="7553031" h="0">
                  <a:moveTo>
                    <a:pt x="0" y="0"/>
                  </a:moveTo>
                  <a:lnTo>
                    <a:pt x="7553031" y="0"/>
                  </a:lnTo>
                  <a:lnTo>
                    <a:pt x="7553031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1645552" y="3876093"/>
              <a:ext cx="0" cy="2840724"/>
            </a:xfrm>
            <a:custGeom>
              <a:avLst/>
              <a:pathLst>
                <a:path w="0" h="2840724">
                  <a:moveTo>
                    <a:pt x="0" y="28407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978591" y="6429363"/>
              <a:ext cx="3208140" cy="0"/>
            </a:xfrm>
            <a:custGeom>
              <a:avLst/>
              <a:pathLst>
                <a:path w="3208140" h="0">
                  <a:moveTo>
                    <a:pt x="0" y="0"/>
                  </a:moveTo>
                  <a:lnTo>
                    <a:pt x="3208140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4356619" y="6113727"/>
              <a:ext cx="3345603" cy="0"/>
            </a:xfrm>
            <a:custGeom>
              <a:avLst/>
              <a:pathLst>
                <a:path w="3345603" h="0">
                  <a:moveTo>
                    <a:pt x="0" y="0"/>
                  </a:moveTo>
                  <a:lnTo>
                    <a:pt x="3345603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4208324" y="6271545"/>
              <a:ext cx="3269480" cy="0"/>
            </a:xfrm>
            <a:custGeom>
              <a:avLst/>
              <a:pathLst>
                <a:path w="3269480" h="0">
                  <a:moveTo>
                    <a:pt x="0" y="0"/>
                  </a:moveTo>
                  <a:lnTo>
                    <a:pt x="326948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4278319" y="5753000"/>
              <a:ext cx="3192532" cy="0"/>
            </a:xfrm>
            <a:custGeom>
              <a:avLst/>
              <a:pathLst>
                <a:path w="3192532" h="0">
                  <a:moveTo>
                    <a:pt x="0" y="0"/>
                  </a:moveTo>
                  <a:lnTo>
                    <a:pt x="3192532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4619680" y="5437364"/>
              <a:ext cx="3316068" cy="0"/>
            </a:xfrm>
            <a:custGeom>
              <a:avLst/>
              <a:pathLst>
                <a:path w="3316068" h="0">
                  <a:moveTo>
                    <a:pt x="0" y="0"/>
                  </a:moveTo>
                  <a:lnTo>
                    <a:pt x="3316068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4498718" y="5595182"/>
              <a:ext cx="3249485" cy="0"/>
            </a:xfrm>
            <a:custGeom>
              <a:avLst/>
              <a:pathLst>
                <a:path w="3249485" h="0">
                  <a:moveTo>
                    <a:pt x="0" y="0"/>
                  </a:moveTo>
                  <a:lnTo>
                    <a:pt x="324948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4441267" y="5076637"/>
              <a:ext cx="3431967" cy="0"/>
            </a:xfrm>
            <a:custGeom>
              <a:avLst/>
              <a:pathLst>
                <a:path w="3431967" h="0">
                  <a:moveTo>
                    <a:pt x="0" y="0"/>
                  </a:moveTo>
                  <a:lnTo>
                    <a:pt x="343196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4882363" y="4761001"/>
              <a:ext cx="3629581" cy="0"/>
            </a:xfrm>
            <a:custGeom>
              <a:avLst/>
              <a:pathLst>
                <a:path w="3629581" h="0">
                  <a:moveTo>
                    <a:pt x="0" y="0"/>
                  </a:moveTo>
                  <a:lnTo>
                    <a:pt x="3629581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4723605" y="4918819"/>
              <a:ext cx="3522412" cy="0"/>
            </a:xfrm>
            <a:custGeom>
              <a:avLst/>
              <a:pathLst>
                <a:path w="3522412" h="0">
                  <a:moveTo>
                    <a:pt x="0" y="0"/>
                  </a:moveTo>
                  <a:lnTo>
                    <a:pt x="3522412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2698717" y="4400274"/>
              <a:ext cx="2824084" cy="0"/>
            </a:xfrm>
            <a:custGeom>
              <a:avLst/>
              <a:pathLst>
                <a:path w="2824084" h="0">
                  <a:moveTo>
                    <a:pt x="0" y="0"/>
                  </a:moveTo>
                  <a:lnTo>
                    <a:pt x="282408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3187209" y="4084638"/>
              <a:ext cx="2987119" cy="0"/>
            </a:xfrm>
            <a:custGeom>
              <a:avLst/>
              <a:pathLst>
                <a:path w="2987119" h="0">
                  <a:moveTo>
                    <a:pt x="0" y="0"/>
                  </a:moveTo>
                  <a:lnTo>
                    <a:pt x="2987119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2897659" y="4242456"/>
              <a:ext cx="2868982" cy="0"/>
            </a:xfrm>
            <a:custGeom>
              <a:avLst/>
              <a:pathLst>
                <a:path w="2868982" h="0">
                  <a:moveTo>
                    <a:pt x="0" y="0"/>
                  </a:moveTo>
                  <a:lnTo>
                    <a:pt x="2868982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3702918" y="6508272"/>
              <a:ext cx="2930486" cy="0"/>
            </a:xfrm>
            <a:custGeom>
              <a:avLst/>
              <a:pathLst>
                <a:path w="2930486" h="0">
                  <a:moveTo>
                    <a:pt x="0" y="0"/>
                  </a:moveTo>
                  <a:lnTo>
                    <a:pt x="2930486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3761278" y="6192636"/>
              <a:ext cx="2917676" cy="0"/>
            </a:xfrm>
            <a:custGeom>
              <a:avLst/>
              <a:pathLst>
                <a:path w="2917676" h="0">
                  <a:moveTo>
                    <a:pt x="0" y="0"/>
                  </a:moveTo>
                  <a:lnTo>
                    <a:pt x="2917676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3733486" y="6350454"/>
              <a:ext cx="2902092" cy="0"/>
            </a:xfrm>
            <a:custGeom>
              <a:avLst/>
              <a:pathLst>
                <a:path w="2902092" h="0">
                  <a:moveTo>
                    <a:pt x="0" y="0"/>
                  </a:moveTo>
                  <a:lnTo>
                    <a:pt x="2902092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3613125" y="5831909"/>
              <a:ext cx="2927953" cy="0"/>
            </a:xfrm>
            <a:custGeom>
              <a:avLst/>
              <a:pathLst>
                <a:path w="2927953" h="0">
                  <a:moveTo>
                    <a:pt x="0" y="0"/>
                  </a:moveTo>
                  <a:lnTo>
                    <a:pt x="2927953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3656926" y="5516273"/>
              <a:ext cx="2908220" cy="0"/>
            </a:xfrm>
            <a:custGeom>
              <a:avLst/>
              <a:pathLst>
                <a:path w="2908220" h="0">
                  <a:moveTo>
                    <a:pt x="0" y="0"/>
                  </a:moveTo>
                  <a:lnTo>
                    <a:pt x="2908220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632682" y="5674091"/>
              <a:ext cx="2895170" cy="0"/>
            </a:xfrm>
            <a:custGeom>
              <a:avLst/>
              <a:pathLst>
                <a:path w="2895170" h="0">
                  <a:moveTo>
                    <a:pt x="0" y="0"/>
                  </a:moveTo>
                  <a:lnTo>
                    <a:pt x="2895170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3777471" y="5155546"/>
              <a:ext cx="3002994" cy="0"/>
            </a:xfrm>
            <a:custGeom>
              <a:avLst/>
              <a:pathLst>
                <a:path w="3002994" h="0">
                  <a:moveTo>
                    <a:pt x="0" y="0"/>
                  </a:moveTo>
                  <a:lnTo>
                    <a:pt x="3002994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3849191" y="4839910"/>
              <a:ext cx="3002502" cy="0"/>
            </a:xfrm>
            <a:custGeom>
              <a:avLst/>
              <a:pathLst>
                <a:path w="3002502" h="0">
                  <a:moveTo>
                    <a:pt x="0" y="0"/>
                  </a:moveTo>
                  <a:lnTo>
                    <a:pt x="3002502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3809392" y="4997728"/>
              <a:ext cx="2983053" cy="0"/>
            </a:xfrm>
            <a:custGeom>
              <a:avLst/>
              <a:pathLst>
                <a:path w="2983053" h="0">
                  <a:moveTo>
                    <a:pt x="0" y="0"/>
                  </a:moveTo>
                  <a:lnTo>
                    <a:pt x="2983053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3458495" y="4479183"/>
              <a:ext cx="2797417" cy="0"/>
            </a:xfrm>
            <a:custGeom>
              <a:avLst/>
              <a:pathLst>
                <a:path w="2797417" h="0">
                  <a:moveTo>
                    <a:pt x="0" y="0"/>
                  </a:moveTo>
                  <a:lnTo>
                    <a:pt x="2797417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3519881" y="4163547"/>
              <a:ext cx="2778411" cy="0"/>
            </a:xfrm>
            <a:custGeom>
              <a:avLst/>
              <a:pathLst>
                <a:path w="2778411" h="0">
                  <a:moveTo>
                    <a:pt x="0" y="0"/>
                  </a:moveTo>
                  <a:lnTo>
                    <a:pt x="2778411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3475331" y="4321365"/>
              <a:ext cx="2753535" cy="0"/>
            </a:xfrm>
            <a:custGeom>
              <a:avLst/>
              <a:pathLst>
                <a:path w="2753535" h="0">
                  <a:moveTo>
                    <a:pt x="0" y="0"/>
                  </a:moveTo>
                  <a:lnTo>
                    <a:pt x="2753535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448852" y="6385706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890558" y="6070070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707444" y="6227888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743745" y="5709343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142390" y="5393707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990987" y="5551525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014060" y="5032980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545831" y="4717344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338524" y="4875162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989424" y="4356617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553750" y="4040981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209704" y="4198799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057471" y="6480199"/>
              <a:ext cx="56145" cy="5614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110476" y="6164563"/>
              <a:ext cx="56145" cy="5614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075543" y="6322381"/>
              <a:ext cx="56145" cy="5614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965971" y="5803836"/>
              <a:ext cx="56145" cy="5614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001240" y="5488200"/>
              <a:ext cx="56145" cy="5614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971012" y="5646018"/>
              <a:ext cx="56145" cy="5614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64862" y="5127473"/>
              <a:ext cx="56145" cy="5614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236832" y="4811837"/>
              <a:ext cx="56145" cy="5614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188097" y="4969655"/>
              <a:ext cx="56145" cy="5614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752017" y="4451110"/>
              <a:ext cx="56145" cy="5614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4805259" y="4135474"/>
              <a:ext cx="56145" cy="5614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749289" y="4293292"/>
              <a:ext cx="56145" cy="5614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1302233" y="3876093"/>
              <a:ext cx="0" cy="2840724"/>
            </a:xfrm>
            <a:custGeom>
              <a:avLst/>
              <a:pathLst>
                <a:path w="0" h="2840724">
                  <a:moveTo>
                    <a:pt x="0" y="284072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1034551" y="6278310"/>
              <a:ext cx="21643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Visits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830183" y="5601947"/>
              <a:ext cx="420806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Observers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748801" y="4925584"/>
              <a:ext cx="502188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Birding days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911199" y="4249221"/>
              <a:ext cx="339791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Records</a:t>
              </a:r>
            </a:p>
          </p:txBody>
        </p:sp>
        <p:sp>
          <p:nvSpPr>
            <p:cNvPr id="207" name="pl207"/>
            <p:cNvSpPr/>
            <p:nvPr/>
          </p:nvSpPr>
          <p:spPr>
            <a:xfrm>
              <a:off x="1273764" y="631100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1273764" y="563463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1273764" y="49582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1273764" y="428191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1302233" y="6716817"/>
              <a:ext cx="7553031" cy="0"/>
            </a:xfrm>
            <a:custGeom>
              <a:avLst/>
              <a:pathLst>
                <a:path w="7553031" h="0">
                  <a:moveTo>
                    <a:pt x="0" y="0"/>
                  </a:moveTo>
                  <a:lnTo>
                    <a:pt x="7553031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645552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354795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450353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352754" y="6716817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tx216"/>
            <p:cNvSpPr/>
            <p:nvPr/>
          </p:nvSpPr>
          <p:spPr>
            <a:xfrm>
              <a:off x="1582138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348453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1.2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5386939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1.4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89340" y="6768060"/>
              <a:ext cx="126827" cy="653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262626">
                      <a:alpha val="100000"/>
                    </a:srgbClr>
                  </a:solidFill>
                  <a:latin typeface="Arial"/>
                  <a:cs typeface="Arial"/>
                </a:rPr>
                <a:t>1.6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4284912" y="6881019"/>
              <a:ext cx="158767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D0D0D">
                      <a:alpha val="100000"/>
                    </a:srgbClr>
                  </a:solidFill>
                  <a:latin typeface="Arial"/>
                  <a:cs typeface="Arial"/>
                </a:rPr>
                <a:t>Hazard ratio per 1 SD (95% CI)</a:t>
              </a:r>
            </a:p>
          </p:txBody>
        </p:sp>
        <p:sp>
          <p:nvSpPr>
            <p:cNvPr id="221" name="rc221"/>
            <p:cNvSpPr/>
            <p:nvPr/>
          </p:nvSpPr>
          <p:spPr>
            <a:xfrm>
              <a:off x="8969137" y="4765403"/>
              <a:ext cx="1216638" cy="6066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tx222"/>
            <p:cNvSpPr/>
            <p:nvPr/>
          </p:nvSpPr>
          <p:spPr>
            <a:xfrm>
              <a:off x="9026073" y="4833038"/>
              <a:ext cx="83567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Missing-data rule</a:t>
              </a:r>
            </a:p>
          </p:txBody>
        </p:sp>
        <p:sp>
          <p:nvSpPr>
            <p:cNvPr id="223" name="rc223"/>
            <p:cNvSpPr/>
            <p:nvPr/>
          </p:nvSpPr>
          <p:spPr>
            <a:xfrm>
              <a:off x="9026073" y="4973460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9037461" y="5030396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9054937" y="5002323"/>
              <a:ext cx="56145" cy="56145"/>
            </a:xfrm>
            <a:prstGeom prst="ellipse">
              <a:avLst/>
            </a:prstGeom>
            <a:solidFill>
              <a:srgbClr val="0072B2">
                <a:alpha val="100000"/>
              </a:srgbClr>
            </a:solidFill>
            <a:ln w="7363" cap="rnd">
              <a:solidFill>
                <a:srgbClr val="007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9026073" y="5087332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9037461" y="5144269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9054937" y="5116196"/>
              <a:ext cx="56145" cy="56145"/>
            </a:xfrm>
            <a:prstGeom prst="ellipse">
              <a:avLst/>
            </a:prstGeom>
            <a:solidFill>
              <a:srgbClr val="E69F00">
                <a:alpha val="100000"/>
              </a:srgbClr>
            </a:solidFill>
            <a:ln w="7363" cap="rnd">
              <a:solidFill>
                <a:srgbClr val="E6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9026073" y="5201205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9037461" y="5258142"/>
              <a:ext cx="91098" cy="0"/>
            </a:xfrm>
            <a:custGeom>
              <a:avLst/>
              <a:pathLst>
                <a:path w="91098" h="0">
                  <a:moveTo>
                    <a:pt x="0" y="0"/>
                  </a:moveTo>
                  <a:lnTo>
                    <a:pt x="91098" y="0"/>
                  </a:lnTo>
                </a:path>
              </a:pathLst>
            </a:custGeom>
            <a:ln w="13550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9054937" y="5230069"/>
              <a:ext cx="56145" cy="56145"/>
            </a:xfrm>
            <a:prstGeom prst="ellipse">
              <a:avLst/>
            </a:prstGeom>
            <a:solidFill>
              <a:srgbClr val="999999">
                <a:alpha val="100000"/>
              </a:srgbClr>
            </a:solidFill>
            <a:ln w="7363" cap="rnd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tx232"/>
            <p:cNvSpPr/>
            <p:nvPr/>
          </p:nvSpPr>
          <p:spPr>
            <a:xfrm>
              <a:off x="9196883" y="4994003"/>
              <a:ext cx="931956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coverage gap (main)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9196883" y="5107876"/>
              <a:ext cx="892637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bounded imputation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9196883" y="5221749"/>
              <a:ext cx="64382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zero-filled (v1)</a:t>
              </a:r>
            </a:p>
          </p:txBody>
        </p:sp>
        <p:sp>
          <p:nvSpPr>
            <p:cNvPr id="235" name="rc235"/>
            <p:cNvSpPr/>
            <p:nvPr/>
          </p:nvSpPr>
          <p:spPr>
            <a:xfrm>
              <a:off x="8969137" y="5485888"/>
              <a:ext cx="1284213" cy="3416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9026073" y="5542824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9054937" y="5571688"/>
              <a:ext cx="56145" cy="56145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9026073" y="5656697"/>
              <a:ext cx="113872" cy="1138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9045202" y="5669977"/>
              <a:ext cx="75615" cy="65485"/>
            </a:xfrm>
            <a:custGeom>
              <a:avLst/>
              <a:pathLst>
                <a:path w="75615" h="65485">
                  <a:moveTo>
                    <a:pt x="37807" y="0"/>
                  </a:moveTo>
                  <a:lnTo>
                    <a:pt x="75615" y="65485"/>
                  </a:lnTo>
                  <a:lnTo>
                    <a:pt x="0" y="65485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tx240"/>
            <p:cNvSpPr/>
            <p:nvPr/>
          </p:nvSpPr>
          <p:spPr>
            <a:xfrm>
              <a:off x="9196883" y="5563368"/>
              <a:ext cx="99953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9196883" y="5677241"/>
              <a:ext cx="57433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302233" y="3722870"/>
              <a:ext cx="3469325" cy="744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AIC is not comparable across rules (different sample sizes); coefficients are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302233" y="3548250"/>
              <a:ext cx="3500688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Robust to the choice of effort proxy and missing-data rule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360805" y="3545239"/>
              <a:ext cx="84764" cy="10917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2026-07-26T19:00:59Z</dcterms:modified>
  <cp:category/>
</cp:coreProperties>
</file>