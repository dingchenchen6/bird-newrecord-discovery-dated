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  <Relationship Id="rId3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页面结论:气候变暖与调查努力共同决定中国鸟类新分布记录的生成风险</a:t>
            </a:r>
          </a:p>
          <a:p>
            <a:endParaRPr lang="zh-CN" dirty="0"/>
          </a:p>
          <a:p>
            <a:r>
              <a:rPr lang="zh-CN" dirty="0"/>
              <a:t>支撑论断:本报告用发现年定年的完整风险集,分离并量化两类驱动。</a:t>
            </a:r>
          </a:p>
          <a:p>
            <a:endParaRPr lang="zh-CN" dirty="0"/>
          </a:p>
          <a:p>
            <a:r>
              <a:rPr lang="zh-CN" dirty="0"/>
              <a:t>讲稿:自我介绍。这项工作回答的是:新纪录到底记录了鸟的变化,还是我们看鸟方式的变化。</a:t>
            </a:r>
          </a:p>
          <a:p>
            <a:endParaRPr lang="zh-CN" dirty="0"/>
          </a:p>
          <a:p>
            <a:r>
              <a:rPr lang="zh-CN" dirty="0"/>
              <a:t>提示:开场 30 秒。可以先问听众:你们觉得一条新纪录更多是鸟变了,还是我们变了?</a:t>
            </a:r>
          </a:p>
          <a:p>
            <a:endParaRPr lang="zh-CN" dirty="0"/>
          </a:p>
          <a:p>
            <a:r>
              <a:rPr lang="zh-CN" dirty="0"/>
              <a:t>证据出处:MS(标题与摘要)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页面结论:我们对物种分布的知识仍有系统性空缺,而新纪录正是填补空缺的观测</a:t>
            </a:r>
          </a:p>
          <a:p>
            <a:endParaRPr lang="zh-CN" dirty="0"/>
          </a:p>
          <a:p>
            <a:r>
              <a:rPr lang="zh-CN" dirty="0"/>
              <a:t>支撑论断:华莱士空缺意味着已知分布图与真实分布之间存在持续偏差,新纪录是这种偏差被修正的时刻。</a:t>
            </a:r>
          </a:p>
          <a:p>
            <a:endParaRPr lang="zh-CN" dirty="0"/>
          </a:p>
          <a:p>
            <a:r>
              <a:rPr lang="zh-CN" dirty="0"/>
              <a:t>讲稿:先建立动机:分布数据是宏观生态学的基础,但它本身是观测的产物。</a:t>
            </a:r>
          </a:p>
          <a:p>
            <a:endParaRPr lang="zh-CN" dirty="0"/>
          </a:p>
          <a:p>
            <a:r>
              <a:rPr lang="zh-CN" dirty="0"/>
              <a:t>证据出处:FUND(立项依据 1.1 选题背景)、MS(Introduction)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页面结论:三条文献主线各自成熟,却几乎从未在同一个模型里相遇</a:t>
            </a:r>
          </a:p>
          <a:p>
            <a:endParaRPr lang="zh-CN" dirty="0"/>
          </a:p>
          <a:p>
            <a:r>
              <a:rPr lang="zh-CN" dirty="0"/>
              <a:t>支撑论断:气候驱动的分布重组、观测偏差与不完美探测、新纪录作为证据类型,这三支文献分别给出了成熟的方法与结论,但没有一支把生态过程与观测过程放在同一个推断框架内同时估计。</a:t>
            </a:r>
          </a:p>
          <a:p>
            <a:endParaRPr lang="zh-CN" dirty="0"/>
          </a:p>
          <a:p>
            <a:r>
              <a:rPr lang="zh-CN" dirty="0"/>
              <a:t>讲稿:这一页只讲一句话——三条线各自很强,但从来没有交汇。左栏是气候一侧:Parmesan 与 Yohe 2003 确立了跨类群一致的指纹,Loarie 2009 把"变暖有多快"空间化为气候速度,Chen 2011 给出位移速率与变暖速率相称的定量证据,Pecl 2017 把生物多样性重分布抬升为全球议题,Lenoir 2020 做了海陆对比。中栏是观测一侧:Tingley 与 Beissinger 2009 明确了用历史记录推断分布变化的陷阱,Boakes 2010 量化了记录的时空偏倚,Isaac 2014 给出公民科学数据的统计路线,Hughes 2021 的标题就是"采样偏差塑造了我们看到的自然",Bowler 2025 把数据空缺重构为缺失数据问题。右栏是新纪录这一类证据本身:Hortal 2015 提出华莱士空缺,Moura 与 Jetz 2021 量化了陆生脊椎动物仍待发现的空间,Xing 2024、Ding 2025、Chen 2025 是中国本土的三篇直接前作。</a:t>
            </a:r>
          </a:p>
          <a:p>
            <a:endParaRPr lang="zh-CN" dirty="0"/>
          </a:p>
          <a:p>
            <a:r>
              <a:rPr lang="zh-CN" dirty="0"/>
              <a:t>需要强调的数字:无。这一页不放数字,只放结构。</a:t>
            </a:r>
          </a:p>
          <a:p>
            <a:endParaRPr lang="zh-CN" dirty="0"/>
          </a:p>
          <a:p>
            <a:r>
              <a:rPr lang="zh-CN" dirty="0"/>
              <a:t>每栏末尾的"留下的问题"是本页的落点:气候一侧把记录当作分布的直接读数;观测一侧把观测过程当作要扣除的噪声;新纪录一侧停在描述性统计。三个缺口合起来就是下一页。</a:t>
            </a:r>
          </a:p>
          <a:p>
            <a:endParaRPr lang="zh-CN" dirty="0"/>
          </a:p>
          <a:p>
            <a:r>
              <a:rPr lang="zh-CN" dirty="0"/>
              <a:t>预期提问:</a:t>
            </a:r>
          </a:p>
          <a:p>
            <a:r>
              <a:rPr lang="zh-CN" dirty="0"/>
              <a:t>• 问"为什么不引更多中国文献":Xing 2024、Ding 2025、Chen 2025 是三篇最直接的前作,前两篇分别是省级新纪录的总体格局与兽类的生态相关,第三篇正是把 96 种留鸟新纪录读作向极位移——它恰好是本研究要检验的那个读法。</a:t>
            </a:r>
          </a:p>
          <a:p>
            <a:r>
              <a:rPr lang="zh-CN" dirty="0"/>
              <a:t>• 问"占用模型(occupancy)文献为什么不在这里":占用模型需要重复调查数据,本研究的数据是文献汇编,没有重复访问结构,这一点在局限性一页明确说明。</a:t>
            </a:r>
          </a:p>
          <a:p>
            <a:endParaRPr lang="zh-CN" dirty="0"/>
          </a:p>
          <a:p>
            <a:r>
              <a:rPr lang="zh-CN" dirty="0"/>
              <a:t>证据出处:MS(Introduction 第 1–2 段)、REFS(文献 1–4, 5–8, 9–10, 16, 19–21, 29, 37)</a:t>
            </a:r>
          </a:p>
          <a:p>
            <a:endParaRPr lang="zh-CN" dirty="0"/>
          </a:p>
          <a:p>
            <a:r>
              <a:rPr lang="zh-CN" dirty="0"/>
              <a:t>完整引文:</a:t>
            </a:r>
          </a:p>
          <a:p>
            <a:r>
              <a:rPr lang="zh-CN" dirty="0"/>
              <a:t>1. Hortal J. et al. (2015) Annu. Rev. Ecol. Evol. Syst. 46:523–549.</a:t>
            </a:r>
          </a:p>
          <a:p>
            <a:r>
              <a:rPr lang="zh-CN" dirty="0"/>
              <a:t>2. Moura M.R. &amp; Jetz W. (2021) Nat. Ecol. Evol. 5:631–639.</a:t>
            </a:r>
          </a:p>
          <a:p>
            <a:r>
              <a:rPr lang="zh-CN" dirty="0"/>
              <a:t>3. Parmesan C. &amp; Yohe G. (2003) Nature 421:37–42.</a:t>
            </a:r>
          </a:p>
          <a:p>
            <a:r>
              <a:rPr lang="zh-CN" dirty="0"/>
              <a:t>4. Chen I.-C. et al. (2011) Science 333:1024–1026.</a:t>
            </a:r>
          </a:p>
          <a:p>
            <a:r>
              <a:rPr lang="zh-CN" dirty="0"/>
              <a:t>5. Pecl G.T. et al. (2017) Science 355:eaai9214.</a:t>
            </a:r>
          </a:p>
          <a:p>
            <a:r>
              <a:rPr lang="zh-CN" dirty="0"/>
              <a:t>6. Lenoir J. et al. (2020) Nat. Ecol. Evol. 4:1044–1059.</a:t>
            </a:r>
          </a:p>
          <a:p>
            <a:r>
              <a:rPr lang="zh-CN" dirty="0"/>
              <a:t>7. Loarie S.R. et al. (2009) Nature 462:1052–1055.</a:t>
            </a:r>
          </a:p>
          <a:p>
            <a:r>
              <a:rPr lang="zh-CN" dirty="0"/>
              <a:t>8. Tingley M.W. &amp; Beissinger S.R. (2009) Trends Ecol. Evol. 24:625–633.</a:t>
            </a:r>
          </a:p>
          <a:p>
            <a:r>
              <a:rPr lang="zh-CN" dirty="0"/>
              <a:t>9. Boakes E.H. et al. (2010) PLoS Biol. 8:e1000385.</a:t>
            </a:r>
          </a:p>
          <a:p>
            <a:r>
              <a:rPr lang="zh-CN" dirty="0"/>
              <a:t>10. Isaac N.J.B. et al. (2014) Methods Ecol. Evol. 5:1052–1060.</a:t>
            </a:r>
          </a:p>
          <a:p>
            <a:r>
              <a:rPr lang="zh-CN" dirty="0"/>
              <a:t>11. Hughes A.C. et al. (2021) Ecography 44:1259–1269.</a:t>
            </a:r>
          </a:p>
          <a:p>
            <a:r>
              <a:rPr lang="zh-CN" dirty="0"/>
              <a:t>12. Bowler D.E. et al. (2025) Biol. Rev. 100:50–67.</a:t>
            </a:r>
          </a:p>
          <a:p>
            <a:r>
              <a:rPr lang="zh-CN" dirty="0"/>
              <a:t>13. Xing X. et al. (2024) Front. Ecol. Evol. 12:1415268.</a:t>
            </a:r>
          </a:p>
          <a:p>
            <a:r>
              <a:rPr lang="zh-CN" dirty="0"/>
              <a:t>14. Ding C. et al. (2025) Glob. Ecol. Biogeogr. 34:e70165.</a:t>
            </a:r>
          </a:p>
          <a:p>
            <a:r>
              <a:rPr lang="zh-CN" dirty="0"/>
              <a:t>15. Chen S. et al. (2025) Avian Res. 16:100310.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页面结论:三个缺口都不是技术细节,每一个都会改变结论的方向</a:t>
            </a:r>
          </a:p>
          <a:p>
            <a:endParaRPr lang="zh-CN" dirty="0"/>
          </a:p>
          <a:p>
            <a:r>
              <a:rPr lang="zh-CN" dirty="0"/>
              <a:t>支撑论断:事件定年、观测过程的尺度、外推的边界构成三个具体的方法学空缺;本研究对每一个都给出可检验的处理,并量化其后果。</a:t>
            </a:r>
          </a:p>
          <a:p>
            <a:endParaRPr lang="zh-CN" dirty="0"/>
          </a:p>
          <a:p>
            <a:r>
              <a:rPr lang="zh-CN" dirty="0"/>
              <a:t>讲稿:逐行读,每行三段——通行做法、为什么是问题、本研究的处理。第一行定年:所有新纪录汇编都按发表年,因为原始文献只稳定报告这一项;但滞后是右偏的,均值 2.09 年,而且它与观鸟数据库的增长同步,于是在努力与事件之间制造了一段本不存在的协变;本研究全部改按发现年,并加报告完整度 offset 校正末端右删失,83.1% 的事件因此改年。第二行尺度:混合模型的默认结构是物种加区域两层随机截距,但调查行动——省级观鸟节、区域性调查项目、保护区新建、上报渠道变化——发生在省与年这一层,两层结构吸收不了,残余就泄漏进固定效应,系统性高估任何与观测能力同趋势的变量;本研究加入省 × 年随机截距,条件 AUC 由 0.721 升到 0.854。第三行外推:通行做法是把拟合关系直接投到 SSP 情景,而外推比例几乎从不报告;物种参照的气候梯度是两个高度协变的距平之差,历史标准差很小,而未来的省 - 分布区差值很大,两者之比决定了外推有多远;本研究逐面板报告支撑域内比例,2030 年只有 48%,2080 年只有 2%,所以末世纪结果只作情景演示,不称预报。</a:t>
            </a:r>
          </a:p>
          <a:p>
            <a:endParaRPr lang="zh-CN" dirty="0"/>
          </a:p>
          <a:p>
            <a:r>
              <a:rPr lang="zh-CN" dirty="0"/>
              <a:t>需要强调的数字:2.09 年(平均发表滞后)、83.1%(改年事件比例)、0.721 → 0.854(条件 AUC)、48% 与 2%(支撑域内比例)。</a:t>
            </a:r>
          </a:p>
          <a:p>
            <a:endParaRPr lang="zh-CN" dirty="0"/>
          </a:p>
          <a:p>
            <a:r>
              <a:rPr lang="zh-CN" dirty="0"/>
              <a:t>过渡句:这三个缺口指向同一个科学问题——两类过程能否在同一个模型里被同时估计并分离?下一页给出这个问题的正式表述。</a:t>
            </a:r>
          </a:p>
          <a:p>
            <a:endParaRPr lang="zh-CN" dirty="0"/>
          </a:p>
          <a:p>
            <a:r>
              <a:rPr lang="zh-CN" dirty="0"/>
              <a:t>预期提问:</a:t>
            </a:r>
          </a:p>
          <a:p>
            <a:r>
              <a:rPr lang="zh-CN" dirty="0"/>
              <a:t>• 问"发现年从哪里来":来自 CBNR 发布版数据集的 discovery_date 字段;缺失时以发表年减一年作为保守回填,并要求回填值不晚于发表年。敏感性分析显示排除回填样本后四条主结论方向不变。</a:t>
            </a:r>
          </a:p>
          <a:p>
            <a:r>
              <a:rPr lang="zh-CN" dirty="0"/>
              <a:t>• 问"省 × 年随机效应会不会把气候信号也吸走":会吸走省级共同的年际波动,这正是我们想要的;累积变暖是物种参照的差值,同省同年不同物种取值不同,因此不与省 × 年共线——这一点在核心发现第二页的方差分解里有直接证据。</a:t>
            </a:r>
          </a:p>
          <a:p>
            <a:r>
              <a:rPr lang="zh-CN" dirty="0"/>
              <a:t>• 问"支撑域掩膜是不是太保守":判据是每个协变量落在拟合数据的 1–99 百分位区间内且方向一致。放宽到 0.5–99.5 百分位后 2030 年比例升到约六成,但 2080 年仍在个位数,结论不变。</a:t>
            </a:r>
          </a:p>
          <a:p>
            <a:endParaRPr lang="zh-CN" dirty="0"/>
          </a:p>
          <a:p>
            <a:r>
              <a:rPr lang="zh-CN" dirty="0"/>
              <a:t>证据出处:MS(Introduction 三段式空缺陈述)、FUND(2.1 关键科学问题)、REFS(文献 13, 16, 21, 33, 34, 37, 50, 55)</a:t>
            </a:r>
          </a:p>
          <a:p>
            <a:endParaRPr lang="zh-CN" dirty="0"/>
          </a:p>
          <a:p>
            <a:r>
              <a:rPr lang="zh-CN" dirty="0"/>
              <a:t>完整引文:</a:t>
            </a:r>
          </a:p>
          <a:p>
            <a:r>
              <a:rPr lang="zh-CN" dirty="0"/>
              <a:t>1. Isaac N.J.B. et al. (2014) Methods Ecol. Evol. 5:1052–1060.</a:t>
            </a:r>
          </a:p>
          <a:p>
            <a:r>
              <a:rPr lang="zh-CN" dirty="0"/>
              <a:t>2. Hughes A.C. et al. (2021) Ecography 44:1259–1269.</a:t>
            </a:r>
          </a:p>
          <a:p>
            <a:r>
              <a:rPr lang="zh-CN" dirty="0"/>
              <a:t>3. Bowler D.E. et al. (2025) Biol. Rev. 100:50–67.</a:t>
            </a:r>
          </a:p>
          <a:p>
            <a:r>
              <a:rPr lang="zh-CN" dirty="0"/>
              <a:t>4. Williams J.W. &amp; Jackson S.T. (2007) Front. Ecol. Environ. 5:475–482.</a:t>
            </a:r>
          </a:p>
          <a:p>
            <a:r>
              <a:rPr lang="zh-CN" dirty="0"/>
              <a:t>5. Mahony C.R. et al. (2017) Glob. Change Biol. 23:3934–3955.</a:t>
            </a:r>
          </a:p>
          <a:p>
            <a:r>
              <a:rPr lang="zh-CN" dirty="0"/>
              <a:t>6. Guillera-Arroita G. et al. (2015) Glob. Ecol. Biogeogr. 24:276–292.</a:t>
            </a:r>
          </a:p>
          <a:p>
            <a:r>
              <a:rPr lang="zh-CN" dirty="0"/>
              <a:t>7. Brooks M.E. et al. (2017) R J. 9:378–400.</a:t>
            </a:r>
          </a:p>
          <a:p>
            <a:r>
              <a:rPr lang="zh-CN" dirty="0"/>
              <a:t>8. Xing X. et al. (2024) Front. Ecol. Evol. 12:1415268.</a:t>
            </a:r>
          </a:p>
          <a:p>
            <a:r>
              <a:rPr lang="zh-CN" dirty="0"/>
              <a:t>9. Ding C. et al. (2025) Glob. Ecol. Biogeogr. 34:e70165.</a:t>
            </a:r>
          </a:p>
          <a:p>
            <a:r>
              <a:rPr lang="zh-CN" dirty="0"/>
              <a:t>10. Chen S. et al. (2025) Avian Res. 16:100310.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页面结论:一条新纪录可能来自真实的分布扩张,也可能只是有人终于去看了</a:t>
            </a:r>
          </a:p>
          <a:p>
            <a:endParaRPr lang="zh-CN" dirty="0"/>
          </a:p>
          <a:p>
            <a:r>
              <a:rPr lang="zh-CN" dirty="0"/>
              <a:t>支撑论断:两种机制在数据上高度混淆,不加区分地归因于气候变化会系统性高估生态信号。</a:t>
            </a:r>
          </a:p>
          <a:p>
            <a:endParaRPr lang="zh-CN" dirty="0"/>
          </a:p>
          <a:p>
            <a:r>
              <a:rPr lang="zh-CN" dirty="0"/>
              <a:t>讲稿:这是基金申请书的关键科学问题,本报告针对鸟类给出答案。</a:t>
            </a:r>
          </a:p>
          <a:p>
            <a:endParaRPr lang="zh-CN" dirty="0"/>
          </a:p>
          <a:p>
            <a:r>
              <a:rPr lang="zh-CN" dirty="0"/>
              <a:t>证据出处:FUND(2.1 关键科学问题)、MS(Introduction)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页面结论:把问题写成离散时间风险模型:物种×省×年的完整风险集</a:t>
            </a:r>
          </a:p>
          <a:p>
            <a:endParaRPr lang="zh-CN" dirty="0"/>
          </a:p>
          <a:p>
            <a:r>
              <a:rPr lang="zh-CN" dirty="0"/>
              <a:t>支撑论断:以 cloglog 连接的比例风险模型,同时纳入物种参照的累积变暖与调查努力,并用三层随机效应吸收异质性。</a:t>
            </a:r>
          </a:p>
          <a:p>
            <a:endParaRPr lang="zh-CN" dirty="0"/>
          </a:p>
          <a:p>
            <a:r>
              <a:rPr lang="zh-CN" dirty="0"/>
              <a:t>讲稿:解释风险集:每个候选物种-省对从2002年起逐年处于风险中,首次记录后退出。</a:t>
            </a:r>
          </a:p>
          <a:p>
            <a:endParaRPr lang="zh-CN" dirty="0"/>
          </a:p>
          <a:p>
            <a:r>
              <a:rPr lang="zh-CN" dirty="0"/>
              <a:t>证据出处:MS(Methods 风险集与模型)、RAT(模型组件依据)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页面结论:按发表年定年会把努力效应虚增 37%,并制造出并不存在的气候变异效应</a:t>
            </a:r>
          </a:p>
          <a:p>
            <a:endParaRPr lang="zh-CN" dirty="0"/>
          </a:p>
          <a:p>
            <a:r>
              <a:rPr lang="zh-CN" dirty="0"/>
              <a:t>支撑论断:81.7% 的记录发表滞后至少一年;改用发现年后努力 HR 由 1.788 降到 1.305,而累积变暖效应不降反升。</a:t>
            </a:r>
          </a:p>
          <a:p>
            <a:endParaRPr lang="zh-CN" dirty="0"/>
          </a:p>
          <a:p>
            <a:r>
              <a:rPr lang="zh-CN" dirty="0"/>
              <a:t>讲稿:这一页压缩讲。要点:发表年与观鸟数据库同步增长,按发表年对齐会人为制造努力-事件协变。</a:t>
            </a:r>
          </a:p>
          <a:p>
            <a:endParaRPr lang="zh-CN" dirty="0"/>
          </a:p>
          <a:p>
            <a:r>
              <a:rPr lang="zh-CN" dirty="0"/>
              <a:t>提示:这页快讲。如果时间紧,只说一句:按发表年定年会把努力效应虚增三分之一。</a:t>
            </a:r>
          </a:p>
          <a:p>
            <a:endParaRPr lang="zh-CN" dirty="0"/>
          </a:p>
          <a:p>
            <a:r>
              <a:rPr lang="zh-CN" dirty="0"/>
              <a:t>证据出处:F2(Fig2 定年校正瀑布)、MS(Results 定年)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页面结论:气候变暖与调查努力的效应量基本相当,而非努力单方面主导</a:t>
            </a:r>
          </a:p>
          <a:p>
            <a:endParaRPr lang="zh-CN" dirty="0"/>
          </a:p>
          <a:p>
            <a:r>
              <a:rPr lang="zh-CN" dirty="0"/>
              <a:t>支撑论断:累积变暖 HR 1.362 (95% CI 1.216-1.524),调查努力 HR 1.404 (1.245-1.583),三档 SDM 阈值下结论一致。</a:t>
            </a:r>
          </a:p>
          <a:p>
            <a:endParaRPr lang="zh-CN" dirty="0"/>
          </a:p>
          <a:p>
            <a:r>
              <a:rPr lang="zh-CN" dirty="0"/>
              <a:t>讲稿:强调:这推翻了'新纪录主要是采样假象'的简单叙事,也不支持'主要是气候'的另一极端。</a:t>
            </a:r>
          </a:p>
          <a:p>
            <a:endParaRPr lang="zh-CN" dirty="0"/>
          </a:p>
          <a:p>
            <a:r>
              <a:rPr lang="zh-CN" dirty="0"/>
              <a:t>提示:这是全场最重要的一页,给足停顿。两个数字要念出来。</a:t>
            </a:r>
          </a:p>
          <a:p>
            <a:endParaRPr lang="zh-CN" dirty="0"/>
          </a:p>
          <a:p>
            <a:r>
              <a:rPr lang="zh-CN" dirty="0"/>
              <a:t>证据出处:F1(Fig1a 系数森林图)、MS(Results 主结果)</a:t>
            </a:r>
          </a:p>
          <a:p>
            <a:endParaRPr lang="zh-CN" dirty="0"/>
          </a:p>
          <a:p>
            <a:r>
              <a:rPr lang="zh-CN" dirty="0"/>
              <a:t>本轮新增:效应量的参照点(会被审稿人和同行问到):1.362 的参照点不是 1。</a:t>
            </a:r>
          </a:p>
          <a:p>
            <a:r>
              <a:rPr lang="zh-CN" dirty="0"/>
              <a:t>省 × 年层内打乱物种特异气候、或打乱事件落在哪个物种,模型仍能得到 1.157–1.167,</a:t>
            </a:r>
          </a:p>
          <a:p>
            <a:r>
              <a:rPr lang="zh-CN" dirty="0"/>
              <a:t>因为这两种重排都保留了省-年的气候与事件共变。观测值稳定落在零分布之外(P = 0.005),</a:t>
            </a:r>
          </a:p>
          <a:p>
            <a:r>
              <a:rPr lang="zh-CN" dirty="0"/>
              <a:t>但可归因于物种特异参照的增量是 1.362 / 1.157 ≈ 1.18。若被问到"这个效应有多大",</a:t>
            </a:r>
          </a:p>
          <a:p>
            <a:r>
              <a:rPr lang="zh-CN" dirty="0"/>
              <a:t>标准答法是:显著且稳健,但增量约 18% 而非 36%。</a:t>
            </a:r>
          </a:p>
          <a:p>
            <a:endParaRPr lang="zh-CN" dirty="0"/>
          </a:p>
          <a:p>
            <a:r>
              <a:rPr lang="zh-CN" dirty="0"/>
              <a:t>努力效应正相反:打乱它与事件的时间对齐后塌到 0.980(零分布 95% 覆盖 1),</a:t>
            </a:r>
          </a:p>
          <a:p>
            <a:r>
              <a:rPr lang="zh-CN" dirty="0"/>
              <a:t>说明它确实来自时间对齐,这是对努力效应最强的支持。</a:t>
            </a:r>
          </a:p>
          <a:p>
            <a:endParaRPr lang="zh-CN" dirty="0"/>
          </a:p>
          <a:p>
            <a:r>
              <a:rPr lang="zh-CN" dirty="0"/>
              <a:t>另外,Wald 区间对省级聚类偏窄。按省重抽 300 次后变暖 1.20–1.72、努力 1.21–1.76,</a:t>
            </a:r>
          </a:p>
          <a:p>
            <a:r>
              <a:rPr lang="zh-CN" dirty="0"/>
              <a:t>下界仍 &gt; 1,结论方向不变。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页面结论:变暖的边际作用在调查稀疏的地方最强,在覆盖密集处趋于平缓</a:t>
            </a:r>
          </a:p>
          <a:p>
            <a:endParaRPr lang="zh-CN" dirty="0"/>
          </a:p>
          <a:p>
            <a:r>
              <a:rPr lang="zh-CN" dirty="0"/>
              <a:t>支撑论断:变暖×努力交互 HR 0.849 (P = 3.7e-3);低努力省份的风险曲线随变暖上升最陡。</a:t>
            </a:r>
          </a:p>
          <a:p>
            <a:endParaRPr lang="zh-CN" dirty="0"/>
          </a:p>
          <a:p>
            <a:r>
              <a:rPr lang="zh-CN" dirty="0"/>
              <a:t>讲稿:两种机制都说得通:调查稀疏区多为西部山地气候梯度陡;密集区的空缺已被填得差不多。</a:t>
            </a:r>
          </a:p>
          <a:p>
            <a:endParaRPr lang="zh-CN" dirty="0"/>
          </a:p>
          <a:p>
            <a:r>
              <a:rPr lang="zh-CN" dirty="0"/>
              <a:t>证据出处:F1(Fig1b 交互边际预测)、F5(Fig5c 自然单位偏效应)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页面结论:观测过程本身的时空冲击比任何一个驱动都大</a:t>
            </a:r>
          </a:p>
          <a:p>
            <a:endParaRPr lang="zh-CN" dirty="0"/>
          </a:p>
          <a:p>
            <a:r>
              <a:rPr lang="zh-CN" dirty="0"/>
              <a:t>支撑论断:省×年随机效应 SD 0.804,每 1 个标准差使风险乘以 2.23,超过变暖(1.36)与努力(1.40);条件 AUC 由 0.721 升至 0.854。</a:t>
            </a:r>
          </a:p>
          <a:p>
            <a:endParaRPr lang="zh-CN" dirty="0"/>
          </a:p>
          <a:p>
            <a:r>
              <a:rPr lang="zh-CN" dirty="0"/>
              <a:t>讲稿:这是本研究最该被记住的一句:生物多样性记录的变动,有很大一部分与鸟本身无关。</a:t>
            </a:r>
          </a:p>
          <a:p>
            <a:endParaRPr lang="zh-CN" dirty="0"/>
          </a:p>
          <a:p>
            <a:r>
              <a:rPr lang="zh-CN" dirty="0"/>
              <a:t>提示:预期提问:省×年随机效应会不会把气候信号也吸收掉?答:不会,气候是省内跨物种变化的,而该随机效应是省-年层面的。</a:t>
            </a:r>
          </a:p>
          <a:p>
            <a:endParaRPr lang="zh-CN" dirty="0"/>
          </a:p>
          <a:p>
            <a:r>
              <a:rPr lang="zh-CN" dirty="0"/>
              <a:t>证据出处:F5(Fig5d 层级方差的风险倍数)、F6(Fig6c 省×年随机效应热图)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页面结论:调查努力的边际产出正在下降,而气候效应没有</a:t>
            </a:r>
          </a:p>
          <a:p>
            <a:endParaRPr lang="zh-CN" dirty="0"/>
          </a:p>
          <a:p>
            <a:r>
              <a:rPr lang="zh-CN" dirty="0"/>
              <a:t>支撑论断:努力×时间交互 β = -0.211 (P = 7.7e-4),努力 HR 由 2002 年的 2.18 降至 2024 年的 1.07;气候项无此趋势 (P = 0.82)。</a:t>
            </a:r>
          </a:p>
          <a:p>
            <a:endParaRPr lang="zh-CN" dirty="0"/>
          </a:p>
          <a:p>
            <a:r>
              <a:rPr lang="zh-CN" dirty="0"/>
              <a:t>讲稿:这是两个系数捕捉不同过程的最有力证据:一个饱和的观测过程,一个不饱和的气候过程。</a:t>
            </a:r>
          </a:p>
          <a:p>
            <a:endParaRPr lang="zh-CN" dirty="0"/>
          </a:p>
          <a:p>
            <a:r>
              <a:rPr lang="zh-CN" dirty="0"/>
              <a:t>提示:预期提问:是不是因为近年数据右删失?答:已用报告完整度 offset 校正,且趋势在校正后仍在。</a:t>
            </a:r>
          </a:p>
          <a:p>
            <a:endParaRPr lang="zh-CN" dirty="0"/>
          </a:p>
          <a:p>
            <a:r>
              <a:rPr lang="zh-CN" dirty="0"/>
              <a:t>证据出处:F6(Fig6d 努力回报随时间下降)、MS(Results 努力回报)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页面结论:同一结论在物种、省份与方向三个尺度上重复出现</a:t>
            </a:r>
          </a:p>
          <a:p>
            <a:endParaRPr lang="zh-CN" dirty="0"/>
          </a:p>
          <a:p>
            <a:r>
              <a:rPr lang="zh-CN" dirty="0"/>
              <a:t>支撑论断:跨尺度验证是本研究的第二条主线。</a:t>
            </a:r>
          </a:p>
          <a:p>
            <a:endParaRPr lang="zh-CN" dirty="0"/>
          </a:p>
          <a:p>
            <a:r>
              <a:rPr lang="zh-CN" dirty="0"/>
              <a:t>讲稿:过渡页。接下来三页分别是物种级、省级、方向性。</a:t>
            </a:r>
          </a:p>
          <a:p>
            <a:endParaRPr lang="zh-CN" dirty="0"/>
          </a:p>
          <a:p>
            <a:r>
              <a:rPr lang="zh-CN" dirty="0"/>
              <a:t>证据出处:MS(Results 多尺度)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页面结论:部分迁徙鸟与广分布种最可能产生新的省级记录</a:t>
            </a:r>
          </a:p>
          <a:p>
            <a:endParaRPr lang="zh-CN" dirty="0"/>
          </a:p>
          <a:p>
            <a:r>
              <a:rPr lang="zh-CN" dirty="0"/>
              <a:t>支撑论断:系统发育逻辑回归下,部分迁徙 OR 1.91-2.50、分布区面积 OR 1.23-1.46;体重、窝卵数、栖息地宽度、食性宽度均为零效应。</a:t>
            </a:r>
          </a:p>
          <a:p>
            <a:endParaRPr lang="zh-CN" dirty="0"/>
          </a:p>
          <a:p>
            <a:r>
              <a:rPr lang="zh-CN" dirty="0"/>
              <a:t>讲稿:这直接验证了基金申请书中'鸟类新纪录集中在迁徙性广适物种'的假设a。</a:t>
            </a:r>
          </a:p>
          <a:p>
            <a:endParaRPr lang="zh-CN" dirty="0"/>
          </a:p>
          <a:p>
            <a:r>
              <a:rPr lang="zh-CN" dirty="0"/>
              <a:t>提示:呼应基金申请书假设 a。可以点名说'这条假设得到了支持'。</a:t>
            </a:r>
          </a:p>
          <a:p>
            <a:endParaRPr lang="zh-CN" dirty="0"/>
          </a:p>
          <a:p>
            <a:r>
              <a:rPr lang="zh-CN" dirty="0"/>
              <a:t>证据出处:F9(Fig9 物种水平系数)、FUND(科学假设a)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页面结论:把迁徙鸟单独拟合,会显现出汇总模型掩盖的迷鸟机制</a:t>
            </a:r>
          </a:p>
          <a:p>
            <a:endParaRPr lang="zh-CN" dirty="0"/>
          </a:p>
          <a:p>
            <a:r>
              <a:rPr lang="zh-CN" dirty="0"/>
              <a:t>支撑论断:迁徙鸟中手翼指数越低(OR 0.51, P = 3.8e-4)、体型越大(OR 1.74, P = 0.0037)越易被新记录,二者在汇总模型中均为零。</a:t>
            </a:r>
          </a:p>
          <a:p>
            <a:endParaRPr lang="zh-CN" dirty="0"/>
          </a:p>
          <a:p>
            <a:r>
              <a:rPr lang="zh-CN" dirty="0"/>
              <a:t>讲稿:低手翼指数=飞行效率差=更易被吹离航线;大体型=更易被发现。两者都指向迷鸟。</a:t>
            </a:r>
          </a:p>
          <a:p>
            <a:endParaRPr lang="zh-CN" dirty="0"/>
          </a:p>
          <a:p>
            <a:r>
              <a:rPr lang="zh-CN" dirty="0"/>
              <a:t>证据出处:F8(Fig8 迁徙分层)、F9(Fig9 分组效应)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页面结论:在省级尺度上,努力表现为边际收益递减而非计数效应</a:t>
            </a:r>
          </a:p>
          <a:p>
            <a:endParaRPr lang="zh-CN" dirty="0"/>
          </a:p>
          <a:p>
            <a:r>
              <a:rPr lang="zh-CN" dirty="0"/>
              <a:t>支撑论断:负二项模型中仅物种丰富度显著(IRR 1.27);以近期努力为 offset 后,早期已充分覆盖的省份单位努力产出更低(IRR 0.71, P = 0.028)。</a:t>
            </a:r>
          </a:p>
          <a:p>
            <a:endParaRPr lang="zh-CN" dirty="0"/>
          </a:p>
          <a:p>
            <a:r>
              <a:rPr lang="zh-CN" dirty="0"/>
              <a:t>讲稿:与第9页的时间趋势是同一信号在另一个尺度、另一种响应变量上的再现。</a:t>
            </a:r>
          </a:p>
          <a:p>
            <a:endParaRPr lang="zh-CN" dirty="0"/>
          </a:p>
          <a:p>
            <a:r>
              <a:rPr lang="zh-CN" dirty="0"/>
              <a:t>证据出处:F10(Fig10 省级模型与层次分割)、MS(Results 省级)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页面结论:新纪录强烈偏向物种已知分布区的东侧与东北侧</a:t>
            </a:r>
          </a:p>
          <a:p>
            <a:endParaRPr lang="zh-CN" dirty="0"/>
          </a:p>
          <a:p>
            <a:r>
              <a:rPr lang="zh-CN" dirty="0"/>
              <a:t>支撑论断:八方位卡方检验 χ² = 580.1 (df = 7, P = 4.6e-121);东 36.9%、东北 27.9%,南与西各不足 4%。</a:t>
            </a:r>
          </a:p>
          <a:p>
            <a:endParaRPr lang="zh-CN" dirty="0"/>
          </a:p>
          <a:p>
            <a:r>
              <a:rPr lang="zh-CN" dirty="0"/>
              <a:t>讲稿:关键提醒:中国的观鸟人口梯度是自西向东,不是自南向北,所以这个偏倚更倾向观测性解释。</a:t>
            </a:r>
          </a:p>
          <a:p>
            <a:endParaRPr lang="zh-CN" dirty="0"/>
          </a:p>
          <a:p>
            <a:r>
              <a:rPr lang="zh-CN" dirty="0"/>
              <a:t>提示:预期提问:东偏是不是因为东部人多?答:正是,这也是我把它归为观测性解释的原因。</a:t>
            </a:r>
          </a:p>
          <a:p>
            <a:endParaRPr lang="zh-CN" dirty="0"/>
          </a:p>
          <a:p>
            <a:r>
              <a:rPr lang="zh-CN" dirty="0"/>
              <a:t>证据出处:FD1(总体方向风玫瑰)、FD2(分目方向风玫瑰)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页面结论:把模型推到未来,必须同时给出它失效的边界</a:t>
            </a:r>
          </a:p>
          <a:p>
            <a:endParaRPr lang="zh-CN" dirty="0"/>
          </a:p>
          <a:p>
            <a:r>
              <a:rPr lang="zh-CN" dirty="0"/>
              <a:t>支撑论断:预测是有价值的,但外推的可信区间必须显式化。</a:t>
            </a:r>
          </a:p>
          <a:p>
            <a:endParaRPr lang="zh-CN" dirty="0"/>
          </a:p>
          <a:p>
            <a:r>
              <a:rPr lang="zh-CN" dirty="0"/>
              <a:t>讲稿:过渡页。</a:t>
            </a:r>
          </a:p>
          <a:p>
            <a:endParaRPr lang="zh-CN" dirty="0"/>
          </a:p>
          <a:p>
            <a:r>
              <a:rPr lang="zh-CN" dirty="0"/>
              <a:t>证据出处:MS(Discussion 预测)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页面结论:未来情景下风险上升集中在西南与东北,但可外推的格子越来越少</a:t>
            </a:r>
          </a:p>
          <a:p>
            <a:endParaRPr lang="zh-CN" dirty="0"/>
          </a:p>
          <a:p>
            <a:r>
              <a:rPr lang="zh-CN" dirty="0"/>
              <a:t>支撑论断:SSP2-4.5 下 2030 年仅 48% 的物种-省组合仍落在拟合协变量范围内,2050 年降至 10%,2080 年 2%。</a:t>
            </a:r>
          </a:p>
          <a:p>
            <a:endParaRPr lang="zh-CN" dirty="0"/>
          </a:p>
          <a:p>
            <a:r>
              <a:rPr lang="zh-CN" dirty="0"/>
              <a:t>讲稿:所以主图只聚合支撑域内的格子,并在每个面板标出合格比例。</a:t>
            </a:r>
          </a:p>
          <a:p>
            <a:endParaRPr lang="zh-CN" dirty="0"/>
          </a:p>
          <a:p>
            <a:r>
              <a:rPr lang="zh-CN" dirty="0"/>
              <a:t>提示:如果被问预测可信度,直接翻到下一页。</a:t>
            </a:r>
          </a:p>
          <a:p>
            <a:endParaRPr lang="zh-CN" dirty="0"/>
          </a:p>
          <a:p>
            <a:r>
              <a:rPr lang="zh-CN" dirty="0"/>
              <a:t>证据出处:FM1(FigM1 机制投影(含支撑域掩膜))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页面结论:机制模型与机器学习在观测范围内一致,一出范围就完全分道扬镳</a:t>
            </a:r>
          </a:p>
          <a:p>
            <a:endParaRPr lang="zh-CN" dirty="0"/>
          </a:p>
          <a:p>
            <a:r>
              <a:rPr lang="zh-CN" dirty="0"/>
              <a:t>支撑论断:范围内 Spearman ρ = 0.54;范围外 ρ ≈ 0,机制模型 176/186 格预测上升而 ML 仅 42/186,因为树模型无法外推。</a:t>
            </a:r>
          </a:p>
          <a:p>
            <a:endParaRPr lang="zh-CN" dirty="0"/>
          </a:p>
          <a:p>
            <a:r>
              <a:rPr lang="zh-CN" dirty="0"/>
              <a:t>讲稿:这本身是方法学结论:可解释ML代理不适合超范围的气候投影。</a:t>
            </a:r>
          </a:p>
          <a:p>
            <a:endParaRPr lang="zh-CN" dirty="0"/>
          </a:p>
          <a:p>
            <a:r>
              <a:rPr lang="zh-CN" dirty="0"/>
              <a:t>提示:这页是主动交代局限,评审通常会加分。</a:t>
            </a:r>
          </a:p>
          <a:p>
            <a:endParaRPr lang="zh-CN" dirty="0"/>
          </a:p>
          <a:p>
            <a:r>
              <a:rPr lang="zh-CN" dirty="0"/>
              <a:t>证据出处:FM4(FigM4 机制 vs ML 一致性)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页面结论:保护区里的新纪录富集,主要记录的是保护区作为观测装置的功能</a:t>
            </a:r>
          </a:p>
          <a:p>
            <a:endParaRPr lang="zh-CN" dirty="0"/>
          </a:p>
          <a:p>
            <a:r>
              <a:rPr lang="zh-CN" dirty="0"/>
              <a:t>支撑论断:表观 2.5 倍的富集,在以「观鸟人实际去过的地方」为对照后降到 1.57;而这个残余量由极少数热门国家级保护区、且只在观鸟爆发期贡献,同时区内每份清单本身就多记录 24% 的物种。因此 1.57 只能读作生态效应的上界。</a:t>
            </a:r>
          </a:p>
          <a:p>
            <a:endParaRPr lang="zh-CN" dirty="0"/>
          </a:p>
          <a:p>
            <a:r>
              <a:rPr lang="zh-CN" dirty="0"/>
              <a:t>讲稿:这一页是把主线接到保护规划上的第一步。先给三个数字:新纪录 26.2% 落在自然保护区内,而保护区只占陆域 10.4%,看起来是 2.5 倍富集。关键是对照怎么选。我们用了 286 万份 GBIF/eBird 观鸟记录、4.36 万个地点,把对照定义成「同省同年观鸟人实际去过的地方」,每个事件配 200 个。注意一个反直觉的事实:全国尺度上观鸟努力并没有往保护区跑,按 checklist 加权只有 10.8%,和面积份额几乎一样。条件 logistic 给出 OR 1.71,加上海拔经度气候后 1.57。但右下角这三条把它压回去了:剔除雅鲁藏布大峡谷和壶瓶山这两处最大的宿主之后是 1.16,置信区间跨 1;只看 2002 到 2012 年是 0.97,完全没有效应,而保护网络恰恰在 2012 年之后就没再增加过面积;更重要的是,区内每份观鸟清单平均记录 18.9 个物种,区外 15.3,高出 24%——这一层「在保护区里看得更认真」是省×年分层扣不掉的。</a:t>
            </a:r>
          </a:p>
          <a:p>
            <a:endParaRPr lang="zh-CN" dirty="0"/>
          </a:p>
          <a:p>
            <a:r>
              <a:rPr lang="zh-CN" dirty="0"/>
              <a:t>推断规则(在看结果之前就写死的):因为格内偏倚扣不掉,零结果是强证据、正结果是弱证据。所以我们不说「保护区确实在承接重分布」,只说 1.57 是上界。</a:t>
            </a:r>
          </a:p>
          <a:p>
            <a:endParaRPr lang="zh-CN" dirty="0"/>
          </a:p>
          <a:p>
            <a:r>
              <a:rPr lang="zh-CN" dirty="0"/>
              <a:t>需要强调的数字:26.2% / 10.8% / 10.4%;OR 1.57 (1.26–1.96);剔除前两大宿主 1.16 (0.92–1.47);2002–2012 年 0.97;区内清单多记 24%;172 条区内事件只落在 68 处保护区。</a:t>
            </a:r>
          </a:p>
          <a:p>
            <a:endParaRPr lang="zh-CN" dirty="0"/>
          </a:p>
          <a:p>
            <a:r>
              <a:rPr lang="zh-CN" dirty="0"/>
              <a:t>图中四个面板:a 基准对比;b 估计量阶梯(两种对照口径);c 稳健性;d 集中度曲线——前 9 处保护区就占了区内事件的一半。</a:t>
            </a:r>
          </a:p>
          <a:p>
            <a:endParaRPr lang="zh-CN" dirty="0"/>
          </a:p>
          <a:p>
            <a:r>
              <a:rPr lang="zh-CN" dirty="0"/>
              <a:t>没放进图但会被问到的一条:保护区也不提高「首次记录转为持续存在」的概率。用观测层的后续再检出,区内 43.1%、区外 44.8%,控制后续观测努力后 OR 1.01 (0.62–1.64)。全样本 41.1% 的首次记录此后被重新检出,22.5% 在三个以上年份重复出现——这也是对「新纪录是不是都是迷鸟」的第一手回答。</a:t>
            </a:r>
          </a:p>
          <a:p>
            <a:endParaRPr lang="zh-CN" dirty="0"/>
          </a:p>
          <a:p>
            <a:r>
              <a:rPr lang="zh-CN" dirty="0"/>
              <a:t>预期提问:</a:t>
            </a:r>
          </a:p>
          <a:p>
            <a:r>
              <a:rPr lang="zh-CN" dirty="0"/>
              <a:t>• 问「是不是保护区里都是调查队在做工作」:不是。按发现方式分,观鸟式发现的区内比例 28.5%,标本采集/红外相机/环志等专业调查 26.3%,没有差别。</a:t>
            </a:r>
          </a:p>
          <a:p>
            <a:r>
              <a:rPr lang="zh-CN" dirty="0"/>
              <a:t>• 问「坐标是不是从保护区名反查来的」:坐标量化到两位小数约 1.1 km,缓冲 0/1.1/3/5 km 下的落区率是 26.2%/30.1%/35.0%/37.6%,平缓上升没有阈值跳变。但逐条回溯原始文献的溯源审计还没做,这一点在方法里写明,结论标注为暂定。</a:t>
            </a:r>
          </a:p>
          <a:p>
            <a:r>
              <a:rPr lang="zh-CN" dirty="0"/>
              <a:t>• 问口径:全部结论只适用于 1028 处已制图、以国家级为主、2012 年前建立的自然保护区,不含 2021 年起的国家公园、自然公园与生态保护红线。</a:t>
            </a:r>
          </a:p>
          <a:p>
            <a:endParaRPr lang="zh-CN" dirty="0"/>
          </a:p>
          <a:p>
            <a:r>
              <a:rPr lang="zh-CN" dirty="0"/>
              <a:t>证据出处:MS(保护地模块 C1)、REFS(Joppa &amp; Pfaff 2009 保护地选址偏倚)</a:t>
            </a:r>
          </a:p>
          <a:p>
            <a:endParaRPr lang="zh-CN" dirty="0"/>
          </a:p>
          <a:p>
            <a:r>
              <a:rPr lang="zh-CN" dirty="0"/>
              <a:t>过渡句:既然记录数不能当成效指标,那它能当什么?下一页说它能用来把预测细化到县。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页面结论:响应变量是行政绑定的,不能直接换尺度;拆成两段之后可以预测到县</a:t>
            </a:r>
          </a:p>
          <a:p>
            <a:endParaRPr lang="zh-CN" dirty="0"/>
          </a:p>
          <a:p>
            <a:r>
              <a:rPr lang="zh-CN" dirty="0"/>
              <a:t>支撑论断:省级新纪录预测拆成「省级风险 × 省内分配」两段。分配这一段用条件 logit 拟合,样本外县级 top-1 命中 16.1%(103 个备择的随机期望约 1%),真实县落在预测前 10% 之内的比例 45.4%。限制外推年限的是省级那一段,不是县级分配。</a:t>
            </a:r>
          </a:p>
          <a:p>
            <a:endParaRPr lang="zh-CN" dirty="0"/>
          </a:p>
          <a:p>
            <a:r>
              <a:rPr lang="zh-CN" dirty="0"/>
              <a:t>讲稿:先说为什么不能直接做。响应变量是「某物种在某省首次被记录」,这是行政绑定的——一个物种在某县第一次出现,可能同省别处早就知道,那不是新的省级纪录;而且原始汇编只收省级首次记录,根本不存在同类型的县级事件集。所以我们把它拆成两段:第一段是已经冻结的省级风险模型,回答「该省该年会不会发生一条新纪录」;第二段是新建的省内分配模型,回答「既然发生了,落在哪个县」。第二段是条件 logit,每个事件自成一层,备择集是该省的全部县,中位 103 个。</a:t>
            </a:r>
          </a:p>
          <a:p>
            <a:endParaRPr lang="zh-CN" dirty="0"/>
          </a:p>
          <a:p>
            <a:r>
              <a:rPr lang="zh-CN" dirty="0"/>
              <a:t>关键的检验在中间那张卡:用 2002 到 2018 年拟合,预测 2019 到 2024 年。县级 top-1 命中 16.1%,而 103 个备择的随机期望大约 1%,是十七倍;真实发生的那个县落在预测前 10% 之内的比例是 45.4%,随机期望 10%。留一省验证——把整个省从训练集里拿掉再预测这个省——29 个省里 27 个优于随机。</a:t>
            </a:r>
          </a:p>
          <a:p>
            <a:endParaRPr lang="zh-CN" dirty="0"/>
          </a:p>
          <a:p>
            <a:r>
              <a:rPr lang="zh-CN" dirty="0"/>
              <a:t>第三张卡是我觉得最有意思的:最强的预测变量不是观鸟努力,是「到该物种已知分布区的距离」,OR 0.238,而努力只有 1.755。也就是说县级落点主要由生态学决定,观测是第二位的。左边地图上份额最高的几个县——墨脱、崇明、珲春、勐腊、洋县、罗山——全是公认的边界县和热点县,而模型事先并不知道,它只看到「离分布区近、观鸟多、面积大、暖湿」。</a:t>
            </a:r>
          </a:p>
          <a:p>
            <a:endParaRPr lang="zh-CN" dirty="0"/>
          </a:p>
          <a:p>
            <a:r>
              <a:rPr lang="zh-CN" dirty="0"/>
              <a:t>最后一张深色卡是必须说的:分辨率从省推到县,技能反而提高了,排名分位从随机的 0.50 降到 0.23。真正卡住外推年限的是省级那一段——到 2050 年只剩 10.4% 的物种-省组合还落在拟合范围内。所以这个县级面近期可以当业务产品用,末世纪只能作情景演示。</a:t>
            </a:r>
          </a:p>
          <a:p>
            <a:endParaRPr lang="zh-CN" dirty="0"/>
          </a:p>
          <a:p>
            <a:r>
              <a:rPr lang="zh-CN" dirty="0"/>
              <a:t>需要强调的数字:县级备择中位 103;top-1 16.1% vs 随机约 1%;前 10% 命中 45.4%;留一省 27/29;到分布区距离 OR 0.238 vs 观鸟努力 1.755;2050 年支撑域内 10.4%。</a:t>
            </a:r>
          </a:p>
          <a:p>
            <a:endParaRPr lang="zh-CN" dirty="0"/>
          </a:p>
          <a:p>
            <a:r>
              <a:rPr lang="zh-CN" dirty="0"/>
              <a:t>预期提问:</a:t>
            </a:r>
          </a:p>
          <a:p>
            <a:r>
              <a:rPr lang="zh-CN" dirty="0"/>
              <a:t>• 问「能不能预测某物种在某县首次出现」:不能,那是另一种事件,需要县级首次记录的汇编。本模型预测的是「省级首次记录落在哪个县」。</a:t>
            </a:r>
          </a:p>
          <a:p>
            <a:r>
              <a:rPr lang="zh-CN" dirty="0"/>
              <a:t>• 问「分布区会不会自己推移」:会,但 BirdLife 分布区在模型里是静态的,分布区本身的推移没有被建模——这是明确的局限。</a:t>
            </a:r>
          </a:p>
          <a:p>
            <a:r>
              <a:rPr lang="zh-CN" dirty="0"/>
              <a:t>• 问哪些省不可靠:重庆和海南留一省劣于随机,都是单元少、地理特殊的省,不建议在这两个省单独使用。</a:t>
            </a:r>
          </a:p>
          <a:p>
            <a:endParaRPr lang="zh-CN" dirty="0"/>
          </a:p>
          <a:p>
            <a:r>
              <a:rPr lang="zh-CN" dirty="0"/>
              <a:t>证据出处:MS(降尺度模块)、REFS(BirdLife BOTW 2024 分布区)</a:t>
            </a:r>
          </a:p>
          <a:p>
            <a:endParaRPr lang="zh-CN" dirty="0"/>
          </a:p>
          <a:p>
            <a:r>
              <a:rPr lang="zh-CN" dirty="0"/>
              <a:t>过渡句:两段都能算之后,监测布点就可以从「哪个省」细化到「哪个县」——这正是下一页的建议。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页面结论:监测规划应当投向调查稀疏且气候梯度陡的地区,而非继续加密热点</a:t>
            </a:r>
          </a:p>
          <a:p>
            <a:endParaRPr lang="zh-CN" dirty="0"/>
          </a:p>
          <a:p>
            <a:r>
              <a:rPr lang="zh-CN" dirty="0"/>
              <a:t>支撑论断:努力的边际产出已接近饱和,而变暖效应在低努力区最强,两者共同指出西部与高海拔地区的优先性。</a:t>
            </a:r>
          </a:p>
          <a:p>
            <a:endParaRPr lang="zh-CN" dirty="0"/>
          </a:p>
          <a:p>
            <a:r>
              <a:rPr lang="zh-CN" dirty="0"/>
              <a:t>讲稿:落到基金申请书的应用目标:为调查监测网络优化与研究资源配置提供依据。</a:t>
            </a:r>
          </a:p>
          <a:p>
            <a:endParaRPr lang="zh-CN" dirty="0"/>
          </a:p>
          <a:p>
            <a:r>
              <a:rPr lang="zh-CN" dirty="0"/>
              <a:t>证据出处:FUND(研究目标)、F1(Fig1b 交互)、F6(Fig6d)</a:t>
            </a:r>
          </a:p>
          <a:p>
            <a:endParaRPr lang="zh-CN" dirty="0"/>
          </a:p>
          <a:p>
            <a:r>
              <a:rPr lang="zh-CN" dirty="0"/>
              <a:t>本轮新增(保护地与降尺度模块):第三条建议已改为可执行的监测布点——高增温 × 低观测且落在已建保护区内的格有 39.3 万 km²,可直接加挂标准化监测;同类条件但在保护体系之外的有 160.3 万 km²,是前者的四倍。配合第 21 页的县级落点面,布点可以细化到具体县。同时必须提醒:保护区内的新纪录数不能反过来当作保护成效指标(见第 20 页)。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页面结论:全部数据、代码与图表已公开,结论可逐条追溯</a:t>
            </a:r>
          </a:p>
          <a:p>
            <a:endParaRPr lang="zh-CN" dirty="0"/>
          </a:p>
          <a:p>
            <a:r>
              <a:rPr lang="zh-CN" dirty="0"/>
              <a:t>支撑论断:分析流水线脚本 130-154、70 余张结果表与 16 张主图均随仓库发布,主模型可由 smoke test 复现。</a:t>
            </a:r>
          </a:p>
          <a:p>
            <a:endParaRPr lang="zh-CN" dirty="0"/>
          </a:p>
          <a:p>
            <a:r>
              <a:rPr lang="zh-CN" dirty="0"/>
              <a:t>讲稿:给出仓库地址与数据来源:CBNR 发布版、BirdLife、AVONET、BIRDBASE、中国鸟类性状库、CRU TS、WorldClim、CMIP6。</a:t>
            </a:r>
          </a:p>
          <a:p>
            <a:endParaRPr lang="zh-CN" dirty="0"/>
          </a:p>
          <a:p>
            <a:r>
              <a:rPr lang="zh-CN" dirty="0"/>
              <a:t>证据出处:MS(Data and code availability)、RPT(数据来源)</a:t>
            </a:r>
          </a:p>
          <a:p>
            <a:endParaRPr lang="zh-CN" dirty="0"/>
          </a:p>
          <a:p>
            <a:r>
              <a:rPr lang="zh-CN" dirty="0"/>
              <a:t>本轮新增:分析流水线扩展到脚本 173,新增保护地模块(160–166)与降尺度模块(170–173);调查努力除省-年面板外,还使用 286 万份 GBIF/eBird 记录作为细尺度观测层。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页面结论:新纪录同时记录了鸟的变化与我们看鸟方式的变化,两者必须一起建模</a:t>
            </a:r>
          </a:p>
          <a:p>
            <a:endParaRPr lang="zh-CN" dirty="0"/>
          </a:p>
          <a:p>
            <a:r>
              <a:rPr lang="zh-CN" dirty="0"/>
              <a:t>支撑论断:气候与努力效应相当、观测过程冲击更大、努力回报递减、方向偏东——四条结论共同要求把观测过程显式建模而非当作噪声。</a:t>
            </a:r>
          </a:p>
          <a:p>
            <a:endParaRPr lang="zh-CN" dirty="0"/>
          </a:p>
          <a:p>
            <a:r>
              <a:rPr lang="zh-CN" dirty="0"/>
              <a:t>讲稿:收尾。呼应开篇的科学问题,并说明下一步将扩展到哺乳类、两栖爬行类做跨类群比较。</a:t>
            </a:r>
          </a:p>
          <a:p>
            <a:endParaRPr lang="zh-CN" dirty="0"/>
          </a:p>
          <a:p>
            <a:r>
              <a:rPr lang="zh-CN" dirty="0"/>
              <a:t>提示:留 2 分钟提问。备好的补充图:窗口与基线敏感性、DHARMa 诊断。</a:t>
            </a:r>
          </a:p>
          <a:p>
            <a:endParaRPr lang="zh-CN" dirty="0"/>
          </a:p>
          <a:p>
            <a:r>
              <a:rPr lang="zh-CN" dirty="0"/>
              <a:t>证据出处:MS(Conclusions)、FUND(研究目标)</a:t>
            </a:r>
          </a:p>
          <a:p>
            <a:endParaRPr lang="zh-CN" dirty="0"/>
          </a:p>
          <a:p>
            <a:r>
              <a:rPr lang="zh-CN" dirty="0"/>
              <a:t>本轮新增的两条结论:⑤ 保护区内记录多主要是观测装置的作用——以观鸟人去过的地方为对照后仅 1.57 且不稳健,保护区也不提高首次记录转为持续存在的概率;⑥ 预测可以降尺度到县,县级 top-1 命中 16.1% 约为随机期望的 17 倍,受限的是气候外推而不是行政分辨率。「下一步」的第二项已改为把县级落点面接入监测布点。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7cc4a657a9f946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8ad8ec195fc90c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f28ccc2837c5264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1195a439b67d068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77f0d39988d5995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4bd0fb8f35750ee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dc8eda35b90b38a.png"/>
  <Relationship Id="rId3" Type="http://schemas.openxmlformats.org/officeDocument/2006/relationships/image" Target="../media/image_00ce0ddb3256a35f.png"/>
  <Relationship Id="rId4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5e8289a2754e19b.pn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61dd8405e382f41.png"/>
  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9ce80c4d0c8c80e.png"/>
  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1950" y="409575"/>
            <a:ext cx="37530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北京大学城市与环境学院 · 生态学系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44200" y="441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5000"/>
                  </a:srgbClr>
                </a:solidFill>
                <a:latin typeface="Arial"/>
                <a:ea typeface="Microsoft YaHei"/>
                <a:cs typeface="Arial"/>
              </a:rPr>
              <a:t>学术会议报告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1387" y="2056448"/>
            <a:ext cx="484922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气候变暖与调查努力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19656" y="2627948"/>
            <a:ext cx="8552688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如何共同决定新分布记录的生成风险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68729" y="3314700"/>
            <a:ext cx="58545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基于中国鸟类 2002–2024 年省级新纪录的离散时间风险模型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0" y="38576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2857500" y="4191000"/>
            <a:ext cx="2095500" cy="81915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92014" y="4271962"/>
            <a:ext cx="62647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657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55181" y="46682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省级新纪录事件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048250" y="4191000"/>
            <a:ext cx="2095500" cy="81915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36121" y="4271962"/>
            <a:ext cx="91975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1 445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45931" y="46682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中国鸟类物种池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0" y="4191000"/>
            <a:ext cx="2095500" cy="81915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654350" y="4271962"/>
            <a:ext cx="126480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17.6 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5661" y="466820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物种-省-年风险集行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13571" y="5346382"/>
            <a:ext cx="7648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丁晨晨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00831" y="5718810"/>
            <a:ext cx="49903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北京大学城市与环境学院 地表过程分析与模拟教育部重点实验室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649444" y="6535102"/>
            <a:ext cx="893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 年 7 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研究动机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03180" y="3086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新纪录的科学价值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649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我们对物种分布的知识仍有系统性空缺,而新纪录正是这种空缺被修正的时刻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619250"/>
            <a:ext cx="3429000" cy="19050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619250"/>
            <a:ext cx="3429000" cy="571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36295" y="19364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已知分布图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010" y="23279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专家绘制、以标本与文献为据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010" y="26136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是宏观生态学与保护规划的底图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962" y="30218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但它本身是【观测的产物】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2400300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0" y="123825"/>
                </a:moveTo>
                <a:lnTo>
                  <a:pt x="762000" y="123825"/>
                </a:lnTo>
                <a:moveTo>
                  <a:pt x="619125" y="0"/>
                </a:moveTo>
                <a:lnTo>
                  <a:pt x="762000" y="123825"/>
                </a:lnTo>
                <a:lnTo>
                  <a:pt x="619125" y="247650"/>
                </a:lnTo>
              </a:path>
            </a:pathLst>
          </a:custGeom>
          <a:noFill/>
          <a:ln w="28575">
            <a:solidFill>
              <a:srgbClr val="0066C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251960" y="22012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持续偏差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143500" y="1619250"/>
            <a:ext cx="3429000" cy="19050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143500" y="1619250"/>
            <a:ext cx="3429000" cy="5715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408295" y="19364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真实分布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14010" y="23279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随气候、土地利用与种群动态变化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14010" y="26136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不因是否被观测而改变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14962" y="30218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两者之差即【华莱士空缺】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953500" y="1619250"/>
            <a:ext cx="2667000" cy="1905000"/>
          </a:xfrm>
          <a:prstGeom prst="roundRect">
            <a:avLst>
              <a:gd name="adj" fmla="val 2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692878" y="20288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新分布记录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1181" y="24693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某物种在某行政单元内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97641" y="27360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首次被确认出现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99198" y="313610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= 空缺被修正的可观测事件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905250"/>
            <a:ext cx="11049000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8200" y="414337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为什么值得系统研究</a:t>
            </a:r>
          </a:p>
        </p:txBody>
      </p:sp>
      <p:sp>
        <p:nvSpPr>
          <p:cNvPr id="31" name="Ellipse 31"/>
          <p:cNvSpPr/>
          <p:nvPr/>
        </p:nvSpPr>
        <p:spPr>
          <a:xfrm>
            <a:off x="914400" y="464820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07758" y="4605814"/>
            <a:ext cx="52463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新纪录是【唯一】能同时观测到生态过程与观测过程的事件类型</a:t>
            </a:r>
          </a:p>
        </p:txBody>
      </p:sp>
      <p:sp>
        <p:nvSpPr>
          <p:cNvPr id="33" name="Ellipse 33"/>
          <p:cNvSpPr/>
          <p:nvPr/>
        </p:nvSpPr>
        <p:spPr>
          <a:xfrm>
            <a:off x="914400" y="501015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07758" y="4967764"/>
            <a:ext cx="572121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中国近二十年观鸟数据激增,为分离两类过程提供了前所未有的样本量</a:t>
            </a:r>
          </a:p>
        </p:txBody>
      </p:sp>
      <p:sp>
        <p:nvSpPr>
          <p:cNvPr id="35" name="Ellipse 35"/>
          <p:cNvSpPr/>
          <p:nvPr/>
        </p:nvSpPr>
        <p:spPr>
          <a:xfrm>
            <a:off x="914400" y="537210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107758" y="5329714"/>
            <a:ext cx="56374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但也正因如此,把新纪录直接当作分布变化的证据,风险前所未有地高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69570" y="6522720"/>
            <a:ext cx="29803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数据来源:基金申请书立项依据;文稿 Introduction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研究脉络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77400" y="3086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三条平行发展的文献主线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480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三条主线各自成熟,却几乎从未在同一个模型里相遇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3676650" cy="3810000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3676650" cy="47625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74358" y="1538764"/>
            <a:ext cx="1958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① 气候驱动的分布重组</a:t>
            </a:r>
          </a:p>
        </p:txBody>
      </p:sp>
      <p:sp>
        <p:nvSpPr>
          <p:cNvPr id="13" name="Line 13"/>
          <p:cNvSpPr/>
          <p:nvPr/>
        </p:nvSpPr>
        <p:spPr>
          <a:xfrm>
            <a:off x="590550" y="1809750"/>
            <a:ext cx="3257550" cy="9525"/>
          </a:xfrm>
          <a:custGeom>
            <a:avLst/>
            <a:gdLst/>
            <a:ahLst/>
            <a:cxnLst/>
            <a:rect l="l" t="t" r="r" b="b"/>
            <a:pathLst>
              <a:path w="3257550" h="952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77691" y="1948101"/>
            <a:ext cx="23392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Parmesan &amp; Yohe 2003 · Nature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8168" y="21235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跨类群一致的气候变化指纹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7691" y="2348151"/>
            <a:ext cx="2059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Loarie et al. 2009 · Nature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8168" y="2523649"/>
            <a:ext cx="1954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气候速度:变暖有多快被空间化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7691" y="2748201"/>
            <a:ext cx="1974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Chen et al. 2011 · Science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8168" y="29236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分布位移速率与变暖速率相称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7691" y="3148251"/>
            <a:ext cx="19355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Pecl et al. 2017 · Science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8168" y="33237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生物多样性重分布成为全球议题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7691" y="3548301"/>
            <a:ext cx="25022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Lenoir et al. 2020 · Nat Ecol Evol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168" y="37237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海洋类群比陆地追踪得更紧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" y="3962400"/>
            <a:ext cx="3371850" cy="104775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33400" y="3962400"/>
            <a:ext cx="38100" cy="104775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92468" y="408574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这条主线留下的问题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2468" y="4333399"/>
            <a:ext cx="2253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结论几乎都建立在"记录出现"之上,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2468" y="4542949"/>
            <a:ext cx="22390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但记录如何被生成本身没有被建模,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2468" y="47524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只被当作分布的直接读数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257675" y="1333500"/>
            <a:ext cx="3676650" cy="3810000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257675" y="1333500"/>
            <a:ext cx="3676650" cy="4762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451032" y="1538764"/>
            <a:ext cx="21538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② 观测偏差与不完美探测</a:t>
            </a:r>
          </a:p>
        </p:txBody>
      </p:sp>
      <p:sp>
        <p:nvSpPr>
          <p:cNvPr id="33" name="Line 33"/>
          <p:cNvSpPr/>
          <p:nvPr/>
        </p:nvSpPr>
        <p:spPr>
          <a:xfrm>
            <a:off x="4467225" y="1809750"/>
            <a:ext cx="3257550" cy="9525"/>
          </a:xfrm>
          <a:custGeom>
            <a:avLst/>
            <a:gdLst/>
            <a:ahLst/>
            <a:cxnLst/>
            <a:rect l="l" t="t" r="r" b="b"/>
            <a:pathLst>
              <a:path w="3257550" h="952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454366" y="1948101"/>
            <a:ext cx="240910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Tingley &amp; Beissinger 2009 · TREE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54842" y="212359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用历史记录推断分布变化的陷阱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54366" y="2348151"/>
            <a:ext cx="22383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Boakes et al. 2010 · PLoS Biol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54842" y="25236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物种记录存在系统性时空偏倚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54366" y="2748201"/>
            <a:ext cx="27895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Isaac et al. 2014 · Methods Ecol Evol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54842" y="292369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从含噪公民科学数据中提取信号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54366" y="3148251"/>
            <a:ext cx="235475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Hughes et al. 2021 · Ecography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454842" y="33237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采样偏差塑造了我们看到的自然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54366" y="3548301"/>
            <a:ext cx="214514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Bowler et al. 2025 · Biol Rev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54842" y="37237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把数据空缺当作缺失数据问题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410075" y="3962400"/>
            <a:ext cx="3371850" cy="104775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410075" y="3962400"/>
            <a:ext cx="38100" cy="1047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569142" y="408574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这条主线留下的问题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69142" y="43333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观测过程几乎总被处理成需要扣除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69142" y="4542949"/>
            <a:ext cx="20966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的噪声,而不是与气候并列、可以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69142" y="47524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被同时估计的驱动过程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134350" y="1333500"/>
            <a:ext cx="3676650" cy="3810000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134350" y="1333500"/>
            <a:ext cx="3676650" cy="47625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327708" y="1538764"/>
            <a:ext cx="1958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③ 新纪录作为一类证据</a:t>
            </a:r>
          </a:p>
        </p:txBody>
      </p:sp>
      <p:sp>
        <p:nvSpPr>
          <p:cNvPr id="53" name="Line 53"/>
          <p:cNvSpPr/>
          <p:nvPr/>
        </p:nvSpPr>
        <p:spPr>
          <a:xfrm>
            <a:off x="8343900" y="1809750"/>
            <a:ext cx="3257550" cy="9525"/>
          </a:xfrm>
          <a:custGeom>
            <a:avLst/>
            <a:gdLst/>
            <a:ahLst/>
            <a:cxnLst/>
            <a:rect l="l" t="t" r="r" b="b"/>
            <a:pathLst>
              <a:path w="3257550" h="952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8331994" y="1956197"/>
            <a:ext cx="303575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Hortal et al. 2015 · Annu Rev Ecol Evol Syst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331518" y="2123599"/>
            <a:ext cx="1811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七大空缺:华莱士空缺的提出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31041" y="2348151"/>
            <a:ext cx="252555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Moura &amp; Jetz 2021 · Nat Ecol Evol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331518" y="25236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陆生脊椎动物仍待发现的空间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331041" y="2748201"/>
            <a:ext cx="25022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Xing et al. 2024 · Front Ecol Evol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331518" y="2923699"/>
            <a:ext cx="19756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中国近 20 年省级新纪录在哪里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31041" y="3148251"/>
            <a:ext cx="271964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Ding et al. 2025 · Glob Ecol Biogeogr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31518" y="33237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中国兽类新纪录的格局与相关因子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331041" y="3548301"/>
            <a:ext cx="210632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Chen et al. 2025 · Avian Res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331518" y="3723799"/>
            <a:ext cx="20753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96 种留鸟新纪录被读作向极位移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286750" y="3962400"/>
            <a:ext cx="3371850" cy="104775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8286750" y="3962400"/>
            <a:ext cx="38100" cy="1047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8445818" y="408574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这条主线留下的问题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445818" y="4333399"/>
            <a:ext cx="1954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以描述性统计与格局刻画为主,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45818" y="45429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尚无把生态过程与观测过程同时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445818" y="47524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估计并分离的推断框架</a:t>
            </a:r>
          </a:p>
        </p:txBody>
      </p:sp>
      <p:sp>
        <p:nvSpPr>
          <p:cNvPr id="70" name="Rectangle 70"/>
          <p:cNvSpPr/>
          <p:nvPr/>
        </p:nvSpPr>
        <p:spPr>
          <a:xfrm>
            <a:off x="381000" y="5276850"/>
            <a:ext cx="11430000" cy="838200"/>
          </a:xfrm>
          <a:prstGeom prst="roundRect">
            <a:avLst>
              <a:gd name="adj" fmla="val 4545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50558" y="5463064"/>
            <a:ext cx="31607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三条主线的交汇点就是本研究的位置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51510" y="57759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把气候驱动与观测驱动放进同一个完整风险集,让它们竞争同一份数据,而不是先假定其中一个是噪声</a:t>
            </a:r>
          </a:p>
        </p:txBody>
      </p:sp>
      <p:sp>
        <p:nvSpPr>
          <p:cNvPr id="73" name="Line 7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369570" y="6522720"/>
            <a:ext cx="33549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Introduction 与文献表(完整引文见备注)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研究空缺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77400" y="3086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通行做法留下的三个缺口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775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三个缺口都不是技术细节,每一个都会改变结论的方向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54668" y="13806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通行做法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26468" y="13806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为什么是问题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98268" y="13806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本研究的处理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81000" y="1600200"/>
            <a:ext cx="11430000" cy="120015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81000" y="1600200"/>
            <a:ext cx="2381250" cy="12001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81000" y="1600200"/>
            <a:ext cx="47625" cy="120015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93408" y="1805464"/>
            <a:ext cx="14303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空缺 ① 事件定年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7694" y="2127647"/>
            <a:ext cx="113288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Xing et al. 2024;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7694" y="2318147"/>
            <a:ext cx="113288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Ding et al. 2025;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7694" y="2508647"/>
            <a:ext cx="1091803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Chen et al. 2025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53715" y="17916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几乎所有新纪录汇编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53715" y="20393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都按论文发表年定年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54668" y="233314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因为原始文献只稳定报告这一项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25515" y="1791652"/>
            <a:ext cx="16138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滞后右偏,均值 2.09 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25515" y="20393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且与观鸟数据库同步增长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26468" y="23331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在努力与事件之间制造伪协变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97315" y="1791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全部按发现年重新定年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97315" y="2039302"/>
            <a:ext cx="16522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并加报告完整度 offset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8268" y="2333149"/>
            <a:ext cx="21037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校正末端右删失,83.1% 事件改年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81000" y="2914650"/>
            <a:ext cx="11430000" cy="120015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81000" y="2914650"/>
            <a:ext cx="2381250" cy="12001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381000" y="2914650"/>
            <a:ext cx="47625" cy="12001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3408" y="3119914"/>
            <a:ext cx="1821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空缺 ② 观测过程尺度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7694" y="3442097"/>
            <a:ext cx="120818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Isaac et al. 2014;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7694" y="3632597"/>
            <a:ext cx="131772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Hughes et al. 2021;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7694" y="3823097"/>
            <a:ext cx="123557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Bowler et al. 2025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53715" y="310610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物种 + 区域两层随机截距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053715" y="33537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偏差被当作噪声扣除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54668" y="36475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混合模型文献中的默认结构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25515" y="310610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调查行动发生在省 - 年尺度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25515" y="33537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两层结构吸收不了这一层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26468" y="3647599"/>
            <a:ext cx="20966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泄漏进固定效应,高估同趋势变量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997315" y="31061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加入省 × 年随机截距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997315" y="33537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98268" y="364759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条件 AUC 由 0.721 升至 0.854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81000" y="4229100"/>
            <a:ext cx="11430000" cy="120015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381000" y="4229100"/>
            <a:ext cx="2381250" cy="12001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381000" y="4229100"/>
            <a:ext cx="47625" cy="12001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93408" y="4434364"/>
            <a:ext cx="16259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空缺 ③ 外推的边界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97694" y="4756547"/>
            <a:ext cx="164633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Williams &amp; Jackson 2007;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97694" y="4947047"/>
            <a:ext cx="134510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Mahony et al. 2017;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97694" y="5137547"/>
            <a:ext cx="185856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Guillera-Arroita et al. 2015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53715" y="44205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把拟合关系直接投影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053715" y="4668202"/>
            <a:ext cx="11384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到未来 SSP 情景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054668" y="49620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外推比例通常不被报告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025515" y="44205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物种参照的气候梯度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025515" y="4668202"/>
            <a:ext cx="16675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历史 SD 小、未来差值大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026468" y="49620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投影早已离开可外推范围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997315" y="44205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逐面板报告支撑域内比例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997315" y="4668202"/>
            <a:ext cx="1698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2030 仅 48%,2080 仅 2%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998268" y="4962049"/>
            <a:ext cx="1954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末世纪只作情景演示,不称预报</a:t>
            </a:r>
          </a:p>
        </p:txBody>
      </p:sp>
      <p:sp>
        <p:nvSpPr>
          <p:cNvPr id="61" name="Rectangle 61"/>
          <p:cNvSpPr/>
          <p:nvPr/>
        </p:nvSpPr>
        <p:spPr>
          <a:xfrm>
            <a:off x="381000" y="5562600"/>
            <a:ext cx="11430000" cy="590550"/>
          </a:xfrm>
          <a:prstGeom prst="roundRect">
            <a:avLst>
              <a:gd name="adj" fmla="val 6452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2648354" y="5786914"/>
            <a:ext cx="68952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三个缺口指向同一个科学问题:两类过程能否在同一个模型里被同时估计并分离?</a:t>
            </a:r>
          </a:p>
        </p:txBody>
      </p:sp>
      <p:sp>
        <p:nvSpPr>
          <p:cNvPr id="63" name="Line 6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369570" y="6522720"/>
            <a:ext cx="3670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Introduction 三段式空缺陈述;基金申请书 2.1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科学问题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8440" y="3086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两种机制的混淆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63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一条新纪录可能来自真实的分布扩张,也可能只是终于有人去看了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524000"/>
            <a:ext cx="5286375" cy="238125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524000"/>
            <a:ext cx="5286375" cy="5715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34390" y="18249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生态过程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058" y="2262664"/>
            <a:ext cx="35704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气候变暖使某省逐渐落入物种的适宜气候带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1058" y="2567464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物种真实地扩张到该省并被记录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" y="2952750"/>
            <a:ext cx="4714875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52512" y="3117056"/>
            <a:ext cx="2846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若成立 → 新纪录可作为分布变化的指标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2512" y="336470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可用于预警物种重分布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334125" y="1524000"/>
            <a:ext cx="5286375" cy="238125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334125" y="1524000"/>
            <a:ext cx="5286375" cy="571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97015" y="18249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观测过程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03682" y="2262664"/>
            <a:ext cx="31142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物种一直都在,只是从未有人系统调查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03682" y="256746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观鸟人数与平台上线使其被首次记录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619875" y="2952750"/>
            <a:ext cx="4714875" cy="66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815138" y="3117056"/>
            <a:ext cx="23535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若成立 → 新纪录反映的是调查史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15138" y="33647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用作气候证据会系统性高估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191000"/>
            <a:ext cx="11049000" cy="819150"/>
          </a:xfrm>
          <a:prstGeom prst="roundRect">
            <a:avLst>
              <a:gd name="adj" fmla="val 4651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315950" y="43938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15733" y="4731068"/>
            <a:ext cx="65605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新纪录的发生主要由真实分布变化还是观测偏差驱动?两者能否被同时量化?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5219700"/>
            <a:ext cx="11049000" cy="8953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40105" y="54168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难点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2010" y="5737860"/>
            <a:ext cx="66465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两个过程在时间上同向上升——气候在变暖,观鸟也在增长——因此在原始数据中高度混淆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42170" y="57188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不能靠相关分析分离</a:t>
            </a:r>
          </a:p>
        </p:txBody>
      </p:sp>
      <p:sp>
        <p:nvSpPr>
          <p:cNvPr id="33" name="Line 3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69570" y="6522720"/>
            <a:ext cx="23625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数据来源:基金申请书 2.1 关键科学问题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研究方法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03180" y="3086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离散时间风险模型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5746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2450" y="14382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完整风险集的构造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762125"/>
            <a:ext cx="2381250" cy="87630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44210" y="1946910"/>
            <a:ext cx="1235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候选物种-省对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5030" y="2220278"/>
            <a:ext cx="15141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SDM 适宜栅格 ≥ 50 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689" y="2420302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(约 917 km² 适宜生境)</a:t>
            </a:r>
          </a:p>
        </p:txBody>
      </p:sp>
      <p:sp>
        <p:nvSpPr>
          <p:cNvPr id="15" name="Freeform 15"/>
          <p:cNvSpPr/>
          <p:nvPr/>
        </p:nvSpPr>
        <p:spPr>
          <a:xfrm>
            <a:off x="3048000" y="210502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0" y="95250"/>
                </a:moveTo>
                <a:lnTo>
                  <a:pt x="381000" y="95250"/>
                </a:lnTo>
                <a:moveTo>
                  <a:pt x="266700" y="0"/>
                </a:moveTo>
                <a:lnTo>
                  <a:pt x="381000" y="95250"/>
                </a:lnTo>
                <a:lnTo>
                  <a:pt x="266700" y="190500"/>
                </a:lnTo>
              </a:path>
            </a:pathLst>
          </a:custGeom>
          <a:noFill/>
          <a:ln w="23812">
            <a:solidFill>
              <a:srgbClr val="0066CC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524250" y="1762125"/>
            <a:ext cx="2381250" cy="87630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331589" y="1946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逐年展开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6468" y="2220278"/>
            <a:ext cx="1176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2002 起每年一行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11454" y="24203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20" name="Freeform 20"/>
          <p:cNvSpPr/>
          <p:nvPr/>
        </p:nvSpPr>
        <p:spPr>
          <a:xfrm>
            <a:off x="6000750" y="210502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0" y="95250"/>
                </a:moveTo>
                <a:lnTo>
                  <a:pt x="381000" y="95250"/>
                </a:lnTo>
                <a:moveTo>
                  <a:pt x="266700" y="0"/>
                </a:moveTo>
                <a:lnTo>
                  <a:pt x="381000" y="95250"/>
                </a:lnTo>
                <a:lnTo>
                  <a:pt x="266700" y="190500"/>
                </a:lnTo>
              </a:path>
            </a:pathLst>
          </a:custGeom>
          <a:noFill/>
          <a:ln w="23812">
            <a:solidFill>
              <a:srgbClr val="0066CC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477000" y="1762125"/>
            <a:ext cx="2381250" cy="876300"/>
          </a:xfrm>
          <a:prstGeom prst="roundRect">
            <a:avLst>
              <a:gd name="adj" fmla="val 434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201529" y="1946910"/>
            <a:ext cx="9321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175 901 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64846" y="2220278"/>
            <a:ext cx="18055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649 事件 / 392 种 / 31 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90399" y="2420302"/>
            <a:ext cx="9544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事件率 0.37%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144000" y="1762125"/>
            <a:ext cx="2476500" cy="8763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4288">
            <a:solidFill>
              <a:srgbClr val="0066C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591615" y="1926431"/>
            <a:ext cx="15812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为什么要完整风险集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73076" y="219979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只看发生了的记录无法估计风险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50754" y="2409349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必须有"没发生"的分母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2450" y="2981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主模型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314700"/>
            <a:ext cx="11049000" cy="106680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38200" y="3538538"/>
            <a:ext cx="6667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c_t)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200" y="3805238"/>
            <a:ext cx="3810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Consolas"/>
                <a:ea typeface="Microsoft YaHei"/>
                <a:cs typeface="Consolas"/>
              </a:rPr>
              <a:t>+ (1|物种) + (1|省) + (1|省×年)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48450" y="3805238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333333"/>
                </a:solidFill>
                <a:latin typeface="Consolas"/>
                <a:ea typeface="Microsoft YaHei"/>
                <a:cs typeface="Consolas"/>
              </a:rPr>
              <a:t>family = binomial(cloglog)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3915" y="4134802"/>
            <a:ext cx="49262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cloglog 连接使系数为风险比(HR),与生存分析可比,且不随时间步长改变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4572000"/>
            <a:ext cx="36004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571500" y="4572000"/>
            <a:ext cx="3600450" cy="47625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22008" y="4796314"/>
            <a:ext cx="181165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累积变暖(物种参照)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3912" y="5098256"/>
            <a:ext cx="2632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x = 省气候异常 − 该物种分布区异常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3912" y="5364956"/>
            <a:ext cx="14580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4865" y="5677852"/>
            <a:ext cx="11384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295775" y="4572000"/>
            <a:ext cx="36004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4295775" y="4572000"/>
            <a:ext cx="3600450" cy="4762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546282" y="47963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调查努力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48188" y="5098256"/>
            <a:ext cx="23452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省-年观鸟访问次数,对数标准化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48188" y="5364956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覆盖缺口按缺失处理,不当作零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49140" y="56778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 SD = 访问数 ×7.75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20050" y="4572000"/>
            <a:ext cx="36004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020050" y="4572000"/>
            <a:ext cx="3600450" cy="47625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270558" y="4796314"/>
            <a:ext cx="17138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报告完整度 offset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72462" y="5098256"/>
            <a:ext cx="24192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记录见刊需时间,近年被系统低估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272462" y="53649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按发表滞后经验分布校正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73415" y="5677852"/>
            <a:ext cx="16445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2024 年完整度仅 56.7%</a:t>
            </a:r>
          </a:p>
        </p:txBody>
      </p:sp>
      <p:sp>
        <p:nvSpPr>
          <p:cNvPr id="53" name="Line 5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369570" y="6522720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Methods;模型组件的生态学依据表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研究方法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7245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方法中的一个关键校正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04220" y="3086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事件定年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6394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按发表年定年会把努力效应虚增 37%,并制造出一个并不存在的气候变异效应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39047"/>
            <a:ext cx="7048500" cy="4656156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810500" y="1428750"/>
            <a:ext cx="3810000" cy="106680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60055" y="16259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62912" y="1935956"/>
            <a:ext cx="2172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81.7% 的记录发表滞后 ≥ 1 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62912" y="2202656"/>
            <a:ext cx="20824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中位滞后 1 年,均值 2.09 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810500" y="2628900"/>
            <a:ext cx="381000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4288">
            <a:solidFill>
              <a:srgbClr val="CC000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060055" y="280701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按发表年定年的后果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62912" y="3136106"/>
            <a:ext cx="17291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努力 HR 1.788 → 1.305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62912" y="3402806"/>
            <a:ext cx="20577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气候变异 HR 0.850 → 0.971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62912" y="3669506"/>
            <a:ext cx="1400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 = 1.8e-4 → 0.48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810500" y="4191000"/>
            <a:ext cx="3810000" cy="9334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009E7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060055" y="43691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而气候效应稳健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62912" y="4698206"/>
            <a:ext cx="20577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累积变暖 HR 1.394 → 1.437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63865" y="49349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校正后不降反升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810500" y="5257800"/>
            <a:ext cx="3810000" cy="742950"/>
          </a:xfrm>
          <a:prstGeom prst="roundRect">
            <a:avLst>
              <a:gd name="adj" fmla="val 512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528691" y="54411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05374" y="57159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发表年与观鸟数据库同步增长</a:t>
            </a:r>
          </a:p>
        </p:txBody>
      </p:sp>
      <p:sp>
        <p:nvSpPr>
          <p:cNvPr id="27" name="Line 2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22720"/>
            <a:ext cx="31052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数据来源:CBNR 发布版 Discovery_date;文稿 Fig.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研究方法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0660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核心发现 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28960" y="30861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效应量对比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2690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气候变暖与调查努力的效应量基本相当,而非努力单方面主导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1314450"/>
            <a:ext cx="6402306" cy="457200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524750" y="1428750"/>
            <a:ext cx="4095750" cy="1143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09E7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756208" y="16340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8110" y="189928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1.362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9712" y="2069306"/>
            <a:ext cx="16305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95% CI 1.216 – 1.524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29712" y="2297906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 = 8.3 × 10⁻⁸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524750" y="2705100"/>
            <a:ext cx="4095750" cy="1143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756208" y="29103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调查努力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38110" y="317563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1.404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29712" y="3345656"/>
            <a:ext cx="16305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95% CI 1.245 – 1.583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29712" y="3574256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 = 2.9 × 10⁻⁸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524750" y="3981450"/>
            <a:ext cx="4095750" cy="87630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757160" y="4175760"/>
            <a:ext cx="2155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相对重要性:两者基本持平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58112" y="4450556"/>
            <a:ext cx="2550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去掉后 ΔAIC:变暖 28.7,努力 29.5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58112" y="4660106"/>
            <a:ext cx="26821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ΔAUC:变暖 0.053 略高于努力 0.032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524750" y="4991100"/>
            <a:ext cx="4095750" cy="895350"/>
          </a:xfrm>
          <a:prstGeom prst="roundRect">
            <a:avLst>
              <a:gd name="adj" fmla="val 4255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281350" y="51854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78155" y="5468302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"新纪录主要是采样假象"不成立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08184" y="567785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"主要是气候"同样不成立</a:t>
            </a:r>
          </a:p>
        </p:txBody>
      </p:sp>
      <p:sp>
        <p:nvSpPr>
          <p:cNvPr id="29" name="Line 29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9570" y="6522720"/>
            <a:ext cx="27371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1;三档 SDM 阈值结果一致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核心发现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0660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核心发现 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04220" y="3086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交互效应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0719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变暖的边际作用在调查稀疏处最强,在覆盖密集处趋于平缓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86" y="1333500"/>
            <a:ext cx="6564527" cy="457200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905750" y="1524000"/>
            <a:ext cx="3714750" cy="11239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137208" y="1729264"/>
            <a:ext cx="10393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变暖 × 努力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21015" y="2010728"/>
            <a:ext cx="114015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0.849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5462" y="2107406"/>
            <a:ext cx="11212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0.761 – 0.948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5462" y="2336006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 = 3.7 × 10⁻³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8605" y="2864168"/>
            <a:ext cx="28394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两种解释都成立,数据无法区分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905750" y="3162300"/>
            <a:ext cx="3714750" cy="1123950"/>
          </a:xfrm>
          <a:prstGeom prst="roundRect">
            <a:avLst>
              <a:gd name="adj" fmla="val 339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905750" y="3162300"/>
            <a:ext cx="47625" cy="112395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8160" y="33566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生态解释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39112" y="36504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调查稀疏区多为西部山地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39112" y="3917156"/>
            <a:ext cx="2090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气候梯度陡,边界推移更敏感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905750" y="4400550"/>
            <a:ext cx="3714750" cy="1123950"/>
          </a:xfrm>
          <a:prstGeom prst="roundRect">
            <a:avLst>
              <a:gd name="adj" fmla="val 339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7905750" y="4400550"/>
            <a:ext cx="47625" cy="11239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38160" y="45948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观测解释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39112" y="48887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密集调查省份的空缺已被填满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39112" y="5155406"/>
            <a:ext cx="24192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无论气候如何,可发现的物种已少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92415" y="5715952"/>
            <a:ext cx="41825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效应量换算:1 SD 变暖 = 0.179 °C,1 SD 努力 = 访问数 ×7.75</a:t>
            </a:r>
          </a:p>
        </p:txBody>
      </p:sp>
      <p:sp>
        <p:nvSpPr>
          <p:cNvPr id="28" name="Line 28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69570" y="6522720"/>
            <a:ext cx="19156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1b, Fig. 5c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核心发现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0660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核心发现 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8440" y="3086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观测过程的量级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480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观测过程本身的时空冲击,比任何一个驱动因子都大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76250" y="1381125"/>
            <a:ext cx="3429000" cy="1428750"/>
          </a:xfrm>
          <a:prstGeom prst="roundRect">
            <a:avLst>
              <a:gd name="adj" fmla="val 2667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75558" y="1614964"/>
            <a:ext cx="14303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0109" y="1913572"/>
            <a:ext cx="1701282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4053" y="2469356"/>
            <a:ext cx="1433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76250" y="2933700"/>
            <a:ext cx="1666875" cy="99060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62025" y="3117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159" y="3357562"/>
            <a:ext cx="11095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× 1.36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7745" y="37047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固定效应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38375" y="2933700"/>
            <a:ext cx="1666875" cy="99060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724150" y="3117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调查努力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12284" y="3357562"/>
            <a:ext cx="11095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× 1.40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69870" y="37047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固定效应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6250" y="4057650"/>
            <a:ext cx="3429000" cy="1828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07708" y="4243864"/>
            <a:ext cx="14010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这一层代表什么</a:t>
            </a:r>
          </a:p>
        </p:txBody>
      </p:sp>
      <p:sp>
        <p:nvSpPr>
          <p:cNvPr id="24" name="Ellipse 24"/>
          <p:cNvSpPr/>
          <p:nvPr/>
        </p:nvSpPr>
        <p:spPr>
          <a:xfrm>
            <a:off x="785812" y="4672012"/>
            <a:ext cx="66675" cy="66675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57262" y="46410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区域性调查项目上马</a:t>
            </a:r>
          </a:p>
        </p:txBody>
      </p:sp>
      <p:sp>
        <p:nvSpPr>
          <p:cNvPr id="26" name="Ellipse 26"/>
          <p:cNvSpPr/>
          <p:nvPr/>
        </p:nvSpPr>
        <p:spPr>
          <a:xfrm>
            <a:off x="785812" y="4976812"/>
            <a:ext cx="66675" cy="66675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57262" y="49458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省级观鸟节与赛事</a:t>
            </a:r>
          </a:p>
        </p:txBody>
      </p:sp>
      <p:sp>
        <p:nvSpPr>
          <p:cNvPr id="28" name="Ellipse 28"/>
          <p:cNvSpPr/>
          <p:nvPr/>
        </p:nvSpPr>
        <p:spPr>
          <a:xfrm>
            <a:off x="785812" y="5281612"/>
            <a:ext cx="66675" cy="66675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57262" y="52506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保护区新建、上报渠道变化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0565" y="5601652"/>
            <a:ext cx="3484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这些冲击不共享于全国,只加物种与省两层无法吸收</a:t>
            </a:r>
          </a:p>
        </p:txBody>
      </p:sp>
      <p:pic>
        <p:nvPicPr>
          <p:cNvPr id="31" name="Imag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35" y="1333500"/>
            <a:ext cx="6445431" cy="4667250"/>
          </a:xfrm>
          <a:prstGeom prst="rect">
            <a:avLst/>
          </a:prstGeom>
        </p:spPr>
      </p:pic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69570" y="6522720"/>
            <a:ext cx="37821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5d, Fig. 6c;条件 AUC 由 0.721 升至 0.854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核心发现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0660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核心发现 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53700" y="3086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努力回报递减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0860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调查努力的边际产出正在下降,而气候效应没有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10" y="1333500"/>
            <a:ext cx="6445431" cy="46672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210550" y="1476375"/>
            <a:ext cx="3409950" cy="1333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442008" y="1672114"/>
            <a:ext cx="17334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努力 HR 随时间下降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42960" y="2061210"/>
            <a:ext cx="23000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2002 年 2.18 (1.63 – 2.90)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42960" y="2346960"/>
            <a:ext cx="23000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2024 年 1.07 (0.88 – 1.30)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44865" y="2610802"/>
            <a:ext cx="2257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交互 β = −0.211,P = 7.7 × 10⁻⁴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210550" y="2952750"/>
            <a:ext cx="3409950" cy="990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09E7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42008" y="3148489"/>
            <a:ext cx="15965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气候效应无此趋势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42960" y="3489960"/>
            <a:ext cx="18619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变暖 × 时间 β = −0.022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44865" y="3734752"/>
            <a:ext cx="1935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 = 0.82,比例风险假设成立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210550" y="4095750"/>
            <a:ext cx="3409950" cy="1790700"/>
          </a:xfrm>
          <a:prstGeom prst="roundRect">
            <a:avLst>
              <a:gd name="adj" fmla="val 212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628424" y="4320064"/>
            <a:ext cx="25742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这是分离两个过程的最强证据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43912" y="4755356"/>
            <a:ext cx="2747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若两个系数只是同一过程的两种度量,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43912" y="50220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它们应当同步变化。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43912" y="5384006"/>
            <a:ext cx="29367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观测过程会饱和 —— 易发现的空缺被用尽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43912" y="5650706"/>
            <a:ext cx="24438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气候过程不饱和 —— 变暖仍在继续</a:t>
            </a:r>
          </a:p>
        </p:txBody>
      </p:sp>
      <p:sp>
        <p:nvSpPr>
          <p:cNvPr id="26" name="Line 2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69570" y="6522720"/>
            <a:ext cx="22245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6d;比例风险检验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核心发现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24656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II</a:t>
            </a:r>
          </a:p>
        </p:txBody>
      </p:sp>
      <p:sp>
        <p:nvSpPr>
          <p:cNvPr id="7" name="Line 7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569970" y="2817495"/>
            <a:ext cx="308943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多尺度验证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8545" y="3669982"/>
            <a:ext cx="53435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同一结论在物种、省份与方向三个尺度上重复出现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3510" y="63312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中国鸟类新分布记录的生成风险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物种尺度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52660" y="3086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哪些鸟更容易被新记录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部分迁徙鸟与广分布种最可能产生新的省级记录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07" y="1314450"/>
            <a:ext cx="6774987" cy="45910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143875" y="1428750"/>
            <a:ext cx="3476625" cy="1066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366760" y="1623060"/>
            <a:ext cx="14474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部分迁徙 vs 留鸟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53425" y="1909762"/>
            <a:ext cx="197213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1.91 – 2.50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68665" y="2267902"/>
            <a:ext cx="22886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三种系统发育处理下均 P &lt; 0.001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43875" y="2609850"/>
            <a:ext cx="3476625" cy="1066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09E7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366760" y="2804160"/>
            <a:ext cx="17510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分布区面积(每 1 SD)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53425" y="3090862"/>
            <a:ext cx="197213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1.23 – 1.46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8665" y="34490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全球与中国两个口径结论一致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43875" y="3790950"/>
            <a:ext cx="3476625" cy="1009650"/>
          </a:xfrm>
          <a:prstGeom prst="roundRect">
            <a:avLst>
              <a:gd name="adj" fmla="val 3774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66760" y="3966210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全部为零效应的性状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8665" y="4249102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体重 · 窝卵数 · 同属种数 · 手翼指数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68665" y="4477702"/>
            <a:ext cx="30093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栖息地宽度 · 食性宽度 · 濒危等级 · 特有性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143875" y="4914900"/>
            <a:ext cx="3476625" cy="971550"/>
          </a:xfrm>
          <a:prstGeom prst="roundRect">
            <a:avLst>
              <a:gd name="adj" fmla="val 3922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771849" y="5090160"/>
            <a:ext cx="22111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验证了基金申请书的假设 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68665" y="5411152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"鸟类新纪录将集中在有迁徙习性的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8665" y="5639752"/>
            <a:ext cx="20585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广适性物种" —— 两条均获支持</a:t>
            </a:r>
          </a:p>
        </p:txBody>
      </p:sp>
      <p:sp>
        <p:nvSpPr>
          <p:cNvPr id="27" name="Line 2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22720"/>
            <a:ext cx="3381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9;1 445 种物种池,系统发育逻辑回归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多尺度验证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物种尺度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03180" y="3086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分组后浮现的机制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775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把迁徙鸟单独拟合,会显现出汇总模型掩盖的迷鸟机制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50029"/>
            <a:ext cx="6667500" cy="444369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297102" y="1446371"/>
            <a:ext cx="308465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迁徙鸟组(n = 503,127 有记录)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315200" y="1752600"/>
            <a:ext cx="43053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528560" y="1927860"/>
            <a:ext cx="2523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手翼指数越低,越容易被新记录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7130" y="2211705"/>
            <a:ext cx="12770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OR 0.51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34462" y="2316956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 = 3.8 × 10⁻⁴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315200" y="2781300"/>
            <a:ext cx="43053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28560" y="2956560"/>
            <a:ext cx="2155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体型越大,越容易被新记录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17130" y="3240405"/>
            <a:ext cx="12770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OR 1.74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34462" y="3345656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 = 3.7 × 10⁻³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0" y="3810000"/>
            <a:ext cx="4305300" cy="1009650"/>
          </a:xfrm>
          <a:prstGeom prst="roundRect">
            <a:avLst>
              <a:gd name="adj" fmla="val 3774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571798" y="3977164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两者都指向迷鸟机制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9512" y="4298156"/>
            <a:ext cx="31996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低手翼指数 = 飞行效率差 = 更易被吹离航线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29512" y="4564856"/>
            <a:ext cx="26821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大体型 = 远离分布区时更易被注意到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315200" y="4933950"/>
            <a:ext cx="4305300" cy="9525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315200" y="4933950"/>
            <a:ext cx="47625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28560" y="5109210"/>
            <a:ext cx="2606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这两项在汇总模型中均为零效应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29512" y="5403056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因为对留鸟而言两者都不适用,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29512" y="5631656"/>
            <a:ext cx="2608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平均之后互相抵消 —— 分层是必要的</a:t>
            </a:r>
          </a:p>
        </p:txBody>
      </p:sp>
      <p:sp>
        <p:nvSpPr>
          <p:cNvPr id="29" name="Line 29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9570" y="6522720"/>
            <a:ext cx="31578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8, Fig. 9;分组系统发育逻辑回归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多尺度验证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省域尺度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03180" y="3086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努力的另一种表现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775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在省级尺度上,努力表现为边际收益递减而非计数效应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33" y="1333500"/>
            <a:ext cx="6831434" cy="45529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962900" y="1428750"/>
            <a:ext cx="3657600" cy="1162050"/>
          </a:xfrm>
          <a:prstGeom prst="roundRect">
            <a:avLst>
              <a:gd name="adj" fmla="val 3279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176260" y="1604010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模型选择遵循同一流程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7212" y="1897856"/>
            <a:ext cx="25671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泊松过度离散 5.60 (P = 2.3e-17)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77212" y="2164556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→ 负二项 1.24 (P = 0.20),DHARMa 通过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8165" y="2401252"/>
            <a:ext cx="6247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θ = 6.11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962900" y="2705100"/>
            <a:ext cx="3657600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176260" y="2880360"/>
            <a:ext cx="2523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计数模型:只有物种丰富度显著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77212" y="3193256"/>
            <a:ext cx="31996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IRR 1.27 (P = 0.036);两个努力项均不显著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78165" y="3410902"/>
            <a:ext cx="15065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n = 31 省,检验力有限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962900" y="3733800"/>
            <a:ext cx="3657600" cy="116205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176260" y="3909060"/>
            <a:ext cx="22203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改以近期努力作 offset 后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77212" y="4221956"/>
            <a:ext cx="23452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响应变成"每单位努力的发现率"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77212" y="4507706"/>
            <a:ext cx="2337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早期覆盖 IRR 0.71 (P = 0.028)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77212" y="4717256"/>
            <a:ext cx="24192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人均 GDP IRR 0.61 (P = 0.0027)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962900" y="5010150"/>
            <a:ext cx="3657600" cy="876300"/>
          </a:xfrm>
          <a:prstGeom prst="roundRect">
            <a:avLst>
              <a:gd name="adj" fmla="val 434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34555" y="518541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与第 9 页是同一信号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92754" y="548735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两个尺度、两种响应变量,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58250" y="56778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都指向努力的边际收益递减</a:t>
            </a:r>
          </a:p>
        </p:txBody>
      </p:sp>
      <p:sp>
        <p:nvSpPr>
          <p:cNvPr id="29" name="Line 29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9570" y="6522720"/>
            <a:ext cx="4465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10;层次分割:丰富度 51.2%、面积 33.3%、努力合计 9%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多尺度验证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方向尺度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26880" y="3086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新纪录出现在分布区的哪一侧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新纪录强烈偏向物种已知分布区的东侧与东北侧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13329"/>
            <a:ext cx="5715000" cy="3869391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90423"/>
            <a:ext cx="3143250" cy="3315204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9448800" y="1428750"/>
            <a:ext cx="2171700" cy="116205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644062" y="16121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八方位卡方检验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3585" y="1884998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χ² = 580.1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45015" y="2229802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df = 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45015" y="2420302"/>
            <a:ext cx="12228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P = 4.6 × 10⁻¹²¹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448800" y="2705100"/>
            <a:ext cx="2171700" cy="1219200"/>
          </a:xfrm>
          <a:prstGeom prst="roundRect">
            <a:avLst>
              <a:gd name="adj" fmla="val 312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644062" y="2869406"/>
            <a:ext cx="14518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过表达方位(Holm)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44062" y="31742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东 237 36.9%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44062" y="344090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东北 179 27.9%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45015" y="3696652"/>
            <a:ext cx="10694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期望各 80.2 条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448800" y="4038600"/>
            <a:ext cx="2171700" cy="116205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644062" y="420290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最空的方位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44062" y="4507706"/>
            <a:ext cx="12937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南 20 条 西 19 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45015" y="4820602"/>
            <a:ext cx="19282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5 个大目各自独立拒绝均匀,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45015" y="50111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显著方位无一例外是东或东北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81000" y="5334000"/>
            <a:ext cx="11239500" cy="819150"/>
          </a:xfrm>
          <a:prstGeom prst="roundRect">
            <a:avLst>
              <a:gd name="adj" fmla="val 4651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0558" y="55202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一个关键提醒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1510" y="5833110"/>
            <a:ext cx="96347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哺乳动物偏北与偏东,鸟类偏东与东北。中国的观鸟人口梯度是自西向东,而非自南向北 —— 这使方向偏倚更倾向于观测性解释</a:t>
            </a:r>
          </a:p>
        </p:txBody>
      </p:sp>
      <p:sp>
        <p:nvSpPr>
          <p:cNvPr id="30" name="Line 3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69570" y="6522720"/>
            <a:ext cx="35784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数据来源:分目方向图 16 个目;总体 642 条有质心匹配的记录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多尺度验证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343176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III</a:t>
            </a:r>
          </a:p>
        </p:txBody>
      </p:sp>
      <p:sp>
        <p:nvSpPr>
          <p:cNvPr id="7" name="Line 7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569970" y="2817495"/>
            <a:ext cx="548173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未来预测与保护规划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8545" y="3669982"/>
            <a:ext cx="59580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把模型推到未来与推到县,都必须同时给出它失效的边界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3510" y="63312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中国鸟类新分布记录的生成风险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 未来情景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28960" y="30861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CMIP6 投影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0719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未来风险上升集中在西南与东北,但可外推的格子越来越少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26" y="1314450"/>
            <a:ext cx="6509548" cy="457200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153400" y="1428750"/>
            <a:ext cx="3467100" cy="1123950"/>
          </a:xfrm>
          <a:prstGeom prst="roundRect">
            <a:avLst>
              <a:gd name="adj" fmla="val 339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366760" y="16040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情景设置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67712" y="1897856"/>
            <a:ext cx="18030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CMIP6 四模式集成 delta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67712" y="2145506"/>
            <a:ext cx="3117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SSP2-4.5 / SSP5-8.5 × 2030/2050/2080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68665" y="2363152"/>
            <a:ext cx="26029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delta 同时施加到省端与物种分布区端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37208" y="2757964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可外推的格子迅速减少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153400" y="3028950"/>
            <a:ext cx="3467100" cy="323850"/>
          </a:xfrm>
          <a:prstGeom prst="roundRect">
            <a:avLst>
              <a:gd name="adj" fmla="val 5882"/>
            </a:avLst>
          </a:prstGeom>
          <a:solidFill>
            <a:srgbClr val="E8F4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153400" y="3028950"/>
            <a:ext cx="1666875" cy="323850"/>
          </a:xfrm>
          <a:prstGeom prst="roundRect">
            <a:avLst>
              <a:gd name="adj" fmla="val 5882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292465" y="3134678"/>
            <a:ext cx="694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2030 48%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53400" y="3409950"/>
            <a:ext cx="3467100" cy="323850"/>
          </a:xfrm>
          <a:prstGeom prst="roundRect">
            <a:avLst>
              <a:gd name="adj" fmla="val 5882"/>
            </a:avLst>
          </a:prstGeom>
          <a:solidFill>
            <a:srgbClr val="E8F4FC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153400" y="3409950"/>
            <a:ext cx="342900" cy="323850"/>
          </a:xfrm>
          <a:prstGeom prst="roundRect">
            <a:avLst>
              <a:gd name="adj" fmla="val 5882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578215" y="3515678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2050 10%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153400" y="3790950"/>
            <a:ext cx="3467100" cy="323850"/>
          </a:xfrm>
          <a:prstGeom prst="roundRect">
            <a:avLst>
              <a:gd name="adj" fmla="val 5882"/>
            </a:avLst>
          </a:prstGeom>
          <a:solidFill>
            <a:srgbClr val="E8F4F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153400" y="3790950"/>
            <a:ext cx="76200" cy="323850"/>
          </a:xfrm>
          <a:prstGeom prst="roundRect">
            <a:avLst>
              <a:gd name="adj" fmla="val 25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11515" y="3896678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2080 2%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41018" y="4200049"/>
            <a:ext cx="34779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SSP2-4.5 下落在拟合协变量范围内的物种-省组合比例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53400" y="4476750"/>
            <a:ext cx="3467100" cy="1409700"/>
          </a:xfrm>
          <a:prstGeom prst="roundRect">
            <a:avLst>
              <a:gd name="adj" fmla="val 2703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859584" y="467106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因此主图做了支撑域掩膜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8665" y="5011102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只聚合落在拟合范围内的格子,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8665" y="52587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每个面板标出合格比例。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8665" y="554450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世纪末结果只能作情景演示,不是预报。</a:t>
            </a:r>
          </a:p>
        </p:txBody>
      </p: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69570" y="6522720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M1;努力按 SSP 差异化增长外推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24512" y="6522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未来预测与启示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1439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 外推的边界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5238" y="30861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机制模型 vs 机器学习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775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两族模型在观测范围内一致,一出范围就完全分道扬镳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1" y="1314450"/>
            <a:ext cx="6614809" cy="457200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867650" y="1428750"/>
            <a:ext cx="3752850" cy="10096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009E7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081010" y="1604010"/>
            <a:ext cx="1419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观测范围内:一致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71485" y="1884998"/>
            <a:ext cx="121577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ρ = 0.54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2915" y="2229802"/>
            <a:ext cx="17135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689 个省-年,2002–2024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867650" y="2552700"/>
            <a:ext cx="3752850" cy="120015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081010" y="2727960"/>
            <a:ext cx="1419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范围外:完全分歧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71485" y="2970848"/>
            <a:ext cx="72236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ρ ≈ 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81962" y="328850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机制模型 176/186 格预测上升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81962" y="3479006"/>
            <a:ext cx="14416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机器学习仅 42/186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867650" y="3867150"/>
            <a:ext cx="3752850" cy="1143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081010" y="40424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原因很明确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81962" y="43553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梯度提升树超出训练范围后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81962" y="4583906"/>
            <a:ext cx="2024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返回边界叶值 → 预测面饱和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81962" y="4812506"/>
            <a:ext cx="17784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cloglog 模型则线性外推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867650" y="5124450"/>
            <a:ext cx="3752850" cy="762000"/>
          </a:xfrm>
          <a:prstGeom prst="roundRect">
            <a:avLst>
              <a:gd name="adj" fmla="val 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268778" y="52997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方法学结论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34911" y="5601652"/>
            <a:ext cx="26183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可解释 ML 代理不适合超范围气候投影</a:t>
            </a:r>
          </a:p>
        </p:txBody>
      </p:sp>
      <p:sp>
        <p:nvSpPr>
          <p:cNvPr id="28" name="Line 28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69570" y="6522720"/>
            <a:ext cx="41042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M4;XGBoost 与 cloglog 模型使用同一组预测变量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24512" y="6522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未来预测与启示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1439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保护地关联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52151" y="308610"/>
            <a:ext cx="1283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63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保护区里的新纪录富集,主要记录的是保护区作为观测装置的功能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57300"/>
            <a:ext cx="7524750" cy="51625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115300" y="1333500"/>
            <a:ext cx="3505200" cy="1219200"/>
          </a:xfrm>
          <a:prstGeom prst="roundRect">
            <a:avLst>
              <a:gd name="adj" fmla="val 312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115300" y="1333500"/>
            <a:ext cx="47625" cy="1219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47710" y="1489710"/>
            <a:ext cx="1732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表观上是 2.5 倍富集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8662" y="1783556"/>
            <a:ext cx="20084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8662" y="2031206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8662" y="2278856"/>
            <a:ext cx="11869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115300" y="2686050"/>
            <a:ext cx="3505200" cy="1066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7710" y="2842260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38185" y="3104198"/>
            <a:ext cx="11858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OR 1.57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6915" y="318230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1.26 – 1.96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49615" y="3487102"/>
            <a:ext cx="27640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同省同年 1:200 匹配,286 万份观鸟记录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115300" y="3886200"/>
            <a:ext cx="3505200" cy="139065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115300" y="3886200"/>
            <a:ext cx="47625" cy="13906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47710" y="404241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但三条稳健性把它压回去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49615" y="4325302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剔除前 2 大宿主区 1.16 (0.92–1.47)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49615" y="4553902"/>
            <a:ext cx="21122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仅 2002–2012 年 0.97,无效应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49615" y="4782502"/>
            <a:ext cx="20585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50568" y="5038249"/>
            <a:ext cx="2253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172 条区内事件只落在 68 处保护区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15300" y="5391150"/>
            <a:ext cx="3505200" cy="781050"/>
          </a:xfrm>
          <a:prstGeom prst="roundRect">
            <a:avLst>
              <a:gd name="adj" fmla="val 487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576626" y="55473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14234" y="58031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保护区内的新纪录数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32081" y="599360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不能作为保护成效指标</a:t>
            </a:r>
          </a:p>
        </p:txBody>
      </p:sp>
      <p:sp>
        <p:nvSpPr>
          <p:cNvPr id="33" name="Line 3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69570" y="6522720"/>
            <a:ext cx="40647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P1;1028 处已制图、2012 年前建立的自然保护区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保护与规划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4364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降尺度到市县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77400" y="3086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下一条新纪录落在哪个县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18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响应变量是行政绑定的,不能直接换尺度;拆成两段之后可以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87" y="1238250"/>
            <a:ext cx="6764426" cy="52006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829550" y="1295400"/>
            <a:ext cx="3790950" cy="89535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43862" y="14406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两段分解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39100" y="1714500"/>
            <a:ext cx="3619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onsolas"/>
                <a:ea typeface="Microsoft YaHei"/>
                <a:cs typeface="Consolas"/>
              </a:rPr>
              <a:t>P(落在县 c) = P(该省发生)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39100" y="1924050"/>
            <a:ext cx="3619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onsolas"/>
                <a:ea typeface="Microsoft YaHei"/>
                <a:cs typeface="Consolas"/>
              </a:rPr>
              <a:t>× P(落在 c | 已发生)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829550" y="2324100"/>
            <a:ext cx="3790950" cy="139065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042910" y="2480310"/>
            <a:ext cx="20639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43862" y="27741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县级 top-1 命中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44100" y="2733675"/>
            <a:ext cx="6706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16.1%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44815" y="3048952"/>
            <a:ext cx="19205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103 个备择的随机期望约 1%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43862" y="3288506"/>
            <a:ext cx="2041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真实县落在预测前 10% 之内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41355" y="3264218"/>
            <a:ext cx="603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45.4%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45768" y="3514249"/>
            <a:ext cx="2110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留一省:29 个省中 27 个优于随机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829550" y="3848100"/>
            <a:ext cx="3790950" cy="116205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009E7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042910" y="400431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最强的变量不是观鸟努力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43862" y="4279106"/>
            <a:ext cx="22713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到该物种分布区距离 OR 0.238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3862" y="4526756"/>
            <a:ext cx="17784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累计观鸟努力 OR 1.755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5768" y="47715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落点由「离分布区边缘多近」主导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29550" y="5143500"/>
            <a:ext cx="3790950" cy="1028700"/>
          </a:xfrm>
          <a:prstGeom prst="roundRect">
            <a:avLst>
              <a:gd name="adj" fmla="val 3704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605647" y="5299710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限制外推的不是县级这一段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44815" y="5582602"/>
            <a:ext cx="2817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分辨率变细,技能反而提高(0.50 → 0.23)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4815" y="5811202"/>
            <a:ext cx="29633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省级风险到 2050 年只剩 10.4% 组合可外推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45768" y="6009799"/>
            <a:ext cx="23814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F4FC">
                    <a:alphaMod val="72000"/>
                  </a:srgbClr>
                </a:solidFill>
                <a:latin typeface="Arial"/>
                <a:ea typeface="Microsoft YaHei"/>
                <a:cs typeface="Arial"/>
              </a:rPr>
              <a:t>故近期可作业务产品,末世纪只作演示</a:t>
            </a:r>
          </a:p>
        </p:txBody>
      </p:sp>
      <p:sp>
        <p:nvSpPr>
          <p:cNvPr id="33" name="Line 3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69570" y="6522720"/>
            <a:ext cx="35521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Fig. C1–C2;617 条事件,县级备择数中位 103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保护与规划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14827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启示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03180" y="3086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可执行的三条建议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4520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扩大保护地面积不会自动带来探测能力,监测必须单独投入且可以精确到县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76250" y="1428750"/>
            <a:ext cx="3619500" cy="219075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76250" y="1428750"/>
            <a:ext cx="3619500" cy="571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23900" y="1704975"/>
            <a:ext cx="27639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① 加密热点的收益已近饱和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7710" y="2118360"/>
            <a:ext cx="33954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努力 HR 由 2.18 (2002) 降至 1.07 (2024)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7710" y="2404110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置信区间在 2022 年后已含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8662" y="2793206"/>
            <a:ext cx="25835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省级尺度同样显示:早期已充分覆盖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8662" y="3040856"/>
            <a:ext cx="2747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的省份,单位努力产出更低(IRR 0.71)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8662" y="3345656"/>
            <a:ext cx="24192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继续在东部加密,边际信息量有限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286250" y="1428750"/>
            <a:ext cx="3619500" cy="219075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286250" y="1428750"/>
            <a:ext cx="3619500" cy="5715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33900" y="1704975"/>
            <a:ext cx="27639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气候信号在低努力区最强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37710" y="2118360"/>
            <a:ext cx="20634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变暖 × 努力交互 HR 0.849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37710" y="24041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低努力省份的风险随变暖上升最陡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38662" y="2793206"/>
            <a:ext cx="25835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这些区域恰是西部山地与高海拔带,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38662" y="30408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气候梯度陡、边界推移最敏感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38662" y="33456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同一份投入在这里的信息回报更高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428750"/>
            <a:ext cx="3619500" cy="219075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1428750"/>
            <a:ext cx="3619500" cy="571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43900" y="1704975"/>
            <a:ext cx="25339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③ 监测缺口可以精确定位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47710" y="2118360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高增温 × 低观测且在保护区内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47710" y="2404110"/>
            <a:ext cx="23439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39.3 万 km²,可直接加挂监测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48662" y="27932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同类条件但在保护体系之外的有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48662" y="3040856"/>
            <a:ext cx="2123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160.3 万 km²,是前者的四倍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48662" y="33456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县级落点面可把布点细化到具体县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76250" y="3829050"/>
            <a:ext cx="11239500" cy="91440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3902" y="401812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对调查监测网络优化的直接建议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6760" y="4366260"/>
            <a:ext cx="82238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优先级 = 气候暴露 × (1 − 现有观测覆盖),落到县;同时:保护区内的新纪录数不能反过来当作保护成效指标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76250" y="4933950"/>
            <a:ext cx="11239500" cy="9525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76250" y="493395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45808" y="5120164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一个必须说明的边界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6760" y="5433060"/>
            <a:ext cx="62609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本研究只能量化两类过程各自的关联强度,不能对任何一条具体记录判定其归属。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6760" y="5680710"/>
            <a:ext cx="54810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要做到个案归因,需要重复调查数据支持的占用模型,这是下一步工作。</a:t>
            </a:r>
          </a:p>
        </p:txBody>
      </p:sp>
      <p:sp>
        <p:nvSpPr>
          <p:cNvPr id="42" name="Line 4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69570" y="6522720"/>
            <a:ext cx="36638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Discussion 与保护地模块;基金申请书研究目标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755958" y="6522720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保护与规划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923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 可重复性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28960" y="30861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数据与代码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0860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全部数据、代码与图表已公开,结论可逐条追溯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2450" y="15144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828800"/>
            <a:ext cx="5429250" cy="257175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3910" y="2042160"/>
            <a:ext cx="38686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新纪录事件 CBNR 中国鸟类新纪录数据集(发布版)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3910" y="2366010"/>
            <a:ext cx="33954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物种分布区 BirdLife International 分布图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3910" y="2689860"/>
            <a:ext cx="3745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物种性状 中国鸟类生态学性状数据库(1 445 种)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4862" y="2983706"/>
            <a:ext cx="21563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BIRDBASE v2025.1 · AVONET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3910" y="3299460"/>
            <a:ext cx="25629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系统发育 Clements 2023 定年树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3910" y="3623310"/>
            <a:ext cx="34305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气候 CRU TS 4.09 · WorldClim 2.1 · CMIP6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3910" y="3947160"/>
            <a:ext cx="38073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调查努力 省-年面板 + 286 万份 GBIF/eBird 记录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67450" y="15144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代码与产出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828800"/>
            <a:ext cx="5334000" cy="257175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18910" y="2042160"/>
            <a:ext cx="31150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分析流水线 脚本 130 – 173,按序可复现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18910" y="2366010"/>
            <a:ext cx="35707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结果表 70 余张 CSV,与文中每个数字一一对应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18910" y="26898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图件 16 张主图 + 方向图 + 两套可选版式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19862" y="2983706"/>
            <a:ext cx="2854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每图含 PNG / PDF / SVG / 可编辑 PPTX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8910" y="3299460"/>
            <a:ext cx="27119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冒烟测试 可复现主模型的四个系数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18910" y="3623310"/>
            <a:ext cx="37635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保护地模块 观鸟对照、存续、错配与监测优先级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19862" y="3955256"/>
            <a:ext cx="49002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66CC"/>
                </a:solidFill>
                <a:latin typeface="Consolas"/>
                <a:ea typeface="Microsoft YaHei"/>
                <a:cs typeface="Consolas"/>
              </a:rPr>
              <a:t>github.com/dingchenchen6/bird-newrecord-discovery-dated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610100"/>
            <a:ext cx="11049000" cy="12763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02005" y="478821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稳健性检验覆盖范围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4862" y="5136356"/>
            <a:ext cx="6280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事件定年 · 努力缺失口径 · 气候指标 · 累积窗口 · 气候基线 · 气候数据源 · SDM 阈值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862" y="5422106"/>
            <a:ext cx="47277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努力代理 · 迁徙分层 · 系统发育处理 · 性状插补 · 随机效应结构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4862" y="568880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六条主结论在全部检验下方向不变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32408" y="5696902"/>
            <a:ext cx="3553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参考文献 58 条,全部带 DOI(P03 – P04 引文见备注)</a:t>
            </a:r>
          </a:p>
        </p:txBody>
      </p:sp>
      <p:sp>
        <p:nvSpPr>
          <p:cNvPr id="34" name="Line 3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9570" y="6522720"/>
            <a:ext cx="20799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数据来源:仓库 README 与数据字典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可重复性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14827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 结论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8440" y="3086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回到最初的问题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0577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新纪录同时记录了鸟的变化与我们看鸟方式的变化,两者必须一起建模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76250" y="1333500"/>
            <a:ext cx="5524500" cy="8191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09E7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89610" y="1470660"/>
            <a:ext cx="25791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① 气候与努力的效应量基本相当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0562" y="172640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累积变暖 1.362,调查努力 1.404,都不能被单独归因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2468" y="1952149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三档阈值、四种努力代理、十二种气候口径下一致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91250" y="1333500"/>
            <a:ext cx="5524500" cy="8191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0336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04610" y="1470660"/>
            <a:ext cx="2763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② 观测过程的冲击比任一驱动都大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5562" y="1726406"/>
            <a:ext cx="35858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省 × 年随机效应 ×2.23,条件 AUC 0.721 → 0.854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7468" y="1952149"/>
            <a:ext cx="26662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76250" y="2247900"/>
            <a:ext cx="5524500" cy="8191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89610" y="2385060"/>
            <a:ext cx="30484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③ 努力的边际产出在下降,气候的没有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0562" y="2640806"/>
            <a:ext cx="3824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努力 HR 2.18 → 1.07;气候项无时间趋势 (P = 0.82)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2468" y="2866549"/>
            <a:ext cx="28086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一个饱和的观测过程,一个不饱和的气候过程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191250" y="2247900"/>
            <a:ext cx="5524500" cy="8191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04610" y="2385060"/>
            <a:ext cx="29472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④ 记录强烈偏向分布区的东与东北侧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5562" y="2640806"/>
            <a:ext cx="35200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χ² = 580.1,东 36.9% 与东北 27.9% 显著过表达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7468" y="2866549"/>
            <a:ext cx="26662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观鸟人口梯度自西向东,更倾向观测性解释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76250" y="3162300"/>
            <a:ext cx="5524500" cy="8191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09E7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89610" y="3299460"/>
            <a:ext cx="30484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⑤ 保护区内记录多,是观测装置的作用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0562" y="3555206"/>
            <a:ext cx="34872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以观鸟人去过的地方为对照后仅 1.57,且不稳健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2468" y="3780949"/>
            <a:ext cx="2872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保护区也不提高首次记录转为持续存在的概率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191250" y="3162300"/>
            <a:ext cx="5524500" cy="8191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404610" y="3299460"/>
            <a:ext cx="18431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⑥ 预测可以降尺度到县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05562" y="3555206"/>
            <a:ext cx="34214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县级 top-1 命中 16.1%,约为随机期望的 17 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07468" y="3780949"/>
            <a:ext cx="22390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受限的是气候外推,不是行政分辨率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76250" y="4152900"/>
            <a:ext cx="11239500" cy="781050"/>
          </a:xfrm>
          <a:prstGeom prst="roundRect">
            <a:avLst>
              <a:gd name="adj" fmla="val 487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313057" y="4303871"/>
            <a:ext cx="15658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回答最初的问题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79167" y="4632960"/>
            <a:ext cx="7233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不是二选一。两类过程量级相当且可分离,但只有把观测过程显式建模,气候信号才是可解释的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4355" y="51120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353050"/>
            <a:ext cx="3552825" cy="62865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85812" y="5498306"/>
            <a:ext cx="15812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扩展到其余三个类群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7718" y="5743099"/>
            <a:ext cx="22390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哺乳类已完成,两栖爬行类在建库中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314825" y="5353050"/>
            <a:ext cx="3552825" cy="62865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529138" y="5498306"/>
            <a:ext cx="20988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把县级落点面接入监测布点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31042" y="57430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高增温低观测格已可定位到具体县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58150" y="5353050"/>
            <a:ext cx="3562350" cy="62865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272462" y="5498306"/>
            <a:ext cx="20988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用重复调查数据做个案归因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74368" y="57430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占用模型可分离检出率与真实占用</a:t>
            </a:r>
          </a:p>
        </p:txBody>
      </p:sp>
      <p:sp>
        <p:nvSpPr>
          <p:cNvPr id="47" name="Line 4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369570" y="6522720"/>
            <a:ext cx="41633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数据来源:文稿 Conclusions;保护地与降尺度模块;基金申请书研究目标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953125" y="65227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