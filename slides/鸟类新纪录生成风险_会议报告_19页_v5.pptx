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  <Relationship Id="rId26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1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开场(30 秒):这项工作问一个所有用新纪录做气候变化推断的人都绕不开的问题——一条新纪录到底记录了鸟的变化,还是记录了我们看鸟方式的变化。标题就是结论:两者贡献相当,但这个结论成立的前提,是把每条记录定年到它被发现的那一年,而不是论文发表的那一年。</a:t>
            </a:r>
          </a:p>
          <a:p>
            <a:endParaRPr lang="zh-CN" dirty="0"/>
          </a:p>
          <a:p>
            <a:r>
              <a:rPr lang="zh-CN" dirty="0"/>
              <a:t>数字:1,029 条records、17.6 万行风险集、649 个建模事件。</a:t>
            </a:r>
          </a:p>
          <a:p>
            <a:endParaRPr lang="zh-CN" dirty="0"/>
          </a:p>
          <a:p>
            <a:r>
              <a:rPr lang="zh-CN" dirty="0"/>
              <a:t>证据锚点:题名页;Methods。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一句话:分布知识是生态过程和观测过程的联合产物,而这两个过程在中国过去二十年同步爆发,所以不能用相关分析分离。</a:t>
            </a:r>
          </a:p>
          <a:p>
            <a:endParaRPr lang="zh-CN" dirty="0"/>
          </a:p>
          <a:p>
            <a:r>
              <a:rPr lang="zh-CN" dirty="0"/>
              <a:t>为什么是这份数据:CBNR 汇编同时保有发现日期与发表日期——这是全场的方法学钥匙,下一页立刻用到。</a:t>
            </a:r>
          </a:p>
          <a:p>
            <a:endParaRPr lang="zh-CN" dirty="0"/>
          </a:p>
          <a:p>
            <a:r>
              <a:rPr lang="zh-CN" dirty="0"/>
              <a:t>证据锚点:Introduction 第 1–3 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讲法:公式一遍带过,重点讲四张卡为什么缺一不可——分母(完整风险集)、时钟(发现年+offset)、气候的物种参照(绝对增温全国近似均一,只有差值携带物种信息)、观测的尺度(省×年)。</a:t>
            </a:r>
          </a:p>
          <a:p>
            <a:endParaRPr lang="zh-CN" dirty="0"/>
          </a:p>
          <a:p>
            <a:r>
              <a:rPr lang="zh-CN" dirty="0"/>
              <a:t>若被问 cloglog:它是连续比例风险的离散化,系数就是 HR,换成月面板系数不变;logit 会变。</a:t>
            </a:r>
          </a:p>
          <a:p>
            <a:endParaRPr lang="zh-CN" dirty="0"/>
          </a:p>
          <a:p>
            <a:r>
              <a:rPr lang="zh-CN" dirty="0"/>
              <a:t>证据锚点:Methods;Figure 4a(梯度构造)。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讲法:进入预测前先看数据本身。a 点图(点色=年份,冷到暖):记录密集在东部与南缘,西部零星但并非空白;b 省级累计:西藏、云南、湖南居前;c 年度序列 20 年增约 8 倍;d 记录位置的质心基本稳定——增长主要是密度增长,不是范围漂移。</a:t>
            </a:r>
          </a:p>
          <a:p>
            <a:endParaRPr lang="zh-CN" dirty="0"/>
          </a:p>
          <a:p>
            <a:r>
              <a:rPr lang="zh-CN" dirty="0"/>
              <a:t>衔接:彩柱与黑线的错位(发表年 vs 发现年)正是下一页定年校正的动机,先在数据层面可视化。</a:t>
            </a:r>
          </a:p>
          <a:p>
            <a:endParaRPr lang="zh-CN" dirty="0"/>
          </a:p>
          <a:p>
            <a:r>
              <a:rPr lang="zh-CN" dirty="0"/>
              <a:t>数据:CBNR 发布版,Zenodo 记录 20809949,CC-BY-4.0;剔除 3 条坐标异常。</a:t>
            </a:r>
          </a:p>
          <a:p>
            <a:endParaRPr lang="zh-CN" dirty="0"/>
          </a:p>
          <a:p>
            <a:r>
              <a:rPr lang="zh-CN" dirty="0"/>
              <a:t>证据锚点:FigST1;数据可得性声明。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核心数字:重定年一步,努力效应掉 37%,气候变异那个 P=1.8e-4 的"显著效应"直接消失;累积变暖几乎不动(1.394→1.437)——说明它不是定年伪迹。</a:t>
            </a:r>
          </a:p>
          <a:p>
            <a:endParaRPr lang="zh-CN" dirty="0"/>
          </a:p>
          <a:p>
            <a:r>
              <a:rPr lang="zh-CN" dirty="0"/>
              <a:t>图:a 滞后分布与完整度曲线;b 两种定年下的年序列(2021 后灰带 = 右删失);c 五步分解,阴影列是重定年那一步。</a:t>
            </a:r>
          </a:p>
          <a:p>
            <a:endParaRPr lang="zh-CN" dirty="0"/>
          </a:p>
          <a:p>
            <a:r>
              <a:rPr lang="zh-CN" dirty="0"/>
              <a:t>证据锚点:Figure 2;Table 1(S0→S5 分解)。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头条:1.362 vs 1.404,效应量相当;交互 0.849——变暖在调查稀疏处作用最强。</a:t>
            </a:r>
          </a:p>
          <a:p>
            <a:endParaRPr lang="zh-CN" dirty="0"/>
          </a:p>
          <a:p>
            <a:r>
              <a:rPr lang="zh-CN" dirty="0"/>
              <a:t>必须主动讲的限定(审稿人会问):变暖项的参照点不是 1 而是 1.157,因为省×年层内重排保留了省-年气候与事件的共变;可归因于物种特异参照的增量约 ×1.18。努力项相反:打乱时间对齐后塌到 0.980,几乎全是真信号。被问"效应有多大"时答:显著且稳健,增量约 18% 而非 36%。</a:t>
            </a:r>
          </a:p>
          <a:p>
            <a:endParaRPr lang="zh-CN" dirty="0"/>
          </a:p>
          <a:p>
            <a:r>
              <a:rPr lang="zh-CN" dirty="0"/>
              <a:t>证据锚点:Figure 1a,b;Table 2(含零中位与省级自助两列);SI Fig. S11。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讲法:先四判据(掉哪个都疼、疼得差不多),再判别力阶梯(0.411→0.610,单独气候略强于单独努力——与发表年定年时代的结论相反),最后一屏稳健性数字扫过去。</a:t>
            </a:r>
          </a:p>
          <a:p>
            <a:endParaRPr lang="zh-CN" dirty="0"/>
          </a:p>
          <a:p>
            <a:r>
              <a:rPr lang="zh-CN" dirty="0"/>
              <a:t>证据锚点:Figure 1c,d;Figure 3;SI Note S5。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头条:省×年是最大方差成分(0.804),对应 ×2.23,超过任何固定效应。它就是"观测史"在模型里的位置——某省某年的调查项目、观鸟节、保护区新建。</a:t>
            </a:r>
          </a:p>
          <a:p>
            <a:endParaRPr lang="zh-CN" dirty="0"/>
          </a:p>
          <a:p>
            <a:r>
              <a:rPr lang="zh-CN" dirty="0"/>
              <a:t>方法要点:六种随机结构、四判据比较;边际 AUC 在六种结构下几乎不变(0.607–0.613),说明这一层吸收的是观测异质性、不重排固定效应信号。</a:t>
            </a:r>
          </a:p>
          <a:p>
            <a:endParaRPr lang="zh-CN" dirty="0"/>
          </a:p>
          <a:p>
            <a:r>
              <a:rPr lang="zh-CN" dirty="0"/>
              <a:t>证据锚点:Figure 5;Table 3;SI Fig. S1。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讲法:PH 违反通常是模型的坏消息,这里是研究的好消息——它把两个过程分开了。努力 HR 从 2.18 滑到 1.07,气候项无时间趋势(P=0.82)。</a:t>
            </a:r>
          </a:p>
          <a:p>
            <a:endParaRPr lang="zh-CN" dirty="0"/>
          </a:p>
          <a:p>
            <a:r>
              <a:rPr lang="zh-CN" dirty="0"/>
              <a:t>证据锚点:Figure 5d;SI Table S5(省级 IRR 0.71)。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数字:642 条有质心匹配;东 36.9%、东北 27.9%,期望各 12.5%;χ²=580.1。</a:t>
            </a:r>
          </a:p>
          <a:p>
            <a:endParaRPr lang="zh-CN" dirty="0"/>
          </a:p>
          <a:p>
            <a:r>
              <a:rPr lang="zh-CN" dirty="0"/>
              <a:t>克制的解读:与姊妹哺乳类研究(偏北与东)对照,鸟类偏东而非偏北是信息量所在——中国观鸟人口梯度自西向东,不是自南向北,所以这个方向更像观测印记而非纯生态信号。</a:t>
            </a:r>
          </a:p>
          <a:p>
            <a:endParaRPr lang="zh-CN" dirty="0"/>
          </a:p>
          <a:p>
            <a:r>
              <a:rPr lang="zh-CN" dirty="0"/>
              <a:t>证据锚点:Figure 6;SI Fig. S15;SI Note S6。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一句话:主模型不只做了敏感性,还做了设计保持的零模型、两种聚类自助、参数自助和留一影响力——四个系数全部在零分布之外,没有单个省或物种群撑起结果。</a:t>
            </a:r>
          </a:p>
          <a:p>
            <a:endParaRPr lang="zh-CN" dirty="0"/>
          </a:p>
          <a:p>
            <a:r>
              <a:rPr lang="zh-CN" dirty="0"/>
              <a:t>诚实处:离群检验显著(95 outliers)——0.37% 事件率的二元结局本就如此,如实报告。</a:t>
            </a:r>
          </a:p>
          <a:p>
            <a:endParaRPr lang="zh-CN" dirty="0"/>
          </a:p>
          <a:p>
            <a:r>
              <a:rPr lang="zh-CN" dirty="0"/>
              <a:t>证据锚点:SI Fig. S11;SI Note S4;Table 2。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设计:对照 = 286 万条 GBIF/eBird 记录里观鸟人同省同年实际去过的地点。全国尺度观鸟努力并未向保护区集中(10.8%≈面积份额)。</a:t>
            </a:r>
          </a:p>
          <a:p>
            <a:endParaRPr lang="zh-CN" dirty="0"/>
          </a:p>
          <a:p>
            <a:r>
              <a:rPr lang="zh-CN" dirty="0"/>
              <a:t>为什么判观测解释:效应由 68 处保护区中的前 2 处撑起 27%;只在 2013 年后出现而保护网络 2012 年后未再扩;区内每清单多记 24% 物种(层内扣不掉)。推断规则事先写死:正结果是弱证据,1.57 只是上界。保护区也不提高首次记录转为持续存在的概率(OR 1.01)。</a:t>
            </a:r>
          </a:p>
          <a:p>
            <a:endParaRPr lang="zh-CN" dirty="0"/>
          </a:p>
          <a:p>
            <a:r>
              <a:rPr lang="zh-CN" dirty="0"/>
              <a:t>口径:仅限 1,028 处已制图、以国家级为主、2012 年前建立的自然保护区。</a:t>
            </a:r>
          </a:p>
          <a:p>
            <a:endParaRPr lang="zh-CN" dirty="0"/>
          </a:p>
          <a:p>
            <a:r>
              <a:rPr lang="zh-CN" dirty="0"/>
              <a:t>证据锚点:SI Figs S12–S14;SI Note S6。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注意口径:这一块是仓库中的扩展模块,不在 GCB 投稿正文里——如实说明。</a:t>
            </a:r>
          </a:p>
          <a:p>
            <a:endParaRPr lang="zh-CN" dirty="0"/>
          </a:p>
          <a:p>
            <a:r>
              <a:rPr lang="zh-CN" dirty="0"/>
              <a:t>讲法:省级首次记录不能直接换尺度;拆成省级风险 × 省内分配后,县级 top-1 命中 16.1%(约 17 倍随机),留一省 27/29。份额最高的县——墨脱、崇明、珲春、勐腊、洋县——全是公认边界与热点县,而模型事先不知道。</a:t>
            </a:r>
          </a:p>
          <a:p>
            <a:endParaRPr lang="zh-CN" dirty="0"/>
          </a:p>
          <a:p>
            <a:r>
              <a:rPr lang="zh-CN" dirty="0"/>
              <a:t>证据锚点:仓库 DOWNSCALING_MODULE.md;FigC1–C2。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讲法:从左到右是同一套两段式在三个尺度的展开——省级期望数、市级落点、县级落点。省级头部:江苏、贵州、湖南、云南;县级面上最亮的仍是墨脱、浦东这类边界与热点县。</a:t>
            </a:r>
          </a:p>
          <a:p>
            <a:endParaRPr lang="zh-CN" dirty="0"/>
          </a:p>
          <a:p>
            <a:r>
              <a:rPr lang="zh-CN" dirty="0"/>
              <a:t>一致性:换成随机森林或 XGBoost,九个组合的 Spearman ρ 0.62–0.90——"在哪里"对模型族不敏感,分歧在西部低努力区(树模型对累计努力的分裂更硬)。</a:t>
            </a:r>
          </a:p>
          <a:p>
            <a:endParaRPr lang="zh-CN" dirty="0"/>
          </a:p>
          <a:p>
            <a:r>
              <a:rPr lang="zh-CN" dirty="0"/>
              <a:t>口径:2024 年条件预测,描述性"当前面";外推验证见下一页。底图审图号 GS(2019)1822。</a:t>
            </a:r>
          </a:p>
          <a:p>
            <a:endParaRPr lang="zh-CN" dirty="0"/>
          </a:p>
          <a:p>
            <a:r>
              <a:rPr lang="zh-CN" dirty="0"/>
              <a:t>证据锚点:仓库 MULTISCALE_MODELS_MODULE.md;FigMS1、FigMS2。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头条:把气候与努力作为两个独立情景维度交叉——换 SSP 全国期望数几乎不动(23.2 vs 23.1),换努力情景直接翻倍以上(23.6 vs 57–62)。观测过程主宰未来记录量,是主结果在未来时态的重演。</a:t>
            </a:r>
          </a:p>
          <a:p>
            <a:endParaRPr lang="zh-CN" dirty="0"/>
          </a:p>
          <a:p>
            <a:r>
              <a:rPr lang="zh-CN" dirty="0"/>
              <a:t>必须讲的限定:努力延续档到 2050 年,努力 z 已超出训练范围,支撑域塌到 2%——地图透明度直接编码了这一点(浅=域外)。所以"57–62 条/年"是情景演示,不是可信预测;可信的说法是:2030 年、任一情景下约 23–27 条/年。</a:t>
            </a:r>
          </a:p>
          <a:p>
            <a:endParaRPr lang="zh-CN" dirty="0"/>
          </a:p>
          <a:p>
            <a:r>
              <a:rPr lang="zh-CN" dirty="0"/>
              <a:t>一个有趣细节:云南在未来面转为低值——其物种分布区端升温快,物种参照的气候梯度收窄。这是模型双端结构的真实输出。</a:t>
            </a:r>
          </a:p>
          <a:p>
            <a:endParaRPr lang="zh-CN" dirty="0"/>
          </a:p>
          <a:p>
            <a:r>
              <a:rPr lang="zh-CN" dirty="0"/>
              <a:t>证据锚点:FigMS3;tbl_future_scenario_grid.csv;支撑域方法同 Figure 7。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为什么严格:物种参照的气候梯度历史 SD 只有 0.18 °C,未来省-分布区差值可达 2 °C——十倍于拟合范围。所以逐面板报告支撑域内比例,末世纪只作情景演示。</a:t>
            </a:r>
          </a:p>
          <a:p>
            <a:endParaRPr lang="zh-CN" dirty="0"/>
          </a:p>
          <a:p>
            <a:r>
              <a:rPr lang="zh-CN" dirty="0"/>
              <a:t>RF 对照:内插时 RF 略强,外推(留省/时间前推)掉到基线;RF 重要性把"年份"排第一——它独立复现了本文主论点:数据里最强的信号是观测过程。</a:t>
            </a:r>
          </a:p>
          <a:p>
            <a:endParaRPr lang="zh-CN" dirty="0"/>
          </a:p>
          <a:p>
            <a:r>
              <a:rPr lang="zh-CN" dirty="0"/>
              <a:t>证据锚点:Figure 7;SI Figs S6–S11。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讲法:局限不是免责声明,是结论的适用范围。特别强调非对称推断规则——它在看结果之前写死,这是本研究方法学上最自律的一处。</a:t>
            </a:r>
          </a:p>
          <a:p>
            <a:endParaRPr lang="zh-CN" dirty="0"/>
          </a:p>
          <a:p>
            <a:r>
              <a:rPr lang="zh-CN" dirty="0"/>
              <a:t>证据锚点:Discussion(Limitations 段);SI Notes S1、S6。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收束:四句话对应四个章节;深色条是全文一句话答案。之后自然引到下一步(占用模型个案归因)。</a:t>
            </a:r>
          </a:p>
          <a:p>
            <a:endParaRPr lang="zh-CN" dirty="0"/>
          </a:p>
          <a:p>
            <a:r>
              <a:rPr lang="zh-CN" dirty="0"/>
              <a:t>证据锚点:Discussion;Conclusions。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结尾:强调可重复性——每个数字都能追到一张 CSV;仓库里连三家期刊的投稿包都在。留联系方式。</a:t>
            </a:r>
          </a:p>
          <a:p>
            <a:endParaRPr lang="zh-CN" dirty="0"/>
          </a:p>
          <a:p>
            <a:r>
              <a:rPr lang="zh-CN" dirty="0"/>
              <a:t>证据锚点:Data availability;仓库 README。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7f0975ec07982cd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d7cc4a657a9f9466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f8ad8ec195fc90c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77ee3d9b8edd3906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5dc8eda35b90b38a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c9e595664a837745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9ce80c4d0c8c80e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efd413c558f13831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4d46473e3a786eef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3a831e4c64d78d91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_261dd8405e382f41.pn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notesSlide" Target="../notesSlides/notesSlide19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762750"/>
            <a:ext cx="12192000" cy="9525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914400" y="1428750"/>
            <a:ext cx="533400" cy="571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882015" y="1801178"/>
            <a:ext cx="874977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变暖与调查努力对鸟类新分布记录生成的贡献相当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1540" y="2301240"/>
            <a:ext cx="431484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—— 前提是把记录定年到发现之时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00112" y="2793206"/>
            <a:ext cx="67207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Warming and survey effort contribute comparably to new bird distribution records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0112" y="3002756"/>
            <a:ext cx="30058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once records are dated to discovery</a:t>
            </a:r>
          </a:p>
        </p:txBody>
      </p:sp>
      <p:sp>
        <p:nvSpPr>
          <p:cNvPr id="10" name="Rectangle 10"/>
          <p:cNvSpPr/>
          <p:nvPr/>
        </p:nvSpPr>
        <p:spPr>
          <a:xfrm>
            <a:off x="9144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097280" y="3697605"/>
            <a:ext cx="859606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1,029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1568" y="4104799"/>
            <a:ext cx="16651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省级新纪录(2002–2024)</a:t>
            </a:r>
          </a:p>
        </p:txBody>
      </p:sp>
      <p:sp>
        <p:nvSpPr>
          <p:cNvPr id="13" name="Rectangle 13"/>
          <p:cNvSpPr/>
          <p:nvPr/>
        </p:nvSpPr>
        <p:spPr>
          <a:xfrm>
            <a:off x="37719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954780" y="3697605"/>
            <a:ext cx="1217224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175,901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69068" y="4104799"/>
            <a:ext cx="14943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物种×省×年 风险集行</a:t>
            </a:r>
          </a:p>
        </p:txBody>
      </p:sp>
      <p:sp>
        <p:nvSpPr>
          <p:cNvPr id="16" name="Rectangle 16"/>
          <p:cNvSpPr/>
          <p:nvPr/>
        </p:nvSpPr>
        <p:spPr>
          <a:xfrm>
            <a:off x="6629400" y="3543300"/>
            <a:ext cx="2514600" cy="8763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6812280" y="3697605"/>
            <a:ext cx="589767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649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826568" y="4104799"/>
            <a:ext cx="182895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建模事件 · 392 种 · 31 省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9160" y="5013960"/>
            <a:ext cx="364784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丁晨晨 北京大学城市与环境学院 生态研究中心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2018" y="5285899"/>
            <a:ext cx="19257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学术会议报告 · 2026 年 9 月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02494" y="5994797"/>
            <a:ext cx="513510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证据锚点与投稿稿(GCB 版)图表编号一致:Figure 1–7 · Table 1–3 · SI S1–S15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57175" y="1095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30594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一条新纪录,可能是扩张,也可能是终于有人去看了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953064" y="283845"/>
            <a:ext cx="8693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Introduction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02 / 19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14400"/>
            <a:ext cx="5257800" cy="203835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14400"/>
            <a:ext cx="52578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097756"/>
            <a:ext cx="2167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已知的分布图,是观测的产物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041" y="1376601"/>
            <a:ext cx="243313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专家绘制的分布图以标本与文献为据,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605201"/>
            <a:ext cx="20959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是宏观生态与保护规划的底图。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833801"/>
            <a:ext cx="32553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但“哪里有记录” = 鸟在哪里 × 有人在哪里看。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062401"/>
            <a:ext cx="19481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两者在原始数据中不可分辨。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553200" y="914400"/>
            <a:ext cx="5257800" cy="203835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6553200" y="914400"/>
            <a:ext cx="52578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6729412" y="1097756"/>
            <a:ext cx="19931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冲突:两个信号在同步增长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30841" y="1376601"/>
            <a:ext cx="15458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二十年间中国快速变暖;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730841" y="1605201"/>
            <a:ext cx="224385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同期观鸟人数由数千增至数十万。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30841" y="1833801"/>
            <a:ext cx="198950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任何只含其中一个过程的模型,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30841" y="2062401"/>
            <a:ext cx="239172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都会把另一个过程的信号错误归因。</a:t>
            </a:r>
          </a:p>
        </p:txBody>
      </p:sp>
      <p:sp>
        <p:nvSpPr>
          <p:cNvPr id="37" name="Rectangle 37"/>
          <p:cNvSpPr/>
          <p:nvPr/>
        </p:nvSpPr>
        <p:spPr>
          <a:xfrm>
            <a:off x="914400" y="3314700"/>
            <a:ext cx="108966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5754348" y="3558064"/>
            <a:ext cx="1216704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关键科学问题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18317" y="3875008"/>
            <a:ext cx="6888766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6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新纪录的发生,主要由真实分布变化还是观测偏差驱动?两者能否在同一个模型里被同时量化?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00589" y="4607004"/>
            <a:ext cx="1421636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为什么是中国鸟类: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01065" y="4877752"/>
            <a:ext cx="64552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全国汇编同时保有发现日期与发表日期 —— 这是分离两类过程的钥匙,也是别的数据集没有的。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2018" y="5152549"/>
            <a:ext cx="3946427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1,028/1,029 条记录可解析发现年;27 个省级单元以上有事件。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57175" y="19335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64411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一个离散时间风险模型,四个不可省略的部件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511409" y="283845"/>
            <a:ext cx="131102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Methods · Figure 4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03 / 19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112" y="907256"/>
            <a:ext cx="45568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把问题写成风险模型:每个物种在每个省每一年,是否首次被记录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19200"/>
            <a:ext cx="10896600" cy="1123950"/>
          </a:xfrm>
          <a:prstGeom prst="roundRect">
            <a:avLst>
              <a:gd name="adj" fmla="val 5085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127760" y="1413510"/>
            <a:ext cx="52532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Consolas"/>
                <a:ea typeface="Microsoft YaHei"/>
                <a:cs typeface="Consolas"/>
              </a:rPr>
              <a:t>event ~ 累积变暖 × 调查努力 + 年度气候变异 + offset(log cₜ)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7760" y="1699260"/>
            <a:ext cx="486239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7332D"/>
                </a:solidFill>
                <a:latin typeface="Consolas"/>
                <a:ea typeface="Microsoft YaHei"/>
                <a:cs typeface="Consolas"/>
              </a:rPr>
              <a:t>+ (1|物种) + (1|省) + (1|省×年) family = binomial(cloglog)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1094" y="2051447"/>
            <a:ext cx="4224576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cloglog = 离散时间比例风险;exp(β) 即风险比 HR,不随时间步长改变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14400" y="26098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914400" y="26098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090612" y="2793206"/>
            <a:ext cx="89939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完整风险集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2041" y="307205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SDM 适宜格 ≥50 才算候选省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92041" y="33006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首次记录后吸收退出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092041" y="3529251"/>
            <a:ext cx="18298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分母 = 生态上说得通的机会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477000" y="26098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5" name="Rectangle 35"/>
          <p:cNvSpPr/>
          <p:nvPr/>
        </p:nvSpPr>
        <p:spPr>
          <a:xfrm>
            <a:off x="6477000" y="2609850"/>
            <a:ext cx="5334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6653212" y="279320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按发现年定年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3072051"/>
            <a:ext cx="144088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发表滞后均值 2.09 年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54641" y="3300651"/>
            <a:ext cx="151926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83.1% 的事件因此改年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654641" y="352925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末端右删失由 offset 校正</a:t>
            </a:r>
          </a:p>
        </p:txBody>
      </p:sp>
      <p:sp>
        <p:nvSpPr>
          <p:cNvPr id="40" name="Rectangle 40"/>
          <p:cNvSpPr/>
          <p:nvPr/>
        </p:nvSpPr>
        <p:spPr>
          <a:xfrm>
            <a:off x="914400" y="44005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41" name="Rectangle 41"/>
          <p:cNvSpPr/>
          <p:nvPr/>
        </p:nvSpPr>
        <p:spPr>
          <a:xfrm>
            <a:off x="914400" y="440055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090612" y="45839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物种参照的气候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92041" y="4862751"/>
            <a:ext cx="17115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x = 省距平 − 分布区距平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092041" y="5091351"/>
            <a:ext cx="131815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取前 15 年滑动均值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92041" y="5319951"/>
            <a:ext cx="1142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 SD = 0.179 °C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477000" y="4400550"/>
            <a:ext cx="53340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47" name="Rectangle 47"/>
          <p:cNvSpPr/>
          <p:nvPr/>
        </p:nvSpPr>
        <p:spPr>
          <a:xfrm>
            <a:off x="6477000" y="440055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653212" y="45839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省×年随机效应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654641" y="48627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调查行动发生的尺度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654641" y="5091351"/>
            <a:ext cx="150447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省级观鸟节、调查项目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654641" y="531995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把观测过程显式建模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57175" y="19335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47286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1,056 条新纪录的时空格局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27488" y="283845"/>
            <a:ext cx="159494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CBNR · Zenodo 20809949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04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76300"/>
            <a:ext cx="7239000" cy="5343525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305800" y="952500"/>
            <a:ext cx="35052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305800" y="952500"/>
            <a:ext cx="35052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482012" y="113585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格局一眼可读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483441" y="1414701"/>
            <a:ext cx="217878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空间:胡焕庸线以东密集,西部零星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483441" y="1643301"/>
            <a:ext cx="184163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省级头部:西藏、云南、湖南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483441" y="1871901"/>
            <a:ext cx="197915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时间:年记录数 20 年增约 8 倍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483441" y="2100501"/>
            <a:ext cx="176177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位置质心 20 年间基本稳定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305800" y="2781300"/>
            <a:ext cx="35052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305800" y="2781300"/>
            <a:ext cx="35052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482012" y="2964656"/>
            <a:ext cx="142189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两条时间线的错位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483441" y="3243501"/>
            <a:ext cx="184754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彩柱 = 发布口径(报告年份)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483441" y="3472101"/>
            <a:ext cx="169967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黑线 = 建模子集(发现年)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483441" y="3700701"/>
            <a:ext cx="21137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错位即定年校正的动机(下一页)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305800" y="4438650"/>
            <a:ext cx="3505200" cy="876300"/>
          </a:xfrm>
          <a:prstGeom prst="roundRect">
            <a:avLst>
              <a:gd name="adj" fmla="val 6522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455332" y="4664154"/>
            <a:ext cx="1206136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8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数据可公开获取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804612" y="4947047"/>
            <a:ext cx="2507575" cy="1905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38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CBNR · Zenodo 20809949 (CC-BY-4.0)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① 换一个定年方式,结论就换了方向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2 · Table 1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05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07726"/>
            <a:ext cx="6667500" cy="4404472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1028700"/>
            <a:ext cx="40005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1028700"/>
            <a:ext cx="40005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212056"/>
            <a:ext cx="170752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按发表年 → 按发现年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90901"/>
            <a:ext cx="215956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努力 HR 1.788 → 1.305(−37%)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719501"/>
            <a:ext cx="218470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气候变异 0.850* → 0.971(消失)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948101"/>
            <a:ext cx="21018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累积变暖 1.394 → 1.437(稳定)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76701"/>
            <a:ext cx="255143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*P = 1.8×10⁻⁴,一个并不存在的效应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857500"/>
            <a:ext cx="40005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857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3040856"/>
            <a:ext cx="3769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机制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319701"/>
            <a:ext cx="19436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发表滞后右偏(均值 2.09 年),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548301"/>
            <a:ext cx="19954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且与观鸟数据库同步增长 ——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776901"/>
            <a:ext cx="2569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对齐到发表年 = 对齐到努力更大的年份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810500" y="4305300"/>
            <a:ext cx="4000500" cy="876300"/>
          </a:xfrm>
          <a:prstGeom prst="roundRect">
            <a:avLst>
              <a:gd name="adj" fmla="val 6522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535216" y="4545806"/>
            <a:ext cx="55106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所以呢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705469" y="4831556"/>
            <a:ext cx="22105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定年是建模决策,不是记账细节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② 变暖与努力的贡献相当,交互为负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1 · Table 2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06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29273"/>
            <a:ext cx="6667500" cy="4761379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202450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冻结主模型(n = 175,901)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累积变暖 HR 1.362(1.216–1.524)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调查努力 HR 1.404(1.245–1.583)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243904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变暖×努力 HR 0.849(0.761–0.948)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00501"/>
            <a:ext cx="207823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年度变异 HR 0.995 —— 零效应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590800"/>
            <a:ext cx="4000500" cy="16383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590800"/>
            <a:ext cx="40005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2774156"/>
            <a:ext cx="194438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效应量要对着正确的零读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053001"/>
            <a:ext cx="220688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置换零分布中位:变暖 1.157(≠1)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281601"/>
            <a:ext cx="222758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→ 物种特异参照的增量 ≈ ×1.18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510201"/>
            <a:ext cx="20664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努力打乱时间对齐后塌到 0.980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8141" y="3738801"/>
            <a:ext cx="214329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→ 几乎全部来自真实的时间对齐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810500" y="4457700"/>
            <a:ext cx="400050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7810500" y="445770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7986712" y="4641056"/>
            <a:ext cx="178589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省级聚类自助(300 次)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988141" y="4919901"/>
            <a:ext cx="219061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变暖 1.20–1.72;努力 1.21–1.76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988141" y="514850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下界均 &gt; 1;交互上界 0.99 &lt; 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249342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② 续:判别力与十二种口径的一致性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61562" y="283845"/>
            <a:ext cx="146086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1c,d · Figure 3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07 / 19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112" y="888206"/>
            <a:ext cx="422824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四个独立判据一致:变暖与努力权重相当,判别力上变暖略优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38250"/>
            <a:ext cx="5334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914400" y="12382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90612" y="14216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去掉该项的代价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00451"/>
            <a:ext cx="196288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ΔAIC:变暖 28.7 · 努力 29.5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929051"/>
            <a:ext cx="212555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ΔAUC:变暖 0.053 · 努力 0.032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157651"/>
            <a:ext cx="156953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Δ条件R²、|β| 同方向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386251"/>
            <a:ext cx="147933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四判据来自 Figure 1c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77000" y="1238250"/>
            <a:ext cx="5334000" cy="180975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477000" y="123825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53212" y="1421606"/>
            <a:ext cx="25766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固定效应判别力阶梯(Figure 1d)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641" y="1700451"/>
            <a:ext cx="19835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空模型 0.411 → 仅努力 0.559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4641" y="1929051"/>
            <a:ext cx="203091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→ 仅变暖 0.580 → 两者 0.610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641" y="2157651"/>
            <a:ext cx="231483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单独气候 &gt; 单独努力;二者皆不可省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2386251"/>
            <a:ext cx="213738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发表年定年下结论相反:努力独大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14400" y="3352800"/>
            <a:ext cx="10896600" cy="234315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914400" y="3352800"/>
            <a:ext cx="108966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128712" y="3574256"/>
            <a:ext cx="22927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同一结论在十二种口径下不动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29665" y="3887152"/>
            <a:ext cx="520538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SDM 阈值 50/100/200 格:努力 1.404/1.405/1.411;变暖 1.362/1.376/1.372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29665" y="4153852"/>
            <a:ext cx="405984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4 努力代理 × 3 缺失规则:努力 1.25–1.52;变暖 1.35–1.37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29665" y="4420552"/>
            <a:ext cx="577125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4 窗口 × 3 基线序列:变暖系数随窗口 1.16–1.21 → 1.36–1.40,内部最优 18–20 年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0618" y="4695349"/>
            <a:ext cx="299093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W = 15 为预先设定,距各序列最优 2.2–5.6 AIC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30141" y="5091351"/>
            <a:ext cx="533741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一个纯天气驱动的过程会呈现相反的窗口模式 —— 这是可证伪预测,它没有被证伪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829891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③ 观测过程的冲击,比任何一个驱动都大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19194" y="283845"/>
            <a:ext cx="120323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5 · Table 3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08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95935"/>
            <a:ext cx="6667500" cy="4828054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123950"/>
          </a:xfrm>
          <a:prstGeom prst="roundRect">
            <a:avLst>
              <a:gd name="adj" fmla="val 5085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024812" y="1212056"/>
            <a:ext cx="135919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省 × 年随机效应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04810" y="1442085"/>
            <a:ext cx="1427064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× 2.23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245918" y="1628299"/>
            <a:ext cx="12536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CFE0DA"/>
                </a:solidFill>
                <a:latin typeface="Arial"/>
                <a:ea typeface="Microsoft YaHei"/>
                <a:cs typeface="Arial"/>
              </a:rPr>
              <a:t>每 1 SD 的风险倍数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810500" y="230505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810500" y="230505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7986712" y="248840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三层各是什么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88141" y="2767251"/>
            <a:ext cx="23813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物种 SD 0.405 → ×1.50(可探测性)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88141" y="2995851"/>
            <a:ext cx="22335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 SD 0.326 → ×1.39(区域基线)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88141" y="3224451"/>
            <a:ext cx="252925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省×年 SD 0.804 → ×2.23(观测冲击)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453051"/>
            <a:ext cx="131815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拟合水平横跨 13 倍</a:t>
            </a:r>
          </a:p>
        </p:txBody>
      </p:sp>
      <p:sp>
        <p:nvSpPr>
          <p:cNvPr id="35" name="Rectangle 35"/>
          <p:cNvSpPr/>
          <p:nvPr/>
        </p:nvSpPr>
        <p:spPr>
          <a:xfrm>
            <a:off x="7810500" y="3962400"/>
            <a:ext cx="40005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7810500" y="396240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986712" y="414575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加上这一层之后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988141" y="4424601"/>
            <a:ext cx="164051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条件 AUC 0.721 → 0.854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988141" y="4653201"/>
            <a:ext cx="162277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条件 R² 0.274 → 0.411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88141" y="4881801"/>
            <a:ext cx="218470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边际 AUC 不变:不动固定效应信号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797165" y="5449252"/>
            <a:ext cx="299815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把它当噪声,就会把调查史误读成分布变化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797970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④ 努力在饱和,气候没有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19499" y="283845"/>
            <a:ext cx="150293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5d · SI Note S5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09 / 19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0589" y="911304"/>
            <a:ext cx="6463389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比例风险检验:努力项违反(β = −0.211, P = 7.7×10⁻⁴)—— 这是实质发现,不是诊断失败</a:t>
            </a:r>
          </a:p>
        </p:txBody>
      </p:sp>
      <p:sp>
        <p:nvSpPr>
          <p:cNvPr id="24" name="Rectangle 24"/>
          <p:cNvSpPr/>
          <p:nvPr/>
        </p:nvSpPr>
        <p:spPr>
          <a:xfrm>
            <a:off x="914400" y="1257300"/>
            <a:ext cx="533400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914400" y="125730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90612" y="14406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努力的边际产出在下降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195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2002 年:HR 2.18(1.63–2.90)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19481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2024 年:HR 1.07(0.88–1.30)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176701"/>
            <a:ext cx="17100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2022 年后置信区间已含 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405301"/>
            <a:ext cx="228525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容易发现的空缺,二十年间被用完了</a:t>
            </a:r>
          </a:p>
        </p:txBody>
      </p:sp>
      <p:sp>
        <p:nvSpPr>
          <p:cNvPr id="31" name="Rectangle 31"/>
          <p:cNvSpPr/>
          <p:nvPr/>
        </p:nvSpPr>
        <p:spPr>
          <a:xfrm>
            <a:off x="6477000" y="1257300"/>
            <a:ext cx="5334000" cy="198120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6477000" y="125730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6653212" y="1440656"/>
            <a:ext cx="15960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气候项没有这个趋势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654641" y="1719501"/>
            <a:ext cx="237546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变暖 × 时间:β = −0.022, P = 0.82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654641" y="1948101"/>
            <a:ext cx="23207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时变模型中变暖 HR 1.369,方向不变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654641" y="2176701"/>
            <a:ext cx="135659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一个饱和的观测过程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654641" y="2405301"/>
            <a:ext cx="165234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对一个不饱和的气候过程</a:t>
            </a:r>
          </a:p>
        </p:txBody>
      </p:sp>
      <p:sp>
        <p:nvSpPr>
          <p:cNvPr id="38" name="Rectangle 38"/>
          <p:cNvSpPr/>
          <p:nvPr/>
        </p:nvSpPr>
        <p:spPr>
          <a:xfrm>
            <a:off x="914400" y="3543300"/>
            <a:ext cx="108966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675480" y="3775710"/>
            <a:ext cx="337444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这是两个系数捕捉不同过程的最锐利证据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285240" y="4096702"/>
            <a:ext cx="41549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若它们只是同一过程的两种度量,应当同步变化 —— 它们没有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01065" y="4801552"/>
            <a:ext cx="561636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省级尺度同一信号:早期已充分覆盖的省份,单位努力产出更低(IRR 0.71, P = 0.028)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1065" y="5068252"/>
            <a:ext cx="567617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含义:继续在东部热点加密,边际信息量有限;监测应转向调查稀疏且气候梯度陡的区域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57175" y="27717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5748614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发现 ⑤ 新纪录强烈偏向分布区的东与东北侧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94423" y="283845"/>
            <a:ext cx="14280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6 · SI Fig. S15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10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29815"/>
            <a:ext cx="5905500" cy="3998371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124700" y="1028700"/>
            <a:ext cx="46863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124700" y="1028700"/>
            <a:ext cx="46863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300912" y="121205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八方位卡方检验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02341" y="1490901"/>
            <a:ext cx="28338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χ² = 580.1, df = 7, P = 4.6×10⁻¹²¹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302341" y="1719501"/>
            <a:ext cx="190669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东 237 条(36.9%,期望 80.2)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02341" y="1948101"/>
            <a:ext cx="29521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东北 179 条(27.9%)—— Holm 校正后过表达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302341" y="2176701"/>
            <a:ext cx="132110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最空:南 20 · 西 19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124700" y="2686050"/>
            <a:ext cx="46863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124700" y="2686050"/>
            <a:ext cx="46863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300912" y="2869406"/>
            <a:ext cx="149504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16 个大目逐一检验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302341" y="3148251"/>
            <a:ext cx="237250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5 个样本充足的目各自独立拒绝均匀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302341" y="3376851"/>
            <a:ext cx="19481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显著方位无一例外是东或东北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02341" y="3605451"/>
            <a:ext cx="173220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(SI Fig. S15 分目风玫瑰)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124700" y="4133850"/>
            <a:ext cx="4686300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7124700" y="4133850"/>
            <a:ext cx="46863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7339489" y="4340304"/>
            <a:ext cx="869418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解读要克制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340441" y="4615101"/>
            <a:ext cx="317251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哺乳类偏北与东;鸟类偏东与东北。观鸟人口梯度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340441" y="4843701"/>
            <a:ext cx="278211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自西向东 —— 方向偏倚更倾向观测性解释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57175" y="36099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53091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结论经得起零模型与重抽样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68032" y="283845"/>
            <a:ext cx="135439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SI Fig. S11 · Table 2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11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85165"/>
            <a:ext cx="7048500" cy="4316170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191500" y="1028700"/>
            <a:ext cx="36195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191500" y="1028700"/>
            <a:ext cx="3619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367712" y="12120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设计保持的置换零模型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69141" y="149090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每个零模型只破坏一条关联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69141" y="1719501"/>
            <a:ext cx="181353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其余结构原封不动(199 次)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69141" y="1948101"/>
            <a:ext cx="180022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四个系数全部落在零分布外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69141" y="2176701"/>
            <a:ext cx="204274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P = 0.005(变异项除外,如预期)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191500" y="2857500"/>
            <a:ext cx="3619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8191500" y="2857500"/>
            <a:ext cx="3619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8367712" y="3040856"/>
            <a:ext cx="1456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三种自助 + 影响力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69141" y="3319701"/>
            <a:ext cx="203386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省级聚类自助:SE ×1.26–1.59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69141" y="3548301"/>
            <a:ext cx="195253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参数自助覆盖率 91.3–95.3%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69141" y="3776901"/>
            <a:ext cx="20057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留一省/物种十分位:最大 4.2%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02018" y="5704999"/>
            <a:ext cx="799339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诊断:DHARMa 均匀性 P=0.74 · 离散度 P=0.59 · 零膨胀 P=0.59 · Moran's I P=0.86;离群检验显著(0.37% 事件率下属预期)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12016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① 保护区里的富集,主要是观测装置的作用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44779" y="283845"/>
            <a:ext cx="17776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SI Figs S12–S14 · Note S6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12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23402"/>
            <a:ext cx="6667500" cy="4573121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390650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125121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表观富集 2.5 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181501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新纪录落在保护区内 26.2%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183275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观鸟 checklist 加权 10.8%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107563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陆域面积 10.4%</a:t>
            </a:r>
          </a:p>
        </p:txBody>
      </p:sp>
      <p:sp>
        <p:nvSpPr>
          <p:cNvPr id="30" name="Rectangle 30"/>
          <p:cNvSpPr/>
          <p:nvPr/>
        </p:nvSpPr>
        <p:spPr>
          <a:xfrm>
            <a:off x="7810500" y="2571750"/>
            <a:ext cx="4000500" cy="165735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7810500" y="257175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986712" y="2755106"/>
            <a:ext cx="21185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以观鸟人去过的地方为对照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88141" y="3033951"/>
            <a:ext cx="234736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同省同年 1:200 匹配:OR 1.71→1.57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262551"/>
            <a:ext cx="20057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剔除前 2 大宿主区:1.16(跨 1)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491151"/>
            <a:ext cx="176621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2002–2012 无效应(0.97)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719751"/>
            <a:ext cx="20353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区内每份清单多记 24% 的物种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810500" y="4457700"/>
            <a:ext cx="4000500" cy="914400"/>
          </a:xfrm>
          <a:prstGeom prst="roundRect">
            <a:avLst>
              <a:gd name="adj" fmla="val 6250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9108500" y="4694158"/>
            <a:ext cx="140449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62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记录多 ≠ 成效好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467011" y="4996101"/>
            <a:ext cx="26874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保护区内的新纪录数不能作保护成效指标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71669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② 预测可以降尺度到县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859442" y="283845"/>
            <a:ext cx="19629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仓库扩展模块(降尺度 · 多模型)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13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81" y="914400"/>
            <a:ext cx="6752037" cy="5191125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001000" y="952500"/>
            <a:ext cx="3810000" cy="12192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001000" y="952500"/>
            <a:ext cx="3810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177212" y="1135856"/>
            <a:ext cx="199315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响应是行政绑定的:拆两段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178641" y="1414701"/>
            <a:ext cx="186529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P(落在县 c) = P(该省发生)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78641" y="1643301"/>
            <a:ext cx="147489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× P(落在 c | 已发生)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178641" y="1871901"/>
            <a:ext cx="226159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第二段:条件 logit,省内全县为备择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001000" y="2400300"/>
            <a:ext cx="38100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8001000" y="2400300"/>
            <a:ext cx="3810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177212" y="2583656"/>
            <a:ext cx="203495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样本外技能(2019–2024)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178641" y="2862501"/>
            <a:ext cx="239912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县级 top-1 命中 16.1%(随机≈1%)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178641" y="3091101"/>
            <a:ext cx="19969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真实县落在预测前 10%:45.4%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178641" y="3319701"/>
            <a:ext cx="186529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留一省:29 省中 27 优于随机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178641" y="3548301"/>
            <a:ext cx="22911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最强变量:到分布区距离(OR 0.238)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001000" y="4229100"/>
            <a:ext cx="3810000" cy="13335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001000" y="4229100"/>
            <a:ext cx="3810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177212" y="441245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限制在哪一段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178641" y="4691301"/>
            <a:ext cx="243017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分辨率变细,技能反而升(0.50→0.23)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78641" y="4919901"/>
            <a:ext cx="213738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受限的是气候外推,不是行政尺度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178641" y="5148501"/>
            <a:ext cx="245975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三族模型的县级面一致:ρ 0.62–0.90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4575905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省 · 市 · 县三级预测地图(2024)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53675" y="2838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仓库扩展模块 · FigMS1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14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52500"/>
            <a:ext cx="10972800" cy="4076700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914400" y="5295900"/>
            <a:ext cx="5334000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914400" y="529590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090612" y="5479256"/>
            <a:ext cx="216731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面的构造:族内自洽的两段式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5758101"/>
            <a:ext cx="297731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期望数(省,2024 条件预测) × 份额(单元|省)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5986701"/>
            <a:ext cx="300541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市 371 个单元 · 县 2,835 个单元;色标 log10</a:t>
            </a:r>
          </a:p>
        </p:txBody>
      </p:sp>
      <p:sp>
        <p:nvSpPr>
          <p:cNvPr id="29" name="Rectangle 29"/>
          <p:cNvSpPr/>
          <p:nvPr/>
        </p:nvSpPr>
        <p:spPr>
          <a:xfrm>
            <a:off x="6477000" y="5295900"/>
            <a:ext cx="5334000" cy="10287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6477000" y="529590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653212" y="5479256"/>
            <a:ext cx="181898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换模型族,地图几乎不变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54641" y="5758101"/>
            <a:ext cx="269635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RF / XGBoost 面与机制面 ρ 0.62–0.90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54641" y="5986701"/>
            <a:ext cx="28057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分歧集中在西部低努力区(见仓库 FigMS1)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6038888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未来情景:气候两档 × 努力两档(2030 / 2050)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53675" y="283845"/>
            <a:ext cx="14687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FigMS3 · 仓库扩展模块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15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76300"/>
            <a:ext cx="7086600" cy="5334000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8153400" y="952500"/>
            <a:ext cx="36576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8153400" y="952500"/>
            <a:ext cx="36576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329612" y="1135856"/>
            <a:ext cx="161695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情景网格(两维独立)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31041" y="1414701"/>
            <a:ext cx="177360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气候:SSP2-4.5 / SSP5-8.5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331041" y="1643301"/>
            <a:ext cx="300984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努力:停滞(2024 冻结) / 延续(+0.6 SD/十年)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331041" y="1871901"/>
            <a:ext cx="256326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期限:2030 / 2050;县级为份额冻结假设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153400" y="2609850"/>
            <a:ext cx="3657600" cy="16002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8153400" y="2609850"/>
            <a:ext cx="36576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8329612" y="279320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谁在主宰未来的记录量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31041" y="3072051"/>
            <a:ext cx="237694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换气候情景:23.2 → 23.1(几乎不动)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331041" y="3300651"/>
            <a:ext cx="223350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换努力情景:23.6 → 57–62 条/年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331041" y="3529251"/>
            <a:ext cx="1545879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未来我们会记录到什么,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331041" y="3757851"/>
            <a:ext cx="258100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主要取决于我们怎么看,而非气候怎么变</a:t>
            </a:r>
          </a:p>
        </p:txBody>
      </p:sp>
      <p:sp>
        <p:nvSpPr>
          <p:cNvPr id="37" name="Rectangle 37"/>
          <p:cNvSpPr/>
          <p:nvPr/>
        </p:nvSpPr>
        <p:spPr>
          <a:xfrm>
            <a:off x="8153400" y="4438650"/>
            <a:ext cx="3657600" cy="116205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8" name="Rectangle 38"/>
          <p:cNvSpPr/>
          <p:nvPr/>
        </p:nvSpPr>
        <p:spPr>
          <a:xfrm>
            <a:off x="8153400" y="4438650"/>
            <a:ext cx="36576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329612" y="4622006"/>
            <a:ext cx="107356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但要读透明度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31041" y="4900851"/>
            <a:ext cx="217287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努力延续档到 2050:支撑域仅 2%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31041" y="5129451"/>
            <a:ext cx="226159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增量几乎全在训练范围外(浅色区)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57175" y="44481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72415" y="5301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495906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应用 ③ 外推的边界,由数据支撑域决定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080269" y="283845"/>
            <a:ext cx="17421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Figure 7 · SI Figs S6–S11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16 / 19</a:t>
            </a:r>
          </a:p>
        </p:txBody>
      </p:sp>
      <p:pic>
        <p:nvPicPr>
          <p:cNvPr id="23" name="Image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05753"/>
            <a:ext cx="6667500" cy="4608419"/>
          </a:xfrm>
          <a:prstGeom prst="rect">
            <a:avLst/>
          </a:prstGeom>
        </p:spPr>
      </p:pic>
      <p:sp>
        <p:nvSpPr>
          <p:cNvPr id="24" name="Rectangle 24"/>
          <p:cNvSpPr/>
          <p:nvPr/>
        </p:nvSpPr>
        <p:spPr>
          <a:xfrm>
            <a:off x="7810500" y="95250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810500" y="952500"/>
            <a:ext cx="40005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7986712" y="1135856"/>
            <a:ext cx="177022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支撑域随情景迅速收缩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88141" y="1414701"/>
            <a:ext cx="220984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SSP2-4.5 落在拟合范围内的组合: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988141" y="1643301"/>
            <a:ext cx="222610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2030 年 47.8% → 2050 年 10.4%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88141" y="1871901"/>
            <a:ext cx="111851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→ 2080 年 2.1%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88141" y="2100501"/>
            <a:ext cx="243904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掩膜内 HR 0.79–2.94;不掩膜可达 78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810500" y="2609850"/>
            <a:ext cx="4000500" cy="142875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7810500" y="2609850"/>
            <a:ext cx="40005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7986712" y="2793206"/>
            <a:ext cx="335860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换个模型族并不能救(RF 与 XGBoost 同病)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8141" y="3072051"/>
            <a:ext cx="24878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范围内一致(ρ 0.54);范围外完全分歧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988141" y="3300651"/>
            <a:ext cx="28693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留一省·县:机制 0.28 &lt; RF 0.31 &lt; XGB 0.35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988141" y="3529251"/>
            <a:ext cx="224533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随机森林在 2.9 SD 即饱和于 6.7%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988141" y="3757851"/>
            <a:ext cx="228525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树模型的饱和是算法产物,不可审查</a:t>
            </a:r>
          </a:p>
        </p:txBody>
      </p:sp>
      <p:sp>
        <p:nvSpPr>
          <p:cNvPr id="38" name="Rectangle 38"/>
          <p:cNvSpPr/>
          <p:nvPr/>
        </p:nvSpPr>
        <p:spPr>
          <a:xfrm>
            <a:off x="7810500" y="4267200"/>
            <a:ext cx="4000500" cy="1028700"/>
          </a:xfrm>
          <a:prstGeom prst="roundRect">
            <a:avLst>
              <a:gd name="adj" fmla="val 5556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9186886" y="4507706"/>
            <a:ext cx="124772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把模型推到未来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889935" y="4786551"/>
            <a:ext cx="184163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必须同时给出它失效的边界: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703612" y="5015151"/>
            <a:ext cx="221427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12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2030 年可用,末世纪只作情景演示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4111466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四条必须与结论一起带走的边界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64191" y="283845"/>
            <a:ext cx="145823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Discussion · SI Notes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17 / 19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906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906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185386" y="1208008"/>
            <a:ext cx="2239560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事件是发表的记录,不是探测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87291" y="1529001"/>
            <a:ext cx="62246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所有系数描述“有记载记录”的生成;个案归因需重复调查数据支持的占用模型 —— 下一步工作</a:t>
            </a:r>
          </a:p>
        </p:txBody>
      </p:sp>
      <p:sp>
        <p:nvSpPr>
          <p:cNvPr id="27" name="Rectangle 27"/>
          <p:cNvSpPr/>
          <p:nvPr/>
        </p:nvSpPr>
        <p:spPr>
          <a:xfrm>
            <a:off x="914400" y="22098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914400" y="22098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1185386" y="2427208"/>
            <a:ext cx="1854424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坐标精度上限约 1.1 km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87291" y="2748201"/>
            <a:ext cx="6558863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657 条坐标均为 2 位小数;保护地落区判定附 0–5 km 缓冲敏感性;溯源审计进行中,该节结论标注暂定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14400" y="34290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914400" y="34290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185386" y="3646408"/>
            <a:ext cx="200919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保护地矢量约为名录三成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87291" y="3967401"/>
            <a:ext cx="530783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仅 1,028 处已制图、偏国家级、止于 2012;故不做“保护空缺”识别,不提 30×30</a:t>
            </a:r>
          </a:p>
        </p:txBody>
      </p:sp>
      <p:sp>
        <p:nvSpPr>
          <p:cNvPr id="35" name="Rectangle 35"/>
          <p:cNvSpPr/>
          <p:nvPr/>
        </p:nvSpPr>
        <p:spPr>
          <a:xfrm>
            <a:off x="914400" y="4648200"/>
            <a:ext cx="1089660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914400" y="4648200"/>
            <a:ext cx="47625" cy="104775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185386" y="4865608"/>
            <a:ext cx="2729079" cy="236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62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方向与保护区两节采用非对称推断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87291" y="5186601"/>
            <a:ext cx="5526691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格内观测偏倚不可扣除:零结果是强证据,正结果是弱证据 —— 规则在看结果之前写死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02018" y="5990749"/>
            <a:ext cx="40631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以上均写入稿件正文或 SI,不是评审补丁 —— 限制先于结果声明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1498997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带走四句话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063478" y="283845"/>
            <a:ext cx="75895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Conclusions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18 / 19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5250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52500"/>
            <a:ext cx="5334000" cy="38100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135856"/>
            <a:ext cx="14776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B45309"/>
                </a:solidFill>
                <a:latin typeface="Arial"/>
                <a:ea typeface="Microsoft YaHei"/>
                <a:cs typeface="Arial"/>
              </a:rPr>
              <a:t>① 定年是建模决策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518" y="1418749"/>
            <a:ext cx="472819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发表年定年虚增努力 37%,制造伪效应;发现年 + 完整度 offset 是正确时钟</a:t>
            </a:r>
          </a:p>
        </p:txBody>
      </p:sp>
      <p:sp>
        <p:nvSpPr>
          <p:cNvPr id="27" name="Rectangle 27"/>
          <p:cNvSpPr/>
          <p:nvPr/>
        </p:nvSpPr>
        <p:spPr>
          <a:xfrm>
            <a:off x="6477000" y="95250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6477000" y="952500"/>
            <a:ext cx="5334000" cy="38100"/>
          </a:xfrm>
          <a:prstGeom prst="rect">
            <a:avLst/>
          </a:prstGeom>
          <a:solidFill>
            <a:srgbClr val="009E73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6653212" y="1135856"/>
            <a:ext cx="217428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9E73"/>
                </a:solidFill>
                <a:latin typeface="Arial"/>
                <a:ea typeface="Microsoft YaHei"/>
                <a:cs typeface="Arial"/>
              </a:rPr>
              <a:t>② 两过程贡献相当且可分离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55118" y="1418749"/>
            <a:ext cx="40361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变暖 1.362 · 努力 1.404;零基线 1.157 下增量 ×1.18;交互为负</a:t>
            </a:r>
          </a:p>
        </p:txBody>
      </p:sp>
      <p:sp>
        <p:nvSpPr>
          <p:cNvPr id="31" name="Rectangle 31"/>
          <p:cNvSpPr/>
          <p:nvPr/>
        </p:nvSpPr>
        <p:spPr>
          <a:xfrm>
            <a:off x="914400" y="238125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914400" y="2381250"/>
            <a:ext cx="53340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3" name="TextBox 33"/>
          <p:cNvSpPr txBox="1"/>
          <p:nvPr/>
        </p:nvSpPr>
        <p:spPr>
          <a:xfrm>
            <a:off x="1090612" y="2564606"/>
            <a:ext cx="200011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③ 观测过程必须显式建模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92518" y="2847499"/>
            <a:ext cx="398772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省×年 ×2.23 为最大成分;努力饱和(2.18→1.07)而气候不饱和</a:t>
            </a:r>
          </a:p>
        </p:txBody>
      </p:sp>
      <p:sp>
        <p:nvSpPr>
          <p:cNvPr id="35" name="Rectangle 35"/>
          <p:cNvSpPr/>
          <p:nvPr/>
        </p:nvSpPr>
        <p:spPr>
          <a:xfrm>
            <a:off x="6477000" y="2381250"/>
            <a:ext cx="5334000" cy="127635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6" name="Rectangle 36"/>
          <p:cNvSpPr/>
          <p:nvPr/>
        </p:nvSpPr>
        <p:spPr>
          <a:xfrm>
            <a:off x="6477000" y="238125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6653212" y="2564606"/>
            <a:ext cx="182595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④ 应用要守住证据边界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655118" y="2847499"/>
            <a:ext cx="470114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记录数≠保护成效;县级可预测;未来记录量由努力情景主宰,外推止于支撑域</a:t>
            </a:r>
          </a:p>
        </p:txBody>
      </p:sp>
      <p:sp>
        <p:nvSpPr>
          <p:cNvPr id="39" name="Rectangle 39"/>
          <p:cNvSpPr/>
          <p:nvPr/>
        </p:nvSpPr>
        <p:spPr>
          <a:xfrm>
            <a:off x="914400" y="3962400"/>
            <a:ext cx="10896600" cy="876300"/>
          </a:xfrm>
          <a:prstGeom prst="roundRect">
            <a:avLst>
              <a:gd name="adj" fmla="val 6522"/>
            </a:avLst>
          </a:prstGeom>
          <a:solidFill>
            <a:srgbClr val="1F4E45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134554" y="4167664"/>
            <a:ext cx="2456292" cy="259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75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回到最初的问题:不是二选一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416898" y="4492704"/>
            <a:ext cx="5891603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88" dirty="0">
                <a:solidFill>
                  <a:srgbClr val="E7F0ED"/>
                </a:solidFill>
                <a:latin typeface="Arial"/>
                <a:ea typeface="Microsoft YaHei"/>
                <a:cs typeface="Arial"/>
              </a:rPr>
              <a:t>两类过程量级相当且可分离 —— 但只有把观测过程显式建模,气候信号才是可解释的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00589" y="5216604"/>
            <a:ext cx="532700" cy="2209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88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下一步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01541" y="5491401"/>
            <a:ext cx="55562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扩展到两栖爬行类 · 跨类群检验方向机制 · 以重复调查数据做个案归因(占用模型)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01541" y="5758101"/>
            <a:ext cx="471485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监测布点建议:优先级 = 气候暴露 × (1 − 现有观测覆盖),已可定位到县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609600" cy="68580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272415" y="11106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73831" y="1263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问题</a:t>
            </a:r>
          </a:p>
        </p:txBody>
      </p:sp>
      <p:sp>
        <p:nvSpPr>
          <p:cNvPr id="6" name="Ellipse 6"/>
          <p:cNvSpPr/>
          <p:nvPr/>
        </p:nvSpPr>
        <p:spPr>
          <a:xfrm>
            <a:off x="272415" y="19488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173831" y="21016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方法</a:t>
            </a:r>
          </a:p>
        </p:txBody>
      </p:sp>
      <p:sp>
        <p:nvSpPr>
          <p:cNvPr id="8" name="Ellipse 8"/>
          <p:cNvSpPr/>
          <p:nvPr/>
        </p:nvSpPr>
        <p:spPr>
          <a:xfrm>
            <a:off x="272415" y="27870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73831" y="29398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发现</a:t>
            </a:r>
          </a:p>
        </p:txBody>
      </p:sp>
      <p:sp>
        <p:nvSpPr>
          <p:cNvPr id="10" name="Ellipse 10"/>
          <p:cNvSpPr/>
          <p:nvPr/>
        </p:nvSpPr>
        <p:spPr>
          <a:xfrm>
            <a:off x="272415" y="36252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73831" y="37780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稳健</a:t>
            </a:r>
          </a:p>
        </p:txBody>
      </p:sp>
      <p:sp>
        <p:nvSpPr>
          <p:cNvPr id="12" name="Ellipse 12"/>
          <p:cNvSpPr/>
          <p:nvPr/>
        </p:nvSpPr>
        <p:spPr>
          <a:xfrm>
            <a:off x="272415" y="4463415"/>
            <a:ext cx="64770" cy="64770"/>
          </a:xfrm>
          <a:prstGeom prst="ellipse">
            <a:avLst/>
          </a:prstGeom>
          <a:solidFill>
            <a:srgbClr val="FFFFFF">
              <a:alpha val="42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73831" y="46162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>
                    <a:alphaMod val="50000"/>
                  </a:srgbClr>
                </a:solidFill>
                <a:latin typeface="Arial"/>
                <a:ea typeface="Microsoft YaHei"/>
                <a:cs typeface="Arial"/>
              </a:rPr>
              <a:t>应用</a:t>
            </a:r>
          </a:p>
        </p:txBody>
      </p:sp>
      <p:sp>
        <p:nvSpPr>
          <p:cNvPr id="14" name="Ellipse 14"/>
          <p:cNvSpPr/>
          <p:nvPr/>
        </p:nvSpPr>
        <p:spPr>
          <a:xfrm>
            <a:off x="257175" y="5286375"/>
            <a:ext cx="95250" cy="952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3831" y="5454491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结论</a:t>
            </a:r>
          </a:p>
        </p:txBody>
      </p:sp>
      <p:sp>
        <p:nvSpPr>
          <p:cNvPr id="16" name="Rectangle 16"/>
          <p:cNvSpPr/>
          <p:nvPr/>
        </p:nvSpPr>
        <p:spPr>
          <a:xfrm>
            <a:off x="0" y="0"/>
            <a:ext cx="609600" cy="628650"/>
          </a:xfrm>
          <a:prstGeom prst="rect">
            <a:avLst/>
          </a:prstGeom>
          <a:solidFill>
            <a:srgbClr val="B45309">
              <a:alpha val="0"/>
            </a:srgbClr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914400" y="323850"/>
            <a:ext cx="419100" cy="47625"/>
          </a:xfrm>
          <a:prstGeom prst="rect">
            <a:avLst/>
          </a:prstGeom>
          <a:solidFill>
            <a:srgbClr val="B4530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90588" y="445294"/>
            <a:ext cx="3240643" cy="381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7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可重复性是结论的一部分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311613" y="283845"/>
            <a:ext cx="15108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Data &amp; Code availability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6496050"/>
            <a:ext cx="10896600" cy="9525"/>
          </a:xfrm>
          <a:custGeom>
            <a:avLst/>
            <a:gdLst/>
            <a:ahLst/>
            <a:cxnLst/>
            <a:rect l="l" t="t" r="r" b="b"/>
            <a:pathLst>
              <a:path w="10896600" h="9525">
                <a:moveTo>
                  <a:pt x="0" y="0"/>
                </a:moveTo>
                <a:lnTo>
                  <a:pt x="10896600" y="0"/>
                </a:lnTo>
              </a:path>
            </a:pathLst>
          </a:custGeom>
          <a:noFill/>
          <a:ln w="9525">
            <a:solidFill>
              <a:srgbClr val="D6D3CD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3922" y="6616541"/>
            <a:ext cx="9848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9CA3AF"/>
                </a:solidFill>
                <a:latin typeface="Arial"/>
                <a:ea typeface="Microsoft YaHei"/>
                <a:cs typeface="Arial"/>
              </a:rPr>
              <a:t>新纪录的生成风险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52657" y="6608445"/>
            <a:ext cx="4697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19 / 19</a:t>
            </a:r>
          </a:p>
        </p:txBody>
      </p:sp>
      <p:sp>
        <p:nvSpPr>
          <p:cNvPr id="23" name="Rectangle 23"/>
          <p:cNvSpPr/>
          <p:nvPr/>
        </p:nvSpPr>
        <p:spPr>
          <a:xfrm>
            <a:off x="914400" y="990600"/>
            <a:ext cx="5334000" cy="23812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914400" y="990600"/>
            <a:ext cx="5334000" cy="38100"/>
          </a:xfrm>
          <a:prstGeom prst="rect">
            <a:avLst/>
          </a:prstGeom>
          <a:solidFill>
            <a:srgbClr val="1F4E45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1090612" y="1173956"/>
            <a:ext cx="1596057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F4E45"/>
                </a:solidFill>
                <a:latin typeface="Arial"/>
                <a:ea typeface="Microsoft YaHei"/>
                <a:cs typeface="Arial"/>
              </a:rPr>
              <a:t>数据与代码全部公开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92041" y="1452801"/>
            <a:ext cx="1970282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github.com/dingchenchen6/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2041" y="1738551"/>
            <a:ext cx="242721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bird-newrecord-discovery-dated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2041" y="2024301"/>
            <a:ext cx="22290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流水线脚本 130–204,按序可复现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92041" y="2310051"/>
            <a:ext cx="228230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70+ 张结果表,与文中数字一一对应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92041" y="2595801"/>
            <a:ext cx="209597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冒烟测试可复现主模型四个系数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92041" y="2881551"/>
            <a:ext cx="2202447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含三家期刊投稿包(GCB/NEE/NC)</a:t>
            </a:r>
          </a:p>
        </p:txBody>
      </p:sp>
      <p:sp>
        <p:nvSpPr>
          <p:cNvPr id="32" name="Rectangle 32"/>
          <p:cNvSpPr/>
          <p:nvPr/>
        </p:nvSpPr>
        <p:spPr>
          <a:xfrm>
            <a:off x="6553200" y="990600"/>
            <a:ext cx="5257800" cy="238125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9525">
            <a:solidFill>
              <a:srgbClr val="D6D3CD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6553200" y="990600"/>
            <a:ext cx="5257800" cy="38100"/>
          </a:xfrm>
          <a:prstGeom prst="rect">
            <a:avLst/>
          </a:prstGeom>
          <a:solidFill>
            <a:srgbClr val="0072B2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6729412" y="1173956"/>
            <a:ext cx="72523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0072B2"/>
                </a:solidFill>
                <a:latin typeface="Arial"/>
                <a:ea typeface="Microsoft YaHei"/>
                <a:cs typeface="Arial"/>
              </a:rPr>
              <a:t>数据来源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730841" y="1452801"/>
            <a:ext cx="2681564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事件:CBNR 中国鸟类新纪录汇编(发布版)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730841" y="1738551"/>
            <a:ext cx="2131466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分布区:BirdLife International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30841" y="2024301"/>
            <a:ext cx="301280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气候:CRU TS 4.09 · WorldClim 2.1 · CMIP6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730841" y="2310051"/>
            <a:ext cx="2127030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观测:286 万条 GBIF/eBird 记录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730841" y="2595801"/>
            <a:ext cx="256917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保护地:全国自然保护区矢量(1,028 处)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730841" y="2881551"/>
            <a:ext cx="301280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底图审图号:GS(2019)1822 · GS(2023)2767</a:t>
            </a:r>
          </a:p>
        </p:txBody>
      </p:sp>
      <p:sp>
        <p:nvSpPr>
          <p:cNvPr id="41" name="Rectangle 41"/>
          <p:cNvSpPr/>
          <p:nvPr/>
        </p:nvSpPr>
        <p:spPr>
          <a:xfrm>
            <a:off x="914400" y="3771900"/>
            <a:ext cx="10896600" cy="11430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1128712" y="3993356"/>
            <a:ext cx="376904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致谢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130141" y="4291251"/>
            <a:ext cx="4059765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感谢全国观鸟者与各记录贡献者;感谢汇编与数据库维护团队。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30141" y="4557951"/>
            <a:ext cx="2533688" cy="205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12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基金:国家自然科学基金青年项目(C类)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275346" y="5444490"/>
            <a:ext cx="217470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rgbClr val="17332D"/>
                </a:solidFill>
                <a:latin typeface="Arial"/>
                <a:ea typeface="Microsoft YaHei"/>
                <a:cs typeface="Arial"/>
              </a:rPr>
              <a:t>谢谢 · 欢迎讨论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403947" y="5830252"/>
            <a:ext cx="191750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B7280"/>
                </a:solidFill>
                <a:latin typeface="Arial"/>
                <a:ea typeface="Microsoft YaHei"/>
                <a:cs typeface="Arial"/>
              </a:rPr>
              <a:t>dingchenchen@pku.edu.cn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