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讲法:进入预测前先看数据本身。a 点图(点色=年份,冷到暖):记录密集在东部与南缘,西部零星但并非空白;b 省级累计:西藏、云南、湖南居前;c 年度序列 20 年增约 8 倍;d 记录位置的质心基本稳定——增长主要是密度增长,不是范围漂移。</a:t>
            </a:r>
          </a:p>
          <a:p>
            <a:endParaRPr lang="zh-CN" dirty="0"/>
          </a:p>
          <a:p>
            <a:r>
              <a:rPr lang="zh-CN" dirty="0"/>
              <a:t>衔接:彩柱与黑线的错位(发表年 vs 发现年)正是下一页定年校正的动机,先在数据层面可视化。</a:t>
            </a:r>
          </a:p>
          <a:p>
            <a:endParaRPr lang="zh-CN" dirty="0"/>
          </a:p>
          <a:p>
            <a:r>
              <a:rPr lang="zh-CN" dirty="0"/>
              <a:t>数据:CBNR 发布版,Zenodo 记录 20809949,CC-BY-4.0;剔除 3 条坐标异常。</a:t>
            </a:r>
          </a:p>
          <a:p>
            <a:endParaRPr lang="zh-CN" dirty="0"/>
          </a:p>
          <a:p>
            <a:r>
              <a:rPr lang="zh-CN" dirty="0"/>
              <a:t>证据锚点:FigST1;数据可得性声明。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违反通常是模型的坏消息,这里是研究的好消息——它把两个过程分开了。努力 HR 从 2.18 滑到 1.07,气候项无时间趋势(P=0.82)。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条有质心匹配;东 36.9%、东北 27.9%,期望各 12.5%;χ²=580.1。</a:t>
            </a:r>
          </a:p>
          <a:p>
            <a:endParaRPr lang="zh-CN" dirty="0"/>
          </a:p>
          <a:p>
            <a:r>
              <a:rPr lang="zh-CN" dirty="0"/>
              <a:t>克制的解读:与姊妹哺乳类研究(偏北与东)对照,鸟类偏东而非偏北是信息量所在——中国观鸟人口梯度自西向东,不是自南向北,所以这个方向更像观测印记而非纯生态信号。</a:t>
            </a:r>
          </a:p>
          <a:p>
            <a:endParaRPr lang="zh-CN" dirty="0"/>
          </a:p>
          <a:p>
            <a:r>
              <a:rPr lang="zh-CN" dirty="0"/>
              <a:t>证据锚点:Figure 6;SI Fig. S15;SI Note S6。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讲法:从左到右是同一套两段式在三个尺度的展开——省级期望数、市级落点、县级落点。省级头部:江苏、贵州、湖南、云南;县级面上最亮的仍是墨脱、浦东这类边界与热点县。</a:t>
            </a:r>
          </a:p>
          <a:p>
            <a:endParaRPr lang="zh-CN" dirty="0"/>
          </a:p>
          <a:p>
            <a:r>
              <a:rPr lang="zh-CN" dirty="0"/>
              <a:t>一致性:换成随机森林或 XGBoost,九个组合的 Spearman ρ 0.62–0.90——"在哪里"对模型族不敏感,分歧在西部低努力区(树模型对累计努力的分裂更硬)。</a:t>
            </a:r>
          </a:p>
          <a:p>
            <a:endParaRPr lang="zh-CN" dirty="0"/>
          </a:p>
          <a:p>
            <a:r>
              <a:rPr lang="zh-CN" dirty="0"/>
              <a:t>口径:2024 年条件预测,描述性"当前面";外推验证见下一页。底图审图号 GS(2019)1822。</a:t>
            </a:r>
          </a:p>
          <a:p>
            <a:endParaRPr lang="zh-CN" dirty="0"/>
          </a:p>
          <a:p>
            <a:r>
              <a:rPr lang="zh-CN" dirty="0"/>
              <a:t>证据锚点:仓库 MULTISCALE_MODELS_MODULE.md;FigMS1、FigMS2。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头条:把气候与努力作为两个独立情景维度交叉——换 SSP 全国期望数几乎不动(23.2 vs 23.1),换努力情景直接翻倍以上(23.6 vs 57–62)。观测过程主宰未来记录量,是主结果在未来时态的重演。</a:t>
            </a:r>
          </a:p>
          <a:p>
            <a:endParaRPr lang="zh-CN" dirty="0"/>
          </a:p>
          <a:p>
            <a:r>
              <a:rPr lang="zh-CN" dirty="0"/>
              <a:t>必须讲的限定:努力延续档到 2050 年,努力 z 已超出训练范围,支撑域塌到 2%——地图透明度直接编码了这一点(浅=域外)。所以"57–62 条/年"是情景演示,不是可信预测;可信的说法是:2030 年、任一情景下约 23–27 条/年。</a:t>
            </a:r>
          </a:p>
          <a:p>
            <a:endParaRPr lang="zh-CN" dirty="0"/>
          </a:p>
          <a:p>
            <a:r>
              <a:rPr lang="zh-CN" dirty="0"/>
              <a:t>一个有趣细节:云南在未来面转为低值——其物种分布区端升温快,物种参照的气候梯度收窄。这是模型双端结构的真实输出。</a:t>
            </a:r>
          </a:p>
          <a:p>
            <a:endParaRPr lang="zh-CN" dirty="0"/>
          </a:p>
          <a:p>
            <a:r>
              <a:rPr lang="zh-CN" dirty="0"/>
              <a:t>证据锚点:FigMS3;tbl_future_scenario_grid.csv;支撑域方法同 Figure 7。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这一页是上一页的对照实验:同一套情景网格,把机制模型换成随机森林和 XGBoost 再算一遍。三族先在 2024 基期校准到同一量级(22.4 条/年),所以之后的差异纯粹是情景响应的差异。</a:t>
            </a:r>
          </a:p>
          <a:p>
            <a:endParaRPr lang="zh-CN" dirty="0"/>
          </a:p>
          <a:p>
            <a:r>
              <a:rPr lang="zh-CN" dirty="0"/>
              <a:t>结果:SSP2-4.5 · 努力延续 · 2050,机制模型 23.6 → 57.4;随机森林纹丝不动(23.1 → 23.0);XGBoost 反而掉到 6.1。原因是 yr 与 effort_z 都已越出训练范围,树集成返回边界叶值——随机森林锁死在基期水平,XGBoost 的边界值甚至给出反向趋势。</a:t>
            </a:r>
          </a:p>
          <a:p>
            <a:endParaRPr lang="zh-CN" dirty="0"/>
          </a:p>
          <a:p>
            <a:r>
              <a:rPr lang="zh-CN" dirty="0"/>
              <a:t>要讲的点:这不是"哪族模型更准"。三族对「在哪里」高度一致(ρ 0.62–0.90),分歧全在「外推多少」,而外推区没有数据可以裁决谁对。所以我报告的是支撑域内的结论,支撑域外只作情景演示。</a:t>
            </a:r>
          </a:p>
          <a:p>
            <a:endParaRPr lang="zh-CN" dirty="0"/>
          </a:p>
          <a:p>
            <a:r>
              <a:rPr lang="zh-CN" dirty="0"/>
              <a:t>若被问"那你怎么知道机制模型的 57 是对的":我不知道,我也没这么声称——那格的支撑域只有 2%。可信的说法是 2030 年、任一情景约 23–27 条/年。</a:t>
            </a:r>
          </a:p>
          <a:p>
            <a:endParaRPr lang="zh-CN" dirty="0"/>
          </a:p>
          <a:p>
            <a:r>
              <a:rPr lang="zh-CN" dirty="0"/>
              <a:t>证据锚点:FigMS4;tbl_future_multimodel_grid.csv。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讲法:局限不是免责声明,是结论的适用范围。特别强调非对称推断规则——它在看结果之前写死,这是本研究方法学上最自律的一处。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7f0975ec07982c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9e595664a837745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d46473e3a786eef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a831e4c64d78d9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aca4b797b26fbd1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省级新纪录(2002–2024)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9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513510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S1–S15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47286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1,056 条新纪录的时空格局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7488" y="283845"/>
            <a:ext cx="1594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CBNR · Zenodo 20809949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239000" cy="53435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305800" y="952500"/>
            <a:ext cx="35052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305800" y="952500"/>
            <a:ext cx="35052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82012" y="11358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格局一眼可读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3441" y="1414701"/>
            <a:ext cx="21787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空间:胡焕庸线以东密集,西部零星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3441" y="164330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省级头部:西藏、云南、湖南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3441" y="1871901"/>
            <a:ext cx="197915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时间:年记录数 20 年增约 8 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83441" y="2100501"/>
            <a:ext cx="17617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位置质心 20 年间基本稳定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05800" y="278130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05800" y="2781300"/>
            <a:ext cx="35052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82012" y="2964656"/>
            <a:ext cx="14218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两条时间线的错位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3441" y="3243501"/>
            <a:ext cx="184754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彩柱 = 发布口径(报告年份)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3441" y="3472101"/>
            <a:ext cx="16996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黑线 = 建模子集(发现年)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83441" y="3700701"/>
            <a:ext cx="21137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错位即定年校正的动机(下一页)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305800" y="4438650"/>
            <a:ext cx="35052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55332" y="4664154"/>
            <a:ext cx="12061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数据可公开获取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04612" y="4947047"/>
            <a:ext cx="25075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CBNR · Zenodo 20809949 (CC-BY-4.0)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26"/>
            <a:ext cx="6667500" cy="4404472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273"/>
            <a:ext cx="6667500" cy="476137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935"/>
            <a:ext cx="6667500" cy="4828054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979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努力在饱和,气候没有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9499" y="283845"/>
            <a:ext cx="1502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 S5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20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一个饱和的观测过程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对一个不饱和的气候过程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75480" y="3775710"/>
            <a:ext cx="3374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这是两个系数捕捉不同过程的最锐利证据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5240" y="4096702"/>
            <a:ext cx="4154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若它们只是同一过程的两种度量,应当同步变化 —— 它们没有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74861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新纪录强烈偏向分布区的东与东北侧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4423" y="283845"/>
            <a:ext cx="1428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Fig. S15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815"/>
            <a:ext cx="5905500" cy="399837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1028700"/>
            <a:ext cx="46863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10287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2120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90901"/>
            <a:ext cx="28338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χ² = 580.1, df = 7, P = 4.6×10⁻¹²¹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719501"/>
            <a:ext cx="19066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237 条(36.9%,期望 80.2)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948101"/>
            <a:ext cx="29521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 179 条(27.9%)—— Holm 校正后过表达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02341" y="2176701"/>
            <a:ext cx="13211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最空:南 20 · 西 19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24700" y="2686050"/>
            <a:ext cx="46863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2686050"/>
            <a:ext cx="46863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00912" y="2869406"/>
            <a:ext cx="14950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16 个大目逐一检验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148251"/>
            <a:ext cx="23725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5 个样本充足的目各自独立拒绝均匀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7685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2341" y="3605451"/>
            <a:ext cx="17322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(SI Fig. S15 分目风玫瑰)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24700" y="4133850"/>
            <a:ext cx="46863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124700" y="413385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39489" y="4340304"/>
            <a:ext cx="869418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解读要克制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0441" y="4615101"/>
            <a:ext cx="31725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哺乳类偏北与东;鸟类偏东与东北。观鸟人口梯度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441" y="4843701"/>
            <a:ext cx="27821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自西向东 —— 方向偏倚更倾向观测性解释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165"/>
            <a:ext cx="7048500" cy="431617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402"/>
            <a:ext cx="6667500" cy="457312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9442" y="283845"/>
            <a:ext cx="196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 · 多模型)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8641" y="5148501"/>
            <a:ext cx="24597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三族模型的县级面一致:ρ 0.62–0.90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5759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· 市 · 县三级预测地图(2024)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 · FigMS1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2500"/>
            <a:ext cx="10972800" cy="40767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9144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52959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54792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面的构造:族内自洽的两段式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5758101"/>
            <a:ext cx="29773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期望数(省,2024 条件预测) × 份额(单元|省)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5986701"/>
            <a:ext cx="30054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市 371 个单元 · 县 2,835 个单元;色标 log10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52959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53212" y="5479256"/>
            <a:ext cx="1818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换模型族,地图几乎不变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641" y="5758101"/>
            <a:ext cx="26963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RF / XGBoost 面与机制面 ρ 0.62–0.90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641" y="5986701"/>
            <a:ext cx="28057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分歧集中在西部低努力区(见仓库 FigMS1)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038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未来情景:气候两档 × 努力两档(2030 / 2050)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FigMS3 · 仓库扩展模块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086600" cy="53340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53400" y="952500"/>
            <a:ext cx="36576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53400" y="952500"/>
            <a:ext cx="36576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29612" y="1135856"/>
            <a:ext cx="16169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情景网格(两维独立)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1041" y="1414701"/>
            <a:ext cx="17736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气候:SSP2-4.5 / SSP5-8.5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1041" y="1643301"/>
            <a:ext cx="30098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努力:停滞(2024 冻结) / 延续(+0.6 SD/十年)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1041" y="1871901"/>
            <a:ext cx="25632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期限:2030 / 2050;县级为份额冻结假设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153400" y="2609850"/>
            <a:ext cx="36576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153400" y="2609850"/>
            <a:ext cx="36576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29612" y="279320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谁在主宰未来的记录量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1041" y="3072051"/>
            <a:ext cx="23769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换气候情景:23.2 → 23.1(几乎不动)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1041" y="33006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换努力情景:23.6 → 57–62 条/年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1041" y="352925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未来我们会记录到什么,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1041" y="3757851"/>
            <a:ext cx="25810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主要取决于我们怎么看,而非气候怎么变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53400" y="4438650"/>
            <a:ext cx="36576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153400" y="4438650"/>
            <a:ext cx="3657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29612" y="46220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但要读透明度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31041" y="4900851"/>
            <a:ext cx="21728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努力延续档到 2050:支撑域仅 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31041" y="512945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增量几乎全在训练范围外(浅色区)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2014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未来情景 × 模型族:谁在响应情景,谁只是在饱和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FigMS4 · 仓库扩展模块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046" y="876300"/>
            <a:ext cx="5659808" cy="53435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734300" y="952500"/>
            <a:ext cx="40767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734300" y="952500"/>
            <a:ext cx="40767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10512" y="1135856"/>
            <a:ext cx="2689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同一情景网格,换三族模型再算一遍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11941" y="1414701"/>
            <a:ext cx="32449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三族已在 2024 基期校准到同一量级(22.4 条/年)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11941" y="16433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此后情景斜率完全是各族自己的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11941" y="18719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行=模型族,列=4 个情景 @2050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734300" y="2609850"/>
            <a:ext cx="40767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734300" y="2609850"/>
            <a:ext cx="40767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10512" y="2793206"/>
            <a:ext cx="24877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2050 · 努力延续:三族分道扬镳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11941" y="3072051"/>
            <a:ext cx="219948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离散风险模型 23.6 → 57.4 条/年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11941" y="3300651"/>
            <a:ext cx="193922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 23.1 → 23.0(锁死)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11941" y="3529251"/>
            <a:ext cx="18460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XGBoost 13.5 → 6.1(反向)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11941" y="3757851"/>
            <a:ext cx="28797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而三族对「在哪里」仍一致(ρ 0.62–0.90)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734300" y="4438650"/>
            <a:ext cx="40767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974622" y="466010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这不是模型优劣之争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9942" y="4962049"/>
            <a:ext cx="2485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未来协变量越界后,树集成返回边界叶值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977074" y="5171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外推的方向本身不可审查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0269" y="283845"/>
            <a:ext cx="1742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S6–S11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 / 20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53"/>
            <a:ext cx="6667500" cy="460841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3358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换个模型族并不能救(RF 与 XGBoost 同病)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24878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范围内一致(ρ 0.54);范围外完全分歧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28693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留一省·县:机制 0.28 &lt; RF 0.31 &lt; XGB 0.35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72907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方向与保护区两节采用非对称推断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5266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格内观测偏倚不可扣除:零结果是强证据,正结果是弱证据 —— 规则在看结果之前写死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19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3987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为最大成分;努力饱和(2.18→1.07)而气候不饱和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4701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记录数≠保护成效;县级可预测;未来记录量由努力情景主宰,外推止于支撑域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 / 20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130–204,按序可复现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3947" y="5830252"/>
            <a:ext cx="19175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dingchenchen@pku.edu.cn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