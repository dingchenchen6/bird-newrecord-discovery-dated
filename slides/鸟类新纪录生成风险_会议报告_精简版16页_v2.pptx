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开场(30 秒):这项工作问一个所有用新纪录做气候变化推断的人都绕不开的问题——一条新纪录到底记录了鸟的变化,还是记录了我们看鸟方式的变化。标题就是结论:两者贡献相当,但这个结论成立的前提,是把每条记录定年到它被发现的那一年,而不是论文发表的那一年。</a:t>
            </a:r>
          </a:p>
          <a:p>
            <a:endParaRPr lang="zh-CN" dirty="0"/>
          </a:p>
          <a:p>
            <a:r>
              <a:rPr lang="zh-CN" dirty="0"/>
              <a:t>数字:1,029 条records、17.6 万行风险集、649 个建模事件。</a:t>
            </a:r>
          </a:p>
          <a:p>
            <a:endParaRPr lang="zh-CN" dirty="0"/>
          </a:p>
          <a:p>
            <a:r>
              <a:rPr lang="zh-CN" dirty="0"/>
              <a:t>证据锚点:题名页;Methods。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一句话:分布知识是生态过程和观测过程的联合产物,而这两个过程在中国过去二十年同步爆发,所以不能用相关分析分离。</a:t>
            </a:r>
          </a:p>
          <a:p>
            <a:endParaRPr lang="zh-CN" dirty="0"/>
          </a:p>
          <a:p>
            <a:r>
              <a:rPr lang="zh-CN" dirty="0"/>
              <a:t>为什么是这份数据:CBNR 汇编同时保有发现日期与发表日期——这是全场的方法学钥匙,下一页立刻用到。</a:t>
            </a:r>
          </a:p>
          <a:p>
            <a:endParaRPr lang="zh-CN" dirty="0"/>
          </a:p>
          <a:p>
            <a:r>
              <a:rPr lang="zh-CN" dirty="0"/>
              <a:t>证据锚点:Introduction 第 1–3 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讲法:公式一遍带过,重点讲四张卡为什么缺一不可——分母(完整风险集)、时钟(发现年+offset)、气候的物种参照(绝对增温全国近似均一,只有差值携带物种信息)、观测的尺度(省×年)。</a:t>
            </a:r>
          </a:p>
          <a:p>
            <a:endParaRPr lang="zh-CN" dirty="0"/>
          </a:p>
          <a:p>
            <a:r>
              <a:rPr lang="zh-CN" dirty="0"/>
              <a:t>若被问 cloglog:它是连续比例风险的离散化,系数就是 HR,换成月面板系数不变;logit 会变。</a:t>
            </a:r>
          </a:p>
          <a:p>
            <a:endParaRPr lang="zh-CN" dirty="0"/>
          </a:p>
          <a:p>
            <a:r>
              <a:rPr lang="zh-CN" dirty="0"/>
              <a:t>证据锚点:Methods;Figure 4a(梯度构造)。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核心数字:重定年一步,努力效应掉 37%,气候变异那个 P=1.8e-4 的"显著效应"直接消失;累积变暖几乎不动(1.394→1.437)——说明它不是定年伪迹。</a:t>
            </a:r>
          </a:p>
          <a:p>
            <a:endParaRPr lang="zh-CN" dirty="0"/>
          </a:p>
          <a:p>
            <a:r>
              <a:rPr lang="zh-CN" dirty="0"/>
              <a:t>图:a 滞后分布与完整度曲线;b 两种定年下的年序列(2021 后灰带 = 右删失);c 五步分解,阴影列是重定年那一步。</a:t>
            </a:r>
          </a:p>
          <a:p>
            <a:endParaRPr lang="zh-CN" dirty="0"/>
          </a:p>
          <a:p>
            <a:r>
              <a:rPr lang="zh-CN" dirty="0"/>
              <a:t>证据锚点:Figure 2;Table 1(S0→S5 分解)。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头条:1.362 vs 1.404,效应量相当;交互 0.849——变暖在调查稀疏处作用最强。</a:t>
            </a:r>
          </a:p>
          <a:p>
            <a:endParaRPr lang="zh-CN" dirty="0"/>
          </a:p>
          <a:p>
            <a:r>
              <a:rPr lang="zh-CN" dirty="0"/>
              <a:t>必须主动讲的限定(审稿人会问):变暖项的参照点不是 1 而是 1.157,因为省×年层内重排保留了省-年气候与事件的共变;可归因于物种特异参照的增量约 ×1.18。努力项相反:打乱时间对齐后塌到 0.980,几乎全是真信号。被问"效应有多大"时答:显著且稳健,增量约 18% 而非 36%。</a:t>
            </a:r>
          </a:p>
          <a:p>
            <a:endParaRPr lang="zh-CN" dirty="0"/>
          </a:p>
          <a:p>
            <a:r>
              <a:rPr lang="zh-CN" dirty="0"/>
              <a:t>证据锚点:Figure 1a,b;Table 2(含零中位与省级自助两列);SI Fig. S11。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讲法:先四判据(掉哪个都疼、疼得差不多),再判别力阶梯(0.411→0.610,单独气候略强于单独努力——与发表年定年时代的结论相反),最后一屏稳健性数字扫过去。</a:t>
            </a:r>
          </a:p>
          <a:p>
            <a:endParaRPr lang="zh-CN" dirty="0"/>
          </a:p>
          <a:p>
            <a:r>
              <a:rPr lang="zh-CN" dirty="0"/>
              <a:t>证据锚点:Figure 1c,d;Figure 3;SI Note S5。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头条:省×年是最大方差成分(0.804),对应 ×2.23,超过任何固定效应。它就是"观测史"在模型里的位置——某省某年的调查项目、观鸟节、保护区新建。</a:t>
            </a:r>
          </a:p>
          <a:p>
            <a:endParaRPr lang="zh-CN" dirty="0"/>
          </a:p>
          <a:p>
            <a:r>
              <a:rPr lang="zh-CN" dirty="0"/>
              <a:t>方法要点:六种随机结构、四判据比较;边际 AUC 在六种结构下几乎不变(0.607–0.613),说明这一层吸收的是观测异质性、不重排固定效应信号。</a:t>
            </a:r>
          </a:p>
          <a:p>
            <a:endParaRPr lang="zh-CN" dirty="0"/>
          </a:p>
          <a:p>
            <a:r>
              <a:rPr lang="zh-CN" dirty="0"/>
              <a:t>证据锚点:Figure 5;Table 3;SI Fig. S1。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讲法:PH 违反通常是模型的坏消息,这里是研究的好消息——它把两个过程分开了。努力 HR 从 2.18 滑到 1.07,气候项无时间趋势(P=0.82)。</a:t>
            </a:r>
          </a:p>
          <a:p>
            <a:endParaRPr lang="zh-CN" dirty="0"/>
          </a:p>
          <a:p>
            <a:r>
              <a:rPr lang="zh-CN" dirty="0"/>
              <a:t>证据锚点:Figure 5d;SI Table S5(省级 IRR 0.71)。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数字:642 条有质心匹配;东 36.9%、东北 27.9%,期望各 12.5%;χ²=580.1。</a:t>
            </a:r>
          </a:p>
          <a:p>
            <a:endParaRPr lang="zh-CN" dirty="0"/>
          </a:p>
          <a:p>
            <a:r>
              <a:rPr lang="zh-CN" dirty="0"/>
              <a:t>克制的解读:与姊妹哺乳类研究(偏北与东)对照,鸟类偏东而非偏北是信息量所在——中国观鸟人口梯度自西向东,不是自南向北,所以这个方向更像观测印记而非纯生态信号。</a:t>
            </a:r>
          </a:p>
          <a:p>
            <a:endParaRPr lang="zh-CN" dirty="0"/>
          </a:p>
          <a:p>
            <a:r>
              <a:rPr lang="zh-CN" dirty="0"/>
              <a:t>证据锚点:Figure 6;SI Fig. S15;SI Note S6。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一句话:主模型不只做了敏感性,还做了设计保持的零模型、两种聚类自助、参数自助和留一影响力——四个系数全部在零分布之外,没有单个省或物种群撑起结果。</a:t>
            </a:r>
          </a:p>
          <a:p>
            <a:endParaRPr lang="zh-CN" dirty="0"/>
          </a:p>
          <a:p>
            <a:r>
              <a:rPr lang="zh-CN" dirty="0"/>
              <a:t>诚实处:离群检验显著(95 outliers)——0.37% 事件率的二元结局本就如此,如实报告。</a:t>
            </a:r>
          </a:p>
          <a:p>
            <a:endParaRPr lang="zh-CN" dirty="0"/>
          </a:p>
          <a:p>
            <a:r>
              <a:rPr lang="zh-CN" dirty="0"/>
              <a:t>证据锚点:SI Fig. S11;SI Note S4;Table 2。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设计:对照 = 286 万条 GBIF/eBird 记录里观鸟人同省同年实际去过的地点。全国尺度观鸟努力并未向保护区集中(10.8%≈面积份额)。</a:t>
            </a:r>
          </a:p>
          <a:p>
            <a:endParaRPr lang="zh-CN" dirty="0"/>
          </a:p>
          <a:p>
            <a:r>
              <a:rPr lang="zh-CN" dirty="0"/>
              <a:t>为什么判观测解释:效应由 68 处保护区中的前 2 处撑起 27%;只在 2013 年后出现而保护网络 2012 年后未再扩;区内每清单多记 24% 物种(层内扣不掉)。推断规则事先写死:正结果是弱证据,1.57 只是上界。保护区也不提高首次记录转为持续存在的概率(OR 1.01)。</a:t>
            </a:r>
          </a:p>
          <a:p>
            <a:endParaRPr lang="zh-CN" dirty="0"/>
          </a:p>
          <a:p>
            <a:r>
              <a:rPr lang="zh-CN" dirty="0"/>
              <a:t>口径:仅限 1,028 处已制图、以国家级为主、2012 年前建立的自然保护区。</a:t>
            </a:r>
          </a:p>
          <a:p>
            <a:endParaRPr lang="zh-CN" dirty="0"/>
          </a:p>
          <a:p>
            <a:r>
              <a:rPr lang="zh-CN" dirty="0"/>
              <a:t>证据锚点:SI Figs S12–S14;SI Note S6。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注意口径:这一块是仓库中的扩展模块,不在 GCB 投稿正文里——如实说明。</a:t>
            </a:r>
          </a:p>
          <a:p>
            <a:endParaRPr lang="zh-CN" dirty="0"/>
          </a:p>
          <a:p>
            <a:r>
              <a:rPr lang="zh-CN" dirty="0"/>
              <a:t>讲法:省级首次记录不能直接换尺度;拆成省级风险 × 省内分配后,县级 top-1 命中 16.1%(约 17 倍随机),留一省 27/29。份额最高的县——墨脱、崇明、珲春、勐腊、洋县——全是公认边界与热点县,而模型事先不知道。</a:t>
            </a:r>
          </a:p>
          <a:p>
            <a:endParaRPr lang="zh-CN" dirty="0"/>
          </a:p>
          <a:p>
            <a:r>
              <a:rPr lang="zh-CN" dirty="0"/>
              <a:t>证据锚点:仓库 DOWNSCALING_MODULE.md;FigC1–C2。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为什么严格:物种参照的气候梯度历史 SD 只有 0.18 °C,未来省-分布区差值可达 2 °C——十倍于拟合范围。所以逐面板报告支撑域内比例,末世纪只作情景演示。</a:t>
            </a:r>
          </a:p>
          <a:p>
            <a:endParaRPr lang="zh-CN" dirty="0"/>
          </a:p>
          <a:p>
            <a:r>
              <a:rPr lang="zh-CN" dirty="0"/>
              <a:t>RF 对照:内插时 RF 略强,外推(留省/时间前推)掉到基线;RF 重要性把"年份"排第一——它独立复现了本文主论点:数据里最强的信号是观测过程。</a:t>
            </a:r>
          </a:p>
          <a:p>
            <a:endParaRPr lang="zh-CN" dirty="0"/>
          </a:p>
          <a:p>
            <a:r>
              <a:rPr lang="zh-CN" dirty="0"/>
              <a:t>证据锚点:Figure 7;SI Figs S6–S11。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讲法:局限不是免责声明,是结论的适用范围。特别强调非对称推断规则——它在看结果之前写死,这是本研究方法学上最自律的一处。</a:t>
            </a:r>
          </a:p>
          <a:p>
            <a:endParaRPr lang="zh-CN" dirty="0"/>
          </a:p>
          <a:p>
            <a:r>
              <a:rPr lang="zh-CN" dirty="0"/>
              <a:t>证据锚点:Discussion(Limitations 段);SI Notes S1、S6。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收束:四句话对应四个章节;深色条是全文一句话答案。之后自然引到下一步(占用模型个案归因)。</a:t>
            </a:r>
          </a:p>
          <a:p>
            <a:endParaRPr lang="zh-CN" dirty="0"/>
          </a:p>
          <a:p>
            <a:r>
              <a:rPr lang="zh-CN" dirty="0"/>
              <a:t>证据锚点:Discussion;Conclusions。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结尾:强调可重复性——每个数字都能追到一张 CSV;仓库里连三家期刊的投稿包都在。留联系方式。</a:t>
            </a:r>
          </a:p>
          <a:p>
            <a:endParaRPr lang="zh-CN" dirty="0"/>
          </a:p>
          <a:p>
            <a:r>
              <a:rPr lang="zh-CN" dirty="0"/>
              <a:t>证据锚点:Data availability;仓库 README。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7cc4a657a9f9466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f8ad8ec195fc90c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7ee3d9b8edd3906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dc8eda35b90b38a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9e595664a837745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9ce80c4d0c8c80e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fd413c558f13831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61dd8405e382f41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14400" y="1428750"/>
            <a:ext cx="533400" cy="571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82015" y="1801178"/>
            <a:ext cx="874977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变暖与调查努力对鸟类新分布记录生成的贡献相当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540" y="2301240"/>
            <a:ext cx="431484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—— 前提是把记录定年到发现之时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112" y="2793206"/>
            <a:ext cx="67207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Warming and survey effort contribute comparably to new bird distribution records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0112" y="3002756"/>
            <a:ext cx="30058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once records are dated to discovery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14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97280" y="3697605"/>
            <a:ext cx="8596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1,029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1568" y="4104799"/>
            <a:ext cx="16651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省级新纪录(2002–2024)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719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954780" y="3697605"/>
            <a:ext cx="12172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175,901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9068" y="4104799"/>
            <a:ext cx="14943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物种×省×年 风险集行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29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812280" y="3697605"/>
            <a:ext cx="58976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649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6568" y="4104799"/>
            <a:ext cx="1828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建模事件 · 392 种 · 31 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9160" y="5013960"/>
            <a:ext cx="3647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丁晨晨 北京大学城市与环境学院 生态研究中心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18" y="5285899"/>
            <a:ext cx="1925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学术会议报告 · 2026 年 8 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494" y="5994797"/>
            <a:ext cx="513510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证据锚点与投稿稿(GCB 版)图表编号一致:Figure 1–7 · Table 1–3 · SI S1–S15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57175" y="1095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30594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一条新纪录,可能是扩张,也可能是终于有人去看了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53064" y="283845"/>
            <a:ext cx="8693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Introduction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 / 16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14400"/>
            <a:ext cx="52578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0977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已知的分布图,是观测的产物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376601"/>
            <a:ext cx="24331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专家绘制的分布图以标本与文献为据,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6052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是宏观生态与保护规划的底图。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833801"/>
            <a:ext cx="32553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但“哪里有记录” = 鸟在哪里 × 有人在哪里看。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06240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两者在原始数据中不可分辨。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532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553200" y="914400"/>
            <a:ext cx="52578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29412" y="10977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冲突:两个信号在同步增长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0841" y="137660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二十年间中国快速变暖;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0841" y="1605201"/>
            <a:ext cx="22438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同期观鸟人数由数千增至数十万。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833801"/>
            <a:ext cx="198950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任何只含其中一个过程的模型,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2062401"/>
            <a:ext cx="239172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都会把另一个过程的信号错误归因。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14400" y="33147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754348" y="3558064"/>
            <a:ext cx="12167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关键科学问题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18317" y="3875008"/>
            <a:ext cx="6888766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新纪录的发生,主要由真实分布变化还是观测偏差驱动?两者能否在同一个模型里被同时量化?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589" y="4607004"/>
            <a:ext cx="14216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为什么是中国鸟类: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77752"/>
            <a:ext cx="64552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全国汇编同时保有发现日期与发表日期 —— 这是分离两类过程的钥匙,也是别的数据集没有的。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2018" y="5152549"/>
            <a:ext cx="3946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1,028/1,029 条记录可解析发现年;27 个省级单元以上有事件。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57175" y="19335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64411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一个离散时间风险模型,四个不可省略的部件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1409" y="283845"/>
            <a:ext cx="1311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Methods · Figure 4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 / 16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907256"/>
            <a:ext cx="45568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把问题写成风险模型:每个物种在每个省每一年,是否首次被记录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19200"/>
            <a:ext cx="10896600" cy="1123950"/>
          </a:xfrm>
          <a:prstGeom prst="roundRect">
            <a:avLst>
              <a:gd name="adj" fmla="val 5085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27760" y="1413510"/>
            <a:ext cx="5253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event ~ 累积变暖 × 调查努力 + 年度气候变异 + offset(log cₜ)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760" y="1699260"/>
            <a:ext cx="4862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+ (1|物种) + (1|省) + (1|省×年) family = binomial(cloglog)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1094" y="2051447"/>
            <a:ext cx="422457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cloglog = 离散时间比例风险;exp(β) 即风险比 HR,不随时间步长改变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144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14400" y="26098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0612" y="2793206"/>
            <a:ext cx="899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完整风险集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307205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适宜格 ≥50 才算候选省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2041" y="33006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首次记录后吸收退出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2041" y="3529251"/>
            <a:ext cx="18298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分母 = 生态上说得通的机会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477000" y="260985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3212" y="27932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按发现年定年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3072051"/>
            <a:ext cx="14408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发表滞后均值 2.09 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4641" y="3300651"/>
            <a:ext cx="15192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83.1% 的事件因此改年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4641" y="352925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末端右删失由 offset 校正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144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14400" y="44005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906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物种参照的气候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2041" y="4862751"/>
            <a:ext cx="17115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x = 省距平 − 分布区距平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92041" y="50913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取前 15 年滑动均值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2041" y="5319951"/>
            <a:ext cx="1142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 SD = 0.179 °C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770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477000" y="44005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2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省×年随机效应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641" y="48627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调查行动发生的尺度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4641" y="5091351"/>
            <a:ext cx="15044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省级观鸟节、调查项目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4641" y="53199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把观测过程显式建模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① 换一个定年方式,结论就换了方向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2 · Table 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7726"/>
            <a:ext cx="6667500" cy="4404472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1028700"/>
            <a:ext cx="4000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0287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212056"/>
            <a:ext cx="17075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按发表年 → 按发现年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90901"/>
            <a:ext cx="21595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 HR 1.788 → 1.305(−37%)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7195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气候变异 0.850* → 0.971(消失)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948101"/>
            <a:ext cx="21018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1.394 → 1.437(稳定)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76701"/>
            <a:ext cx="25514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*P = 1.8×10⁻⁴,一个并不存在的效应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8575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857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30408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机制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319701"/>
            <a:ext cx="1943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发表滞后右偏(均值 2.09 年),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548301"/>
            <a:ext cx="19954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且与观鸟数据库同步增长 ——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769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对齐到发表年 = 对齐到努力更大的年份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305300"/>
            <a:ext cx="40005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535216" y="4545806"/>
            <a:ext cx="5510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所以呢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05469" y="4831556"/>
            <a:ext cx="22105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定年是建模决策,不是记账细节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变暖与努力的贡献相当,交互为负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05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9273"/>
            <a:ext cx="6667500" cy="476137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20245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冻结主模型(n = 175,901)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HR 1.362(1.216–1.524)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调查努力 HR 1.404(1.245–1.583)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变暖×努力 HR 0.849(0.761–0.948)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0782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年度变异 HR 0.995 —— 零效应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590800"/>
            <a:ext cx="40005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5908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74156"/>
            <a:ext cx="19443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效应量要对着正确的零读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53001"/>
            <a:ext cx="220688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置换零分布中位:变暖 1.157(≠1)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281601"/>
            <a:ext cx="222758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物种特异参照的增量 ≈ ×1.18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10201"/>
            <a:ext cx="20664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努力打乱时间对齐后塌到 0.980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38801"/>
            <a:ext cx="214329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→ 几乎全部来自真实的时间对齐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457700"/>
            <a:ext cx="40005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7810500" y="44577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86712" y="4641056"/>
            <a:ext cx="178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省级聚类自助(300 次)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88141" y="4919901"/>
            <a:ext cx="219061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 1.20–1.72;努力 1.21–1.76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88141" y="51485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下界均 &gt; 1;交互上界 0.99 &lt; 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续:判别力与十二种口径的一致性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1562" y="283845"/>
            <a:ext cx="1460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1c,d · Figure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06 / 16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888206"/>
            <a:ext cx="42282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四个独立判据一致:变暖与努力权重相当,判别力上变暖略优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38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216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去掉该项的代价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00451"/>
            <a:ext cx="19628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ΔAIC:变暖 28.7 · 努力 29.5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29051"/>
            <a:ext cx="21255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ΔAUC:变暖 0.053 · 努力 0.032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57651"/>
            <a:ext cx="15695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Δ条件R²、|β| 同方向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386251"/>
            <a:ext cx="14793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四判据来自 Figure 1c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382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21606"/>
            <a:ext cx="2576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固定效应判别力阶梯(Figure 1d)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00451"/>
            <a:ext cx="19835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空模型 0.411 → 仅努力 0.559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29051"/>
            <a:ext cx="20309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→ 仅变暖 0.580 → 两者 0.610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57651"/>
            <a:ext cx="231483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单独气候 &gt; 单独努力;二者皆不可省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38625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发表年定年下结论相反:努力独大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352800"/>
            <a:ext cx="10896600" cy="23431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914400" y="3352800"/>
            <a:ext cx="10896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28712" y="3574256"/>
            <a:ext cx="2292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同一结论在十二种口径下不动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9665" y="3887152"/>
            <a:ext cx="52053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阈值 50/100/200 格:努力 1.404/1.405/1.411;变暖 1.362/1.376/1.372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665" y="415385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努力代理 × 3 缺失规则:努力 1.25–1.52;变暖 1.35–1.37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9665" y="4420552"/>
            <a:ext cx="5771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窗口 × 3 基线序列:变暖系数随窗口 1.16–1.21 → 1.36–1.40,内部最优 18–20 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618" y="4695349"/>
            <a:ext cx="299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 = 15 为预先设定,距各序列最优 2.2–5.6 AIC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0141" y="5091351"/>
            <a:ext cx="533741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一个纯天气驱动的过程会呈现相反的窗口模式 —— 这是可证伪预测,它没有被证伪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82989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③ 观测过程的冲击,比任何一个驱动都大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 · Table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07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5935"/>
            <a:ext cx="6667500" cy="4828054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123950"/>
          </a:xfrm>
          <a:prstGeom prst="roundRect">
            <a:avLst>
              <a:gd name="adj" fmla="val 5085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24812" y="1212056"/>
            <a:ext cx="13591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省 × 年随机效应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04810" y="1442085"/>
            <a:ext cx="14270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× 2.23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45918" y="1628299"/>
            <a:ext cx="12536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FE0DA"/>
                </a:solidFill>
                <a:latin typeface="Arial"/>
                <a:ea typeface="Microsoft YaHei"/>
                <a:cs typeface="Arial"/>
              </a:rPr>
              <a:t>每 1 SD 的风险倍数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810500" y="23050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810500" y="230505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86712" y="24884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三层各是什么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88141" y="2767251"/>
            <a:ext cx="23813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物种 SD 0.405 → ×1.50(可探测性)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8141" y="29958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SD 0.326 → ×1.39(区域基线)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224451"/>
            <a:ext cx="25292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省×年 SD 0.804 → ×2.23(观测冲击)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4530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拟合水平横跨 13 倍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810500" y="39624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810500" y="39624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86712" y="41457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加上这一层之后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88141" y="4424601"/>
            <a:ext cx="16405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AUC 0.721 → 0.854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88141" y="4653201"/>
            <a:ext cx="16227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R² 0.274 → 0.411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88141" y="48818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边际 AUC 不变:不动固定效应信号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97165" y="5449252"/>
            <a:ext cx="29981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把它当噪声,就会把调查史误读成分布变化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979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④ 努力在饱和,气候没有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9499" y="283845"/>
            <a:ext cx="15029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5d · SI Note S5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08 / 16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589" y="911304"/>
            <a:ext cx="6463389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比例风险检验:努力项违反(β = −0.211, P = 7.7×10⁻⁴)—— 这是实质发现,不是诊断失败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573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406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努力的边际产出在下降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195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2002 年:HR 2.18(1.63–2.90)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481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2024 年:HR 1.07(0.88–1.30)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76701"/>
            <a:ext cx="17100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2022 年后置信区间已含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40530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容易发现的空缺,二十年间被用完了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573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406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气候项没有这个趋势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19501"/>
            <a:ext cx="23754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变暖 × 时间:β = −0.022, P = 0.82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48101"/>
            <a:ext cx="23207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时变模型中变暖 HR 1.369,方向不变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7670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一个饱和的观测过程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405301"/>
            <a:ext cx="165234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对一个不饱和的气候过程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5433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675480" y="3775710"/>
            <a:ext cx="33744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这是两个系数捕捉不同过程的最锐利证据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85240" y="4096702"/>
            <a:ext cx="41549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若它们只是同一过程的两种度量,应当同步变化 —— 它们没有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01552"/>
            <a:ext cx="56163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省级尺度同一信号:早期已充分覆盖的省份,单位努力产出更低(IRR 0.71, P = 0.028)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1065" y="5068252"/>
            <a:ext cx="56761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含义:继续在东部热点加密,边际信息量有限;监测应转向调查稀疏且气候梯度陡的区域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748614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⑤ 新纪录强烈偏向分布区的东与东北侧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94423" y="283845"/>
            <a:ext cx="14280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6 · SI Fig. S15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09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9815"/>
            <a:ext cx="5905500" cy="399837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124700" y="1028700"/>
            <a:ext cx="46863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124700" y="1028700"/>
            <a:ext cx="46863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00912" y="12120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八方位卡方检验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02341" y="1490901"/>
            <a:ext cx="28338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χ² = 580.1, df = 7, P = 4.6×10⁻¹²¹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02341" y="1719501"/>
            <a:ext cx="190669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 237 条(36.9%,期望 80.2)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02341" y="1948101"/>
            <a:ext cx="29521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东北 179 条(27.9%)—— Holm 校正后过表达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02341" y="2176701"/>
            <a:ext cx="132110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最空:南 20 · 西 19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124700" y="2686050"/>
            <a:ext cx="46863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124700" y="2686050"/>
            <a:ext cx="46863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300912" y="2869406"/>
            <a:ext cx="14950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16 个大目逐一检验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02341" y="3148251"/>
            <a:ext cx="237250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5 个样本充足的目各自独立拒绝均匀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02341" y="337685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显著方位无一例外是东或东北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02341" y="3605451"/>
            <a:ext cx="17322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(SI Fig. S15 分目风玫瑰)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124700" y="4133850"/>
            <a:ext cx="46863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7124700" y="4133850"/>
            <a:ext cx="46863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339489" y="4340304"/>
            <a:ext cx="869418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解读要克制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40441" y="4615101"/>
            <a:ext cx="31725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哺乳类偏北与东;鸟类偏东与东北。观鸟人口梯度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40441" y="4843701"/>
            <a:ext cx="27821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自西向东 —— 方向偏倚更倾向观测性解释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57175" y="36099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53091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结论经得起零模型与重抽样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68032" y="283845"/>
            <a:ext cx="13543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Fig. S11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10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5165"/>
            <a:ext cx="7048500" cy="431617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91500" y="1028700"/>
            <a:ext cx="3619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91500" y="1028700"/>
            <a:ext cx="3619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67712" y="12120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设计保持的置换零模型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69141" y="14909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每个零模型只破坏一条关联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141" y="1719501"/>
            <a:ext cx="18135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其余结构原封不动(199 次)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9141" y="19481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四个系数全部落在零分布外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141" y="2176701"/>
            <a:ext cx="204274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 = 0.005(变异项除外,如预期)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91500" y="2857500"/>
            <a:ext cx="3619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191500" y="2857500"/>
            <a:ext cx="3619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7712" y="3040856"/>
            <a:ext cx="1456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三种自助 + 影响力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9141" y="3319701"/>
            <a:ext cx="203386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省级聚类自助:SE ×1.26–1.59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9141" y="35483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参数自助覆盖率 91.3–95.3%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9141" y="377690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留一省/物种十分位:最大 4.2%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2018" y="5704999"/>
            <a:ext cx="7993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诊断:DHARMa 均匀性 P=0.74 · 离散度 P=0.59 · 零膨胀 P=0.59 · Moran's I P=0.86;离群检验显著(0.37% 事件率下属预期)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12016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① 保护区里的富集,主要是观测装置的作用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44779" y="283845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Figs S12–S14 · Note S6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3402"/>
            <a:ext cx="6667500" cy="457312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251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表观富集 2.5 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181501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新纪录落在保护区内 26.2%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183275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观鸟 checklist 加权 10.8%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0756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陆域面积 10.4%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810500" y="2571750"/>
            <a:ext cx="4000500" cy="16573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810500" y="25717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86712" y="2755106"/>
            <a:ext cx="21185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以观鸟人去过的地方为对照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033951"/>
            <a:ext cx="23473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同省同年 1:200 匹配:OR 1.71→1.57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26255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剔除前 2 大宿主区:1.16(跨 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491151"/>
            <a:ext cx="176621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2002–2012 无效应(0.97)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19751"/>
            <a:ext cx="20353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区内每份清单多记 24% 的物种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4577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108500" y="4694158"/>
            <a:ext cx="14044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记录多 ≠ 成效好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67011" y="4996101"/>
            <a:ext cx="26874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保护区内的新纪录数不能作保护成效指标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1669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② 预测可以降尺度到县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59442" y="283845"/>
            <a:ext cx="1962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仓库扩展模块(降尺度 · 多模型)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12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81" y="914400"/>
            <a:ext cx="6752037" cy="51911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001000" y="952500"/>
            <a:ext cx="38100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001000" y="952500"/>
            <a:ext cx="3810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177212" y="11358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响应是行政绑定的:拆两段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8641" y="1414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P(落在县 c) = P(该省发生)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8641" y="1643301"/>
            <a:ext cx="147489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× P(落在 c | 已发生)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78641" y="187190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第二段:条件 logit,省内全县为备择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01000" y="2400300"/>
            <a:ext cx="38100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001000" y="2400300"/>
            <a:ext cx="3810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77212" y="2583656"/>
            <a:ext cx="20349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样本外技能(2019–2024)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8641" y="2862501"/>
            <a:ext cx="23991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县级 top-1 命中 16.1%(随机≈1%)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8641" y="3091101"/>
            <a:ext cx="19969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真实县落在预测前 10%:45.4%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8641" y="3319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留一省:29 省中 27 优于随机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78641" y="3548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最强变量:到分布区距离(OR 0.238)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0" y="4229100"/>
            <a:ext cx="381000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001000" y="4229100"/>
            <a:ext cx="3810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177212" y="44124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限制在哪一段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78641" y="4691301"/>
            <a:ext cx="243017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分辨率变细,技能反而升(0.50→0.23)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78641" y="491990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受限的是气候外推,不是行政尺度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78641" y="5148501"/>
            <a:ext cx="24597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三族模型的县级面一致:ρ 0.62–0.90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95906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③ 外推的边界,由数据支撑域决定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80269" y="283845"/>
            <a:ext cx="1742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7 · SI Figs S6–S11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13 / 16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5753"/>
            <a:ext cx="6667500" cy="460841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支撑域随情景迅速收缩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098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SSP2-4.5 落在拟合范围内的组合: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261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2030 年 47.8% → 2050 年 10.4%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1185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2080 年 2.1%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掩膜内 HR 0.79–2.94;不掩膜可达 78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6098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6098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93206"/>
            <a:ext cx="3358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换个模型族并不能救(RF 与 XGBoost 同病)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72051"/>
            <a:ext cx="24878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范围内一致(ρ 0.54);范围外完全分歧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300651"/>
            <a:ext cx="28693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留一省·县:机制 0.28 &lt; RF 0.31 &lt; XGB 0.35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29251"/>
            <a:ext cx="22453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随机森林在 2.9 SD 即饱和于 6.7%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5785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树模型的饱和是算法产物,不可审查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267200"/>
            <a:ext cx="4000500" cy="1028700"/>
          </a:xfrm>
          <a:prstGeom prst="roundRect">
            <a:avLst>
              <a:gd name="adj" fmla="val 5556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186886" y="45077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把模型推到未来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89935" y="478655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必须同时给出它失效的边界: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03612" y="5015151"/>
            <a:ext cx="22142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2030 年可用,末世纪只作情景演示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11146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四条必须与结论一起带走的边界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4191" y="283845"/>
            <a:ext cx="1458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Discussion · SI Notes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14 / 16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85386" y="1208008"/>
            <a:ext cx="2239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事件是发表的记录,不是探测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291" y="1529001"/>
            <a:ext cx="6224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所有系数描述“有记载记录”的生成;个案归因需重复调查数据支持的占用模型 —— 下一步工作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14400" y="22098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914400" y="22098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85386" y="2427208"/>
            <a:ext cx="1854424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坐标精度上限约 1.1 km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7291" y="2748201"/>
            <a:ext cx="65588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657 条坐标均为 2 位小数;保护地落区判定附 0–5 km 缓冲敏感性;溯源审计进行中,该节结论标注暂定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34290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34290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85386" y="3646408"/>
            <a:ext cx="20091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保护地矢量约为名录三成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7291" y="3967401"/>
            <a:ext cx="53078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仅 1,028 处已制图、偏国家级、止于 2012;故不做“保护空缺”识别,不提 30×30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4400" y="46482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14400" y="46482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85386" y="4865608"/>
            <a:ext cx="272907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方向与保护区两节采用非对称推断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7291" y="5186601"/>
            <a:ext cx="55266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格内观测偏倚不可扣除:零结果是强证据,正结果是弱证据 —— 规则在看结果之前写死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2018" y="5990749"/>
            <a:ext cx="4063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以上均写入稿件正文或 SI,不是评审补丁 —— 限制先于结果声明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149899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带走四句话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63478" y="283845"/>
            <a:ext cx="758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Conclusions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15 / 16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5250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35856"/>
            <a:ext cx="1477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① 定年是建模决策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518" y="1418749"/>
            <a:ext cx="4728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发表年定年虚增努力 37%,制造伪效应;发现年 + 完整度 offset 是正确时钟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77000" y="9525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53212" y="1135856"/>
            <a:ext cx="2174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② 两过程贡献相当且可分离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5118" y="1418749"/>
            <a:ext cx="40361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变暖 1.362 · 努力 1.404;零基线 1.157 下增量 ×1.18;交互为负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23812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90612" y="2564606"/>
            <a:ext cx="20001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③ 观测过程必须显式建模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2518" y="2847499"/>
            <a:ext cx="39877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省×年 ×2.23 为最大成分;努力饱和(2.18→1.07)而气候不饱和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477000" y="2381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53212" y="2564606"/>
            <a:ext cx="18259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④ 应用要守住证据边界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5118" y="2847499"/>
            <a:ext cx="3094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记录数≠保护成效;县级预测可用;外推止于支撑域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14400" y="3962400"/>
            <a:ext cx="108966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34554" y="4167664"/>
            <a:ext cx="24562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回到最初的问题:不是二选一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16898" y="4492704"/>
            <a:ext cx="5891603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两类过程量级相当且可分离 —— 但只有把观测过程显式建模,气候信号才是可解释的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0589" y="5216604"/>
            <a:ext cx="532700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1541" y="5491401"/>
            <a:ext cx="55562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扩展到两栖爬行类 · 跨类群检验方向机制 · 以重复调查数据做个案归因(占用模型)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1541" y="5758101"/>
            <a:ext cx="471485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监测布点建议:优先级 = 气候暴露 × (1 − 现有观测覆盖),已可定位到县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24064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可重复性是结论的一部分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1613" y="283845"/>
            <a:ext cx="15108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Data &amp; Code availability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 / 16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53340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739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数据与代码全部公开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4528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github.com/dingchenchen6/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38551"/>
            <a:ext cx="24272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bird-newrecord-discovery-dated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2024301"/>
            <a:ext cx="22290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流水线脚本 130–204,按序可复现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310051"/>
            <a:ext cx="22823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70+ 张结果表,与文中数字一一对应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5958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冒烟测试可复现主模型四个系数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2881551"/>
            <a:ext cx="22024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含三家期刊投稿包(GCB/NEE/NC)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53200" y="990600"/>
            <a:ext cx="52578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553200" y="990600"/>
            <a:ext cx="52578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29412" y="1173956"/>
            <a:ext cx="7252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452801"/>
            <a:ext cx="26815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事件:CBNR 中国鸟类新纪录汇编(发布版)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1738551"/>
            <a:ext cx="21314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分布区:BirdLife International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30841" y="202430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气候:CRU TS 4.09 · WorldClim 2.1 · CMIP6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30841" y="2310051"/>
            <a:ext cx="21270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观测:286 万条 GBIF/eBird 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30841" y="25958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保护地:全国自然保护区矢量(1,028 处)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30841" y="288155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底图审图号:GS(2019)1822 · GS(2023)2767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14400" y="3771900"/>
            <a:ext cx="10896600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28712" y="39933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0141" y="4291251"/>
            <a:ext cx="40597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感谢全国观鸟者与各记录贡献者;感谢汇编与数据库维护团队。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141" y="4557951"/>
            <a:ext cx="25336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基金:国家自然科学基金青年项目(C类)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75346" y="5444490"/>
            <a:ext cx="21747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谢谢 · 欢迎讨论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03947" y="5830252"/>
            <a:ext cx="19175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dingchenchen@pku.edu.cn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