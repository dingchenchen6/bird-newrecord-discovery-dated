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182880" y="182880"/>
            <a:ext cx="10058400" cy="6949440"/>
            <a:chOff x="182880" y="182880"/>
            <a:chExt cx="10058400" cy="6949440"/>
          </a:xfrm>
        </p:grpSpPr>
        <p:sp>
          <p:nvSpPr>
            <p:cNvPr id="3" name="rc3"/>
            <p:cNvSpPr/>
            <p:nvPr/>
          </p:nvSpPr>
          <p:spPr>
            <a:xfrm>
              <a:off x="182880" y="182880"/>
              <a:ext cx="10058400" cy="694943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82880" y="182880"/>
              <a:ext cx="10058400" cy="694943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52469" y="3469704"/>
              <a:ext cx="9919221" cy="359302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1086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252469" y="252469"/>
              <a:ext cx="4619777" cy="321723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1086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4872246" y="252469"/>
              <a:ext cx="5299444" cy="321723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1086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rc8"/>
            <p:cNvSpPr/>
            <p:nvPr/>
          </p:nvSpPr>
          <p:spPr>
            <a:xfrm>
              <a:off x="852287" y="994304"/>
              <a:ext cx="3918738" cy="212948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852287" y="3048971"/>
              <a:ext cx="3918738" cy="0"/>
            </a:xfrm>
            <a:custGeom>
              <a:avLst/>
              <a:pathLst>
                <a:path w="3918738" h="0">
                  <a:moveTo>
                    <a:pt x="0" y="0"/>
                  </a:moveTo>
                  <a:lnTo>
                    <a:pt x="3918738" y="0"/>
                  </a:lnTo>
                  <a:lnTo>
                    <a:pt x="391873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52287" y="2399733"/>
              <a:ext cx="3918738" cy="0"/>
            </a:xfrm>
            <a:custGeom>
              <a:avLst/>
              <a:pathLst>
                <a:path w="3918738" h="0">
                  <a:moveTo>
                    <a:pt x="0" y="0"/>
                  </a:moveTo>
                  <a:lnTo>
                    <a:pt x="3918738" y="0"/>
                  </a:lnTo>
                  <a:lnTo>
                    <a:pt x="391873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52287" y="1688232"/>
              <a:ext cx="3918738" cy="0"/>
            </a:xfrm>
            <a:custGeom>
              <a:avLst/>
              <a:pathLst>
                <a:path w="3918738" h="0">
                  <a:moveTo>
                    <a:pt x="0" y="0"/>
                  </a:moveTo>
                  <a:lnTo>
                    <a:pt x="3918738" y="0"/>
                  </a:lnTo>
                  <a:lnTo>
                    <a:pt x="391873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2287" y="1038995"/>
              <a:ext cx="3918738" cy="0"/>
            </a:xfrm>
            <a:custGeom>
              <a:avLst/>
              <a:pathLst>
                <a:path w="3918738" h="0">
                  <a:moveTo>
                    <a:pt x="0" y="0"/>
                  </a:moveTo>
                  <a:lnTo>
                    <a:pt x="3918738" y="0"/>
                  </a:lnTo>
                  <a:lnTo>
                    <a:pt x="391873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3"/>
            <p:cNvSpPr/>
            <p:nvPr/>
          </p:nvSpPr>
          <p:spPr>
            <a:xfrm>
              <a:off x="2603965" y="275809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4"/>
            <p:cNvSpPr/>
            <p:nvPr/>
          </p:nvSpPr>
          <p:spPr>
            <a:xfrm>
              <a:off x="2572224" y="270225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5"/>
            <p:cNvSpPr/>
            <p:nvPr/>
          </p:nvSpPr>
          <p:spPr>
            <a:xfrm>
              <a:off x="2625752" y="268464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6"/>
            <p:cNvSpPr/>
            <p:nvPr/>
          </p:nvSpPr>
          <p:spPr>
            <a:xfrm>
              <a:off x="2856225" y="237344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7"/>
            <p:cNvSpPr/>
            <p:nvPr/>
          </p:nvSpPr>
          <p:spPr>
            <a:xfrm>
              <a:off x="2840803" y="220287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3077915" y="247864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3134184" y="229345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3119373" y="254169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241488" y="203494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3249239" y="233601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376587" y="201522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382502" y="206753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189045" y="234622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225874" y="209541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3286182" y="206640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439380" y="175619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499675" y="217087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465412" y="192788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0841" y="214513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552407" y="188972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51553" y="215258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812852" y="248156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1993993" y="271364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1692226" y="273627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1529749" y="283433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1413993" y="283284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809836" y="278449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1824311" y="253915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1963738" y="274340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1662725" y="276730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1996003" y="261219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1778225" y="274608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1453682" y="267843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1763123" y="278487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1840505" y="262346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099002" y="240467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135727" y="248036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401332" y="240976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331007" y="231594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407471" y="226013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355357" y="262939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601426" y="239307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860877" y="233404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037737" y="244049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367791" y="243952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1214086" y="266586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1709688" y="258094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1622125" y="255998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1345532" y="260754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015889" y="269283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1756254" y="254027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1561428" y="256769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1083650" y="285565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1453698" y="273797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1271281" y="279767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1605615" y="259624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1824186" y="243583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1852923" y="247541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1999812" y="214193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038593" y="217706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227180" y="237465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411338" y="230134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476246" y="242345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2442853" y="249044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2657012" y="232783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790257" y="243286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050947" y="248423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263318" y="263910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699492" y="260120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718686" y="266526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2554074" y="276673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2797797" y="255737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085579" y="258789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693697" y="246042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3138149" y="255021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084618" y="251042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431473" y="225394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393899" y="210092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458181" y="220367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3435424" y="206899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427430" y="215694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446617" y="199308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532675" y="204163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576700" y="204670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664745" y="210997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581828" y="191052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551183" y="174071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683106" y="190081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864631" y="219462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65841" y="263320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1760981" y="273803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1685309" y="276909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1368440" y="257914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1536298" y="275560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1569869" y="270218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1625213" y="263095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1485820" y="263247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1723378" y="250280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1695469" y="255937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1307424" y="273618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1537825" y="265332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1852334" y="228678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045414" y="211343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2053229" y="205318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260555" y="247331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349126" y="247371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613545" y="253191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2781958" y="242947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2766255" y="237200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2945499" y="272087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105486" y="241978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3344302" y="234191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647327" y="247228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2278524" y="266500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276000" y="266708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258411" y="232076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439923" y="228561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032321" y="268456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058770" y="292755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1996800" y="292082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1808249" y="275956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272611" y="265006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2187343" y="260709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2166334" y="267650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2303884" y="201124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716054" y="234785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702771" y="215447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543281" y="248095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39001" y="248836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927082" y="248186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3052564" y="255931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2973569" y="240562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331815" y="254683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351409" y="252356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670542" y="280505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942175" y="234975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2081505" y="272655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422680" y="236537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202377" y="266056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2047463" y="301247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589282" y="264032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1605297" y="286721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1912993" y="298276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1443315" y="290374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2312569" y="274855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1643917" y="300635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2427373" y="253875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580186" y="254083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559717" y="226058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530942" y="202464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049406" y="229652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092200" y="220995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23441" y="227683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091711" y="241184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03464" y="251578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519686" y="196943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3854791" y="229798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2042257" y="257044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339652" y="266233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2451570" y="252251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420204" y="247630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494012" y="262742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410364" y="257234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1844926" y="264246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2240500" y="268936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2283523" y="256074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1358899" y="284619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2195621" y="272701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2201144" y="240524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2149253" y="265164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2155039" y="288616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2344878" y="238861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2546990" y="210275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2668995" y="210259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2569217" y="265698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2623942" y="245132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088649" y="224207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265099" y="244950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3460398" y="244762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740799" y="258354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239989" y="235351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1853120" y="279974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076146" y="230164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275776" y="257613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2131885" y="232437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339693" y="248380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365295" y="193617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264026" y="245364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2461709" y="208297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2357379" y="189792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2231133" y="200561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2234409" y="198633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2244627" y="274437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2167421" y="198413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2268655" y="246037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2483267" y="228133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2587325" y="229642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2677062" y="198460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2566224" y="219776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686864" y="217577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2612849" y="194707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2903825" y="210887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025560" y="253170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3039932" y="237004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919662" y="258542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2875806" y="266386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2523605" y="219725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2516843" y="265514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605422" y="251203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2748006" y="221448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2230623" y="217905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2301452" y="279329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2456759" y="278747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2390176" y="286869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1757973" y="298133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2959476" y="240548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2768478" y="269272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2534953" y="263623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2551715" y="272249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2784178" y="253554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2183542" y="289430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2772912" y="240276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2797958" y="240156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177631" y="239904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3753148" y="245314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266270" y="282215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2249524" y="276882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2540006" y="266594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2516950" y="263672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2758771" y="251738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2987644" y="238270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216357" y="207144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181743" y="225280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284822" y="201348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363355" y="183761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383966" y="198791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3391062" y="205829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3467119" y="183078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412382" y="196578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471586" y="154612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497843" y="180169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602405" y="232268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598138" y="179850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574479" y="224593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604255" y="188970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604475" y="171667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3645785" y="216909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711965" y="258788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2416482" y="268191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071543" y="268330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2337069" y="268966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2634237" y="261180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2766208" y="260279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2837872" y="231514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2797711" y="256675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2905537" y="247922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010855" y="200480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2994330" y="201526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63836" y="212691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003487" y="206968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085155" y="230976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3133592" y="239658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3149264" y="187205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3189429" y="189168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157635" y="183891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160008" y="210932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59354" y="217969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3464137" y="254702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3578294" y="256397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760280" y="275041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3230515" y="258276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2978883" y="259782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3018185" y="253719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2823964" y="259758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2921896" y="269195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2918236" y="259036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116031" y="264321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407502" y="231872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566171" y="202275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204045" y="235575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3437008" y="218737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384556" y="237450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380776" y="243070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579280" y="209725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612976" y="235149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658623" y="216875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755708" y="244616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783332" y="208149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3710097" y="185586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29327" y="196464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242207" y="216969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340808" y="188186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4578379" y="235513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2533078" y="278757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326140" y="264406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2543999" y="271215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2556762" y="275996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2649175" y="269710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2828978" y="234479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2964941" y="247150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2952383" y="222850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104029" y="237043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186424" y="245986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202486" y="200331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216934" y="175331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307243" y="206250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3316800" y="223745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314981" y="221305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355794" y="207746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2131069" y="256377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2045247" y="258426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2237076" y="229990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2228368" y="268399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372072" y="269547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2449413" y="243180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2646647" y="257922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2736099" y="234931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2738183" y="234633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2593082" y="236755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843863" y="224408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893489" y="232756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3014508" y="210327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015708" y="216166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3075796" y="194740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3156464" y="183699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266724" y="223499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304677" y="211691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3236315" y="217364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371142" y="216604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66" y="221258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657943" y="277972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3786391" y="248580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616560" y="243687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764444" y="253787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756733" y="253570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2673342" y="257485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2458050" y="266649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810502" y="228776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616598" y="222202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2528671" y="235003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2337613" y="212204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2393738" y="258668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2040141" y="255680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1850594" y="265655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213715" y="273730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2182702" y="237782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2252460" y="263553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2389117" y="260944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2597246" y="248336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2554946" y="192734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1950405" y="254886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917997" y="199214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535618" y="223823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204516" y="195261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498757" y="217094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625168" y="253815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744111" y="256435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372370" y="285129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635700" y="259811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956926" y="223586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2897201" y="250907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2705642" y="229761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2754742" y="215985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2769908" y="190293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2742807" y="243845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2775805" y="281760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2987347" y="209804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2890817" y="240830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2863819" y="212473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2980692" y="244826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878202" y="206459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926838" y="229220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188346" y="219288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3345103" y="240543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285809" y="235204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3652526" y="254665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2356369" y="279865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2856049" y="262040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173262" y="234864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142891" y="245006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300254" y="228516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300626" y="240781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91776" y="202542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3194386" y="203131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3321672" y="216300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3414" y="190641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445334" y="189200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3395542" y="193091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3377872" y="188122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0895" y="241253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1679313" y="279041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791945" y="207541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555984" y="267698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2451992" y="259883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2854330" y="246758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2465627" y="247231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2501516" y="238395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2933916" y="231875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2810137" y="239071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156810" y="213938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3254310" y="187045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3250308" y="168817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3112687" y="202030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3314824" y="220507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409138" y="190219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3436220" y="221258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3324459" y="219181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3330415" y="248907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332878" y="220220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407308" y="246139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516049" y="192407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611694" y="258284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066097" y="248579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2852183" y="270376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160087" y="215598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071316" y="242379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473522" y="204195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627899" y="204473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616476" y="190656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656698" y="206013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3724615" y="189884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3804151" y="171867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3767849" y="189993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3843473" y="199582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3815338" y="177928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3722790" y="181210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697062" y="160750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793061" y="217973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3848596" y="200223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832391" y="192792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721965" y="164038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647625" y="238305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645221" y="207554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3851041" y="211795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990865" y="262820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2240262" y="282723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2177400" y="270364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2099195" y="278932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2492515" y="269296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2271780" y="262290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2421607" y="267557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2365155" y="271819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2422259" y="258780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2523478" y="240146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2326484" y="264637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2285293" y="260638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2400383" y="268412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2234518" y="276611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2696091" y="227164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2938414" y="223406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3027456" y="204220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2995009" y="210756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3046613" y="192604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3268378" y="196587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3320388" y="214822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3539705" y="192761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3767849" y="257912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378940" y="265154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348455" y="273232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2685795" y="254692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2883245" y="193299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2974882" y="244131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2813309" y="230718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2848505" y="217516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2816936" y="225357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2877878" y="236493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2860678" y="203623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2982050" y="145638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2986358" y="159683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1726759" y="269591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1900089" y="264806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2330975" y="256383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2379644" y="241938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2251636" y="232578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2354367" y="227223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2478676" y="252428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2528374" y="220764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2532675" y="207939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518332" y="223412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331427" y="264437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2486151" y="197873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2501981" y="213571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2732746" y="199731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2788070" y="204240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2784676" y="195790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2771960" y="237851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2714645" y="190692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2910403" y="184452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062522" y="200340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435962" y="230661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1813727" y="254561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2035628" y="243279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2030293" y="263086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2295100" y="228167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2296969" y="204115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1996555" y="260923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2023855" y="250807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2408685" y="230575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2364086" y="193652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2482310" y="213758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2636365" y="214158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2673202" y="206350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2729699" y="232076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2787866" y="215414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2832822" y="242721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2879032" y="233099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2918752" y="240592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2882026" y="224258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2997415" y="239436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3076341" y="274793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3275714" y="205234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3504741" y="261238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2693152" y="259442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2136297" y="280955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3057146" y="241616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2793264" y="263262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2862711" y="263745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3355313" y="214346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836145" y="250502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3211388" y="265715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3329735" y="252949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3334107" y="245651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539381" y="220950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92436" y="180288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624842" y="191380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634130" y="218155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685405" y="155559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1869767" y="263790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1845211" y="280160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028779" y="263448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136549" y="242305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2268150" y="252212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2473074" y="230442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2577328" y="196269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2756947" y="150184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908029" y="183209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2811792" y="207902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2923925" y="194992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2832599" y="225643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2828263" y="179588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2895114" y="192452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2916365" y="189731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2994181" y="207825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2958531" y="191436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2855404" y="229112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2950313" y="220241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2964386" y="190392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3053941" y="270305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3137355" y="265098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2587790" y="262627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2532488" y="227214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2252007" y="261209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2540004" y="255939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2614180" y="216816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2690782" y="227710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2756312" y="239151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2656873" y="238362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2730227" y="237128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2744745" y="251603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2973538" y="220663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043926" y="218530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110088" y="213635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3139112" y="202930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3187226" y="209247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3208469" y="221707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3255575" y="223790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3293550" y="200234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3205838" y="232869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144566" y="244876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134094" y="219963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53753" y="265011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2233291" y="266911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2216267" y="271351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2077018" y="277225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2320623" y="253292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2584268" y="241068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2652632" y="215577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2724776" y="247154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803714" y="179222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2789852" y="215117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2970416" y="223035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2915927" y="212647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2938305" y="212683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2974180" y="228912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983994" y="227448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3043649" y="234153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3066895" y="227576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096827" y="194113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212432" y="196249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279571" y="225560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345261" y="205028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3475815" y="178214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3562169" y="242455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687131" y="271767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762998" y="270551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2740633" y="234330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2373627" y="252324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595247" y="225878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2549744" y="220678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2664218" y="209587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2776384" y="220227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2738598" y="256225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2834747" y="216669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2875906" y="218511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2827677" y="216458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932135" y="228552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943518" y="211756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3034578" y="228884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3049660" y="214878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3118810" y="244500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3271364" y="218598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3416028" y="181326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442353" y="249726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506273" y="251312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3596393" y="184409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3672616" y="257090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3723144" y="279327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853259" y="277063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3128257" y="256404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3204945" y="233908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2998585" y="260535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083429" y="260947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49489" y="217229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196678" y="251261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286571" y="257017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3082555" y="235347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3124479" y="245575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3024796" y="217609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6598" y="215022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308299" y="172076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3431853" y="212155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3410805" y="245995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3411277" y="229349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3584165" y="215776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3538543" y="183044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3563035" y="181087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3611269" y="204069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512632" y="194246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769813" y="231446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004649" y="188214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3394713" y="213182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500186" y="221106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3492585" y="227538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576453" y="189999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663387" y="185168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3824525" y="171851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3992172" y="275549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3379692" y="198797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513512" y="176755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612979" y="185759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022252" y="179782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084195" y="208301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206828" y="202681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272978" y="221163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3363723" y="201814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3418250" y="265092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419357" y="273813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457987" y="240627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3484849" y="247766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634745" y="176780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3643500" y="234633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2242909" y="266460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2158427" y="281807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2121123" y="282792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2199561" y="256065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2116543" y="256051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1904227" y="247648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1896666" y="278040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2201038" y="261349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2190295" y="267399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2639316" y="224558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2633974" y="203709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2662061" y="223886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2779396" y="253855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29429" y="162642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3012263" y="228565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3015541" y="184836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3161280" y="232456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3132317" y="191378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410812" y="252990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549898" y="250370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753340" y="181718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3846405" y="206515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3787674" y="107657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3794139" y="189269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857939" y="213184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709820" y="211569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930119" y="166468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999906" y="267428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l702"/>
            <p:cNvSpPr/>
            <p:nvPr/>
          </p:nvSpPr>
          <p:spPr>
            <a:xfrm>
              <a:off x="1030411" y="1882124"/>
              <a:ext cx="3562489" cy="968555"/>
            </a:xfrm>
            <a:custGeom>
              <a:avLst/>
              <a:pathLst>
                <a:path w="3562489" h="968555">
                  <a:moveTo>
                    <a:pt x="0" y="968555"/>
                  </a:moveTo>
                  <a:lnTo>
                    <a:pt x="45094" y="956295"/>
                  </a:lnTo>
                  <a:lnTo>
                    <a:pt x="90189" y="944035"/>
                  </a:lnTo>
                  <a:lnTo>
                    <a:pt x="135284" y="931774"/>
                  </a:lnTo>
                  <a:lnTo>
                    <a:pt x="180379" y="919514"/>
                  </a:lnTo>
                  <a:lnTo>
                    <a:pt x="225474" y="907254"/>
                  </a:lnTo>
                  <a:lnTo>
                    <a:pt x="270568" y="894994"/>
                  </a:lnTo>
                  <a:lnTo>
                    <a:pt x="315663" y="882734"/>
                  </a:lnTo>
                  <a:lnTo>
                    <a:pt x="360758" y="870473"/>
                  </a:lnTo>
                  <a:lnTo>
                    <a:pt x="405853" y="858213"/>
                  </a:lnTo>
                  <a:lnTo>
                    <a:pt x="450948" y="845953"/>
                  </a:lnTo>
                  <a:lnTo>
                    <a:pt x="496042" y="833693"/>
                  </a:lnTo>
                  <a:lnTo>
                    <a:pt x="541137" y="821433"/>
                  </a:lnTo>
                  <a:lnTo>
                    <a:pt x="586232" y="809172"/>
                  </a:lnTo>
                  <a:lnTo>
                    <a:pt x="631327" y="796912"/>
                  </a:lnTo>
                  <a:lnTo>
                    <a:pt x="676422" y="784652"/>
                  </a:lnTo>
                  <a:lnTo>
                    <a:pt x="721516" y="772392"/>
                  </a:lnTo>
                  <a:lnTo>
                    <a:pt x="766611" y="760132"/>
                  </a:lnTo>
                  <a:lnTo>
                    <a:pt x="811706" y="747871"/>
                  </a:lnTo>
                  <a:lnTo>
                    <a:pt x="856801" y="735611"/>
                  </a:lnTo>
                  <a:lnTo>
                    <a:pt x="901896" y="723351"/>
                  </a:lnTo>
                  <a:lnTo>
                    <a:pt x="946990" y="711091"/>
                  </a:lnTo>
                  <a:lnTo>
                    <a:pt x="992085" y="698831"/>
                  </a:lnTo>
                  <a:lnTo>
                    <a:pt x="1037180" y="686570"/>
                  </a:lnTo>
                  <a:lnTo>
                    <a:pt x="1082275" y="674310"/>
                  </a:lnTo>
                  <a:lnTo>
                    <a:pt x="1127370" y="662050"/>
                  </a:lnTo>
                  <a:lnTo>
                    <a:pt x="1172464" y="649790"/>
                  </a:lnTo>
                  <a:lnTo>
                    <a:pt x="1217559" y="637530"/>
                  </a:lnTo>
                  <a:lnTo>
                    <a:pt x="1262654" y="625269"/>
                  </a:lnTo>
                  <a:lnTo>
                    <a:pt x="1307749" y="613009"/>
                  </a:lnTo>
                  <a:lnTo>
                    <a:pt x="1352844" y="600749"/>
                  </a:lnTo>
                  <a:lnTo>
                    <a:pt x="1397939" y="588489"/>
                  </a:lnTo>
                  <a:lnTo>
                    <a:pt x="1443033" y="576229"/>
                  </a:lnTo>
                  <a:lnTo>
                    <a:pt x="1488128" y="563968"/>
                  </a:lnTo>
                  <a:lnTo>
                    <a:pt x="1533223" y="551708"/>
                  </a:lnTo>
                  <a:lnTo>
                    <a:pt x="1578318" y="539448"/>
                  </a:lnTo>
                  <a:lnTo>
                    <a:pt x="1623413" y="527188"/>
                  </a:lnTo>
                  <a:lnTo>
                    <a:pt x="1668507" y="514928"/>
                  </a:lnTo>
                  <a:lnTo>
                    <a:pt x="1713602" y="502668"/>
                  </a:lnTo>
                  <a:lnTo>
                    <a:pt x="1758697" y="490407"/>
                  </a:lnTo>
                  <a:lnTo>
                    <a:pt x="1803792" y="478147"/>
                  </a:lnTo>
                  <a:lnTo>
                    <a:pt x="1848887" y="465887"/>
                  </a:lnTo>
                  <a:lnTo>
                    <a:pt x="1893981" y="453627"/>
                  </a:lnTo>
                  <a:lnTo>
                    <a:pt x="1939076" y="441367"/>
                  </a:lnTo>
                  <a:lnTo>
                    <a:pt x="1984171" y="429106"/>
                  </a:lnTo>
                  <a:lnTo>
                    <a:pt x="2029266" y="416846"/>
                  </a:lnTo>
                  <a:lnTo>
                    <a:pt x="2074361" y="404586"/>
                  </a:lnTo>
                  <a:lnTo>
                    <a:pt x="2119455" y="392326"/>
                  </a:lnTo>
                  <a:lnTo>
                    <a:pt x="2164550" y="380066"/>
                  </a:lnTo>
                  <a:lnTo>
                    <a:pt x="2209645" y="367805"/>
                  </a:lnTo>
                  <a:lnTo>
                    <a:pt x="2254740" y="355545"/>
                  </a:lnTo>
                  <a:lnTo>
                    <a:pt x="2299835" y="343285"/>
                  </a:lnTo>
                  <a:lnTo>
                    <a:pt x="2344929" y="331025"/>
                  </a:lnTo>
                  <a:lnTo>
                    <a:pt x="2390024" y="318765"/>
                  </a:lnTo>
                  <a:lnTo>
                    <a:pt x="2435119" y="306504"/>
                  </a:lnTo>
                  <a:lnTo>
                    <a:pt x="2480214" y="294244"/>
                  </a:lnTo>
                  <a:lnTo>
                    <a:pt x="2525309" y="281984"/>
                  </a:lnTo>
                  <a:lnTo>
                    <a:pt x="2570404" y="269724"/>
                  </a:lnTo>
                  <a:lnTo>
                    <a:pt x="2615498" y="257464"/>
                  </a:lnTo>
                  <a:lnTo>
                    <a:pt x="2660593" y="245203"/>
                  </a:lnTo>
                  <a:lnTo>
                    <a:pt x="2705688" y="232943"/>
                  </a:lnTo>
                  <a:lnTo>
                    <a:pt x="2750783" y="220683"/>
                  </a:lnTo>
                  <a:lnTo>
                    <a:pt x="2795878" y="208423"/>
                  </a:lnTo>
                  <a:lnTo>
                    <a:pt x="2840972" y="196163"/>
                  </a:lnTo>
                  <a:lnTo>
                    <a:pt x="2886067" y="183902"/>
                  </a:lnTo>
                  <a:lnTo>
                    <a:pt x="2931162" y="171642"/>
                  </a:lnTo>
                  <a:lnTo>
                    <a:pt x="2976257" y="159382"/>
                  </a:lnTo>
                  <a:lnTo>
                    <a:pt x="3021352" y="147122"/>
                  </a:lnTo>
                  <a:lnTo>
                    <a:pt x="3066446" y="134862"/>
                  </a:lnTo>
                  <a:lnTo>
                    <a:pt x="3111541" y="122601"/>
                  </a:lnTo>
                  <a:lnTo>
                    <a:pt x="3156636" y="110341"/>
                  </a:lnTo>
                  <a:lnTo>
                    <a:pt x="3201731" y="98081"/>
                  </a:lnTo>
                  <a:lnTo>
                    <a:pt x="3246826" y="85821"/>
                  </a:lnTo>
                  <a:lnTo>
                    <a:pt x="3291920" y="73561"/>
                  </a:lnTo>
                  <a:lnTo>
                    <a:pt x="3337015" y="61300"/>
                  </a:lnTo>
                  <a:lnTo>
                    <a:pt x="3382110" y="49040"/>
                  </a:lnTo>
                  <a:lnTo>
                    <a:pt x="3427205" y="36780"/>
                  </a:lnTo>
                  <a:lnTo>
                    <a:pt x="3472300" y="24520"/>
                  </a:lnTo>
                  <a:lnTo>
                    <a:pt x="3517394" y="12260"/>
                  </a:lnTo>
                  <a:lnTo>
                    <a:pt x="3562489" y="0"/>
                  </a:lnTo>
                </a:path>
              </a:pathLst>
            </a:custGeom>
            <a:ln w="1355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l703"/>
            <p:cNvSpPr/>
            <p:nvPr/>
          </p:nvSpPr>
          <p:spPr>
            <a:xfrm>
              <a:off x="852287" y="994304"/>
              <a:ext cx="0" cy="2129486"/>
            </a:xfrm>
            <a:custGeom>
              <a:avLst/>
              <a:pathLst>
                <a:path w="0" h="2129486">
                  <a:moveTo>
                    <a:pt x="0" y="2129486"/>
                  </a:moveTo>
                  <a:lnTo>
                    <a:pt x="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tx704"/>
            <p:cNvSpPr/>
            <p:nvPr/>
          </p:nvSpPr>
          <p:spPr>
            <a:xfrm>
              <a:off x="572718" y="3016281"/>
              <a:ext cx="228325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0.001</a:t>
              </a:r>
            </a:p>
          </p:txBody>
        </p:sp>
        <p:sp>
          <p:nvSpPr>
            <p:cNvPr id="705" name="tx705"/>
            <p:cNvSpPr/>
            <p:nvPr/>
          </p:nvSpPr>
          <p:spPr>
            <a:xfrm>
              <a:off x="572718" y="2367044"/>
              <a:ext cx="228325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0.003</a:t>
              </a:r>
            </a:p>
          </p:txBody>
        </p:sp>
        <p:sp>
          <p:nvSpPr>
            <p:cNvPr id="706" name="tx706"/>
            <p:cNvSpPr/>
            <p:nvPr/>
          </p:nvSpPr>
          <p:spPr>
            <a:xfrm>
              <a:off x="572718" y="1655542"/>
              <a:ext cx="228325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0.010</a:t>
              </a:r>
            </a:p>
          </p:txBody>
        </p:sp>
        <p:sp>
          <p:nvSpPr>
            <p:cNvPr id="707" name="tx707"/>
            <p:cNvSpPr/>
            <p:nvPr/>
          </p:nvSpPr>
          <p:spPr>
            <a:xfrm>
              <a:off x="572718" y="1006305"/>
              <a:ext cx="228325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0.030</a:t>
              </a:r>
            </a:p>
          </p:txBody>
        </p:sp>
        <p:sp>
          <p:nvSpPr>
            <p:cNvPr id="708" name="pl708"/>
            <p:cNvSpPr/>
            <p:nvPr/>
          </p:nvSpPr>
          <p:spPr>
            <a:xfrm>
              <a:off x="823818" y="304897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l709"/>
            <p:cNvSpPr/>
            <p:nvPr/>
          </p:nvSpPr>
          <p:spPr>
            <a:xfrm>
              <a:off x="823818" y="239973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l710"/>
            <p:cNvSpPr/>
            <p:nvPr/>
          </p:nvSpPr>
          <p:spPr>
            <a:xfrm>
              <a:off x="823818" y="168823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l711"/>
            <p:cNvSpPr/>
            <p:nvPr/>
          </p:nvSpPr>
          <p:spPr>
            <a:xfrm>
              <a:off x="823818" y="103899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l712"/>
            <p:cNvSpPr/>
            <p:nvPr/>
          </p:nvSpPr>
          <p:spPr>
            <a:xfrm>
              <a:off x="852287" y="3123791"/>
              <a:ext cx="3918738" cy="0"/>
            </a:xfrm>
            <a:custGeom>
              <a:avLst/>
              <a:pathLst>
                <a:path w="3918738" h="0">
                  <a:moveTo>
                    <a:pt x="0" y="0"/>
                  </a:moveTo>
                  <a:lnTo>
                    <a:pt x="3918738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l713"/>
            <p:cNvSpPr/>
            <p:nvPr/>
          </p:nvSpPr>
          <p:spPr>
            <a:xfrm>
              <a:off x="1491544" y="312379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l714"/>
            <p:cNvSpPr/>
            <p:nvPr/>
          </p:nvSpPr>
          <p:spPr>
            <a:xfrm>
              <a:off x="2943036" y="312379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l715"/>
            <p:cNvSpPr/>
            <p:nvPr/>
          </p:nvSpPr>
          <p:spPr>
            <a:xfrm>
              <a:off x="4533730" y="312379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tx716"/>
            <p:cNvSpPr/>
            <p:nvPr/>
          </p:nvSpPr>
          <p:spPr>
            <a:xfrm>
              <a:off x="1377381" y="3175033"/>
              <a:ext cx="228325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0.001</a:t>
              </a:r>
            </a:p>
          </p:txBody>
        </p:sp>
        <p:sp>
          <p:nvSpPr>
            <p:cNvPr id="717" name="tx717"/>
            <p:cNvSpPr/>
            <p:nvPr/>
          </p:nvSpPr>
          <p:spPr>
            <a:xfrm>
              <a:off x="2828873" y="3175033"/>
              <a:ext cx="228325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0.003</a:t>
              </a:r>
            </a:p>
          </p:txBody>
        </p:sp>
        <p:sp>
          <p:nvSpPr>
            <p:cNvPr id="718" name="tx718"/>
            <p:cNvSpPr/>
            <p:nvPr/>
          </p:nvSpPr>
          <p:spPr>
            <a:xfrm>
              <a:off x="4419567" y="3175033"/>
              <a:ext cx="228325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0.010</a:t>
              </a:r>
            </a:p>
          </p:txBody>
        </p:sp>
        <p:sp>
          <p:nvSpPr>
            <p:cNvPr id="719" name="tx719"/>
            <p:cNvSpPr/>
            <p:nvPr/>
          </p:nvSpPr>
          <p:spPr>
            <a:xfrm>
              <a:off x="2319389" y="3287992"/>
              <a:ext cx="984534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Mechanistic hazard</a:t>
              </a:r>
            </a:p>
          </p:txBody>
        </p:sp>
        <p:sp>
          <p:nvSpPr>
            <p:cNvPr id="720" name="tx720"/>
            <p:cNvSpPr/>
            <p:nvPr/>
          </p:nvSpPr>
          <p:spPr>
            <a:xfrm rot="-5400000">
              <a:off x="-149504" y="2018128"/>
              <a:ext cx="1257757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Machine-learning hazard</a:t>
              </a:r>
            </a:p>
          </p:txBody>
        </p:sp>
        <p:sp>
          <p:nvSpPr>
            <p:cNvPr id="721" name="tx721"/>
            <p:cNvSpPr/>
            <p:nvPr/>
          </p:nvSpPr>
          <p:spPr>
            <a:xfrm>
              <a:off x="852287" y="644187"/>
              <a:ext cx="3669578" cy="74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Province-year mean predicted hazard, 2002-2024; moderate but clearly positive</a:t>
              </a:r>
            </a:p>
          </p:txBody>
        </p:sp>
        <p:sp>
          <p:nvSpPr>
            <p:cNvPr id="722" name="tx722"/>
            <p:cNvSpPr/>
            <p:nvPr/>
          </p:nvSpPr>
          <p:spPr>
            <a:xfrm>
              <a:off x="852287" y="469567"/>
              <a:ext cx="2907426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Within the observed range they track each other</a:t>
              </a:r>
            </a:p>
          </p:txBody>
        </p:sp>
        <p:sp>
          <p:nvSpPr>
            <p:cNvPr id="723" name="tx723"/>
            <p:cNvSpPr/>
            <p:nvPr/>
          </p:nvSpPr>
          <p:spPr>
            <a:xfrm>
              <a:off x="353689" y="344386"/>
              <a:ext cx="84764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724" name="rc724"/>
            <p:cNvSpPr/>
            <p:nvPr/>
          </p:nvSpPr>
          <p:spPr>
            <a:xfrm>
              <a:off x="5954837" y="994304"/>
              <a:ext cx="1930901" cy="212948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" name="pl725"/>
            <p:cNvSpPr/>
            <p:nvPr/>
          </p:nvSpPr>
          <p:spPr>
            <a:xfrm>
              <a:off x="6731112" y="1171761"/>
              <a:ext cx="409983" cy="0"/>
            </a:xfrm>
            <a:custGeom>
              <a:avLst/>
              <a:pathLst>
                <a:path w="409983" h="0">
                  <a:moveTo>
                    <a:pt x="0" y="0"/>
                  </a:moveTo>
                  <a:lnTo>
                    <a:pt x="409983" y="0"/>
                  </a:lnTo>
                </a:path>
              </a:pathLst>
            </a:custGeom>
            <a:ln w="59622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l726"/>
            <p:cNvSpPr/>
            <p:nvPr/>
          </p:nvSpPr>
          <p:spPr>
            <a:xfrm>
              <a:off x="6451975" y="1467523"/>
              <a:ext cx="942356" cy="0"/>
            </a:xfrm>
            <a:custGeom>
              <a:avLst/>
              <a:pathLst>
                <a:path w="942356" h="0">
                  <a:moveTo>
                    <a:pt x="0" y="0"/>
                  </a:moveTo>
                  <a:lnTo>
                    <a:pt x="942356" y="0"/>
                  </a:lnTo>
                </a:path>
              </a:pathLst>
            </a:custGeom>
            <a:ln w="59622" cap="flat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l727"/>
            <p:cNvSpPr/>
            <p:nvPr/>
          </p:nvSpPr>
          <p:spPr>
            <a:xfrm>
              <a:off x="6315876" y="1763285"/>
              <a:ext cx="1218524" cy="0"/>
            </a:xfrm>
            <a:custGeom>
              <a:avLst/>
              <a:pathLst>
                <a:path w="1218524" h="0">
                  <a:moveTo>
                    <a:pt x="0" y="0"/>
                  </a:moveTo>
                  <a:lnTo>
                    <a:pt x="1218524" y="0"/>
                  </a:lnTo>
                </a:path>
              </a:pathLst>
            </a:custGeom>
            <a:ln w="59622" cap="flat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l728"/>
            <p:cNvSpPr/>
            <p:nvPr/>
          </p:nvSpPr>
          <p:spPr>
            <a:xfrm>
              <a:off x="6221338" y="2059047"/>
              <a:ext cx="1393538" cy="0"/>
            </a:xfrm>
            <a:custGeom>
              <a:avLst/>
              <a:pathLst>
                <a:path w="1393538" h="0">
                  <a:moveTo>
                    <a:pt x="0" y="0"/>
                  </a:moveTo>
                  <a:lnTo>
                    <a:pt x="1393538" y="0"/>
                  </a:lnTo>
                </a:path>
              </a:pathLst>
            </a:custGeom>
            <a:ln w="59622" cap="flat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l729"/>
            <p:cNvSpPr/>
            <p:nvPr/>
          </p:nvSpPr>
          <p:spPr>
            <a:xfrm>
              <a:off x="6416127" y="2354809"/>
              <a:ext cx="1055671" cy="0"/>
            </a:xfrm>
            <a:custGeom>
              <a:avLst/>
              <a:pathLst>
                <a:path w="1055671" h="0">
                  <a:moveTo>
                    <a:pt x="0" y="0"/>
                  </a:moveTo>
                  <a:lnTo>
                    <a:pt x="1055671" y="0"/>
                  </a:lnTo>
                </a:path>
              </a:pathLst>
            </a:custGeom>
            <a:ln w="59622" cap="flat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l730"/>
            <p:cNvSpPr/>
            <p:nvPr/>
          </p:nvSpPr>
          <p:spPr>
            <a:xfrm>
              <a:off x="6236445" y="2650571"/>
              <a:ext cx="1379287" cy="0"/>
            </a:xfrm>
            <a:custGeom>
              <a:avLst/>
              <a:pathLst>
                <a:path w="1379287" h="0">
                  <a:moveTo>
                    <a:pt x="0" y="0"/>
                  </a:moveTo>
                  <a:lnTo>
                    <a:pt x="1379287" y="0"/>
                  </a:lnTo>
                </a:path>
              </a:pathLst>
            </a:custGeom>
            <a:ln w="59622" cap="flat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l731"/>
            <p:cNvSpPr/>
            <p:nvPr/>
          </p:nvSpPr>
          <p:spPr>
            <a:xfrm>
              <a:off x="6042605" y="2946333"/>
              <a:ext cx="1755364" cy="0"/>
            </a:xfrm>
            <a:custGeom>
              <a:avLst/>
              <a:pathLst>
                <a:path w="1755364" h="0">
                  <a:moveTo>
                    <a:pt x="0" y="0"/>
                  </a:moveTo>
                  <a:lnTo>
                    <a:pt x="1755364" y="0"/>
                  </a:lnTo>
                </a:path>
              </a:pathLst>
            </a:custGeom>
            <a:ln w="59622" cap="flat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rc732"/>
            <p:cNvSpPr/>
            <p:nvPr/>
          </p:nvSpPr>
          <p:spPr>
            <a:xfrm>
              <a:off x="7942674" y="994304"/>
              <a:ext cx="1930901" cy="212948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" name="pl733"/>
            <p:cNvSpPr/>
            <p:nvPr/>
          </p:nvSpPr>
          <p:spPr>
            <a:xfrm>
              <a:off x="8030443" y="1171761"/>
              <a:ext cx="895155" cy="0"/>
            </a:xfrm>
            <a:custGeom>
              <a:avLst/>
              <a:pathLst>
                <a:path w="895155" h="0">
                  <a:moveTo>
                    <a:pt x="0" y="0"/>
                  </a:moveTo>
                  <a:lnTo>
                    <a:pt x="895155" y="0"/>
                  </a:lnTo>
                </a:path>
              </a:pathLst>
            </a:custGeom>
            <a:ln w="59622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l734"/>
            <p:cNvSpPr/>
            <p:nvPr/>
          </p:nvSpPr>
          <p:spPr>
            <a:xfrm>
              <a:off x="8188471" y="1467523"/>
              <a:ext cx="906110" cy="0"/>
            </a:xfrm>
            <a:custGeom>
              <a:avLst/>
              <a:pathLst>
                <a:path w="906110" h="0">
                  <a:moveTo>
                    <a:pt x="0" y="0"/>
                  </a:moveTo>
                  <a:lnTo>
                    <a:pt x="906110" y="0"/>
                  </a:lnTo>
                </a:path>
              </a:pathLst>
            </a:custGeom>
            <a:ln w="59622" cap="flat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l735"/>
            <p:cNvSpPr/>
            <p:nvPr/>
          </p:nvSpPr>
          <p:spPr>
            <a:xfrm>
              <a:off x="8318891" y="1763285"/>
              <a:ext cx="906110" cy="0"/>
            </a:xfrm>
            <a:custGeom>
              <a:avLst/>
              <a:pathLst>
                <a:path w="906110" h="0">
                  <a:moveTo>
                    <a:pt x="0" y="0"/>
                  </a:moveTo>
                  <a:lnTo>
                    <a:pt x="906110" y="0"/>
                  </a:lnTo>
                </a:path>
              </a:pathLst>
            </a:custGeom>
            <a:ln w="59622" cap="flat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l736"/>
            <p:cNvSpPr/>
            <p:nvPr/>
          </p:nvSpPr>
          <p:spPr>
            <a:xfrm>
              <a:off x="8514521" y="2059047"/>
              <a:ext cx="906110" cy="0"/>
            </a:xfrm>
            <a:custGeom>
              <a:avLst/>
              <a:pathLst>
                <a:path w="906110" h="0">
                  <a:moveTo>
                    <a:pt x="0" y="0"/>
                  </a:moveTo>
                  <a:lnTo>
                    <a:pt x="906110" y="0"/>
                  </a:lnTo>
                </a:path>
              </a:pathLst>
            </a:custGeom>
            <a:ln w="59622" cap="flat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l737"/>
            <p:cNvSpPr/>
            <p:nvPr/>
          </p:nvSpPr>
          <p:spPr>
            <a:xfrm>
              <a:off x="8227597" y="2354809"/>
              <a:ext cx="906110" cy="0"/>
            </a:xfrm>
            <a:custGeom>
              <a:avLst/>
              <a:pathLst>
                <a:path w="906110" h="0">
                  <a:moveTo>
                    <a:pt x="0" y="0"/>
                  </a:moveTo>
                  <a:lnTo>
                    <a:pt x="906110" y="0"/>
                  </a:lnTo>
                </a:path>
              </a:pathLst>
            </a:custGeom>
            <a:ln w="59622" cap="flat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l738"/>
            <p:cNvSpPr/>
            <p:nvPr/>
          </p:nvSpPr>
          <p:spPr>
            <a:xfrm>
              <a:off x="8488437" y="2650571"/>
              <a:ext cx="906110" cy="0"/>
            </a:xfrm>
            <a:custGeom>
              <a:avLst/>
              <a:pathLst>
                <a:path w="906110" h="0">
                  <a:moveTo>
                    <a:pt x="0" y="0"/>
                  </a:moveTo>
                  <a:lnTo>
                    <a:pt x="906110" y="0"/>
                  </a:lnTo>
                </a:path>
              </a:pathLst>
            </a:custGeom>
            <a:ln w="59622" cap="flat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l739"/>
            <p:cNvSpPr/>
            <p:nvPr/>
          </p:nvSpPr>
          <p:spPr>
            <a:xfrm>
              <a:off x="8879697" y="2946333"/>
              <a:ext cx="906110" cy="0"/>
            </a:xfrm>
            <a:custGeom>
              <a:avLst/>
              <a:pathLst>
                <a:path w="906110" h="0">
                  <a:moveTo>
                    <a:pt x="0" y="0"/>
                  </a:moveTo>
                  <a:lnTo>
                    <a:pt x="906110" y="0"/>
                  </a:lnTo>
                </a:path>
              </a:pathLst>
            </a:custGeom>
            <a:ln w="59622" cap="flat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tx740"/>
            <p:cNvSpPr/>
            <p:nvPr/>
          </p:nvSpPr>
          <p:spPr>
            <a:xfrm>
              <a:off x="6000386" y="854938"/>
              <a:ext cx="1219352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1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Accumulated warming</a:t>
              </a:r>
            </a:p>
          </p:txBody>
        </p:sp>
        <p:sp>
          <p:nvSpPr>
            <p:cNvPr id="741" name="tx741"/>
            <p:cNvSpPr/>
            <p:nvPr/>
          </p:nvSpPr>
          <p:spPr>
            <a:xfrm>
              <a:off x="7988224" y="854938"/>
              <a:ext cx="704910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1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Survey effort</a:t>
              </a:r>
            </a:p>
          </p:txBody>
        </p:sp>
        <p:sp>
          <p:nvSpPr>
            <p:cNvPr id="742" name="pl742"/>
            <p:cNvSpPr/>
            <p:nvPr/>
          </p:nvSpPr>
          <p:spPr>
            <a:xfrm>
              <a:off x="5954837" y="3123791"/>
              <a:ext cx="1930901" cy="0"/>
            </a:xfrm>
            <a:custGeom>
              <a:avLst/>
              <a:pathLst>
                <a:path w="1930901" h="0">
                  <a:moveTo>
                    <a:pt x="0" y="0"/>
                  </a:moveTo>
                  <a:lnTo>
                    <a:pt x="1930901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l743"/>
            <p:cNvSpPr/>
            <p:nvPr/>
          </p:nvSpPr>
          <p:spPr>
            <a:xfrm>
              <a:off x="6066190" y="312379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l744"/>
            <p:cNvSpPr/>
            <p:nvPr/>
          </p:nvSpPr>
          <p:spPr>
            <a:xfrm>
              <a:off x="6507300" y="312379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l745"/>
            <p:cNvSpPr/>
            <p:nvPr/>
          </p:nvSpPr>
          <p:spPr>
            <a:xfrm>
              <a:off x="6948410" y="312379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l746"/>
            <p:cNvSpPr/>
            <p:nvPr/>
          </p:nvSpPr>
          <p:spPr>
            <a:xfrm>
              <a:off x="7389520" y="312379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l747"/>
            <p:cNvSpPr/>
            <p:nvPr/>
          </p:nvSpPr>
          <p:spPr>
            <a:xfrm>
              <a:off x="7830630" y="312379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tx748"/>
            <p:cNvSpPr/>
            <p:nvPr/>
          </p:nvSpPr>
          <p:spPr>
            <a:xfrm>
              <a:off x="6000262" y="3175033"/>
              <a:ext cx="13185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-10</a:t>
              </a:r>
            </a:p>
          </p:txBody>
        </p:sp>
        <p:sp>
          <p:nvSpPr>
            <p:cNvPr id="749" name="tx749"/>
            <p:cNvSpPr/>
            <p:nvPr/>
          </p:nvSpPr>
          <p:spPr>
            <a:xfrm>
              <a:off x="6466746" y="3175033"/>
              <a:ext cx="8110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-5</a:t>
              </a:r>
            </a:p>
          </p:txBody>
        </p:sp>
        <p:sp>
          <p:nvSpPr>
            <p:cNvPr id="750" name="tx750"/>
            <p:cNvSpPr/>
            <p:nvPr/>
          </p:nvSpPr>
          <p:spPr>
            <a:xfrm>
              <a:off x="6923035" y="3175033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751" name="tx751"/>
            <p:cNvSpPr/>
            <p:nvPr/>
          </p:nvSpPr>
          <p:spPr>
            <a:xfrm>
              <a:off x="7364145" y="3175033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752" name="tx752"/>
            <p:cNvSpPr/>
            <p:nvPr/>
          </p:nvSpPr>
          <p:spPr>
            <a:xfrm>
              <a:off x="7779881" y="3175033"/>
              <a:ext cx="10149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753" name="pl753"/>
            <p:cNvSpPr/>
            <p:nvPr/>
          </p:nvSpPr>
          <p:spPr>
            <a:xfrm>
              <a:off x="7942674" y="3123791"/>
              <a:ext cx="1930901" cy="0"/>
            </a:xfrm>
            <a:custGeom>
              <a:avLst/>
              <a:pathLst>
                <a:path w="1930901" h="0">
                  <a:moveTo>
                    <a:pt x="0" y="0"/>
                  </a:moveTo>
                  <a:lnTo>
                    <a:pt x="1930901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l754"/>
            <p:cNvSpPr/>
            <p:nvPr/>
          </p:nvSpPr>
          <p:spPr>
            <a:xfrm>
              <a:off x="7976673" y="312379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l755"/>
            <p:cNvSpPr/>
            <p:nvPr/>
          </p:nvSpPr>
          <p:spPr>
            <a:xfrm>
              <a:off x="8411406" y="312379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l756"/>
            <p:cNvSpPr/>
            <p:nvPr/>
          </p:nvSpPr>
          <p:spPr>
            <a:xfrm>
              <a:off x="8846140" y="312379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l757"/>
            <p:cNvSpPr/>
            <p:nvPr/>
          </p:nvSpPr>
          <p:spPr>
            <a:xfrm>
              <a:off x="9280873" y="312379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l758"/>
            <p:cNvSpPr/>
            <p:nvPr/>
          </p:nvSpPr>
          <p:spPr>
            <a:xfrm>
              <a:off x="9715607" y="312379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tx759"/>
            <p:cNvSpPr/>
            <p:nvPr/>
          </p:nvSpPr>
          <p:spPr>
            <a:xfrm>
              <a:off x="7936119" y="3175033"/>
              <a:ext cx="8110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-2</a:t>
              </a:r>
            </a:p>
          </p:txBody>
        </p:sp>
        <p:sp>
          <p:nvSpPr>
            <p:cNvPr id="760" name="tx760"/>
            <p:cNvSpPr/>
            <p:nvPr/>
          </p:nvSpPr>
          <p:spPr>
            <a:xfrm>
              <a:off x="8386032" y="3175033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761" name="tx761"/>
            <p:cNvSpPr/>
            <p:nvPr/>
          </p:nvSpPr>
          <p:spPr>
            <a:xfrm>
              <a:off x="8820765" y="3175033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762" name="tx762"/>
            <p:cNvSpPr/>
            <p:nvPr/>
          </p:nvSpPr>
          <p:spPr>
            <a:xfrm>
              <a:off x="9255499" y="3175033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763" name="tx763"/>
            <p:cNvSpPr/>
            <p:nvPr/>
          </p:nvSpPr>
          <p:spPr>
            <a:xfrm>
              <a:off x="9690232" y="3175033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764" name="pl764"/>
            <p:cNvSpPr/>
            <p:nvPr/>
          </p:nvSpPr>
          <p:spPr>
            <a:xfrm>
              <a:off x="5954837" y="994304"/>
              <a:ext cx="0" cy="2129486"/>
            </a:xfrm>
            <a:custGeom>
              <a:avLst/>
              <a:pathLst>
                <a:path w="0" h="2129486">
                  <a:moveTo>
                    <a:pt x="0" y="2129486"/>
                  </a:moveTo>
                  <a:lnTo>
                    <a:pt x="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tx765"/>
            <p:cNvSpPr/>
            <p:nvPr/>
          </p:nvSpPr>
          <p:spPr>
            <a:xfrm>
              <a:off x="5340324" y="2913644"/>
              <a:ext cx="563270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SSP585 2080</a:t>
              </a:r>
            </a:p>
          </p:txBody>
        </p:sp>
        <p:sp>
          <p:nvSpPr>
            <p:cNvPr id="766" name="tx766"/>
            <p:cNvSpPr/>
            <p:nvPr/>
          </p:nvSpPr>
          <p:spPr>
            <a:xfrm>
              <a:off x="5340324" y="2617882"/>
              <a:ext cx="563270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SSP585 2050</a:t>
              </a:r>
            </a:p>
          </p:txBody>
        </p:sp>
        <p:sp>
          <p:nvSpPr>
            <p:cNvPr id="767" name="tx767"/>
            <p:cNvSpPr/>
            <p:nvPr/>
          </p:nvSpPr>
          <p:spPr>
            <a:xfrm>
              <a:off x="5340324" y="2322120"/>
              <a:ext cx="563270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SSP585 2030</a:t>
              </a:r>
            </a:p>
          </p:txBody>
        </p:sp>
        <p:sp>
          <p:nvSpPr>
            <p:cNvPr id="768" name="tx768"/>
            <p:cNvSpPr/>
            <p:nvPr/>
          </p:nvSpPr>
          <p:spPr>
            <a:xfrm>
              <a:off x="5340324" y="2026358"/>
              <a:ext cx="563270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SSP245 2080</a:t>
              </a:r>
            </a:p>
          </p:txBody>
        </p:sp>
        <p:sp>
          <p:nvSpPr>
            <p:cNvPr id="769" name="tx769"/>
            <p:cNvSpPr/>
            <p:nvPr/>
          </p:nvSpPr>
          <p:spPr>
            <a:xfrm>
              <a:off x="5340324" y="1730596"/>
              <a:ext cx="563270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SSP245 2050</a:t>
              </a:r>
            </a:p>
          </p:txBody>
        </p:sp>
        <p:sp>
          <p:nvSpPr>
            <p:cNvPr id="770" name="tx770"/>
            <p:cNvSpPr/>
            <p:nvPr/>
          </p:nvSpPr>
          <p:spPr>
            <a:xfrm>
              <a:off x="5340324" y="1434834"/>
              <a:ext cx="563270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SSP245 2030</a:t>
              </a:r>
            </a:p>
          </p:txBody>
        </p:sp>
        <p:sp>
          <p:nvSpPr>
            <p:cNvPr id="771" name="tx771"/>
            <p:cNvSpPr/>
            <p:nvPr/>
          </p:nvSpPr>
          <p:spPr>
            <a:xfrm>
              <a:off x="5066552" y="1139072"/>
              <a:ext cx="83704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observed 2002-2024</a:t>
              </a:r>
            </a:p>
          </p:txBody>
        </p:sp>
        <p:sp>
          <p:nvSpPr>
            <p:cNvPr id="772" name="pl772"/>
            <p:cNvSpPr/>
            <p:nvPr/>
          </p:nvSpPr>
          <p:spPr>
            <a:xfrm>
              <a:off x="5926369" y="294633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l773"/>
            <p:cNvSpPr/>
            <p:nvPr/>
          </p:nvSpPr>
          <p:spPr>
            <a:xfrm>
              <a:off x="5926369" y="265057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l774"/>
            <p:cNvSpPr/>
            <p:nvPr/>
          </p:nvSpPr>
          <p:spPr>
            <a:xfrm>
              <a:off x="5926369" y="235480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l775"/>
            <p:cNvSpPr/>
            <p:nvPr/>
          </p:nvSpPr>
          <p:spPr>
            <a:xfrm>
              <a:off x="5926369" y="205904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l776"/>
            <p:cNvSpPr/>
            <p:nvPr/>
          </p:nvSpPr>
          <p:spPr>
            <a:xfrm>
              <a:off x="5926369" y="176328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l777"/>
            <p:cNvSpPr/>
            <p:nvPr/>
          </p:nvSpPr>
          <p:spPr>
            <a:xfrm>
              <a:off x="5926369" y="146752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l778"/>
            <p:cNvSpPr/>
            <p:nvPr/>
          </p:nvSpPr>
          <p:spPr>
            <a:xfrm>
              <a:off x="5926369" y="117176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tx779"/>
            <p:cNvSpPr/>
            <p:nvPr/>
          </p:nvSpPr>
          <p:spPr>
            <a:xfrm>
              <a:off x="6901051" y="3287992"/>
              <a:ext cx="2026310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Standardised value (1st-99th percentile)</a:t>
              </a:r>
            </a:p>
          </p:txBody>
        </p:sp>
        <p:sp>
          <p:nvSpPr>
            <p:cNvPr id="780" name="tx780"/>
            <p:cNvSpPr/>
            <p:nvPr/>
          </p:nvSpPr>
          <p:spPr>
            <a:xfrm>
              <a:off x="5954837" y="644187"/>
              <a:ext cx="3983766" cy="74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Tree ensembles return boundary leaf values once covariates exit the observed support</a:t>
              </a:r>
            </a:p>
          </p:txBody>
        </p:sp>
        <p:sp>
          <p:nvSpPr>
            <p:cNvPr id="781" name="tx781"/>
            <p:cNvSpPr/>
            <p:nvPr/>
          </p:nvSpPr>
          <p:spPr>
            <a:xfrm>
              <a:off x="5954837" y="469567"/>
              <a:ext cx="2626248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Why: the scenarios leave the training range</a:t>
              </a:r>
            </a:p>
          </p:txBody>
        </p:sp>
        <p:sp>
          <p:nvSpPr>
            <p:cNvPr id="782" name="tx782"/>
            <p:cNvSpPr/>
            <p:nvPr/>
          </p:nvSpPr>
          <p:spPr>
            <a:xfrm>
              <a:off x="4973466" y="344386"/>
              <a:ext cx="93085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</a:t>
              </a:r>
            </a:p>
          </p:txBody>
        </p:sp>
        <p:sp>
          <p:nvSpPr>
            <p:cNvPr id="783" name="rc783"/>
            <p:cNvSpPr/>
            <p:nvPr/>
          </p:nvSpPr>
          <p:spPr>
            <a:xfrm>
              <a:off x="852287" y="4211539"/>
              <a:ext cx="2969138" cy="122417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" name="pl784"/>
            <p:cNvSpPr/>
            <p:nvPr/>
          </p:nvSpPr>
          <p:spPr>
            <a:xfrm>
              <a:off x="852287" y="5277099"/>
              <a:ext cx="2969138" cy="0"/>
            </a:xfrm>
            <a:custGeom>
              <a:avLst/>
              <a:pathLst>
                <a:path w="2969138" h="0">
                  <a:moveTo>
                    <a:pt x="0" y="0"/>
                  </a:moveTo>
                  <a:lnTo>
                    <a:pt x="2969138" y="0"/>
                  </a:lnTo>
                  <a:lnTo>
                    <a:pt x="296913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l785"/>
            <p:cNvSpPr/>
            <p:nvPr/>
          </p:nvSpPr>
          <p:spPr>
            <a:xfrm>
              <a:off x="852287" y="5047192"/>
              <a:ext cx="2969138" cy="0"/>
            </a:xfrm>
            <a:custGeom>
              <a:avLst/>
              <a:pathLst>
                <a:path w="2969138" h="0">
                  <a:moveTo>
                    <a:pt x="0" y="0"/>
                  </a:moveTo>
                  <a:lnTo>
                    <a:pt x="2969138" y="0"/>
                  </a:lnTo>
                  <a:lnTo>
                    <a:pt x="296913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l786"/>
            <p:cNvSpPr/>
            <p:nvPr/>
          </p:nvSpPr>
          <p:spPr>
            <a:xfrm>
              <a:off x="852287" y="4817285"/>
              <a:ext cx="2969138" cy="0"/>
            </a:xfrm>
            <a:custGeom>
              <a:avLst/>
              <a:pathLst>
                <a:path w="2969138" h="0">
                  <a:moveTo>
                    <a:pt x="0" y="0"/>
                  </a:moveTo>
                  <a:lnTo>
                    <a:pt x="2969138" y="0"/>
                  </a:lnTo>
                  <a:lnTo>
                    <a:pt x="296913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l787"/>
            <p:cNvSpPr/>
            <p:nvPr/>
          </p:nvSpPr>
          <p:spPr>
            <a:xfrm>
              <a:off x="852287" y="4587378"/>
              <a:ext cx="2969138" cy="0"/>
            </a:xfrm>
            <a:custGeom>
              <a:avLst/>
              <a:pathLst>
                <a:path w="2969138" h="0">
                  <a:moveTo>
                    <a:pt x="0" y="0"/>
                  </a:moveTo>
                  <a:lnTo>
                    <a:pt x="2969138" y="0"/>
                  </a:lnTo>
                  <a:lnTo>
                    <a:pt x="296913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l788"/>
            <p:cNvSpPr/>
            <p:nvPr/>
          </p:nvSpPr>
          <p:spPr>
            <a:xfrm>
              <a:off x="852287" y="4357472"/>
              <a:ext cx="2969138" cy="0"/>
            </a:xfrm>
            <a:custGeom>
              <a:avLst/>
              <a:pathLst>
                <a:path w="2969138" h="0">
                  <a:moveTo>
                    <a:pt x="0" y="0"/>
                  </a:moveTo>
                  <a:lnTo>
                    <a:pt x="2969138" y="0"/>
                  </a:lnTo>
                  <a:lnTo>
                    <a:pt x="296913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l789"/>
            <p:cNvSpPr/>
            <p:nvPr/>
          </p:nvSpPr>
          <p:spPr>
            <a:xfrm>
              <a:off x="852287" y="4817285"/>
              <a:ext cx="2969138" cy="0"/>
            </a:xfrm>
            <a:custGeom>
              <a:avLst/>
              <a:pathLst>
                <a:path w="2969138" h="0">
                  <a:moveTo>
                    <a:pt x="0" y="0"/>
                  </a:moveTo>
                  <a:lnTo>
                    <a:pt x="2969138" y="0"/>
                  </a:lnTo>
                  <a:lnTo>
                    <a:pt x="2969138" y="0"/>
                  </a:lnTo>
                </a:path>
              </a:pathLst>
            </a:custGeom>
            <a:ln w="8130" cap="flat">
              <a:solidFill>
                <a:srgbClr val="A6A6A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790" name="pl790"/>
            <p:cNvSpPr/>
            <p:nvPr/>
          </p:nvSpPr>
          <p:spPr>
            <a:xfrm>
              <a:off x="1715360" y="4211539"/>
              <a:ext cx="0" cy="1224170"/>
            </a:xfrm>
            <a:custGeom>
              <a:avLst/>
              <a:pathLst>
                <a:path w="0" h="1224170">
                  <a:moveTo>
                    <a:pt x="0" y="122417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A6A6A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791" name="pl791"/>
            <p:cNvSpPr/>
            <p:nvPr/>
          </p:nvSpPr>
          <p:spPr>
            <a:xfrm>
              <a:off x="871860" y="4211539"/>
              <a:ext cx="1669706" cy="1224170"/>
            </a:xfrm>
            <a:custGeom>
              <a:avLst/>
              <a:pathLst>
                <a:path w="1669706" h="1224170">
                  <a:moveTo>
                    <a:pt x="0" y="1224170"/>
                  </a:moveTo>
                  <a:lnTo>
                    <a:pt x="1669706" y="0"/>
                  </a:lnTo>
                </a:path>
              </a:pathLst>
            </a:custGeom>
            <a:ln w="9485" cap="flat">
              <a:solidFill>
                <a:srgbClr val="8C8C8C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1723633" y="4764666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1804006" y="4806916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1731545" y="4843568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1782900" y="4882416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1724995" y="4809496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1661129" y="4753130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1765498" y="4574699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1727635" y="5065033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1755486" y="4780732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1722280" y="4791888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1791029" y="4786600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1736235" y="4691377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1758324" y="4712565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1758383" y="5029405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1712450" y="5260955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1817469" y="4811430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1737812" y="4466149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1769870" y="5109749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1720101" y="4865292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1748381" y="5017311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1730540" y="4823883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1710432" y="4779009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1746379" y="4780798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1775234" y="5031887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1706304" y="5118410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1757882" y="4785472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1731722" y="4590304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1719100" y="4801183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1677009" y="4247241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1478932" y="4911852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1778250" y="4800929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tx823"/>
            <p:cNvSpPr/>
            <p:nvPr/>
          </p:nvSpPr>
          <p:spPr>
            <a:xfrm>
              <a:off x="987248" y="4283458"/>
              <a:ext cx="421538" cy="620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rho = -0.04</a:t>
              </a:r>
            </a:p>
          </p:txBody>
        </p:sp>
        <p:sp>
          <p:nvSpPr>
            <p:cNvPr id="824" name="tx824"/>
            <p:cNvSpPr/>
            <p:nvPr/>
          </p:nvSpPr>
          <p:spPr>
            <a:xfrm>
              <a:off x="987248" y="4408341"/>
              <a:ext cx="722650" cy="620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42% agree on sign</a:t>
              </a:r>
            </a:p>
          </p:txBody>
        </p:sp>
        <p:sp>
          <p:nvSpPr>
            <p:cNvPr id="825" name="rc825"/>
            <p:cNvSpPr/>
            <p:nvPr/>
          </p:nvSpPr>
          <p:spPr>
            <a:xfrm>
              <a:off x="852287" y="5492647"/>
              <a:ext cx="2969138" cy="122417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" name="pl826"/>
            <p:cNvSpPr/>
            <p:nvPr/>
          </p:nvSpPr>
          <p:spPr>
            <a:xfrm>
              <a:off x="852287" y="6558206"/>
              <a:ext cx="2969138" cy="0"/>
            </a:xfrm>
            <a:custGeom>
              <a:avLst/>
              <a:pathLst>
                <a:path w="2969138" h="0">
                  <a:moveTo>
                    <a:pt x="0" y="0"/>
                  </a:moveTo>
                  <a:lnTo>
                    <a:pt x="2969138" y="0"/>
                  </a:lnTo>
                  <a:lnTo>
                    <a:pt x="296913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l827"/>
            <p:cNvSpPr/>
            <p:nvPr/>
          </p:nvSpPr>
          <p:spPr>
            <a:xfrm>
              <a:off x="852287" y="6328299"/>
              <a:ext cx="2969138" cy="0"/>
            </a:xfrm>
            <a:custGeom>
              <a:avLst/>
              <a:pathLst>
                <a:path w="2969138" h="0">
                  <a:moveTo>
                    <a:pt x="0" y="0"/>
                  </a:moveTo>
                  <a:lnTo>
                    <a:pt x="2969138" y="0"/>
                  </a:lnTo>
                  <a:lnTo>
                    <a:pt x="296913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l828"/>
            <p:cNvSpPr/>
            <p:nvPr/>
          </p:nvSpPr>
          <p:spPr>
            <a:xfrm>
              <a:off x="852287" y="6098392"/>
              <a:ext cx="2969138" cy="0"/>
            </a:xfrm>
            <a:custGeom>
              <a:avLst/>
              <a:pathLst>
                <a:path w="2969138" h="0">
                  <a:moveTo>
                    <a:pt x="0" y="0"/>
                  </a:moveTo>
                  <a:lnTo>
                    <a:pt x="2969138" y="0"/>
                  </a:lnTo>
                  <a:lnTo>
                    <a:pt x="296913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l829"/>
            <p:cNvSpPr/>
            <p:nvPr/>
          </p:nvSpPr>
          <p:spPr>
            <a:xfrm>
              <a:off x="852287" y="5868486"/>
              <a:ext cx="2969138" cy="0"/>
            </a:xfrm>
            <a:custGeom>
              <a:avLst/>
              <a:pathLst>
                <a:path w="2969138" h="0">
                  <a:moveTo>
                    <a:pt x="0" y="0"/>
                  </a:moveTo>
                  <a:lnTo>
                    <a:pt x="2969138" y="0"/>
                  </a:lnTo>
                  <a:lnTo>
                    <a:pt x="296913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l830"/>
            <p:cNvSpPr/>
            <p:nvPr/>
          </p:nvSpPr>
          <p:spPr>
            <a:xfrm>
              <a:off x="852287" y="5638579"/>
              <a:ext cx="2969138" cy="0"/>
            </a:xfrm>
            <a:custGeom>
              <a:avLst/>
              <a:pathLst>
                <a:path w="2969138" h="0">
                  <a:moveTo>
                    <a:pt x="0" y="0"/>
                  </a:moveTo>
                  <a:lnTo>
                    <a:pt x="2969138" y="0"/>
                  </a:lnTo>
                  <a:lnTo>
                    <a:pt x="296913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l831"/>
            <p:cNvSpPr/>
            <p:nvPr/>
          </p:nvSpPr>
          <p:spPr>
            <a:xfrm>
              <a:off x="852287" y="6098392"/>
              <a:ext cx="2969138" cy="0"/>
            </a:xfrm>
            <a:custGeom>
              <a:avLst/>
              <a:pathLst>
                <a:path w="2969138" h="0">
                  <a:moveTo>
                    <a:pt x="0" y="0"/>
                  </a:moveTo>
                  <a:lnTo>
                    <a:pt x="2969138" y="0"/>
                  </a:lnTo>
                  <a:lnTo>
                    <a:pt x="2969138" y="0"/>
                  </a:lnTo>
                </a:path>
              </a:pathLst>
            </a:custGeom>
            <a:ln w="8130" cap="flat">
              <a:solidFill>
                <a:srgbClr val="A6A6A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832" name="pl832"/>
            <p:cNvSpPr/>
            <p:nvPr/>
          </p:nvSpPr>
          <p:spPr>
            <a:xfrm>
              <a:off x="1715360" y="5492647"/>
              <a:ext cx="0" cy="1224170"/>
            </a:xfrm>
            <a:custGeom>
              <a:avLst/>
              <a:pathLst>
                <a:path w="0" h="1224170">
                  <a:moveTo>
                    <a:pt x="0" y="122417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A6A6A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833" name="pl833"/>
            <p:cNvSpPr/>
            <p:nvPr/>
          </p:nvSpPr>
          <p:spPr>
            <a:xfrm>
              <a:off x="871860" y="5492647"/>
              <a:ext cx="1669706" cy="1224170"/>
            </a:xfrm>
            <a:custGeom>
              <a:avLst/>
              <a:pathLst>
                <a:path w="1669706" h="1224170">
                  <a:moveTo>
                    <a:pt x="0" y="1224170"/>
                  </a:moveTo>
                  <a:lnTo>
                    <a:pt x="1669706" y="0"/>
                  </a:lnTo>
                </a:path>
              </a:pathLst>
            </a:custGeom>
            <a:ln w="9485" cap="flat">
              <a:solidFill>
                <a:srgbClr val="8C8C8C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1742076" y="6012930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1846071" y="6101417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1761013" y="6095386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1833033" y="6119623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1735420" y="6106655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1718854" y="5913938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1819815" y="6234972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1783828" y="6225630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1833747" y="5702504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1751139" y="5877077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801717" y="5772736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1746543" y="6171017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1768506" y="6032816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1782033" y="6248022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1711068" y="6448133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1839255" y="6067780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1760931" y="6065298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1780789" y="6317325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1739979" y="5890320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1753970" y="6327461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1768696" y="6085663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1724190" y="5614401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1781237" y="6254826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1814944" y="6302122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1722439" y="6369692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1805415" y="6052263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1756363" y="6074973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1751287" y="6012794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1656484" y="6079839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1418449" y="6140703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1814072" y="6091268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tx865"/>
            <p:cNvSpPr/>
            <p:nvPr/>
          </p:nvSpPr>
          <p:spPr>
            <a:xfrm>
              <a:off x="987248" y="5564565"/>
              <a:ext cx="421538" cy="620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rho = -0.03</a:t>
              </a:r>
            </a:p>
          </p:txBody>
        </p:sp>
        <p:sp>
          <p:nvSpPr>
            <p:cNvPr id="866" name="tx866"/>
            <p:cNvSpPr/>
            <p:nvPr/>
          </p:nvSpPr>
          <p:spPr>
            <a:xfrm>
              <a:off x="987248" y="5689448"/>
              <a:ext cx="722650" cy="620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48% agree on sign</a:t>
              </a:r>
            </a:p>
          </p:txBody>
        </p:sp>
        <p:sp>
          <p:nvSpPr>
            <p:cNvPr id="867" name="rc867"/>
            <p:cNvSpPr/>
            <p:nvPr/>
          </p:nvSpPr>
          <p:spPr>
            <a:xfrm>
              <a:off x="3878362" y="4211539"/>
              <a:ext cx="2969138" cy="122417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8" name="pl868"/>
            <p:cNvSpPr/>
            <p:nvPr/>
          </p:nvSpPr>
          <p:spPr>
            <a:xfrm>
              <a:off x="3878362" y="5277099"/>
              <a:ext cx="2969138" cy="0"/>
            </a:xfrm>
            <a:custGeom>
              <a:avLst/>
              <a:pathLst>
                <a:path w="2969138" h="0">
                  <a:moveTo>
                    <a:pt x="0" y="0"/>
                  </a:moveTo>
                  <a:lnTo>
                    <a:pt x="2969138" y="0"/>
                  </a:lnTo>
                  <a:lnTo>
                    <a:pt x="296913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l869"/>
            <p:cNvSpPr/>
            <p:nvPr/>
          </p:nvSpPr>
          <p:spPr>
            <a:xfrm>
              <a:off x="3878362" y="5047192"/>
              <a:ext cx="2969138" cy="0"/>
            </a:xfrm>
            <a:custGeom>
              <a:avLst/>
              <a:pathLst>
                <a:path w="2969138" h="0">
                  <a:moveTo>
                    <a:pt x="0" y="0"/>
                  </a:moveTo>
                  <a:lnTo>
                    <a:pt x="2969138" y="0"/>
                  </a:lnTo>
                  <a:lnTo>
                    <a:pt x="296913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l870"/>
            <p:cNvSpPr/>
            <p:nvPr/>
          </p:nvSpPr>
          <p:spPr>
            <a:xfrm>
              <a:off x="3878362" y="4817285"/>
              <a:ext cx="2969138" cy="0"/>
            </a:xfrm>
            <a:custGeom>
              <a:avLst/>
              <a:pathLst>
                <a:path w="2969138" h="0">
                  <a:moveTo>
                    <a:pt x="0" y="0"/>
                  </a:moveTo>
                  <a:lnTo>
                    <a:pt x="2969138" y="0"/>
                  </a:lnTo>
                  <a:lnTo>
                    <a:pt x="296913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l871"/>
            <p:cNvSpPr/>
            <p:nvPr/>
          </p:nvSpPr>
          <p:spPr>
            <a:xfrm>
              <a:off x="3878362" y="4587378"/>
              <a:ext cx="2969138" cy="0"/>
            </a:xfrm>
            <a:custGeom>
              <a:avLst/>
              <a:pathLst>
                <a:path w="2969138" h="0">
                  <a:moveTo>
                    <a:pt x="0" y="0"/>
                  </a:moveTo>
                  <a:lnTo>
                    <a:pt x="2969138" y="0"/>
                  </a:lnTo>
                  <a:lnTo>
                    <a:pt x="296913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l872"/>
            <p:cNvSpPr/>
            <p:nvPr/>
          </p:nvSpPr>
          <p:spPr>
            <a:xfrm>
              <a:off x="3878362" y="4357472"/>
              <a:ext cx="2969138" cy="0"/>
            </a:xfrm>
            <a:custGeom>
              <a:avLst/>
              <a:pathLst>
                <a:path w="2969138" h="0">
                  <a:moveTo>
                    <a:pt x="0" y="0"/>
                  </a:moveTo>
                  <a:lnTo>
                    <a:pt x="2969138" y="0"/>
                  </a:lnTo>
                  <a:lnTo>
                    <a:pt x="296913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l873"/>
            <p:cNvSpPr/>
            <p:nvPr/>
          </p:nvSpPr>
          <p:spPr>
            <a:xfrm>
              <a:off x="3878362" y="4817285"/>
              <a:ext cx="2969138" cy="0"/>
            </a:xfrm>
            <a:custGeom>
              <a:avLst/>
              <a:pathLst>
                <a:path w="2969138" h="0">
                  <a:moveTo>
                    <a:pt x="0" y="0"/>
                  </a:moveTo>
                  <a:lnTo>
                    <a:pt x="2969138" y="0"/>
                  </a:lnTo>
                  <a:lnTo>
                    <a:pt x="2969138" y="0"/>
                  </a:lnTo>
                </a:path>
              </a:pathLst>
            </a:custGeom>
            <a:ln w="8130" cap="flat">
              <a:solidFill>
                <a:srgbClr val="A6A6A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874" name="pl874"/>
            <p:cNvSpPr/>
            <p:nvPr/>
          </p:nvSpPr>
          <p:spPr>
            <a:xfrm>
              <a:off x="4741436" y="4211539"/>
              <a:ext cx="0" cy="1224170"/>
            </a:xfrm>
            <a:custGeom>
              <a:avLst/>
              <a:pathLst>
                <a:path w="0" h="1224170">
                  <a:moveTo>
                    <a:pt x="0" y="122417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A6A6A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875" name="pl875"/>
            <p:cNvSpPr/>
            <p:nvPr/>
          </p:nvSpPr>
          <p:spPr>
            <a:xfrm>
              <a:off x="3897935" y="4211539"/>
              <a:ext cx="1669706" cy="1224170"/>
            </a:xfrm>
            <a:custGeom>
              <a:avLst/>
              <a:pathLst>
                <a:path w="1669706" h="1224170">
                  <a:moveTo>
                    <a:pt x="0" y="1224170"/>
                  </a:moveTo>
                  <a:lnTo>
                    <a:pt x="1669706" y="0"/>
                  </a:lnTo>
                </a:path>
              </a:pathLst>
            </a:custGeom>
            <a:ln w="9485" cap="flat">
              <a:solidFill>
                <a:srgbClr val="8C8C8C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4867496" y="4946622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5001415" y="4815068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4891107" y="5003357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063185" y="4860492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4772551" y="4825283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873797" y="4792295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5035158" y="4984775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4949335" y="4892054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5086455" y="4875683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4865295" y="4928699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55308" y="4760372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4844813" y="4853893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4915252" y="4761603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969988" y="5008131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737870" y="5360123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5065870" y="4851885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4916892" y="4933070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4837374" y="4875935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839095" y="5049548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772100" y="5316960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876892" y="4807970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4784240" y="4824360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4932971" y="4984821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5040949" y="5033815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92563" y="5285217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4973070" y="4775237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881960" y="4948775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826491" y="4767170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642196" y="4862320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4545638" y="4722507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5038708" y="4834393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tx907"/>
            <p:cNvSpPr/>
            <p:nvPr/>
          </p:nvSpPr>
          <p:spPr>
            <a:xfrm>
              <a:off x="4013323" y="4283458"/>
              <a:ext cx="421538" cy="620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rho = -0.00</a:t>
              </a:r>
            </a:p>
          </p:txBody>
        </p:sp>
        <p:sp>
          <p:nvSpPr>
            <p:cNvPr id="908" name="tx908"/>
            <p:cNvSpPr/>
            <p:nvPr/>
          </p:nvSpPr>
          <p:spPr>
            <a:xfrm>
              <a:off x="4013323" y="4408341"/>
              <a:ext cx="722650" cy="620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19% agree on sign</a:t>
              </a:r>
            </a:p>
          </p:txBody>
        </p:sp>
        <p:sp>
          <p:nvSpPr>
            <p:cNvPr id="909" name="rc909"/>
            <p:cNvSpPr/>
            <p:nvPr/>
          </p:nvSpPr>
          <p:spPr>
            <a:xfrm>
              <a:off x="3878362" y="5492647"/>
              <a:ext cx="2969138" cy="122417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10" name="pl910"/>
            <p:cNvSpPr/>
            <p:nvPr/>
          </p:nvSpPr>
          <p:spPr>
            <a:xfrm>
              <a:off x="3878362" y="6558206"/>
              <a:ext cx="2969138" cy="0"/>
            </a:xfrm>
            <a:custGeom>
              <a:avLst/>
              <a:pathLst>
                <a:path w="2969138" h="0">
                  <a:moveTo>
                    <a:pt x="0" y="0"/>
                  </a:moveTo>
                  <a:lnTo>
                    <a:pt x="2969138" y="0"/>
                  </a:lnTo>
                  <a:lnTo>
                    <a:pt x="296913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l911"/>
            <p:cNvSpPr/>
            <p:nvPr/>
          </p:nvSpPr>
          <p:spPr>
            <a:xfrm>
              <a:off x="3878362" y="6328299"/>
              <a:ext cx="2969138" cy="0"/>
            </a:xfrm>
            <a:custGeom>
              <a:avLst/>
              <a:pathLst>
                <a:path w="2969138" h="0">
                  <a:moveTo>
                    <a:pt x="0" y="0"/>
                  </a:moveTo>
                  <a:lnTo>
                    <a:pt x="2969138" y="0"/>
                  </a:lnTo>
                  <a:lnTo>
                    <a:pt x="296913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l912"/>
            <p:cNvSpPr/>
            <p:nvPr/>
          </p:nvSpPr>
          <p:spPr>
            <a:xfrm>
              <a:off x="3878362" y="6098392"/>
              <a:ext cx="2969138" cy="0"/>
            </a:xfrm>
            <a:custGeom>
              <a:avLst/>
              <a:pathLst>
                <a:path w="2969138" h="0">
                  <a:moveTo>
                    <a:pt x="0" y="0"/>
                  </a:moveTo>
                  <a:lnTo>
                    <a:pt x="2969138" y="0"/>
                  </a:lnTo>
                  <a:lnTo>
                    <a:pt x="296913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l913"/>
            <p:cNvSpPr/>
            <p:nvPr/>
          </p:nvSpPr>
          <p:spPr>
            <a:xfrm>
              <a:off x="3878362" y="5868486"/>
              <a:ext cx="2969138" cy="0"/>
            </a:xfrm>
            <a:custGeom>
              <a:avLst/>
              <a:pathLst>
                <a:path w="2969138" h="0">
                  <a:moveTo>
                    <a:pt x="0" y="0"/>
                  </a:moveTo>
                  <a:lnTo>
                    <a:pt x="2969138" y="0"/>
                  </a:lnTo>
                  <a:lnTo>
                    <a:pt x="296913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l914"/>
            <p:cNvSpPr/>
            <p:nvPr/>
          </p:nvSpPr>
          <p:spPr>
            <a:xfrm>
              <a:off x="3878362" y="5638579"/>
              <a:ext cx="2969138" cy="0"/>
            </a:xfrm>
            <a:custGeom>
              <a:avLst/>
              <a:pathLst>
                <a:path w="2969138" h="0">
                  <a:moveTo>
                    <a:pt x="0" y="0"/>
                  </a:moveTo>
                  <a:lnTo>
                    <a:pt x="2969138" y="0"/>
                  </a:lnTo>
                  <a:lnTo>
                    <a:pt x="296913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l915"/>
            <p:cNvSpPr/>
            <p:nvPr/>
          </p:nvSpPr>
          <p:spPr>
            <a:xfrm>
              <a:off x="3878362" y="6098392"/>
              <a:ext cx="2969138" cy="0"/>
            </a:xfrm>
            <a:custGeom>
              <a:avLst/>
              <a:pathLst>
                <a:path w="2969138" h="0">
                  <a:moveTo>
                    <a:pt x="0" y="0"/>
                  </a:moveTo>
                  <a:lnTo>
                    <a:pt x="2969138" y="0"/>
                  </a:lnTo>
                  <a:lnTo>
                    <a:pt x="2969138" y="0"/>
                  </a:lnTo>
                </a:path>
              </a:pathLst>
            </a:custGeom>
            <a:ln w="8130" cap="flat">
              <a:solidFill>
                <a:srgbClr val="A6A6A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916" name="pl916"/>
            <p:cNvSpPr/>
            <p:nvPr/>
          </p:nvSpPr>
          <p:spPr>
            <a:xfrm>
              <a:off x="4741436" y="5492647"/>
              <a:ext cx="0" cy="1224170"/>
            </a:xfrm>
            <a:custGeom>
              <a:avLst/>
              <a:pathLst>
                <a:path w="0" h="1224170">
                  <a:moveTo>
                    <a:pt x="0" y="122417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A6A6A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917" name="pl917"/>
            <p:cNvSpPr/>
            <p:nvPr/>
          </p:nvSpPr>
          <p:spPr>
            <a:xfrm>
              <a:off x="3897935" y="5492647"/>
              <a:ext cx="1669706" cy="1224170"/>
            </a:xfrm>
            <a:custGeom>
              <a:avLst/>
              <a:pathLst>
                <a:path w="1669706" h="1224170">
                  <a:moveTo>
                    <a:pt x="0" y="1224170"/>
                  </a:moveTo>
                  <a:lnTo>
                    <a:pt x="1669706" y="0"/>
                  </a:lnTo>
                </a:path>
              </a:pathLst>
            </a:custGeom>
            <a:ln w="9485" cap="flat">
              <a:solidFill>
                <a:srgbClr val="8C8C8C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5078246" y="6257894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175748" y="6101715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131699" y="6291246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5442458" y="6146504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858831" y="6127279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5206551" y="6243520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5412342" y="6278957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5282257" y="6361567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5587821" y="6167884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024327" y="6243625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4913710" y="6244280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5057279" y="6159804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5191382" y="6050166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5245495" y="6274859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745507" y="6626390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397735" y="6137463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5155379" y="6217218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4891452" y="6531495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4950260" y="6325946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4777355" y="6597978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124116" y="6092345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4950775" y="6089297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5189139" y="6286330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5374945" y="6324781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946657" y="6548126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5320946" y="6085196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5060411" y="6226893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5003151" y="6053182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4637672" y="6130196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4683402" y="5751248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5332475" y="6124668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tx949"/>
            <p:cNvSpPr/>
            <p:nvPr/>
          </p:nvSpPr>
          <p:spPr>
            <a:xfrm>
              <a:off x="4013323" y="5564565"/>
              <a:ext cx="386242" cy="620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rho = 0.11</a:t>
              </a:r>
            </a:p>
          </p:txBody>
        </p:sp>
        <p:sp>
          <p:nvSpPr>
            <p:cNvPr id="950" name="tx950"/>
            <p:cNvSpPr/>
            <p:nvPr/>
          </p:nvSpPr>
          <p:spPr>
            <a:xfrm>
              <a:off x="4013323" y="5689448"/>
              <a:ext cx="722650" cy="620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10% agree on sign</a:t>
              </a:r>
            </a:p>
          </p:txBody>
        </p:sp>
        <p:sp>
          <p:nvSpPr>
            <p:cNvPr id="951" name="rc951"/>
            <p:cNvSpPr/>
            <p:nvPr/>
          </p:nvSpPr>
          <p:spPr>
            <a:xfrm>
              <a:off x="6904437" y="4211539"/>
              <a:ext cx="2969138" cy="122417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52" name="pl952"/>
            <p:cNvSpPr/>
            <p:nvPr/>
          </p:nvSpPr>
          <p:spPr>
            <a:xfrm>
              <a:off x="6904437" y="5277099"/>
              <a:ext cx="2969138" cy="0"/>
            </a:xfrm>
            <a:custGeom>
              <a:avLst/>
              <a:pathLst>
                <a:path w="2969138" h="0">
                  <a:moveTo>
                    <a:pt x="0" y="0"/>
                  </a:moveTo>
                  <a:lnTo>
                    <a:pt x="2969138" y="0"/>
                  </a:lnTo>
                  <a:lnTo>
                    <a:pt x="296913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l953"/>
            <p:cNvSpPr/>
            <p:nvPr/>
          </p:nvSpPr>
          <p:spPr>
            <a:xfrm>
              <a:off x="6904437" y="5047192"/>
              <a:ext cx="2969138" cy="0"/>
            </a:xfrm>
            <a:custGeom>
              <a:avLst/>
              <a:pathLst>
                <a:path w="2969138" h="0">
                  <a:moveTo>
                    <a:pt x="0" y="0"/>
                  </a:moveTo>
                  <a:lnTo>
                    <a:pt x="2969138" y="0"/>
                  </a:lnTo>
                  <a:lnTo>
                    <a:pt x="296913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l954"/>
            <p:cNvSpPr/>
            <p:nvPr/>
          </p:nvSpPr>
          <p:spPr>
            <a:xfrm>
              <a:off x="6904437" y="4817285"/>
              <a:ext cx="2969138" cy="0"/>
            </a:xfrm>
            <a:custGeom>
              <a:avLst/>
              <a:pathLst>
                <a:path w="2969138" h="0">
                  <a:moveTo>
                    <a:pt x="0" y="0"/>
                  </a:moveTo>
                  <a:lnTo>
                    <a:pt x="2969138" y="0"/>
                  </a:lnTo>
                  <a:lnTo>
                    <a:pt x="296913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l955"/>
            <p:cNvSpPr/>
            <p:nvPr/>
          </p:nvSpPr>
          <p:spPr>
            <a:xfrm>
              <a:off x="6904437" y="4587378"/>
              <a:ext cx="2969138" cy="0"/>
            </a:xfrm>
            <a:custGeom>
              <a:avLst/>
              <a:pathLst>
                <a:path w="2969138" h="0">
                  <a:moveTo>
                    <a:pt x="0" y="0"/>
                  </a:moveTo>
                  <a:lnTo>
                    <a:pt x="2969138" y="0"/>
                  </a:lnTo>
                  <a:lnTo>
                    <a:pt x="296913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l956"/>
            <p:cNvSpPr/>
            <p:nvPr/>
          </p:nvSpPr>
          <p:spPr>
            <a:xfrm>
              <a:off x="6904437" y="4357472"/>
              <a:ext cx="2969138" cy="0"/>
            </a:xfrm>
            <a:custGeom>
              <a:avLst/>
              <a:pathLst>
                <a:path w="2969138" h="0">
                  <a:moveTo>
                    <a:pt x="0" y="0"/>
                  </a:moveTo>
                  <a:lnTo>
                    <a:pt x="2969138" y="0"/>
                  </a:lnTo>
                  <a:lnTo>
                    <a:pt x="296913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l957"/>
            <p:cNvSpPr/>
            <p:nvPr/>
          </p:nvSpPr>
          <p:spPr>
            <a:xfrm>
              <a:off x="6904437" y="4817285"/>
              <a:ext cx="2969138" cy="0"/>
            </a:xfrm>
            <a:custGeom>
              <a:avLst/>
              <a:pathLst>
                <a:path w="2969138" h="0">
                  <a:moveTo>
                    <a:pt x="0" y="0"/>
                  </a:moveTo>
                  <a:lnTo>
                    <a:pt x="2969138" y="0"/>
                  </a:lnTo>
                  <a:lnTo>
                    <a:pt x="2969138" y="0"/>
                  </a:lnTo>
                </a:path>
              </a:pathLst>
            </a:custGeom>
            <a:ln w="8130" cap="flat">
              <a:solidFill>
                <a:srgbClr val="A6A6A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958" name="pl958"/>
            <p:cNvSpPr/>
            <p:nvPr/>
          </p:nvSpPr>
          <p:spPr>
            <a:xfrm>
              <a:off x="7767511" y="4211539"/>
              <a:ext cx="0" cy="1224170"/>
            </a:xfrm>
            <a:custGeom>
              <a:avLst/>
              <a:pathLst>
                <a:path w="0" h="1224170">
                  <a:moveTo>
                    <a:pt x="0" y="122417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A6A6A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959" name="pl959"/>
            <p:cNvSpPr/>
            <p:nvPr/>
          </p:nvSpPr>
          <p:spPr>
            <a:xfrm>
              <a:off x="6924010" y="4211539"/>
              <a:ext cx="1669706" cy="1224170"/>
            </a:xfrm>
            <a:custGeom>
              <a:avLst/>
              <a:pathLst>
                <a:path w="1669706" h="1224170">
                  <a:moveTo>
                    <a:pt x="0" y="1224170"/>
                  </a:moveTo>
                  <a:lnTo>
                    <a:pt x="1669706" y="0"/>
                  </a:lnTo>
                </a:path>
              </a:pathLst>
            </a:custGeom>
            <a:ln w="9485" cap="flat">
              <a:solidFill>
                <a:srgbClr val="8C8C8C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8079721" y="4942940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8284592" y="4807722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8152528" y="5011976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8605179" y="4863333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7856904" y="4873902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t965"/>
            <p:cNvSpPr/>
            <p:nvPr/>
          </p:nvSpPr>
          <p:spPr>
            <a:xfrm>
              <a:off x="8314994" y="4955010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t966"/>
            <p:cNvSpPr/>
            <p:nvPr/>
          </p:nvSpPr>
          <p:spPr>
            <a:xfrm>
              <a:off x="8539156" y="5004595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t967"/>
            <p:cNvSpPr/>
            <p:nvPr/>
          </p:nvSpPr>
          <p:spPr>
            <a:xfrm>
              <a:off x="8350724" y="5072039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t968"/>
            <p:cNvSpPr/>
            <p:nvPr/>
          </p:nvSpPr>
          <p:spPr>
            <a:xfrm>
              <a:off x="8753742" y="4881240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t969"/>
            <p:cNvSpPr/>
            <p:nvPr/>
          </p:nvSpPr>
          <p:spPr>
            <a:xfrm>
              <a:off x="8099210" y="4964403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t970"/>
            <p:cNvSpPr/>
            <p:nvPr/>
          </p:nvSpPr>
          <p:spPr>
            <a:xfrm>
              <a:off x="7958492" y="4977703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t971"/>
            <p:cNvSpPr/>
            <p:nvPr/>
          </p:nvSpPr>
          <p:spPr>
            <a:xfrm>
              <a:off x="7978477" y="4897823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t972"/>
            <p:cNvSpPr/>
            <p:nvPr/>
          </p:nvSpPr>
          <p:spPr>
            <a:xfrm>
              <a:off x="8146003" y="4756707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t973"/>
            <p:cNvSpPr/>
            <p:nvPr/>
          </p:nvSpPr>
          <p:spPr>
            <a:xfrm>
              <a:off x="8333187" y="4994164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t974"/>
            <p:cNvSpPr/>
            <p:nvPr/>
          </p:nvSpPr>
          <p:spPr>
            <a:xfrm>
              <a:off x="7810413" y="5349215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t975"/>
            <p:cNvSpPr/>
            <p:nvPr/>
          </p:nvSpPr>
          <p:spPr>
            <a:xfrm>
              <a:off x="8408230" y="4853826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t976"/>
            <p:cNvSpPr/>
            <p:nvPr/>
          </p:nvSpPr>
          <p:spPr>
            <a:xfrm>
              <a:off x="8262440" y="4928103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t977"/>
            <p:cNvSpPr/>
            <p:nvPr/>
          </p:nvSpPr>
          <p:spPr>
            <a:xfrm>
              <a:off x="7957347" y="5234217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t978"/>
            <p:cNvSpPr/>
            <p:nvPr/>
          </p:nvSpPr>
          <p:spPr>
            <a:xfrm>
              <a:off x="8040036" y="5022187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t979"/>
            <p:cNvSpPr/>
            <p:nvPr/>
          </p:nvSpPr>
          <p:spPr>
            <a:xfrm>
              <a:off x="7781403" y="5338745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t980"/>
            <p:cNvSpPr/>
            <p:nvPr/>
          </p:nvSpPr>
          <p:spPr>
            <a:xfrm>
              <a:off x="8182447" y="4808489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t981"/>
            <p:cNvSpPr/>
            <p:nvPr/>
          </p:nvSpPr>
          <p:spPr>
            <a:xfrm>
              <a:off x="7956521" y="4816947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t982"/>
            <p:cNvSpPr/>
            <p:nvPr/>
          </p:nvSpPr>
          <p:spPr>
            <a:xfrm>
              <a:off x="8245366" y="4990631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t983"/>
            <p:cNvSpPr/>
            <p:nvPr/>
          </p:nvSpPr>
          <p:spPr>
            <a:xfrm>
              <a:off x="8436465" y="5040269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t984"/>
            <p:cNvSpPr/>
            <p:nvPr/>
          </p:nvSpPr>
          <p:spPr>
            <a:xfrm>
              <a:off x="7972113" y="5254119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t985"/>
            <p:cNvSpPr/>
            <p:nvPr/>
          </p:nvSpPr>
          <p:spPr>
            <a:xfrm>
              <a:off x="8369301" y="4785390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t986"/>
            <p:cNvSpPr/>
            <p:nvPr/>
          </p:nvSpPr>
          <p:spPr>
            <a:xfrm>
              <a:off x="8136180" y="4953560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t987"/>
            <p:cNvSpPr/>
            <p:nvPr/>
          </p:nvSpPr>
          <p:spPr>
            <a:xfrm>
              <a:off x="8078601" y="4776579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t988"/>
            <p:cNvSpPr/>
            <p:nvPr/>
          </p:nvSpPr>
          <p:spPr>
            <a:xfrm>
              <a:off x="7625911" y="4874459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t989"/>
            <p:cNvSpPr/>
            <p:nvPr/>
          </p:nvSpPr>
          <p:spPr>
            <a:xfrm>
              <a:off x="7754255" y="4558491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t990"/>
            <p:cNvSpPr/>
            <p:nvPr/>
          </p:nvSpPr>
          <p:spPr>
            <a:xfrm>
              <a:off x="8452243" y="4857444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tx991"/>
            <p:cNvSpPr/>
            <p:nvPr/>
          </p:nvSpPr>
          <p:spPr>
            <a:xfrm>
              <a:off x="7039398" y="4283458"/>
              <a:ext cx="386242" cy="620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rho = 0.11</a:t>
              </a:r>
            </a:p>
          </p:txBody>
        </p:sp>
        <p:sp>
          <p:nvSpPr>
            <p:cNvPr id="992" name="tx992"/>
            <p:cNvSpPr/>
            <p:nvPr/>
          </p:nvSpPr>
          <p:spPr>
            <a:xfrm>
              <a:off x="7039398" y="4408341"/>
              <a:ext cx="722650" cy="620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16% agree on sign</a:t>
              </a:r>
            </a:p>
          </p:txBody>
        </p:sp>
        <p:sp>
          <p:nvSpPr>
            <p:cNvPr id="993" name="rc993"/>
            <p:cNvSpPr/>
            <p:nvPr/>
          </p:nvSpPr>
          <p:spPr>
            <a:xfrm>
              <a:off x="6904437" y="5492647"/>
              <a:ext cx="2969138" cy="122417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4" name="pl994"/>
            <p:cNvSpPr/>
            <p:nvPr/>
          </p:nvSpPr>
          <p:spPr>
            <a:xfrm>
              <a:off x="6904437" y="6558206"/>
              <a:ext cx="2969138" cy="0"/>
            </a:xfrm>
            <a:custGeom>
              <a:avLst/>
              <a:pathLst>
                <a:path w="2969138" h="0">
                  <a:moveTo>
                    <a:pt x="0" y="0"/>
                  </a:moveTo>
                  <a:lnTo>
                    <a:pt x="2969138" y="0"/>
                  </a:lnTo>
                  <a:lnTo>
                    <a:pt x="296913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l995"/>
            <p:cNvSpPr/>
            <p:nvPr/>
          </p:nvSpPr>
          <p:spPr>
            <a:xfrm>
              <a:off x="6904437" y="6328299"/>
              <a:ext cx="2969138" cy="0"/>
            </a:xfrm>
            <a:custGeom>
              <a:avLst/>
              <a:pathLst>
                <a:path w="2969138" h="0">
                  <a:moveTo>
                    <a:pt x="0" y="0"/>
                  </a:moveTo>
                  <a:lnTo>
                    <a:pt x="2969138" y="0"/>
                  </a:lnTo>
                  <a:lnTo>
                    <a:pt x="296913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l996"/>
            <p:cNvSpPr/>
            <p:nvPr/>
          </p:nvSpPr>
          <p:spPr>
            <a:xfrm>
              <a:off x="6904437" y="6098392"/>
              <a:ext cx="2969138" cy="0"/>
            </a:xfrm>
            <a:custGeom>
              <a:avLst/>
              <a:pathLst>
                <a:path w="2969138" h="0">
                  <a:moveTo>
                    <a:pt x="0" y="0"/>
                  </a:moveTo>
                  <a:lnTo>
                    <a:pt x="2969138" y="0"/>
                  </a:lnTo>
                  <a:lnTo>
                    <a:pt x="296913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l997"/>
            <p:cNvSpPr/>
            <p:nvPr/>
          </p:nvSpPr>
          <p:spPr>
            <a:xfrm>
              <a:off x="6904437" y="5868486"/>
              <a:ext cx="2969138" cy="0"/>
            </a:xfrm>
            <a:custGeom>
              <a:avLst/>
              <a:pathLst>
                <a:path w="2969138" h="0">
                  <a:moveTo>
                    <a:pt x="0" y="0"/>
                  </a:moveTo>
                  <a:lnTo>
                    <a:pt x="2969138" y="0"/>
                  </a:lnTo>
                  <a:lnTo>
                    <a:pt x="296913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l998"/>
            <p:cNvSpPr/>
            <p:nvPr/>
          </p:nvSpPr>
          <p:spPr>
            <a:xfrm>
              <a:off x="6904437" y="5638579"/>
              <a:ext cx="2969138" cy="0"/>
            </a:xfrm>
            <a:custGeom>
              <a:avLst/>
              <a:pathLst>
                <a:path w="2969138" h="0">
                  <a:moveTo>
                    <a:pt x="0" y="0"/>
                  </a:moveTo>
                  <a:lnTo>
                    <a:pt x="2969138" y="0"/>
                  </a:lnTo>
                  <a:lnTo>
                    <a:pt x="296913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l999"/>
            <p:cNvSpPr/>
            <p:nvPr/>
          </p:nvSpPr>
          <p:spPr>
            <a:xfrm>
              <a:off x="6904437" y="6098392"/>
              <a:ext cx="2969138" cy="0"/>
            </a:xfrm>
            <a:custGeom>
              <a:avLst/>
              <a:pathLst>
                <a:path w="2969138" h="0">
                  <a:moveTo>
                    <a:pt x="0" y="0"/>
                  </a:moveTo>
                  <a:lnTo>
                    <a:pt x="2969138" y="0"/>
                  </a:lnTo>
                  <a:lnTo>
                    <a:pt x="2969138" y="0"/>
                  </a:lnTo>
                </a:path>
              </a:pathLst>
            </a:custGeom>
            <a:ln w="8130" cap="flat">
              <a:solidFill>
                <a:srgbClr val="A6A6A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1000" name="pl1000"/>
            <p:cNvSpPr/>
            <p:nvPr/>
          </p:nvSpPr>
          <p:spPr>
            <a:xfrm>
              <a:off x="7767511" y="5492647"/>
              <a:ext cx="0" cy="1224170"/>
            </a:xfrm>
            <a:custGeom>
              <a:avLst/>
              <a:pathLst>
                <a:path w="0" h="1224170">
                  <a:moveTo>
                    <a:pt x="0" y="122417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A6A6A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1001" name="pl1001"/>
            <p:cNvSpPr/>
            <p:nvPr/>
          </p:nvSpPr>
          <p:spPr>
            <a:xfrm>
              <a:off x="6924010" y="5492647"/>
              <a:ext cx="1669706" cy="1224170"/>
            </a:xfrm>
            <a:custGeom>
              <a:avLst/>
              <a:pathLst>
                <a:path w="1669706" h="1224170">
                  <a:moveTo>
                    <a:pt x="0" y="1224170"/>
                  </a:moveTo>
                  <a:lnTo>
                    <a:pt x="1669706" y="0"/>
                  </a:lnTo>
                </a:path>
              </a:pathLst>
            </a:custGeom>
            <a:ln w="9485" cap="flat">
              <a:solidFill>
                <a:srgbClr val="8C8C8C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02" name="pt1002"/>
            <p:cNvSpPr/>
            <p:nvPr/>
          </p:nvSpPr>
          <p:spPr>
            <a:xfrm>
              <a:off x="9110963" y="6276435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t1003"/>
            <p:cNvSpPr/>
            <p:nvPr/>
          </p:nvSpPr>
          <p:spPr>
            <a:xfrm>
              <a:off x="9059598" y="6171205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t1004"/>
            <p:cNvSpPr/>
            <p:nvPr/>
          </p:nvSpPr>
          <p:spPr>
            <a:xfrm>
              <a:off x="9104711" y="6292330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t1005"/>
            <p:cNvSpPr/>
            <p:nvPr/>
          </p:nvSpPr>
          <p:spPr>
            <a:xfrm>
              <a:off x="9670210" y="6150840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t1006"/>
            <p:cNvSpPr/>
            <p:nvPr/>
          </p:nvSpPr>
          <p:spPr>
            <a:xfrm>
              <a:off x="8357319" y="6082380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t1007"/>
            <p:cNvSpPr/>
            <p:nvPr/>
          </p:nvSpPr>
          <p:spPr>
            <a:xfrm>
              <a:off x="9557420" y="6231866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t1008"/>
            <p:cNvSpPr/>
            <p:nvPr/>
          </p:nvSpPr>
          <p:spPr>
            <a:xfrm>
              <a:off x="9472047" y="6286254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t1009"/>
            <p:cNvSpPr/>
            <p:nvPr/>
          </p:nvSpPr>
          <p:spPr>
            <a:xfrm>
              <a:off x="9363360" y="6357617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t1010"/>
            <p:cNvSpPr/>
            <p:nvPr/>
          </p:nvSpPr>
          <p:spPr>
            <a:xfrm>
              <a:off x="9718672" y="6174165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t1011"/>
            <p:cNvSpPr/>
            <p:nvPr/>
          </p:nvSpPr>
          <p:spPr>
            <a:xfrm>
              <a:off x="8853458" y="6307820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t1012"/>
            <p:cNvSpPr/>
            <p:nvPr/>
          </p:nvSpPr>
          <p:spPr>
            <a:xfrm>
              <a:off x="8184009" y="6290556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t1013"/>
            <p:cNvSpPr/>
            <p:nvPr/>
          </p:nvSpPr>
          <p:spPr>
            <a:xfrm>
              <a:off x="9028823" y="6196160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t1014"/>
            <p:cNvSpPr/>
            <p:nvPr/>
          </p:nvSpPr>
          <p:spPr>
            <a:xfrm>
              <a:off x="9234048" y="6086731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t1015"/>
            <p:cNvSpPr/>
            <p:nvPr/>
          </p:nvSpPr>
          <p:spPr>
            <a:xfrm>
              <a:off x="9203984" y="6271109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t1016"/>
            <p:cNvSpPr/>
            <p:nvPr/>
          </p:nvSpPr>
          <p:spPr>
            <a:xfrm>
              <a:off x="8005082" y="6630653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t1017"/>
            <p:cNvSpPr/>
            <p:nvPr/>
          </p:nvSpPr>
          <p:spPr>
            <a:xfrm>
              <a:off x="9472070" y="6132639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t1018"/>
            <p:cNvSpPr/>
            <p:nvPr/>
          </p:nvSpPr>
          <p:spPr>
            <a:xfrm>
              <a:off x="9240194" y="6212947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t1019"/>
            <p:cNvSpPr/>
            <p:nvPr/>
          </p:nvSpPr>
          <p:spPr>
            <a:xfrm>
              <a:off x="8202038" y="6547590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t1020"/>
            <p:cNvSpPr/>
            <p:nvPr/>
          </p:nvSpPr>
          <p:spPr>
            <a:xfrm>
              <a:off x="8569075" y="6338416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t1021"/>
            <p:cNvSpPr/>
            <p:nvPr/>
          </p:nvSpPr>
          <p:spPr>
            <a:xfrm>
              <a:off x="8131313" y="6583987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t1022"/>
            <p:cNvSpPr/>
            <p:nvPr/>
          </p:nvSpPr>
          <p:spPr>
            <a:xfrm>
              <a:off x="9037243" y="6109903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t1023"/>
            <p:cNvSpPr/>
            <p:nvPr/>
          </p:nvSpPr>
          <p:spPr>
            <a:xfrm>
              <a:off x="8732114" y="6146022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t1024"/>
            <p:cNvSpPr/>
            <p:nvPr/>
          </p:nvSpPr>
          <p:spPr>
            <a:xfrm>
              <a:off x="9251332" y="6302161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t1025"/>
            <p:cNvSpPr/>
            <p:nvPr/>
          </p:nvSpPr>
          <p:spPr>
            <a:xfrm>
              <a:off x="9636059" y="6327730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t1026"/>
            <p:cNvSpPr/>
            <p:nvPr/>
          </p:nvSpPr>
          <p:spPr>
            <a:xfrm>
              <a:off x="8743164" y="6581777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t1027"/>
            <p:cNvSpPr/>
            <p:nvPr/>
          </p:nvSpPr>
          <p:spPr>
            <a:xfrm>
              <a:off x="9388307" y="6069766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t1028"/>
            <p:cNvSpPr/>
            <p:nvPr/>
          </p:nvSpPr>
          <p:spPr>
            <a:xfrm>
              <a:off x="8903589" y="6299103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t1029"/>
            <p:cNvSpPr/>
            <p:nvPr/>
          </p:nvSpPr>
          <p:spPr>
            <a:xfrm>
              <a:off x="8756519" y="6093795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t1030"/>
            <p:cNvSpPr/>
            <p:nvPr/>
          </p:nvSpPr>
          <p:spPr>
            <a:xfrm>
              <a:off x="7797438" y="6120514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t1031"/>
            <p:cNvSpPr/>
            <p:nvPr/>
          </p:nvSpPr>
          <p:spPr>
            <a:xfrm>
              <a:off x="8274819" y="5757184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t1032"/>
            <p:cNvSpPr/>
            <p:nvPr/>
          </p:nvSpPr>
          <p:spPr>
            <a:xfrm>
              <a:off x="9469625" y="6119465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tx1033"/>
            <p:cNvSpPr/>
            <p:nvPr/>
          </p:nvSpPr>
          <p:spPr>
            <a:xfrm>
              <a:off x="7039398" y="5564565"/>
              <a:ext cx="392643" cy="620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rho = 0.18</a:t>
              </a:r>
            </a:p>
          </p:txBody>
        </p:sp>
        <p:sp>
          <p:nvSpPr>
            <p:cNvPr id="1034" name="tx1034"/>
            <p:cNvSpPr/>
            <p:nvPr/>
          </p:nvSpPr>
          <p:spPr>
            <a:xfrm>
              <a:off x="7039398" y="5689448"/>
              <a:ext cx="674461" cy="620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6% agree on sign</a:t>
              </a:r>
            </a:p>
          </p:txBody>
        </p:sp>
        <p:sp>
          <p:nvSpPr>
            <p:cNvPr id="1035" name="tx1035"/>
            <p:cNvSpPr/>
            <p:nvPr/>
          </p:nvSpPr>
          <p:spPr>
            <a:xfrm>
              <a:off x="897836" y="4072173"/>
              <a:ext cx="254203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1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2030</a:t>
              </a:r>
            </a:p>
          </p:txBody>
        </p:sp>
        <p:sp>
          <p:nvSpPr>
            <p:cNvPr id="1036" name="tx1036"/>
            <p:cNvSpPr/>
            <p:nvPr/>
          </p:nvSpPr>
          <p:spPr>
            <a:xfrm>
              <a:off x="3923911" y="4072173"/>
              <a:ext cx="254203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1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2050</a:t>
              </a:r>
            </a:p>
          </p:txBody>
        </p:sp>
        <p:sp>
          <p:nvSpPr>
            <p:cNvPr id="1037" name="tx1037"/>
            <p:cNvSpPr/>
            <p:nvPr/>
          </p:nvSpPr>
          <p:spPr>
            <a:xfrm>
              <a:off x="6949986" y="4072173"/>
              <a:ext cx="254203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1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2080</a:t>
              </a:r>
            </a:p>
          </p:txBody>
        </p:sp>
        <p:sp>
          <p:nvSpPr>
            <p:cNvPr id="1038" name="tx1038"/>
            <p:cNvSpPr/>
            <p:nvPr/>
          </p:nvSpPr>
          <p:spPr>
            <a:xfrm rot="5400000">
              <a:off x="9727421" y="4460771"/>
              <a:ext cx="489204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1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SSP2-4.5</a:t>
              </a:r>
            </a:p>
          </p:txBody>
        </p:sp>
        <p:sp>
          <p:nvSpPr>
            <p:cNvPr id="1039" name="tx1039"/>
            <p:cNvSpPr/>
            <p:nvPr/>
          </p:nvSpPr>
          <p:spPr>
            <a:xfrm rot="5400000">
              <a:off x="9727421" y="5741878"/>
              <a:ext cx="489204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1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SSP5-8.5</a:t>
              </a:r>
            </a:p>
          </p:txBody>
        </p:sp>
        <p:sp>
          <p:nvSpPr>
            <p:cNvPr id="1040" name="pl1040"/>
            <p:cNvSpPr/>
            <p:nvPr/>
          </p:nvSpPr>
          <p:spPr>
            <a:xfrm>
              <a:off x="852287" y="6716817"/>
              <a:ext cx="2969138" cy="0"/>
            </a:xfrm>
            <a:custGeom>
              <a:avLst/>
              <a:pathLst>
                <a:path w="2969138" h="0">
                  <a:moveTo>
                    <a:pt x="0" y="0"/>
                  </a:moveTo>
                  <a:lnTo>
                    <a:pt x="2969138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l1041"/>
            <p:cNvSpPr/>
            <p:nvPr/>
          </p:nvSpPr>
          <p:spPr>
            <a:xfrm>
              <a:off x="1401779" y="671681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l1042"/>
            <p:cNvSpPr/>
            <p:nvPr/>
          </p:nvSpPr>
          <p:spPr>
            <a:xfrm>
              <a:off x="1715360" y="671681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l1043"/>
            <p:cNvSpPr/>
            <p:nvPr/>
          </p:nvSpPr>
          <p:spPr>
            <a:xfrm>
              <a:off x="2342523" y="671681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l1044"/>
            <p:cNvSpPr/>
            <p:nvPr/>
          </p:nvSpPr>
          <p:spPr>
            <a:xfrm>
              <a:off x="2969685" y="671681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l1045"/>
            <p:cNvSpPr/>
            <p:nvPr/>
          </p:nvSpPr>
          <p:spPr>
            <a:xfrm>
              <a:off x="3596848" y="671681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tx1046"/>
            <p:cNvSpPr/>
            <p:nvPr/>
          </p:nvSpPr>
          <p:spPr>
            <a:xfrm>
              <a:off x="1338366" y="6768060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0.5</a:t>
              </a:r>
            </a:p>
          </p:txBody>
        </p:sp>
        <p:sp>
          <p:nvSpPr>
            <p:cNvPr id="1047" name="tx1047"/>
            <p:cNvSpPr/>
            <p:nvPr/>
          </p:nvSpPr>
          <p:spPr>
            <a:xfrm>
              <a:off x="1651947" y="6768060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1.0</a:t>
              </a:r>
            </a:p>
          </p:txBody>
        </p:sp>
        <p:sp>
          <p:nvSpPr>
            <p:cNvPr id="1048" name="tx1048"/>
            <p:cNvSpPr/>
            <p:nvPr/>
          </p:nvSpPr>
          <p:spPr>
            <a:xfrm>
              <a:off x="2279109" y="6768060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4.0</a:t>
              </a:r>
            </a:p>
          </p:txBody>
        </p:sp>
        <p:sp>
          <p:nvSpPr>
            <p:cNvPr id="1049" name="tx1049"/>
            <p:cNvSpPr/>
            <p:nvPr/>
          </p:nvSpPr>
          <p:spPr>
            <a:xfrm>
              <a:off x="2880897" y="6768060"/>
              <a:ext cx="17757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16.0</a:t>
              </a:r>
            </a:p>
          </p:txBody>
        </p:sp>
        <p:sp>
          <p:nvSpPr>
            <p:cNvPr id="1050" name="tx1050"/>
            <p:cNvSpPr/>
            <p:nvPr/>
          </p:nvSpPr>
          <p:spPr>
            <a:xfrm>
              <a:off x="3508059" y="6768060"/>
              <a:ext cx="17757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64.0</a:t>
              </a:r>
            </a:p>
          </p:txBody>
        </p:sp>
        <p:sp>
          <p:nvSpPr>
            <p:cNvPr id="1051" name="pl1051"/>
            <p:cNvSpPr/>
            <p:nvPr/>
          </p:nvSpPr>
          <p:spPr>
            <a:xfrm>
              <a:off x="3878362" y="6716817"/>
              <a:ext cx="2969138" cy="0"/>
            </a:xfrm>
            <a:custGeom>
              <a:avLst/>
              <a:pathLst>
                <a:path w="2969138" h="0">
                  <a:moveTo>
                    <a:pt x="0" y="0"/>
                  </a:moveTo>
                  <a:lnTo>
                    <a:pt x="2969138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l1052"/>
            <p:cNvSpPr/>
            <p:nvPr/>
          </p:nvSpPr>
          <p:spPr>
            <a:xfrm>
              <a:off x="4427854" y="671681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l1053"/>
            <p:cNvSpPr/>
            <p:nvPr/>
          </p:nvSpPr>
          <p:spPr>
            <a:xfrm>
              <a:off x="4741436" y="671681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l1054"/>
            <p:cNvSpPr/>
            <p:nvPr/>
          </p:nvSpPr>
          <p:spPr>
            <a:xfrm>
              <a:off x="5368598" y="671681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l1055"/>
            <p:cNvSpPr/>
            <p:nvPr/>
          </p:nvSpPr>
          <p:spPr>
            <a:xfrm>
              <a:off x="5995760" y="671681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l1056"/>
            <p:cNvSpPr/>
            <p:nvPr/>
          </p:nvSpPr>
          <p:spPr>
            <a:xfrm>
              <a:off x="6622923" y="671681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tx1057"/>
            <p:cNvSpPr/>
            <p:nvPr/>
          </p:nvSpPr>
          <p:spPr>
            <a:xfrm>
              <a:off x="4364441" y="6768060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0.5</a:t>
              </a:r>
            </a:p>
          </p:txBody>
        </p:sp>
        <p:sp>
          <p:nvSpPr>
            <p:cNvPr id="1058" name="tx1058"/>
            <p:cNvSpPr/>
            <p:nvPr/>
          </p:nvSpPr>
          <p:spPr>
            <a:xfrm>
              <a:off x="4678022" y="6768060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1.0</a:t>
              </a:r>
            </a:p>
          </p:txBody>
        </p:sp>
        <p:sp>
          <p:nvSpPr>
            <p:cNvPr id="1059" name="tx1059"/>
            <p:cNvSpPr/>
            <p:nvPr/>
          </p:nvSpPr>
          <p:spPr>
            <a:xfrm>
              <a:off x="5305184" y="6768060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4.0</a:t>
              </a:r>
            </a:p>
          </p:txBody>
        </p:sp>
        <p:sp>
          <p:nvSpPr>
            <p:cNvPr id="1060" name="tx1060"/>
            <p:cNvSpPr/>
            <p:nvPr/>
          </p:nvSpPr>
          <p:spPr>
            <a:xfrm>
              <a:off x="5906972" y="6768060"/>
              <a:ext cx="17757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16.0</a:t>
              </a:r>
            </a:p>
          </p:txBody>
        </p:sp>
        <p:sp>
          <p:nvSpPr>
            <p:cNvPr id="1061" name="tx1061"/>
            <p:cNvSpPr/>
            <p:nvPr/>
          </p:nvSpPr>
          <p:spPr>
            <a:xfrm>
              <a:off x="6534134" y="6768060"/>
              <a:ext cx="17757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64.0</a:t>
              </a:r>
            </a:p>
          </p:txBody>
        </p:sp>
        <p:sp>
          <p:nvSpPr>
            <p:cNvPr id="1062" name="pl1062"/>
            <p:cNvSpPr/>
            <p:nvPr/>
          </p:nvSpPr>
          <p:spPr>
            <a:xfrm>
              <a:off x="6904437" y="6716817"/>
              <a:ext cx="2969138" cy="0"/>
            </a:xfrm>
            <a:custGeom>
              <a:avLst/>
              <a:pathLst>
                <a:path w="2969138" h="0">
                  <a:moveTo>
                    <a:pt x="0" y="0"/>
                  </a:moveTo>
                  <a:lnTo>
                    <a:pt x="2969138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l1063"/>
            <p:cNvSpPr/>
            <p:nvPr/>
          </p:nvSpPr>
          <p:spPr>
            <a:xfrm>
              <a:off x="7453930" y="671681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l1064"/>
            <p:cNvSpPr/>
            <p:nvPr/>
          </p:nvSpPr>
          <p:spPr>
            <a:xfrm>
              <a:off x="7767511" y="671681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l1065"/>
            <p:cNvSpPr/>
            <p:nvPr/>
          </p:nvSpPr>
          <p:spPr>
            <a:xfrm>
              <a:off x="8394673" y="671681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l1066"/>
            <p:cNvSpPr/>
            <p:nvPr/>
          </p:nvSpPr>
          <p:spPr>
            <a:xfrm>
              <a:off x="9021835" y="671681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l1067"/>
            <p:cNvSpPr/>
            <p:nvPr/>
          </p:nvSpPr>
          <p:spPr>
            <a:xfrm>
              <a:off x="9648998" y="671681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tx1068"/>
            <p:cNvSpPr/>
            <p:nvPr/>
          </p:nvSpPr>
          <p:spPr>
            <a:xfrm>
              <a:off x="7390516" y="6768060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0.5</a:t>
              </a:r>
            </a:p>
          </p:txBody>
        </p:sp>
        <p:sp>
          <p:nvSpPr>
            <p:cNvPr id="1069" name="tx1069"/>
            <p:cNvSpPr/>
            <p:nvPr/>
          </p:nvSpPr>
          <p:spPr>
            <a:xfrm>
              <a:off x="7704097" y="6768060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1.0</a:t>
              </a:r>
            </a:p>
          </p:txBody>
        </p:sp>
        <p:sp>
          <p:nvSpPr>
            <p:cNvPr id="1070" name="tx1070"/>
            <p:cNvSpPr/>
            <p:nvPr/>
          </p:nvSpPr>
          <p:spPr>
            <a:xfrm>
              <a:off x="8331259" y="6768060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4.0</a:t>
              </a:r>
            </a:p>
          </p:txBody>
        </p:sp>
        <p:sp>
          <p:nvSpPr>
            <p:cNvPr id="1071" name="tx1071"/>
            <p:cNvSpPr/>
            <p:nvPr/>
          </p:nvSpPr>
          <p:spPr>
            <a:xfrm>
              <a:off x="8933047" y="6768060"/>
              <a:ext cx="17757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16.0</a:t>
              </a:r>
            </a:p>
          </p:txBody>
        </p:sp>
        <p:sp>
          <p:nvSpPr>
            <p:cNvPr id="1072" name="tx1072"/>
            <p:cNvSpPr/>
            <p:nvPr/>
          </p:nvSpPr>
          <p:spPr>
            <a:xfrm>
              <a:off x="9560210" y="6768060"/>
              <a:ext cx="17757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64.0</a:t>
              </a:r>
            </a:p>
          </p:txBody>
        </p:sp>
        <p:sp>
          <p:nvSpPr>
            <p:cNvPr id="1073" name="pl1073"/>
            <p:cNvSpPr/>
            <p:nvPr/>
          </p:nvSpPr>
          <p:spPr>
            <a:xfrm>
              <a:off x="852287" y="4211539"/>
              <a:ext cx="0" cy="1224170"/>
            </a:xfrm>
            <a:custGeom>
              <a:avLst/>
              <a:pathLst>
                <a:path w="0" h="1224170">
                  <a:moveTo>
                    <a:pt x="0" y="1224170"/>
                  </a:moveTo>
                  <a:lnTo>
                    <a:pt x="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tx1074"/>
            <p:cNvSpPr/>
            <p:nvPr/>
          </p:nvSpPr>
          <p:spPr>
            <a:xfrm>
              <a:off x="623467" y="5244409"/>
              <a:ext cx="17757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1075" name="tx1075"/>
            <p:cNvSpPr/>
            <p:nvPr/>
          </p:nvSpPr>
          <p:spPr>
            <a:xfrm>
              <a:off x="623467" y="5014502"/>
              <a:ext cx="17757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1076" name="tx1076"/>
            <p:cNvSpPr/>
            <p:nvPr/>
          </p:nvSpPr>
          <p:spPr>
            <a:xfrm>
              <a:off x="623467" y="4784595"/>
              <a:ext cx="17757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1077" name="tx1077"/>
            <p:cNvSpPr/>
            <p:nvPr/>
          </p:nvSpPr>
          <p:spPr>
            <a:xfrm>
              <a:off x="623467" y="4554689"/>
              <a:ext cx="17757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2.00</a:t>
              </a:r>
            </a:p>
          </p:txBody>
        </p:sp>
        <p:sp>
          <p:nvSpPr>
            <p:cNvPr id="1078" name="tx1078"/>
            <p:cNvSpPr/>
            <p:nvPr/>
          </p:nvSpPr>
          <p:spPr>
            <a:xfrm>
              <a:off x="623467" y="4324782"/>
              <a:ext cx="17757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4.00</a:t>
              </a:r>
            </a:p>
          </p:txBody>
        </p:sp>
        <p:sp>
          <p:nvSpPr>
            <p:cNvPr id="1079" name="pl1079"/>
            <p:cNvSpPr/>
            <p:nvPr/>
          </p:nvSpPr>
          <p:spPr>
            <a:xfrm>
              <a:off x="823818" y="527709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l1080"/>
            <p:cNvSpPr/>
            <p:nvPr/>
          </p:nvSpPr>
          <p:spPr>
            <a:xfrm>
              <a:off x="823818" y="504719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l1081"/>
            <p:cNvSpPr/>
            <p:nvPr/>
          </p:nvSpPr>
          <p:spPr>
            <a:xfrm>
              <a:off x="823818" y="481728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l1082"/>
            <p:cNvSpPr/>
            <p:nvPr/>
          </p:nvSpPr>
          <p:spPr>
            <a:xfrm>
              <a:off x="823818" y="458737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l1083"/>
            <p:cNvSpPr/>
            <p:nvPr/>
          </p:nvSpPr>
          <p:spPr>
            <a:xfrm>
              <a:off x="823818" y="435747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l1084"/>
            <p:cNvSpPr/>
            <p:nvPr/>
          </p:nvSpPr>
          <p:spPr>
            <a:xfrm>
              <a:off x="852287" y="5492647"/>
              <a:ext cx="0" cy="1224170"/>
            </a:xfrm>
            <a:custGeom>
              <a:avLst/>
              <a:pathLst>
                <a:path w="0" h="1224170">
                  <a:moveTo>
                    <a:pt x="0" y="1224170"/>
                  </a:moveTo>
                  <a:lnTo>
                    <a:pt x="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tx1085"/>
            <p:cNvSpPr/>
            <p:nvPr/>
          </p:nvSpPr>
          <p:spPr>
            <a:xfrm>
              <a:off x="623467" y="6525516"/>
              <a:ext cx="17757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1086" name="tx1086"/>
            <p:cNvSpPr/>
            <p:nvPr/>
          </p:nvSpPr>
          <p:spPr>
            <a:xfrm>
              <a:off x="623467" y="6295609"/>
              <a:ext cx="17757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1087" name="tx1087"/>
            <p:cNvSpPr/>
            <p:nvPr/>
          </p:nvSpPr>
          <p:spPr>
            <a:xfrm>
              <a:off x="623467" y="6065703"/>
              <a:ext cx="17757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1088" name="tx1088"/>
            <p:cNvSpPr/>
            <p:nvPr/>
          </p:nvSpPr>
          <p:spPr>
            <a:xfrm>
              <a:off x="623467" y="5835796"/>
              <a:ext cx="17757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2.00</a:t>
              </a:r>
            </a:p>
          </p:txBody>
        </p:sp>
        <p:sp>
          <p:nvSpPr>
            <p:cNvPr id="1089" name="tx1089"/>
            <p:cNvSpPr/>
            <p:nvPr/>
          </p:nvSpPr>
          <p:spPr>
            <a:xfrm>
              <a:off x="623467" y="5605889"/>
              <a:ext cx="17757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4.00</a:t>
              </a:r>
            </a:p>
          </p:txBody>
        </p:sp>
        <p:sp>
          <p:nvSpPr>
            <p:cNvPr id="1090" name="pl1090"/>
            <p:cNvSpPr/>
            <p:nvPr/>
          </p:nvSpPr>
          <p:spPr>
            <a:xfrm>
              <a:off x="823818" y="655820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l1091"/>
            <p:cNvSpPr/>
            <p:nvPr/>
          </p:nvSpPr>
          <p:spPr>
            <a:xfrm>
              <a:off x="823818" y="632829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l1092"/>
            <p:cNvSpPr/>
            <p:nvPr/>
          </p:nvSpPr>
          <p:spPr>
            <a:xfrm>
              <a:off x="823818" y="609839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l1093"/>
            <p:cNvSpPr/>
            <p:nvPr/>
          </p:nvSpPr>
          <p:spPr>
            <a:xfrm>
              <a:off x="823818" y="586848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l1094"/>
            <p:cNvSpPr/>
            <p:nvPr/>
          </p:nvSpPr>
          <p:spPr>
            <a:xfrm>
              <a:off x="823818" y="563857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tx1095"/>
            <p:cNvSpPr/>
            <p:nvPr/>
          </p:nvSpPr>
          <p:spPr>
            <a:xfrm>
              <a:off x="4527672" y="6881019"/>
              <a:ext cx="1670517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Mechanistic hazard ratio vs 2024</a:t>
              </a:r>
            </a:p>
          </p:txBody>
        </p:sp>
        <p:sp>
          <p:nvSpPr>
            <p:cNvPr id="1096" name="tx1096"/>
            <p:cNvSpPr/>
            <p:nvPr/>
          </p:nvSpPr>
          <p:spPr>
            <a:xfrm rot="-5400000">
              <a:off x="-492496" y="5423259"/>
              <a:ext cx="1943740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Machine-learning hazard ratio vs 2024</a:t>
              </a:r>
            </a:p>
          </p:txBody>
        </p:sp>
        <p:sp>
          <p:nvSpPr>
            <p:cNvPr id="1097" name="tx1097"/>
            <p:cNvSpPr/>
            <p:nvPr/>
          </p:nvSpPr>
          <p:spPr>
            <a:xfrm>
              <a:off x="852287" y="3861422"/>
              <a:ext cx="4810109" cy="74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The mechanistic model projects increases in 176 of 186 province-scenario cells, the ML model in only 42</a:t>
              </a:r>
            </a:p>
          </p:txBody>
        </p:sp>
        <p:sp>
          <p:nvSpPr>
            <p:cNvPr id="1098" name="tx1098"/>
            <p:cNvSpPr/>
            <p:nvPr/>
          </p:nvSpPr>
          <p:spPr>
            <a:xfrm>
              <a:off x="852287" y="3686802"/>
              <a:ext cx="2068464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Outside it they diverge completely</a:t>
              </a:r>
            </a:p>
          </p:txBody>
        </p:sp>
        <p:sp>
          <p:nvSpPr>
            <p:cNvPr id="1099" name="tx1099"/>
            <p:cNvSpPr/>
            <p:nvPr/>
          </p:nvSpPr>
          <p:spPr>
            <a:xfrm>
              <a:off x="353689" y="3561621"/>
              <a:ext cx="84764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2026-07-26T19:29:07Z</dcterms:modified>
  <cp:category/>
</cp:coreProperties>
</file>