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8229600" cy="5852160"/>
            <a:chOff x="182880" y="182880"/>
            <a:chExt cx="8229600" cy="585216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8229600" cy="5852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8229599" cy="58521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3041912"/>
              <a:ext cx="8090421" cy="292353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52469" y="252469"/>
              <a:ext cx="3666922" cy="27894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19391" y="252469"/>
              <a:ext cx="4423499" cy="27894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906041" y="1190632"/>
              <a:ext cx="2912129" cy="14749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06041" y="2540804"/>
              <a:ext cx="2912129" cy="0"/>
            </a:xfrm>
            <a:custGeom>
              <a:avLst/>
              <a:pathLst>
                <a:path w="2912129" h="0">
                  <a:moveTo>
                    <a:pt x="0" y="0"/>
                  </a:moveTo>
                  <a:lnTo>
                    <a:pt x="2912129" y="0"/>
                  </a:lnTo>
                  <a:lnTo>
                    <a:pt x="29121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06041" y="2126785"/>
              <a:ext cx="2912129" cy="0"/>
            </a:xfrm>
            <a:custGeom>
              <a:avLst/>
              <a:pathLst>
                <a:path w="2912129" h="0">
                  <a:moveTo>
                    <a:pt x="0" y="0"/>
                  </a:moveTo>
                  <a:lnTo>
                    <a:pt x="2912129" y="0"/>
                  </a:lnTo>
                  <a:lnTo>
                    <a:pt x="29121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06041" y="1673060"/>
              <a:ext cx="2912129" cy="0"/>
            </a:xfrm>
            <a:custGeom>
              <a:avLst/>
              <a:pathLst>
                <a:path w="2912129" h="0">
                  <a:moveTo>
                    <a:pt x="0" y="0"/>
                  </a:moveTo>
                  <a:lnTo>
                    <a:pt x="2912129" y="0"/>
                  </a:lnTo>
                  <a:lnTo>
                    <a:pt x="29121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06041" y="1259041"/>
              <a:ext cx="2912129" cy="0"/>
            </a:xfrm>
            <a:custGeom>
              <a:avLst/>
              <a:pathLst>
                <a:path w="2912129" h="0">
                  <a:moveTo>
                    <a:pt x="0" y="0"/>
                  </a:moveTo>
                  <a:lnTo>
                    <a:pt x="2912129" y="0"/>
                  </a:lnTo>
                  <a:lnTo>
                    <a:pt x="29121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2194882" y="237945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2170602" y="232011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2210325" y="231305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2380867" y="210930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2370432" y="199750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546472" y="217567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587262" y="203295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576648" y="228105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666235" y="187950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71672" y="206750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764534" y="189282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769176" y="189280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627976" y="206319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654325" y="192027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698587" y="191585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810199" y="170975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855405" y="197812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830528" y="182714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841952" y="197206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95001" y="184041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968848" y="195214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107383" y="213867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753940" y="232650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527306" y="235570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405825" y="235855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319339" y="242118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615860" y="244857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627624" y="223576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733189" y="236240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507102" y="251242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756955" y="221896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593331" y="241530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350562" y="228306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582181" y="242497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640853" y="226888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835316" y="214801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862429" y="221284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062373" y="219707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009197" y="200214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067786" y="202162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028653" y="223899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2213877" y="212233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406658" y="197608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537723" y="214038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804715" y="202683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170440" y="233810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1542008" y="223379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1477278" y="219759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270380" y="229016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023479" y="237239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1580481" y="220060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435654" y="222917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076681" y="248169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353976" y="232961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217670" y="239777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1468328" y="225891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633937" y="212968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654698" y="219727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766345" y="198576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793572" y="201913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934705" y="209848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072361" y="208107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119076" y="205270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091450" y="225478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250077" y="207705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348806" y="208430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542405" y="206931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723546" y="219272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262136" y="226990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2276270" y="231697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2153278" y="235085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2334412" y="223705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549028" y="226172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258543" y="218505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587999" y="221165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547547" y="221330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803650" y="204979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776401" y="194246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823170" y="201519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807244" y="192091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801506" y="191362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815513" y="182529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878816" y="183567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11891" y="190535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978458" y="196503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917725" y="182547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896680" y="167796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994146" y="173612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129113" y="198457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243829" y="201937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1591796" y="234800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534121" y="238553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1297841" y="225033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1423874" y="244368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1450439" y="233229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1493050" y="224335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391146" y="223042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1570857" y="218049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548903" y="221533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258994" y="237294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431722" y="229395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1670832" y="198056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1816324" y="196380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1822994" y="195376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1978999" y="227180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046116" y="212021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245993" y="222612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370550" y="212540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2356435" y="213748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490070" y="218138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609430" y="200210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786098" y="222125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957166" y="231751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1954149" y="228421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941870" y="208864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079512" y="209374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774104" y="233171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795532" y="248846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1751244" y="248291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608754" y="238094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957766" y="226747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1894827" y="225846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878779" y="232976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983611" y="193208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294522" y="210678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2284524" y="195728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163451" y="216197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311211" y="207762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453603" y="217833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2547322" y="231329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486946" y="213961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756601" y="222684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2770307" y="219117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3008073" y="228845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242753" y="203114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805579" y="238280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062677" y="213290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1898498" y="231015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1783254" y="258358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2193443" y="222300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451792" y="241446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683305" y="257963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330104" y="244181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985674" y="234515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482049" y="246627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073266" y="218705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2188281" y="221245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172210" y="200000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150941" y="191138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542544" y="205318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2575118" y="197878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598632" y="204875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574740" y="213464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2733109" y="230312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2893508" y="187637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197577" y="213605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1778739" y="223143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2000213" y="242913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2084334" y="217928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2060961" y="219199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117548" y="223084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2056624" y="220418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1634863" y="227847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1932693" y="228772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1964312" y="221987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1271471" y="238278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1900332" y="232181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1906446" y="215310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867326" y="231024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1871483" y="242713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2015277" y="211489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2168725" y="204015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2262538" y="192666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185486" y="228751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226109" y="204330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577364" y="202368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2710566" y="210706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854955" y="214207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3129557" y="215357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931883" y="211100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1644819" y="237089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1810512" y="208952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1959948" y="222654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1850781" y="208422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2006006" y="213954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025325" y="180249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951389" y="214252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2100880" y="194247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2023175" y="180916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930614" y="183696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935372" y="185349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1940396" y="226797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883640" y="184877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957788" y="207242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2117146" y="207545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2191628" y="213393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2258400" y="188642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2174999" y="201467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2265161" y="195131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209871" y="171460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2425403" y="210822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2553117" y="213870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2522641" y="211875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433766" y="224514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2400712" y="230779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2139186" y="202887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2133340" y="227480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2200158" y="218040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2308568" y="201545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1923364" y="193844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976459" y="251213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2094723" y="237895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2047479" y="243799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1571228" y="247518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2472725" y="214711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2331032" y="231564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2155422" y="226765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2168877" y="232403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2344188" y="220355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1890716" y="250833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2331943" y="208624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2352514" y="211494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2642013" y="213427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103449" y="207501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1945482" y="237179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1933638" y="233285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2148812" y="229179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2131658" y="225644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2311110" y="220922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2480274" y="212513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2648848" y="191661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2623743" y="199825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2698495" y="185047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2755895" y="176790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2770512" y="189561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2776932" y="190978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2830984" y="177881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791421" y="182830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2833105" y="150804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2851896" y="172980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926086" y="207676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2923170" y="178347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2906840" y="204260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2927062" y="184767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2926942" y="176262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2955706" y="192377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003074" y="236326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2058897" y="227850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1801595" y="232336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1998273" y="230889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2218211" y="223623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2315903" y="220111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2369521" y="204678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2340272" y="231004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2419106" y="214396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2496405" y="189745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2484374" y="190549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2535039" y="197980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2491273" y="192174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2552120" y="206626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2587561" y="205759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2599065" y="185497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2627605" y="187878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2606069" y="174584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2608715" y="195097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2757678" y="196993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2835825" y="217285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2921528" y="214897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3072323" y="235348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2654946" y="223765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2465793" y="224868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2494469" y="224410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2349402" y="227261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2422124" y="246558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2419635" y="238276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2568035" y="226354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2785531" y="208703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904133" y="191776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2633162" y="209640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2807258" y="200468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767747" y="211766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2765060" y="215076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2914489" y="196378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2938967" y="210748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2973009" y="197947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045322" y="205775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067240" y="190477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012281" y="182343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251418" y="183570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410586" y="185451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483591" y="213324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670869" y="222999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2140019" y="240774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1986303" y="228064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2147629" y="243195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2157399" y="240148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2225322" y="241275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2358645" y="204330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2459676" y="216443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2450560" y="201455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2562695" y="206448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2623732" y="210263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2635717" y="187223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2646244" y="188158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2712574" y="193420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2722154" y="200760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2719633" y="200022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2749984" y="184483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1846436" y="220298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1781973" y="225327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1924936" y="206244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1918880" y="247254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2025821" y="235277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2083487" y="215341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2231141" y="222957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2297803" y="211468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2298720" y="208380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2190398" y="211537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2377284" y="200523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414018" y="204203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2503892" y="194300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2506195" y="197227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2549792" y="183603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2609512" y="194428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2690888" y="204202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2719844" y="187825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2668057" y="198498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2767694" y="184813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2784211" y="190311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2979811" y="227394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096129" y="210641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2210381" y="216360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319770" y="220673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2313934" y="215676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252366" y="223899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2092414" y="227058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2353592" y="203224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2210782" y="198090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146142" y="208341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2004908" y="204362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2047152" y="225621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1784130" y="224965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1645277" y="239067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1915702" y="237172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1891812" y="210106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1944486" y="226901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2046892" y="224217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2203943" y="218823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2172426" y="183102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1717595" y="223801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2442396" y="190358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2157496" y="204953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2662386" y="184554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2914797" y="212275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2209451" y="220873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297208" y="221188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2021880" y="238143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2217223" y="226676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456003" y="201800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2414483" y="222804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2274505" y="203161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2311947" y="191596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2326356" y="170342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2310450" y="200680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2332377" y="223627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2491592" y="189565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2417784" y="213117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2396931" y="197318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2485025" y="215538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2408431" y="193087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443583" y="204445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2638638" y="198320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2758674" y="208755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2713598" y="210328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3006411" y="199417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2012137" y="237323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2382770" y="232679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2618380" y="209944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2596314" y="214988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2711880" y="209757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2711710" y="212112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2704534" y="190019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2635316" y="188780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2727111" y="194508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2814607" y="182627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2815832" y="180878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2779699" y="178303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766621" y="180832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2293307" y="214915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1504789" y="237628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2340416" y="199461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161935" y="228583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2082754" y="221492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2384774" y="212882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2094929" y="216680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2119902" y="223251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2439505" y="206702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2346310" y="212677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2601695" y="195377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2673534" y="174608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2672225" y="168741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2570944" y="185669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2720242" y="201008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789477" y="167723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2811319" y="197026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2730012" y="200228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2737292" y="207685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742812" y="193622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2798760" y="214250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2881352" y="180580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3038949" y="200792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2532673" y="217946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2374339" y="232605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2601844" y="193239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2536078" y="214078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2831886" y="189321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2945318" y="188071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2937962" y="181122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2966862" y="190083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016184" y="181199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3073755" y="170122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3047553" y="182140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3101242" y="187434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3081609" y="173992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3015297" y="173934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2995913" y="160974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065247" y="201756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3104619" y="183169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3093773" y="179972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014529" y="164754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2961037" y="205544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2958921" y="201307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110426" y="192815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3227321" y="210559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1928758" y="236851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1881232" y="228694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1822913" y="236846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2115933" y="236266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1951371" y="226173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2063877" y="239185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2022459" y="238237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2065856" y="224158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2142263" y="213675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1996123" y="229530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1966424" y="226425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2050696" y="226578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1927381" y="235809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2271630" y="208534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2451818" y="198345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2515876" y="187626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2491810" y="188370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2530157" y="178682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2695315" y="190511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2734348" y="194309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896320" y="179799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3082978" y="190954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2028594" y="227713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006131" y="232893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2256447" y="218999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2404538" y="181673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2470203" y="201820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2349086" y="208107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2375166" y="196722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2351901" y="204884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2397168" y="206889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2384487" y="184478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2474628" y="155996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2477664" y="164012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1551583" y="231018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1680307" y="225489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1999231" y="228855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2036824" y="214104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1942682" y="207141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2017988" y="202341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2109332" y="229311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2144545" y="198856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2147868" y="191737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2136981" y="200058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000379" y="233112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2113375" y="187725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2124942" y="197067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2293646" y="182855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2333569" y="192643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2331464" y="184595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2322234" y="203921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2280269" y="178107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2421935" y="184462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2535029" y="191432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2079654" y="205700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1612196" y="220917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1780045" y="213414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1774712" y="224054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1973634" y="202889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1975865" y="186268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1751346" y="224373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1770649" y="214458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2058034" y="205182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2023995" y="188617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2109931" y="198172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2224349" y="197265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2252716" y="190659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2295377" y="205126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2338568" y="197580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2372500" y="211139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2408096" y="205152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2437908" y="203824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2412500" y="200717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2500546" y="215319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2558483" y="214948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2706987" y="196202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2944163" y="218509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2259593" y="225953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1843069" y="237293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2532877" y="215800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2333532" y="226029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2384346" y="225368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2752247" y="200618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365176" y="218902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2642761" y="223574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2728665" y="223468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2732180" y="215590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2882799" y="198356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2994975" y="168260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2945664" y="183227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2952822" y="199781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2989084" y="158482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1658845" y="238691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1641424" y="253835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1776375" y="232671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1856565" y="212602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1953401" y="220795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2104438" y="207274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2180947" y="185327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2312856" y="156288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2421321" y="171878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2352023" y="196012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2433393" y="184442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2367704" y="201974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2363726" y="171857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2411177" y="185265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2426600" y="176862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2481985" y="203204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2456755" y="205119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2383459" y="201053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2452008" y="196253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2460820" y="183239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2526150" y="223895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2596488" y="211472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2160388" y="224122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2118521" y="199480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1908891" y="225020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2121026" y="220558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2176595" y="195949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2235202" y="202439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2285238" y="206650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2209183" y="212405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2261579" y="214419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2273276" y="216110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2439758" y="207806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2492272" y="200911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2540751" y="206243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2562900" y="192817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599355" y="191549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2616608" y="197773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2653446" y="192988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2679143" y="192881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2616881" y="205515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2572175" y="213206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2563817" y="196457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2725727" y="223450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2792127" y="203908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1908132" y="233773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1803761" y="241788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1985548" y="219829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2183704" y="215474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2233763" y="197874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2286753" y="213564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2345668" y="171495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2335442" y="193194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2469695" y="202961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2428895" y="195623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2444949" y="194717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2471593" y="205536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2478089" y="204521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525127" y="217749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540640" y="210855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562565" y="176735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2647359" y="187453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2697718" y="203960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745708" y="186313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2842024" y="177970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2906101" y="210545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2998149" y="212995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091339" y="236701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2296735" y="214313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2024578" y="221363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2189807" y="203953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2155534" y="205289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2239347" y="190118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2323534" y="200271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2295747" y="216192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2369185" y="197960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2400911" y="199979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2364771" y="196409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2444905" y="212808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2455283" y="199346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2521697" y="203077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534732" y="200852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2584404" y="218692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696686" y="197858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2801098" y="194897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2820479" y="198647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2868011" y="213872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2936361" y="226916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2993303" y="215645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3028202" y="247959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3154959" y="241090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2580867" y="232064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2637085" y="205771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2484432" y="225520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2547194" y="237064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2669428" y="196342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2631977" y="215928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2698144" y="222810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2547743" y="207884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2578401" y="213024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2505472" y="199722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2634119" y="197590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2715520" y="168633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2807321" y="196207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2792314" y="213825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2791709" y="207207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2919267" y="196939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2885810" y="174342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2903392" y="172410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2938647" y="186017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2867174" y="179538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059943" y="208929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254192" y="201569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2777169" y="204564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2857272" y="200845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2852399" y="200367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2915011" y="180721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2980626" y="198162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3100931" y="154669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3250512" y="239903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2767664" y="189852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2864560" y="172209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2940640" y="188623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2504149" y="175481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2553650" y="191262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2644020" y="191252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2693651" y="205598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2759337" y="184549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2801942" y="2245348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2803105" y="224020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2832222" y="176348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2852379" y="203303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2964007" y="221690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045408" y="238795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1931476" y="229605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1869325" y="2395515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1840730" y="237619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1899913" y="221575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838189" y="223226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1680231" y="215386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1674578" y="236214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1902711" y="224940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1896295" y="231278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2229829" y="206378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2226716" y="191492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2245744" y="201407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2332150" y="2132559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2442350" y="1637552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2504476" y="2039020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2506465" y="176769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2615035" y="197452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2594203" y="191607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2799863" y="2176024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2934138" y="218484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038763" y="1706977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3105681" y="191168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3064249" y="1242743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3070332" y="179376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3119141" y="1936941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009547" y="196424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174692" y="167869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261120" y="2082636"/>
              <a:ext cx="29862" cy="29862"/>
            </a:xfrm>
            <a:prstGeom prst="ellipse">
              <a:avLst/>
            </a:prstGeom>
            <a:solidFill>
              <a:srgbClr val="009E73">
                <a:alpha val="45098"/>
              </a:srgbClr>
            </a:solidFill>
            <a:ln w="8181" cap="rnd">
              <a:solidFill>
                <a:srgbClr val="009E73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1038410" y="1783218"/>
              <a:ext cx="2647390" cy="650550"/>
            </a:xfrm>
            <a:custGeom>
              <a:avLst/>
              <a:pathLst>
                <a:path w="2647390" h="650550">
                  <a:moveTo>
                    <a:pt x="0" y="650550"/>
                  </a:moveTo>
                  <a:lnTo>
                    <a:pt x="33511" y="642315"/>
                  </a:lnTo>
                  <a:lnTo>
                    <a:pt x="67022" y="634080"/>
                  </a:lnTo>
                  <a:lnTo>
                    <a:pt x="100533" y="625846"/>
                  </a:lnTo>
                  <a:lnTo>
                    <a:pt x="134045" y="617611"/>
                  </a:lnTo>
                  <a:lnTo>
                    <a:pt x="167556" y="609376"/>
                  </a:lnTo>
                  <a:lnTo>
                    <a:pt x="201067" y="601141"/>
                  </a:lnTo>
                  <a:lnTo>
                    <a:pt x="234578" y="592906"/>
                  </a:lnTo>
                  <a:lnTo>
                    <a:pt x="268090" y="584672"/>
                  </a:lnTo>
                  <a:lnTo>
                    <a:pt x="301601" y="576437"/>
                  </a:lnTo>
                  <a:lnTo>
                    <a:pt x="335112" y="568202"/>
                  </a:lnTo>
                  <a:lnTo>
                    <a:pt x="368624" y="559967"/>
                  </a:lnTo>
                  <a:lnTo>
                    <a:pt x="402135" y="551732"/>
                  </a:lnTo>
                  <a:lnTo>
                    <a:pt x="435646" y="543497"/>
                  </a:lnTo>
                  <a:lnTo>
                    <a:pt x="469157" y="535263"/>
                  </a:lnTo>
                  <a:lnTo>
                    <a:pt x="502669" y="527028"/>
                  </a:lnTo>
                  <a:lnTo>
                    <a:pt x="536180" y="518793"/>
                  </a:lnTo>
                  <a:lnTo>
                    <a:pt x="569691" y="510558"/>
                  </a:lnTo>
                  <a:lnTo>
                    <a:pt x="603202" y="502323"/>
                  </a:lnTo>
                  <a:lnTo>
                    <a:pt x="636714" y="494089"/>
                  </a:lnTo>
                  <a:lnTo>
                    <a:pt x="670225" y="485854"/>
                  </a:lnTo>
                  <a:lnTo>
                    <a:pt x="703736" y="477619"/>
                  </a:lnTo>
                  <a:lnTo>
                    <a:pt x="737248" y="469384"/>
                  </a:lnTo>
                  <a:lnTo>
                    <a:pt x="770759" y="461149"/>
                  </a:lnTo>
                  <a:lnTo>
                    <a:pt x="804270" y="452914"/>
                  </a:lnTo>
                  <a:lnTo>
                    <a:pt x="837781" y="444680"/>
                  </a:lnTo>
                  <a:lnTo>
                    <a:pt x="871293" y="436445"/>
                  </a:lnTo>
                  <a:lnTo>
                    <a:pt x="904804" y="428210"/>
                  </a:lnTo>
                  <a:lnTo>
                    <a:pt x="938315" y="419975"/>
                  </a:lnTo>
                  <a:lnTo>
                    <a:pt x="971826" y="411740"/>
                  </a:lnTo>
                  <a:lnTo>
                    <a:pt x="1005338" y="403506"/>
                  </a:lnTo>
                  <a:lnTo>
                    <a:pt x="1038849" y="395271"/>
                  </a:lnTo>
                  <a:lnTo>
                    <a:pt x="1072360" y="387036"/>
                  </a:lnTo>
                  <a:lnTo>
                    <a:pt x="1105872" y="378801"/>
                  </a:lnTo>
                  <a:lnTo>
                    <a:pt x="1139383" y="370566"/>
                  </a:lnTo>
                  <a:lnTo>
                    <a:pt x="1172894" y="362331"/>
                  </a:lnTo>
                  <a:lnTo>
                    <a:pt x="1206405" y="354097"/>
                  </a:lnTo>
                  <a:lnTo>
                    <a:pt x="1239917" y="345862"/>
                  </a:lnTo>
                  <a:lnTo>
                    <a:pt x="1273428" y="337627"/>
                  </a:lnTo>
                  <a:lnTo>
                    <a:pt x="1306939" y="329392"/>
                  </a:lnTo>
                  <a:lnTo>
                    <a:pt x="1340450" y="321157"/>
                  </a:lnTo>
                  <a:lnTo>
                    <a:pt x="1373962" y="312923"/>
                  </a:lnTo>
                  <a:lnTo>
                    <a:pt x="1407473" y="304688"/>
                  </a:lnTo>
                  <a:lnTo>
                    <a:pt x="1440984" y="296453"/>
                  </a:lnTo>
                  <a:lnTo>
                    <a:pt x="1474496" y="288218"/>
                  </a:lnTo>
                  <a:lnTo>
                    <a:pt x="1508007" y="279983"/>
                  </a:lnTo>
                  <a:lnTo>
                    <a:pt x="1541518" y="271748"/>
                  </a:lnTo>
                  <a:lnTo>
                    <a:pt x="1575029" y="263514"/>
                  </a:lnTo>
                  <a:lnTo>
                    <a:pt x="1608541" y="255279"/>
                  </a:lnTo>
                  <a:lnTo>
                    <a:pt x="1642052" y="247044"/>
                  </a:lnTo>
                  <a:lnTo>
                    <a:pt x="1675563" y="238809"/>
                  </a:lnTo>
                  <a:lnTo>
                    <a:pt x="1709074" y="230574"/>
                  </a:lnTo>
                  <a:lnTo>
                    <a:pt x="1742586" y="222340"/>
                  </a:lnTo>
                  <a:lnTo>
                    <a:pt x="1776097" y="214105"/>
                  </a:lnTo>
                  <a:lnTo>
                    <a:pt x="1809608" y="205870"/>
                  </a:lnTo>
                  <a:lnTo>
                    <a:pt x="1843120" y="197635"/>
                  </a:lnTo>
                  <a:lnTo>
                    <a:pt x="1876631" y="189400"/>
                  </a:lnTo>
                  <a:lnTo>
                    <a:pt x="1910142" y="181165"/>
                  </a:lnTo>
                  <a:lnTo>
                    <a:pt x="1943653" y="172931"/>
                  </a:lnTo>
                  <a:lnTo>
                    <a:pt x="1977165" y="164696"/>
                  </a:lnTo>
                  <a:lnTo>
                    <a:pt x="2010676" y="156461"/>
                  </a:lnTo>
                  <a:lnTo>
                    <a:pt x="2044187" y="148226"/>
                  </a:lnTo>
                  <a:lnTo>
                    <a:pt x="2077698" y="139991"/>
                  </a:lnTo>
                  <a:lnTo>
                    <a:pt x="2111210" y="131757"/>
                  </a:lnTo>
                  <a:lnTo>
                    <a:pt x="2144721" y="123522"/>
                  </a:lnTo>
                  <a:lnTo>
                    <a:pt x="2178232" y="115287"/>
                  </a:lnTo>
                  <a:lnTo>
                    <a:pt x="2211744" y="107052"/>
                  </a:lnTo>
                  <a:lnTo>
                    <a:pt x="2245255" y="98817"/>
                  </a:lnTo>
                  <a:lnTo>
                    <a:pt x="2278766" y="90582"/>
                  </a:lnTo>
                  <a:lnTo>
                    <a:pt x="2312277" y="82348"/>
                  </a:lnTo>
                  <a:lnTo>
                    <a:pt x="2345789" y="74113"/>
                  </a:lnTo>
                  <a:lnTo>
                    <a:pt x="2379300" y="65878"/>
                  </a:lnTo>
                  <a:lnTo>
                    <a:pt x="2412811" y="57643"/>
                  </a:lnTo>
                  <a:lnTo>
                    <a:pt x="2446322" y="49408"/>
                  </a:lnTo>
                  <a:lnTo>
                    <a:pt x="2479834" y="41174"/>
                  </a:lnTo>
                  <a:lnTo>
                    <a:pt x="2513345" y="32939"/>
                  </a:lnTo>
                  <a:lnTo>
                    <a:pt x="2546856" y="24704"/>
                  </a:lnTo>
                  <a:lnTo>
                    <a:pt x="2580368" y="16469"/>
                  </a:lnTo>
                  <a:lnTo>
                    <a:pt x="2613879" y="8234"/>
                  </a:lnTo>
                  <a:lnTo>
                    <a:pt x="2647390" y="0"/>
                  </a:lnTo>
                </a:path>
              </a:pathLst>
            </a:custGeom>
            <a:ln w="1355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906041" y="1190632"/>
              <a:ext cx="0" cy="1474930"/>
            </a:xfrm>
            <a:custGeom>
              <a:avLst/>
              <a:pathLst>
                <a:path w="0" h="1474930">
                  <a:moveTo>
                    <a:pt x="0" y="1474930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tx703"/>
            <p:cNvSpPr/>
            <p:nvPr/>
          </p:nvSpPr>
          <p:spPr>
            <a:xfrm>
              <a:off x="594809" y="2504411"/>
              <a:ext cx="2542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0.001</a:t>
              </a:r>
            </a:p>
          </p:txBody>
        </p:sp>
        <p:sp>
          <p:nvSpPr>
            <p:cNvPr id="704" name="tx704"/>
            <p:cNvSpPr/>
            <p:nvPr/>
          </p:nvSpPr>
          <p:spPr>
            <a:xfrm>
              <a:off x="594809" y="2090392"/>
              <a:ext cx="2542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0.003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594809" y="1636667"/>
              <a:ext cx="2542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594809" y="1222648"/>
              <a:ext cx="2542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0.030</a:t>
              </a:r>
            </a:p>
          </p:txBody>
        </p:sp>
        <p:sp>
          <p:nvSpPr>
            <p:cNvPr id="707" name="pl707"/>
            <p:cNvSpPr/>
            <p:nvPr/>
          </p:nvSpPr>
          <p:spPr>
            <a:xfrm>
              <a:off x="874409" y="254080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l708"/>
            <p:cNvSpPr/>
            <p:nvPr/>
          </p:nvSpPr>
          <p:spPr>
            <a:xfrm>
              <a:off x="874409" y="212678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9"/>
            <p:cNvSpPr/>
            <p:nvPr/>
          </p:nvSpPr>
          <p:spPr>
            <a:xfrm>
              <a:off x="874409" y="167306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l710"/>
            <p:cNvSpPr/>
            <p:nvPr/>
          </p:nvSpPr>
          <p:spPr>
            <a:xfrm>
              <a:off x="874409" y="125904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l711"/>
            <p:cNvSpPr/>
            <p:nvPr/>
          </p:nvSpPr>
          <p:spPr>
            <a:xfrm>
              <a:off x="906041" y="2665563"/>
              <a:ext cx="2912129" cy="0"/>
            </a:xfrm>
            <a:custGeom>
              <a:avLst/>
              <a:pathLst>
                <a:path w="2912129" h="0">
                  <a:moveTo>
                    <a:pt x="0" y="0"/>
                  </a:moveTo>
                  <a:lnTo>
                    <a:pt x="2912129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l712"/>
            <p:cNvSpPr/>
            <p:nvPr/>
          </p:nvSpPr>
          <p:spPr>
            <a:xfrm>
              <a:off x="1410776" y="26655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l713"/>
            <p:cNvSpPr/>
            <p:nvPr/>
          </p:nvSpPr>
          <p:spPr>
            <a:xfrm>
              <a:off x="2451530" y="26655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l714"/>
            <p:cNvSpPr/>
            <p:nvPr/>
          </p:nvSpPr>
          <p:spPr>
            <a:xfrm>
              <a:off x="3592096" y="26655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tx715"/>
            <p:cNvSpPr/>
            <p:nvPr/>
          </p:nvSpPr>
          <p:spPr>
            <a:xfrm>
              <a:off x="1283629" y="2722499"/>
              <a:ext cx="2542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0.001</a:t>
              </a:r>
            </a:p>
          </p:txBody>
        </p:sp>
        <p:sp>
          <p:nvSpPr>
            <p:cNvPr id="716" name="tx716"/>
            <p:cNvSpPr/>
            <p:nvPr/>
          </p:nvSpPr>
          <p:spPr>
            <a:xfrm>
              <a:off x="2324383" y="2722499"/>
              <a:ext cx="2542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0.003</a:t>
              </a:r>
            </a:p>
          </p:txBody>
        </p:sp>
        <p:sp>
          <p:nvSpPr>
            <p:cNvPr id="717" name="tx717"/>
            <p:cNvSpPr/>
            <p:nvPr/>
          </p:nvSpPr>
          <p:spPr>
            <a:xfrm>
              <a:off x="3464948" y="2722499"/>
              <a:ext cx="2542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718" name="tx718"/>
            <p:cNvSpPr/>
            <p:nvPr/>
          </p:nvSpPr>
          <p:spPr>
            <a:xfrm>
              <a:off x="1814654" y="2848314"/>
              <a:ext cx="109490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Mechanistic hazard</a:t>
              </a:r>
            </a:p>
          </p:txBody>
        </p:sp>
        <p:sp>
          <p:nvSpPr>
            <p:cNvPr id="719" name="tx719"/>
            <p:cNvSpPr/>
            <p:nvPr/>
          </p:nvSpPr>
          <p:spPr>
            <a:xfrm rot="-5400000">
              <a:off x="-208437" y="1882606"/>
              <a:ext cx="139884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Machine-learning hazard</a:t>
              </a:r>
            </a:p>
          </p:txBody>
        </p:sp>
        <p:sp>
          <p:nvSpPr>
            <p:cNvPr id="720" name="tx720"/>
            <p:cNvSpPr/>
            <p:nvPr/>
          </p:nvSpPr>
          <p:spPr>
            <a:xfrm>
              <a:off x="906041" y="674105"/>
              <a:ext cx="2601925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Province-year mean predicted hazard, 2002-2024;</a:t>
              </a:r>
            </a:p>
          </p:txBody>
        </p:sp>
        <p:sp>
          <p:nvSpPr>
            <p:cNvPr id="721" name="tx721"/>
            <p:cNvSpPr/>
            <p:nvPr/>
          </p:nvSpPr>
          <p:spPr>
            <a:xfrm>
              <a:off x="906041" y="800292"/>
              <a:ext cx="1518086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moderate but clearly positive</a:t>
              </a:r>
            </a:p>
          </p:txBody>
        </p:sp>
        <p:sp>
          <p:nvSpPr>
            <p:cNvPr id="722" name="tx722"/>
            <p:cNvSpPr/>
            <p:nvPr/>
          </p:nvSpPr>
          <p:spPr>
            <a:xfrm>
              <a:off x="906041" y="481363"/>
              <a:ext cx="319811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Within the observed range they track each other</a:t>
              </a:r>
            </a:p>
          </p:txBody>
        </p:sp>
        <p:sp>
          <p:nvSpPr>
            <p:cNvPr id="723" name="tx723"/>
            <p:cNvSpPr/>
            <p:nvPr/>
          </p:nvSpPr>
          <p:spPr>
            <a:xfrm>
              <a:off x="353689" y="345757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724" name="rc724"/>
            <p:cNvSpPr/>
            <p:nvPr/>
          </p:nvSpPr>
          <p:spPr>
            <a:xfrm>
              <a:off x="5110637" y="1190632"/>
              <a:ext cx="1424433" cy="14749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" name="pl725"/>
            <p:cNvSpPr/>
            <p:nvPr/>
          </p:nvSpPr>
          <p:spPr>
            <a:xfrm>
              <a:off x="5683287" y="1313543"/>
              <a:ext cx="302478" cy="0"/>
            </a:xfrm>
            <a:custGeom>
              <a:avLst/>
              <a:pathLst>
                <a:path w="302478" h="0">
                  <a:moveTo>
                    <a:pt x="0" y="0"/>
                  </a:moveTo>
                  <a:lnTo>
                    <a:pt x="302478" y="0"/>
                  </a:lnTo>
                </a:path>
              </a:pathLst>
            </a:custGeom>
            <a:ln w="59622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l726"/>
            <p:cNvSpPr/>
            <p:nvPr/>
          </p:nvSpPr>
          <p:spPr>
            <a:xfrm>
              <a:off x="5477378" y="1518394"/>
              <a:ext cx="695180" cy="0"/>
            </a:xfrm>
            <a:custGeom>
              <a:avLst/>
              <a:pathLst>
                <a:path w="695180" h="0">
                  <a:moveTo>
                    <a:pt x="0" y="0"/>
                  </a:moveTo>
                  <a:lnTo>
                    <a:pt x="695180" y="0"/>
                  </a:lnTo>
                </a:path>
              </a:pathLst>
            </a:custGeom>
            <a:ln w="59622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l727"/>
            <p:cNvSpPr/>
            <p:nvPr/>
          </p:nvSpPr>
          <p:spPr>
            <a:xfrm>
              <a:off x="5376977" y="1723246"/>
              <a:ext cx="898910" cy="0"/>
            </a:xfrm>
            <a:custGeom>
              <a:avLst/>
              <a:pathLst>
                <a:path w="898910" h="0">
                  <a:moveTo>
                    <a:pt x="0" y="0"/>
                  </a:moveTo>
                  <a:lnTo>
                    <a:pt x="898910" y="0"/>
                  </a:lnTo>
                </a:path>
              </a:pathLst>
            </a:custGeom>
            <a:ln w="59622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l728"/>
            <p:cNvSpPr/>
            <p:nvPr/>
          </p:nvSpPr>
          <p:spPr>
            <a:xfrm>
              <a:off x="5307236" y="1928097"/>
              <a:ext cx="1028018" cy="0"/>
            </a:xfrm>
            <a:custGeom>
              <a:avLst/>
              <a:pathLst>
                <a:path w="1028018" h="0">
                  <a:moveTo>
                    <a:pt x="0" y="0"/>
                  </a:moveTo>
                  <a:lnTo>
                    <a:pt x="1028018" y="0"/>
                  </a:lnTo>
                </a:path>
              </a:pathLst>
            </a:custGeom>
            <a:ln w="59622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l729"/>
            <p:cNvSpPr/>
            <p:nvPr/>
          </p:nvSpPr>
          <p:spPr>
            <a:xfrm>
              <a:off x="5450933" y="2132949"/>
              <a:ext cx="778772" cy="0"/>
            </a:xfrm>
            <a:custGeom>
              <a:avLst/>
              <a:pathLst>
                <a:path w="778772" h="0">
                  <a:moveTo>
                    <a:pt x="0" y="0"/>
                  </a:moveTo>
                  <a:lnTo>
                    <a:pt x="778772" y="0"/>
                  </a:lnTo>
                </a:path>
              </a:pathLst>
            </a:custGeom>
            <a:ln w="59622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l730"/>
            <p:cNvSpPr/>
            <p:nvPr/>
          </p:nvSpPr>
          <p:spPr>
            <a:xfrm>
              <a:off x="5318380" y="2337800"/>
              <a:ext cx="1017506" cy="0"/>
            </a:xfrm>
            <a:custGeom>
              <a:avLst/>
              <a:pathLst>
                <a:path w="1017506" h="0">
                  <a:moveTo>
                    <a:pt x="0" y="0"/>
                  </a:moveTo>
                  <a:lnTo>
                    <a:pt x="1017506" y="0"/>
                  </a:lnTo>
                </a:path>
              </a:pathLst>
            </a:custGeom>
            <a:ln w="59622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l731"/>
            <p:cNvSpPr/>
            <p:nvPr/>
          </p:nvSpPr>
          <p:spPr>
            <a:xfrm>
              <a:off x="5175384" y="2542652"/>
              <a:ext cx="1294939" cy="0"/>
            </a:xfrm>
            <a:custGeom>
              <a:avLst/>
              <a:pathLst>
                <a:path w="1294939" h="0">
                  <a:moveTo>
                    <a:pt x="0" y="0"/>
                  </a:moveTo>
                  <a:lnTo>
                    <a:pt x="1294939" y="0"/>
                  </a:lnTo>
                </a:path>
              </a:pathLst>
            </a:custGeom>
            <a:ln w="59622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rc732"/>
            <p:cNvSpPr/>
            <p:nvPr/>
          </p:nvSpPr>
          <p:spPr>
            <a:xfrm>
              <a:off x="6598333" y="1190632"/>
              <a:ext cx="1424433" cy="14749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" name="pl733"/>
            <p:cNvSpPr/>
            <p:nvPr/>
          </p:nvSpPr>
          <p:spPr>
            <a:xfrm>
              <a:off x="6663080" y="1313543"/>
              <a:ext cx="659790" cy="0"/>
            </a:xfrm>
            <a:custGeom>
              <a:avLst/>
              <a:pathLst>
                <a:path w="659790" h="0">
                  <a:moveTo>
                    <a:pt x="0" y="0"/>
                  </a:moveTo>
                  <a:lnTo>
                    <a:pt x="659790" y="0"/>
                  </a:lnTo>
                </a:path>
              </a:pathLst>
            </a:custGeom>
            <a:ln w="59622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l734"/>
            <p:cNvSpPr/>
            <p:nvPr/>
          </p:nvSpPr>
          <p:spPr>
            <a:xfrm>
              <a:off x="7135093" y="1518394"/>
              <a:ext cx="317479" cy="0"/>
            </a:xfrm>
            <a:custGeom>
              <a:avLst/>
              <a:pathLst>
                <a:path w="317479" h="0">
                  <a:moveTo>
                    <a:pt x="0" y="0"/>
                  </a:moveTo>
                  <a:lnTo>
                    <a:pt x="317479" y="0"/>
                  </a:lnTo>
                </a:path>
              </a:pathLst>
            </a:custGeom>
            <a:ln w="59622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l735"/>
            <p:cNvSpPr/>
            <p:nvPr/>
          </p:nvSpPr>
          <p:spPr>
            <a:xfrm>
              <a:off x="7230460" y="1723246"/>
              <a:ext cx="317479" cy="0"/>
            </a:xfrm>
            <a:custGeom>
              <a:avLst/>
              <a:pathLst>
                <a:path w="317479" h="0">
                  <a:moveTo>
                    <a:pt x="0" y="0"/>
                  </a:moveTo>
                  <a:lnTo>
                    <a:pt x="317479" y="0"/>
                  </a:lnTo>
                </a:path>
              </a:pathLst>
            </a:custGeom>
            <a:ln w="59622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l736"/>
            <p:cNvSpPr/>
            <p:nvPr/>
          </p:nvSpPr>
          <p:spPr>
            <a:xfrm>
              <a:off x="7373511" y="1928097"/>
              <a:ext cx="317479" cy="0"/>
            </a:xfrm>
            <a:custGeom>
              <a:avLst/>
              <a:pathLst>
                <a:path w="317479" h="0">
                  <a:moveTo>
                    <a:pt x="0" y="0"/>
                  </a:moveTo>
                  <a:lnTo>
                    <a:pt x="317479" y="0"/>
                  </a:lnTo>
                </a:path>
              </a:pathLst>
            </a:custGeom>
            <a:ln w="59622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l737"/>
            <p:cNvSpPr/>
            <p:nvPr/>
          </p:nvSpPr>
          <p:spPr>
            <a:xfrm>
              <a:off x="7163703" y="2132949"/>
              <a:ext cx="317479" cy="0"/>
            </a:xfrm>
            <a:custGeom>
              <a:avLst/>
              <a:pathLst>
                <a:path w="317479" h="0">
                  <a:moveTo>
                    <a:pt x="0" y="0"/>
                  </a:moveTo>
                  <a:lnTo>
                    <a:pt x="317479" y="0"/>
                  </a:lnTo>
                </a:path>
              </a:pathLst>
            </a:custGeom>
            <a:ln w="59622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l738"/>
            <p:cNvSpPr/>
            <p:nvPr/>
          </p:nvSpPr>
          <p:spPr>
            <a:xfrm>
              <a:off x="7354438" y="2337800"/>
              <a:ext cx="317479" cy="0"/>
            </a:xfrm>
            <a:custGeom>
              <a:avLst/>
              <a:pathLst>
                <a:path w="317479" h="0">
                  <a:moveTo>
                    <a:pt x="0" y="0"/>
                  </a:moveTo>
                  <a:lnTo>
                    <a:pt x="317479" y="0"/>
                  </a:lnTo>
                </a:path>
              </a:pathLst>
            </a:custGeom>
            <a:ln w="59622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l739"/>
            <p:cNvSpPr/>
            <p:nvPr/>
          </p:nvSpPr>
          <p:spPr>
            <a:xfrm>
              <a:off x="7640540" y="2542652"/>
              <a:ext cx="317479" cy="0"/>
            </a:xfrm>
            <a:custGeom>
              <a:avLst/>
              <a:pathLst>
                <a:path w="317479" h="0">
                  <a:moveTo>
                    <a:pt x="0" y="0"/>
                  </a:moveTo>
                  <a:lnTo>
                    <a:pt x="317479" y="0"/>
                  </a:lnTo>
                </a:path>
              </a:pathLst>
            </a:custGeom>
            <a:ln w="59622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tx740"/>
            <p:cNvSpPr/>
            <p:nvPr/>
          </p:nvSpPr>
          <p:spPr>
            <a:xfrm>
              <a:off x="5161247" y="1035689"/>
              <a:ext cx="135514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Accumulated warming</a:t>
              </a:r>
            </a:p>
          </p:txBody>
        </p:sp>
        <p:sp>
          <p:nvSpPr>
            <p:cNvPr id="741" name="tx741"/>
            <p:cNvSpPr/>
            <p:nvPr/>
          </p:nvSpPr>
          <p:spPr>
            <a:xfrm>
              <a:off x="6648943" y="1035689"/>
              <a:ext cx="78373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Survey effort</a:t>
              </a:r>
            </a:p>
          </p:txBody>
        </p:sp>
        <p:sp>
          <p:nvSpPr>
            <p:cNvPr id="742" name="pl742"/>
            <p:cNvSpPr/>
            <p:nvPr/>
          </p:nvSpPr>
          <p:spPr>
            <a:xfrm>
              <a:off x="5110637" y="2665563"/>
              <a:ext cx="1424433" cy="0"/>
            </a:xfrm>
            <a:custGeom>
              <a:avLst/>
              <a:pathLst>
                <a:path w="1424433" h="0">
                  <a:moveTo>
                    <a:pt x="0" y="0"/>
                  </a:moveTo>
                  <a:lnTo>
                    <a:pt x="1424433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l743"/>
            <p:cNvSpPr/>
            <p:nvPr/>
          </p:nvSpPr>
          <p:spPr>
            <a:xfrm>
              <a:off x="5192650" y="26655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5518152" y="26655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5843654" y="26655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l746"/>
            <p:cNvSpPr/>
            <p:nvPr/>
          </p:nvSpPr>
          <p:spPr>
            <a:xfrm>
              <a:off x="6169157" y="26655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l747"/>
            <p:cNvSpPr/>
            <p:nvPr/>
          </p:nvSpPr>
          <p:spPr>
            <a:xfrm>
              <a:off x="6494659" y="26655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tx748"/>
            <p:cNvSpPr/>
            <p:nvPr/>
          </p:nvSpPr>
          <p:spPr>
            <a:xfrm>
              <a:off x="5119224" y="2722499"/>
              <a:ext cx="14685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749" name="tx749"/>
            <p:cNvSpPr/>
            <p:nvPr/>
          </p:nvSpPr>
          <p:spPr>
            <a:xfrm>
              <a:off x="5472981" y="2722499"/>
              <a:ext cx="9034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750" name="tx750"/>
            <p:cNvSpPr/>
            <p:nvPr/>
          </p:nvSpPr>
          <p:spPr>
            <a:xfrm>
              <a:off x="5815399" y="2722499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51" name="tx751"/>
            <p:cNvSpPr/>
            <p:nvPr/>
          </p:nvSpPr>
          <p:spPr>
            <a:xfrm>
              <a:off x="6140902" y="2722499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52" name="tx752"/>
            <p:cNvSpPr/>
            <p:nvPr/>
          </p:nvSpPr>
          <p:spPr>
            <a:xfrm>
              <a:off x="6438149" y="2722499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53" name="pl753"/>
            <p:cNvSpPr/>
            <p:nvPr/>
          </p:nvSpPr>
          <p:spPr>
            <a:xfrm>
              <a:off x="6598333" y="2665563"/>
              <a:ext cx="1424433" cy="0"/>
            </a:xfrm>
            <a:custGeom>
              <a:avLst/>
              <a:pathLst>
                <a:path w="1424433" h="0">
                  <a:moveTo>
                    <a:pt x="0" y="0"/>
                  </a:moveTo>
                  <a:lnTo>
                    <a:pt x="1424433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l754"/>
            <p:cNvSpPr/>
            <p:nvPr/>
          </p:nvSpPr>
          <p:spPr>
            <a:xfrm>
              <a:off x="6940237" y="26655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l755"/>
            <p:cNvSpPr/>
            <p:nvPr/>
          </p:nvSpPr>
          <p:spPr>
            <a:xfrm>
              <a:off x="7337601" y="26655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l756"/>
            <p:cNvSpPr/>
            <p:nvPr/>
          </p:nvSpPr>
          <p:spPr>
            <a:xfrm>
              <a:off x="7734966" y="26655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tx757"/>
            <p:cNvSpPr/>
            <p:nvPr/>
          </p:nvSpPr>
          <p:spPr>
            <a:xfrm>
              <a:off x="6869599" y="272249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758" name="tx758"/>
            <p:cNvSpPr/>
            <p:nvPr/>
          </p:nvSpPr>
          <p:spPr>
            <a:xfrm>
              <a:off x="7266964" y="272249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7664329" y="272249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760" name="pl760"/>
            <p:cNvSpPr/>
            <p:nvPr/>
          </p:nvSpPr>
          <p:spPr>
            <a:xfrm>
              <a:off x="5110637" y="1190632"/>
              <a:ext cx="0" cy="1474930"/>
            </a:xfrm>
            <a:custGeom>
              <a:avLst/>
              <a:pathLst>
                <a:path w="0" h="1474930">
                  <a:moveTo>
                    <a:pt x="0" y="1474930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4426605" y="2506259"/>
              <a:ext cx="62709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SSP585 2080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4426605" y="2301407"/>
              <a:ext cx="62709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SSP585 2050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4426605" y="2096556"/>
              <a:ext cx="62709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SSP585 2030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4426605" y="1891704"/>
              <a:ext cx="62709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SSP245 2080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426605" y="1686853"/>
              <a:ext cx="62709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SSP245 2050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426605" y="1482001"/>
              <a:ext cx="62709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SSP245 2030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121469" y="1277150"/>
              <a:ext cx="932230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2002-2024</a:t>
              </a:r>
            </a:p>
          </p:txBody>
        </p:sp>
        <p:sp>
          <p:nvSpPr>
            <p:cNvPr id="768" name="pl768"/>
            <p:cNvSpPr/>
            <p:nvPr/>
          </p:nvSpPr>
          <p:spPr>
            <a:xfrm>
              <a:off x="5079005" y="254265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5079005" y="233780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5079005" y="213294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5079005" y="192809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5079005" y="172324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5079005" y="151839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5079005" y="131354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tx775"/>
            <p:cNvSpPr/>
            <p:nvPr/>
          </p:nvSpPr>
          <p:spPr>
            <a:xfrm>
              <a:off x="5439886" y="2848314"/>
              <a:ext cx="225363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Standardised value (1st-99th percentile)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5110637" y="674105"/>
              <a:ext cx="2279507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Tree ensembles return boundary leaf values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5110637" y="800292"/>
              <a:ext cx="2193188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once covariates exit the observed support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5110637" y="481363"/>
              <a:ext cx="288886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Why: the scenarios leave the training range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020611" y="345757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780" name="rc780"/>
            <p:cNvSpPr/>
            <p:nvPr/>
          </p:nvSpPr>
          <p:spPr>
            <a:xfrm>
              <a:off x="906041" y="3853888"/>
              <a:ext cx="2330066" cy="8359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906041" y="4533784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906041" y="439274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906041" y="425170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906041" y="411066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906041" y="396962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906041" y="425170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8130" cap="flat">
              <a:solidFill>
                <a:srgbClr val="A6A6A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1571932" y="3853888"/>
              <a:ext cx="0" cy="835974"/>
            </a:xfrm>
            <a:custGeom>
              <a:avLst/>
              <a:pathLst>
                <a:path w="0" h="835974">
                  <a:moveTo>
                    <a:pt x="0" y="8359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A6A6A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906041" y="3853888"/>
              <a:ext cx="1346129" cy="787239"/>
            </a:xfrm>
            <a:custGeom>
              <a:avLst/>
              <a:pathLst>
                <a:path w="1346129" h="787239">
                  <a:moveTo>
                    <a:pt x="0" y="787239"/>
                  </a:moveTo>
                  <a:lnTo>
                    <a:pt x="1346129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1585502" y="435327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1657896" y="427198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1585043" y="432180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1638906" y="436029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1564420" y="429481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1662802" y="428686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1622138" y="438132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1586339" y="416731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1630447" y="426578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1584110" y="410008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1608062" y="435256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1595079" y="419042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1612714" y="421036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1611338" y="424307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1548577" y="434761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1672762" y="427342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1597832" y="431051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1592341" y="431862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1564361" y="437558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1586362" y="430694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1582974" y="430352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1564292" y="422752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1605301" y="451648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1653771" y="423930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1563866" y="440957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1615792" y="427559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1594348" y="431686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1573530" y="428208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1526383" y="425992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1598978" y="428737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1639736" y="425512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tx820"/>
            <p:cNvSpPr/>
            <p:nvPr/>
          </p:nvSpPr>
          <p:spPr>
            <a:xfrm>
              <a:off x="1011953" y="3924218"/>
              <a:ext cx="465521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rho = 0.16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1011953" y="4072516"/>
              <a:ext cx="856884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23% agree on sign</a:t>
              </a:r>
            </a:p>
          </p:txBody>
        </p:sp>
        <p:sp>
          <p:nvSpPr>
            <p:cNvPr id="822" name="rc822"/>
            <p:cNvSpPr/>
            <p:nvPr/>
          </p:nvSpPr>
          <p:spPr>
            <a:xfrm>
              <a:off x="906041" y="4753126"/>
              <a:ext cx="2330066" cy="8359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906041" y="543302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906041" y="529198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906041" y="515094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906041" y="5009900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906041" y="4868860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906041" y="515094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8130" cap="flat">
              <a:solidFill>
                <a:srgbClr val="A6A6A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829" name="pl829"/>
            <p:cNvSpPr/>
            <p:nvPr/>
          </p:nvSpPr>
          <p:spPr>
            <a:xfrm>
              <a:off x="1571932" y="4753126"/>
              <a:ext cx="0" cy="835974"/>
            </a:xfrm>
            <a:custGeom>
              <a:avLst/>
              <a:pathLst>
                <a:path w="0" h="835974">
                  <a:moveTo>
                    <a:pt x="0" y="8359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A6A6A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906041" y="4753126"/>
              <a:ext cx="1346129" cy="787239"/>
            </a:xfrm>
            <a:custGeom>
              <a:avLst/>
              <a:pathLst>
                <a:path w="1346129" h="787239">
                  <a:moveTo>
                    <a:pt x="0" y="787239"/>
                  </a:moveTo>
                  <a:lnTo>
                    <a:pt x="1346129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1597924" y="521040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1695449" y="518173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1605696" y="532237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1682947" y="524065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1569225" y="521836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1714997" y="523247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1667113" y="525395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1630013" y="517881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1700182" y="520975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1608094" y="526388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1618079" y="512695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1602720" y="516305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1619729" y="513735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629632" y="522051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1547217" y="533269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1690646" y="514822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1615348" y="514207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1601861" y="512421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1581253" y="538700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1588852" y="516348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1618892" y="518235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1575824" y="521002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1634700" y="540025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1688273" y="515175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1577768" y="530673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1659225" y="516226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1613553" y="522026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1606724" y="477077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1506614" y="515236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1657801" y="515036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1673035" y="516230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tx862"/>
            <p:cNvSpPr/>
            <p:nvPr/>
          </p:nvSpPr>
          <p:spPr>
            <a:xfrm>
              <a:off x="1011953" y="4823455"/>
              <a:ext cx="465521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rho = 0.14</a:t>
              </a:r>
            </a:p>
          </p:txBody>
        </p:sp>
        <p:sp>
          <p:nvSpPr>
            <p:cNvPr id="863" name="tx863"/>
            <p:cNvSpPr/>
            <p:nvPr/>
          </p:nvSpPr>
          <p:spPr>
            <a:xfrm>
              <a:off x="1011953" y="4971753"/>
              <a:ext cx="856884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16% agree on sign</a:t>
              </a:r>
            </a:p>
          </p:txBody>
        </p:sp>
        <p:sp>
          <p:nvSpPr>
            <p:cNvPr id="864" name="rc864"/>
            <p:cNvSpPr/>
            <p:nvPr/>
          </p:nvSpPr>
          <p:spPr>
            <a:xfrm>
              <a:off x="3299370" y="3853888"/>
              <a:ext cx="2330066" cy="8359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pl865"/>
            <p:cNvSpPr/>
            <p:nvPr/>
          </p:nvSpPr>
          <p:spPr>
            <a:xfrm>
              <a:off x="3299370" y="4533784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l866"/>
            <p:cNvSpPr/>
            <p:nvPr/>
          </p:nvSpPr>
          <p:spPr>
            <a:xfrm>
              <a:off x="3299370" y="439274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l867"/>
            <p:cNvSpPr/>
            <p:nvPr/>
          </p:nvSpPr>
          <p:spPr>
            <a:xfrm>
              <a:off x="3299370" y="425170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l868"/>
            <p:cNvSpPr/>
            <p:nvPr/>
          </p:nvSpPr>
          <p:spPr>
            <a:xfrm>
              <a:off x="3299370" y="411066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l869"/>
            <p:cNvSpPr/>
            <p:nvPr/>
          </p:nvSpPr>
          <p:spPr>
            <a:xfrm>
              <a:off x="3299370" y="396962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l870"/>
            <p:cNvSpPr/>
            <p:nvPr/>
          </p:nvSpPr>
          <p:spPr>
            <a:xfrm>
              <a:off x="3299370" y="425170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8130" cap="flat">
              <a:solidFill>
                <a:srgbClr val="A6A6A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871" name="pl871"/>
            <p:cNvSpPr/>
            <p:nvPr/>
          </p:nvSpPr>
          <p:spPr>
            <a:xfrm>
              <a:off x="3965262" y="3853888"/>
              <a:ext cx="0" cy="835974"/>
            </a:xfrm>
            <a:custGeom>
              <a:avLst/>
              <a:pathLst>
                <a:path w="0" h="835974">
                  <a:moveTo>
                    <a:pt x="0" y="8359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A6A6A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872" name="pl872"/>
            <p:cNvSpPr/>
            <p:nvPr/>
          </p:nvSpPr>
          <p:spPr>
            <a:xfrm>
              <a:off x="3299370" y="3853888"/>
              <a:ext cx="1346129" cy="787239"/>
            </a:xfrm>
            <a:custGeom>
              <a:avLst/>
              <a:pathLst>
                <a:path w="1346129" h="787239">
                  <a:moveTo>
                    <a:pt x="0" y="787239"/>
                  </a:moveTo>
                  <a:lnTo>
                    <a:pt x="1346129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086453" y="440338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203734" y="427480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4092649" y="449194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4260816" y="435762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3972382" y="445246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4318414" y="435730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4228431" y="442916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4149222" y="435462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297558" y="438233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4083342" y="441360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4033941" y="437199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062269" y="425377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4122694" y="425291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166981" y="433621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944469" y="448960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4266321" y="430336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130099" y="439935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023886" y="442221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4041905" y="459183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3973534" y="441982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4081321" y="437416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000584" y="437006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4141153" y="460297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280973" y="426238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4010376" y="456001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4183668" y="427137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4099893" y="439873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036684" y="434463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3868331" y="436083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186490" y="432211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254256" y="428405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tx904"/>
            <p:cNvSpPr/>
            <p:nvPr/>
          </p:nvSpPr>
          <p:spPr>
            <a:xfrm>
              <a:off x="3405282" y="3924218"/>
              <a:ext cx="465521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rho = 0.46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3405282" y="4072516"/>
              <a:ext cx="799734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6% agree on sign</a:t>
              </a:r>
            </a:p>
          </p:txBody>
        </p:sp>
        <p:sp>
          <p:nvSpPr>
            <p:cNvPr id="906" name="rc906"/>
            <p:cNvSpPr/>
            <p:nvPr/>
          </p:nvSpPr>
          <p:spPr>
            <a:xfrm>
              <a:off x="3299370" y="4753126"/>
              <a:ext cx="2330066" cy="8359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3299370" y="543302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l908"/>
            <p:cNvSpPr/>
            <p:nvPr/>
          </p:nvSpPr>
          <p:spPr>
            <a:xfrm>
              <a:off x="3299370" y="529198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l909"/>
            <p:cNvSpPr/>
            <p:nvPr/>
          </p:nvSpPr>
          <p:spPr>
            <a:xfrm>
              <a:off x="3299370" y="515094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l910"/>
            <p:cNvSpPr/>
            <p:nvPr/>
          </p:nvSpPr>
          <p:spPr>
            <a:xfrm>
              <a:off x="3299370" y="5009900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l911"/>
            <p:cNvSpPr/>
            <p:nvPr/>
          </p:nvSpPr>
          <p:spPr>
            <a:xfrm>
              <a:off x="3299370" y="4868860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l912"/>
            <p:cNvSpPr/>
            <p:nvPr/>
          </p:nvSpPr>
          <p:spPr>
            <a:xfrm>
              <a:off x="3299370" y="515094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8130" cap="flat">
              <a:solidFill>
                <a:srgbClr val="A6A6A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913" name="pl913"/>
            <p:cNvSpPr/>
            <p:nvPr/>
          </p:nvSpPr>
          <p:spPr>
            <a:xfrm>
              <a:off x="3965262" y="4753126"/>
              <a:ext cx="0" cy="835974"/>
            </a:xfrm>
            <a:custGeom>
              <a:avLst/>
              <a:pathLst>
                <a:path w="0" h="835974">
                  <a:moveTo>
                    <a:pt x="0" y="8359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A6A6A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914" name="pl914"/>
            <p:cNvSpPr/>
            <p:nvPr/>
          </p:nvSpPr>
          <p:spPr>
            <a:xfrm>
              <a:off x="3299370" y="4753126"/>
              <a:ext cx="1346129" cy="787239"/>
            </a:xfrm>
            <a:custGeom>
              <a:avLst/>
              <a:pathLst>
                <a:path w="1346129" h="787239">
                  <a:moveTo>
                    <a:pt x="0" y="787239"/>
                  </a:moveTo>
                  <a:lnTo>
                    <a:pt x="1346129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4277689" y="531764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4353448" y="517781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4305835" y="538086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592223" y="526273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4064766" y="533079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4703788" y="526242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554645" y="533643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4442542" y="532520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4733915" y="528709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224958" y="533807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4089190" y="531433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4252840" y="516267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4367636" y="515686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4405236" y="522207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958516" y="538512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554815" y="520539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343031" y="530055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074173" y="539351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4140202" y="547839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3989060" y="543106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4314657" y="527199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4157326" y="526292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4366020" y="552238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4579742" y="516844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4149821" y="546191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4496501" y="518570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257457" y="528057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201676" y="524170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3878172" y="525189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4533412" y="522482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4515514" y="518524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tx946"/>
            <p:cNvSpPr/>
            <p:nvPr/>
          </p:nvSpPr>
          <p:spPr>
            <a:xfrm>
              <a:off x="3405282" y="4823455"/>
              <a:ext cx="465521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rho = 0.47</a:t>
              </a:r>
            </a:p>
          </p:txBody>
        </p:sp>
        <p:sp>
          <p:nvSpPr>
            <p:cNvPr id="947" name="tx947"/>
            <p:cNvSpPr/>
            <p:nvPr/>
          </p:nvSpPr>
          <p:spPr>
            <a:xfrm>
              <a:off x="3405282" y="4971753"/>
              <a:ext cx="799734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3% agree on sign</a:t>
              </a:r>
            </a:p>
          </p:txBody>
        </p:sp>
        <p:sp>
          <p:nvSpPr>
            <p:cNvPr id="948" name="rc948"/>
            <p:cNvSpPr/>
            <p:nvPr/>
          </p:nvSpPr>
          <p:spPr>
            <a:xfrm>
              <a:off x="5692700" y="3853888"/>
              <a:ext cx="2330066" cy="8359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5692700" y="4533784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5692700" y="439274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5692700" y="425170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l952"/>
            <p:cNvSpPr/>
            <p:nvPr/>
          </p:nvSpPr>
          <p:spPr>
            <a:xfrm>
              <a:off x="5692700" y="411066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l953"/>
            <p:cNvSpPr/>
            <p:nvPr/>
          </p:nvSpPr>
          <p:spPr>
            <a:xfrm>
              <a:off x="5692700" y="396962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l954"/>
            <p:cNvSpPr/>
            <p:nvPr/>
          </p:nvSpPr>
          <p:spPr>
            <a:xfrm>
              <a:off x="5692700" y="4251703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8130" cap="flat">
              <a:solidFill>
                <a:srgbClr val="A6A6A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6358591" y="3853888"/>
              <a:ext cx="0" cy="835974"/>
            </a:xfrm>
            <a:custGeom>
              <a:avLst/>
              <a:pathLst>
                <a:path w="0" h="835974">
                  <a:moveTo>
                    <a:pt x="0" y="8359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A6A6A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5692700" y="3853888"/>
              <a:ext cx="1346129" cy="787239"/>
            </a:xfrm>
            <a:custGeom>
              <a:avLst/>
              <a:pathLst>
                <a:path w="1346129" h="787239">
                  <a:moveTo>
                    <a:pt x="0" y="787239"/>
                  </a:moveTo>
                  <a:lnTo>
                    <a:pt x="1346129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646617" y="440157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6817887" y="426922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6692913" y="448111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7102799" y="437088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6430220" y="444023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7199242" y="436544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7033572" y="444295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6870939" y="442184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7246881" y="438552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6661768" y="443862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6499400" y="442112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6553160" y="427346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6697566" y="425053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6850516" y="431982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6387628" y="448405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6932473" y="430117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6807334" y="439474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6504407" y="448061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6589860" y="456245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6361113" y="452522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6735171" y="436735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6531173" y="437231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6784200" y="460902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7001077" y="426681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6541574" y="454945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6906891" y="427600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6694261" y="4396296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6639481" y="434514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6238673" y="436783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6960966" y="432191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6989660" y="429761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tx988"/>
            <p:cNvSpPr/>
            <p:nvPr/>
          </p:nvSpPr>
          <p:spPr>
            <a:xfrm>
              <a:off x="5798612" y="3924218"/>
              <a:ext cx="465521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rho = 0.44</a:t>
              </a:r>
            </a:p>
          </p:txBody>
        </p:sp>
        <p:sp>
          <p:nvSpPr>
            <p:cNvPr id="989" name="tx989"/>
            <p:cNvSpPr/>
            <p:nvPr/>
          </p:nvSpPr>
          <p:spPr>
            <a:xfrm>
              <a:off x="5798612" y="4072516"/>
              <a:ext cx="799734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3% agree on sign</a:t>
              </a:r>
            </a:p>
          </p:txBody>
        </p:sp>
        <p:sp>
          <p:nvSpPr>
            <p:cNvPr id="990" name="rc990"/>
            <p:cNvSpPr/>
            <p:nvPr/>
          </p:nvSpPr>
          <p:spPr>
            <a:xfrm>
              <a:off x="5692700" y="4753126"/>
              <a:ext cx="2330066" cy="8359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5692700" y="543302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5692700" y="529198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5692700" y="515094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5692700" y="5009900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5692700" y="4868860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5692700" y="515094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  <a:lnTo>
                    <a:pt x="2330066" y="0"/>
                  </a:lnTo>
                </a:path>
              </a:pathLst>
            </a:custGeom>
            <a:ln w="8130" cap="flat">
              <a:solidFill>
                <a:srgbClr val="A6A6A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6358591" y="4753126"/>
              <a:ext cx="0" cy="835974"/>
            </a:xfrm>
            <a:custGeom>
              <a:avLst/>
              <a:pathLst>
                <a:path w="0" h="835974">
                  <a:moveTo>
                    <a:pt x="0" y="8359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A6A6A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5692700" y="4753126"/>
              <a:ext cx="1346129" cy="787239"/>
            </a:xfrm>
            <a:custGeom>
              <a:avLst/>
              <a:pathLst>
                <a:path w="1346129" h="787239">
                  <a:moveTo>
                    <a:pt x="0" y="787239"/>
                  </a:moveTo>
                  <a:lnTo>
                    <a:pt x="1346129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7499257" y="533500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7443589" y="522134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7487435" y="538423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7859771" y="527332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6891977" y="529750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7896503" y="525936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7685986" y="534208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7641926" y="532416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7869057" y="529334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7316888" y="537656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6701742" y="533973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7430788" y="519740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7561794" y="5182919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7495704" y="5217084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6568915" y="5385373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7703280" y="519910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7578633" y="529842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6725224" y="540311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7046080" y="549555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6687469" y="541194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7452810" y="528582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7199158" y="530235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7588557" y="5530750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7843896" y="517428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7208089" y="5481971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7670299" y="5179857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7346883" y="533356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7219405" y="526542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6408621" y="5251925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7786324" y="5225112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7715482" y="5174238"/>
              <a:ext cx="40703" cy="40703"/>
            </a:xfrm>
            <a:prstGeom prst="ellipse">
              <a:avLst/>
            </a:prstGeom>
            <a:solidFill>
              <a:srgbClr val="D55E00">
                <a:alpha val="85098"/>
              </a:srgbClr>
            </a:solidFill>
            <a:ln w="8181" cap="rnd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tx1030"/>
            <p:cNvSpPr/>
            <p:nvPr/>
          </p:nvSpPr>
          <p:spPr>
            <a:xfrm>
              <a:off x="5798612" y="4823455"/>
              <a:ext cx="465521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rho = 0.48</a:t>
              </a:r>
            </a:p>
          </p:txBody>
        </p:sp>
        <p:sp>
          <p:nvSpPr>
            <p:cNvPr id="1031" name="tx1031"/>
            <p:cNvSpPr/>
            <p:nvPr/>
          </p:nvSpPr>
          <p:spPr>
            <a:xfrm>
              <a:off x="5798612" y="4971753"/>
              <a:ext cx="799734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0% agree on sign</a:t>
              </a:r>
            </a:p>
          </p:txBody>
        </p:sp>
        <p:sp>
          <p:nvSpPr>
            <p:cNvPr id="1032" name="tx1032"/>
            <p:cNvSpPr/>
            <p:nvPr/>
          </p:nvSpPr>
          <p:spPr>
            <a:xfrm>
              <a:off x="956651" y="3698945"/>
              <a:ext cx="28273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1033" name="tx1033"/>
            <p:cNvSpPr/>
            <p:nvPr/>
          </p:nvSpPr>
          <p:spPr>
            <a:xfrm>
              <a:off x="3349980" y="3698945"/>
              <a:ext cx="28273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1034" name="tx1034"/>
            <p:cNvSpPr/>
            <p:nvPr/>
          </p:nvSpPr>
          <p:spPr>
            <a:xfrm>
              <a:off x="5743310" y="3698945"/>
              <a:ext cx="28273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2080</a:t>
              </a:r>
            </a:p>
          </p:txBody>
        </p:sp>
        <p:sp>
          <p:nvSpPr>
            <p:cNvPr id="1035" name="tx1035"/>
            <p:cNvSpPr/>
            <p:nvPr/>
          </p:nvSpPr>
          <p:spPr>
            <a:xfrm rot="5400000">
              <a:off x="7860367" y="4130858"/>
              <a:ext cx="54370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SSP2-4.5</a:t>
              </a:r>
            </a:p>
          </p:txBody>
        </p:sp>
        <p:sp>
          <p:nvSpPr>
            <p:cNvPr id="1036" name="tx1036"/>
            <p:cNvSpPr/>
            <p:nvPr/>
          </p:nvSpPr>
          <p:spPr>
            <a:xfrm rot="5400000">
              <a:off x="7860367" y="5030096"/>
              <a:ext cx="54370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SSP5-8.5</a:t>
              </a:r>
            </a:p>
          </p:txBody>
        </p:sp>
        <p:sp>
          <p:nvSpPr>
            <p:cNvPr id="1037" name="pl1037"/>
            <p:cNvSpPr/>
            <p:nvPr/>
          </p:nvSpPr>
          <p:spPr>
            <a:xfrm>
              <a:off x="906041" y="558910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l1038"/>
            <p:cNvSpPr/>
            <p:nvPr/>
          </p:nvSpPr>
          <p:spPr>
            <a:xfrm>
              <a:off x="1330762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l1039"/>
            <p:cNvSpPr/>
            <p:nvPr/>
          </p:nvSpPr>
          <p:spPr>
            <a:xfrm>
              <a:off x="1571932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l1040"/>
            <p:cNvSpPr/>
            <p:nvPr/>
          </p:nvSpPr>
          <p:spPr>
            <a:xfrm>
              <a:off x="2054272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l1041"/>
            <p:cNvSpPr/>
            <p:nvPr/>
          </p:nvSpPr>
          <p:spPr>
            <a:xfrm>
              <a:off x="2536612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l1042"/>
            <p:cNvSpPr/>
            <p:nvPr/>
          </p:nvSpPr>
          <p:spPr>
            <a:xfrm>
              <a:off x="3018952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tx1043"/>
            <p:cNvSpPr/>
            <p:nvPr/>
          </p:nvSpPr>
          <p:spPr>
            <a:xfrm>
              <a:off x="1260125" y="564603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044" name="tx1044"/>
            <p:cNvSpPr/>
            <p:nvPr/>
          </p:nvSpPr>
          <p:spPr>
            <a:xfrm>
              <a:off x="1501295" y="564603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045" name="tx1045"/>
            <p:cNvSpPr/>
            <p:nvPr/>
          </p:nvSpPr>
          <p:spPr>
            <a:xfrm>
              <a:off x="1983635" y="564603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4.0</a:t>
              </a:r>
            </a:p>
          </p:txBody>
        </p:sp>
        <p:sp>
          <p:nvSpPr>
            <p:cNvPr id="1046" name="tx1046"/>
            <p:cNvSpPr/>
            <p:nvPr/>
          </p:nvSpPr>
          <p:spPr>
            <a:xfrm>
              <a:off x="2437720" y="5646037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16.0</a:t>
              </a:r>
            </a:p>
          </p:txBody>
        </p:sp>
        <p:sp>
          <p:nvSpPr>
            <p:cNvPr id="1047" name="tx1047"/>
            <p:cNvSpPr/>
            <p:nvPr/>
          </p:nvSpPr>
          <p:spPr>
            <a:xfrm>
              <a:off x="2920060" y="5646037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64.0</a:t>
              </a:r>
            </a:p>
          </p:txBody>
        </p:sp>
        <p:sp>
          <p:nvSpPr>
            <p:cNvPr id="1048" name="pl1048"/>
            <p:cNvSpPr/>
            <p:nvPr/>
          </p:nvSpPr>
          <p:spPr>
            <a:xfrm>
              <a:off x="3299370" y="558910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l1049"/>
            <p:cNvSpPr/>
            <p:nvPr/>
          </p:nvSpPr>
          <p:spPr>
            <a:xfrm>
              <a:off x="3724092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l1050"/>
            <p:cNvSpPr/>
            <p:nvPr/>
          </p:nvSpPr>
          <p:spPr>
            <a:xfrm>
              <a:off x="3965262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l1051"/>
            <p:cNvSpPr/>
            <p:nvPr/>
          </p:nvSpPr>
          <p:spPr>
            <a:xfrm>
              <a:off x="4447602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l1052"/>
            <p:cNvSpPr/>
            <p:nvPr/>
          </p:nvSpPr>
          <p:spPr>
            <a:xfrm>
              <a:off x="4929942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l1053"/>
            <p:cNvSpPr/>
            <p:nvPr/>
          </p:nvSpPr>
          <p:spPr>
            <a:xfrm>
              <a:off x="5412282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tx1054"/>
            <p:cNvSpPr/>
            <p:nvPr/>
          </p:nvSpPr>
          <p:spPr>
            <a:xfrm>
              <a:off x="3653454" y="564603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055" name="tx1055"/>
            <p:cNvSpPr/>
            <p:nvPr/>
          </p:nvSpPr>
          <p:spPr>
            <a:xfrm>
              <a:off x="3894624" y="564603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056" name="tx1056"/>
            <p:cNvSpPr/>
            <p:nvPr/>
          </p:nvSpPr>
          <p:spPr>
            <a:xfrm>
              <a:off x="4376964" y="564603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4.0</a:t>
              </a:r>
            </a:p>
          </p:txBody>
        </p:sp>
        <p:sp>
          <p:nvSpPr>
            <p:cNvPr id="1057" name="tx1057"/>
            <p:cNvSpPr/>
            <p:nvPr/>
          </p:nvSpPr>
          <p:spPr>
            <a:xfrm>
              <a:off x="4831049" y="5646037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16.0</a:t>
              </a:r>
            </a:p>
          </p:txBody>
        </p:sp>
        <p:sp>
          <p:nvSpPr>
            <p:cNvPr id="1058" name="tx1058"/>
            <p:cNvSpPr/>
            <p:nvPr/>
          </p:nvSpPr>
          <p:spPr>
            <a:xfrm>
              <a:off x="5313389" y="5646037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64.0</a:t>
              </a:r>
            </a:p>
          </p:txBody>
        </p:sp>
        <p:sp>
          <p:nvSpPr>
            <p:cNvPr id="1059" name="pl1059"/>
            <p:cNvSpPr/>
            <p:nvPr/>
          </p:nvSpPr>
          <p:spPr>
            <a:xfrm>
              <a:off x="5692700" y="5589101"/>
              <a:ext cx="2330066" cy="0"/>
            </a:xfrm>
            <a:custGeom>
              <a:avLst/>
              <a:pathLst>
                <a:path w="2330066" h="0">
                  <a:moveTo>
                    <a:pt x="0" y="0"/>
                  </a:moveTo>
                  <a:lnTo>
                    <a:pt x="2330066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l1060"/>
            <p:cNvSpPr/>
            <p:nvPr/>
          </p:nvSpPr>
          <p:spPr>
            <a:xfrm>
              <a:off x="6117421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l1061"/>
            <p:cNvSpPr/>
            <p:nvPr/>
          </p:nvSpPr>
          <p:spPr>
            <a:xfrm>
              <a:off x="6358591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l1062"/>
            <p:cNvSpPr/>
            <p:nvPr/>
          </p:nvSpPr>
          <p:spPr>
            <a:xfrm>
              <a:off x="6840931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7323271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7805611" y="55891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tx1065"/>
            <p:cNvSpPr/>
            <p:nvPr/>
          </p:nvSpPr>
          <p:spPr>
            <a:xfrm>
              <a:off x="6046784" y="564603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066" name="tx1066"/>
            <p:cNvSpPr/>
            <p:nvPr/>
          </p:nvSpPr>
          <p:spPr>
            <a:xfrm>
              <a:off x="6287954" y="564603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067" name="tx1067"/>
            <p:cNvSpPr/>
            <p:nvPr/>
          </p:nvSpPr>
          <p:spPr>
            <a:xfrm>
              <a:off x="6770294" y="564603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4.0</a:t>
              </a:r>
            </a:p>
          </p:txBody>
        </p:sp>
        <p:sp>
          <p:nvSpPr>
            <p:cNvPr id="1068" name="tx1068"/>
            <p:cNvSpPr/>
            <p:nvPr/>
          </p:nvSpPr>
          <p:spPr>
            <a:xfrm>
              <a:off x="7224379" y="5646037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16.0</a:t>
              </a:r>
            </a:p>
          </p:txBody>
        </p:sp>
        <p:sp>
          <p:nvSpPr>
            <p:cNvPr id="1069" name="tx1069"/>
            <p:cNvSpPr/>
            <p:nvPr/>
          </p:nvSpPr>
          <p:spPr>
            <a:xfrm>
              <a:off x="7706719" y="5646037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64.0</a:t>
              </a:r>
            </a:p>
          </p:txBody>
        </p:sp>
        <p:sp>
          <p:nvSpPr>
            <p:cNvPr id="1070" name="pl1070"/>
            <p:cNvSpPr/>
            <p:nvPr/>
          </p:nvSpPr>
          <p:spPr>
            <a:xfrm>
              <a:off x="906041" y="3853888"/>
              <a:ext cx="0" cy="835974"/>
            </a:xfrm>
            <a:custGeom>
              <a:avLst/>
              <a:pathLst>
                <a:path w="0" h="835974">
                  <a:moveTo>
                    <a:pt x="0" y="83597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tx1071"/>
            <p:cNvSpPr/>
            <p:nvPr/>
          </p:nvSpPr>
          <p:spPr>
            <a:xfrm>
              <a:off x="651319" y="449739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072" name="tx1072"/>
            <p:cNvSpPr/>
            <p:nvPr/>
          </p:nvSpPr>
          <p:spPr>
            <a:xfrm>
              <a:off x="651319" y="435635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073" name="tx1073"/>
            <p:cNvSpPr/>
            <p:nvPr/>
          </p:nvSpPr>
          <p:spPr>
            <a:xfrm>
              <a:off x="651319" y="421531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074" name="tx1074"/>
            <p:cNvSpPr/>
            <p:nvPr/>
          </p:nvSpPr>
          <p:spPr>
            <a:xfrm>
              <a:off x="651319" y="4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2.00</a:t>
              </a:r>
            </a:p>
          </p:txBody>
        </p:sp>
        <p:sp>
          <p:nvSpPr>
            <p:cNvPr id="1075" name="tx1075"/>
            <p:cNvSpPr/>
            <p:nvPr/>
          </p:nvSpPr>
          <p:spPr>
            <a:xfrm>
              <a:off x="651319" y="3933229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4.00</a:t>
              </a:r>
            </a:p>
          </p:txBody>
        </p:sp>
        <p:sp>
          <p:nvSpPr>
            <p:cNvPr id="1076" name="pl1076"/>
            <p:cNvSpPr/>
            <p:nvPr/>
          </p:nvSpPr>
          <p:spPr>
            <a:xfrm>
              <a:off x="874409" y="453378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l1077"/>
            <p:cNvSpPr/>
            <p:nvPr/>
          </p:nvSpPr>
          <p:spPr>
            <a:xfrm>
              <a:off x="874409" y="439274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l1078"/>
            <p:cNvSpPr/>
            <p:nvPr/>
          </p:nvSpPr>
          <p:spPr>
            <a:xfrm>
              <a:off x="874409" y="425170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l1079"/>
            <p:cNvSpPr/>
            <p:nvPr/>
          </p:nvSpPr>
          <p:spPr>
            <a:xfrm>
              <a:off x="874409" y="411066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l1080"/>
            <p:cNvSpPr/>
            <p:nvPr/>
          </p:nvSpPr>
          <p:spPr>
            <a:xfrm>
              <a:off x="874409" y="396962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l1081"/>
            <p:cNvSpPr/>
            <p:nvPr/>
          </p:nvSpPr>
          <p:spPr>
            <a:xfrm>
              <a:off x="906041" y="4753126"/>
              <a:ext cx="0" cy="835974"/>
            </a:xfrm>
            <a:custGeom>
              <a:avLst/>
              <a:pathLst>
                <a:path w="0" h="835974">
                  <a:moveTo>
                    <a:pt x="0" y="83597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tx1082"/>
            <p:cNvSpPr/>
            <p:nvPr/>
          </p:nvSpPr>
          <p:spPr>
            <a:xfrm>
              <a:off x="651319" y="5396628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083" name="tx1083"/>
            <p:cNvSpPr/>
            <p:nvPr/>
          </p:nvSpPr>
          <p:spPr>
            <a:xfrm>
              <a:off x="651319" y="5255588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084" name="tx1084"/>
            <p:cNvSpPr/>
            <p:nvPr/>
          </p:nvSpPr>
          <p:spPr>
            <a:xfrm>
              <a:off x="651319" y="5114547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085" name="tx1085"/>
            <p:cNvSpPr/>
            <p:nvPr/>
          </p:nvSpPr>
          <p:spPr>
            <a:xfrm>
              <a:off x="651319" y="4973507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2.00</a:t>
              </a:r>
            </a:p>
          </p:txBody>
        </p:sp>
        <p:sp>
          <p:nvSpPr>
            <p:cNvPr id="1086" name="tx1086"/>
            <p:cNvSpPr/>
            <p:nvPr/>
          </p:nvSpPr>
          <p:spPr>
            <a:xfrm>
              <a:off x="651319" y="4832467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4.00</a:t>
              </a:r>
            </a:p>
          </p:txBody>
        </p:sp>
        <p:sp>
          <p:nvSpPr>
            <p:cNvPr id="1087" name="pl1087"/>
            <p:cNvSpPr/>
            <p:nvPr/>
          </p:nvSpPr>
          <p:spPr>
            <a:xfrm>
              <a:off x="874409" y="543302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l1088"/>
            <p:cNvSpPr/>
            <p:nvPr/>
          </p:nvSpPr>
          <p:spPr>
            <a:xfrm>
              <a:off x="874409" y="529198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l1089"/>
            <p:cNvSpPr/>
            <p:nvPr/>
          </p:nvSpPr>
          <p:spPr>
            <a:xfrm>
              <a:off x="874409" y="515094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l1090"/>
            <p:cNvSpPr/>
            <p:nvPr/>
          </p:nvSpPr>
          <p:spPr>
            <a:xfrm>
              <a:off x="874409" y="500990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l1091"/>
            <p:cNvSpPr/>
            <p:nvPr/>
          </p:nvSpPr>
          <p:spPr>
            <a:xfrm>
              <a:off x="874409" y="486886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tx1092"/>
            <p:cNvSpPr/>
            <p:nvPr/>
          </p:nvSpPr>
          <p:spPr>
            <a:xfrm>
              <a:off x="3535464" y="5771852"/>
              <a:ext cx="185787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Mechanistic hazard ratio vs 2024</a:t>
              </a:r>
            </a:p>
          </p:txBody>
        </p:sp>
        <p:sp>
          <p:nvSpPr>
            <p:cNvPr id="1093" name="tx1093"/>
            <p:cNvSpPr/>
            <p:nvPr/>
          </p:nvSpPr>
          <p:spPr>
            <a:xfrm rot="-5400000">
              <a:off x="-589925" y="4676003"/>
              <a:ext cx="216182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Machine-learning hazard ratio vs 2024</a:t>
              </a:r>
            </a:p>
          </p:txBody>
        </p:sp>
        <p:sp>
          <p:nvSpPr>
            <p:cNvPr id="1094" name="tx1094"/>
            <p:cNvSpPr/>
            <p:nvPr/>
          </p:nvSpPr>
          <p:spPr>
            <a:xfrm>
              <a:off x="906041" y="3463548"/>
              <a:ext cx="5334883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The mechanistic model projects increases in 178 of 186 province-scenario cells, the ML model in only 8</a:t>
              </a:r>
            </a:p>
          </p:txBody>
        </p:sp>
        <p:sp>
          <p:nvSpPr>
            <p:cNvPr id="1095" name="tx1095"/>
            <p:cNvSpPr/>
            <p:nvPr/>
          </p:nvSpPr>
          <p:spPr>
            <a:xfrm>
              <a:off x="906041" y="3270807"/>
              <a:ext cx="22754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Outside it they diverge completely</a:t>
              </a:r>
            </a:p>
          </p:txBody>
        </p:sp>
        <p:sp>
          <p:nvSpPr>
            <p:cNvPr id="1096" name="tx1096"/>
            <p:cNvSpPr/>
            <p:nvPr/>
          </p:nvSpPr>
          <p:spPr>
            <a:xfrm>
              <a:off x="353689" y="3135201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2026-10-13T22:19:57Z</dcterms:modified>
  <cp:category/>
</cp:coreProperties>
</file>