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82880" y="182880"/>
            <a:ext cx="8229600" cy="5852160"/>
            <a:chOff x="182880" y="182880"/>
            <a:chExt cx="8229600" cy="5852160"/>
          </a:xfrm>
        </p:grpSpPr>
        <p:sp>
          <p:nvSpPr>
            <p:cNvPr id="3" name="rc3"/>
            <p:cNvSpPr/>
            <p:nvPr/>
          </p:nvSpPr>
          <p:spPr>
            <a:xfrm>
              <a:off x="182880" y="182880"/>
              <a:ext cx="8229600" cy="585216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82880" y="182880"/>
              <a:ext cx="8229599" cy="58521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52469" y="3041912"/>
              <a:ext cx="8090421" cy="2923538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52469" y="252469"/>
              <a:ext cx="3666922" cy="27894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919391" y="252469"/>
              <a:ext cx="4423499" cy="278944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318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906041" y="1190632"/>
              <a:ext cx="2912129" cy="14749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06041" y="2613741"/>
              <a:ext cx="2912129" cy="0"/>
            </a:xfrm>
            <a:custGeom>
              <a:avLst/>
              <a:pathLst>
                <a:path w="2912129" h="0">
                  <a:moveTo>
                    <a:pt x="0" y="0"/>
                  </a:moveTo>
                  <a:lnTo>
                    <a:pt x="2912129" y="0"/>
                  </a:lnTo>
                  <a:lnTo>
                    <a:pt x="29121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906041" y="2164064"/>
              <a:ext cx="2912129" cy="0"/>
            </a:xfrm>
            <a:custGeom>
              <a:avLst/>
              <a:pathLst>
                <a:path w="2912129" h="0">
                  <a:moveTo>
                    <a:pt x="0" y="0"/>
                  </a:moveTo>
                  <a:lnTo>
                    <a:pt x="2912129" y="0"/>
                  </a:lnTo>
                  <a:lnTo>
                    <a:pt x="29121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06041" y="1671262"/>
              <a:ext cx="2912129" cy="0"/>
            </a:xfrm>
            <a:custGeom>
              <a:avLst/>
              <a:pathLst>
                <a:path w="2912129" h="0">
                  <a:moveTo>
                    <a:pt x="0" y="0"/>
                  </a:moveTo>
                  <a:lnTo>
                    <a:pt x="2912129" y="0"/>
                  </a:lnTo>
                  <a:lnTo>
                    <a:pt x="29121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06041" y="1221586"/>
              <a:ext cx="2912129" cy="0"/>
            </a:xfrm>
            <a:custGeom>
              <a:avLst/>
              <a:pathLst>
                <a:path w="2912129" h="0">
                  <a:moveTo>
                    <a:pt x="0" y="0"/>
                  </a:moveTo>
                  <a:lnTo>
                    <a:pt x="2912129" y="0"/>
                  </a:lnTo>
                  <a:lnTo>
                    <a:pt x="2912129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3"/>
            <p:cNvSpPr/>
            <p:nvPr/>
          </p:nvSpPr>
          <p:spPr>
            <a:xfrm>
              <a:off x="2203625" y="240739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4"/>
            <p:cNvSpPr/>
            <p:nvPr/>
          </p:nvSpPr>
          <p:spPr>
            <a:xfrm>
              <a:off x="2180037" y="236872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5"/>
            <p:cNvSpPr/>
            <p:nvPr/>
          </p:nvSpPr>
          <p:spPr>
            <a:xfrm>
              <a:off x="2219815" y="235652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6"/>
            <p:cNvSpPr/>
            <p:nvPr/>
          </p:nvSpPr>
          <p:spPr>
            <a:xfrm>
              <a:off x="2391086" y="214098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7"/>
            <p:cNvSpPr/>
            <p:nvPr/>
          </p:nvSpPr>
          <p:spPr>
            <a:xfrm>
              <a:off x="2379626" y="202284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8"/>
            <p:cNvSpPr/>
            <p:nvPr/>
          </p:nvSpPr>
          <p:spPr>
            <a:xfrm>
              <a:off x="2555831" y="221384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9"/>
            <p:cNvSpPr/>
            <p:nvPr/>
          </p:nvSpPr>
          <p:spPr>
            <a:xfrm>
              <a:off x="2597646" y="208558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2586640" y="225752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2677386" y="190653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83146" y="211505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2777783" y="189286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782178" y="192910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638414" y="212213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665784" y="194841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10600" y="192832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824446" y="171346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9253" y="200067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43791" y="183237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855257" y="198285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908440" y="180594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82118" y="198801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3101984" y="221586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1750336" y="237661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526084" y="239228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1405343" y="246020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1319321" y="245917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613484" y="242568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1624241" y="225576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1727853" y="239722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1504162" y="241377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1751830" y="230634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1589993" y="239907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1348816" y="235222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1578770" y="242594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636275" y="231415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1828372" y="216261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1855664" y="221504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053042" y="216613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00782" y="210115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057604" y="206250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018877" y="231825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201738" y="215458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394544" y="211369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525973" y="218742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771246" y="218675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170765" y="234351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1539061" y="228470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1473990" y="227018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1268446" y="230312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1023479" y="236220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1573666" y="225653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428885" y="227552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1073834" y="247497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1348827" y="239346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213268" y="243481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1461721" y="229530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1624148" y="218419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1645503" y="221161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1754661" y="198063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1783480" y="200496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1923625" y="214181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060478" y="209104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2108713" y="217561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2083897" y="222201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243046" y="210939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342064" y="218213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35790" y="221771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2693609" y="232498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274614" y="229873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288877" y="234310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2166549" y="241338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347667" y="226838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561526" y="228951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270307" y="220122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2600592" y="226341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560812" y="223586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818570" y="205821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2790647" y="195223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838418" y="202339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821506" y="193011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815566" y="199103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829824" y="187753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893776" y="191116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6492" y="191467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991922" y="195850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930303" y="182035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907530" y="170273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005566" y="181363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140462" y="201712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215674" y="232089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577179" y="239350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1520944" y="241502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1285469" y="228345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1410210" y="240567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435158" y="236867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1476285" y="231934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1372698" y="232039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1549234" y="223058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1528495" y="226976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1240127" y="239222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411345" y="233483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1645065" y="208095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1788549" y="196089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1794357" y="191916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1948427" y="221015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014246" y="221043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210743" y="225074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335896" y="217978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324227" y="213998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457428" y="238161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2576320" y="217307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2753790" y="211914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235849" y="220944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1961780" y="234292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959904" y="234436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946834" y="210449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081720" y="208015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1778819" y="235647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798474" y="252477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752423" y="252011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612305" y="240841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1957385" y="233257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1894020" y="230281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1878408" y="235088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1980625" y="189011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286921" y="212325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277050" y="198931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158529" y="221544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303974" y="222058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2443743" y="221607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36991" y="226972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478288" y="216327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2744511" y="226107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759072" y="224495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996229" y="243992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98088" y="212457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1815369" y="238555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068906" y="213539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1905193" y="233985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790071" y="258358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192713" y="232582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1461485" y="248297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690143" y="256301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1341111" y="250827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87079" y="240079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1490184" y="257935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2072394" y="225547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85954" y="225692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170743" y="206281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49359" y="189939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34645" y="208770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566446" y="202774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89663" y="207406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566083" y="216757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723443" y="223956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884124" y="186115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3133150" y="208871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1786203" y="227742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007206" y="234107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2090375" y="224423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067066" y="221222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121915" y="231689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059754" y="227874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1639561" y="232731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1933523" y="235979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1965494" y="227071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1278379" y="246842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1900172" y="238587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1904276" y="216301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1865715" y="233366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1870014" y="249610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2011089" y="215148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161284" y="195349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251950" y="195338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177802" y="233737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218470" y="219492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563808" y="204999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2694933" y="219366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40065" y="219236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048439" y="228650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933143" y="212717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1645649" y="243624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1811387" y="209125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1959738" y="228137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852808" y="210699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007236" y="221741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026262" y="183812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1951006" y="219653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097910" y="193979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020380" y="181162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1926562" y="188621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1928997" y="187286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1936590" y="239790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1879216" y="187134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1954446" y="220119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113930" y="207718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191259" y="208763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2257945" y="187166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2175578" y="201930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265229" y="200407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210227" y="184566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2426460" y="195773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516924" y="225059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527605" y="213862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438228" y="228780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05638" y="234213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143907" y="201895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38881" y="233609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204708" y="223697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310665" y="203088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1926183" y="200634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1978818" y="243178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094231" y="242775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044752" y="248400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1574943" y="256202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2467815" y="216317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325879" y="236212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152340" y="232299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164796" y="238274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337546" y="225326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1891196" y="250174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29174" y="216129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47786" y="216045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629933" y="215871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3057616" y="219618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1952674" y="245176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1940229" y="241483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56095" y="234357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138961" y="232333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318666" y="224068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488748" y="214739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658711" y="193181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632988" y="205742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709589" y="189166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767950" y="176985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783266" y="187395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88539" y="192270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845060" y="176512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804383" y="185862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848379" y="156796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867891" y="174497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945594" y="210582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2942424" y="174276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924842" y="205266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946969" y="180593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2947133" y="168609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77832" y="199944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027012" y="228951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064301" y="235463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1807966" y="235559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2005286" y="236000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2226120" y="230607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2324192" y="229983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7448" y="210060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347603" y="227487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427731" y="221424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2505996" y="188565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493716" y="189289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2545368" y="197023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500521" y="193059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561211" y="209687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597206" y="215701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608852" y="179370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638700" y="180730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615073" y="177075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616836" y="195804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764977" y="200679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842844" y="226121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927677" y="227294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062916" y="240208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669233" y="228596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482237" y="229639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511444" y="225440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2367112" y="229622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439889" y="236159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437169" y="229123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2584156" y="232783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800756" y="210308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918668" y="189809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2649561" y="212873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822684" y="201210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2783704" y="214171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780895" y="218064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2928410" y="194968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953450" y="212577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987372" y="199920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059519" y="219135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080047" y="193876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025624" y="178249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62853" y="185783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421050" y="199985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494323" y="180050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670869" y="212829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150947" y="242781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1997165" y="232842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159062" y="237558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168547" y="240869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237221" y="236515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70839" y="212113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2471876" y="220889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2462544" y="204059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575237" y="213889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636467" y="220084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48403" y="188462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659140" y="171146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726251" y="192562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733353" y="204679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2732001" y="202989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762331" y="193597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852202" y="227281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1788425" y="228700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1930979" y="209004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1924507" y="235607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31298" y="236402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2088772" y="218140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2235343" y="228351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301817" y="212427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303366" y="212220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195537" y="213690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381900" y="205138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18778" y="210920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2508711" y="195385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509603" y="199429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554256" y="184589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614203" y="176942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2696140" y="204509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2724344" y="196330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673542" y="200259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773736" y="199733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790697" y="202956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986866" y="242238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3082320" y="221880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212984" y="218491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2322881" y="225487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317151" y="225337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2255180" y="228048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095191" y="234395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357108" y="208163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213013" y="203610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2147671" y="212477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2005691" y="196685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047399" y="228867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1784630" y="226798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1643772" y="233706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913618" y="239300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1890571" y="214401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1942411" y="232251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043965" y="230443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198632" y="221711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2167197" y="183200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1717945" y="226248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436991" y="187688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152834" y="204733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2649911" y="184950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2868571" y="200072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219381" y="225506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307771" y="227321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031519" y="247195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227208" y="229659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465920" y="204569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2421537" y="223492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279183" y="208846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315671" y="199304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326942" y="181509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306802" y="218601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331324" y="244861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2488527" y="195023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416793" y="216512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2396730" y="196871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2483581" y="219280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07418" y="192706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443561" y="208471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637895" y="201592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754386" y="216313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2710322" y="212616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982841" y="226095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019629" y="243549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2390955" y="231203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626686" y="212380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2604116" y="219405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721057" y="207983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721334" y="216479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714757" y="189993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642384" y="190401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736974" y="199522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827443" y="181750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828871" y="180752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791869" y="183447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78737" y="180005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297950" y="216805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1516489" y="242978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343318" y="193455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167969" y="235122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090689" y="229709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389678" y="220618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2100822" y="220946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127492" y="214826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448821" y="210310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56837" y="215294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614460" y="197886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686915" y="179260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683941" y="166634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81671" y="189639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731885" y="202436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801972" y="181458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822098" y="202957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2739045" y="201518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743471" y="222107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745301" y="202237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800612" y="220189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81421" y="182973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952498" y="228601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2547048" y="221880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388082" y="236977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616895" y="199036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550926" y="217585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849818" y="191138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2964540" y="191331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56051" y="181760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985941" y="192397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3036413" y="181226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3095518" y="168747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068541" y="181302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3124739" y="187943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103831" y="172945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3035056" y="175218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015937" y="161047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087276" y="200681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3128547" y="188387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116504" y="183240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034443" y="163324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979199" y="214763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2977412" y="193465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3130363" y="196402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234270" y="231743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1933346" y="245529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1886632" y="236968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1828515" y="242903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120803" y="236228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1956768" y="231376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068109" y="235024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026158" y="237976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2068594" y="228945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2143812" y="216039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7420" y="233002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1966810" y="230232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2052337" y="235616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1929078" y="241295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2272086" y="207047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452164" y="204444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2518333" y="191155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494221" y="195682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532570" y="183110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2697369" y="185869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736019" y="198499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99000" y="183219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3068541" y="228344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036402" y="233360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013747" y="238955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264435" y="226113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2411165" y="183591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479264" y="218798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9194" y="209509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2385349" y="200364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361889" y="205795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407177" y="213509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394396" y="190742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484590" y="150580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487792" y="160308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1551747" y="236433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1680554" y="233119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2000758" y="227285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036925" y="217280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1941798" y="210797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018141" y="207088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110519" y="224545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2147451" y="202614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50647" y="193732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139988" y="204448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001094" y="232863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16074" y="186759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127837" y="197632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299326" y="188046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2340439" y="191169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337916" y="185316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28466" y="214449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2285874" y="181786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31348" y="177463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544392" y="188468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078777" y="209469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1616376" y="226023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1781277" y="218209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1777312" y="231928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1974098" y="207741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1975487" y="191083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1752240" y="230429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1772528" y="223423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058506" y="209409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025363" y="183836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2113219" y="197761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2227702" y="198039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55076" y="192630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297062" y="210449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2340287" y="198908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373695" y="217822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2408035" y="211157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437552" y="216348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10260" y="205034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496009" y="215547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554661" y="240036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2702821" y="191858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873018" y="230647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269902" y="229404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1856087" y="244304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2540397" y="217057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344298" y="232050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2395906" y="232384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61974" y="198169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76164" y="223211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655018" y="233748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742966" y="224906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746214" y="219851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898760" y="202743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012499" y="174580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962268" y="182262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2969170" y="200807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007274" y="157452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658021" y="232415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1639772" y="243753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6187" y="232178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1856274" y="217534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1954071" y="224396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2106355" y="209317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183830" y="185648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2317310" y="153729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429583" y="176603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358067" y="193706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2441396" y="184764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373529" y="205993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70307" y="174095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419986" y="183005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435778" y="181120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493605" y="193652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2467113" y="182301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390476" y="208397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2461006" y="202252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471464" y="181578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538015" y="236928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00002" y="233321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191604" y="231610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150508" y="207081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1942074" y="230627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2156093" y="226977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211216" y="199880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268141" y="207425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316838" y="215349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2242942" y="214803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297454" y="213948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308242" y="223974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478265" y="202544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530573" y="201067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579739" y="197676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601308" y="190262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2637063" y="194637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652849" y="203267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687855" y="204710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716075" y="188394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650894" y="210998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605361" y="219314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2597579" y="202059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760814" y="233261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1928166" y="234577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1915515" y="237652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812035" y="241720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1993065" y="225143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188987" y="216677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239790" y="199021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293402" y="220892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352064" y="173842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341763" y="198703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475945" y="204187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435452" y="196992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2452082" y="197017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478742" y="208258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486035" y="207244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530366" y="211888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547641" y="207332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569884" y="184155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655794" y="185635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705687" y="205936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2754503" y="191715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851522" y="173143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915694" y="217638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008557" y="237940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064936" y="237098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305187" y="212010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032453" y="224474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197146" y="206156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2163331" y="202555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2248400" y="194873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331754" y="202242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303674" y="227175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2375126" y="199778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05712" y="201053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369872" y="199631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447497" y="208008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455956" y="196375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523626" y="208238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34833" y="198537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586221" y="219054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699588" y="201114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807092" y="175299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2826656" y="222674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2874156" y="223772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941127" y="177434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997770" y="227775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3035319" y="243176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132011" y="241608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593242" y="227299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650231" y="211718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496878" y="230161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559928" y="230446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683332" y="200166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644087" y="223737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710889" y="227723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559279" y="212715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590434" y="219799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2516357" y="200429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2644028" y="198637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2727036" y="168892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2818852" y="196651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803211" y="220090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2803562" y="208560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932040" y="199159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2898137" y="176489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2916338" y="175133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952181" y="191051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878882" y="184247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070001" y="210013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3244514" y="180069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2791253" y="197363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869633" y="202851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863984" y="207306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926309" y="181306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2990912" y="177959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110658" y="168736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235242" y="240559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780090" y="187399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2879535" y="172133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2953453" y="178369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514466" y="174229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560498" y="193982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651629" y="190089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2700787" y="202891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768223" y="189489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808743" y="233317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809566" y="239357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2838273" y="216372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2858235" y="221316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969627" y="172150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976133" y="212220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1935313" y="234264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1872532" y="244894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1844810" y="245576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903100" y="227065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1841407" y="227055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1683629" y="221234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1678010" y="242285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1904198" y="2307246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1896215" y="234915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229895" y="205242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2225925" y="190801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246797" y="204777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2333993" y="225534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445486" y="162358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2507043" y="2080177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09479" y="1777299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2617782" y="210713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596259" y="182261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803216" y="2249348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906575" y="223120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057759" y="175570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3126918" y="192745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083274" y="1242743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3088078" y="1808001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135489" y="1973644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025418" y="1962460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89129" y="1650082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3240989" y="2349355"/>
              <a:ext cx="29862" cy="29862"/>
            </a:xfrm>
            <a:prstGeom prst="ellipse">
              <a:avLst/>
            </a:prstGeom>
            <a:solidFill>
              <a:srgbClr val="009E73">
                <a:alpha val="45098"/>
              </a:srgbClr>
            </a:solidFill>
            <a:ln w="8181" cap="rnd">
              <a:solidFill>
                <a:srgbClr val="009E73">
                  <a:alpha val="4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1038410" y="1805556"/>
              <a:ext cx="2647390" cy="670843"/>
            </a:xfrm>
            <a:custGeom>
              <a:avLst/>
              <a:pathLst>
                <a:path w="2647390" h="670843">
                  <a:moveTo>
                    <a:pt x="0" y="670843"/>
                  </a:moveTo>
                  <a:lnTo>
                    <a:pt x="33511" y="662351"/>
                  </a:lnTo>
                  <a:lnTo>
                    <a:pt x="67022" y="653860"/>
                  </a:lnTo>
                  <a:lnTo>
                    <a:pt x="100533" y="645368"/>
                  </a:lnTo>
                  <a:lnTo>
                    <a:pt x="134045" y="636876"/>
                  </a:lnTo>
                  <a:lnTo>
                    <a:pt x="167556" y="628385"/>
                  </a:lnTo>
                  <a:lnTo>
                    <a:pt x="201067" y="619893"/>
                  </a:lnTo>
                  <a:lnTo>
                    <a:pt x="234578" y="611401"/>
                  </a:lnTo>
                  <a:lnTo>
                    <a:pt x="268090" y="602909"/>
                  </a:lnTo>
                  <a:lnTo>
                    <a:pt x="301601" y="594418"/>
                  </a:lnTo>
                  <a:lnTo>
                    <a:pt x="335112" y="585926"/>
                  </a:lnTo>
                  <a:lnTo>
                    <a:pt x="368624" y="577434"/>
                  </a:lnTo>
                  <a:lnTo>
                    <a:pt x="402135" y="568943"/>
                  </a:lnTo>
                  <a:lnTo>
                    <a:pt x="435646" y="560451"/>
                  </a:lnTo>
                  <a:lnTo>
                    <a:pt x="469157" y="551959"/>
                  </a:lnTo>
                  <a:lnTo>
                    <a:pt x="502669" y="543468"/>
                  </a:lnTo>
                  <a:lnTo>
                    <a:pt x="536180" y="534976"/>
                  </a:lnTo>
                  <a:lnTo>
                    <a:pt x="569691" y="526484"/>
                  </a:lnTo>
                  <a:lnTo>
                    <a:pt x="603202" y="517993"/>
                  </a:lnTo>
                  <a:lnTo>
                    <a:pt x="636714" y="509501"/>
                  </a:lnTo>
                  <a:lnTo>
                    <a:pt x="670225" y="501009"/>
                  </a:lnTo>
                  <a:lnTo>
                    <a:pt x="703736" y="492517"/>
                  </a:lnTo>
                  <a:lnTo>
                    <a:pt x="737248" y="484026"/>
                  </a:lnTo>
                  <a:lnTo>
                    <a:pt x="770759" y="475534"/>
                  </a:lnTo>
                  <a:lnTo>
                    <a:pt x="804270" y="467042"/>
                  </a:lnTo>
                  <a:lnTo>
                    <a:pt x="837781" y="458551"/>
                  </a:lnTo>
                  <a:lnTo>
                    <a:pt x="871293" y="450059"/>
                  </a:lnTo>
                  <a:lnTo>
                    <a:pt x="904804" y="441567"/>
                  </a:lnTo>
                  <a:lnTo>
                    <a:pt x="938315" y="433076"/>
                  </a:lnTo>
                  <a:lnTo>
                    <a:pt x="971826" y="424584"/>
                  </a:lnTo>
                  <a:lnTo>
                    <a:pt x="1005338" y="416092"/>
                  </a:lnTo>
                  <a:lnTo>
                    <a:pt x="1038849" y="407601"/>
                  </a:lnTo>
                  <a:lnTo>
                    <a:pt x="1072360" y="399109"/>
                  </a:lnTo>
                  <a:lnTo>
                    <a:pt x="1105872" y="390617"/>
                  </a:lnTo>
                  <a:lnTo>
                    <a:pt x="1139383" y="382126"/>
                  </a:lnTo>
                  <a:lnTo>
                    <a:pt x="1172894" y="373634"/>
                  </a:lnTo>
                  <a:lnTo>
                    <a:pt x="1206405" y="365142"/>
                  </a:lnTo>
                  <a:lnTo>
                    <a:pt x="1239917" y="356650"/>
                  </a:lnTo>
                  <a:lnTo>
                    <a:pt x="1273428" y="348159"/>
                  </a:lnTo>
                  <a:lnTo>
                    <a:pt x="1306939" y="339667"/>
                  </a:lnTo>
                  <a:lnTo>
                    <a:pt x="1340450" y="331175"/>
                  </a:lnTo>
                  <a:lnTo>
                    <a:pt x="1373962" y="322684"/>
                  </a:lnTo>
                  <a:lnTo>
                    <a:pt x="1407473" y="314192"/>
                  </a:lnTo>
                  <a:lnTo>
                    <a:pt x="1440984" y="305700"/>
                  </a:lnTo>
                  <a:lnTo>
                    <a:pt x="1474496" y="297209"/>
                  </a:lnTo>
                  <a:lnTo>
                    <a:pt x="1508007" y="288717"/>
                  </a:lnTo>
                  <a:lnTo>
                    <a:pt x="1541518" y="280225"/>
                  </a:lnTo>
                  <a:lnTo>
                    <a:pt x="1575029" y="271734"/>
                  </a:lnTo>
                  <a:lnTo>
                    <a:pt x="1608541" y="263242"/>
                  </a:lnTo>
                  <a:lnTo>
                    <a:pt x="1642052" y="254750"/>
                  </a:lnTo>
                  <a:lnTo>
                    <a:pt x="1675563" y="246258"/>
                  </a:lnTo>
                  <a:lnTo>
                    <a:pt x="1709074" y="237767"/>
                  </a:lnTo>
                  <a:lnTo>
                    <a:pt x="1742586" y="229275"/>
                  </a:lnTo>
                  <a:lnTo>
                    <a:pt x="1776097" y="220783"/>
                  </a:lnTo>
                  <a:lnTo>
                    <a:pt x="1809608" y="212292"/>
                  </a:lnTo>
                  <a:lnTo>
                    <a:pt x="1843120" y="203800"/>
                  </a:lnTo>
                  <a:lnTo>
                    <a:pt x="1876631" y="195308"/>
                  </a:lnTo>
                  <a:lnTo>
                    <a:pt x="1910142" y="186817"/>
                  </a:lnTo>
                  <a:lnTo>
                    <a:pt x="1943653" y="178325"/>
                  </a:lnTo>
                  <a:lnTo>
                    <a:pt x="1977165" y="169833"/>
                  </a:lnTo>
                  <a:lnTo>
                    <a:pt x="2010676" y="161342"/>
                  </a:lnTo>
                  <a:lnTo>
                    <a:pt x="2044187" y="152850"/>
                  </a:lnTo>
                  <a:lnTo>
                    <a:pt x="2077698" y="144358"/>
                  </a:lnTo>
                  <a:lnTo>
                    <a:pt x="2111210" y="135867"/>
                  </a:lnTo>
                  <a:lnTo>
                    <a:pt x="2144721" y="127375"/>
                  </a:lnTo>
                  <a:lnTo>
                    <a:pt x="2178232" y="118883"/>
                  </a:lnTo>
                  <a:lnTo>
                    <a:pt x="2211744" y="110391"/>
                  </a:lnTo>
                  <a:lnTo>
                    <a:pt x="2245255" y="101900"/>
                  </a:lnTo>
                  <a:lnTo>
                    <a:pt x="2278766" y="93408"/>
                  </a:lnTo>
                  <a:lnTo>
                    <a:pt x="2312277" y="84916"/>
                  </a:lnTo>
                  <a:lnTo>
                    <a:pt x="2345789" y="76425"/>
                  </a:lnTo>
                  <a:lnTo>
                    <a:pt x="2379300" y="67933"/>
                  </a:lnTo>
                  <a:lnTo>
                    <a:pt x="2412811" y="59441"/>
                  </a:lnTo>
                  <a:lnTo>
                    <a:pt x="2446322" y="50950"/>
                  </a:lnTo>
                  <a:lnTo>
                    <a:pt x="2479834" y="42458"/>
                  </a:lnTo>
                  <a:lnTo>
                    <a:pt x="2513345" y="33966"/>
                  </a:lnTo>
                  <a:lnTo>
                    <a:pt x="2546856" y="25475"/>
                  </a:lnTo>
                  <a:lnTo>
                    <a:pt x="2580368" y="16983"/>
                  </a:lnTo>
                  <a:lnTo>
                    <a:pt x="2613879" y="8491"/>
                  </a:lnTo>
                  <a:lnTo>
                    <a:pt x="2647390" y="0"/>
                  </a:lnTo>
                </a:path>
              </a:pathLst>
            </a:custGeom>
            <a:ln w="13550" cap="flat">
              <a:solidFill>
                <a:srgbClr val="40404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906041" y="1190632"/>
              <a:ext cx="0" cy="1474930"/>
            </a:xfrm>
            <a:custGeom>
              <a:avLst/>
              <a:pathLst>
                <a:path w="0" h="1474930">
                  <a:moveTo>
                    <a:pt x="0" y="1474930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tx704"/>
            <p:cNvSpPr/>
            <p:nvPr/>
          </p:nvSpPr>
          <p:spPr>
            <a:xfrm>
              <a:off x="594809" y="2577347"/>
              <a:ext cx="25429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0.001</a:t>
              </a:r>
            </a:p>
          </p:txBody>
        </p:sp>
        <p:sp>
          <p:nvSpPr>
            <p:cNvPr id="705" name="tx705"/>
            <p:cNvSpPr/>
            <p:nvPr/>
          </p:nvSpPr>
          <p:spPr>
            <a:xfrm>
              <a:off x="594809" y="2127671"/>
              <a:ext cx="25429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0.003</a:t>
              </a:r>
            </a:p>
          </p:txBody>
        </p:sp>
        <p:sp>
          <p:nvSpPr>
            <p:cNvPr id="706" name="tx706"/>
            <p:cNvSpPr/>
            <p:nvPr/>
          </p:nvSpPr>
          <p:spPr>
            <a:xfrm>
              <a:off x="594809" y="1634869"/>
              <a:ext cx="25429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707" name="tx707"/>
            <p:cNvSpPr/>
            <p:nvPr/>
          </p:nvSpPr>
          <p:spPr>
            <a:xfrm>
              <a:off x="594809" y="1185193"/>
              <a:ext cx="25429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0.030</a:t>
              </a:r>
            </a:p>
          </p:txBody>
        </p:sp>
        <p:sp>
          <p:nvSpPr>
            <p:cNvPr id="708" name="pl708"/>
            <p:cNvSpPr/>
            <p:nvPr/>
          </p:nvSpPr>
          <p:spPr>
            <a:xfrm>
              <a:off x="874409" y="261374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874409" y="21640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874409" y="167126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874409" y="122158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906041" y="2665563"/>
              <a:ext cx="2912129" cy="0"/>
            </a:xfrm>
            <a:custGeom>
              <a:avLst/>
              <a:pathLst>
                <a:path w="2912129" h="0">
                  <a:moveTo>
                    <a:pt x="0" y="0"/>
                  </a:moveTo>
                  <a:lnTo>
                    <a:pt x="2912129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1381091" y="26655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2459737" y="26655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3641829" y="26655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tx716"/>
            <p:cNvSpPr/>
            <p:nvPr/>
          </p:nvSpPr>
          <p:spPr>
            <a:xfrm>
              <a:off x="1253944" y="2722499"/>
              <a:ext cx="25429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0.001</a:t>
              </a:r>
            </a:p>
          </p:txBody>
        </p:sp>
        <p:sp>
          <p:nvSpPr>
            <p:cNvPr id="717" name="tx717"/>
            <p:cNvSpPr/>
            <p:nvPr/>
          </p:nvSpPr>
          <p:spPr>
            <a:xfrm>
              <a:off x="2332590" y="2722499"/>
              <a:ext cx="25429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0.003</a:t>
              </a:r>
            </a:p>
          </p:txBody>
        </p:sp>
        <p:sp>
          <p:nvSpPr>
            <p:cNvPr id="718" name="tx718"/>
            <p:cNvSpPr/>
            <p:nvPr/>
          </p:nvSpPr>
          <p:spPr>
            <a:xfrm>
              <a:off x="3514682" y="2722499"/>
              <a:ext cx="25429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719" name="tx719"/>
            <p:cNvSpPr/>
            <p:nvPr/>
          </p:nvSpPr>
          <p:spPr>
            <a:xfrm>
              <a:off x="1814654" y="2848314"/>
              <a:ext cx="109490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Mechanistic hazard</a:t>
              </a:r>
            </a:p>
          </p:txBody>
        </p:sp>
        <p:sp>
          <p:nvSpPr>
            <p:cNvPr id="720" name="tx720"/>
            <p:cNvSpPr/>
            <p:nvPr/>
          </p:nvSpPr>
          <p:spPr>
            <a:xfrm rot="-5400000">
              <a:off x="-208437" y="1882606"/>
              <a:ext cx="1398849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Machine-learning hazard</a:t>
              </a:r>
            </a:p>
          </p:txBody>
        </p:sp>
        <p:sp>
          <p:nvSpPr>
            <p:cNvPr id="721" name="tx721"/>
            <p:cNvSpPr/>
            <p:nvPr/>
          </p:nvSpPr>
          <p:spPr>
            <a:xfrm>
              <a:off x="906041" y="674105"/>
              <a:ext cx="2601925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Province-year mean predicted hazard, 2002-2024;</a:t>
              </a:r>
            </a:p>
          </p:txBody>
        </p:sp>
        <p:sp>
          <p:nvSpPr>
            <p:cNvPr id="722" name="tx722"/>
            <p:cNvSpPr/>
            <p:nvPr/>
          </p:nvSpPr>
          <p:spPr>
            <a:xfrm>
              <a:off x="906041" y="800292"/>
              <a:ext cx="1518086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moderate but clearly positive</a:t>
              </a:r>
            </a:p>
          </p:txBody>
        </p:sp>
        <p:sp>
          <p:nvSpPr>
            <p:cNvPr id="723" name="tx723"/>
            <p:cNvSpPr/>
            <p:nvPr/>
          </p:nvSpPr>
          <p:spPr>
            <a:xfrm>
              <a:off x="906041" y="481363"/>
              <a:ext cx="319811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Within the observed range they track each other</a:t>
              </a:r>
            </a:p>
          </p:txBody>
        </p:sp>
        <p:sp>
          <p:nvSpPr>
            <p:cNvPr id="724" name="tx724"/>
            <p:cNvSpPr/>
            <p:nvPr/>
          </p:nvSpPr>
          <p:spPr>
            <a:xfrm>
              <a:off x="353689" y="345757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</a:t>
              </a:r>
            </a:p>
          </p:txBody>
        </p:sp>
        <p:sp>
          <p:nvSpPr>
            <p:cNvPr id="725" name="rc725"/>
            <p:cNvSpPr/>
            <p:nvPr/>
          </p:nvSpPr>
          <p:spPr>
            <a:xfrm>
              <a:off x="5110637" y="1190632"/>
              <a:ext cx="1424433" cy="14749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5683298" y="1313543"/>
              <a:ext cx="302446" cy="0"/>
            </a:xfrm>
            <a:custGeom>
              <a:avLst/>
              <a:pathLst>
                <a:path w="302446" h="0">
                  <a:moveTo>
                    <a:pt x="0" y="0"/>
                  </a:moveTo>
                  <a:lnTo>
                    <a:pt x="302446" y="0"/>
                  </a:lnTo>
                </a:path>
              </a:pathLst>
            </a:custGeom>
            <a:ln w="59622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5477378" y="1518394"/>
              <a:ext cx="695180" cy="0"/>
            </a:xfrm>
            <a:custGeom>
              <a:avLst/>
              <a:pathLst>
                <a:path w="695180" h="0">
                  <a:moveTo>
                    <a:pt x="0" y="0"/>
                  </a:moveTo>
                  <a:lnTo>
                    <a:pt x="695180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5376977" y="1723246"/>
              <a:ext cx="898910" cy="0"/>
            </a:xfrm>
            <a:custGeom>
              <a:avLst/>
              <a:pathLst>
                <a:path w="898910" h="0">
                  <a:moveTo>
                    <a:pt x="0" y="0"/>
                  </a:moveTo>
                  <a:lnTo>
                    <a:pt x="898910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5307236" y="1928097"/>
              <a:ext cx="1028018" cy="0"/>
            </a:xfrm>
            <a:custGeom>
              <a:avLst/>
              <a:pathLst>
                <a:path w="1028018" h="0">
                  <a:moveTo>
                    <a:pt x="0" y="0"/>
                  </a:moveTo>
                  <a:lnTo>
                    <a:pt x="1028018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5450933" y="2132949"/>
              <a:ext cx="778772" cy="0"/>
            </a:xfrm>
            <a:custGeom>
              <a:avLst/>
              <a:pathLst>
                <a:path w="778772" h="0">
                  <a:moveTo>
                    <a:pt x="0" y="0"/>
                  </a:moveTo>
                  <a:lnTo>
                    <a:pt x="778772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5318380" y="2337800"/>
              <a:ext cx="1017506" cy="0"/>
            </a:xfrm>
            <a:custGeom>
              <a:avLst/>
              <a:pathLst>
                <a:path w="1017506" h="0">
                  <a:moveTo>
                    <a:pt x="0" y="0"/>
                  </a:moveTo>
                  <a:lnTo>
                    <a:pt x="1017506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5175384" y="2542652"/>
              <a:ext cx="1294939" cy="0"/>
            </a:xfrm>
            <a:custGeom>
              <a:avLst/>
              <a:pathLst>
                <a:path w="1294939" h="0">
                  <a:moveTo>
                    <a:pt x="0" y="0"/>
                  </a:moveTo>
                  <a:lnTo>
                    <a:pt x="1294939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rc733"/>
            <p:cNvSpPr/>
            <p:nvPr/>
          </p:nvSpPr>
          <p:spPr>
            <a:xfrm>
              <a:off x="6598333" y="1190632"/>
              <a:ext cx="1424433" cy="147493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663080" y="1313543"/>
              <a:ext cx="660359" cy="0"/>
            </a:xfrm>
            <a:custGeom>
              <a:avLst/>
              <a:pathLst>
                <a:path w="660359" h="0">
                  <a:moveTo>
                    <a:pt x="0" y="0"/>
                  </a:moveTo>
                  <a:lnTo>
                    <a:pt x="660359" y="0"/>
                  </a:lnTo>
                </a:path>
              </a:pathLst>
            </a:custGeom>
            <a:ln w="59622" cap="flat">
              <a:solidFill>
                <a:srgbClr val="009E7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779658" y="1518394"/>
              <a:ext cx="668441" cy="0"/>
            </a:xfrm>
            <a:custGeom>
              <a:avLst/>
              <a:pathLst>
                <a:path w="668441" h="0">
                  <a:moveTo>
                    <a:pt x="0" y="0"/>
                  </a:moveTo>
                  <a:lnTo>
                    <a:pt x="668441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875869" y="1723246"/>
              <a:ext cx="668441" cy="0"/>
            </a:xfrm>
            <a:custGeom>
              <a:avLst/>
              <a:pathLst>
                <a:path w="668441" h="0">
                  <a:moveTo>
                    <a:pt x="0" y="0"/>
                  </a:moveTo>
                  <a:lnTo>
                    <a:pt x="668441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7020186" y="1928097"/>
              <a:ext cx="668441" cy="0"/>
            </a:xfrm>
            <a:custGeom>
              <a:avLst/>
              <a:pathLst>
                <a:path w="668441" h="0">
                  <a:moveTo>
                    <a:pt x="0" y="0"/>
                  </a:moveTo>
                  <a:lnTo>
                    <a:pt x="668441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808521" y="2132949"/>
              <a:ext cx="668441" cy="0"/>
            </a:xfrm>
            <a:custGeom>
              <a:avLst/>
              <a:pathLst>
                <a:path w="668441" h="0">
                  <a:moveTo>
                    <a:pt x="0" y="0"/>
                  </a:moveTo>
                  <a:lnTo>
                    <a:pt x="668441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7000944" y="2337800"/>
              <a:ext cx="668441" cy="0"/>
            </a:xfrm>
            <a:custGeom>
              <a:avLst/>
              <a:pathLst>
                <a:path w="668441" h="0">
                  <a:moveTo>
                    <a:pt x="0" y="0"/>
                  </a:moveTo>
                  <a:lnTo>
                    <a:pt x="668441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7289578" y="2542652"/>
              <a:ext cx="668441" cy="0"/>
            </a:xfrm>
            <a:custGeom>
              <a:avLst/>
              <a:pathLst>
                <a:path w="668441" h="0">
                  <a:moveTo>
                    <a:pt x="0" y="0"/>
                  </a:moveTo>
                  <a:lnTo>
                    <a:pt x="668441" y="0"/>
                  </a:lnTo>
                </a:path>
              </a:pathLst>
            </a:custGeom>
            <a:ln w="59622" cap="flat">
              <a:solidFill>
                <a:srgbClr val="D55E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tx741"/>
            <p:cNvSpPr/>
            <p:nvPr/>
          </p:nvSpPr>
          <p:spPr>
            <a:xfrm>
              <a:off x="5161247" y="1035689"/>
              <a:ext cx="135514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Accumulated warming</a:t>
              </a:r>
            </a:p>
          </p:txBody>
        </p:sp>
        <p:sp>
          <p:nvSpPr>
            <p:cNvPr id="742" name="tx742"/>
            <p:cNvSpPr/>
            <p:nvPr/>
          </p:nvSpPr>
          <p:spPr>
            <a:xfrm>
              <a:off x="6648943" y="1035689"/>
              <a:ext cx="78373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Survey effort</a:t>
              </a:r>
            </a:p>
          </p:txBody>
        </p:sp>
        <p:sp>
          <p:nvSpPr>
            <p:cNvPr id="743" name="pl743"/>
            <p:cNvSpPr/>
            <p:nvPr/>
          </p:nvSpPr>
          <p:spPr>
            <a:xfrm>
              <a:off x="5110637" y="2665563"/>
              <a:ext cx="1424433" cy="0"/>
            </a:xfrm>
            <a:custGeom>
              <a:avLst/>
              <a:pathLst>
                <a:path w="1424433" h="0">
                  <a:moveTo>
                    <a:pt x="0" y="0"/>
                  </a:moveTo>
                  <a:lnTo>
                    <a:pt x="1424433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192782" y="26655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518191" y="26655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843600" y="26655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6169008" y="26655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6494417" y="26655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tx749"/>
            <p:cNvSpPr/>
            <p:nvPr/>
          </p:nvSpPr>
          <p:spPr>
            <a:xfrm>
              <a:off x="5119356" y="2722499"/>
              <a:ext cx="14685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-10</a:t>
              </a:r>
            </a:p>
          </p:txBody>
        </p:sp>
        <p:sp>
          <p:nvSpPr>
            <p:cNvPr id="750" name="tx750"/>
            <p:cNvSpPr/>
            <p:nvPr/>
          </p:nvSpPr>
          <p:spPr>
            <a:xfrm>
              <a:off x="5473020" y="2722499"/>
              <a:ext cx="9034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-5</a:t>
              </a:r>
            </a:p>
          </p:txBody>
        </p:sp>
        <p:sp>
          <p:nvSpPr>
            <p:cNvPr id="751" name="tx751"/>
            <p:cNvSpPr/>
            <p:nvPr/>
          </p:nvSpPr>
          <p:spPr>
            <a:xfrm>
              <a:off x="5815345" y="272249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52" name="tx752"/>
            <p:cNvSpPr/>
            <p:nvPr/>
          </p:nvSpPr>
          <p:spPr>
            <a:xfrm>
              <a:off x="6140753" y="272249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753" name="tx753"/>
            <p:cNvSpPr/>
            <p:nvPr/>
          </p:nvSpPr>
          <p:spPr>
            <a:xfrm>
              <a:off x="6437907" y="2722499"/>
              <a:ext cx="11301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754" name="pl754"/>
            <p:cNvSpPr/>
            <p:nvPr/>
          </p:nvSpPr>
          <p:spPr>
            <a:xfrm>
              <a:off x="6598333" y="2665563"/>
              <a:ext cx="1424433" cy="0"/>
            </a:xfrm>
            <a:custGeom>
              <a:avLst/>
              <a:pathLst>
                <a:path w="1424433" h="0">
                  <a:moveTo>
                    <a:pt x="0" y="0"/>
                  </a:moveTo>
                  <a:lnTo>
                    <a:pt x="1424433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6623413" y="26655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6944118" y="26655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7264823" y="26655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7585527" y="26655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7906232" y="26655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tx760"/>
            <p:cNvSpPr/>
            <p:nvPr/>
          </p:nvSpPr>
          <p:spPr>
            <a:xfrm>
              <a:off x="6578242" y="2722499"/>
              <a:ext cx="90342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-2</a:t>
              </a:r>
            </a:p>
          </p:txBody>
        </p:sp>
        <p:sp>
          <p:nvSpPr>
            <p:cNvPr id="761" name="tx761"/>
            <p:cNvSpPr/>
            <p:nvPr/>
          </p:nvSpPr>
          <p:spPr>
            <a:xfrm>
              <a:off x="6915863" y="272249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762" name="tx762"/>
            <p:cNvSpPr/>
            <p:nvPr/>
          </p:nvSpPr>
          <p:spPr>
            <a:xfrm>
              <a:off x="7236568" y="272249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763" name="tx763"/>
            <p:cNvSpPr/>
            <p:nvPr/>
          </p:nvSpPr>
          <p:spPr>
            <a:xfrm>
              <a:off x="7557272" y="272249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764" name="tx764"/>
            <p:cNvSpPr/>
            <p:nvPr/>
          </p:nvSpPr>
          <p:spPr>
            <a:xfrm>
              <a:off x="7877977" y="2722499"/>
              <a:ext cx="56509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</a:t>
              </a:r>
            </a:p>
          </p:txBody>
        </p:sp>
        <p:sp>
          <p:nvSpPr>
            <p:cNvPr id="765" name="pl765"/>
            <p:cNvSpPr/>
            <p:nvPr/>
          </p:nvSpPr>
          <p:spPr>
            <a:xfrm>
              <a:off x="5110637" y="1190632"/>
              <a:ext cx="0" cy="1474930"/>
            </a:xfrm>
            <a:custGeom>
              <a:avLst/>
              <a:pathLst>
                <a:path w="0" h="1474930">
                  <a:moveTo>
                    <a:pt x="0" y="1474930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tx766"/>
            <p:cNvSpPr/>
            <p:nvPr/>
          </p:nvSpPr>
          <p:spPr>
            <a:xfrm>
              <a:off x="4426605" y="2506259"/>
              <a:ext cx="62709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SSP585 2080</a:t>
              </a:r>
            </a:p>
          </p:txBody>
        </p:sp>
        <p:sp>
          <p:nvSpPr>
            <p:cNvPr id="767" name="tx767"/>
            <p:cNvSpPr/>
            <p:nvPr/>
          </p:nvSpPr>
          <p:spPr>
            <a:xfrm>
              <a:off x="4426605" y="2301407"/>
              <a:ext cx="62709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SSP585 2050</a:t>
              </a:r>
            </a:p>
          </p:txBody>
        </p:sp>
        <p:sp>
          <p:nvSpPr>
            <p:cNvPr id="768" name="tx768"/>
            <p:cNvSpPr/>
            <p:nvPr/>
          </p:nvSpPr>
          <p:spPr>
            <a:xfrm>
              <a:off x="4426605" y="2096556"/>
              <a:ext cx="62709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SSP585 2030</a:t>
              </a:r>
            </a:p>
          </p:txBody>
        </p:sp>
        <p:sp>
          <p:nvSpPr>
            <p:cNvPr id="769" name="tx769"/>
            <p:cNvSpPr/>
            <p:nvPr/>
          </p:nvSpPr>
          <p:spPr>
            <a:xfrm>
              <a:off x="4426605" y="1891704"/>
              <a:ext cx="62709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SSP245 2080</a:t>
              </a:r>
            </a:p>
          </p:txBody>
        </p:sp>
        <p:sp>
          <p:nvSpPr>
            <p:cNvPr id="770" name="tx770"/>
            <p:cNvSpPr/>
            <p:nvPr/>
          </p:nvSpPr>
          <p:spPr>
            <a:xfrm>
              <a:off x="4426605" y="1686853"/>
              <a:ext cx="62709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SSP245 2050</a:t>
              </a:r>
            </a:p>
          </p:txBody>
        </p:sp>
        <p:sp>
          <p:nvSpPr>
            <p:cNvPr id="771" name="tx771"/>
            <p:cNvSpPr/>
            <p:nvPr/>
          </p:nvSpPr>
          <p:spPr>
            <a:xfrm>
              <a:off x="4426605" y="1482001"/>
              <a:ext cx="627095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SSP245 2030</a:t>
              </a:r>
            </a:p>
          </p:txBody>
        </p:sp>
        <p:sp>
          <p:nvSpPr>
            <p:cNvPr id="772" name="tx772"/>
            <p:cNvSpPr/>
            <p:nvPr/>
          </p:nvSpPr>
          <p:spPr>
            <a:xfrm>
              <a:off x="4121469" y="1277150"/>
              <a:ext cx="932230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observed 2002-2024</a:t>
              </a:r>
            </a:p>
          </p:txBody>
        </p:sp>
        <p:sp>
          <p:nvSpPr>
            <p:cNvPr id="773" name="pl773"/>
            <p:cNvSpPr/>
            <p:nvPr/>
          </p:nvSpPr>
          <p:spPr>
            <a:xfrm>
              <a:off x="5079005" y="254265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079005" y="233780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079005" y="213294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079005" y="192809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079005" y="172324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079005" y="151839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079005" y="131354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tx780"/>
            <p:cNvSpPr/>
            <p:nvPr/>
          </p:nvSpPr>
          <p:spPr>
            <a:xfrm>
              <a:off x="5439886" y="2848314"/>
              <a:ext cx="2253630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Standardised value (1st-99th percentile)</a:t>
              </a:r>
            </a:p>
          </p:txBody>
        </p:sp>
        <p:sp>
          <p:nvSpPr>
            <p:cNvPr id="781" name="tx781"/>
            <p:cNvSpPr/>
            <p:nvPr/>
          </p:nvSpPr>
          <p:spPr>
            <a:xfrm>
              <a:off x="5110637" y="674105"/>
              <a:ext cx="2279507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Tree ensembles return boundary leaf values</a:t>
              </a:r>
            </a:p>
          </p:txBody>
        </p:sp>
        <p:sp>
          <p:nvSpPr>
            <p:cNvPr id="782" name="tx782"/>
            <p:cNvSpPr/>
            <p:nvPr/>
          </p:nvSpPr>
          <p:spPr>
            <a:xfrm>
              <a:off x="5110637" y="800292"/>
              <a:ext cx="2193188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 once covariates exit the observed support</a:t>
              </a:r>
            </a:p>
          </p:txBody>
        </p:sp>
        <p:sp>
          <p:nvSpPr>
            <p:cNvPr id="783" name="tx783"/>
            <p:cNvSpPr/>
            <p:nvPr/>
          </p:nvSpPr>
          <p:spPr>
            <a:xfrm>
              <a:off x="5110637" y="481363"/>
              <a:ext cx="2888863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Why: the scenarios leave the training range</a:t>
              </a:r>
            </a:p>
          </p:txBody>
        </p:sp>
        <p:sp>
          <p:nvSpPr>
            <p:cNvPr id="784" name="tx784"/>
            <p:cNvSpPr/>
            <p:nvPr/>
          </p:nvSpPr>
          <p:spPr>
            <a:xfrm>
              <a:off x="4020611" y="345757"/>
              <a:ext cx="100858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</a:t>
              </a:r>
            </a:p>
          </p:txBody>
        </p:sp>
        <p:sp>
          <p:nvSpPr>
            <p:cNvPr id="785" name="rc785"/>
            <p:cNvSpPr/>
            <p:nvPr/>
          </p:nvSpPr>
          <p:spPr>
            <a:xfrm>
              <a:off x="906041" y="3853888"/>
              <a:ext cx="2330066" cy="8359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906041" y="4581549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906041" y="4424548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906041" y="4267547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906041" y="4110545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906041" y="3953544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906041" y="4267547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1583348" y="3853888"/>
              <a:ext cx="0" cy="835974"/>
            </a:xfrm>
            <a:custGeom>
              <a:avLst/>
              <a:pathLst>
                <a:path w="0" h="835974">
                  <a:moveTo>
                    <a:pt x="0" y="83597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921401" y="3853888"/>
              <a:ext cx="1310322" cy="835974"/>
            </a:xfrm>
            <a:custGeom>
              <a:avLst/>
              <a:pathLst>
                <a:path w="1310322" h="835974">
                  <a:moveTo>
                    <a:pt x="0" y="835974"/>
                  </a:moveTo>
                  <a:lnTo>
                    <a:pt x="1310322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1585138" y="422488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1648212" y="425373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1591347" y="427876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1631649" y="4305291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586207" y="4255494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1536088" y="421700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1617993" y="409515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1588279" y="442999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610135" y="423585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1584077" y="424347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1638028" y="423985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1595028" y="417483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1612363" y="4189301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1612409" y="440566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1576362" y="456379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1658777" y="425681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1596266" y="402102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1621423" y="446053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1582366" y="429359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1604559" y="439740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1590559" y="426531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1574779" y="423467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1602989" y="423589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1625633" y="440736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1571539" y="446644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1612016" y="423908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1591486" y="410581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1581581" y="424981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1548549" y="387153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1393107" y="432539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1628000" y="4249644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tx825"/>
            <p:cNvSpPr/>
            <p:nvPr/>
          </p:nvSpPr>
          <p:spPr>
            <a:xfrm>
              <a:off x="1011953" y="3903001"/>
              <a:ext cx="49971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-0.04</a:t>
              </a:r>
            </a:p>
          </p:txBody>
        </p:sp>
        <p:sp>
          <p:nvSpPr>
            <p:cNvPr id="826" name="tx826"/>
            <p:cNvSpPr/>
            <p:nvPr/>
          </p:nvSpPr>
          <p:spPr>
            <a:xfrm>
              <a:off x="1011953" y="4051299"/>
              <a:ext cx="856884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42% agree on sign</a:t>
              </a:r>
            </a:p>
          </p:txBody>
        </p:sp>
        <p:sp>
          <p:nvSpPr>
            <p:cNvPr id="827" name="rc827"/>
            <p:cNvSpPr/>
            <p:nvPr/>
          </p:nvSpPr>
          <p:spPr>
            <a:xfrm>
              <a:off x="906041" y="4753126"/>
              <a:ext cx="2330066" cy="8359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906041" y="5480787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906041" y="5323785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906041" y="5166784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906041" y="5009783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906041" y="4852782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906041" y="5166784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1583348" y="4753126"/>
              <a:ext cx="0" cy="835974"/>
            </a:xfrm>
            <a:custGeom>
              <a:avLst/>
              <a:pathLst>
                <a:path w="0" h="835974">
                  <a:moveTo>
                    <a:pt x="0" y="83597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921401" y="4753126"/>
              <a:ext cx="1310322" cy="835974"/>
            </a:xfrm>
            <a:custGeom>
              <a:avLst/>
              <a:pathLst>
                <a:path w="1310322" h="835974">
                  <a:moveTo>
                    <a:pt x="0" y="835974"/>
                  </a:moveTo>
                  <a:lnTo>
                    <a:pt x="1310322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1599612" y="510168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1681223" y="516211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1614473" y="515799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1670992" y="517454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1594389" y="516569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581388" y="503408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1660618" y="525332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1632377" y="5246941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671552" y="488970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1606724" y="500891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1646415" y="4937664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1603117" y="520964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1620353" y="511527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1630968" y="526223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1575278" y="539888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1675874" y="513914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1614408" y="5137451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1629992" y="530955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1597966" y="501796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1608946" y="531648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1620502" y="515135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1585575" y="482953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1630344" y="526687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1656796" y="529917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1584202" y="534531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1649318" y="512854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1610824" y="514405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1606840" y="510159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1532443" y="5147381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1345642" y="518894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1656111" y="515518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tx867"/>
            <p:cNvSpPr/>
            <p:nvPr/>
          </p:nvSpPr>
          <p:spPr>
            <a:xfrm>
              <a:off x="1011953" y="4802239"/>
              <a:ext cx="49971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-0.03</a:t>
              </a:r>
            </a:p>
          </p:txBody>
        </p:sp>
        <p:sp>
          <p:nvSpPr>
            <p:cNvPr id="868" name="tx868"/>
            <p:cNvSpPr/>
            <p:nvPr/>
          </p:nvSpPr>
          <p:spPr>
            <a:xfrm>
              <a:off x="1011953" y="4950537"/>
              <a:ext cx="856884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48% agree on sign</a:t>
              </a:r>
            </a:p>
          </p:txBody>
        </p:sp>
        <p:sp>
          <p:nvSpPr>
            <p:cNvPr id="869" name="rc869"/>
            <p:cNvSpPr/>
            <p:nvPr/>
          </p:nvSpPr>
          <p:spPr>
            <a:xfrm>
              <a:off x="3299370" y="3853888"/>
              <a:ext cx="2330066" cy="8359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3299370" y="4581549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3299370" y="4424548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3299370" y="4267547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3299370" y="4110545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3299370" y="3953544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3299370" y="4267547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3976677" y="3853888"/>
              <a:ext cx="0" cy="835974"/>
            </a:xfrm>
            <a:custGeom>
              <a:avLst/>
              <a:pathLst>
                <a:path w="0" h="835974">
                  <a:moveTo>
                    <a:pt x="0" y="83597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3314731" y="3853888"/>
              <a:ext cx="1310322" cy="835974"/>
            </a:xfrm>
            <a:custGeom>
              <a:avLst/>
              <a:pathLst>
                <a:path w="1310322" h="835974">
                  <a:moveTo>
                    <a:pt x="0" y="835974"/>
                  </a:moveTo>
                  <a:lnTo>
                    <a:pt x="1310322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4070903" y="434913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4175998" y="425929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4089432" y="438788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224473" y="429031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996394" y="426627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4075848" y="424374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202478" y="4375191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4135128" y="431187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242734" y="430069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4069176" y="433689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4061339" y="422194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053102" y="428581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08380" y="422278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4151335" y="439114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969178" y="463151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4226580" y="4284441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109667" y="433988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4047265" y="430086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048616" y="441942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996041" y="460203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4078277" y="425445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4005567" y="426564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122285" y="437522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4207022" y="440868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012099" y="458036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53754" y="423209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082254" y="435060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4038724" y="4226591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894096" y="429156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818322" y="419609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4205264" y="427249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tx909"/>
            <p:cNvSpPr/>
            <p:nvPr/>
          </p:nvSpPr>
          <p:spPr>
            <a:xfrm>
              <a:off x="3405282" y="3903001"/>
              <a:ext cx="499719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-0.00</a:t>
              </a:r>
            </a:p>
          </p:txBody>
        </p:sp>
        <p:sp>
          <p:nvSpPr>
            <p:cNvPr id="910" name="tx910"/>
            <p:cNvSpPr/>
            <p:nvPr/>
          </p:nvSpPr>
          <p:spPr>
            <a:xfrm>
              <a:off x="3405282" y="4051299"/>
              <a:ext cx="856884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19% agree on sign</a:t>
              </a:r>
            </a:p>
          </p:txBody>
        </p:sp>
        <p:sp>
          <p:nvSpPr>
            <p:cNvPr id="911" name="rc911"/>
            <p:cNvSpPr/>
            <p:nvPr/>
          </p:nvSpPr>
          <p:spPr>
            <a:xfrm>
              <a:off x="3299370" y="4753126"/>
              <a:ext cx="2330066" cy="8359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3299370" y="5480787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3299370" y="5323785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3299370" y="5166784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3299370" y="5009783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3299370" y="4852782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3299370" y="5166784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3976677" y="4753126"/>
              <a:ext cx="0" cy="835974"/>
            </a:xfrm>
            <a:custGeom>
              <a:avLst/>
              <a:pathLst>
                <a:path w="0" h="835974">
                  <a:moveTo>
                    <a:pt x="0" y="83597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3314731" y="4753126"/>
              <a:ext cx="1310322" cy="835974"/>
            </a:xfrm>
            <a:custGeom>
              <a:avLst/>
              <a:pathLst>
                <a:path w="1310322" h="835974">
                  <a:moveTo>
                    <a:pt x="0" y="835974"/>
                  </a:moveTo>
                  <a:lnTo>
                    <a:pt x="1310322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4236292" y="526897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312807" y="516232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278239" y="529174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4522112" y="519290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064104" y="517977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4336981" y="525915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4498478" y="528335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4396392" y="5339771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4636187" y="520750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4193979" y="525922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107170" y="525967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19838" y="520198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325077" y="512711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4367543" y="528055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3975171" y="552061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4487015" y="518673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4296823" y="524119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4089703" y="545581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4135854" y="531544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4000164" y="550121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4272289" y="5155921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136258" y="515384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323317" y="528839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469130" y="531465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4133026" y="546717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4426753" y="515103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4222295" y="524780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4177360" y="512917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3890547" y="518176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3926433" y="492298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435801" y="5177994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tx951"/>
            <p:cNvSpPr/>
            <p:nvPr/>
          </p:nvSpPr>
          <p:spPr>
            <a:xfrm>
              <a:off x="3405282" y="4802239"/>
              <a:ext cx="457931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0.11</a:t>
              </a:r>
            </a:p>
          </p:txBody>
        </p:sp>
        <p:sp>
          <p:nvSpPr>
            <p:cNvPr id="952" name="tx952"/>
            <p:cNvSpPr/>
            <p:nvPr/>
          </p:nvSpPr>
          <p:spPr>
            <a:xfrm>
              <a:off x="3405282" y="4950537"/>
              <a:ext cx="856884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10% agree on sign</a:t>
              </a:r>
            </a:p>
          </p:txBody>
        </p:sp>
        <p:sp>
          <p:nvSpPr>
            <p:cNvPr id="953" name="rc953"/>
            <p:cNvSpPr/>
            <p:nvPr/>
          </p:nvSpPr>
          <p:spPr>
            <a:xfrm>
              <a:off x="5692700" y="3853888"/>
              <a:ext cx="2330066" cy="8359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692700" y="4581549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692700" y="4424548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692700" y="4267547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692700" y="4110545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692700" y="3953544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692700" y="4267547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6370007" y="3853888"/>
              <a:ext cx="0" cy="835974"/>
            </a:xfrm>
            <a:custGeom>
              <a:avLst/>
              <a:pathLst>
                <a:path w="0" h="835974">
                  <a:moveTo>
                    <a:pt x="0" y="83597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708060" y="3853888"/>
              <a:ext cx="1310322" cy="835974"/>
            </a:xfrm>
            <a:custGeom>
              <a:avLst/>
              <a:pathLst>
                <a:path w="1310322" h="835974">
                  <a:moveTo>
                    <a:pt x="0" y="835974"/>
                  </a:moveTo>
                  <a:lnTo>
                    <a:pt x="1310322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610316" y="434662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6771091" y="425428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6667453" y="439376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5"/>
            <p:cNvSpPr/>
            <p:nvPr/>
          </p:nvSpPr>
          <p:spPr>
            <a:xfrm>
              <a:off x="7022675" y="429225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6"/>
            <p:cNvSpPr/>
            <p:nvPr/>
          </p:nvSpPr>
          <p:spPr>
            <a:xfrm>
              <a:off x="6435458" y="429947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7"/>
            <p:cNvSpPr/>
            <p:nvPr/>
          </p:nvSpPr>
          <p:spPr>
            <a:xfrm>
              <a:off x="6794949" y="435486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8"/>
            <p:cNvSpPr/>
            <p:nvPr/>
          </p:nvSpPr>
          <p:spPr>
            <a:xfrm>
              <a:off x="6970864" y="438872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9"/>
            <p:cNvSpPr/>
            <p:nvPr/>
          </p:nvSpPr>
          <p:spPr>
            <a:xfrm>
              <a:off x="6822989" y="443478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70"/>
            <p:cNvSpPr/>
            <p:nvPr/>
          </p:nvSpPr>
          <p:spPr>
            <a:xfrm>
              <a:off x="7139262" y="430448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1"/>
            <p:cNvSpPr/>
            <p:nvPr/>
          </p:nvSpPr>
          <p:spPr>
            <a:xfrm>
              <a:off x="6625610" y="436127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2"/>
            <p:cNvSpPr/>
            <p:nvPr/>
          </p:nvSpPr>
          <p:spPr>
            <a:xfrm>
              <a:off x="6515181" y="437036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3"/>
            <p:cNvSpPr/>
            <p:nvPr/>
          </p:nvSpPr>
          <p:spPr>
            <a:xfrm>
              <a:off x="6530864" y="431581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4"/>
            <p:cNvSpPr/>
            <p:nvPr/>
          </p:nvSpPr>
          <p:spPr>
            <a:xfrm>
              <a:off x="6662332" y="421944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5"/>
            <p:cNvSpPr/>
            <p:nvPr/>
          </p:nvSpPr>
          <p:spPr>
            <a:xfrm>
              <a:off x="6809226" y="438160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6"/>
            <p:cNvSpPr/>
            <p:nvPr/>
          </p:nvSpPr>
          <p:spPr>
            <a:xfrm>
              <a:off x="6398974" y="4624064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7"/>
            <p:cNvSpPr/>
            <p:nvPr/>
          </p:nvSpPr>
          <p:spPr>
            <a:xfrm>
              <a:off x="6868117" y="428576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8"/>
            <p:cNvSpPr/>
            <p:nvPr/>
          </p:nvSpPr>
          <p:spPr>
            <a:xfrm>
              <a:off x="6753707" y="433649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9"/>
            <p:cNvSpPr/>
            <p:nvPr/>
          </p:nvSpPr>
          <p:spPr>
            <a:xfrm>
              <a:off x="6514282" y="454553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80"/>
            <p:cNvSpPr/>
            <p:nvPr/>
          </p:nvSpPr>
          <p:spPr>
            <a:xfrm>
              <a:off x="6579173" y="440073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1"/>
            <p:cNvSpPr/>
            <p:nvPr/>
          </p:nvSpPr>
          <p:spPr>
            <a:xfrm>
              <a:off x="6376208" y="4616914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2"/>
            <p:cNvSpPr/>
            <p:nvPr/>
          </p:nvSpPr>
          <p:spPr>
            <a:xfrm>
              <a:off x="6690932" y="425480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3"/>
            <p:cNvSpPr/>
            <p:nvPr/>
          </p:nvSpPr>
          <p:spPr>
            <a:xfrm>
              <a:off x="6513633" y="426058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4"/>
            <p:cNvSpPr/>
            <p:nvPr/>
          </p:nvSpPr>
          <p:spPr>
            <a:xfrm>
              <a:off x="6740308" y="437919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5"/>
            <p:cNvSpPr/>
            <p:nvPr/>
          </p:nvSpPr>
          <p:spPr>
            <a:xfrm>
              <a:off x="6890276" y="441308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6"/>
            <p:cNvSpPr/>
            <p:nvPr/>
          </p:nvSpPr>
          <p:spPr>
            <a:xfrm>
              <a:off x="6525870" y="4559124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7"/>
            <p:cNvSpPr/>
            <p:nvPr/>
          </p:nvSpPr>
          <p:spPr>
            <a:xfrm>
              <a:off x="6837568" y="423903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8"/>
            <p:cNvSpPr/>
            <p:nvPr/>
          </p:nvSpPr>
          <p:spPr>
            <a:xfrm>
              <a:off x="6654623" y="435387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9"/>
            <p:cNvSpPr/>
            <p:nvPr/>
          </p:nvSpPr>
          <p:spPr>
            <a:xfrm>
              <a:off x="6609437" y="423301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90"/>
            <p:cNvSpPr/>
            <p:nvPr/>
          </p:nvSpPr>
          <p:spPr>
            <a:xfrm>
              <a:off x="6254183" y="429985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1"/>
            <p:cNvSpPr/>
            <p:nvPr/>
          </p:nvSpPr>
          <p:spPr>
            <a:xfrm>
              <a:off x="6354903" y="408408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2"/>
            <p:cNvSpPr/>
            <p:nvPr/>
          </p:nvSpPr>
          <p:spPr>
            <a:xfrm>
              <a:off x="6902657" y="428823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tx993"/>
            <p:cNvSpPr/>
            <p:nvPr/>
          </p:nvSpPr>
          <p:spPr>
            <a:xfrm>
              <a:off x="5798612" y="3903001"/>
              <a:ext cx="457931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0.11</a:t>
              </a:r>
            </a:p>
          </p:txBody>
        </p:sp>
        <p:sp>
          <p:nvSpPr>
            <p:cNvPr id="994" name="tx994"/>
            <p:cNvSpPr/>
            <p:nvPr/>
          </p:nvSpPr>
          <p:spPr>
            <a:xfrm>
              <a:off x="5798612" y="4051299"/>
              <a:ext cx="856884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16% agree on sign</a:t>
              </a:r>
            </a:p>
          </p:txBody>
        </p:sp>
        <p:sp>
          <p:nvSpPr>
            <p:cNvPr id="995" name="rc995"/>
            <p:cNvSpPr/>
            <p:nvPr/>
          </p:nvSpPr>
          <p:spPr>
            <a:xfrm>
              <a:off x="5692700" y="4753126"/>
              <a:ext cx="2330066" cy="835974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5692700" y="5480787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5692700" y="5323785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5692700" y="5166784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5692700" y="5009783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5692700" y="4852782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5692700" y="5166784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  <a:lnTo>
                    <a:pt x="2330066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6370007" y="4753126"/>
              <a:ext cx="0" cy="835974"/>
            </a:xfrm>
            <a:custGeom>
              <a:avLst/>
              <a:pathLst>
                <a:path w="0" h="835974">
                  <a:moveTo>
                    <a:pt x="0" y="83597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130" cap="flat">
              <a:solidFill>
                <a:srgbClr val="A6A6A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5708060" y="4753126"/>
              <a:ext cx="1310322" cy="835974"/>
            </a:xfrm>
            <a:custGeom>
              <a:avLst/>
              <a:pathLst>
                <a:path w="1310322" h="835974">
                  <a:moveTo>
                    <a:pt x="0" y="835974"/>
                  </a:moveTo>
                  <a:lnTo>
                    <a:pt x="1310322" y="0"/>
                  </a:lnTo>
                </a:path>
              </a:pathLst>
            </a:custGeom>
            <a:ln w="9485" cap="flat">
              <a:solidFill>
                <a:srgbClr val="8C8C8C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004" name="pt1004"/>
            <p:cNvSpPr/>
            <p:nvPr/>
          </p:nvSpPr>
          <p:spPr>
            <a:xfrm>
              <a:off x="7419596" y="528163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5"/>
            <p:cNvSpPr/>
            <p:nvPr/>
          </p:nvSpPr>
          <p:spPr>
            <a:xfrm>
              <a:off x="7379287" y="5209774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6"/>
            <p:cNvSpPr/>
            <p:nvPr/>
          </p:nvSpPr>
          <p:spPr>
            <a:xfrm>
              <a:off x="7414689" y="529248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7"/>
            <p:cNvSpPr/>
            <p:nvPr/>
          </p:nvSpPr>
          <p:spPr>
            <a:xfrm>
              <a:off x="7858471" y="519586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8"/>
            <p:cNvSpPr/>
            <p:nvPr/>
          </p:nvSpPr>
          <p:spPr>
            <a:xfrm>
              <a:off x="6828165" y="5149116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9"/>
            <p:cNvSpPr/>
            <p:nvPr/>
          </p:nvSpPr>
          <p:spPr>
            <a:xfrm>
              <a:off x="7769958" y="525119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10"/>
            <p:cNvSpPr/>
            <p:nvPr/>
          </p:nvSpPr>
          <p:spPr>
            <a:xfrm>
              <a:off x="7702960" y="528834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1"/>
            <p:cNvSpPr/>
            <p:nvPr/>
          </p:nvSpPr>
          <p:spPr>
            <a:xfrm>
              <a:off x="7617667" y="533707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2"/>
            <p:cNvSpPr/>
            <p:nvPr/>
          </p:nvSpPr>
          <p:spPr>
            <a:xfrm>
              <a:off x="7896503" y="521179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3"/>
            <p:cNvSpPr/>
            <p:nvPr/>
          </p:nvSpPr>
          <p:spPr>
            <a:xfrm>
              <a:off x="7217515" y="530306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4"/>
            <p:cNvSpPr/>
            <p:nvPr/>
          </p:nvSpPr>
          <p:spPr>
            <a:xfrm>
              <a:off x="6692157" y="529127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5"/>
            <p:cNvSpPr/>
            <p:nvPr/>
          </p:nvSpPr>
          <p:spPr>
            <a:xfrm>
              <a:off x="7355135" y="522681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6"/>
            <p:cNvSpPr/>
            <p:nvPr/>
          </p:nvSpPr>
          <p:spPr>
            <a:xfrm>
              <a:off x="7516188" y="515208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7"/>
            <p:cNvSpPr/>
            <p:nvPr/>
          </p:nvSpPr>
          <p:spPr>
            <a:xfrm>
              <a:off x="7492595" y="527799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8"/>
            <p:cNvSpPr/>
            <p:nvPr/>
          </p:nvSpPr>
          <p:spPr>
            <a:xfrm>
              <a:off x="6551743" y="552352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9"/>
            <p:cNvSpPr/>
            <p:nvPr/>
          </p:nvSpPr>
          <p:spPr>
            <a:xfrm>
              <a:off x="7702979" y="518343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20"/>
            <p:cNvSpPr/>
            <p:nvPr/>
          </p:nvSpPr>
          <p:spPr>
            <a:xfrm>
              <a:off x="7521011" y="523828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1"/>
            <p:cNvSpPr/>
            <p:nvPr/>
          </p:nvSpPr>
          <p:spPr>
            <a:xfrm>
              <a:off x="6706306" y="5466804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2"/>
            <p:cNvSpPr/>
            <p:nvPr/>
          </p:nvSpPr>
          <p:spPr>
            <a:xfrm>
              <a:off x="6994343" y="5323961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3"/>
            <p:cNvSpPr/>
            <p:nvPr/>
          </p:nvSpPr>
          <p:spPr>
            <a:xfrm>
              <a:off x="6650804" y="5491659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4"/>
            <p:cNvSpPr/>
            <p:nvPr/>
          </p:nvSpPr>
          <p:spPr>
            <a:xfrm>
              <a:off x="7361743" y="5167912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5"/>
            <p:cNvSpPr/>
            <p:nvPr/>
          </p:nvSpPr>
          <p:spPr>
            <a:xfrm>
              <a:off x="7122289" y="5192577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6"/>
            <p:cNvSpPr/>
            <p:nvPr/>
          </p:nvSpPr>
          <p:spPr>
            <a:xfrm>
              <a:off x="7529751" y="529920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7"/>
            <p:cNvSpPr/>
            <p:nvPr/>
          </p:nvSpPr>
          <p:spPr>
            <a:xfrm>
              <a:off x="7831671" y="5316664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8"/>
            <p:cNvSpPr/>
            <p:nvPr/>
          </p:nvSpPr>
          <p:spPr>
            <a:xfrm>
              <a:off x="7130961" y="5490150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9"/>
            <p:cNvSpPr/>
            <p:nvPr/>
          </p:nvSpPr>
          <p:spPr>
            <a:xfrm>
              <a:off x="7637245" y="514050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30"/>
            <p:cNvSpPr/>
            <p:nvPr/>
          </p:nvSpPr>
          <p:spPr>
            <a:xfrm>
              <a:off x="7256856" y="5297115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1"/>
            <p:cNvSpPr/>
            <p:nvPr/>
          </p:nvSpPr>
          <p:spPr>
            <a:xfrm>
              <a:off x="7141441" y="5156911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2"/>
            <p:cNvSpPr/>
            <p:nvPr/>
          </p:nvSpPr>
          <p:spPr>
            <a:xfrm>
              <a:off x="6388791" y="5175158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3"/>
            <p:cNvSpPr/>
            <p:nvPr/>
          </p:nvSpPr>
          <p:spPr>
            <a:xfrm>
              <a:off x="6763422" y="4927043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4"/>
            <p:cNvSpPr/>
            <p:nvPr/>
          </p:nvSpPr>
          <p:spPr>
            <a:xfrm>
              <a:off x="7701060" y="5174441"/>
              <a:ext cx="40703" cy="40703"/>
            </a:xfrm>
            <a:prstGeom prst="ellipse">
              <a:avLst/>
            </a:prstGeom>
            <a:solidFill>
              <a:srgbClr val="D55E00">
                <a:alpha val="85098"/>
              </a:srgbClr>
            </a:solidFill>
            <a:ln w="8181" cap="rnd">
              <a:solidFill>
                <a:srgbClr val="D55E00">
                  <a:alpha val="85098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tx1035"/>
            <p:cNvSpPr/>
            <p:nvPr/>
          </p:nvSpPr>
          <p:spPr>
            <a:xfrm>
              <a:off x="5798612" y="4802239"/>
              <a:ext cx="465521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rho = 0.18</a:t>
              </a:r>
            </a:p>
          </p:txBody>
        </p:sp>
        <p:sp>
          <p:nvSpPr>
            <p:cNvPr id="1036" name="tx1036"/>
            <p:cNvSpPr/>
            <p:nvPr/>
          </p:nvSpPr>
          <p:spPr>
            <a:xfrm>
              <a:off x="5798612" y="4950537"/>
              <a:ext cx="799734" cy="73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10" i="0" b="0">
                  <a:solidFill>
                    <a:srgbClr val="404040">
                      <a:alpha val="100000"/>
                    </a:srgbClr>
                  </a:solidFill>
                  <a:latin typeface="Arial"/>
                  <a:cs typeface="Arial"/>
                </a:rPr>
                <a:t>6% agree on sign</a:t>
              </a:r>
            </a:p>
          </p:txBody>
        </p:sp>
        <p:sp>
          <p:nvSpPr>
            <p:cNvPr id="1037" name="tx1037"/>
            <p:cNvSpPr/>
            <p:nvPr/>
          </p:nvSpPr>
          <p:spPr>
            <a:xfrm>
              <a:off x="956651" y="3698945"/>
              <a:ext cx="28273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2030</a:t>
              </a:r>
            </a:p>
          </p:txBody>
        </p:sp>
        <p:sp>
          <p:nvSpPr>
            <p:cNvPr id="1038" name="tx1038"/>
            <p:cNvSpPr/>
            <p:nvPr/>
          </p:nvSpPr>
          <p:spPr>
            <a:xfrm>
              <a:off x="3349980" y="3698945"/>
              <a:ext cx="28273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2050</a:t>
              </a:r>
            </a:p>
          </p:txBody>
        </p:sp>
        <p:sp>
          <p:nvSpPr>
            <p:cNvPr id="1039" name="tx1039"/>
            <p:cNvSpPr/>
            <p:nvPr/>
          </p:nvSpPr>
          <p:spPr>
            <a:xfrm>
              <a:off x="5743310" y="3698945"/>
              <a:ext cx="28273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2080</a:t>
              </a:r>
            </a:p>
          </p:txBody>
        </p:sp>
        <p:sp>
          <p:nvSpPr>
            <p:cNvPr id="1040" name="tx1040"/>
            <p:cNvSpPr/>
            <p:nvPr/>
          </p:nvSpPr>
          <p:spPr>
            <a:xfrm rot="5400000">
              <a:off x="7860367" y="4130858"/>
              <a:ext cx="54370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SSP2-4.5</a:t>
              </a:r>
            </a:p>
          </p:txBody>
        </p:sp>
        <p:sp>
          <p:nvSpPr>
            <p:cNvPr id="1041" name="tx1041"/>
            <p:cNvSpPr/>
            <p:nvPr/>
          </p:nvSpPr>
          <p:spPr>
            <a:xfrm rot="5400000">
              <a:off x="7860367" y="5030096"/>
              <a:ext cx="543702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1">
                  <a:solidFill>
                    <a:srgbClr val="1A1A1A">
                      <a:alpha val="100000"/>
                    </a:srgbClr>
                  </a:solidFill>
                  <a:latin typeface="Arial"/>
                  <a:cs typeface="Arial"/>
                </a:rPr>
                <a:t>SSP5-8.5</a:t>
              </a:r>
            </a:p>
          </p:txBody>
        </p:sp>
        <p:sp>
          <p:nvSpPr>
            <p:cNvPr id="1042" name="pl1042"/>
            <p:cNvSpPr/>
            <p:nvPr/>
          </p:nvSpPr>
          <p:spPr>
            <a:xfrm>
              <a:off x="906041" y="5589101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1337261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1583348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2075521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2567694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3059867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tx1048"/>
            <p:cNvSpPr/>
            <p:nvPr/>
          </p:nvSpPr>
          <p:spPr>
            <a:xfrm>
              <a:off x="1266624" y="564603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049" name="tx1049"/>
            <p:cNvSpPr/>
            <p:nvPr/>
          </p:nvSpPr>
          <p:spPr>
            <a:xfrm>
              <a:off x="1512711" y="564603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050" name="tx1050"/>
            <p:cNvSpPr/>
            <p:nvPr/>
          </p:nvSpPr>
          <p:spPr>
            <a:xfrm>
              <a:off x="2004884" y="564603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</a:t>
              </a:r>
            </a:p>
          </p:txBody>
        </p:sp>
        <p:sp>
          <p:nvSpPr>
            <p:cNvPr id="1051" name="tx1051"/>
            <p:cNvSpPr/>
            <p:nvPr/>
          </p:nvSpPr>
          <p:spPr>
            <a:xfrm>
              <a:off x="2468802" y="5646037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16.0</a:t>
              </a:r>
            </a:p>
          </p:txBody>
        </p:sp>
        <p:sp>
          <p:nvSpPr>
            <p:cNvPr id="1052" name="tx1052"/>
            <p:cNvSpPr/>
            <p:nvPr/>
          </p:nvSpPr>
          <p:spPr>
            <a:xfrm>
              <a:off x="2960975" y="5646037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64.0</a:t>
              </a:r>
            </a:p>
          </p:txBody>
        </p:sp>
        <p:sp>
          <p:nvSpPr>
            <p:cNvPr id="1053" name="pl1053"/>
            <p:cNvSpPr/>
            <p:nvPr/>
          </p:nvSpPr>
          <p:spPr>
            <a:xfrm>
              <a:off x="3299370" y="5589101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3730591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3976677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4468851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4961024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453197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tx1059"/>
            <p:cNvSpPr/>
            <p:nvPr/>
          </p:nvSpPr>
          <p:spPr>
            <a:xfrm>
              <a:off x="3659953" y="564603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060" name="tx1060"/>
            <p:cNvSpPr/>
            <p:nvPr/>
          </p:nvSpPr>
          <p:spPr>
            <a:xfrm>
              <a:off x="3906040" y="564603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061" name="tx1061"/>
            <p:cNvSpPr/>
            <p:nvPr/>
          </p:nvSpPr>
          <p:spPr>
            <a:xfrm>
              <a:off x="4398213" y="564603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</a:t>
              </a:r>
            </a:p>
          </p:txBody>
        </p:sp>
        <p:sp>
          <p:nvSpPr>
            <p:cNvPr id="1062" name="tx1062"/>
            <p:cNvSpPr/>
            <p:nvPr/>
          </p:nvSpPr>
          <p:spPr>
            <a:xfrm>
              <a:off x="4862131" y="5646037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16.0</a:t>
              </a:r>
            </a:p>
          </p:txBody>
        </p:sp>
        <p:sp>
          <p:nvSpPr>
            <p:cNvPr id="1063" name="tx1063"/>
            <p:cNvSpPr/>
            <p:nvPr/>
          </p:nvSpPr>
          <p:spPr>
            <a:xfrm>
              <a:off x="5354304" y="5646037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64.0</a:t>
              </a:r>
            </a:p>
          </p:txBody>
        </p:sp>
        <p:sp>
          <p:nvSpPr>
            <p:cNvPr id="1064" name="pl1064"/>
            <p:cNvSpPr/>
            <p:nvPr/>
          </p:nvSpPr>
          <p:spPr>
            <a:xfrm>
              <a:off x="5692700" y="5589101"/>
              <a:ext cx="2330066" cy="0"/>
            </a:xfrm>
            <a:custGeom>
              <a:avLst/>
              <a:pathLst>
                <a:path w="2330066" h="0">
                  <a:moveTo>
                    <a:pt x="0" y="0"/>
                  </a:moveTo>
                  <a:lnTo>
                    <a:pt x="2330066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6123920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6370007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6862180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7354353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7846526" y="558910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tx1070"/>
            <p:cNvSpPr/>
            <p:nvPr/>
          </p:nvSpPr>
          <p:spPr>
            <a:xfrm>
              <a:off x="6053283" y="564603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</a:t>
              </a:r>
            </a:p>
          </p:txBody>
        </p:sp>
        <p:sp>
          <p:nvSpPr>
            <p:cNvPr id="1071" name="tx1071"/>
            <p:cNvSpPr/>
            <p:nvPr/>
          </p:nvSpPr>
          <p:spPr>
            <a:xfrm>
              <a:off x="6299370" y="564603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</a:t>
              </a:r>
            </a:p>
          </p:txBody>
        </p:sp>
        <p:sp>
          <p:nvSpPr>
            <p:cNvPr id="1072" name="tx1072"/>
            <p:cNvSpPr/>
            <p:nvPr/>
          </p:nvSpPr>
          <p:spPr>
            <a:xfrm>
              <a:off x="6791543" y="5646037"/>
              <a:ext cx="14127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</a:t>
              </a:r>
            </a:p>
          </p:txBody>
        </p:sp>
        <p:sp>
          <p:nvSpPr>
            <p:cNvPr id="1073" name="tx1073"/>
            <p:cNvSpPr/>
            <p:nvPr/>
          </p:nvSpPr>
          <p:spPr>
            <a:xfrm>
              <a:off x="7255461" y="5646037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16.0</a:t>
              </a:r>
            </a:p>
          </p:txBody>
        </p:sp>
        <p:sp>
          <p:nvSpPr>
            <p:cNvPr id="1074" name="tx1074"/>
            <p:cNvSpPr/>
            <p:nvPr/>
          </p:nvSpPr>
          <p:spPr>
            <a:xfrm>
              <a:off x="7747634" y="5646037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64.0</a:t>
              </a:r>
            </a:p>
          </p:txBody>
        </p:sp>
        <p:sp>
          <p:nvSpPr>
            <p:cNvPr id="1075" name="pl1075"/>
            <p:cNvSpPr/>
            <p:nvPr/>
          </p:nvSpPr>
          <p:spPr>
            <a:xfrm>
              <a:off x="906041" y="3853888"/>
              <a:ext cx="0" cy="835974"/>
            </a:xfrm>
            <a:custGeom>
              <a:avLst/>
              <a:pathLst>
                <a:path w="0" h="835974">
                  <a:moveTo>
                    <a:pt x="0" y="83597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tx1076"/>
            <p:cNvSpPr/>
            <p:nvPr/>
          </p:nvSpPr>
          <p:spPr>
            <a:xfrm>
              <a:off x="651319" y="4545156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077" name="tx1077"/>
            <p:cNvSpPr/>
            <p:nvPr/>
          </p:nvSpPr>
          <p:spPr>
            <a:xfrm>
              <a:off x="651319" y="4388155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078" name="tx1078"/>
            <p:cNvSpPr/>
            <p:nvPr/>
          </p:nvSpPr>
          <p:spPr>
            <a:xfrm>
              <a:off x="651319" y="4231153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079" name="tx1079"/>
            <p:cNvSpPr/>
            <p:nvPr/>
          </p:nvSpPr>
          <p:spPr>
            <a:xfrm>
              <a:off x="651319" y="407415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2.00</a:t>
              </a:r>
            </a:p>
          </p:txBody>
        </p:sp>
        <p:sp>
          <p:nvSpPr>
            <p:cNvPr id="1080" name="tx1080"/>
            <p:cNvSpPr/>
            <p:nvPr/>
          </p:nvSpPr>
          <p:spPr>
            <a:xfrm>
              <a:off x="651319" y="3917151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4.00</a:t>
              </a:r>
            </a:p>
          </p:txBody>
        </p:sp>
        <p:sp>
          <p:nvSpPr>
            <p:cNvPr id="1081" name="pl1081"/>
            <p:cNvSpPr/>
            <p:nvPr/>
          </p:nvSpPr>
          <p:spPr>
            <a:xfrm>
              <a:off x="874409" y="458154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874409" y="442454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874409" y="426754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874409" y="411054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874409" y="395354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906041" y="4753126"/>
              <a:ext cx="0" cy="835974"/>
            </a:xfrm>
            <a:custGeom>
              <a:avLst/>
              <a:pathLst>
                <a:path w="0" h="835974">
                  <a:moveTo>
                    <a:pt x="0" y="835974"/>
                  </a:moveTo>
                  <a:lnTo>
                    <a:pt x="0" y="0"/>
                  </a:lnTo>
                </a:path>
              </a:pathLst>
            </a:custGeom>
            <a:ln w="9485" cap="sq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tx1087"/>
            <p:cNvSpPr/>
            <p:nvPr/>
          </p:nvSpPr>
          <p:spPr>
            <a:xfrm>
              <a:off x="651319" y="5444393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088" name="tx1088"/>
            <p:cNvSpPr/>
            <p:nvPr/>
          </p:nvSpPr>
          <p:spPr>
            <a:xfrm>
              <a:off x="651319" y="5287392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089" name="tx1089"/>
            <p:cNvSpPr/>
            <p:nvPr/>
          </p:nvSpPr>
          <p:spPr>
            <a:xfrm>
              <a:off x="651319" y="5130391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090" name="tx1090"/>
            <p:cNvSpPr/>
            <p:nvPr/>
          </p:nvSpPr>
          <p:spPr>
            <a:xfrm>
              <a:off x="651319" y="4973390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2.00</a:t>
              </a:r>
            </a:p>
          </p:txBody>
        </p:sp>
        <p:sp>
          <p:nvSpPr>
            <p:cNvPr id="1091" name="tx1091"/>
            <p:cNvSpPr/>
            <p:nvPr/>
          </p:nvSpPr>
          <p:spPr>
            <a:xfrm>
              <a:off x="651319" y="4816389"/>
              <a:ext cx="197784" cy="7278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4.00</a:t>
              </a:r>
            </a:p>
          </p:txBody>
        </p:sp>
        <p:sp>
          <p:nvSpPr>
            <p:cNvPr id="1092" name="pl1092"/>
            <p:cNvSpPr/>
            <p:nvPr/>
          </p:nvSpPr>
          <p:spPr>
            <a:xfrm>
              <a:off x="874409" y="54807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874409" y="5323785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874409" y="516678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874409" y="500978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874409" y="485278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tx1097"/>
            <p:cNvSpPr/>
            <p:nvPr/>
          </p:nvSpPr>
          <p:spPr>
            <a:xfrm>
              <a:off x="3535464" y="5771852"/>
              <a:ext cx="1857877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Mechanistic hazard ratio vs 2024</a:t>
              </a:r>
            </a:p>
          </p:txBody>
        </p:sp>
        <p:sp>
          <p:nvSpPr>
            <p:cNvPr id="1098" name="tx1098"/>
            <p:cNvSpPr/>
            <p:nvPr/>
          </p:nvSpPr>
          <p:spPr>
            <a:xfrm rot="-5400000">
              <a:off x="-589925" y="4676003"/>
              <a:ext cx="2161824" cy="909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Machine-learning hazard ratio vs 2024</a:t>
              </a:r>
            </a:p>
          </p:txBody>
        </p:sp>
        <p:sp>
          <p:nvSpPr>
            <p:cNvPr id="1099" name="tx1099"/>
            <p:cNvSpPr/>
            <p:nvPr/>
          </p:nvSpPr>
          <p:spPr>
            <a:xfrm>
              <a:off x="906041" y="3463548"/>
              <a:ext cx="5399806" cy="835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The mechanistic model projects increases in 176 of 186 province-scenario cells, the ML model in only 42</a:t>
              </a:r>
            </a:p>
          </p:txBody>
        </p:sp>
        <p:sp>
          <p:nvSpPr>
            <p:cNvPr id="1100" name="tx1100"/>
            <p:cNvSpPr/>
            <p:nvPr/>
          </p:nvSpPr>
          <p:spPr>
            <a:xfrm>
              <a:off x="906041" y="3270807"/>
              <a:ext cx="2275484" cy="10003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1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Outside it they diverge completely</a:t>
              </a:r>
            </a:p>
          </p:txBody>
        </p:sp>
        <p:sp>
          <p:nvSpPr>
            <p:cNvPr id="1101" name="tx1101"/>
            <p:cNvSpPr/>
            <p:nvPr/>
          </p:nvSpPr>
          <p:spPr>
            <a:xfrm>
              <a:off x="353689" y="3135201"/>
              <a:ext cx="91805" cy="1182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300" i="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2026-09-22T13:09:52Z</dcterms:modified>
  <cp:category/>
</cp:coreProperties>
</file>