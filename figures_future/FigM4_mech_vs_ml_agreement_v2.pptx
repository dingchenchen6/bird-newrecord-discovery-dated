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0058400" cy="6949440"/>
            <a:chOff x="182880" y="182880"/>
            <a:chExt cx="10058400" cy="694944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0058400" cy="69494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0058400" cy="69494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3469704"/>
              <a:ext cx="9919221" cy="359302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52469" y="252469"/>
              <a:ext cx="4619777" cy="32172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4872246" y="252469"/>
              <a:ext cx="5299444" cy="32172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852287" y="994304"/>
              <a:ext cx="3918738" cy="21294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52287" y="3048971"/>
              <a:ext cx="3918738" cy="0"/>
            </a:xfrm>
            <a:custGeom>
              <a:avLst/>
              <a:pathLst>
                <a:path w="3918738" h="0">
                  <a:moveTo>
                    <a:pt x="0" y="0"/>
                  </a:moveTo>
                  <a:lnTo>
                    <a:pt x="3918738" y="0"/>
                  </a:lnTo>
                  <a:lnTo>
                    <a:pt x="39187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52287" y="2399733"/>
              <a:ext cx="3918738" cy="0"/>
            </a:xfrm>
            <a:custGeom>
              <a:avLst/>
              <a:pathLst>
                <a:path w="3918738" h="0">
                  <a:moveTo>
                    <a:pt x="0" y="0"/>
                  </a:moveTo>
                  <a:lnTo>
                    <a:pt x="3918738" y="0"/>
                  </a:lnTo>
                  <a:lnTo>
                    <a:pt x="39187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52287" y="1688232"/>
              <a:ext cx="3918738" cy="0"/>
            </a:xfrm>
            <a:custGeom>
              <a:avLst/>
              <a:pathLst>
                <a:path w="3918738" h="0">
                  <a:moveTo>
                    <a:pt x="0" y="0"/>
                  </a:moveTo>
                  <a:lnTo>
                    <a:pt x="3918738" y="0"/>
                  </a:lnTo>
                  <a:lnTo>
                    <a:pt x="39187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2287" y="1038995"/>
              <a:ext cx="3918738" cy="0"/>
            </a:xfrm>
            <a:custGeom>
              <a:avLst/>
              <a:pathLst>
                <a:path w="3918738" h="0">
                  <a:moveTo>
                    <a:pt x="0" y="0"/>
                  </a:moveTo>
                  <a:lnTo>
                    <a:pt x="3918738" y="0"/>
                  </a:lnTo>
                  <a:lnTo>
                    <a:pt x="39187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603965" y="27580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2572224" y="270225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2625752" y="268464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856225" y="237344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840803" y="220287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3077915" y="247864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3134184" y="229345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119373" y="254169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1488" y="203494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249239" y="233601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376587" y="20152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382502" y="206753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189045" y="234622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225874" y="209541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86182" y="206640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439380" y="175619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99675" y="217087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65412" y="192788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0841" y="214513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552407" y="188972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51553" y="215258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12852" y="24815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993993" y="271364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692226" y="273627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29749" y="283433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413993" y="283284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809836" y="278449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24311" y="253915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963738" y="274340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1662725" y="276730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996003" y="26121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778225" y="274608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453682" y="267843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763123" y="27848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40505" y="26234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099002" y="240467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35727" y="248036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401332" y="24097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331007" y="231594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07471" y="226013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355357" y="26293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1426" y="239307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860877" y="233404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037737" y="244049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367791" y="24395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214086" y="266586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709688" y="258094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622125" y="255998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1345532" y="260754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015889" y="269283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756254" y="254027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561428" y="25676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083650" y="285565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453698" y="273797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271281" y="279767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1605615" y="259624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824186" y="243583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52923" y="247541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999812" y="214193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38593" y="217706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227180" y="237465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411338" y="230134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476246" y="242345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442853" y="249044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657012" y="232783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790257" y="243286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50947" y="24842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263318" y="263910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99492" y="260120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8686" y="26652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554074" y="276673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797797" y="255737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085579" y="258789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693697" y="24604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138149" y="255021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084618" y="25104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431473" y="225394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93899" y="210092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458181" y="22036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35424" y="20689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427430" y="215694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6617" y="19930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532675" y="204163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576700" y="204670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664745" y="210997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81828" y="19105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51183" y="174071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683106" y="190081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64631" y="21946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65841" y="26332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760981" y="273803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685309" y="276909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368440" y="257914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536298" y="275560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569869" y="270218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1625213" y="263095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485820" y="263247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1723378" y="250280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695469" y="255937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307424" y="273618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537825" y="26533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1852334" y="228678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045414" y="211343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053229" y="20531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260555" y="247331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349126" y="247371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613545" y="253191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781958" y="242947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766255" y="237200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945499" y="272087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05486" y="241978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344302" y="234191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47327" y="247228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8524" y="26650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276000" y="26670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258411" y="232076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439923" y="228561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32321" y="268456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58770" y="292755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96800" y="292082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8249" y="27595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72611" y="265006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187343" y="26070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66334" y="267650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03884" y="201124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16054" y="234785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702771" y="215447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543281" y="248095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39001" y="248836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27082" y="248186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052564" y="255931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973569" y="24056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331815" y="25468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351409" y="252356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670542" y="280505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942175" y="234975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081505" y="272655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422680" y="236537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02377" y="266056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047463" y="301247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589282" y="26403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1605297" y="286721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12993" y="298276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443315" y="290374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312569" y="274855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643917" y="300635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427373" y="253875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580186" y="254083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559717" y="226058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530942" y="202464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049406" y="22965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092200" y="220995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23441" y="227683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91711" y="241184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03464" y="251578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19686" y="196943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854791" y="22979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042257" y="257044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39652" y="266233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451570" y="252251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20204" y="247630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494012" y="262742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410364" y="257234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1844926" y="26424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240500" y="268936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283523" y="256074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1358899" y="284619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195621" y="272701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201144" y="240524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149253" y="265164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155039" y="28861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344878" y="238861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46990" y="210275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668995" y="210259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569217" y="265698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23942" y="245132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088649" y="224207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265099" y="244950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60398" y="244762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740799" y="258354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239989" y="235351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1853120" y="279974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076146" y="230164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75776" y="257613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31885" y="232437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339693" y="248380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365295" y="193617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264026" y="245364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61709" y="20829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357379" y="189792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231133" y="200561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234409" y="198633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244627" y="274437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167421" y="198413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68655" y="246037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483267" y="228133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87325" y="229642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77062" y="198460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566224" y="219776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86864" y="217577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612849" y="194707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2903825" y="210887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025560" y="253170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039932" y="237004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19662" y="258542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875806" y="26638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23605" y="219725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16843" y="265514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605422" y="25120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748006" y="221448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30623" y="217905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301452" y="279329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56759" y="278747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390176" y="286869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757973" y="298133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959476" y="240548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768478" y="26927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534953" y="263623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551715" y="272249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784178" y="253554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183542" y="289430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772912" y="240276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797958" y="240156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77631" y="239904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753148" y="245314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66270" y="282215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249524" y="276882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540006" y="266594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516950" y="263672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58771" y="251738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987644" y="238270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216357" y="207144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1743" y="225280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284822" y="201348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363355" y="183761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83966" y="198791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391062" y="205829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467119" y="183078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412382" y="196578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471586" y="15461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97843" y="180169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602405" y="232268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598138" y="179850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74479" y="224593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604255" y="188970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4475" y="171667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645785" y="216909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11965" y="258788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416482" y="268191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71543" y="268330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337069" y="268966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634237" y="261180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66208" y="26027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37872" y="231514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797711" y="256675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905537" y="247922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10855" y="200480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994330" y="201526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63836" y="212691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03487" y="20696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085155" y="23097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133592" y="239658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149264" y="187205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189429" y="18916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157635" y="183891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160008" y="210932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59354" y="217969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464137" y="254702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78294" y="256397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760280" y="275041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230515" y="258276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978883" y="25978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18185" y="253719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2823964" y="259758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921896" y="269195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918236" y="259036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116031" y="264321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407502" y="231872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566171" y="202275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204045" y="235575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437008" y="218737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384556" y="23745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380776" y="243070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579280" y="209725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12976" y="23514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58623" y="216875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755708" y="244616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783332" y="208149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710097" y="185586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29327" y="196464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242207" y="21696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340808" y="18818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578379" y="235513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33078" y="278757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26140" y="264406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543999" y="271215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556762" y="275996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649175" y="269710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828978" y="23447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964941" y="247150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2383" y="222850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104029" y="23704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186424" y="245986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202486" y="200331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216934" y="175331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07243" y="206250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316800" y="223745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314981" y="221305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355794" y="20774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131069" y="25637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045247" y="25842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237076" y="229990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228368" y="268399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372072" y="269547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449413" y="243180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646647" y="25792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36099" y="234931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738183" y="234633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593082" y="236755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843863" y="22440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893489" y="232756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014508" y="210327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015708" y="21616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075796" y="194740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156464" y="183699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66724" y="223499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04677" y="211691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236315" y="217364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371142" y="216604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66" y="221258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657943" y="277972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786391" y="248580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616560" y="243687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764444" y="253787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756733" y="253570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73342" y="257485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458050" y="266649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810502" y="228776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616598" y="22220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28671" y="235003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37613" y="212204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393738" y="258668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2040141" y="255680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850594" y="265655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213715" y="273730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82702" y="237782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52460" y="263553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389117" y="260944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597246" y="248336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2554946" y="192734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1950405" y="254886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917997" y="199214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535618" y="223823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04516" y="195261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498757" y="217094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25168" y="253815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744111" y="256435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372370" y="28512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635700" y="259811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956926" y="223586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897201" y="250907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705642" y="229761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4742" y="215985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69908" y="19029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742807" y="243845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775805" y="281760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987347" y="209804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890817" y="24083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63819" y="21247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980692" y="244826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878202" y="20645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926838" y="229220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188346" y="219288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345103" y="24054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285809" y="235204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652526" y="254665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356369" y="279865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856049" y="262040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262" y="234864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142891" y="24500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300254" y="22851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300626" y="240781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91776" y="20254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194386" y="203131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321672" y="216300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3414" y="190641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5334" y="18920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395542" y="193091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3377872" y="18812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0895" y="241253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1679313" y="279041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791945" y="207541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55984" y="26769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451992" y="259883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854330" y="24675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465627" y="247231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501516" y="238395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933916" y="231875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810137" y="239071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156810" y="213938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254310" y="187045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250308" y="168817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112687" y="202030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314824" y="220507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409138" y="190219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436220" y="22125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324459" y="219181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3330415" y="248907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332878" y="220220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407308" y="246139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516049" y="192407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611694" y="258284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066097" y="248579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852183" y="270376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160087" y="21559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071316" y="242379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73522" y="204195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627899" y="204473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616476" y="19065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656698" y="206013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724615" y="189884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3804151" y="17186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767849" y="189993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3843473" y="19958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815338" y="177928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22790" y="181210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697062" y="160750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793061" y="217973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848596" y="200223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832391" y="19279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721965" y="16403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647625" y="238305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645221" y="207554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3851041" y="211795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990865" y="262820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240262" y="282723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177400" y="270364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099195" y="27893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492515" y="269296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271780" y="26229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421607" y="267557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365155" y="271819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2422259" y="258780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23478" y="240146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26484" y="26463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285293" y="260638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2400383" y="268412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234518" y="276611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696091" y="227164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938414" y="223406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027456" y="20422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995009" y="210756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046613" y="192604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68378" y="196587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3320388" y="21482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539705" y="192761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767849" y="25791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78940" y="265154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348455" y="273232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685795" y="254692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2883245" y="193299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74882" y="244131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813309" y="23071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2848505" y="21751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816936" y="225357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877878" y="236493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860678" y="203623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982050" y="145638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986358" y="159683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1726759" y="269591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1900089" y="264806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330975" y="256383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379644" y="241938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51636" y="232578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354367" y="227223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478676" y="252428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28374" y="220764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532675" y="207939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518332" y="22341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331427" y="26443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486151" y="197873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501981" y="213571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732746" y="199731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2788070" y="204240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784676" y="195790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771960" y="237851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2714645" y="190692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910403" y="184452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062522" y="200340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435962" y="230661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1813727" y="254561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35628" y="243279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030293" y="263086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295100" y="228167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296969" y="204115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996555" y="260923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023855" y="250807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408685" y="230575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64086" y="193652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2482310" y="213758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636365" y="21415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673202" y="206350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729699" y="232076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2787866" y="215414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832822" y="242721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2879032" y="23309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18752" y="240592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882026" y="224258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997415" y="23943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3076341" y="274793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3275714" y="205234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3504741" y="261238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693152" y="259442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136297" y="280955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57146" y="24161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93264" y="26326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862711" y="263745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355313" y="214346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836145" y="250502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211388" y="265715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329735" y="25294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4107" y="245651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539381" y="22095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92436" y="18028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24842" y="19138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634130" y="218155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685405" y="155559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869767" y="263790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1845211" y="280160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028779" y="26344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136549" y="242305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268150" y="25221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473074" y="230442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577328" y="196269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756947" y="150184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908029" y="183209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811792" y="207902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2923925" y="19499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832599" y="225643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828263" y="17958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895114" y="192452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916365" y="189731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994181" y="207825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958531" y="191436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855404" y="22911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2950313" y="220241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964386" y="190392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3053941" y="270305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137355" y="265098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587790" y="262627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32488" y="227214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252007" y="26120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540004" y="255939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614180" y="216816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0782" y="227710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756312" y="239151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656873" y="238362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730227" y="237128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744745" y="251603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973538" y="220663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043926" y="21853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110088" y="213635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3139112" y="202930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187226" y="209247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3208469" y="22170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255575" y="223790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293550" y="200234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05838" y="23286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144566" y="244876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134094" y="21996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53753" y="265011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233291" y="266911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6267" y="271351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2077018" y="277225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320623" y="25329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584268" y="241068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652632" y="215577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724776" y="247154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803714" y="17922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89852" y="215117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970416" y="223035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15927" y="212647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938305" y="212683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974180" y="228912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83994" y="22744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3043649" y="234153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066895" y="22757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096827" y="19411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212432" y="196249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279571" y="225560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345261" y="20502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475815" y="178214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3562169" y="242455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687131" y="271767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762998" y="270551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740633" y="234330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373627" y="252324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95247" y="225878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2549744" y="220678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2664218" y="20958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76384" y="220227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738598" y="256225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834747" y="216669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875906" y="218511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827677" y="216458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932135" y="228552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943518" y="211756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034578" y="228884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049660" y="214878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3118810" y="244500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3271364" y="218598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3416028" y="181326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442353" y="249726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06273" y="251312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3596393" y="18440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3672616" y="257090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3723144" y="279327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853259" y="277063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128257" y="256404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3204945" y="233908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998585" y="260535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083429" y="260947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49489" y="217229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196678" y="251261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286571" y="257017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082555" y="235347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3124479" y="245575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024796" y="21760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6598" y="215022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308299" y="172076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431853" y="212155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3410805" y="245995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411277" y="22934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3584165" y="21577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538543" y="183044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563035" y="181087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611269" y="204069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512632" y="194246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769813" y="231446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004649" y="188214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394713" y="213182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500186" y="221106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92585" y="227538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576453" y="189999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663387" y="185168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824525" y="171851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92172" y="27554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3379692" y="198797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513512" y="176755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612979" y="185759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022252" y="17978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084195" y="208301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206828" y="202681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272978" y="221163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363723" y="201814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3418250" y="265092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419357" y="273813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457987" y="240627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484849" y="247766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634745" y="176780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643500" y="234633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242909" y="266460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158427" y="281807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2121123" y="282792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2199561" y="2560656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116543" y="256051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1904227" y="247648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1896666" y="278040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201038" y="261349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190295" y="267399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639316" y="2245582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2633974" y="203709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662061" y="223886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2779396" y="253855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29429" y="162642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012263" y="228565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3015541" y="184836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161280" y="232456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132317" y="191378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410812" y="2529901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549898" y="2503704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753340" y="181718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3846405" y="206515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787674" y="1076577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3794139" y="1892690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857939" y="2131843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09820" y="2115695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930119" y="1664688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999906" y="2674289"/>
              <a:ext cx="29044" cy="2904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1030411" y="1882124"/>
              <a:ext cx="3562489" cy="968555"/>
            </a:xfrm>
            <a:custGeom>
              <a:avLst/>
              <a:pathLst>
                <a:path w="3562489" h="968555">
                  <a:moveTo>
                    <a:pt x="0" y="968555"/>
                  </a:moveTo>
                  <a:lnTo>
                    <a:pt x="45094" y="956295"/>
                  </a:lnTo>
                  <a:lnTo>
                    <a:pt x="90189" y="944035"/>
                  </a:lnTo>
                  <a:lnTo>
                    <a:pt x="135284" y="931774"/>
                  </a:lnTo>
                  <a:lnTo>
                    <a:pt x="180379" y="919514"/>
                  </a:lnTo>
                  <a:lnTo>
                    <a:pt x="225474" y="907254"/>
                  </a:lnTo>
                  <a:lnTo>
                    <a:pt x="270568" y="894994"/>
                  </a:lnTo>
                  <a:lnTo>
                    <a:pt x="315663" y="882734"/>
                  </a:lnTo>
                  <a:lnTo>
                    <a:pt x="360758" y="870473"/>
                  </a:lnTo>
                  <a:lnTo>
                    <a:pt x="405853" y="858213"/>
                  </a:lnTo>
                  <a:lnTo>
                    <a:pt x="450948" y="845953"/>
                  </a:lnTo>
                  <a:lnTo>
                    <a:pt x="496042" y="833693"/>
                  </a:lnTo>
                  <a:lnTo>
                    <a:pt x="541137" y="821433"/>
                  </a:lnTo>
                  <a:lnTo>
                    <a:pt x="586232" y="809172"/>
                  </a:lnTo>
                  <a:lnTo>
                    <a:pt x="631327" y="796912"/>
                  </a:lnTo>
                  <a:lnTo>
                    <a:pt x="676422" y="784652"/>
                  </a:lnTo>
                  <a:lnTo>
                    <a:pt x="721516" y="772392"/>
                  </a:lnTo>
                  <a:lnTo>
                    <a:pt x="766611" y="760132"/>
                  </a:lnTo>
                  <a:lnTo>
                    <a:pt x="811706" y="747871"/>
                  </a:lnTo>
                  <a:lnTo>
                    <a:pt x="856801" y="735611"/>
                  </a:lnTo>
                  <a:lnTo>
                    <a:pt x="901896" y="723351"/>
                  </a:lnTo>
                  <a:lnTo>
                    <a:pt x="946990" y="711091"/>
                  </a:lnTo>
                  <a:lnTo>
                    <a:pt x="992085" y="698831"/>
                  </a:lnTo>
                  <a:lnTo>
                    <a:pt x="1037180" y="686570"/>
                  </a:lnTo>
                  <a:lnTo>
                    <a:pt x="1082275" y="674310"/>
                  </a:lnTo>
                  <a:lnTo>
                    <a:pt x="1127370" y="662050"/>
                  </a:lnTo>
                  <a:lnTo>
                    <a:pt x="1172464" y="649790"/>
                  </a:lnTo>
                  <a:lnTo>
                    <a:pt x="1217559" y="637530"/>
                  </a:lnTo>
                  <a:lnTo>
                    <a:pt x="1262654" y="625269"/>
                  </a:lnTo>
                  <a:lnTo>
                    <a:pt x="1307749" y="613009"/>
                  </a:lnTo>
                  <a:lnTo>
                    <a:pt x="1352844" y="600749"/>
                  </a:lnTo>
                  <a:lnTo>
                    <a:pt x="1397939" y="588489"/>
                  </a:lnTo>
                  <a:lnTo>
                    <a:pt x="1443033" y="576229"/>
                  </a:lnTo>
                  <a:lnTo>
                    <a:pt x="1488128" y="563968"/>
                  </a:lnTo>
                  <a:lnTo>
                    <a:pt x="1533223" y="551708"/>
                  </a:lnTo>
                  <a:lnTo>
                    <a:pt x="1578318" y="539448"/>
                  </a:lnTo>
                  <a:lnTo>
                    <a:pt x="1623413" y="527188"/>
                  </a:lnTo>
                  <a:lnTo>
                    <a:pt x="1668507" y="514928"/>
                  </a:lnTo>
                  <a:lnTo>
                    <a:pt x="1713602" y="502668"/>
                  </a:lnTo>
                  <a:lnTo>
                    <a:pt x="1758697" y="490407"/>
                  </a:lnTo>
                  <a:lnTo>
                    <a:pt x="1803792" y="478147"/>
                  </a:lnTo>
                  <a:lnTo>
                    <a:pt x="1848887" y="465887"/>
                  </a:lnTo>
                  <a:lnTo>
                    <a:pt x="1893981" y="453627"/>
                  </a:lnTo>
                  <a:lnTo>
                    <a:pt x="1939076" y="441367"/>
                  </a:lnTo>
                  <a:lnTo>
                    <a:pt x="1984171" y="429106"/>
                  </a:lnTo>
                  <a:lnTo>
                    <a:pt x="2029266" y="416846"/>
                  </a:lnTo>
                  <a:lnTo>
                    <a:pt x="2074361" y="404586"/>
                  </a:lnTo>
                  <a:lnTo>
                    <a:pt x="2119455" y="392326"/>
                  </a:lnTo>
                  <a:lnTo>
                    <a:pt x="2164550" y="380066"/>
                  </a:lnTo>
                  <a:lnTo>
                    <a:pt x="2209645" y="367805"/>
                  </a:lnTo>
                  <a:lnTo>
                    <a:pt x="2254740" y="355545"/>
                  </a:lnTo>
                  <a:lnTo>
                    <a:pt x="2299835" y="343285"/>
                  </a:lnTo>
                  <a:lnTo>
                    <a:pt x="2344929" y="331025"/>
                  </a:lnTo>
                  <a:lnTo>
                    <a:pt x="2390024" y="318765"/>
                  </a:lnTo>
                  <a:lnTo>
                    <a:pt x="2435119" y="306504"/>
                  </a:lnTo>
                  <a:lnTo>
                    <a:pt x="2480214" y="294244"/>
                  </a:lnTo>
                  <a:lnTo>
                    <a:pt x="2525309" y="281984"/>
                  </a:lnTo>
                  <a:lnTo>
                    <a:pt x="2570404" y="269724"/>
                  </a:lnTo>
                  <a:lnTo>
                    <a:pt x="2615498" y="257464"/>
                  </a:lnTo>
                  <a:lnTo>
                    <a:pt x="2660593" y="245203"/>
                  </a:lnTo>
                  <a:lnTo>
                    <a:pt x="2705688" y="232943"/>
                  </a:lnTo>
                  <a:lnTo>
                    <a:pt x="2750783" y="220683"/>
                  </a:lnTo>
                  <a:lnTo>
                    <a:pt x="2795878" y="208423"/>
                  </a:lnTo>
                  <a:lnTo>
                    <a:pt x="2840972" y="196163"/>
                  </a:lnTo>
                  <a:lnTo>
                    <a:pt x="2886067" y="183902"/>
                  </a:lnTo>
                  <a:lnTo>
                    <a:pt x="2931162" y="171642"/>
                  </a:lnTo>
                  <a:lnTo>
                    <a:pt x="2976257" y="159382"/>
                  </a:lnTo>
                  <a:lnTo>
                    <a:pt x="3021352" y="147122"/>
                  </a:lnTo>
                  <a:lnTo>
                    <a:pt x="3066446" y="134862"/>
                  </a:lnTo>
                  <a:lnTo>
                    <a:pt x="3111541" y="122601"/>
                  </a:lnTo>
                  <a:lnTo>
                    <a:pt x="3156636" y="110341"/>
                  </a:lnTo>
                  <a:lnTo>
                    <a:pt x="3201731" y="98081"/>
                  </a:lnTo>
                  <a:lnTo>
                    <a:pt x="3246826" y="85821"/>
                  </a:lnTo>
                  <a:lnTo>
                    <a:pt x="3291920" y="73561"/>
                  </a:lnTo>
                  <a:lnTo>
                    <a:pt x="3337015" y="61300"/>
                  </a:lnTo>
                  <a:lnTo>
                    <a:pt x="3382110" y="49040"/>
                  </a:lnTo>
                  <a:lnTo>
                    <a:pt x="3427205" y="36780"/>
                  </a:lnTo>
                  <a:lnTo>
                    <a:pt x="3472300" y="24520"/>
                  </a:lnTo>
                  <a:lnTo>
                    <a:pt x="3517394" y="12260"/>
                  </a:lnTo>
                  <a:lnTo>
                    <a:pt x="3562489" y="0"/>
                  </a:lnTo>
                </a:path>
              </a:pathLst>
            </a:custGeom>
            <a:ln w="1355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852287" y="994304"/>
              <a:ext cx="0" cy="2129486"/>
            </a:xfrm>
            <a:custGeom>
              <a:avLst/>
              <a:pathLst>
                <a:path w="0" h="2129486">
                  <a:moveTo>
                    <a:pt x="0" y="2129486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tx704"/>
            <p:cNvSpPr/>
            <p:nvPr/>
          </p:nvSpPr>
          <p:spPr>
            <a:xfrm>
              <a:off x="572718" y="3016281"/>
              <a:ext cx="2283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0.001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572718" y="2367044"/>
              <a:ext cx="2283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0.003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572718" y="1655542"/>
              <a:ext cx="2283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0.010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572718" y="1006305"/>
              <a:ext cx="2283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0.030</a:t>
              </a:r>
            </a:p>
          </p:txBody>
        </p:sp>
        <p:sp>
          <p:nvSpPr>
            <p:cNvPr id="708" name="pl708"/>
            <p:cNvSpPr/>
            <p:nvPr/>
          </p:nvSpPr>
          <p:spPr>
            <a:xfrm>
              <a:off x="823818" y="30489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823818" y="23997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823818" y="168823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823818" y="10389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852287" y="3123791"/>
              <a:ext cx="3918738" cy="0"/>
            </a:xfrm>
            <a:custGeom>
              <a:avLst/>
              <a:pathLst>
                <a:path w="3918738" h="0">
                  <a:moveTo>
                    <a:pt x="0" y="0"/>
                  </a:moveTo>
                  <a:lnTo>
                    <a:pt x="391873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1491544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2943036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4533730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tx716"/>
            <p:cNvSpPr/>
            <p:nvPr/>
          </p:nvSpPr>
          <p:spPr>
            <a:xfrm>
              <a:off x="1377381" y="3175033"/>
              <a:ext cx="2283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0.001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2828873" y="3175033"/>
              <a:ext cx="2283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0.003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4419567" y="3175033"/>
              <a:ext cx="2283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0.010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2319389" y="3287992"/>
              <a:ext cx="98453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Mechanistic hazard</a:t>
              </a:r>
            </a:p>
          </p:txBody>
        </p:sp>
        <p:sp>
          <p:nvSpPr>
            <p:cNvPr id="720" name="tx720"/>
            <p:cNvSpPr/>
            <p:nvPr/>
          </p:nvSpPr>
          <p:spPr>
            <a:xfrm rot="-5400000">
              <a:off x="-149504" y="2018128"/>
              <a:ext cx="1257757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Machine-learning hazard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852287" y="644187"/>
              <a:ext cx="3669578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Province-year mean predicted hazard, 2002-2024; moderate but clearly positive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852287" y="469567"/>
              <a:ext cx="290742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Within the observed range they track each other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353689" y="344386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24" name="rc724"/>
            <p:cNvSpPr/>
            <p:nvPr/>
          </p:nvSpPr>
          <p:spPr>
            <a:xfrm>
              <a:off x="5954837" y="994304"/>
              <a:ext cx="1930901" cy="21294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731112" y="1171761"/>
              <a:ext cx="409983" cy="0"/>
            </a:xfrm>
            <a:custGeom>
              <a:avLst/>
              <a:pathLst>
                <a:path w="409983" h="0">
                  <a:moveTo>
                    <a:pt x="0" y="0"/>
                  </a:moveTo>
                  <a:lnTo>
                    <a:pt x="409983" y="0"/>
                  </a:lnTo>
                </a:path>
              </a:pathLst>
            </a:custGeom>
            <a:ln w="59622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451975" y="1467523"/>
              <a:ext cx="942356" cy="0"/>
            </a:xfrm>
            <a:custGeom>
              <a:avLst/>
              <a:pathLst>
                <a:path w="942356" h="0">
                  <a:moveTo>
                    <a:pt x="0" y="0"/>
                  </a:moveTo>
                  <a:lnTo>
                    <a:pt x="942356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315876" y="1763285"/>
              <a:ext cx="1218524" cy="0"/>
            </a:xfrm>
            <a:custGeom>
              <a:avLst/>
              <a:pathLst>
                <a:path w="1218524" h="0">
                  <a:moveTo>
                    <a:pt x="0" y="0"/>
                  </a:moveTo>
                  <a:lnTo>
                    <a:pt x="1218524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221338" y="2059047"/>
              <a:ext cx="1393538" cy="0"/>
            </a:xfrm>
            <a:custGeom>
              <a:avLst/>
              <a:pathLst>
                <a:path w="1393538" h="0">
                  <a:moveTo>
                    <a:pt x="0" y="0"/>
                  </a:moveTo>
                  <a:lnTo>
                    <a:pt x="1393538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416127" y="2354809"/>
              <a:ext cx="1055671" cy="0"/>
            </a:xfrm>
            <a:custGeom>
              <a:avLst/>
              <a:pathLst>
                <a:path w="1055671" h="0">
                  <a:moveTo>
                    <a:pt x="0" y="0"/>
                  </a:moveTo>
                  <a:lnTo>
                    <a:pt x="1055671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236445" y="2650571"/>
              <a:ext cx="1379287" cy="0"/>
            </a:xfrm>
            <a:custGeom>
              <a:avLst/>
              <a:pathLst>
                <a:path w="1379287" h="0">
                  <a:moveTo>
                    <a:pt x="0" y="0"/>
                  </a:moveTo>
                  <a:lnTo>
                    <a:pt x="1379287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42605" y="2946333"/>
              <a:ext cx="1755364" cy="0"/>
            </a:xfrm>
            <a:custGeom>
              <a:avLst/>
              <a:pathLst>
                <a:path w="1755364" h="0">
                  <a:moveTo>
                    <a:pt x="0" y="0"/>
                  </a:moveTo>
                  <a:lnTo>
                    <a:pt x="1755364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rc732"/>
            <p:cNvSpPr/>
            <p:nvPr/>
          </p:nvSpPr>
          <p:spPr>
            <a:xfrm>
              <a:off x="7942674" y="994304"/>
              <a:ext cx="1930901" cy="21294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8030443" y="1171761"/>
              <a:ext cx="895155" cy="0"/>
            </a:xfrm>
            <a:custGeom>
              <a:avLst/>
              <a:pathLst>
                <a:path w="895155" h="0">
                  <a:moveTo>
                    <a:pt x="0" y="0"/>
                  </a:moveTo>
                  <a:lnTo>
                    <a:pt x="895155" y="0"/>
                  </a:lnTo>
                </a:path>
              </a:pathLst>
            </a:custGeom>
            <a:ln w="59622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8188471" y="1467523"/>
              <a:ext cx="906110" cy="0"/>
            </a:xfrm>
            <a:custGeom>
              <a:avLst/>
              <a:pathLst>
                <a:path w="906110" h="0">
                  <a:moveTo>
                    <a:pt x="0" y="0"/>
                  </a:moveTo>
                  <a:lnTo>
                    <a:pt x="906110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8318891" y="1763285"/>
              <a:ext cx="906110" cy="0"/>
            </a:xfrm>
            <a:custGeom>
              <a:avLst/>
              <a:pathLst>
                <a:path w="906110" h="0">
                  <a:moveTo>
                    <a:pt x="0" y="0"/>
                  </a:moveTo>
                  <a:lnTo>
                    <a:pt x="906110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8514521" y="2059047"/>
              <a:ext cx="906110" cy="0"/>
            </a:xfrm>
            <a:custGeom>
              <a:avLst/>
              <a:pathLst>
                <a:path w="906110" h="0">
                  <a:moveTo>
                    <a:pt x="0" y="0"/>
                  </a:moveTo>
                  <a:lnTo>
                    <a:pt x="906110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8227597" y="2354809"/>
              <a:ext cx="906110" cy="0"/>
            </a:xfrm>
            <a:custGeom>
              <a:avLst/>
              <a:pathLst>
                <a:path w="906110" h="0">
                  <a:moveTo>
                    <a:pt x="0" y="0"/>
                  </a:moveTo>
                  <a:lnTo>
                    <a:pt x="906110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8488437" y="2650571"/>
              <a:ext cx="906110" cy="0"/>
            </a:xfrm>
            <a:custGeom>
              <a:avLst/>
              <a:pathLst>
                <a:path w="906110" h="0">
                  <a:moveTo>
                    <a:pt x="0" y="0"/>
                  </a:moveTo>
                  <a:lnTo>
                    <a:pt x="906110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8879697" y="2946333"/>
              <a:ext cx="906110" cy="0"/>
            </a:xfrm>
            <a:custGeom>
              <a:avLst/>
              <a:pathLst>
                <a:path w="906110" h="0">
                  <a:moveTo>
                    <a:pt x="0" y="0"/>
                  </a:moveTo>
                  <a:lnTo>
                    <a:pt x="906110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tx740"/>
            <p:cNvSpPr/>
            <p:nvPr/>
          </p:nvSpPr>
          <p:spPr>
            <a:xfrm>
              <a:off x="6000386" y="854938"/>
              <a:ext cx="121935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741" name="tx741"/>
            <p:cNvSpPr/>
            <p:nvPr/>
          </p:nvSpPr>
          <p:spPr>
            <a:xfrm>
              <a:off x="7988224" y="854938"/>
              <a:ext cx="70491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742" name="pl742"/>
            <p:cNvSpPr/>
            <p:nvPr/>
          </p:nvSpPr>
          <p:spPr>
            <a:xfrm>
              <a:off x="5954837" y="3123791"/>
              <a:ext cx="1930901" cy="0"/>
            </a:xfrm>
            <a:custGeom>
              <a:avLst/>
              <a:pathLst>
                <a:path w="1930901" h="0">
                  <a:moveTo>
                    <a:pt x="0" y="0"/>
                  </a:moveTo>
                  <a:lnTo>
                    <a:pt x="1930901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6066190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6507300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6948410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7389520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7830630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tx748"/>
            <p:cNvSpPr/>
            <p:nvPr/>
          </p:nvSpPr>
          <p:spPr>
            <a:xfrm>
              <a:off x="6000262" y="3175033"/>
              <a:ext cx="1318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6466746" y="3175033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-5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6923035" y="31750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7364145" y="31750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7779881" y="3175033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53" name="pl753"/>
            <p:cNvSpPr/>
            <p:nvPr/>
          </p:nvSpPr>
          <p:spPr>
            <a:xfrm>
              <a:off x="7942674" y="3123791"/>
              <a:ext cx="1930901" cy="0"/>
            </a:xfrm>
            <a:custGeom>
              <a:avLst/>
              <a:pathLst>
                <a:path w="1930901" h="0">
                  <a:moveTo>
                    <a:pt x="0" y="0"/>
                  </a:moveTo>
                  <a:lnTo>
                    <a:pt x="1930901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7976673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8411406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8846140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9280873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9715607" y="3123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tx759"/>
            <p:cNvSpPr/>
            <p:nvPr/>
          </p:nvSpPr>
          <p:spPr>
            <a:xfrm>
              <a:off x="7936119" y="3175033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760" name="tx760"/>
            <p:cNvSpPr/>
            <p:nvPr/>
          </p:nvSpPr>
          <p:spPr>
            <a:xfrm>
              <a:off x="8386032" y="31750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8820765" y="31750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762" name="tx762"/>
            <p:cNvSpPr/>
            <p:nvPr/>
          </p:nvSpPr>
          <p:spPr>
            <a:xfrm>
              <a:off x="9255499" y="31750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763" name="tx763"/>
            <p:cNvSpPr/>
            <p:nvPr/>
          </p:nvSpPr>
          <p:spPr>
            <a:xfrm>
              <a:off x="9690232" y="31750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764" name="pl764"/>
            <p:cNvSpPr/>
            <p:nvPr/>
          </p:nvSpPr>
          <p:spPr>
            <a:xfrm>
              <a:off x="5954837" y="994304"/>
              <a:ext cx="0" cy="2129486"/>
            </a:xfrm>
            <a:custGeom>
              <a:avLst/>
              <a:pathLst>
                <a:path w="0" h="2129486">
                  <a:moveTo>
                    <a:pt x="0" y="2129486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tx765"/>
            <p:cNvSpPr/>
            <p:nvPr/>
          </p:nvSpPr>
          <p:spPr>
            <a:xfrm>
              <a:off x="5340324" y="2913644"/>
              <a:ext cx="5632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SSP585 2080</a:t>
              </a:r>
            </a:p>
          </p:txBody>
        </p:sp>
        <p:sp>
          <p:nvSpPr>
            <p:cNvPr id="766" name="tx766"/>
            <p:cNvSpPr/>
            <p:nvPr/>
          </p:nvSpPr>
          <p:spPr>
            <a:xfrm>
              <a:off x="5340324" y="2617882"/>
              <a:ext cx="5632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SSP585 2050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5340324" y="2322120"/>
              <a:ext cx="5632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SSP585 2030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5340324" y="2026358"/>
              <a:ext cx="5632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SSP245 2080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5340324" y="1730596"/>
              <a:ext cx="5632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SSP245 2050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5340324" y="1434834"/>
              <a:ext cx="5632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SSP245 2030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5066552" y="1139072"/>
              <a:ext cx="83704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observed 2002-2024</a:t>
              </a:r>
            </a:p>
          </p:txBody>
        </p:sp>
        <p:sp>
          <p:nvSpPr>
            <p:cNvPr id="772" name="pl772"/>
            <p:cNvSpPr/>
            <p:nvPr/>
          </p:nvSpPr>
          <p:spPr>
            <a:xfrm>
              <a:off x="5926369" y="29463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369" y="26505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26369" y="23548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26369" y="20590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26369" y="176328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26369" y="14675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26369" y="11717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tx779"/>
            <p:cNvSpPr/>
            <p:nvPr/>
          </p:nvSpPr>
          <p:spPr>
            <a:xfrm>
              <a:off x="6901051" y="3287992"/>
              <a:ext cx="202631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Standardised value (1st-99th percentile)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5954837" y="644187"/>
              <a:ext cx="3983766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Tree ensembles return boundary leaf values once covariates exit the observed support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5954837" y="469567"/>
              <a:ext cx="262624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Why: the scenarios leave the training range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4973466" y="344386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783" name="rc783"/>
            <p:cNvSpPr/>
            <p:nvPr/>
          </p:nvSpPr>
          <p:spPr>
            <a:xfrm>
              <a:off x="852287" y="4211539"/>
              <a:ext cx="2969138" cy="12241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852287" y="5277099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852287" y="504719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852287" y="4817285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852287" y="4587378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852287" y="435747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852287" y="4817285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1715360" y="4211539"/>
              <a:ext cx="0" cy="1224170"/>
            </a:xfrm>
            <a:custGeom>
              <a:avLst/>
              <a:pathLst>
                <a:path w="0" h="1224170">
                  <a:moveTo>
                    <a:pt x="0" y="12241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871860" y="4211539"/>
              <a:ext cx="1669706" cy="1224170"/>
            </a:xfrm>
            <a:custGeom>
              <a:avLst/>
              <a:pathLst>
                <a:path w="1669706" h="1224170">
                  <a:moveTo>
                    <a:pt x="0" y="1224170"/>
                  </a:moveTo>
                  <a:lnTo>
                    <a:pt x="1669706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1723633" y="476466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1804006" y="480691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1731545" y="484356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1782900" y="488241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1724995" y="480949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1661129" y="475313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765498" y="457469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1727635" y="506503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1755486" y="478073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1722280" y="479188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791029" y="478660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1736235" y="469137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1758324" y="471256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1758383" y="502940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1712450" y="526095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1817469" y="481143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1737812" y="446614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1769870" y="510974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1720101" y="486529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1748381" y="501731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1730540" y="482388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1710432" y="477900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1746379" y="478079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1775234" y="503188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1706304" y="511841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1757882" y="478547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1731722" y="459030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1719100" y="480118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1677009" y="424724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1478932" y="491185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1778250" y="480092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tx823"/>
            <p:cNvSpPr/>
            <p:nvPr/>
          </p:nvSpPr>
          <p:spPr>
            <a:xfrm>
              <a:off x="987248" y="4283458"/>
              <a:ext cx="421538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rho = -0.04</a:t>
              </a:r>
            </a:p>
          </p:txBody>
        </p:sp>
        <p:sp>
          <p:nvSpPr>
            <p:cNvPr id="824" name="tx824"/>
            <p:cNvSpPr/>
            <p:nvPr/>
          </p:nvSpPr>
          <p:spPr>
            <a:xfrm>
              <a:off x="987248" y="4408341"/>
              <a:ext cx="722650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42% agree on sign</a:t>
              </a:r>
            </a:p>
          </p:txBody>
        </p:sp>
        <p:sp>
          <p:nvSpPr>
            <p:cNvPr id="825" name="rc825"/>
            <p:cNvSpPr/>
            <p:nvPr/>
          </p:nvSpPr>
          <p:spPr>
            <a:xfrm>
              <a:off x="852287" y="5492647"/>
              <a:ext cx="2969138" cy="12241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852287" y="6558206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852287" y="6328299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852287" y="609839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852287" y="5868486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852287" y="5638579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852287" y="609839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1715360" y="5492647"/>
              <a:ext cx="0" cy="1224170"/>
            </a:xfrm>
            <a:custGeom>
              <a:avLst/>
              <a:pathLst>
                <a:path w="0" h="1224170">
                  <a:moveTo>
                    <a:pt x="0" y="12241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871860" y="5492647"/>
              <a:ext cx="1669706" cy="1224170"/>
            </a:xfrm>
            <a:custGeom>
              <a:avLst/>
              <a:pathLst>
                <a:path w="1669706" h="1224170">
                  <a:moveTo>
                    <a:pt x="0" y="1224170"/>
                  </a:moveTo>
                  <a:lnTo>
                    <a:pt x="1669706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1742076" y="601293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1846071" y="610141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1761013" y="609538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1833033" y="611962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1735420" y="610665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1718854" y="591393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819815" y="623497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783828" y="622563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1833747" y="570250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751139" y="587707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801717" y="577273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746543" y="617101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1768506" y="603281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1782033" y="624802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1711068" y="644813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1839255" y="606778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1760931" y="606529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1780789" y="631732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1739979" y="589032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1753970" y="632746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1768696" y="608566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1724190" y="561440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1781237" y="625482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1814944" y="630212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1722439" y="636969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1805415" y="605226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1756363" y="607497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1751287" y="601279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1656484" y="607983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1418449" y="614070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1814072" y="609126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tx865"/>
            <p:cNvSpPr/>
            <p:nvPr/>
          </p:nvSpPr>
          <p:spPr>
            <a:xfrm>
              <a:off x="987248" y="5564565"/>
              <a:ext cx="421538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rho = -0.03</a:t>
              </a:r>
            </a:p>
          </p:txBody>
        </p:sp>
        <p:sp>
          <p:nvSpPr>
            <p:cNvPr id="866" name="tx866"/>
            <p:cNvSpPr/>
            <p:nvPr/>
          </p:nvSpPr>
          <p:spPr>
            <a:xfrm>
              <a:off x="987248" y="5689448"/>
              <a:ext cx="722650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48% agree on sign</a:t>
              </a:r>
            </a:p>
          </p:txBody>
        </p:sp>
        <p:sp>
          <p:nvSpPr>
            <p:cNvPr id="867" name="rc867"/>
            <p:cNvSpPr/>
            <p:nvPr/>
          </p:nvSpPr>
          <p:spPr>
            <a:xfrm>
              <a:off x="3878362" y="4211539"/>
              <a:ext cx="2969138" cy="12241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3878362" y="5277099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3878362" y="504719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3878362" y="4817285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3878362" y="4587378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3878362" y="435747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3878362" y="4817285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4741436" y="4211539"/>
              <a:ext cx="0" cy="1224170"/>
            </a:xfrm>
            <a:custGeom>
              <a:avLst/>
              <a:pathLst>
                <a:path w="0" h="1224170">
                  <a:moveTo>
                    <a:pt x="0" y="12241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3897935" y="4211539"/>
              <a:ext cx="1669706" cy="1224170"/>
            </a:xfrm>
            <a:custGeom>
              <a:avLst/>
              <a:pathLst>
                <a:path w="1669706" h="1224170">
                  <a:moveTo>
                    <a:pt x="0" y="1224170"/>
                  </a:moveTo>
                  <a:lnTo>
                    <a:pt x="1669706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867496" y="494662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001415" y="481506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4891107" y="500335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063185" y="486049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772551" y="482528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873797" y="479229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5035158" y="498477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4949335" y="489205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5086455" y="487568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865295" y="492869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55308" y="476037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44813" y="485389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915252" y="476160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969988" y="500813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737870" y="536012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065870" y="485188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4916892" y="493307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4837374" y="487593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839095" y="504954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772100" y="531696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876892" y="480797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784240" y="482436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932971" y="498482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5040949" y="503381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92563" y="528521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973070" y="477523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881960" y="494877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826491" y="476717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642196" y="486232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545638" y="472250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5038708" y="483439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tx907"/>
            <p:cNvSpPr/>
            <p:nvPr/>
          </p:nvSpPr>
          <p:spPr>
            <a:xfrm>
              <a:off x="4013323" y="4283458"/>
              <a:ext cx="421538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rho = -0.00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4013323" y="4408341"/>
              <a:ext cx="722650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19% agree on sign</a:t>
              </a:r>
            </a:p>
          </p:txBody>
        </p:sp>
        <p:sp>
          <p:nvSpPr>
            <p:cNvPr id="909" name="rc909"/>
            <p:cNvSpPr/>
            <p:nvPr/>
          </p:nvSpPr>
          <p:spPr>
            <a:xfrm>
              <a:off x="3878362" y="5492647"/>
              <a:ext cx="2969138" cy="12241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3878362" y="6558206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3878362" y="6328299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3878362" y="609839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3878362" y="5868486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3878362" y="5638579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3878362" y="609839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4741436" y="5492647"/>
              <a:ext cx="0" cy="1224170"/>
            </a:xfrm>
            <a:custGeom>
              <a:avLst/>
              <a:pathLst>
                <a:path w="0" h="1224170">
                  <a:moveTo>
                    <a:pt x="0" y="12241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3897935" y="5492647"/>
              <a:ext cx="1669706" cy="1224170"/>
            </a:xfrm>
            <a:custGeom>
              <a:avLst/>
              <a:pathLst>
                <a:path w="1669706" h="1224170">
                  <a:moveTo>
                    <a:pt x="0" y="1224170"/>
                  </a:moveTo>
                  <a:lnTo>
                    <a:pt x="1669706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78246" y="625789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175748" y="610171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131699" y="629124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442458" y="614650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58831" y="612727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5206551" y="624352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5412342" y="627895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5282257" y="636156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587821" y="616788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024327" y="624362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4913710" y="624428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5057279" y="615980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5191382" y="605016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5245495" y="627485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745507" y="662639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97735" y="613746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155379" y="621721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891452" y="653149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4950260" y="632594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4777355" y="659797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124116" y="609234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4950775" y="608929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5189139" y="628633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74945" y="632478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946657" y="654812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5320946" y="608519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5060411" y="622689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5003151" y="605318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4637672" y="613019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4683402" y="575124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332475" y="6124668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tx949"/>
            <p:cNvSpPr/>
            <p:nvPr/>
          </p:nvSpPr>
          <p:spPr>
            <a:xfrm>
              <a:off x="4013323" y="5564565"/>
              <a:ext cx="386242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rho = 0.11</a:t>
              </a:r>
            </a:p>
          </p:txBody>
        </p:sp>
        <p:sp>
          <p:nvSpPr>
            <p:cNvPr id="950" name="tx950"/>
            <p:cNvSpPr/>
            <p:nvPr/>
          </p:nvSpPr>
          <p:spPr>
            <a:xfrm>
              <a:off x="4013323" y="5689448"/>
              <a:ext cx="722650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10% agree on sign</a:t>
              </a:r>
            </a:p>
          </p:txBody>
        </p:sp>
        <p:sp>
          <p:nvSpPr>
            <p:cNvPr id="951" name="rc951"/>
            <p:cNvSpPr/>
            <p:nvPr/>
          </p:nvSpPr>
          <p:spPr>
            <a:xfrm>
              <a:off x="6904437" y="4211539"/>
              <a:ext cx="2969138" cy="12241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6904437" y="5277099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6904437" y="504719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6904437" y="4817285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6904437" y="4587378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6904437" y="435747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6904437" y="4817285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7767511" y="4211539"/>
              <a:ext cx="0" cy="1224170"/>
            </a:xfrm>
            <a:custGeom>
              <a:avLst/>
              <a:pathLst>
                <a:path w="0" h="1224170">
                  <a:moveTo>
                    <a:pt x="0" y="12241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6924010" y="4211539"/>
              <a:ext cx="1669706" cy="1224170"/>
            </a:xfrm>
            <a:custGeom>
              <a:avLst/>
              <a:pathLst>
                <a:path w="1669706" h="1224170">
                  <a:moveTo>
                    <a:pt x="0" y="1224170"/>
                  </a:moveTo>
                  <a:lnTo>
                    <a:pt x="1669706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8079721" y="494294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8284592" y="480772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8152528" y="501197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8605179" y="486333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7856904" y="487390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8314994" y="495501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8539156" y="500459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8350724" y="507203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8753742" y="488124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8099210" y="496440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7958492" y="497770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7978477" y="489782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8146003" y="475670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8333187" y="499416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7810413" y="534921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8408230" y="485382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8262440" y="492810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7957347" y="523421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8040036" y="502218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7781403" y="533874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8182447" y="480848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7956521" y="481694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8245366" y="499063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8436465" y="504026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7972113" y="525411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8369301" y="478539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8136180" y="495356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8078601" y="477657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7625911" y="487445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7754255" y="455849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8452243" y="485744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tx991"/>
            <p:cNvSpPr/>
            <p:nvPr/>
          </p:nvSpPr>
          <p:spPr>
            <a:xfrm>
              <a:off x="7039398" y="4283458"/>
              <a:ext cx="386242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rho = 0.11</a:t>
              </a:r>
            </a:p>
          </p:txBody>
        </p:sp>
        <p:sp>
          <p:nvSpPr>
            <p:cNvPr id="992" name="tx992"/>
            <p:cNvSpPr/>
            <p:nvPr/>
          </p:nvSpPr>
          <p:spPr>
            <a:xfrm>
              <a:off x="7039398" y="4408341"/>
              <a:ext cx="722650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16% agree on sign</a:t>
              </a:r>
            </a:p>
          </p:txBody>
        </p:sp>
        <p:sp>
          <p:nvSpPr>
            <p:cNvPr id="993" name="rc993"/>
            <p:cNvSpPr/>
            <p:nvPr/>
          </p:nvSpPr>
          <p:spPr>
            <a:xfrm>
              <a:off x="6904437" y="5492647"/>
              <a:ext cx="2969138" cy="12241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6904437" y="6558206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6904437" y="6328299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6904437" y="609839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6904437" y="5868486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6904437" y="5638579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6904437" y="6098392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  <a:lnTo>
                    <a:pt x="2969138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7767511" y="5492647"/>
              <a:ext cx="0" cy="1224170"/>
            </a:xfrm>
            <a:custGeom>
              <a:avLst/>
              <a:pathLst>
                <a:path w="0" h="1224170">
                  <a:moveTo>
                    <a:pt x="0" y="12241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6924010" y="5492647"/>
              <a:ext cx="1669706" cy="1224170"/>
            </a:xfrm>
            <a:custGeom>
              <a:avLst/>
              <a:pathLst>
                <a:path w="1669706" h="1224170">
                  <a:moveTo>
                    <a:pt x="0" y="1224170"/>
                  </a:moveTo>
                  <a:lnTo>
                    <a:pt x="1669706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9110963" y="627643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9059598" y="617120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9104711" y="629233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9670210" y="615084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8357319" y="608238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9557420" y="623186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9472047" y="628625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9363360" y="635761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9718672" y="617416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8853458" y="630782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8184009" y="629055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9028823" y="619616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9234048" y="608673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9203984" y="627110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8005082" y="663065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9472070" y="6132639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9240194" y="621294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8202038" y="654759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8569075" y="633841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8131313" y="658398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9037243" y="610990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8732114" y="6146022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9251332" y="6302161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9636059" y="6327730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8743164" y="6581777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9388307" y="6069766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8903589" y="6299103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8756519" y="609379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7797438" y="612051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8274819" y="5757184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9469625" y="6119465"/>
              <a:ext cx="39885" cy="39885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7363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tx1033"/>
            <p:cNvSpPr/>
            <p:nvPr/>
          </p:nvSpPr>
          <p:spPr>
            <a:xfrm>
              <a:off x="7039398" y="5564565"/>
              <a:ext cx="392643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rho = 0.18</a:t>
              </a:r>
            </a:p>
          </p:txBody>
        </p:sp>
        <p:sp>
          <p:nvSpPr>
            <p:cNvPr id="1034" name="tx1034"/>
            <p:cNvSpPr/>
            <p:nvPr/>
          </p:nvSpPr>
          <p:spPr>
            <a:xfrm>
              <a:off x="7039398" y="5689448"/>
              <a:ext cx="674461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6% agree on sign</a:t>
              </a:r>
            </a:p>
          </p:txBody>
        </p:sp>
        <p:sp>
          <p:nvSpPr>
            <p:cNvPr id="1035" name="tx1035"/>
            <p:cNvSpPr/>
            <p:nvPr/>
          </p:nvSpPr>
          <p:spPr>
            <a:xfrm>
              <a:off x="897836" y="4072173"/>
              <a:ext cx="25420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2030</a:t>
              </a:r>
            </a:p>
          </p:txBody>
        </p:sp>
        <p:sp>
          <p:nvSpPr>
            <p:cNvPr id="1036" name="tx1036"/>
            <p:cNvSpPr/>
            <p:nvPr/>
          </p:nvSpPr>
          <p:spPr>
            <a:xfrm>
              <a:off x="3923911" y="4072173"/>
              <a:ext cx="25420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2050</a:t>
              </a:r>
            </a:p>
          </p:txBody>
        </p:sp>
        <p:sp>
          <p:nvSpPr>
            <p:cNvPr id="1037" name="tx1037"/>
            <p:cNvSpPr/>
            <p:nvPr/>
          </p:nvSpPr>
          <p:spPr>
            <a:xfrm>
              <a:off x="6949986" y="4072173"/>
              <a:ext cx="25420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2080</a:t>
              </a:r>
            </a:p>
          </p:txBody>
        </p:sp>
        <p:sp>
          <p:nvSpPr>
            <p:cNvPr id="1038" name="tx1038"/>
            <p:cNvSpPr/>
            <p:nvPr/>
          </p:nvSpPr>
          <p:spPr>
            <a:xfrm rot="5400000">
              <a:off x="9727421" y="4460771"/>
              <a:ext cx="48920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SSP2-4.5</a:t>
              </a:r>
            </a:p>
          </p:txBody>
        </p:sp>
        <p:sp>
          <p:nvSpPr>
            <p:cNvPr id="1039" name="tx1039"/>
            <p:cNvSpPr/>
            <p:nvPr/>
          </p:nvSpPr>
          <p:spPr>
            <a:xfrm rot="5400000">
              <a:off x="9727421" y="5741878"/>
              <a:ext cx="48920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SSP5-8.5</a:t>
              </a:r>
            </a:p>
          </p:txBody>
        </p:sp>
        <p:sp>
          <p:nvSpPr>
            <p:cNvPr id="1040" name="pl1040"/>
            <p:cNvSpPr/>
            <p:nvPr/>
          </p:nvSpPr>
          <p:spPr>
            <a:xfrm>
              <a:off x="852287" y="6716817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1401779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1715360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2342523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2969685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3596848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tx1046"/>
            <p:cNvSpPr/>
            <p:nvPr/>
          </p:nvSpPr>
          <p:spPr>
            <a:xfrm>
              <a:off x="1338366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047" name="tx1047"/>
            <p:cNvSpPr/>
            <p:nvPr/>
          </p:nvSpPr>
          <p:spPr>
            <a:xfrm>
              <a:off x="1651947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048" name="tx1048"/>
            <p:cNvSpPr/>
            <p:nvPr/>
          </p:nvSpPr>
          <p:spPr>
            <a:xfrm>
              <a:off x="2279109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4.0</a:t>
              </a:r>
            </a:p>
          </p:txBody>
        </p:sp>
        <p:sp>
          <p:nvSpPr>
            <p:cNvPr id="1049" name="tx1049"/>
            <p:cNvSpPr/>
            <p:nvPr/>
          </p:nvSpPr>
          <p:spPr>
            <a:xfrm>
              <a:off x="2880897" y="6768060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16.0</a:t>
              </a:r>
            </a:p>
          </p:txBody>
        </p:sp>
        <p:sp>
          <p:nvSpPr>
            <p:cNvPr id="1050" name="tx1050"/>
            <p:cNvSpPr/>
            <p:nvPr/>
          </p:nvSpPr>
          <p:spPr>
            <a:xfrm>
              <a:off x="3508059" y="6768060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64.0</a:t>
              </a:r>
            </a:p>
          </p:txBody>
        </p:sp>
        <p:sp>
          <p:nvSpPr>
            <p:cNvPr id="1051" name="pl1051"/>
            <p:cNvSpPr/>
            <p:nvPr/>
          </p:nvSpPr>
          <p:spPr>
            <a:xfrm>
              <a:off x="3878362" y="6716817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4427854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741436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368598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995760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6622923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tx1057"/>
            <p:cNvSpPr/>
            <p:nvPr/>
          </p:nvSpPr>
          <p:spPr>
            <a:xfrm>
              <a:off x="4364441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058" name="tx1058"/>
            <p:cNvSpPr/>
            <p:nvPr/>
          </p:nvSpPr>
          <p:spPr>
            <a:xfrm>
              <a:off x="4678022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059" name="tx1059"/>
            <p:cNvSpPr/>
            <p:nvPr/>
          </p:nvSpPr>
          <p:spPr>
            <a:xfrm>
              <a:off x="5305184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4.0</a:t>
              </a:r>
            </a:p>
          </p:txBody>
        </p:sp>
        <p:sp>
          <p:nvSpPr>
            <p:cNvPr id="1060" name="tx1060"/>
            <p:cNvSpPr/>
            <p:nvPr/>
          </p:nvSpPr>
          <p:spPr>
            <a:xfrm>
              <a:off x="5906972" y="6768060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16.0</a:t>
              </a:r>
            </a:p>
          </p:txBody>
        </p:sp>
        <p:sp>
          <p:nvSpPr>
            <p:cNvPr id="1061" name="tx1061"/>
            <p:cNvSpPr/>
            <p:nvPr/>
          </p:nvSpPr>
          <p:spPr>
            <a:xfrm>
              <a:off x="6534134" y="6768060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64.0</a:t>
              </a:r>
            </a:p>
          </p:txBody>
        </p:sp>
        <p:sp>
          <p:nvSpPr>
            <p:cNvPr id="1062" name="pl1062"/>
            <p:cNvSpPr/>
            <p:nvPr/>
          </p:nvSpPr>
          <p:spPr>
            <a:xfrm>
              <a:off x="6904437" y="6716817"/>
              <a:ext cx="2969138" cy="0"/>
            </a:xfrm>
            <a:custGeom>
              <a:avLst/>
              <a:pathLst>
                <a:path w="2969138" h="0">
                  <a:moveTo>
                    <a:pt x="0" y="0"/>
                  </a:moveTo>
                  <a:lnTo>
                    <a:pt x="296913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7453930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7767511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8394673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9021835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9648998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tx1068"/>
            <p:cNvSpPr/>
            <p:nvPr/>
          </p:nvSpPr>
          <p:spPr>
            <a:xfrm>
              <a:off x="7390516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069" name="tx1069"/>
            <p:cNvSpPr/>
            <p:nvPr/>
          </p:nvSpPr>
          <p:spPr>
            <a:xfrm>
              <a:off x="7704097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070" name="tx1070"/>
            <p:cNvSpPr/>
            <p:nvPr/>
          </p:nvSpPr>
          <p:spPr>
            <a:xfrm>
              <a:off x="8331259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4.0</a:t>
              </a:r>
            </a:p>
          </p:txBody>
        </p:sp>
        <p:sp>
          <p:nvSpPr>
            <p:cNvPr id="1071" name="tx1071"/>
            <p:cNvSpPr/>
            <p:nvPr/>
          </p:nvSpPr>
          <p:spPr>
            <a:xfrm>
              <a:off x="8933047" y="6768060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16.0</a:t>
              </a:r>
            </a:p>
          </p:txBody>
        </p:sp>
        <p:sp>
          <p:nvSpPr>
            <p:cNvPr id="1072" name="tx1072"/>
            <p:cNvSpPr/>
            <p:nvPr/>
          </p:nvSpPr>
          <p:spPr>
            <a:xfrm>
              <a:off x="9560210" y="6768060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64.0</a:t>
              </a:r>
            </a:p>
          </p:txBody>
        </p:sp>
        <p:sp>
          <p:nvSpPr>
            <p:cNvPr id="1073" name="pl1073"/>
            <p:cNvSpPr/>
            <p:nvPr/>
          </p:nvSpPr>
          <p:spPr>
            <a:xfrm>
              <a:off x="852287" y="4211539"/>
              <a:ext cx="0" cy="1224170"/>
            </a:xfrm>
            <a:custGeom>
              <a:avLst/>
              <a:pathLst>
                <a:path w="0" h="1224170">
                  <a:moveTo>
                    <a:pt x="0" y="1224170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tx1074"/>
            <p:cNvSpPr/>
            <p:nvPr/>
          </p:nvSpPr>
          <p:spPr>
            <a:xfrm>
              <a:off x="623467" y="5244409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075" name="tx1075"/>
            <p:cNvSpPr/>
            <p:nvPr/>
          </p:nvSpPr>
          <p:spPr>
            <a:xfrm>
              <a:off x="623467" y="5014502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076" name="tx1076"/>
            <p:cNvSpPr/>
            <p:nvPr/>
          </p:nvSpPr>
          <p:spPr>
            <a:xfrm>
              <a:off x="623467" y="4784595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077" name="tx1077"/>
            <p:cNvSpPr/>
            <p:nvPr/>
          </p:nvSpPr>
          <p:spPr>
            <a:xfrm>
              <a:off x="623467" y="4554689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2.00</a:t>
              </a:r>
            </a:p>
          </p:txBody>
        </p:sp>
        <p:sp>
          <p:nvSpPr>
            <p:cNvPr id="1078" name="tx1078"/>
            <p:cNvSpPr/>
            <p:nvPr/>
          </p:nvSpPr>
          <p:spPr>
            <a:xfrm>
              <a:off x="623467" y="4324782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4.00</a:t>
              </a:r>
            </a:p>
          </p:txBody>
        </p:sp>
        <p:sp>
          <p:nvSpPr>
            <p:cNvPr id="1079" name="pl1079"/>
            <p:cNvSpPr/>
            <p:nvPr/>
          </p:nvSpPr>
          <p:spPr>
            <a:xfrm>
              <a:off x="823818" y="52770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823818" y="50471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823818" y="481728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823818" y="458737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823818" y="43574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852287" y="5492647"/>
              <a:ext cx="0" cy="1224170"/>
            </a:xfrm>
            <a:custGeom>
              <a:avLst/>
              <a:pathLst>
                <a:path w="0" h="1224170">
                  <a:moveTo>
                    <a:pt x="0" y="1224170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tx1085"/>
            <p:cNvSpPr/>
            <p:nvPr/>
          </p:nvSpPr>
          <p:spPr>
            <a:xfrm>
              <a:off x="623467" y="6525516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086" name="tx1086"/>
            <p:cNvSpPr/>
            <p:nvPr/>
          </p:nvSpPr>
          <p:spPr>
            <a:xfrm>
              <a:off x="623467" y="6295609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087" name="tx1087"/>
            <p:cNvSpPr/>
            <p:nvPr/>
          </p:nvSpPr>
          <p:spPr>
            <a:xfrm>
              <a:off x="623467" y="6065703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088" name="tx1088"/>
            <p:cNvSpPr/>
            <p:nvPr/>
          </p:nvSpPr>
          <p:spPr>
            <a:xfrm>
              <a:off x="623467" y="5835796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2.00</a:t>
              </a:r>
            </a:p>
          </p:txBody>
        </p:sp>
        <p:sp>
          <p:nvSpPr>
            <p:cNvPr id="1089" name="tx1089"/>
            <p:cNvSpPr/>
            <p:nvPr/>
          </p:nvSpPr>
          <p:spPr>
            <a:xfrm>
              <a:off x="623467" y="5605889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4.00</a:t>
              </a:r>
            </a:p>
          </p:txBody>
        </p:sp>
        <p:sp>
          <p:nvSpPr>
            <p:cNvPr id="1090" name="pl1090"/>
            <p:cNvSpPr/>
            <p:nvPr/>
          </p:nvSpPr>
          <p:spPr>
            <a:xfrm>
              <a:off x="823818" y="65582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823818" y="63282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823818" y="60983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823818" y="58684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823818" y="563857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tx1095"/>
            <p:cNvSpPr/>
            <p:nvPr/>
          </p:nvSpPr>
          <p:spPr>
            <a:xfrm>
              <a:off x="4527672" y="6881019"/>
              <a:ext cx="1670517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Mechanistic hazard ratio vs 2024</a:t>
              </a:r>
            </a:p>
          </p:txBody>
        </p:sp>
        <p:sp>
          <p:nvSpPr>
            <p:cNvPr id="1096" name="tx1096"/>
            <p:cNvSpPr/>
            <p:nvPr/>
          </p:nvSpPr>
          <p:spPr>
            <a:xfrm rot="-5400000">
              <a:off x="-492496" y="5423259"/>
              <a:ext cx="19437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Machine-learning hazard ratio vs 2024</a:t>
              </a:r>
            </a:p>
          </p:txBody>
        </p:sp>
        <p:sp>
          <p:nvSpPr>
            <p:cNvPr id="1097" name="tx1097"/>
            <p:cNvSpPr/>
            <p:nvPr/>
          </p:nvSpPr>
          <p:spPr>
            <a:xfrm>
              <a:off x="852287" y="3861422"/>
              <a:ext cx="4810109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The mechanistic model projects increases in 176 of 186 province-scenario cells, the ML model in only 42</a:t>
              </a:r>
            </a:p>
          </p:txBody>
        </p:sp>
        <p:sp>
          <p:nvSpPr>
            <p:cNvPr id="1098" name="tx1098"/>
            <p:cNvSpPr/>
            <p:nvPr/>
          </p:nvSpPr>
          <p:spPr>
            <a:xfrm>
              <a:off x="852287" y="3686802"/>
              <a:ext cx="206846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Outside it they diverge completely</a:t>
              </a:r>
            </a:p>
          </p:txBody>
        </p:sp>
        <p:sp>
          <p:nvSpPr>
            <p:cNvPr id="1099" name="tx1099"/>
            <p:cNvSpPr/>
            <p:nvPr/>
          </p:nvSpPr>
          <p:spPr>
            <a:xfrm>
              <a:off x="353689" y="3561621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2026-07-27T07:38:28Z</dcterms:modified>
  <cp:category/>
</cp:coreProperties>
</file>