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44958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164880"/>
            <a:ext cx="5919840" cy="69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967680"/>
            <a:ext cx="5919840" cy="239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4496040"/>
          </a:xfrm>
          <a:custGeom>
            <a:avLst/>
            <a:gdLst/>
            <a:ahLst/>
            <a:rect l="0" t="0" r="r" b="b"/>
            <a:pathLst>
              <a:path w="18274" h="12489">
                <a:moveTo>
                  <a:pt x="0" y="0"/>
                </a:moveTo>
                <a:lnTo>
                  <a:pt x="18274" y="0"/>
                </a:lnTo>
                <a:lnTo>
                  <a:pt x="18274" y="12489"/>
                </a:lnTo>
                <a:lnTo>
                  <a:pt x="0" y="124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4496040"/>
          </a:xfrm>
          <a:custGeom>
            <a:avLst/>
            <a:gdLst/>
            <a:ahLst/>
            <a:rect l="0" t="0" r="r" b="b"/>
            <a:pathLst>
              <a:path w="18274" h="12489">
                <a:moveTo>
                  <a:pt x="0" y="0"/>
                </a:moveTo>
                <a:lnTo>
                  <a:pt x="18274" y="0"/>
                </a:lnTo>
                <a:lnTo>
                  <a:pt x="18274" y="12489"/>
                </a:lnTo>
                <a:lnTo>
                  <a:pt x="0" y="124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5200" y="25200"/>
            <a:ext cx="3486600" cy="2178000"/>
          </a:xfrm>
          <a:custGeom>
            <a:avLst/>
            <a:gdLst/>
            <a:ahLst/>
            <a:rect l="0" t="0" r="r" b="b"/>
            <a:pathLst>
              <a:path w="9685" h="6050">
                <a:moveTo>
                  <a:pt x="0" y="0"/>
                </a:moveTo>
                <a:lnTo>
                  <a:pt x="9685" y="0"/>
                </a:lnTo>
                <a:lnTo>
                  <a:pt x="9685" y="6050"/>
                </a:lnTo>
                <a:lnTo>
                  <a:pt x="0" y="6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511440" y="25200"/>
            <a:ext cx="3042000" cy="2178000"/>
          </a:xfrm>
          <a:custGeom>
            <a:avLst/>
            <a:gdLst/>
            <a:ahLst/>
            <a:rect l="0" t="0" r="r" b="b"/>
            <a:pathLst>
              <a:path w="8450" h="6050">
                <a:moveTo>
                  <a:pt x="0" y="0"/>
                </a:moveTo>
                <a:lnTo>
                  <a:pt x="8450" y="0"/>
                </a:lnTo>
                <a:lnTo>
                  <a:pt x="8450" y="6050"/>
                </a:lnTo>
                <a:lnTo>
                  <a:pt x="0" y="6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25200" y="2202840"/>
            <a:ext cx="3486600" cy="2268000"/>
          </a:xfrm>
          <a:custGeom>
            <a:avLst/>
            <a:gdLst/>
            <a:ahLst/>
            <a:rect l="0" t="0" r="r" b="b"/>
            <a:pathLst>
              <a:path w="9685" h="6300">
                <a:moveTo>
                  <a:pt x="0" y="0"/>
                </a:moveTo>
                <a:lnTo>
                  <a:pt x="9685" y="0"/>
                </a:lnTo>
                <a:lnTo>
                  <a:pt x="9685" y="6300"/>
                </a:lnTo>
                <a:lnTo>
                  <a:pt x="0" y="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3511440" y="2202840"/>
            <a:ext cx="3042000" cy="2268000"/>
          </a:xfrm>
          <a:custGeom>
            <a:avLst/>
            <a:gdLst/>
            <a:ahLst/>
            <a:rect l="0" t="0" r="r" b="b"/>
            <a:pathLst>
              <a:path w="8450" h="6300">
                <a:moveTo>
                  <a:pt x="0" y="0"/>
                </a:moveTo>
                <a:lnTo>
                  <a:pt x="8450" y="0"/>
                </a:lnTo>
                <a:lnTo>
                  <a:pt x="8450" y="6300"/>
                </a:lnTo>
                <a:lnTo>
                  <a:pt x="0" y="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804600" y="227880"/>
            <a:ext cx="2643840" cy="1653120"/>
          </a:xfrm>
          <a:custGeom>
            <a:avLst/>
            <a:gdLst/>
            <a:ahLst/>
            <a:rect l="0" t="0" r="r" b="b"/>
            <a:pathLst>
              <a:path w="7344" h="4592">
                <a:moveTo>
                  <a:pt x="0" y="0"/>
                </a:moveTo>
                <a:lnTo>
                  <a:pt x="7344" y="0"/>
                </a:lnTo>
                <a:lnTo>
                  <a:pt x="7344" y="4592"/>
                </a:lnTo>
                <a:lnTo>
                  <a:pt x="0" y="45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 flipV="1">
            <a:off x="103644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 flipV="1">
            <a:off x="138672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 flipV="1">
            <a:off x="170028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 flipV="1">
            <a:off x="224244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 flipV="1">
            <a:off x="270072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 flipV="1">
            <a:off x="309780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 flipV="1">
            <a:off x="1700280" y="227880"/>
            <a:ext cx="0" cy="1652760"/>
          </a:xfrm>
          <a:prstGeom prst="line">
            <a:avLst/>
          </a:prstGeom>
          <a:ln w="6480">
            <a:solidFill>
              <a:srgbClr val="9A9A9A"/>
            </a:solidFill>
            <a:custDash>
              <a:ds d="288889" sp="288889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352600" y="338400"/>
            <a:ext cx="712800" cy="0"/>
          </a:xfrm>
          <a:prstGeom prst="line">
            <a:avLst/>
          </a:prstGeom>
          <a:ln w="108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353680" y="440640"/>
            <a:ext cx="715680" cy="0"/>
          </a:xfrm>
          <a:prstGeom prst="line">
            <a:avLst/>
          </a:prstGeom>
          <a:ln w="10800">
            <a:solidFill>
              <a:srgbClr val="628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363760" y="542880"/>
            <a:ext cx="718920" cy="0"/>
          </a:xfrm>
          <a:prstGeom prst="line">
            <a:avLst/>
          </a:prstGeom>
          <a:ln w="10800">
            <a:solidFill>
              <a:srgbClr val="9AB7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282400" y="747360"/>
            <a:ext cx="671400" cy="0"/>
          </a:xfrm>
          <a:prstGeom prst="line">
            <a:avLst/>
          </a:prstGeom>
          <a:ln w="108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306520" y="849960"/>
            <a:ext cx="685440" cy="0"/>
          </a:xfrm>
          <a:prstGeom prst="line">
            <a:avLst/>
          </a:prstGeom>
          <a:ln w="10800">
            <a:solidFill>
              <a:srgbClr val="DF8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289600" y="952200"/>
            <a:ext cx="700920" cy="0"/>
          </a:xfrm>
          <a:prstGeom prst="line">
            <a:avLst/>
          </a:prstGeom>
          <a:ln w="10800">
            <a:solidFill>
              <a:srgbClr val="EAB3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414800" y="1156680"/>
            <a:ext cx="541440" cy="0"/>
          </a:xfrm>
          <a:prstGeom prst="line">
            <a:avLst/>
          </a:prstGeom>
          <a:ln w="10800">
            <a:solidFill>
              <a:srgbClr val="9A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414800" y="1258920"/>
            <a:ext cx="543600" cy="0"/>
          </a:xfrm>
          <a:prstGeom prst="line">
            <a:avLst/>
          </a:prstGeom>
          <a:ln w="1080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414440" y="1361160"/>
            <a:ext cx="545760" cy="0"/>
          </a:xfrm>
          <a:prstGeom prst="line">
            <a:avLst/>
          </a:prstGeom>
          <a:ln w="10800">
            <a:solidFill>
              <a:srgbClr val="D2D2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886320" y="1565640"/>
            <a:ext cx="655560" cy="0"/>
          </a:xfrm>
          <a:prstGeom prst="line">
            <a:avLst/>
          </a:prstGeom>
          <a:ln w="10800">
            <a:solidFill>
              <a:srgbClr val="3B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890640" y="1668240"/>
            <a:ext cx="657360" cy="0"/>
          </a:xfrm>
          <a:prstGeom prst="line">
            <a:avLst/>
          </a:prstGeom>
          <a:ln w="10800">
            <a:solidFill>
              <a:srgbClr val="7676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886320" y="1770480"/>
            <a:ext cx="658800" cy="0"/>
          </a:xfrm>
          <a:prstGeom prst="line">
            <a:avLst/>
          </a:prstGeom>
          <a:ln w="10800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2688480" y="3178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2688480" y="31788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691000" y="42012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628FB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2691000" y="42012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628FB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702880" y="52236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9AB7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702880" y="52236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5400">
            <a:solidFill>
              <a:srgbClr val="9AB7D3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597760" y="7272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6"/>
                </a:moveTo>
                <a:cubicBezTo>
                  <a:pt x="0" y="-19"/>
                  <a:pt x="115" y="-19"/>
                  <a:pt x="115" y="56"/>
                </a:cubicBezTo>
                <a:cubicBezTo>
                  <a:pt x="115" y="133"/>
                  <a:pt x="0" y="133"/>
                  <a:pt x="0" y="56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597760" y="72720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6"/>
                </a:moveTo>
                <a:cubicBezTo>
                  <a:pt x="115" y="133"/>
                  <a:pt x="0" y="133"/>
                  <a:pt x="0" y="56"/>
                </a:cubicBezTo>
                <a:cubicBezTo>
                  <a:pt x="0" y="-19"/>
                  <a:pt x="115" y="-19"/>
                  <a:pt x="115" y="56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628720" y="829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4"/>
                  <a:pt x="0" y="134"/>
                  <a:pt x="0" y="58"/>
                </a:cubicBezTo>
                <a:close/>
              </a:path>
            </a:pathLst>
          </a:custGeom>
          <a:solidFill>
            <a:srgbClr val="DF88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628720" y="82944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8"/>
                </a:moveTo>
                <a:cubicBezTo>
                  <a:pt x="115" y="134"/>
                  <a:pt x="0" y="134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DF886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619720" y="93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EAB3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619720" y="93168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EAB3A0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665000" y="1136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665000" y="113616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666080" y="123840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5"/>
                  <a:pt x="0" y="135"/>
                  <a:pt x="0" y="58"/>
                </a:cubicBezTo>
                <a:close/>
              </a:path>
            </a:pathLst>
          </a:custGeom>
          <a:solidFill>
            <a:srgbClr val="B8B8B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666080" y="1238400"/>
            <a:ext cx="41040" cy="41760"/>
          </a:xfrm>
          <a:custGeom>
            <a:avLst/>
            <a:gdLst/>
            <a:ahLst/>
            <a:rect l="0" t="0" r="r" b="b"/>
            <a:pathLst>
              <a:path fill="none" w="114" h="116">
                <a:moveTo>
                  <a:pt x="114" y="58"/>
                </a:moveTo>
                <a:cubicBezTo>
                  <a:pt x="114" y="135"/>
                  <a:pt x="0" y="135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B8B8B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666800" y="13406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666800" y="134064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D2D2D2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193760" y="154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6"/>
                </a:moveTo>
                <a:cubicBezTo>
                  <a:pt x="0" y="-19"/>
                  <a:pt x="115" y="-19"/>
                  <a:pt x="115" y="56"/>
                </a:cubicBezTo>
                <a:cubicBezTo>
                  <a:pt x="115" y="133"/>
                  <a:pt x="0" y="133"/>
                  <a:pt x="0" y="56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193760" y="154548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6"/>
                </a:moveTo>
                <a:cubicBezTo>
                  <a:pt x="115" y="133"/>
                  <a:pt x="0" y="133"/>
                  <a:pt x="0" y="56"/>
                </a:cubicBezTo>
                <a:cubicBezTo>
                  <a:pt x="0" y="-19"/>
                  <a:pt x="115" y="-19"/>
                  <a:pt x="115" y="56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198800" y="16477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4"/>
                  <a:pt x="0" y="134"/>
                  <a:pt x="0" y="58"/>
                </a:cubicBezTo>
                <a:close/>
              </a:path>
            </a:pathLst>
          </a:custGeom>
          <a:solidFill>
            <a:srgbClr val="76767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198800" y="164772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8"/>
                </a:moveTo>
                <a:cubicBezTo>
                  <a:pt x="115" y="134"/>
                  <a:pt x="0" y="134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767676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195200" y="1749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3"/>
                  <a:pt x="0" y="133"/>
                  <a:pt x="0" y="58"/>
                </a:cubicBezTo>
                <a:close/>
              </a:path>
            </a:pathLst>
          </a:custGeom>
          <a:solidFill>
            <a:srgbClr val="A7A7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1195200" y="174996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8"/>
                </a:moveTo>
                <a:cubicBezTo>
                  <a:pt x="115" y="133"/>
                  <a:pt x="0" y="133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A7A7A7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067120" y="300600"/>
            <a:ext cx="2383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50 cells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2030400" y="402840"/>
            <a:ext cx="2775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4E81B2"/>
                </a:solidFill>
                <a:effectLst/>
                <a:uFillTx/>
                <a:latin typeface="Arial"/>
                <a:ea typeface="Arial"/>
              </a:rPr>
              <a:t>100 cells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2040480" y="505080"/>
            <a:ext cx="2775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759DC3"/>
                </a:solidFill>
                <a:effectLst/>
                <a:uFillTx/>
                <a:latin typeface="Arial"/>
                <a:ea typeface="Arial"/>
              </a:rPr>
              <a:t>200 cells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292200" y="29412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1.40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292200" y="7034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1.36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3292200" y="111240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9A9A9A"/>
                </a:solidFill>
                <a:effectLst/>
                <a:uFillTx/>
                <a:latin typeface="Arial"/>
                <a:ea typeface="Arial"/>
              </a:rPr>
              <a:t>1.00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292200" y="152172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3B3B3B"/>
                </a:solidFill>
                <a:effectLst/>
                <a:uFillTx/>
                <a:latin typeface="Arial"/>
                <a:ea typeface="Arial"/>
              </a:rPr>
              <a:t>0.85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55320" y="39636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5960" y="805680"/>
            <a:ext cx="750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317160" y="1173600"/>
            <a:ext cx="500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Annual climate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95000" y="125568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variability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804600" y="1880640"/>
            <a:ext cx="229320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 flipV="1">
            <a:off x="103644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138672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 flipV="1">
            <a:off x="170028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 flipV="1">
            <a:off x="224244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 flipV="1">
            <a:off x="270072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 flipV="1">
            <a:off x="309780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28240" y="1623960"/>
            <a:ext cx="5659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Warming ×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98604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33632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64952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19168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65032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04740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504440" y="2038320"/>
            <a:ext cx="12286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Hazard ratio per 1 SD (95% CI)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89720" y="63360"/>
            <a:ext cx="17834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Effort and warming contribute comparably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3846240" y="227880"/>
            <a:ext cx="2643840" cy="1653120"/>
          </a:xfrm>
          <a:custGeom>
            <a:avLst/>
            <a:gdLst/>
            <a:ahLst/>
            <a:rect l="0" t="0" r="r" b="b"/>
            <a:pathLst>
              <a:path w="7344" h="4592">
                <a:moveTo>
                  <a:pt x="0" y="0"/>
                </a:moveTo>
                <a:lnTo>
                  <a:pt x="7344" y="0"/>
                </a:lnTo>
                <a:lnTo>
                  <a:pt x="7344" y="4592"/>
                </a:lnTo>
                <a:lnTo>
                  <a:pt x="0" y="45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3885120" y="355320"/>
            <a:ext cx="1976040" cy="1455120"/>
          </a:xfrm>
          <a:custGeom>
            <a:avLst/>
            <a:gdLst/>
            <a:ahLst/>
            <a:rect l="0" t="0" r="r" b="b"/>
            <a:pathLst>
              <a:path w="5489" h="4042">
                <a:moveTo>
                  <a:pt x="0" y="3674"/>
                </a:moveTo>
                <a:lnTo>
                  <a:pt x="93" y="3660"/>
                </a:lnTo>
                <a:lnTo>
                  <a:pt x="186" y="3646"/>
                </a:lnTo>
                <a:lnTo>
                  <a:pt x="279" y="3632"/>
                </a:lnTo>
                <a:lnTo>
                  <a:pt x="372" y="3617"/>
                </a:lnTo>
                <a:lnTo>
                  <a:pt x="465" y="3601"/>
                </a:lnTo>
                <a:lnTo>
                  <a:pt x="558" y="3586"/>
                </a:lnTo>
                <a:lnTo>
                  <a:pt x="651" y="3569"/>
                </a:lnTo>
                <a:lnTo>
                  <a:pt x="744" y="3553"/>
                </a:lnTo>
                <a:lnTo>
                  <a:pt x="837" y="3535"/>
                </a:lnTo>
                <a:lnTo>
                  <a:pt x="930" y="3518"/>
                </a:lnTo>
                <a:lnTo>
                  <a:pt x="1023" y="3499"/>
                </a:lnTo>
                <a:lnTo>
                  <a:pt x="1116" y="3480"/>
                </a:lnTo>
                <a:lnTo>
                  <a:pt x="1209" y="3461"/>
                </a:lnTo>
                <a:lnTo>
                  <a:pt x="1302" y="3440"/>
                </a:lnTo>
                <a:lnTo>
                  <a:pt x="1395" y="3419"/>
                </a:lnTo>
                <a:lnTo>
                  <a:pt x="1488" y="3398"/>
                </a:lnTo>
                <a:lnTo>
                  <a:pt x="1581" y="3375"/>
                </a:lnTo>
                <a:lnTo>
                  <a:pt x="1674" y="3352"/>
                </a:lnTo>
                <a:lnTo>
                  <a:pt x="1767" y="3327"/>
                </a:lnTo>
                <a:lnTo>
                  <a:pt x="1860" y="3302"/>
                </a:lnTo>
                <a:lnTo>
                  <a:pt x="1953" y="3276"/>
                </a:lnTo>
                <a:lnTo>
                  <a:pt x="2046" y="3248"/>
                </a:lnTo>
                <a:lnTo>
                  <a:pt x="2139" y="3219"/>
                </a:lnTo>
                <a:lnTo>
                  <a:pt x="2232" y="3189"/>
                </a:lnTo>
                <a:lnTo>
                  <a:pt x="2325" y="3158"/>
                </a:lnTo>
                <a:lnTo>
                  <a:pt x="2418" y="3125"/>
                </a:lnTo>
                <a:lnTo>
                  <a:pt x="2511" y="3090"/>
                </a:lnTo>
                <a:lnTo>
                  <a:pt x="2604" y="3053"/>
                </a:lnTo>
                <a:lnTo>
                  <a:pt x="2697" y="3015"/>
                </a:lnTo>
                <a:lnTo>
                  <a:pt x="2790" y="2974"/>
                </a:lnTo>
                <a:lnTo>
                  <a:pt x="2883" y="2931"/>
                </a:lnTo>
                <a:lnTo>
                  <a:pt x="2977" y="2886"/>
                </a:lnTo>
                <a:lnTo>
                  <a:pt x="3070" y="2838"/>
                </a:lnTo>
                <a:lnTo>
                  <a:pt x="3163" y="2787"/>
                </a:lnTo>
                <a:lnTo>
                  <a:pt x="3256" y="2734"/>
                </a:lnTo>
                <a:lnTo>
                  <a:pt x="3349" y="2677"/>
                </a:lnTo>
                <a:lnTo>
                  <a:pt x="3442" y="2617"/>
                </a:lnTo>
                <a:lnTo>
                  <a:pt x="3535" y="2553"/>
                </a:lnTo>
                <a:lnTo>
                  <a:pt x="3628" y="2486"/>
                </a:lnTo>
                <a:lnTo>
                  <a:pt x="3721" y="2415"/>
                </a:lnTo>
                <a:lnTo>
                  <a:pt x="3814" y="2339"/>
                </a:lnTo>
                <a:lnTo>
                  <a:pt x="3907" y="2259"/>
                </a:lnTo>
                <a:lnTo>
                  <a:pt x="4001" y="2175"/>
                </a:lnTo>
                <a:lnTo>
                  <a:pt x="4094" y="2086"/>
                </a:lnTo>
                <a:lnTo>
                  <a:pt x="4187" y="1992"/>
                </a:lnTo>
                <a:lnTo>
                  <a:pt x="4280" y="1893"/>
                </a:lnTo>
                <a:lnTo>
                  <a:pt x="4373" y="1788"/>
                </a:lnTo>
                <a:lnTo>
                  <a:pt x="4466" y="1678"/>
                </a:lnTo>
                <a:lnTo>
                  <a:pt x="4559" y="1561"/>
                </a:lnTo>
                <a:lnTo>
                  <a:pt x="4652" y="1439"/>
                </a:lnTo>
                <a:lnTo>
                  <a:pt x="4745" y="1310"/>
                </a:lnTo>
                <a:lnTo>
                  <a:pt x="4838" y="1174"/>
                </a:lnTo>
                <a:lnTo>
                  <a:pt x="4931" y="1030"/>
                </a:lnTo>
                <a:lnTo>
                  <a:pt x="5024" y="879"/>
                </a:lnTo>
                <a:lnTo>
                  <a:pt x="5117" y="720"/>
                </a:lnTo>
                <a:lnTo>
                  <a:pt x="5210" y="554"/>
                </a:lnTo>
                <a:lnTo>
                  <a:pt x="5303" y="378"/>
                </a:lnTo>
                <a:lnTo>
                  <a:pt x="5396" y="194"/>
                </a:lnTo>
                <a:lnTo>
                  <a:pt x="5489" y="0"/>
                </a:lnTo>
                <a:lnTo>
                  <a:pt x="5489" y="2413"/>
                </a:lnTo>
                <a:lnTo>
                  <a:pt x="5396" y="2458"/>
                </a:lnTo>
                <a:lnTo>
                  <a:pt x="5303" y="2502"/>
                </a:lnTo>
                <a:lnTo>
                  <a:pt x="5210" y="2546"/>
                </a:lnTo>
                <a:lnTo>
                  <a:pt x="5117" y="2588"/>
                </a:lnTo>
                <a:lnTo>
                  <a:pt x="5024" y="2630"/>
                </a:lnTo>
                <a:lnTo>
                  <a:pt x="4931" y="2672"/>
                </a:lnTo>
                <a:lnTo>
                  <a:pt x="4838" y="2712"/>
                </a:lnTo>
                <a:lnTo>
                  <a:pt x="4745" y="2752"/>
                </a:lnTo>
                <a:lnTo>
                  <a:pt x="4652" y="2791"/>
                </a:lnTo>
                <a:lnTo>
                  <a:pt x="4559" y="2830"/>
                </a:lnTo>
                <a:lnTo>
                  <a:pt x="4466" y="2868"/>
                </a:lnTo>
                <a:lnTo>
                  <a:pt x="4373" y="2906"/>
                </a:lnTo>
                <a:lnTo>
                  <a:pt x="4280" y="2943"/>
                </a:lnTo>
                <a:lnTo>
                  <a:pt x="4187" y="2980"/>
                </a:lnTo>
                <a:lnTo>
                  <a:pt x="4094" y="3016"/>
                </a:lnTo>
                <a:lnTo>
                  <a:pt x="4001" y="3052"/>
                </a:lnTo>
                <a:lnTo>
                  <a:pt x="3907" y="3087"/>
                </a:lnTo>
                <a:lnTo>
                  <a:pt x="3814" y="3122"/>
                </a:lnTo>
                <a:lnTo>
                  <a:pt x="3721" y="3157"/>
                </a:lnTo>
                <a:lnTo>
                  <a:pt x="3628" y="3191"/>
                </a:lnTo>
                <a:lnTo>
                  <a:pt x="3535" y="3225"/>
                </a:lnTo>
                <a:lnTo>
                  <a:pt x="3442" y="3258"/>
                </a:lnTo>
                <a:lnTo>
                  <a:pt x="3349" y="3291"/>
                </a:lnTo>
                <a:lnTo>
                  <a:pt x="3256" y="3323"/>
                </a:lnTo>
                <a:lnTo>
                  <a:pt x="3163" y="3355"/>
                </a:lnTo>
                <a:lnTo>
                  <a:pt x="3070" y="3387"/>
                </a:lnTo>
                <a:lnTo>
                  <a:pt x="2977" y="3418"/>
                </a:lnTo>
                <a:lnTo>
                  <a:pt x="2883" y="3449"/>
                </a:lnTo>
                <a:lnTo>
                  <a:pt x="2790" y="3479"/>
                </a:lnTo>
                <a:lnTo>
                  <a:pt x="2697" y="3508"/>
                </a:lnTo>
                <a:lnTo>
                  <a:pt x="2604" y="3536"/>
                </a:lnTo>
                <a:lnTo>
                  <a:pt x="2511" y="3564"/>
                </a:lnTo>
                <a:lnTo>
                  <a:pt x="2418" y="3592"/>
                </a:lnTo>
                <a:lnTo>
                  <a:pt x="2325" y="3618"/>
                </a:lnTo>
                <a:lnTo>
                  <a:pt x="2232" y="3644"/>
                </a:lnTo>
                <a:lnTo>
                  <a:pt x="2139" y="3669"/>
                </a:lnTo>
                <a:lnTo>
                  <a:pt x="2046" y="3693"/>
                </a:lnTo>
                <a:lnTo>
                  <a:pt x="1953" y="3716"/>
                </a:lnTo>
                <a:lnTo>
                  <a:pt x="1860" y="3739"/>
                </a:lnTo>
                <a:lnTo>
                  <a:pt x="1767" y="3761"/>
                </a:lnTo>
                <a:lnTo>
                  <a:pt x="1674" y="3782"/>
                </a:lnTo>
                <a:lnTo>
                  <a:pt x="1581" y="3802"/>
                </a:lnTo>
                <a:lnTo>
                  <a:pt x="1488" y="3821"/>
                </a:lnTo>
                <a:lnTo>
                  <a:pt x="1395" y="3840"/>
                </a:lnTo>
                <a:lnTo>
                  <a:pt x="1302" y="3858"/>
                </a:lnTo>
                <a:lnTo>
                  <a:pt x="1209" y="3875"/>
                </a:lnTo>
                <a:lnTo>
                  <a:pt x="1116" y="3892"/>
                </a:lnTo>
                <a:lnTo>
                  <a:pt x="1023" y="3908"/>
                </a:lnTo>
                <a:lnTo>
                  <a:pt x="930" y="3923"/>
                </a:lnTo>
                <a:lnTo>
                  <a:pt x="837" y="3937"/>
                </a:lnTo>
                <a:lnTo>
                  <a:pt x="744" y="3951"/>
                </a:lnTo>
                <a:lnTo>
                  <a:pt x="651" y="3964"/>
                </a:lnTo>
                <a:lnTo>
                  <a:pt x="558" y="3977"/>
                </a:lnTo>
                <a:lnTo>
                  <a:pt x="465" y="3989"/>
                </a:lnTo>
                <a:lnTo>
                  <a:pt x="372" y="4001"/>
                </a:lnTo>
                <a:lnTo>
                  <a:pt x="279" y="4012"/>
                </a:lnTo>
                <a:lnTo>
                  <a:pt x="186" y="4023"/>
                </a:lnTo>
                <a:lnTo>
                  <a:pt x="93" y="4033"/>
                </a:lnTo>
                <a:lnTo>
                  <a:pt x="0" y="4042"/>
                </a:lnTo>
                <a:lnTo>
                  <a:pt x="0" y="3674"/>
                </a:lnTo>
                <a:close/>
              </a:path>
            </a:pathLst>
          </a:custGeom>
          <a:solidFill>
            <a:srgbClr val="8FAFC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3885120" y="528480"/>
            <a:ext cx="1976040" cy="1144800"/>
          </a:xfrm>
          <a:custGeom>
            <a:avLst/>
            <a:gdLst/>
            <a:ahLst/>
            <a:rect l="0" t="0" r="r" b="b"/>
            <a:pathLst>
              <a:path w="5489" h="3180">
                <a:moveTo>
                  <a:pt x="0" y="2664"/>
                </a:moveTo>
                <a:lnTo>
                  <a:pt x="93" y="2647"/>
                </a:lnTo>
                <a:lnTo>
                  <a:pt x="186" y="2630"/>
                </a:lnTo>
                <a:lnTo>
                  <a:pt x="279" y="2612"/>
                </a:lnTo>
                <a:lnTo>
                  <a:pt x="372" y="2594"/>
                </a:lnTo>
                <a:lnTo>
                  <a:pt x="465" y="2576"/>
                </a:lnTo>
                <a:lnTo>
                  <a:pt x="558" y="2557"/>
                </a:lnTo>
                <a:lnTo>
                  <a:pt x="651" y="2538"/>
                </a:lnTo>
                <a:lnTo>
                  <a:pt x="744" y="2518"/>
                </a:lnTo>
                <a:lnTo>
                  <a:pt x="837" y="2498"/>
                </a:lnTo>
                <a:lnTo>
                  <a:pt x="930" y="2478"/>
                </a:lnTo>
                <a:lnTo>
                  <a:pt x="1023" y="2457"/>
                </a:lnTo>
                <a:lnTo>
                  <a:pt x="1116" y="2436"/>
                </a:lnTo>
                <a:lnTo>
                  <a:pt x="1209" y="2413"/>
                </a:lnTo>
                <a:lnTo>
                  <a:pt x="1302" y="2391"/>
                </a:lnTo>
                <a:lnTo>
                  <a:pt x="1395" y="2368"/>
                </a:lnTo>
                <a:lnTo>
                  <a:pt x="1488" y="2344"/>
                </a:lnTo>
                <a:lnTo>
                  <a:pt x="1581" y="2319"/>
                </a:lnTo>
                <a:lnTo>
                  <a:pt x="1674" y="2294"/>
                </a:lnTo>
                <a:lnTo>
                  <a:pt x="1767" y="2268"/>
                </a:lnTo>
                <a:lnTo>
                  <a:pt x="1860" y="2241"/>
                </a:lnTo>
                <a:lnTo>
                  <a:pt x="1953" y="2214"/>
                </a:lnTo>
                <a:lnTo>
                  <a:pt x="2046" y="2186"/>
                </a:lnTo>
                <a:lnTo>
                  <a:pt x="2139" y="2156"/>
                </a:lnTo>
                <a:lnTo>
                  <a:pt x="2232" y="2126"/>
                </a:lnTo>
                <a:lnTo>
                  <a:pt x="2325" y="2095"/>
                </a:lnTo>
                <a:lnTo>
                  <a:pt x="2418" y="2062"/>
                </a:lnTo>
                <a:lnTo>
                  <a:pt x="2511" y="2029"/>
                </a:lnTo>
                <a:lnTo>
                  <a:pt x="2604" y="1994"/>
                </a:lnTo>
                <a:lnTo>
                  <a:pt x="2697" y="1958"/>
                </a:lnTo>
                <a:lnTo>
                  <a:pt x="2790" y="1921"/>
                </a:lnTo>
                <a:lnTo>
                  <a:pt x="2883" y="1882"/>
                </a:lnTo>
                <a:lnTo>
                  <a:pt x="2977" y="1842"/>
                </a:lnTo>
                <a:lnTo>
                  <a:pt x="3070" y="1800"/>
                </a:lnTo>
                <a:lnTo>
                  <a:pt x="3163" y="1757"/>
                </a:lnTo>
                <a:lnTo>
                  <a:pt x="3256" y="1712"/>
                </a:lnTo>
                <a:lnTo>
                  <a:pt x="3349" y="1666"/>
                </a:lnTo>
                <a:lnTo>
                  <a:pt x="3442" y="1618"/>
                </a:lnTo>
                <a:lnTo>
                  <a:pt x="3535" y="1568"/>
                </a:lnTo>
                <a:lnTo>
                  <a:pt x="3628" y="1516"/>
                </a:lnTo>
                <a:lnTo>
                  <a:pt x="3721" y="1462"/>
                </a:lnTo>
                <a:lnTo>
                  <a:pt x="3814" y="1406"/>
                </a:lnTo>
                <a:lnTo>
                  <a:pt x="3907" y="1349"/>
                </a:lnTo>
                <a:lnTo>
                  <a:pt x="4001" y="1289"/>
                </a:lnTo>
                <a:lnTo>
                  <a:pt x="4094" y="1227"/>
                </a:lnTo>
                <a:lnTo>
                  <a:pt x="4187" y="1163"/>
                </a:lnTo>
                <a:lnTo>
                  <a:pt x="4280" y="1096"/>
                </a:lnTo>
                <a:lnTo>
                  <a:pt x="4373" y="1028"/>
                </a:lnTo>
                <a:lnTo>
                  <a:pt x="4466" y="957"/>
                </a:lnTo>
                <a:lnTo>
                  <a:pt x="4559" y="883"/>
                </a:lnTo>
                <a:lnTo>
                  <a:pt x="4652" y="807"/>
                </a:lnTo>
                <a:lnTo>
                  <a:pt x="4745" y="729"/>
                </a:lnTo>
                <a:lnTo>
                  <a:pt x="4838" y="648"/>
                </a:lnTo>
                <a:lnTo>
                  <a:pt x="4931" y="564"/>
                </a:lnTo>
                <a:lnTo>
                  <a:pt x="5024" y="477"/>
                </a:lnTo>
                <a:lnTo>
                  <a:pt x="5117" y="388"/>
                </a:lnTo>
                <a:lnTo>
                  <a:pt x="5210" y="296"/>
                </a:lnTo>
                <a:lnTo>
                  <a:pt x="5303" y="201"/>
                </a:lnTo>
                <a:lnTo>
                  <a:pt x="5396" y="102"/>
                </a:lnTo>
                <a:lnTo>
                  <a:pt x="5489" y="0"/>
                </a:lnTo>
                <a:lnTo>
                  <a:pt x="5489" y="1597"/>
                </a:lnTo>
                <a:lnTo>
                  <a:pt x="5396" y="1631"/>
                </a:lnTo>
                <a:lnTo>
                  <a:pt x="5303" y="1665"/>
                </a:lnTo>
                <a:lnTo>
                  <a:pt x="5210" y="1699"/>
                </a:lnTo>
                <a:lnTo>
                  <a:pt x="5117" y="1732"/>
                </a:lnTo>
                <a:lnTo>
                  <a:pt x="5024" y="1765"/>
                </a:lnTo>
                <a:lnTo>
                  <a:pt x="4931" y="1797"/>
                </a:lnTo>
                <a:lnTo>
                  <a:pt x="4838" y="1830"/>
                </a:lnTo>
                <a:lnTo>
                  <a:pt x="4745" y="1862"/>
                </a:lnTo>
                <a:lnTo>
                  <a:pt x="4652" y="1894"/>
                </a:lnTo>
                <a:lnTo>
                  <a:pt x="4559" y="1926"/>
                </a:lnTo>
                <a:lnTo>
                  <a:pt x="4466" y="1957"/>
                </a:lnTo>
                <a:lnTo>
                  <a:pt x="4373" y="1988"/>
                </a:lnTo>
                <a:lnTo>
                  <a:pt x="4280" y="2020"/>
                </a:lnTo>
                <a:lnTo>
                  <a:pt x="4187" y="2051"/>
                </a:lnTo>
                <a:lnTo>
                  <a:pt x="4094" y="2082"/>
                </a:lnTo>
                <a:lnTo>
                  <a:pt x="3907" y="2143"/>
                </a:lnTo>
                <a:lnTo>
                  <a:pt x="3721" y="2203"/>
                </a:lnTo>
                <a:lnTo>
                  <a:pt x="3535" y="2263"/>
                </a:lnTo>
                <a:lnTo>
                  <a:pt x="3442" y="2293"/>
                </a:lnTo>
                <a:lnTo>
                  <a:pt x="3349" y="2323"/>
                </a:lnTo>
                <a:lnTo>
                  <a:pt x="3163" y="2382"/>
                </a:lnTo>
                <a:lnTo>
                  <a:pt x="3070" y="2411"/>
                </a:lnTo>
                <a:lnTo>
                  <a:pt x="2883" y="2469"/>
                </a:lnTo>
                <a:lnTo>
                  <a:pt x="2790" y="2498"/>
                </a:lnTo>
                <a:lnTo>
                  <a:pt x="2697" y="2526"/>
                </a:lnTo>
                <a:lnTo>
                  <a:pt x="2604" y="2554"/>
                </a:lnTo>
                <a:lnTo>
                  <a:pt x="2511" y="2582"/>
                </a:lnTo>
                <a:lnTo>
                  <a:pt x="2418" y="2609"/>
                </a:lnTo>
                <a:lnTo>
                  <a:pt x="2325" y="2637"/>
                </a:lnTo>
                <a:lnTo>
                  <a:pt x="2232" y="2663"/>
                </a:lnTo>
                <a:lnTo>
                  <a:pt x="2139" y="2690"/>
                </a:lnTo>
                <a:lnTo>
                  <a:pt x="2046" y="2716"/>
                </a:lnTo>
                <a:lnTo>
                  <a:pt x="1953" y="2742"/>
                </a:lnTo>
                <a:lnTo>
                  <a:pt x="1860" y="2767"/>
                </a:lnTo>
                <a:lnTo>
                  <a:pt x="1767" y="2792"/>
                </a:lnTo>
                <a:lnTo>
                  <a:pt x="1674" y="2817"/>
                </a:lnTo>
                <a:lnTo>
                  <a:pt x="1581" y="2841"/>
                </a:lnTo>
                <a:lnTo>
                  <a:pt x="1488" y="2864"/>
                </a:lnTo>
                <a:lnTo>
                  <a:pt x="1395" y="2888"/>
                </a:lnTo>
                <a:lnTo>
                  <a:pt x="1302" y="2910"/>
                </a:lnTo>
                <a:lnTo>
                  <a:pt x="1209" y="2933"/>
                </a:lnTo>
                <a:lnTo>
                  <a:pt x="1116" y="2954"/>
                </a:lnTo>
                <a:lnTo>
                  <a:pt x="1023" y="2976"/>
                </a:lnTo>
                <a:lnTo>
                  <a:pt x="930" y="2997"/>
                </a:lnTo>
                <a:lnTo>
                  <a:pt x="837" y="3017"/>
                </a:lnTo>
                <a:lnTo>
                  <a:pt x="744" y="3037"/>
                </a:lnTo>
                <a:lnTo>
                  <a:pt x="651" y="3056"/>
                </a:lnTo>
                <a:lnTo>
                  <a:pt x="558" y="3075"/>
                </a:lnTo>
                <a:lnTo>
                  <a:pt x="465" y="3094"/>
                </a:lnTo>
                <a:lnTo>
                  <a:pt x="372" y="3112"/>
                </a:lnTo>
                <a:lnTo>
                  <a:pt x="279" y="3130"/>
                </a:lnTo>
                <a:lnTo>
                  <a:pt x="186" y="3147"/>
                </a:lnTo>
                <a:lnTo>
                  <a:pt x="93" y="3164"/>
                </a:lnTo>
                <a:lnTo>
                  <a:pt x="0" y="3180"/>
                </a:lnTo>
                <a:lnTo>
                  <a:pt x="0" y="2664"/>
                </a:lnTo>
                <a:close/>
              </a:path>
            </a:pathLst>
          </a:custGeom>
          <a:solidFill>
            <a:srgbClr val="1F5F9E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885120" y="322560"/>
            <a:ext cx="1976040" cy="1084680"/>
          </a:xfrm>
          <a:custGeom>
            <a:avLst/>
            <a:gdLst/>
            <a:ahLst/>
            <a:rect l="0" t="0" r="r" b="b"/>
            <a:pathLst>
              <a:path w="5489" h="3013">
                <a:moveTo>
                  <a:pt x="0" y="1078"/>
                </a:moveTo>
                <a:lnTo>
                  <a:pt x="93" y="1091"/>
                </a:lnTo>
                <a:lnTo>
                  <a:pt x="186" y="1105"/>
                </a:lnTo>
                <a:lnTo>
                  <a:pt x="279" y="1117"/>
                </a:lnTo>
                <a:lnTo>
                  <a:pt x="372" y="1130"/>
                </a:lnTo>
                <a:lnTo>
                  <a:pt x="465" y="1141"/>
                </a:lnTo>
                <a:lnTo>
                  <a:pt x="558" y="1153"/>
                </a:lnTo>
                <a:lnTo>
                  <a:pt x="651" y="1164"/>
                </a:lnTo>
                <a:lnTo>
                  <a:pt x="744" y="1174"/>
                </a:lnTo>
                <a:lnTo>
                  <a:pt x="837" y="1184"/>
                </a:lnTo>
                <a:lnTo>
                  <a:pt x="930" y="1194"/>
                </a:lnTo>
                <a:lnTo>
                  <a:pt x="1023" y="1203"/>
                </a:lnTo>
                <a:lnTo>
                  <a:pt x="1116" y="1211"/>
                </a:lnTo>
                <a:lnTo>
                  <a:pt x="1209" y="1219"/>
                </a:lnTo>
                <a:lnTo>
                  <a:pt x="1302" y="1226"/>
                </a:lnTo>
                <a:lnTo>
                  <a:pt x="1395" y="1232"/>
                </a:lnTo>
                <a:lnTo>
                  <a:pt x="1488" y="1237"/>
                </a:lnTo>
                <a:lnTo>
                  <a:pt x="1581" y="1242"/>
                </a:lnTo>
                <a:lnTo>
                  <a:pt x="1674" y="1245"/>
                </a:lnTo>
                <a:lnTo>
                  <a:pt x="1767" y="1248"/>
                </a:lnTo>
                <a:lnTo>
                  <a:pt x="1860" y="1250"/>
                </a:lnTo>
                <a:lnTo>
                  <a:pt x="1953" y="1251"/>
                </a:lnTo>
                <a:lnTo>
                  <a:pt x="2046" y="1250"/>
                </a:lnTo>
                <a:lnTo>
                  <a:pt x="2139" y="1248"/>
                </a:lnTo>
                <a:lnTo>
                  <a:pt x="2232" y="1245"/>
                </a:lnTo>
                <a:lnTo>
                  <a:pt x="2325" y="1240"/>
                </a:lnTo>
                <a:lnTo>
                  <a:pt x="2418" y="1234"/>
                </a:lnTo>
                <a:lnTo>
                  <a:pt x="2511" y="1227"/>
                </a:lnTo>
                <a:lnTo>
                  <a:pt x="2604" y="1217"/>
                </a:lnTo>
                <a:lnTo>
                  <a:pt x="2697" y="1206"/>
                </a:lnTo>
                <a:lnTo>
                  <a:pt x="2790" y="1193"/>
                </a:lnTo>
                <a:lnTo>
                  <a:pt x="2883" y="1179"/>
                </a:lnTo>
                <a:lnTo>
                  <a:pt x="2977" y="1162"/>
                </a:lnTo>
                <a:lnTo>
                  <a:pt x="3070" y="1144"/>
                </a:lnTo>
                <a:lnTo>
                  <a:pt x="3163" y="1123"/>
                </a:lnTo>
                <a:lnTo>
                  <a:pt x="3256" y="1101"/>
                </a:lnTo>
                <a:lnTo>
                  <a:pt x="3349" y="1076"/>
                </a:lnTo>
                <a:lnTo>
                  <a:pt x="3442" y="1050"/>
                </a:lnTo>
                <a:lnTo>
                  <a:pt x="3535" y="1021"/>
                </a:lnTo>
                <a:lnTo>
                  <a:pt x="3628" y="991"/>
                </a:lnTo>
                <a:lnTo>
                  <a:pt x="3721" y="958"/>
                </a:lnTo>
                <a:lnTo>
                  <a:pt x="3814" y="924"/>
                </a:lnTo>
                <a:lnTo>
                  <a:pt x="3907" y="887"/>
                </a:lnTo>
                <a:lnTo>
                  <a:pt x="4001" y="849"/>
                </a:lnTo>
                <a:lnTo>
                  <a:pt x="4094" y="809"/>
                </a:lnTo>
                <a:lnTo>
                  <a:pt x="4187" y="767"/>
                </a:lnTo>
                <a:lnTo>
                  <a:pt x="4280" y="723"/>
                </a:lnTo>
                <a:lnTo>
                  <a:pt x="4373" y="677"/>
                </a:lnTo>
                <a:lnTo>
                  <a:pt x="4466" y="630"/>
                </a:lnTo>
                <a:lnTo>
                  <a:pt x="4559" y="580"/>
                </a:lnTo>
                <a:lnTo>
                  <a:pt x="4652" y="529"/>
                </a:lnTo>
                <a:lnTo>
                  <a:pt x="4745" y="477"/>
                </a:lnTo>
                <a:lnTo>
                  <a:pt x="4838" y="423"/>
                </a:lnTo>
                <a:lnTo>
                  <a:pt x="4931" y="367"/>
                </a:lnTo>
                <a:lnTo>
                  <a:pt x="5024" y="310"/>
                </a:lnTo>
                <a:lnTo>
                  <a:pt x="5117" y="251"/>
                </a:lnTo>
                <a:lnTo>
                  <a:pt x="5210" y="191"/>
                </a:lnTo>
                <a:lnTo>
                  <a:pt x="5303" y="129"/>
                </a:lnTo>
                <a:lnTo>
                  <a:pt x="5396" y="66"/>
                </a:lnTo>
                <a:lnTo>
                  <a:pt x="5489" y="0"/>
                </a:lnTo>
                <a:lnTo>
                  <a:pt x="5489" y="2355"/>
                </a:lnTo>
                <a:lnTo>
                  <a:pt x="5396" y="2348"/>
                </a:lnTo>
                <a:lnTo>
                  <a:pt x="5303" y="2342"/>
                </a:lnTo>
                <a:lnTo>
                  <a:pt x="5210" y="2335"/>
                </a:lnTo>
                <a:lnTo>
                  <a:pt x="5117" y="2329"/>
                </a:lnTo>
                <a:lnTo>
                  <a:pt x="5024" y="2324"/>
                </a:lnTo>
                <a:lnTo>
                  <a:pt x="4931" y="2318"/>
                </a:lnTo>
                <a:lnTo>
                  <a:pt x="4838" y="2313"/>
                </a:lnTo>
                <a:lnTo>
                  <a:pt x="4745" y="2309"/>
                </a:lnTo>
                <a:lnTo>
                  <a:pt x="4652" y="2305"/>
                </a:lnTo>
                <a:lnTo>
                  <a:pt x="4559" y="2301"/>
                </a:lnTo>
                <a:lnTo>
                  <a:pt x="4466" y="2298"/>
                </a:lnTo>
                <a:lnTo>
                  <a:pt x="4373" y="2296"/>
                </a:lnTo>
                <a:lnTo>
                  <a:pt x="4280" y="2294"/>
                </a:lnTo>
                <a:lnTo>
                  <a:pt x="4187" y="2293"/>
                </a:lnTo>
                <a:lnTo>
                  <a:pt x="4094" y="2293"/>
                </a:lnTo>
                <a:lnTo>
                  <a:pt x="4001" y="2294"/>
                </a:lnTo>
                <a:lnTo>
                  <a:pt x="3907" y="2295"/>
                </a:lnTo>
                <a:lnTo>
                  <a:pt x="3814" y="2297"/>
                </a:lnTo>
                <a:lnTo>
                  <a:pt x="3721" y="2300"/>
                </a:lnTo>
                <a:lnTo>
                  <a:pt x="3628" y="2304"/>
                </a:lnTo>
                <a:lnTo>
                  <a:pt x="3535" y="2309"/>
                </a:lnTo>
                <a:lnTo>
                  <a:pt x="3442" y="2316"/>
                </a:lnTo>
                <a:lnTo>
                  <a:pt x="3349" y="2323"/>
                </a:lnTo>
                <a:lnTo>
                  <a:pt x="3256" y="2331"/>
                </a:lnTo>
                <a:lnTo>
                  <a:pt x="3163" y="2341"/>
                </a:lnTo>
                <a:lnTo>
                  <a:pt x="3070" y="2351"/>
                </a:lnTo>
                <a:lnTo>
                  <a:pt x="2977" y="2363"/>
                </a:lnTo>
                <a:lnTo>
                  <a:pt x="2883" y="2375"/>
                </a:lnTo>
                <a:lnTo>
                  <a:pt x="2790" y="2389"/>
                </a:lnTo>
                <a:lnTo>
                  <a:pt x="2697" y="2404"/>
                </a:lnTo>
                <a:lnTo>
                  <a:pt x="2604" y="2420"/>
                </a:lnTo>
                <a:lnTo>
                  <a:pt x="2511" y="2436"/>
                </a:lnTo>
                <a:lnTo>
                  <a:pt x="2418" y="2454"/>
                </a:lnTo>
                <a:lnTo>
                  <a:pt x="2325" y="2472"/>
                </a:lnTo>
                <a:lnTo>
                  <a:pt x="2232" y="2491"/>
                </a:lnTo>
                <a:lnTo>
                  <a:pt x="2139" y="2510"/>
                </a:lnTo>
                <a:lnTo>
                  <a:pt x="2046" y="2531"/>
                </a:lnTo>
                <a:lnTo>
                  <a:pt x="1953" y="2551"/>
                </a:lnTo>
                <a:lnTo>
                  <a:pt x="1860" y="2572"/>
                </a:lnTo>
                <a:lnTo>
                  <a:pt x="1767" y="2594"/>
                </a:lnTo>
                <a:lnTo>
                  <a:pt x="1674" y="2615"/>
                </a:lnTo>
                <a:lnTo>
                  <a:pt x="1581" y="2637"/>
                </a:lnTo>
                <a:lnTo>
                  <a:pt x="1488" y="2660"/>
                </a:lnTo>
                <a:lnTo>
                  <a:pt x="1395" y="2682"/>
                </a:lnTo>
                <a:lnTo>
                  <a:pt x="1302" y="2704"/>
                </a:lnTo>
                <a:lnTo>
                  <a:pt x="1116" y="2750"/>
                </a:lnTo>
                <a:lnTo>
                  <a:pt x="1023" y="2772"/>
                </a:lnTo>
                <a:lnTo>
                  <a:pt x="930" y="2795"/>
                </a:lnTo>
                <a:lnTo>
                  <a:pt x="837" y="2817"/>
                </a:lnTo>
                <a:lnTo>
                  <a:pt x="651" y="2862"/>
                </a:lnTo>
                <a:lnTo>
                  <a:pt x="558" y="2884"/>
                </a:lnTo>
                <a:lnTo>
                  <a:pt x="372" y="2928"/>
                </a:lnTo>
                <a:lnTo>
                  <a:pt x="279" y="2949"/>
                </a:lnTo>
                <a:lnTo>
                  <a:pt x="186" y="2971"/>
                </a:lnTo>
                <a:lnTo>
                  <a:pt x="93" y="2992"/>
                </a:lnTo>
                <a:lnTo>
                  <a:pt x="0" y="3013"/>
                </a:lnTo>
                <a:lnTo>
                  <a:pt x="0" y="1078"/>
                </a:lnTo>
                <a:close/>
              </a:path>
            </a:pathLst>
          </a:custGeom>
          <a:solidFill>
            <a:srgbClr val="0E4373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3885120" y="879120"/>
            <a:ext cx="1976040" cy="882360"/>
          </a:xfrm>
          <a:custGeom>
            <a:avLst/>
            <a:gdLst/>
            <a:ahLst/>
            <a:rect l="0" t="0" r="r" b="b"/>
            <a:pathLst>
              <a:path fill="none" w="5489" h="2451">
                <a:moveTo>
                  <a:pt x="0" y="2451"/>
                </a:moveTo>
                <a:lnTo>
                  <a:pt x="93" y="2438"/>
                </a:lnTo>
                <a:lnTo>
                  <a:pt x="186" y="2426"/>
                </a:lnTo>
                <a:lnTo>
                  <a:pt x="279" y="2413"/>
                </a:lnTo>
                <a:lnTo>
                  <a:pt x="372" y="2399"/>
                </a:lnTo>
                <a:lnTo>
                  <a:pt x="465" y="2385"/>
                </a:lnTo>
                <a:lnTo>
                  <a:pt x="558" y="2370"/>
                </a:lnTo>
                <a:lnTo>
                  <a:pt x="651" y="2355"/>
                </a:lnTo>
                <a:lnTo>
                  <a:pt x="744" y="2339"/>
                </a:lnTo>
                <a:lnTo>
                  <a:pt x="837" y="2323"/>
                </a:lnTo>
                <a:lnTo>
                  <a:pt x="930" y="2306"/>
                </a:lnTo>
                <a:lnTo>
                  <a:pt x="1023" y="2289"/>
                </a:lnTo>
                <a:lnTo>
                  <a:pt x="1116" y="2271"/>
                </a:lnTo>
                <a:lnTo>
                  <a:pt x="1209" y="2252"/>
                </a:lnTo>
                <a:lnTo>
                  <a:pt x="1302" y="2232"/>
                </a:lnTo>
                <a:lnTo>
                  <a:pt x="1395" y="2212"/>
                </a:lnTo>
                <a:lnTo>
                  <a:pt x="1488" y="2191"/>
                </a:lnTo>
                <a:lnTo>
                  <a:pt x="1581" y="2170"/>
                </a:lnTo>
                <a:lnTo>
                  <a:pt x="1674" y="2147"/>
                </a:lnTo>
                <a:lnTo>
                  <a:pt x="1767" y="2124"/>
                </a:lnTo>
                <a:lnTo>
                  <a:pt x="1860" y="2100"/>
                </a:lnTo>
                <a:lnTo>
                  <a:pt x="1953" y="2074"/>
                </a:lnTo>
                <a:lnTo>
                  <a:pt x="2046" y="2049"/>
                </a:lnTo>
                <a:lnTo>
                  <a:pt x="2139" y="2022"/>
                </a:lnTo>
                <a:lnTo>
                  <a:pt x="2232" y="1994"/>
                </a:lnTo>
                <a:lnTo>
                  <a:pt x="2325" y="1965"/>
                </a:lnTo>
                <a:lnTo>
                  <a:pt x="2418" y="1935"/>
                </a:lnTo>
                <a:lnTo>
                  <a:pt x="2511" y="1904"/>
                </a:lnTo>
                <a:lnTo>
                  <a:pt x="2604" y="1871"/>
                </a:lnTo>
                <a:lnTo>
                  <a:pt x="2697" y="1838"/>
                </a:lnTo>
                <a:lnTo>
                  <a:pt x="2790" y="1803"/>
                </a:lnTo>
                <a:lnTo>
                  <a:pt x="2883" y="1767"/>
                </a:lnTo>
                <a:lnTo>
                  <a:pt x="2977" y="1730"/>
                </a:lnTo>
                <a:lnTo>
                  <a:pt x="3070" y="1692"/>
                </a:lnTo>
                <a:lnTo>
                  <a:pt x="3163" y="1652"/>
                </a:lnTo>
                <a:lnTo>
                  <a:pt x="3256" y="1610"/>
                </a:lnTo>
                <a:lnTo>
                  <a:pt x="3349" y="1567"/>
                </a:lnTo>
                <a:lnTo>
                  <a:pt x="3442" y="1522"/>
                </a:lnTo>
                <a:lnTo>
                  <a:pt x="3535" y="1476"/>
                </a:lnTo>
                <a:lnTo>
                  <a:pt x="3628" y="1428"/>
                </a:lnTo>
                <a:lnTo>
                  <a:pt x="3721" y="1379"/>
                </a:lnTo>
                <a:lnTo>
                  <a:pt x="3814" y="1327"/>
                </a:lnTo>
                <a:lnTo>
                  <a:pt x="3907" y="1274"/>
                </a:lnTo>
                <a:lnTo>
                  <a:pt x="4001" y="1218"/>
                </a:lnTo>
                <a:lnTo>
                  <a:pt x="4094" y="1160"/>
                </a:lnTo>
                <a:lnTo>
                  <a:pt x="4187" y="1101"/>
                </a:lnTo>
                <a:lnTo>
                  <a:pt x="4280" y="1039"/>
                </a:lnTo>
                <a:lnTo>
                  <a:pt x="4373" y="975"/>
                </a:lnTo>
                <a:lnTo>
                  <a:pt x="4466" y="909"/>
                </a:lnTo>
                <a:lnTo>
                  <a:pt x="4559" y="841"/>
                </a:lnTo>
                <a:lnTo>
                  <a:pt x="4652" y="770"/>
                </a:lnTo>
                <a:lnTo>
                  <a:pt x="4745" y="696"/>
                </a:lnTo>
                <a:lnTo>
                  <a:pt x="4838" y="620"/>
                </a:lnTo>
                <a:lnTo>
                  <a:pt x="4931" y="540"/>
                </a:lnTo>
                <a:lnTo>
                  <a:pt x="5024" y="458"/>
                </a:lnTo>
                <a:lnTo>
                  <a:pt x="5117" y="373"/>
                </a:lnTo>
                <a:lnTo>
                  <a:pt x="5210" y="285"/>
                </a:lnTo>
                <a:lnTo>
                  <a:pt x="5303" y="193"/>
                </a:lnTo>
                <a:lnTo>
                  <a:pt x="5396" y="99"/>
                </a:lnTo>
                <a:lnTo>
                  <a:pt x="5489" y="0"/>
                </a:lnTo>
              </a:path>
            </a:pathLst>
          </a:custGeom>
          <a:ln w="13320">
            <a:solidFill>
              <a:srgbClr val="8FAFC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3885120" y="855360"/>
            <a:ext cx="1976040" cy="739800"/>
          </a:xfrm>
          <a:custGeom>
            <a:avLst/>
            <a:gdLst/>
            <a:ahLst/>
            <a:rect l="0" t="0" r="r" b="b"/>
            <a:pathLst>
              <a:path fill="none" w="5489" h="2055">
                <a:moveTo>
                  <a:pt x="0" y="2055"/>
                </a:moveTo>
                <a:lnTo>
                  <a:pt x="93" y="2037"/>
                </a:lnTo>
                <a:lnTo>
                  <a:pt x="186" y="2020"/>
                </a:lnTo>
                <a:lnTo>
                  <a:pt x="279" y="2001"/>
                </a:lnTo>
                <a:lnTo>
                  <a:pt x="372" y="1983"/>
                </a:lnTo>
                <a:lnTo>
                  <a:pt x="465" y="1964"/>
                </a:lnTo>
                <a:lnTo>
                  <a:pt x="558" y="1945"/>
                </a:lnTo>
                <a:lnTo>
                  <a:pt x="651" y="1925"/>
                </a:lnTo>
                <a:lnTo>
                  <a:pt x="744" y="1905"/>
                </a:lnTo>
                <a:lnTo>
                  <a:pt x="837" y="1884"/>
                </a:lnTo>
                <a:lnTo>
                  <a:pt x="930" y="1863"/>
                </a:lnTo>
                <a:lnTo>
                  <a:pt x="1023" y="1841"/>
                </a:lnTo>
                <a:lnTo>
                  <a:pt x="1116" y="1819"/>
                </a:lnTo>
                <a:lnTo>
                  <a:pt x="1209" y="1797"/>
                </a:lnTo>
                <a:lnTo>
                  <a:pt x="1302" y="1773"/>
                </a:lnTo>
                <a:lnTo>
                  <a:pt x="1395" y="1750"/>
                </a:lnTo>
                <a:lnTo>
                  <a:pt x="1488" y="1726"/>
                </a:lnTo>
                <a:lnTo>
                  <a:pt x="1581" y="1701"/>
                </a:lnTo>
                <a:lnTo>
                  <a:pt x="1674" y="1676"/>
                </a:lnTo>
                <a:lnTo>
                  <a:pt x="1767" y="1650"/>
                </a:lnTo>
                <a:lnTo>
                  <a:pt x="1860" y="1624"/>
                </a:lnTo>
                <a:lnTo>
                  <a:pt x="1953" y="1597"/>
                </a:lnTo>
                <a:lnTo>
                  <a:pt x="2046" y="1570"/>
                </a:lnTo>
                <a:lnTo>
                  <a:pt x="2139" y="1542"/>
                </a:lnTo>
                <a:lnTo>
                  <a:pt x="2232" y="1513"/>
                </a:lnTo>
                <a:lnTo>
                  <a:pt x="2325" y="1484"/>
                </a:lnTo>
                <a:lnTo>
                  <a:pt x="2418" y="1454"/>
                </a:lnTo>
                <a:lnTo>
                  <a:pt x="2511" y="1424"/>
                </a:lnTo>
                <a:lnTo>
                  <a:pt x="2604" y="1393"/>
                </a:lnTo>
                <a:lnTo>
                  <a:pt x="2697" y="1361"/>
                </a:lnTo>
                <a:lnTo>
                  <a:pt x="2790" y="1328"/>
                </a:lnTo>
                <a:lnTo>
                  <a:pt x="2883" y="1295"/>
                </a:lnTo>
                <a:lnTo>
                  <a:pt x="2977" y="1261"/>
                </a:lnTo>
                <a:lnTo>
                  <a:pt x="3070" y="1226"/>
                </a:lnTo>
                <a:lnTo>
                  <a:pt x="3163" y="1191"/>
                </a:lnTo>
                <a:lnTo>
                  <a:pt x="3256" y="1154"/>
                </a:lnTo>
                <a:lnTo>
                  <a:pt x="3349" y="1117"/>
                </a:lnTo>
                <a:lnTo>
                  <a:pt x="3442" y="1079"/>
                </a:lnTo>
                <a:lnTo>
                  <a:pt x="3535" y="1041"/>
                </a:lnTo>
                <a:lnTo>
                  <a:pt x="3628" y="1001"/>
                </a:lnTo>
                <a:lnTo>
                  <a:pt x="3721" y="961"/>
                </a:lnTo>
                <a:lnTo>
                  <a:pt x="3814" y="919"/>
                </a:lnTo>
                <a:lnTo>
                  <a:pt x="3907" y="877"/>
                </a:lnTo>
                <a:lnTo>
                  <a:pt x="4001" y="834"/>
                </a:lnTo>
                <a:lnTo>
                  <a:pt x="4094" y="790"/>
                </a:lnTo>
                <a:lnTo>
                  <a:pt x="4187" y="745"/>
                </a:lnTo>
                <a:lnTo>
                  <a:pt x="4280" y="698"/>
                </a:lnTo>
                <a:lnTo>
                  <a:pt x="4373" y="651"/>
                </a:lnTo>
                <a:lnTo>
                  <a:pt x="4466" y="603"/>
                </a:lnTo>
                <a:lnTo>
                  <a:pt x="4559" y="554"/>
                </a:lnTo>
                <a:lnTo>
                  <a:pt x="4652" y="504"/>
                </a:lnTo>
                <a:lnTo>
                  <a:pt x="4745" y="452"/>
                </a:lnTo>
                <a:lnTo>
                  <a:pt x="4838" y="400"/>
                </a:lnTo>
                <a:lnTo>
                  <a:pt x="4931" y="346"/>
                </a:lnTo>
                <a:lnTo>
                  <a:pt x="5024" y="292"/>
                </a:lnTo>
                <a:lnTo>
                  <a:pt x="5117" y="236"/>
                </a:lnTo>
                <a:lnTo>
                  <a:pt x="5210" y="179"/>
                </a:lnTo>
                <a:lnTo>
                  <a:pt x="5303" y="120"/>
                </a:lnTo>
                <a:lnTo>
                  <a:pt x="5396" y="61"/>
                </a:lnTo>
                <a:lnTo>
                  <a:pt x="5489" y="0"/>
                </a:lnTo>
              </a:path>
            </a:pathLst>
          </a:custGeom>
          <a:ln w="13320">
            <a:solidFill>
              <a:srgbClr val="1F5F9E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3885120" y="828360"/>
            <a:ext cx="1976040" cy="307800"/>
          </a:xfrm>
          <a:custGeom>
            <a:avLst/>
            <a:gdLst/>
            <a:ahLst/>
            <a:rect l="0" t="0" r="r" b="b"/>
            <a:pathLst>
              <a:path fill="none" w="5489" h="855">
                <a:moveTo>
                  <a:pt x="0" y="855"/>
                </a:moveTo>
                <a:lnTo>
                  <a:pt x="279" y="819"/>
                </a:lnTo>
                <a:lnTo>
                  <a:pt x="465" y="794"/>
                </a:lnTo>
                <a:lnTo>
                  <a:pt x="651" y="769"/>
                </a:lnTo>
                <a:lnTo>
                  <a:pt x="744" y="756"/>
                </a:lnTo>
                <a:lnTo>
                  <a:pt x="930" y="730"/>
                </a:lnTo>
                <a:lnTo>
                  <a:pt x="1116" y="705"/>
                </a:lnTo>
                <a:lnTo>
                  <a:pt x="1302" y="677"/>
                </a:lnTo>
                <a:lnTo>
                  <a:pt x="1488" y="651"/>
                </a:lnTo>
                <a:lnTo>
                  <a:pt x="1581" y="638"/>
                </a:lnTo>
                <a:lnTo>
                  <a:pt x="1674" y="624"/>
                </a:lnTo>
                <a:lnTo>
                  <a:pt x="1767" y="611"/>
                </a:lnTo>
                <a:lnTo>
                  <a:pt x="1860" y="597"/>
                </a:lnTo>
                <a:lnTo>
                  <a:pt x="1953" y="583"/>
                </a:lnTo>
                <a:lnTo>
                  <a:pt x="2046" y="570"/>
                </a:lnTo>
                <a:lnTo>
                  <a:pt x="2325" y="528"/>
                </a:lnTo>
                <a:lnTo>
                  <a:pt x="2418" y="514"/>
                </a:lnTo>
                <a:lnTo>
                  <a:pt x="2511" y="500"/>
                </a:lnTo>
                <a:lnTo>
                  <a:pt x="2790" y="457"/>
                </a:lnTo>
                <a:lnTo>
                  <a:pt x="3070" y="413"/>
                </a:lnTo>
                <a:lnTo>
                  <a:pt x="3163" y="398"/>
                </a:lnTo>
                <a:lnTo>
                  <a:pt x="3349" y="368"/>
                </a:lnTo>
                <a:lnTo>
                  <a:pt x="3442" y="353"/>
                </a:lnTo>
                <a:lnTo>
                  <a:pt x="3628" y="323"/>
                </a:lnTo>
                <a:lnTo>
                  <a:pt x="3721" y="308"/>
                </a:lnTo>
                <a:lnTo>
                  <a:pt x="3907" y="277"/>
                </a:lnTo>
                <a:lnTo>
                  <a:pt x="4094" y="246"/>
                </a:lnTo>
                <a:lnTo>
                  <a:pt x="4187" y="230"/>
                </a:lnTo>
                <a:lnTo>
                  <a:pt x="4280" y="214"/>
                </a:lnTo>
                <a:lnTo>
                  <a:pt x="4466" y="182"/>
                </a:lnTo>
                <a:lnTo>
                  <a:pt x="4559" y="166"/>
                </a:lnTo>
                <a:lnTo>
                  <a:pt x="4745" y="133"/>
                </a:lnTo>
                <a:lnTo>
                  <a:pt x="4838" y="117"/>
                </a:lnTo>
                <a:lnTo>
                  <a:pt x="5024" y="84"/>
                </a:lnTo>
                <a:lnTo>
                  <a:pt x="5117" y="67"/>
                </a:lnTo>
                <a:lnTo>
                  <a:pt x="5303" y="34"/>
                </a:lnTo>
                <a:lnTo>
                  <a:pt x="5489" y="0"/>
                </a:lnTo>
              </a:path>
            </a:pathLst>
          </a:custGeom>
          <a:ln w="13320">
            <a:solidFill>
              <a:srgbClr val="0E4373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889600" y="879120"/>
            <a:ext cx="102240" cy="241560"/>
          </a:xfrm>
          <a:prstGeom prst="line">
            <a:avLst/>
          </a:prstGeom>
          <a:ln w="6480">
            <a:solidFill>
              <a:srgbClr val="8FA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5889600" y="855360"/>
            <a:ext cx="101880" cy="0"/>
          </a:xfrm>
          <a:prstGeom prst="line">
            <a:avLst/>
          </a:prstGeom>
          <a:ln w="648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 flipV="1">
            <a:off x="5889600" y="587160"/>
            <a:ext cx="102240" cy="241560"/>
          </a:xfrm>
          <a:prstGeom prst="line">
            <a:avLst/>
          </a:prstGeom>
          <a:ln w="6480">
            <a:solidFill>
              <a:srgbClr val="0E4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015960" y="1035000"/>
            <a:ext cx="335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8FAFCF"/>
                </a:solidFill>
                <a:effectLst/>
                <a:uFillTx/>
                <a:latin typeface="Arial"/>
                <a:ea typeface="Arial"/>
              </a:rPr>
              <a:t>Low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015960" y="1117080"/>
            <a:ext cx="322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8FAFCF"/>
                </a:solidFill>
                <a:effectLst/>
                <a:uFillTx/>
                <a:latin typeface="Arial"/>
                <a:ea typeface="Arial"/>
              </a:rPr>
              <a:t>(10th pct)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6015960" y="770040"/>
            <a:ext cx="250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Median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015960" y="852120"/>
            <a:ext cx="174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015960" y="501840"/>
            <a:ext cx="3520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0E4373"/>
                </a:solidFill>
                <a:effectLst/>
                <a:uFillTx/>
                <a:latin typeface="Arial"/>
                <a:ea typeface="Arial"/>
              </a:rPr>
              <a:t>High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015960" y="583920"/>
            <a:ext cx="322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0E4373"/>
                </a:solidFill>
                <a:effectLst/>
                <a:uFillTx/>
                <a:latin typeface="Arial"/>
                <a:ea typeface="Arial"/>
              </a:rPr>
              <a:t>(90th pct)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 flipV="1">
            <a:off x="3846240" y="227880"/>
            <a:ext cx="0" cy="165276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885120" y="261360"/>
            <a:ext cx="1298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3B3B3B"/>
                </a:solidFill>
                <a:effectLst/>
                <a:uFillTx/>
                <a:latin typeface="Arial"/>
                <a:ea typeface="Arial"/>
              </a:rPr>
              <a:t>Warming × effort: HR 0.85 (0.76–0.95)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765240" y="183672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701880" y="1377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701880" y="918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821040" y="18806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821040" y="14216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3821040" y="9626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821040" y="5032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846240" y="1880640"/>
            <a:ext cx="20332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 flipV="1">
            <a:off x="394380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 flipV="1">
            <a:off x="442764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 flipV="1">
            <a:off x="491148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539532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 flipV="1">
            <a:off x="587952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701880" y="4590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899520" y="1911240"/>
            <a:ext cx="87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383360" y="1911240"/>
            <a:ext cx="87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892760" y="19112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376600" y="19112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860440" y="19112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999960" y="2038320"/>
            <a:ext cx="21448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Accumulated warming relative to the species' range (z)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 rot="16200000">
            <a:off x="2916000" y="1020240"/>
            <a:ext cx="1366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Annual hazard of a new record (%)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676320" y="63360"/>
            <a:ext cx="17589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Warming matters most where effort is low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804600" y="2545200"/>
            <a:ext cx="576000" cy="1521000"/>
          </a:xfrm>
          <a:custGeom>
            <a:avLst/>
            <a:gdLst/>
            <a:ahLst/>
            <a:rect l="0" t="0" r="r" b="b"/>
            <a:pathLst>
              <a:path w="1600" h="4225">
                <a:moveTo>
                  <a:pt x="0" y="0"/>
                </a:moveTo>
                <a:lnTo>
                  <a:pt x="1600" y="0"/>
                </a:lnTo>
                <a:lnTo>
                  <a:pt x="1600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 flipV="1">
            <a:off x="896040" y="2545200"/>
            <a:ext cx="0" cy="152064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896040" y="3115440"/>
            <a:ext cx="410400" cy="0"/>
          </a:xfrm>
          <a:prstGeom prst="line">
            <a:avLst/>
          </a:prstGeom>
          <a:ln w="1332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896040" y="2735280"/>
            <a:ext cx="421200" cy="0"/>
          </a:xfrm>
          <a:prstGeom prst="line">
            <a:avLst/>
          </a:prstGeom>
          <a:ln w="1332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896040" y="3875760"/>
            <a:ext cx="92520" cy="0"/>
          </a:xfrm>
          <a:prstGeom prst="line">
            <a:avLst/>
          </a:prstGeom>
          <a:ln w="13320">
            <a:solidFill>
              <a:srgbClr val="3B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 flipH="1">
            <a:off x="867600" y="3495600"/>
            <a:ext cx="28440" cy="0"/>
          </a:xfrm>
          <a:prstGeom prst="line">
            <a:avLst/>
          </a:prstGeom>
          <a:ln w="13320">
            <a:solidFill>
              <a:srgbClr val="9A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283400" y="309240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283400" y="309240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294200" y="271224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294200" y="271224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965160" y="385272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965160" y="385272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844560" y="3472560"/>
            <a:ext cx="46440" cy="47160"/>
          </a:xfrm>
          <a:custGeom>
            <a:avLst/>
            <a:gdLst/>
            <a:ahLst/>
            <a:rect l="0" t="0" r="r" b="b"/>
            <a:pathLst>
              <a:path w="129" h="131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844560" y="3472560"/>
            <a:ext cx="46440" cy="47160"/>
          </a:xfrm>
          <a:custGeom>
            <a:avLst/>
            <a:gdLst/>
            <a:ahLst/>
            <a:rect l="0" t="0" r="r" b="b"/>
            <a:pathLst>
              <a:path fill="none" w="129" h="131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494000" y="2545200"/>
            <a:ext cx="576000" cy="1521000"/>
          </a:xfrm>
          <a:custGeom>
            <a:avLst/>
            <a:gdLst/>
            <a:ahLst/>
            <a:rect l="0" t="0" r="r" b="b"/>
            <a:pathLst>
              <a:path w="1600" h="4225">
                <a:moveTo>
                  <a:pt x="0" y="0"/>
                </a:moveTo>
                <a:lnTo>
                  <a:pt x="1600" y="0"/>
                </a:lnTo>
                <a:lnTo>
                  <a:pt x="1600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 flipV="1">
            <a:off x="1557000" y="2545200"/>
            <a:ext cx="0" cy="152064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557000" y="3115440"/>
            <a:ext cx="449640" cy="0"/>
          </a:xfrm>
          <a:prstGeom prst="line">
            <a:avLst/>
          </a:prstGeom>
          <a:ln w="1332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557000" y="2735280"/>
            <a:ext cx="274680" cy="0"/>
          </a:xfrm>
          <a:prstGeom prst="line">
            <a:avLst/>
          </a:prstGeom>
          <a:ln w="1332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557000" y="3875760"/>
            <a:ext cx="19080" cy="0"/>
          </a:xfrm>
          <a:prstGeom prst="line">
            <a:avLst/>
          </a:prstGeom>
          <a:ln w="13320">
            <a:solidFill>
              <a:srgbClr val="3B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557000" y="3495600"/>
            <a:ext cx="1440" cy="0"/>
          </a:xfrm>
          <a:prstGeom prst="line">
            <a:avLst/>
          </a:prstGeom>
          <a:ln w="13320">
            <a:solidFill>
              <a:srgbClr val="9A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983240" y="309240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1"/>
                  <a:pt x="0" y="151"/>
                  <a:pt x="0" y="65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983240" y="309240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1"/>
                  <a:pt x="0" y="151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808640" y="271224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1"/>
                  <a:pt x="130" y="-21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808640" y="271224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1"/>
                  <a:pt x="130" y="-21"/>
                  <a:pt x="130" y="65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552680" y="385272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552680" y="385272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535400" y="347256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535400" y="347256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2183400" y="2545200"/>
            <a:ext cx="575640" cy="1521000"/>
          </a:xfrm>
          <a:custGeom>
            <a:avLst/>
            <a:gdLst/>
            <a:ahLst/>
            <a:rect l="0" t="0" r="r" b="b"/>
            <a:pathLst>
              <a:path w="1599" h="4225">
                <a:moveTo>
                  <a:pt x="0" y="0"/>
                </a:moveTo>
                <a:lnTo>
                  <a:pt x="1599" y="0"/>
                </a:lnTo>
                <a:lnTo>
                  <a:pt x="1599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 flipV="1">
            <a:off x="2275560" y="2545200"/>
            <a:ext cx="0" cy="152064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275560" y="3115440"/>
            <a:ext cx="300600" cy="0"/>
          </a:xfrm>
          <a:prstGeom prst="line">
            <a:avLst/>
          </a:prstGeom>
          <a:ln w="1332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 flipH="1">
            <a:off x="2246400" y="2735280"/>
            <a:ext cx="29160" cy="0"/>
          </a:xfrm>
          <a:prstGeom prst="line">
            <a:avLst/>
          </a:prstGeom>
          <a:ln w="1332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2275560" y="3875760"/>
            <a:ext cx="420480" cy="0"/>
          </a:xfrm>
          <a:prstGeom prst="line">
            <a:avLst/>
          </a:prstGeom>
          <a:ln w="13320">
            <a:solidFill>
              <a:srgbClr val="3B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 flipH="1">
            <a:off x="2265120" y="3495600"/>
            <a:ext cx="10440" cy="0"/>
          </a:xfrm>
          <a:prstGeom prst="line">
            <a:avLst/>
          </a:prstGeom>
          <a:ln w="13320">
            <a:solidFill>
              <a:srgbClr val="9A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553120" y="309240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1"/>
                  <a:pt x="0" y="151"/>
                  <a:pt x="0" y="65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553120" y="309240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1"/>
                  <a:pt x="0" y="151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223000" y="271224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1"/>
                  <a:pt x="130" y="-21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2223000" y="271224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1"/>
                  <a:pt x="130" y="-21"/>
                  <a:pt x="130" y="65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672640" y="385272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672640" y="385272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241720" y="347256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241720" y="347256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872800" y="2545200"/>
            <a:ext cx="575640" cy="1521000"/>
          </a:xfrm>
          <a:custGeom>
            <a:avLst/>
            <a:gdLst/>
            <a:ahLst/>
            <a:rect l="0" t="0" r="r" b="b"/>
            <a:pathLst>
              <a:path w="1599" h="4225">
                <a:moveTo>
                  <a:pt x="0" y="0"/>
                </a:moveTo>
                <a:lnTo>
                  <a:pt x="1599" y="0"/>
                </a:lnTo>
                <a:lnTo>
                  <a:pt x="1599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 flipV="1">
            <a:off x="2935800" y="2545200"/>
            <a:ext cx="0" cy="152064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935800" y="3115440"/>
            <a:ext cx="408960" cy="0"/>
          </a:xfrm>
          <a:prstGeom prst="line">
            <a:avLst/>
          </a:prstGeom>
          <a:ln w="1332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935800" y="2735280"/>
            <a:ext cx="449280" cy="0"/>
          </a:xfrm>
          <a:prstGeom prst="line">
            <a:avLst/>
          </a:prstGeom>
          <a:ln w="1332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935800" y="3875760"/>
            <a:ext cx="216360" cy="0"/>
          </a:xfrm>
          <a:prstGeom prst="line">
            <a:avLst/>
          </a:prstGeom>
          <a:ln w="13320">
            <a:solidFill>
              <a:srgbClr val="3B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935800" y="3495600"/>
            <a:ext cx="6480" cy="0"/>
          </a:xfrm>
          <a:prstGeom prst="line">
            <a:avLst/>
          </a:prstGeom>
          <a:ln w="13320">
            <a:solidFill>
              <a:srgbClr val="9A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3321720" y="309240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1"/>
                  <a:pt x="0" y="151"/>
                  <a:pt x="0" y="65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3321720" y="309240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1"/>
                  <a:pt x="0" y="151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3362040" y="271224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1"/>
                  <a:pt x="130" y="-21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3362040" y="271224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1"/>
                  <a:pt x="130" y="-21"/>
                  <a:pt x="130" y="65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3129120" y="385272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3129120" y="385272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918880" y="347256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918880" y="347256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353052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804960" y="2405880"/>
            <a:ext cx="2163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ΔAIC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494360" y="2405880"/>
            <a:ext cx="2556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ΔAUC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183400" y="2405880"/>
            <a:ext cx="1576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ΔR²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872800" y="2405880"/>
            <a:ext cx="1040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|β|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55320" y="269100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5960" y="3071160"/>
            <a:ext cx="750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317160" y="3410280"/>
            <a:ext cx="500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Annual climate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95000" y="349272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variability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804600" y="4065840"/>
            <a:ext cx="57564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 flipV="1">
            <a:off x="89604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 flipV="1">
            <a:off x="132480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228240" y="3831480"/>
            <a:ext cx="5659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Warming ×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77320" y="4096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494000" y="4065840"/>
            <a:ext cx="57564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 flipV="1">
            <a:off x="155700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 flipV="1">
            <a:off x="198288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287000" y="409644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537920" y="4096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183400" y="4065840"/>
            <a:ext cx="5752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 flipV="1">
            <a:off x="227556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 flipV="1">
            <a:off x="270108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913400" y="40964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256840" y="4096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872800" y="4065840"/>
            <a:ext cx="5752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 flipV="1">
            <a:off x="293580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 flipV="1">
            <a:off x="333324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2631240" y="40964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2916720" y="4096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282840" y="40964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104120" y="4223160"/>
            <a:ext cx="19609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Loss when the term is dropped from the full model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89720" y="2241000"/>
            <a:ext cx="14349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Warming and effort matter equally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846240" y="2545200"/>
            <a:ext cx="2643840" cy="1521000"/>
          </a:xfrm>
          <a:custGeom>
            <a:avLst/>
            <a:gdLst/>
            <a:ahLst/>
            <a:rect l="0" t="0" r="r" b="b"/>
            <a:pathLst>
              <a:path w="7344" h="4225">
                <a:moveTo>
                  <a:pt x="0" y="0"/>
                </a:moveTo>
                <a:lnTo>
                  <a:pt x="7344" y="0"/>
                </a:lnTo>
                <a:lnTo>
                  <a:pt x="7344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071400" y="2545200"/>
            <a:ext cx="396720" cy="1521000"/>
          </a:xfrm>
          <a:custGeom>
            <a:avLst/>
            <a:gdLst/>
            <a:ahLst/>
            <a:rect l="0" t="0" r="r" b="b"/>
            <a:pathLst>
              <a:path w="1102" h="4225">
                <a:moveTo>
                  <a:pt x="0" y="0"/>
                </a:moveTo>
                <a:lnTo>
                  <a:pt x="1102" y="0"/>
                </a:lnTo>
                <a:lnTo>
                  <a:pt x="1102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4F1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846240" y="3457800"/>
            <a:ext cx="2643480" cy="0"/>
          </a:xfrm>
          <a:prstGeom prst="line">
            <a:avLst/>
          </a:prstGeom>
          <a:ln w="6480">
            <a:solidFill>
              <a:srgbClr val="9A9A9A"/>
            </a:solidFill>
            <a:custDash>
              <a:ds d="288889" sp="288889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0400" y="219024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4066560" y="2891520"/>
            <a:ext cx="2203200" cy="1017000"/>
          </a:xfrm>
          <a:custGeom>
            <a:avLst/>
            <a:gdLst/>
            <a:ahLst/>
            <a:rect l="0" t="0" r="r" b="b"/>
            <a:pathLst>
              <a:path fill="none" w="6120" h="2825">
                <a:moveTo>
                  <a:pt x="0" y="2825"/>
                </a:moveTo>
                <a:lnTo>
                  <a:pt x="1224" y="744"/>
                </a:lnTo>
                <a:lnTo>
                  <a:pt x="2448" y="444"/>
                </a:lnTo>
                <a:lnTo>
                  <a:pt x="3672" y="29"/>
                </a:lnTo>
                <a:lnTo>
                  <a:pt x="4897" y="32"/>
                </a:lnTo>
                <a:lnTo>
                  <a:pt x="6120" y="0"/>
                </a:lnTo>
              </a:path>
            </a:pathLst>
          </a:custGeom>
          <a:ln w="13320">
            <a:solidFill>
              <a:srgbClr val="9A9A9A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4044600" y="388620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3"/>
                  <a:pt x="0" y="143"/>
                  <a:pt x="0" y="62"/>
                </a:cubicBez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4044600" y="388620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2"/>
                </a:moveTo>
                <a:cubicBezTo>
                  <a:pt x="123" y="143"/>
                  <a:pt x="0" y="143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5A5A5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4485240" y="313740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3"/>
                  <a:pt x="0" y="143"/>
                  <a:pt x="0" y="62"/>
                </a:cubicBez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4485240" y="313740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2"/>
                </a:moveTo>
                <a:cubicBezTo>
                  <a:pt x="123" y="143"/>
                  <a:pt x="0" y="143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5A5A5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4925880" y="302940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4925880" y="302940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5A5A5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366520" y="288000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366520" y="288000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5A5A5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807160" y="288108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3"/>
                  <a:pt x="0" y="143"/>
                  <a:pt x="0" y="62"/>
                </a:cubicBez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807160" y="288108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2"/>
                </a:moveTo>
                <a:cubicBezTo>
                  <a:pt x="122" y="143"/>
                  <a:pt x="0" y="143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5A5A5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6239520" y="2861640"/>
            <a:ext cx="60480" cy="60120"/>
          </a:xfrm>
          <a:custGeom>
            <a:avLst/>
            <a:gdLst/>
            <a:ahLst/>
            <a:rect l="0" t="0" r="r" b="b"/>
            <a:pathLst>
              <a:path w="168" h="167">
                <a:moveTo>
                  <a:pt x="0" y="83"/>
                </a:moveTo>
                <a:cubicBezTo>
                  <a:pt x="0" y="-28"/>
                  <a:pt x="168" y="-28"/>
                  <a:pt x="168" y="83"/>
                </a:cubicBezTo>
                <a:cubicBezTo>
                  <a:pt x="168" y="195"/>
                  <a:pt x="0" y="195"/>
                  <a:pt x="0" y="83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6239520" y="2861640"/>
            <a:ext cx="60480" cy="60120"/>
          </a:xfrm>
          <a:custGeom>
            <a:avLst/>
            <a:gdLst/>
            <a:ahLst/>
            <a:rect l="0" t="0" r="r" b="b"/>
            <a:pathLst>
              <a:path fill="none" w="168" h="167">
                <a:moveTo>
                  <a:pt x="168" y="83"/>
                </a:moveTo>
                <a:cubicBezTo>
                  <a:pt x="168" y="195"/>
                  <a:pt x="0" y="195"/>
                  <a:pt x="0" y="83"/>
                </a:cubicBezTo>
                <a:cubicBezTo>
                  <a:pt x="0" y="-28"/>
                  <a:pt x="168" y="-28"/>
                  <a:pt x="168" y="83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890520" y="3368880"/>
            <a:ext cx="2422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Chance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978000" y="376848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0.411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4418280" y="301968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0.559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4858920" y="291168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0.580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5299560" y="276228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740200" y="276336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0.609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 flipV="1">
            <a:off x="3846240" y="2545200"/>
            <a:ext cx="0" cy="152064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6180840" y="275220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0.612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3701880" y="39204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3701880" y="34135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821040" y="39646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821040" y="34578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3821040" y="295092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3846240" y="4065840"/>
            <a:ext cx="26434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 flipV="1">
            <a:off x="406656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 flipV="1">
            <a:off x="450720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 flipV="1">
            <a:off x="494784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 flipV="1">
            <a:off x="538848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 flipV="1">
            <a:off x="582912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 flipV="1">
            <a:off x="626940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3701880" y="29066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009680" y="4096440"/>
            <a:ext cx="132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Null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4412160" y="4096440"/>
            <a:ext cx="182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4808160" y="4096440"/>
            <a:ext cx="305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5255280" y="4096440"/>
            <a:ext cx="248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Effort +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5255280" y="417888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689440" y="4096440"/>
            <a:ext cx="303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+ Annual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682960" y="417888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variability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053760" y="4096440"/>
            <a:ext cx="437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+ Warming ×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6066360" y="4178880"/>
            <a:ext cx="411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effort (main)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 rot="16200000">
            <a:off x="3063240" y="3285360"/>
            <a:ext cx="10717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AUC from fixed effects only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3676320" y="2241000"/>
            <a:ext cx="13464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Neither factor alone is sufficient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530520" y="219024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TJ_Fig_main_results</dc:title>
</cp:coreProperties>
</file>