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47498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174960"/>
            <a:ext cx="5919840" cy="73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1027080"/>
            <a:ext cx="5919840" cy="254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4749840"/>
          </a:xfrm>
          <a:custGeom>
            <a:avLst/>
            <a:gdLst/>
            <a:ahLst/>
            <a:rect l="0" t="0" r="r" b="b"/>
            <a:pathLst>
              <a:path w="18274" h="13194">
                <a:moveTo>
                  <a:pt x="0" y="0"/>
                </a:moveTo>
                <a:lnTo>
                  <a:pt x="18274" y="0"/>
                </a:lnTo>
                <a:lnTo>
                  <a:pt x="18274" y="13194"/>
                </a:lnTo>
                <a:lnTo>
                  <a:pt x="0" y="131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4749840"/>
          </a:xfrm>
          <a:custGeom>
            <a:avLst/>
            <a:gdLst/>
            <a:ahLst/>
            <a:rect l="0" t="0" r="r" b="b"/>
            <a:pathLst>
              <a:path w="18274" h="13194">
                <a:moveTo>
                  <a:pt x="0" y="0"/>
                </a:moveTo>
                <a:lnTo>
                  <a:pt x="18274" y="0"/>
                </a:lnTo>
                <a:lnTo>
                  <a:pt x="18274" y="13194"/>
                </a:lnTo>
                <a:lnTo>
                  <a:pt x="0" y="131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5200" y="25200"/>
            <a:ext cx="3285360" cy="2286360"/>
          </a:xfrm>
          <a:custGeom>
            <a:avLst/>
            <a:gdLst/>
            <a:ahLst/>
            <a:rect l="0" t="0" r="r" b="b"/>
            <a:pathLst>
              <a:path w="9126" h="6351">
                <a:moveTo>
                  <a:pt x="0" y="0"/>
                </a:moveTo>
                <a:lnTo>
                  <a:pt x="9126" y="0"/>
                </a:lnTo>
                <a:lnTo>
                  <a:pt x="9126" y="6351"/>
                </a:lnTo>
                <a:lnTo>
                  <a:pt x="0" y="6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310200" y="25200"/>
            <a:ext cx="3243240" cy="2286360"/>
          </a:xfrm>
          <a:custGeom>
            <a:avLst/>
            <a:gdLst/>
            <a:ahLst/>
            <a:rect l="0" t="0" r="r" b="b"/>
            <a:pathLst>
              <a:path w="9009" h="6351">
                <a:moveTo>
                  <a:pt x="0" y="0"/>
                </a:moveTo>
                <a:lnTo>
                  <a:pt x="9009" y="0"/>
                </a:lnTo>
                <a:lnTo>
                  <a:pt x="9009" y="6351"/>
                </a:lnTo>
                <a:lnTo>
                  <a:pt x="0" y="6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25200" y="2311200"/>
            <a:ext cx="3285360" cy="2413440"/>
          </a:xfrm>
          <a:custGeom>
            <a:avLst/>
            <a:gdLst/>
            <a:ahLst/>
            <a:rect l="0" t="0" r="r" b="b"/>
            <a:pathLst>
              <a:path w="9126" h="6704">
                <a:moveTo>
                  <a:pt x="0" y="0"/>
                </a:moveTo>
                <a:lnTo>
                  <a:pt x="9126" y="0"/>
                </a:lnTo>
                <a:lnTo>
                  <a:pt x="9126" y="6704"/>
                </a:lnTo>
                <a:lnTo>
                  <a:pt x="0" y="67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3310200" y="2311200"/>
            <a:ext cx="3243240" cy="2413440"/>
          </a:xfrm>
          <a:custGeom>
            <a:avLst/>
            <a:gdLst/>
            <a:ahLst/>
            <a:rect l="0" t="0" r="r" b="b"/>
            <a:pathLst>
              <a:path w="9009" h="6704">
                <a:moveTo>
                  <a:pt x="0" y="0"/>
                </a:moveTo>
                <a:lnTo>
                  <a:pt x="9009" y="0"/>
                </a:lnTo>
                <a:lnTo>
                  <a:pt x="9009" y="6704"/>
                </a:lnTo>
                <a:lnTo>
                  <a:pt x="0" y="67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360000" y="227880"/>
            <a:ext cx="2887200" cy="1761840"/>
          </a:xfrm>
          <a:custGeom>
            <a:avLst/>
            <a:gdLst/>
            <a:ahLst/>
            <a:rect l="0" t="0" r="r" b="b"/>
            <a:pathLst>
              <a:path w="8020" h="4894">
                <a:moveTo>
                  <a:pt x="0" y="0"/>
                </a:moveTo>
                <a:lnTo>
                  <a:pt x="8020" y="0"/>
                </a:lnTo>
                <a:lnTo>
                  <a:pt x="8020" y="4894"/>
                </a:lnTo>
                <a:lnTo>
                  <a:pt x="0" y="48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360000" y="1657080"/>
            <a:ext cx="2089800" cy="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399960" y="706320"/>
            <a:ext cx="2009880" cy="1073880"/>
          </a:xfrm>
          <a:custGeom>
            <a:avLst/>
            <a:gdLst/>
            <a:ahLst/>
            <a:rect l="0" t="0" r="r" b="b"/>
            <a:pathLst>
              <a:path fill="none" w="5583" h="2983">
                <a:moveTo>
                  <a:pt x="0" y="2983"/>
                </a:moveTo>
                <a:lnTo>
                  <a:pt x="186" y="2963"/>
                </a:lnTo>
                <a:lnTo>
                  <a:pt x="372" y="2967"/>
                </a:lnTo>
                <a:lnTo>
                  <a:pt x="559" y="2922"/>
                </a:lnTo>
                <a:lnTo>
                  <a:pt x="745" y="2641"/>
                </a:lnTo>
                <a:lnTo>
                  <a:pt x="931" y="2470"/>
                </a:lnTo>
                <a:lnTo>
                  <a:pt x="1117" y="2363"/>
                </a:lnTo>
                <a:lnTo>
                  <a:pt x="1303" y="2188"/>
                </a:lnTo>
                <a:lnTo>
                  <a:pt x="1489" y="2129"/>
                </a:lnTo>
                <a:lnTo>
                  <a:pt x="1675" y="2032"/>
                </a:lnTo>
                <a:lnTo>
                  <a:pt x="1862" y="1956"/>
                </a:lnTo>
                <a:lnTo>
                  <a:pt x="2048" y="1740"/>
                </a:lnTo>
                <a:lnTo>
                  <a:pt x="2234" y="1561"/>
                </a:lnTo>
                <a:lnTo>
                  <a:pt x="2420" y="1357"/>
                </a:lnTo>
                <a:lnTo>
                  <a:pt x="2606" y="1291"/>
                </a:lnTo>
                <a:lnTo>
                  <a:pt x="2792" y="1153"/>
                </a:lnTo>
                <a:lnTo>
                  <a:pt x="2979" y="952"/>
                </a:lnTo>
                <a:lnTo>
                  <a:pt x="3165" y="908"/>
                </a:lnTo>
                <a:lnTo>
                  <a:pt x="3351" y="705"/>
                </a:lnTo>
                <a:lnTo>
                  <a:pt x="3537" y="761"/>
                </a:lnTo>
                <a:lnTo>
                  <a:pt x="3723" y="720"/>
                </a:lnTo>
                <a:lnTo>
                  <a:pt x="3909" y="553"/>
                </a:lnTo>
                <a:lnTo>
                  <a:pt x="4095" y="524"/>
                </a:lnTo>
                <a:lnTo>
                  <a:pt x="4281" y="544"/>
                </a:lnTo>
                <a:lnTo>
                  <a:pt x="4467" y="621"/>
                </a:lnTo>
                <a:lnTo>
                  <a:pt x="4653" y="403"/>
                </a:lnTo>
                <a:lnTo>
                  <a:pt x="4839" y="416"/>
                </a:lnTo>
                <a:lnTo>
                  <a:pt x="5025" y="379"/>
                </a:lnTo>
                <a:lnTo>
                  <a:pt x="5211" y="345"/>
                </a:lnTo>
                <a:lnTo>
                  <a:pt x="5397" y="58"/>
                </a:lnTo>
                <a:lnTo>
                  <a:pt x="5583" y="0"/>
                </a:lnTo>
              </a:path>
            </a:pathLst>
          </a:custGeom>
          <a:ln w="13320">
            <a:solidFill>
              <a:srgbClr val="1A1A1A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399960" y="1025640"/>
            <a:ext cx="2009880" cy="743760"/>
          </a:xfrm>
          <a:custGeom>
            <a:avLst/>
            <a:gdLst/>
            <a:ahLst/>
            <a:rect l="0" t="0" r="r" b="b"/>
            <a:pathLst>
              <a:path fill="none" w="5583" h="2066">
                <a:moveTo>
                  <a:pt x="0" y="1893"/>
                </a:moveTo>
                <a:lnTo>
                  <a:pt x="186" y="1992"/>
                </a:lnTo>
                <a:lnTo>
                  <a:pt x="372" y="2066"/>
                </a:lnTo>
                <a:lnTo>
                  <a:pt x="559" y="2039"/>
                </a:lnTo>
                <a:lnTo>
                  <a:pt x="745" y="1796"/>
                </a:lnTo>
                <a:lnTo>
                  <a:pt x="931" y="1532"/>
                </a:lnTo>
                <a:lnTo>
                  <a:pt x="1117" y="1394"/>
                </a:lnTo>
                <a:lnTo>
                  <a:pt x="1303" y="1308"/>
                </a:lnTo>
                <a:lnTo>
                  <a:pt x="1489" y="1322"/>
                </a:lnTo>
                <a:lnTo>
                  <a:pt x="1675" y="1105"/>
                </a:lnTo>
                <a:lnTo>
                  <a:pt x="1862" y="1035"/>
                </a:lnTo>
                <a:lnTo>
                  <a:pt x="2048" y="1059"/>
                </a:lnTo>
                <a:lnTo>
                  <a:pt x="2234" y="1006"/>
                </a:lnTo>
                <a:lnTo>
                  <a:pt x="2420" y="861"/>
                </a:lnTo>
                <a:lnTo>
                  <a:pt x="2606" y="923"/>
                </a:lnTo>
                <a:lnTo>
                  <a:pt x="2792" y="929"/>
                </a:lnTo>
                <a:lnTo>
                  <a:pt x="2979" y="834"/>
                </a:lnTo>
                <a:lnTo>
                  <a:pt x="3165" y="916"/>
                </a:lnTo>
                <a:lnTo>
                  <a:pt x="3351" y="937"/>
                </a:lnTo>
                <a:lnTo>
                  <a:pt x="3537" y="1130"/>
                </a:lnTo>
                <a:lnTo>
                  <a:pt x="3723" y="1130"/>
                </a:lnTo>
                <a:lnTo>
                  <a:pt x="3909" y="952"/>
                </a:lnTo>
                <a:lnTo>
                  <a:pt x="4095" y="915"/>
                </a:lnTo>
                <a:lnTo>
                  <a:pt x="4281" y="937"/>
                </a:lnTo>
                <a:lnTo>
                  <a:pt x="4467" y="1014"/>
                </a:lnTo>
                <a:lnTo>
                  <a:pt x="4653" y="808"/>
                </a:lnTo>
                <a:lnTo>
                  <a:pt x="4839" y="629"/>
                </a:lnTo>
                <a:lnTo>
                  <a:pt x="5025" y="549"/>
                </a:lnTo>
                <a:lnTo>
                  <a:pt x="5211" y="541"/>
                </a:lnTo>
                <a:lnTo>
                  <a:pt x="5397" y="201"/>
                </a:lnTo>
                <a:lnTo>
                  <a:pt x="5583" y="0"/>
                </a:lnTo>
              </a:path>
            </a:pathLst>
          </a:custGeom>
          <a:ln w="13320">
            <a:solidFill>
              <a:srgbClr val="D1552C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399960" y="308160"/>
            <a:ext cx="2009880" cy="1601280"/>
          </a:xfrm>
          <a:custGeom>
            <a:avLst/>
            <a:gdLst/>
            <a:ahLst/>
            <a:rect l="0" t="0" r="r" b="b"/>
            <a:pathLst>
              <a:path fill="none" w="5583" h="4448">
                <a:moveTo>
                  <a:pt x="0" y="4332"/>
                </a:moveTo>
                <a:lnTo>
                  <a:pt x="186" y="4297"/>
                </a:lnTo>
                <a:lnTo>
                  <a:pt x="372" y="4448"/>
                </a:lnTo>
                <a:lnTo>
                  <a:pt x="559" y="4198"/>
                </a:lnTo>
                <a:lnTo>
                  <a:pt x="745" y="4349"/>
                </a:lnTo>
                <a:lnTo>
                  <a:pt x="931" y="3718"/>
                </a:lnTo>
                <a:lnTo>
                  <a:pt x="1117" y="3433"/>
                </a:lnTo>
                <a:lnTo>
                  <a:pt x="1303" y="3197"/>
                </a:lnTo>
                <a:lnTo>
                  <a:pt x="1489" y="2894"/>
                </a:lnTo>
                <a:lnTo>
                  <a:pt x="1675" y="2863"/>
                </a:lnTo>
                <a:lnTo>
                  <a:pt x="1862" y="2569"/>
                </a:lnTo>
                <a:lnTo>
                  <a:pt x="2048" y="2533"/>
                </a:lnTo>
                <a:lnTo>
                  <a:pt x="2234" y="2320"/>
                </a:lnTo>
                <a:lnTo>
                  <a:pt x="2420" y="2007"/>
                </a:lnTo>
                <a:lnTo>
                  <a:pt x="2606" y="1498"/>
                </a:lnTo>
                <a:lnTo>
                  <a:pt x="2792" y="1292"/>
                </a:lnTo>
                <a:lnTo>
                  <a:pt x="2979" y="1258"/>
                </a:lnTo>
                <a:lnTo>
                  <a:pt x="3165" y="1053"/>
                </a:lnTo>
                <a:lnTo>
                  <a:pt x="3351" y="1352"/>
                </a:lnTo>
                <a:lnTo>
                  <a:pt x="3537" y="1076"/>
                </a:lnTo>
                <a:lnTo>
                  <a:pt x="3723" y="1294"/>
                </a:lnTo>
                <a:lnTo>
                  <a:pt x="3909" y="986"/>
                </a:lnTo>
                <a:lnTo>
                  <a:pt x="4095" y="797"/>
                </a:lnTo>
                <a:lnTo>
                  <a:pt x="4281" y="821"/>
                </a:lnTo>
                <a:lnTo>
                  <a:pt x="4467" y="695"/>
                </a:lnTo>
                <a:lnTo>
                  <a:pt x="4653" y="634"/>
                </a:lnTo>
                <a:lnTo>
                  <a:pt x="4839" y="524"/>
                </a:lnTo>
                <a:lnTo>
                  <a:pt x="5025" y="480"/>
                </a:lnTo>
                <a:lnTo>
                  <a:pt x="5211" y="327"/>
                </a:lnTo>
                <a:lnTo>
                  <a:pt x="5397" y="150"/>
                </a:lnTo>
                <a:lnTo>
                  <a:pt x="5583" y="0"/>
                </a:lnTo>
              </a:path>
            </a:pathLst>
          </a:custGeom>
          <a:ln w="13320">
            <a:solidFill>
              <a:srgbClr val="8E2F13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2141640" y="871560"/>
            <a:ext cx="0" cy="380160"/>
          </a:xfrm>
          <a:prstGeom prst="line">
            <a:avLst/>
          </a:prstGeom>
          <a:ln w="792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2129040" y="871560"/>
            <a:ext cx="25560" cy="22320"/>
          </a:xfrm>
          <a:custGeom>
            <a:avLst/>
            <a:gdLst/>
            <a:ahLst/>
            <a:rect l="0" t="0" r="r" b="b"/>
            <a:pathLst>
              <a:path w="71" h="62">
                <a:moveTo>
                  <a:pt x="71" y="62"/>
                </a:moveTo>
                <a:lnTo>
                  <a:pt x="36" y="0"/>
                </a:lnTo>
                <a:lnTo>
                  <a:pt x="0" y="62"/>
                </a:lnTo>
                <a:lnTo>
                  <a:pt x="71" y="62"/>
                </a:lnTo>
                <a:close/>
              </a:path>
            </a:pathLst>
          </a:custGeom>
          <a:solidFill>
            <a:srgbClr val="D1552C"/>
          </a:solidFill>
          <a:ln w="7920">
            <a:solidFill>
              <a:srgbClr val="D1552C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2129040" y="1229760"/>
            <a:ext cx="25560" cy="22320"/>
          </a:xfrm>
          <a:custGeom>
            <a:avLst/>
            <a:gdLst/>
            <a:ahLst/>
            <a:rect l="0" t="0" r="r" b="b"/>
            <a:pathLst>
              <a:path w="71" h="62">
                <a:moveTo>
                  <a:pt x="0" y="0"/>
                </a:moveTo>
                <a:lnTo>
                  <a:pt x="36" y="62"/>
                </a:lnTo>
                <a:lnTo>
                  <a:pt x="71" y="0"/>
                </a:lnTo>
                <a:lnTo>
                  <a:pt x="0" y="0"/>
                </a:lnTo>
                <a:close/>
              </a:path>
            </a:pathLst>
          </a:custGeom>
          <a:solidFill>
            <a:srgbClr val="D1552C"/>
          </a:solidFill>
          <a:ln w="7920">
            <a:solidFill>
              <a:srgbClr val="D1552C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 flipV="1">
            <a:off x="2141640" y="496800"/>
            <a:ext cx="0" cy="343800"/>
          </a:xfrm>
          <a:prstGeom prst="line">
            <a:avLst/>
          </a:prstGeom>
          <a:ln w="7920">
            <a:solidFill>
              <a:srgbClr val="8E2F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129040" y="818640"/>
            <a:ext cx="25560" cy="22320"/>
          </a:xfrm>
          <a:custGeom>
            <a:avLst/>
            <a:gdLst/>
            <a:ahLst/>
            <a:rect l="0" t="0" r="r" b="b"/>
            <a:pathLst>
              <a:path w="71" h="62">
                <a:moveTo>
                  <a:pt x="0" y="0"/>
                </a:moveTo>
                <a:lnTo>
                  <a:pt x="36" y="62"/>
                </a:lnTo>
                <a:lnTo>
                  <a:pt x="71" y="0"/>
                </a:lnTo>
                <a:lnTo>
                  <a:pt x="0" y="0"/>
                </a:lnTo>
                <a:close/>
              </a:path>
            </a:pathLst>
          </a:custGeom>
          <a:solidFill>
            <a:srgbClr val="8E2F13"/>
          </a:solidFill>
          <a:ln w="7920">
            <a:solidFill>
              <a:srgbClr val="8E2F1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129040" y="496800"/>
            <a:ext cx="25560" cy="22320"/>
          </a:xfrm>
          <a:custGeom>
            <a:avLst/>
            <a:gdLst/>
            <a:ahLst/>
            <a:rect l="0" t="0" r="r" b="b"/>
            <a:pathLst>
              <a:path w="71" h="62">
                <a:moveTo>
                  <a:pt x="71" y="62"/>
                </a:moveTo>
                <a:lnTo>
                  <a:pt x="36" y="0"/>
                </a:lnTo>
                <a:lnTo>
                  <a:pt x="0" y="62"/>
                </a:lnTo>
                <a:lnTo>
                  <a:pt x="71" y="62"/>
                </a:lnTo>
                <a:close/>
              </a:path>
            </a:pathLst>
          </a:custGeom>
          <a:solidFill>
            <a:srgbClr val="8E2F13"/>
          </a:solidFill>
          <a:ln w="7920">
            <a:solidFill>
              <a:srgbClr val="8E2F1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876680" y="1004400"/>
            <a:ext cx="450000" cy="114840"/>
          </a:xfrm>
          <a:custGeom>
            <a:avLst/>
            <a:gdLst/>
            <a:ahLst/>
            <a:rect l="0" t="0" r="r" b="b"/>
            <a:pathLst>
              <a:path w="1250" h="319">
                <a:moveTo>
                  <a:pt x="0" y="0"/>
                </a:moveTo>
                <a:lnTo>
                  <a:pt x="1250" y="0"/>
                </a:lnTo>
                <a:lnTo>
                  <a:pt x="1250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876680" y="611640"/>
            <a:ext cx="450000" cy="114480"/>
          </a:xfrm>
          <a:custGeom>
            <a:avLst/>
            <a:gdLst/>
            <a:ahLst/>
            <a:rect l="0" t="0" r="r" b="b"/>
            <a:pathLst>
              <a:path w="1250" h="318">
                <a:moveTo>
                  <a:pt x="0" y="0"/>
                </a:moveTo>
                <a:lnTo>
                  <a:pt x="1250" y="0"/>
                </a:lnTo>
                <a:lnTo>
                  <a:pt x="1250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885680" y="1017360"/>
            <a:ext cx="425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x = +0.31 °C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885680" y="624600"/>
            <a:ext cx="425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8E2F13"/>
                </a:solidFill>
                <a:effectLst/>
                <a:uFillTx/>
                <a:latin typeface="Arial"/>
                <a:ea typeface="Arial"/>
              </a:rPr>
              <a:t>x = −0.28 °C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463480" y="622800"/>
            <a:ext cx="263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Yunnan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463480" y="941760"/>
            <a:ext cx="712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i="1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Aethopyga christinae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463480" y="224280"/>
            <a:ext cx="59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i="1" u="none" strike="noStrike">
                <a:solidFill>
                  <a:srgbClr val="8E2F13"/>
                </a:solidFill>
                <a:effectLst/>
                <a:uFillTx/>
                <a:latin typeface="Arial"/>
                <a:ea typeface="Arial"/>
              </a:rPr>
              <a:t>Coracias garrulus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463480" y="70164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province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463480" y="1020600"/>
            <a:ext cx="195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range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360000" y="1989360"/>
            <a:ext cx="20898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 flipV="1">
            <a:off x="360000" y="227880"/>
            <a:ext cx="0" cy="176148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463480" y="303120"/>
            <a:ext cx="195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8E2F13"/>
                </a:solidFill>
                <a:effectLst/>
                <a:uFillTx/>
                <a:latin typeface="Arial"/>
                <a:ea typeface="Arial"/>
              </a:rPr>
              <a:t>range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215280" y="16128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215280" y="11005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334440" y="165708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334440" y="114444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334440" y="63180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 flipV="1">
            <a:off x="80208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 flipV="1">
            <a:off x="147204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 flipV="1">
            <a:off x="214164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15280" y="5875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26120" y="20196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395720" y="20196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2065680" y="20196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 rot="16200000">
            <a:off x="-671040" y="1087560"/>
            <a:ext cx="15688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15-yr mean anomaly vs 1980–2000 (°C)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89720" y="63360"/>
            <a:ext cx="18640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Climate is referenced to each species' range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4089600" y="227880"/>
            <a:ext cx="2362680" cy="1761840"/>
          </a:xfrm>
          <a:custGeom>
            <a:avLst/>
            <a:gdLst/>
            <a:ahLst/>
            <a:rect l="0" t="0" r="r" b="b"/>
            <a:pathLst>
              <a:path w="6563" h="4894">
                <a:moveTo>
                  <a:pt x="0" y="0"/>
                </a:moveTo>
                <a:lnTo>
                  <a:pt x="6563" y="0"/>
                </a:lnTo>
                <a:lnTo>
                  <a:pt x="6563" y="4894"/>
                </a:lnTo>
                <a:lnTo>
                  <a:pt x="0" y="48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5373360" y="1585080"/>
            <a:ext cx="1078920" cy="323640"/>
          </a:xfrm>
          <a:custGeom>
            <a:avLst/>
            <a:gdLst/>
            <a:ahLst/>
            <a:rect l="0" t="0" r="r" b="b"/>
            <a:pathLst>
              <a:path w="2997" h="899">
                <a:moveTo>
                  <a:pt x="0" y="0"/>
                </a:moveTo>
                <a:lnTo>
                  <a:pt x="2997" y="0"/>
                </a:lnTo>
                <a:lnTo>
                  <a:pt x="2997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4089600" y="1585080"/>
            <a:ext cx="1284120" cy="323640"/>
          </a:xfrm>
          <a:custGeom>
            <a:avLst/>
            <a:gdLst/>
            <a:ahLst/>
            <a:rect l="0" t="0" r="r" b="b"/>
            <a:pathLst>
              <a:path w="3567" h="899">
                <a:moveTo>
                  <a:pt x="0" y="0"/>
                </a:moveTo>
                <a:lnTo>
                  <a:pt x="3567" y="0"/>
                </a:lnTo>
                <a:lnTo>
                  <a:pt x="3567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5022720" y="507960"/>
            <a:ext cx="1429560" cy="323640"/>
          </a:xfrm>
          <a:custGeom>
            <a:avLst/>
            <a:gdLst/>
            <a:ahLst/>
            <a:rect l="0" t="0" r="r" b="b"/>
            <a:pathLst>
              <a:path w="3971" h="899">
                <a:moveTo>
                  <a:pt x="0" y="0"/>
                </a:moveTo>
                <a:lnTo>
                  <a:pt x="3971" y="0"/>
                </a:lnTo>
                <a:lnTo>
                  <a:pt x="3971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4089600" y="507960"/>
            <a:ext cx="933480" cy="323640"/>
          </a:xfrm>
          <a:custGeom>
            <a:avLst/>
            <a:gdLst/>
            <a:ahLst/>
            <a:rect l="0" t="0" r="r" b="b"/>
            <a:pathLst>
              <a:path w="2593" h="899">
                <a:moveTo>
                  <a:pt x="0" y="0"/>
                </a:moveTo>
                <a:lnTo>
                  <a:pt x="2593" y="0"/>
                </a:lnTo>
                <a:lnTo>
                  <a:pt x="2593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452920" y="1046520"/>
            <a:ext cx="999360" cy="323640"/>
          </a:xfrm>
          <a:custGeom>
            <a:avLst/>
            <a:gdLst/>
            <a:ahLst/>
            <a:rect l="0" t="0" r="r" b="b"/>
            <a:pathLst>
              <a:path w="2776" h="899">
                <a:moveTo>
                  <a:pt x="0" y="0"/>
                </a:moveTo>
                <a:lnTo>
                  <a:pt x="2776" y="0"/>
                </a:lnTo>
                <a:lnTo>
                  <a:pt x="2776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4089600" y="1046520"/>
            <a:ext cx="1363680" cy="323640"/>
          </a:xfrm>
          <a:custGeom>
            <a:avLst/>
            <a:gdLst/>
            <a:ahLst/>
            <a:rect l="0" t="0" r="r" b="b"/>
            <a:pathLst>
              <a:path w="3788" h="899">
                <a:moveTo>
                  <a:pt x="0" y="0"/>
                </a:moveTo>
                <a:lnTo>
                  <a:pt x="3788" y="0"/>
                </a:lnTo>
                <a:lnTo>
                  <a:pt x="3788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5843160" y="170244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46%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662000" y="170244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54%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667840" y="62532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60%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486680" y="62532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40%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882760" y="116388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701600" y="116388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58%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089960" y="312840"/>
            <a:ext cx="695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Within province-year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089960" y="399600"/>
            <a:ext cx="79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(purely among species)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677560" y="312840"/>
            <a:ext cx="818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Between province-years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906160" y="399600"/>
            <a:ext cx="5850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(regional climate)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3932640" y="1659240"/>
            <a:ext cx="1530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Raw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754800" y="1746000"/>
            <a:ext cx="335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gradient x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856320" y="112068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Annual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780000" y="120744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variability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653280" y="581760"/>
            <a:ext cx="441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Accumulated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4089600" y="1989360"/>
            <a:ext cx="236232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 flipV="1">
            <a:off x="408960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 flipV="1">
            <a:off x="468036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 flipV="1">
            <a:off x="527076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 flipV="1">
            <a:off x="586152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 flipV="1">
            <a:off x="645192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805560" y="66888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070880" y="2019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642200" y="20196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232960" y="20196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823360" y="20196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75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395040" y="2019600"/>
            <a:ext cx="127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833000" y="2146680"/>
            <a:ext cx="8557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Share of variance (%)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474720" y="63360"/>
            <a:ext cx="18968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Species identity carries much of the variance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60000" y="2640960"/>
            <a:ext cx="2887200" cy="1761480"/>
          </a:xfrm>
          <a:custGeom>
            <a:avLst/>
            <a:gdLst/>
            <a:ahLst/>
            <a:rect l="0" t="0" r="r" b="b"/>
            <a:pathLst>
              <a:path w="8020" h="4893">
                <a:moveTo>
                  <a:pt x="0" y="0"/>
                </a:moveTo>
                <a:lnTo>
                  <a:pt x="8020" y="0"/>
                </a:lnTo>
                <a:lnTo>
                  <a:pt x="8020" y="4893"/>
                </a:lnTo>
                <a:lnTo>
                  <a:pt x="0" y="48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 flipV="1">
            <a:off x="1809720" y="2640960"/>
            <a:ext cx="0" cy="176112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491040" y="2727720"/>
            <a:ext cx="2625120" cy="1597320"/>
          </a:xfrm>
          <a:custGeom>
            <a:avLst/>
            <a:gdLst/>
            <a:ahLst/>
            <a:rect l="0" t="0" r="r" b="b"/>
            <a:pathLst>
              <a:path w="7292" h="4437">
                <a:moveTo>
                  <a:pt x="0" y="4033"/>
                </a:moveTo>
                <a:lnTo>
                  <a:pt x="124" y="4018"/>
                </a:lnTo>
                <a:lnTo>
                  <a:pt x="247" y="4002"/>
                </a:lnTo>
                <a:lnTo>
                  <a:pt x="371" y="3986"/>
                </a:lnTo>
                <a:lnTo>
                  <a:pt x="495" y="3970"/>
                </a:lnTo>
                <a:lnTo>
                  <a:pt x="618" y="3953"/>
                </a:lnTo>
                <a:lnTo>
                  <a:pt x="742" y="3936"/>
                </a:lnTo>
                <a:lnTo>
                  <a:pt x="865" y="3918"/>
                </a:lnTo>
                <a:lnTo>
                  <a:pt x="989" y="3900"/>
                </a:lnTo>
                <a:lnTo>
                  <a:pt x="1112" y="3881"/>
                </a:lnTo>
                <a:lnTo>
                  <a:pt x="1236" y="3861"/>
                </a:lnTo>
                <a:lnTo>
                  <a:pt x="1360" y="3841"/>
                </a:lnTo>
                <a:lnTo>
                  <a:pt x="1483" y="3820"/>
                </a:lnTo>
                <a:lnTo>
                  <a:pt x="1607" y="3799"/>
                </a:lnTo>
                <a:lnTo>
                  <a:pt x="1730" y="3776"/>
                </a:lnTo>
                <a:lnTo>
                  <a:pt x="1854" y="3753"/>
                </a:lnTo>
                <a:lnTo>
                  <a:pt x="1977" y="3730"/>
                </a:lnTo>
                <a:lnTo>
                  <a:pt x="2101" y="3705"/>
                </a:lnTo>
                <a:lnTo>
                  <a:pt x="2224" y="3679"/>
                </a:lnTo>
                <a:lnTo>
                  <a:pt x="2349" y="3652"/>
                </a:lnTo>
                <a:lnTo>
                  <a:pt x="2473" y="3625"/>
                </a:lnTo>
                <a:lnTo>
                  <a:pt x="2596" y="3596"/>
                </a:lnTo>
                <a:lnTo>
                  <a:pt x="2720" y="3565"/>
                </a:lnTo>
                <a:lnTo>
                  <a:pt x="2843" y="3534"/>
                </a:lnTo>
                <a:lnTo>
                  <a:pt x="2967" y="3500"/>
                </a:lnTo>
                <a:lnTo>
                  <a:pt x="3090" y="3465"/>
                </a:lnTo>
                <a:lnTo>
                  <a:pt x="3214" y="3429"/>
                </a:lnTo>
                <a:lnTo>
                  <a:pt x="3338" y="3391"/>
                </a:lnTo>
                <a:lnTo>
                  <a:pt x="3461" y="3351"/>
                </a:lnTo>
                <a:lnTo>
                  <a:pt x="3585" y="3308"/>
                </a:lnTo>
                <a:lnTo>
                  <a:pt x="3708" y="3264"/>
                </a:lnTo>
                <a:lnTo>
                  <a:pt x="3832" y="3217"/>
                </a:lnTo>
                <a:lnTo>
                  <a:pt x="3955" y="3167"/>
                </a:lnTo>
                <a:lnTo>
                  <a:pt x="4079" y="3115"/>
                </a:lnTo>
                <a:lnTo>
                  <a:pt x="4203" y="3059"/>
                </a:lnTo>
                <a:lnTo>
                  <a:pt x="4326" y="3000"/>
                </a:lnTo>
                <a:lnTo>
                  <a:pt x="4450" y="2938"/>
                </a:lnTo>
                <a:lnTo>
                  <a:pt x="4573" y="2872"/>
                </a:lnTo>
                <a:lnTo>
                  <a:pt x="4697" y="2802"/>
                </a:lnTo>
                <a:lnTo>
                  <a:pt x="4820" y="2728"/>
                </a:lnTo>
                <a:lnTo>
                  <a:pt x="4944" y="2650"/>
                </a:lnTo>
                <a:lnTo>
                  <a:pt x="5068" y="2567"/>
                </a:lnTo>
                <a:lnTo>
                  <a:pt x="5191" y="2479"/>
                </a:lnTo>
                <a:lnTo>
                  <a:pt x="5315" y="2387"/>
                </a:lnTo>
                <a:lnTo>
                  <a:pt x="5438" y="2289"/>
                </a:lnTo>
                <a:lnTo>
                  <a:pt x="5562" y="2186"/>
                </a:lnTo>
                <a:lnTo>
                  <a:pt x="5685" y="2077"/>
                </a:lnTo>
                <a:lnTo>
                  <a:pt x="5809" y="1962"/>
                </a:lnTo>
                <a:lnTo>
                  <a:pt x="5933" y="1841"/>
                </a:lnTo>
                <a:lnTo>
                  <a:pt x="6056" y="1713"/>
                </a:lnTo>
                <a:lnTo>
                  <a:pt x="6180" y="1579"/>
                </a:lnTo>
                <a:lnTo>
                  <a:pt x="6303" y="1437"/>
                </a:lnTo>
                <a:lnTo>
                  <a:pt x="6427" y="1288"/>
                </a:lnTo>
                <a:lnTo>
                  <a:pt x="6550" y="1131"/>
                </a:lnTo>
                <a:lnTo>
                  <a:pt x="6674" y="965"/>
                </a:lnTo>
                <a:lnTo>
                  <a:pt x="6798" y="791"/>
                </a:lnTo>
                <a:lnTo>
                  <a:pt x="6921" y="608"/>
                </a:lnTo>
                <a:lnTo>
                  <a:pt x="7045" y="416"/>
                </a:lnTo>
                <a:lnTo>
                  <a:pt x="7168" y="213"/>
                </a:lnTo>
                <a:lnTo>
                  <a:pt x="7292" y="0"/>
                </a:lnTo>
                <a:lnTo>
                  <a:pt x="7292" y="2648"/>
                </a:lnTo>
                <a:lnTo>
                  <a:pt x="7168" y="2697"/>
                </a:lnTo>
                <a:lnTo>
                  <a:pt x="7045" y="2746"/>
                </a:lnTo>
                <a:lnTo>
                  <a:pt x="6921" y="2794"/>
                </a:lnTo>
                <a:lnTo>
                  <a:pt x="6798" y="2840"/>
                </a:lnTo>
                <a:lnTo>
                  <a:pt x="6674" y="2886"/>
                </a:lnTo>
                <a:lnTo>
                  <a:pt x="6550" y="2932"/>
                </a:lnTo>
                <a:lnTo>
                  <a:pt x="6427" y="2976"/>
                </a:lnTo>
                <a:lnTo>
                  <a:pt x="6303" y="3020"/>
                </a:lnTo>
                <a:lnTo>
                  <a:pt x="6180" y="3063"/>
                </a:lnTo>
                <a:lnTo>
                  <a:pt x="6056" y="3106"/>
                </a:lnTo>
                <a:lnTo>
                  <a:pt x="5933" y="3148"/>
                </a:lnTo>
                <a:lnTo>
                  <a:pt x="5809" y="3189"/>
                </a:lnTo>
                <a:lnTo>
                  <a:pt x="5685" y="3230"/>
                </a:lnTo>
                <a:lnTo>
                  <a:pt x="5562" y="3270"/>
                </a:lnTo>
                <a:lnTo>
                  <a:pt x="5438" y="3310"/>
                </a:lnTo>
                <a:lnTo>
                  <a:pt x="5315" y="3349"/>
                </a:lnTo>
                <a:lnTo>
                  <a:pt x="5191" y="3388"/>
                </a:lnTo>
                <a:lnTo>
                  <a:pt x="5068" y="3426"/>
                </a:lnTo>
                <a:lnTo>
                  <a:pt x="4944" y="3464"/>
                </a:lnTo>
                <a:lnTo>
                  <a:pt x="4820" y="3502"/>
                </a:lnTo>
                <a:lnTo>
                  <a:pt x="4697" y="3540"/>
                </a:lnTo>
                <a:lnTo>
                  <a:pt x="4573" y="3576"/>
                </a:lnTo>
                <a:lnTo>
                  <a:pt x="4450" y="3612"/>
                </a:lnTo>
                <a:lnTo>
                  <a:pt x="4326" y="3648"/>
                </a:lnTo>
                <a:lnTo>
                  <a:pt x="4203" y="3683"/>
                </a:lnTo>
                <a:lnTo>
                  <a:pt x="4079" y="3718"/>
                </a:lnTo>
                <a:lnTo>
                  <a:pt x="3955" y="3752"/>
                </a:lnTo>
                <a:lnTo>
                  <a:pt x="3832" y="3786"/>
                </a:lnTo>
                <a:lnTo>
                  <a:pt x="3708" y="3818"/>
                </a:lnTo>
                <a:lnTo>
                  <a:pt x="3585" y="3851"/>
                </a:lnTo>
                <a:lnTo>
                  <a:pt x="3461" y="3882"/>
                </a:lnTo>
                <a:lnTo>
                  <a:pt x="3338" y="3913"/>
                </a:lnTo>
                <a:lnTo>
                  <a:pt x="3214" y="3943"/>
                </a:lnTo>
                <a:lnTo>
                  <a:pt x="3090" y="3972"/>
                </a:lnTo>
                <a:lnTo>
                  <a:pt x="2967" y="4000"/>
                </a:lnTo>
                <a:lnTo>
                  <a:pt x="2843" y="4027"/>
                </a:lnTo>
                <a:lnTo>
                  <a:pt x="2720" y="4054"/>
                </a:lnTo>
                <a:lnTo>
                  <a:pt x="2596" y="4079"/>
                </a:lnTo>
                <a:lnTo>
                  <a:pt x="2473" y="4104"/>
                </a:lnTo>
                <a:lnTo>
                  <a:pt x="2349" y="4128"/>
                </a:lnTo>
                <a:lnTo>
                  <a:pt x="2224" y="4151"/>
                </a:lnTo>
                <a:lnTo>
                  <a:pt x="2101" y="4173"/>
                </a:lnTo>
                <a:lnTo>
                  <a:pt x="1977" y="4195"/>
                </a:lnTo>
                <a:lnTo>
                  <a:pt x="1854" y="4215"/>
                </a:lnTo>
                <a:lnTo>
                  <a:pt x="1730" y="4235"/>
                </a:lnTo>
                <a:lnTo>
                  <a:pt x="1607" y="4254"/>
                </a:lnTo>
                <a:lnTo>
                  <a:pt x="1483" y="4272"/>
                </a:lnTo>
                <a:lnTo>
                  <a:pt x="1360" y="4289"/>
                </a:lnTo>
                <a:lnTo>
                  <a:pt x="1236" y="4306"/>
                </a:lnTo>
                <a:lnTo>
                  <a:pt x="1112" y="4322"/>
                </a:lnTo>
                <a:lnTo>
                  <a:pt x="989" y="4337"/>
                </a:lnTo>
                <a:lnTo>
                  <a:pt x="865" y="4352"/>
                </a:lnTo>
                <a:lnTo>
                  <a:pt x="742" y="4365"/>
                </a:lnTo>
                <a:lnTo>
                  <a:pt x="618" y="4379"/>
                </a:lnTo>
                <a:lnTo>
                  <a:pt x="495" y="4392"/>
                </a:lnTo>
                <a:lnTo>
                  <a:pt x="371" y="4404"/>
                </a:lnTo>
                <a:lnTo>
                  <a:pt x="247" y="4415"/>
                </a:lnTo>
                <a:lnTo>
                  <a:pt x="124" y="4426"/>
                </a:lnTo>
                <a:lnTo>
                  <a:pt x="0" y="4437"/>
                </a:lnTo>
                <a:lnTo>
                  <a:pt x="0" y="4033"/>
                </a:lnTo>
                <a:close/>
              </a:path>
            </a:pathLst>
          </a:custGeom>
          <a:solidFill>
            <a:srgbClr val="6D97C0">
              <a:alpha val="1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491040" y="2918160"/>
            <a:ext cx="2625120" cy="1256400"/>
          </a:xfrm>
          <a:custGeom>
            <a:avLst/>
            <a:gdLst/>
            <a:ahLst/>
            <a:rect l="0" t="0" r="r" b="b"/>
            <a:pathLst>
              <a:path w="7292" h="3490">
                <a:moveTo>
                  <a:pt x="0" y="2923"/>
                </a:moveTo>
                <a:lnTo>
                  <a:pt x="124" y="2905"/>
                </a:lnTo>
                <a:lnTo>
                  <a:pt x="247" y="2886"/>
                </a:lnTo>
                <a:lnTo>
                  <a:pt x="371" y="2866"/>
                </a:lnTo>
                <a:lnTo>
                  <a:pt x="495" y="2847"/>
                </a:lnTo>
                <a:lnTo>
                  <a:pt x="618" y="2827"/>
                </a:lnTo>
                <a:lnTo>
                  <a:pt x="742" y="2806"/>
                </a:lnTo>
                <a:lnTo>
                  <a:pt x="865" y="2785"/>
                </a:lnTo>
                <a:lnTo>
                  <a:pt x="989" y="2764"/>
                </a:lnTo>
                <a:lnTo>
                  <a:pt x="1112" y="2742"/>
                </a:lnTo>
                <a:lnTo>
                  <a:pt x="1236" y="2719"/>
                </a:lnTo>
                <a:lnTo>
                  <a:pt x="1360" y="2696"/>
                </a:lnTo>
                <a:lnTo>
                  <a:pt x="1483" y="2673"/>
                </a:lnTo>
                <a:lnTo>
                  <a:pt x="1607" y="2648"/>
                </a:lnTo>
                <a:lnTo>
                  <a:pt x="1730" y="2624"/>
                </a:lnTo>
                <a:lnTo>
                  <a:pt x="1854" y="2598"/>
                </a:lnTo>
                <a:lnTo>
                  <a:pt x="1977" y="2572"/>
                </a:lnTo>
                <a:lnTo>
                  <a:pt x="2101" y="2545"/>
                </a:lnTo>
                <a:lnTo>
                  <a:pt x="2224" y="2517"/>
                </a:lnTo>
                <a:lnTo>
                  <a:pt x="2349" y="2489"/>
                </a:lnTo>
                <a:lnTo>
                  <a:pt x="2473" y="2460"/>
                </a:lnTo>
                <a:lnTo>
                  <a:pt x="2596" y="2429"/>
                </a:lnTo>
                <a:lnTo>
                  <a:pt x="2720" y="2398"/>
                </a:lnTo>
                <a:lnTo>
                  <a:pt x="2843" y="2366"/>
                </a:lnTo>
                <a:lnTo>
                  <a:pt x="2967" y="2333"/>
                </a:lnTo>
                <a:lnTo>
                  <a:pt x="3090" y="2298"/>
                </a:lnTo>
                <a:lnTo>
                  <a:pt x="3214" y="2263"/>
                </a:lnTo>
                <a:lnTo>
                  <a:pt x="3338" y="2226"/>
                </a:lnTo>
                <a:lnTo>
                  <a:pt x="3461" y="2188"/>
                </a:lnTo>
                <a:lnTo>
                  <a:pt x="3585" y="2148"/>
                </a:lnTo>
                <a:lnTo>
                  <a:pt x="3708" y="2107"/>
                </a:lnTo>
                <a:lnTo>
                  <a:pt x="3832" y="2065"/>
                </a:lnTo>
                <a:lnTo>
                  <a:pt x="3955" y="2021"/>
                </a:lnTo>
                <a:lnTo>
                  <a:pt x="4079" y="1975"/>
                </a:lnTo>
                <a:lnTo>
                  <a:pt x="4203" y="1928"/>
                </a:lnTo>
                <a:lnTo>
                  <a:pt x="4326" y="1879"/>
                </a:lnTo>
                <a:lnTo>
                  <a:pt x="4450" y="1828"/>
                </a:lnTo>
                <a:lnTo>
                  <a:pt x="4573" y="1775"/>
                </a:lnTo>
                <a:lnTo>
                  <a:pt x="4697" y="1720"/>
                </a:lnTo>
                <a:lnTo>
                  <a:pt x="4820" y="1663"/>
                </a:lnTo>
                <a:lnTo>
                  <a:pt x="4944" y="1604"/>
                </a:lnTo>
                <a:lnTo>
                  <a:pt x="5068" y="1543"/>
                </a:lnTo>
                <a:lnTo>
                  <a:pt x="5191" y="1480"/>
                </a:lnTo>
                <a:lnTo>
                  <a:pt x="5315" y="1414"/>
                </a:lnTo>
                <a:lnTo>
                  <a:pt x="5438" y="1346"/>
                </a:lnTo>
                <a:lnTo>
                  <a:pt x="5562" y="1276"/>
                </a:lnTo>
                <a:lnTo>
                  <a:pt x="5685" y="1203"/>
                </a:lnTo>
                <a:lnTo>
                  <a:pt x="5809" y="1127"/>
                </a:lnTo>
                <a:lnTo>
                  <a:pt x="5933" y="1050"/>
                </a:lnTo>
                <a:lnTo>
                  <a:pt x="6056" y="969"/>
                </a:lnTo>
                <a:lnTo>
                  <a:pt x="6180" y="886"/>
                </a:lnTo>
                <a:lnTo>
                  <a:pt x="6303" y="799"/>
                </a:lnTo>
                <a:lnTo>
                  <a:pt x="6427" y="710"/>
                </a:lnTo>
                <a:lnTo>
                  <a:pt x="6550" y="618"/>
                </a:lnTo>
                <a:lnTo>
                  <a:pt x="6674" y="523"/>
                </a:lnTo>
                <a:lnTo>
                  <a:pt x="6798" y="425"/>
                </a:lnTo>
                <a:lnTo>
                  <a:pt x="6921" y="323"/>
                </a:lnTo>
                <a:lnTo>
                  <a:pt x="7045" y="219"/>
                </a:lnTo>
                <a:lnTo>
                  <a:pt x="7168" y="111"/>
                </a:lnTo>
                <a:lnTo>
                  <a:pt x="7292" y="0"/>
                </a:lnTo>
                <a:lnTo>
                  <a:pt x="7292" y="1753"/>
                </a:lnTo>
                <a:lnTo>
                  <a:pt x="7168" y="1790"/>
                </a:lnTo>
                <a:lnTo>
                  <a:pt x="7045" y="1827"/>
                </a:lnTo>
                <a:lnTo>
                  <a:pt x="6921" y="1864"/>
                </a:lnTo>
                <a:lnTo>
                  <a:pt x="6798" y="1900"/>
                </a:lnTo>
                <a:lnTo>
                  <a:pt x="6674" y="1936"/>
                </a:lnTo>
                <a:lnTo>
                  <a:pt x="6550" y="1972"/>
                </a:lnTo>
                <a:lnTo>
                  <a:pt x="6427" y="2008"/>
                </a:lnTo>
                <a:lnTo>
                  <a:pt x="6303" y="2043"/>
                </a:lnTo>
                <a:lnTo>
                  <a:pt x="6180" y="2078"/>
                </a:lnTo>
                <a:lnTo>
                  <a:pt x="5933" y="2148"/>
                </a:lnTo>
                <a:lnTo>
                  <a:pt x="5809" y="2182"/>
                </a:lnTo>
                <a:lnTo>
                  <a:pt x="5685" y="2216"/>
                </a:lnTo>
                <a:lnTo>
                  <a:pt x="5562" y="2250"/>
                </a:lnTo>
                <a:lnTo>
                  <a:pt x="5438" y="2284"/>
                </a:lnTo>
                <a:lnTo>
                  <a:pt x="5315" y="2318"/>
                </a:lnTo>
                <a:lnTo>
                  <a:pt x="5191" y="2351"/>
                </a:lnTo>
                <a:lnTo>
                  <a:pt x="5068" y="2385"/>
                </a:lnTo>
                <a:lnTo>
                  <a:pt x="4944" y="2418"/>
                </a:lnTo>
                <a:lnTo>
                  <a:pt x="4820" y="2451"/>
                </a:lnTo>
                <a:lnTo>
                  <a:pt x="4697" y="2484"/>
                </a:lnTo>
                <a:lnTo>
                  <a:pt x="4573" y="2516"/>
                </a:lnTo>
                <a:lnTo>
                  <a:pt x="4450" y="2549"/>
                </a:lnTo>
                <a:lnTo>
                  <a:pt x="4326" y="2581"/>
                </a:lnTo>
                <a:lnTo>
                  <a:pt x="4203" y="2614"/>
                </a:lnTo>
                <a:lnTo>
                  <a:pt x="4079" y="2646"/>
                </a:lnTo>
                <a:lnTo>
                  <a:pt x="3955" y="2678"/>
                </a:lnTo>
                <a:lnTo>
                  <a:pt x="3832" y="2709"/>
                </a:lnTo>
                <a:lnTo>
                  <a:pt x="3708" y="2741"/>
                </a:lnTo>
                <a:lnTo>
                  <a:pt x="3585" y="2772"/>
                </a:lnTo>
                <a:lnTo>
                  <a:pt x="3461" y="2803"/>
                </a:lnTo>
                <a:lnTo>
                  <a:pt x="3338" y="2833"/>
                </a:lnTo>
                <a:lnTo>
                  <a:pt x="3214" y="2863"/>
                </a:lnTo>
                <a:lnTo>
                  <a:pt x="3090" y="2893"/>
                </a:lnTo>
                <a:lnTo>
                  <a:pt x="2967" y="2923"/>
                </a:lnTo>
                <a:lnTo>
                  <a:pt x="2843" y="2952"/>
                </a:lnTo>
                <a:lnTo>
                  <a:pt x="2720" y="2981"/>
                </a:lnTo>
                <a:lnTo>
                  <a:pt x="2596" y="3009"/>
                </a:lnTo>
                <a:lnTo>
                  <a:pt x="2473" y="3037"/>
                </a:lnTo>
                <a:lnTo>
                  <a:pt x="2349" y="3064"/>
                </a:lnTo>
                <a:lnTo>
                  <a:pt x="2224" y="3091"/>
                </a:lnTo>
                <a:lnTo>
                  <a:pt x="2101" y="3117"/>
                </a:lnTo>
                <a:lnTo>
                  <a:pt x="1977" y="3143"/>
                </a:lnTo>
                <a:lnTo>
                  <a:pt x="1854" y="3169"/>
                </a:lnTo>
                <a:lnTo>
                  <a:pt x="1730" y="3194"/>
                </a:lnTo>
                <a:lnTo>
                  <a:pt x="1607" y="3218"/>
                </a:lnTo>
                <a:lnTo>
                  <a:pt x="1483" y="3242"/>
                </a:lnTo>
                <a:lnTo>
                  <a:pt x="1360" y="3265"/>
                </a:lnTo>
                <a:lnTo>
                  <a:pt x="1236" y="3288"/>
                </a:lnTo>
                <a:lnTo>
                  <a:pt x="1112" y="3311"/>
                </a:lnTo>
                <a:lnTo>
                  <a:pt x="989" y="3333"/>
                </a:lnTo>
                <a:lnTo>
                  <a:pt x="865" y="3354"/>
                </a:lnTo>
                <a:lnTo>
                  <a:pt x="742" y="3375"/>
                </a:lnTo>
                <a:lnTo>
                  <a:pt x="618" y="3395"/>
                </a:lnTo>
                <a:lnTo>
                  <a:pt x="495" y="3415"/>
                </a:lnTo>
                <a:lnTo>
                  <a:pt x="371" y="3434"/>
                </a:lnTo>
                <a:lnTo>
                  <a:pt x="247" y="3453"/>
                </a:lnTo>
                <a:lnTo>
                  <a:pt x="124" y="3472"/>
                </a:lnTo>
                <a:lnTo>
                  <a:pt x="0" y="3490"/>
                </a:lnTo>
                <a:lnTo>
                  <a:pt x="0" y="2923"/>
                </a:lnTo>
                <a:close/>
              </a:path>
            </a:pathLst>
          </a:custGeom>
          <a:solidFill>
            <a:srgbClr val="1F5F9E">
              <a:alpha val="1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491040" y="2692440"/>
            <a:ext cx="2625120" cy="1190160"/>
          </a:xfrm>
          <a:custGeom>
            <a:avLst/>
            <a:gdLst/>
            <a:ahLst/>
            <a:rect l="0" t="0" r="r" b="b"/>
            <a:pathLst>
              <a:path w="7292" h="3306">
                <a:moveTo>
                  <a:pt x="0" y="1182"/>
                </a:moveTo>
                <a:lnTo>
                  <a:pt x="124" y="1197"/>
                </a:lnTo>
                <a:lnTo>
                  <a:pt x="247" y="1211"/>
                </a:lnTo>
                <a:lnTo>
                  <a:pt x="371" y="1225"/>
                </a:lnTo>
                <a:lnTo>
                  <a:pt x="495" y="1238"/>
                </a:lnTo>
                <a:lnTo>
                  <a:pt x="618" y="1252"/>
                </a:lnTo>
                <a:lnTo>
                  <a:pt x="742" y="1264"/>
                </a:lnTo>
                <a:lnTo>
                  <a:pt x="865" y="1276"/>
                </a:lnTo>
                <a:lnTo>
                  <a:pt x="989" y="1288"/>
                </a:lnTo>
                <a:lnTo>
                  <a:pt x="1112" y="1299"/>
                </a:lnTo>
                <a:lnTo>
                  <a:pt x="1236" y="1309"/>
                </a:lnTo>
                <a:lnTo>
                  <a:pt x="1360" y="1319"/>
                </a:lnTo>
                <a:lnTo>
                  <a:pt x="1483" y="1328"/>
                </a:lnTo>
                <a:lnTo>
                  <a:pt x="1607" y="1336"/>
                </a:lnTo>
                <a:lnTo>
                  <a:pt x="1730" y="1344"/>
                </a:lnTo>
                <a:lnTo>
                  <a:pt x="1854" y="1351"/>
                </a:lnTo>
                <a:lnTo>
                  <a:pt x="1977" y="1357"/>
                </a:lnTo>
                <a:lnTo>
                  <a:pt x="2101" y="1362"/>
                </a:lnTo>
                <a:lnTo>
                  <a:pt x="2224" y="1366"/>
                </a:lnTo>
                <a:lnTo>
                  <a:pt x="2349" y="1369"/>
                </a:lnTo>
                <a:lnTo>
                  <a:pt x="2473" y="1371"/>
                </a:lnTo>
                <a:lnTo>
                  <a:pt x="2596" y="1371"/>
                </a:lnTo>
                <a:lnTo>
                  <a:pt x="2720" y="1371"/>
                </a:lnTo>
                <a:lnTo>
                  <a:pt x="2843" y="1368"/>
                </a:lnTo>
                <a:lnTo>
                  <a:pt x="2967" y="1365"/>
                </a:lnTo>
                <a:lnTo>
                  <a:pt x="3090" y="1360"/>
                </a:lnTo>
                <a:lnTo>
                  <a:pt x="3214" y="1353"/>
                </a:lnTo>
                <a:lnTo>
                  <a:pt x="3338" y="1345"/>
                </a:lnTo>
                <a:lnTo>
                  <a:pt x="3461" y="1335"/>
                </a:lnTo>
                <a:lnTo>
                  <a:pt x="3585" y="1323"/>
                </a:lnTo>
                <a:lnTo>
                  <a:pt x="3708" y="1309"/>
                </a:lnTo>
                <a:lnTo>
                  <a:pt x="3832" y="1293"/>
                </a:lnTo>
                <a:lnTo>
                  <a:pt x="3955" y="1274"/>
                </a:lnTo>
                <a:lnTo>
                  <a:pt x="4079" y="1254"/>
                </a:lnTo>
                <a:lnTo>
                  <a:pt x="4203" y="1232"/>
                </a:lnTo>
                <a:lnTo>
                  <a:pt x="4326" y="1207"/>
                </a:lnTo>
                <a:lnTo>
                  <a:pt x="4450" y="1180"/>
                </a:lnTo>
                <a:lnTo>
                  <a:pt x="4573" y="1151"/>
                </a:lnTo>
                <a:lnTo>
                  <a:pt x="4697" y="1120"/>
                </a:lnTo>
                <a:lnTo>
                  <a:pt x="4820" y="1086"/>
                </a:lnTo>
                <a:lnTo>
                  <a:pt x="4944" y="1050"/>
                </a:lnTo>
                <a:lnTo>
                  <a:pt x="5068" y="1013"/>
                </a:lnTo>
                <a:lnTo>
                  <a:pt x="5191" y="973"/>
                </a:lnTo>
                <a:lnTo>
                  <a:pt x="5315" y="931"/>
                </a:lnTo>
                <a:lnTo>
                  <a:pt x="5438" y="886"/>
                </a:lnTo>
                <a:lnTo>
                  <a:pt x="5562" y="840"/>
                </a:lnTo>
                <a:lnTo>
                  <a:pt x="5685" y="792"/>
                </a:lnTo>
                <a:lnTo>
                  <a:pt x="5809" y="741"/>
                </a:lnTo>
                <a:lnTo>
                  <a:pt x="5933" y="689"/>
                </a:lnTo>
                <a:lnTo>
                  <a:pt x="6056" y="636"/>
                </a:lnTo>
                <a:lnTo>
                  <a:pt x="6180" y="580"/>
                </a:lnTo>
                <a:lnTo>
                  <a:pt x="6303" y="522"/>
                </a:lnTo>
                <a:lnTo>
                  <a:pt x="6427" y="463"/>
                </a:lnTo>
                <a:lnTo>
                  <a:pt x="6550" y="402"/>
                </a:lnTo>
                <a:lnTo>
                  <a:pt x="6674" y="340"/>
                </a:lnTo>
                <a:lnTo>
                  <a:pt x="6798" y="275"/>
                </a:lnTo>
                <a:lnTo>
                  <a:pt x="6921" y="209"/>
                </a:lnTo>
                <a:lnTo>
                  <a:pt x="7045" y="141"/>
                </a:lnTo>
                <a:lnTo>
                  <a:pt x="7168" y="71"/>
                </a:lnTo>
                <a:lnTo>
                  <a:pt x="7292" y="0"/>
                </a:lnTo>
                <a:lnTo>
                  <a:pt x="7292" y="2583"/>
                </a:lnTo>
                <a:lnTo>
                  <a:pt x="7168" y="2576"/>
                </a:lnTo>
                <a:lnTo>
                  <a:pt x="7045" y="2569"/>
                </a:lnTo>
                <a:lnTo>
                  <a:pt x="6921" y="2562"/>
                </a:lnTo>
                <a:lnTo>
                  <a:pt x="6798" y="2555"/>
                </a:lnTo>
                <a:lnTo>
                  <a:pt x="6674" y="2549"/>
                </a:lnTo>
                <a:lnTo>
                  <a:pt x="6550" y="2543"/>
                </a:lnTo>
                <a:lnTo>
                  <a:pt x="6427" y="2538"/>
                </a:lnTo>
                <a:lnTo>
                  <a:pt x="6303" y="2533"/>
                </a:lnTo>
                <a:lnTo>
                  <a:pt x="6180" y="2528"/>
                </a:lnTo>
                <a:lnTo>
                  <a:pt x="6056" y="2525"/>
                </a:lnTo>
                <a:lnTo>
                  <a:pt x="5933" y="2521"/>
                </a:lnTo>
                <a:lnTo>
                  <a:pt x="5809" y="2519"/>
                </a:lnTo>
                <a:lnTo>
                  <a:pt x="5685" y="2517"/>
                </a:lnTo>
                <a:lnTo>
                  <a:pt x="5562" y="2516"/>
                </a:lnTo>
                <a:lnTo>
                  <a:pt x="5438" y="2515"/>
                </a:lnTo>
                <a:lnTo>
                  <a:pt x="5315" y="2516"/>
                </a:lnTo>
                <a:lnTo>
                  <a:pt x="5191" y="2517"/>
                </a:lnTo>
                <a:lnTo>
                  <a:pt x="5068" y="2520"/>
                </a:lnTo>
                <a:lnTo>
                  <a:pt x="4944" y="2523"/>
                </a:lnTo>
                <a:lnTo>
                  <a:pt x="4820" y="2528"/>
                </a:lnTo>
                <a:lnTo>
                  <a:pt x="4697" y="2533"/>
                </a:lnTo>
                <a:lnTo>
                  <a:pt x="4573" y="2540"/>
                </a:lnTo>
                <a:lnTo>
                  <a:pt x="4450" y="2548"/>
                </a:lnTo>
                <a:lnTo>
                  <a:pt x="4326" y="2557"/>
                </a:lnTo>
                <a:lnTo>
                  <a:pt x="4203" y="2568"/>
                </a:lnTo>
                <a:lnTo>
                  <a:pt x="4079" y="2579"/>
                </a:lnTo>
                <a:lnTo>
                  <a:pt x="3955" y="2592"/>
                </a:lnTo>
                <a:lnTo>
                  <a:pt x="3832" y="2606"/>
                </a:lnTo>
                <a:lnTo>
                  <a:pt x="3708" y="2621"/>
                </a:lnTo>
                <a:lnTo>
                  <a:pt x="3585" y="2637"/>
                </a:lnTo>
                <a:lnTo>
                  <a:pt x="3461" y="2654"/>
                </a:lnTo>
                <a:lnTo>
                  <a:pt x="3338" y="2673"/>
                </a:lnTo>
                <a:lnTo>
                  <a:pt x="3214" y="2692"/>
                </a:lnTo>
                <a:lnTo>
                  <a:pt x="3090" y="2712"/>
                </a:lnTo>
                <a:lnTo>
                  <a:pt x="2967" y="2732"/>
                </a:lnTo>
                <a:lnTo>
                  <a:pt x="2843" y="2754"/>
                </a:lnTo>
                <a:lnTo>
                  <a:pt x="2720" y="2776"/>
                </a:lnTo>
                <a:lnTo>
                  <a:pt x="2596" y="2799"/>
                </a:lnTo>
                <a:lnTo>
                  <a:pt x="2473" y="2822"/>
                </a:lnTo>
                <a:lnTo>
                  <a:pt x="2349" y="2845"/>
                </a:lnTo>
                <a:lnTo>
                  <a:pt x="2224" y="2869"/>
                </a:lnTo>
                <a:lnTo>
                  <a:pt x="2101" y="2893"/>
                </a:lnTo>
                <a:lnTo>
                  <a:pt x="1977" y="2918"/>
                </a:lnTo>
                <a:lnTo>
                  <a:pt x="1854" y="2942"/>
                </a:lnTo>
                <a:lnTo>
                  <a:pt x="1730" y="2967"/>
                </a:lnTo>
                <a:lnTo>
                  <a:pt x="1607" y="2992"/>
                </a:lnTo>
                <a:lnTo>
                  <a:pt x="1483" y="3016"/>
                </a:lnTo>
                <a:lnTo>
                  <a:pt x="1360" y="3041"/>
                </a:lnTo>
                <a:lnTo>
                  <a:pt x="1236" y="3066"/>
                </a:lnTo>
                <a:lnTo>
                  <a:pt x="1112" y="3091"/>
                </a:lnTo>
                <a:lnTo>
                  <a:pt x="989" y="3115"/>
                </a:lnTo>
                <a:lnTo>
                  <a:pt x="865" y="3140"/>
                </a:lnTo>
                <a:lnTo>
                  <a:pt x="618" y="3188"/>
                </a:lnTo>
                <a:lnTo>
                  <a:pt x="495" y="3212"/>
                </a:lnTo>
                <a:lnTo>
                  <a:pt x="371" y="3236"/>
                </a:lnTo>
                <a:lnTo>
                  <a:pt x="247" y="3259"/>
                </a:lnTo>
                <a:lnTo>
                  <a:pt x="124" y="3283"/>
                </a:lnTo>
                <a:lnTo>
                  <a:pt x="0" y="3306"/>
                </a:lnTo>
                <a:lnTo>
                  <a:pt x="0" y="1182"/>
                </a:lnTo>
                <a:close/>
              </a:path>
            </a:pathLst>
          </a:custGeom>
          <a:solidFill>
            <a:srgbClr val="053E6E">
              <a:alpha val="1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91040" y="3303000"/>
            <a:ext cx="2625120" cy="968040"/>
          </a:xfrm>
          <a:custGeom>
            <a:avLst/>
            <a:gdLst/>
            <a:ahLst/>
            <a:rect l="0" t="0" r="r" b="b"/>
            <a:pathLst>
              <a:path fill="none" w="7292" h="2689">
                <a:moveTo>
                  <a:pt x="0" y="2689"/>
                </a:moveTo>
                <a:lnTo>
                  <a:pt x="124" y="2676"/>
                </a:lnTo>
                <a:lnTo>
                  <a:pt x="247" y="2662"/>
                </a:lnTo>
                <a:lnTo>
                  <a:pt x="371" y="2647"/>
                </a:lnTo>
                <a:lnTo>
                  <a:pt x="495" y="2633"/>
                </a:lnTo>
                <a:lnTo>
                  <a:pt x="618" y="2617"/>
                </a:lnTo>
                <a:lnTo>
                  <a:pt x="742" y="2601"/>
                </a:lnTo>
                <a:lnTo>
                  <a:pt x="865" y="2584"/>
                </a:lnTo>
                <a:lnTo>
                  <a:pt x="989" y="2567"/>
                </a:lnTo>
                <a:lnTo>
                  <a:pt x="1112" y="2549"/>
                </a:lnTo>
                <a:lnTo>
                  <a:pt x="1236" y="2531"/>
                </a:lnTo>
                <a:lnTo>
                  <a:pt x="1360" y="2512"/>
                </a:lnTo>
                <a:lnTo>
                  <a:pt x="1483" y="2492"/>
                </a:lnTo>
                <a:lnTo>
                  <a:pt x="1607" y="2471"/>
                </a:lnTo>
                <a:lnTo>
                  <a:pt x="1730" y="2450"/>
                </a:lnTo>
                <a:lnTo>
                  <a:pt x="1854" y="2427"/>
                </a:lnTo>
                <a:lnTo>
                  <a:pt x="1977" y="2404"/>
                </a:lnTo>
                <a:lnTo>
                  <a:pt x="2101" y="2381"/>
                </a:lnTo>
                <a:lnTo>
                  <a:pt x="2224" y="2356"/>
                </a:lnTo>
                <a:lnTo>
                  <a:pt x="2349" y="2330"/>
                </a:lnTo>
                <a:lnTo>
                  <a:pt x="2473" y="2304"/>
                </a:lnTo>
                <a:lnTo>
                  <a:pt x="2596" y="2276"/>
                </a:lnTo>
                <a:lnTo>
                  <a:pt x="2720" y="2248"/>
                </a:lnTo>
                <a:lnTo>
                  <a:pt x="2843" y="2218"/>
                </a:lnTo>
                <a:lnTo>
                  <a:pt x="2967" y="2188"/>
                </a:lnTo>
                <a:lnTo>
                  <a:pt x="3090" y="2156"/>
                </a:lnTo>
                <a:lnTo>
                  <a:pt x="3214" y="2123"/>
                </a:lnTo>
                <a:lnTo>
                  <a:pt x="3338" y="2089"/>
                </a:lnTo>
                <a:lnTo>
                  <a:pt x="3461" y="2053"/>
                </a:lnTo>
                <a:lnTo>
                  <a:pt x="3585" y="2017"/>
                </a:lnTo>
                <a:lnTo>
                  <a:pt x="3708" y="1979"/>
                </a:lnTo>
                <a:lnTo>
                  <a:pt x="3832" y="1939"/>
                </a:lnTo>
                <a:lnTo>
                  <a:pt x="3955" y="1898"/>
                </a:lnTo>
                <a:lnTo>
                  <a:pt x="4079" y="1856"/>
                </a:lnTo>
                <a:lnTo>
                  <a:pt x="4203" y="1812"/>
                </a:lnTo>
                <a:lnTo>
                  <a:pt x="4326" y="1767"/>
                </a:lnTo>
                <a:lnTo>
                  <a:pt x="4450" y="1719"/>
                </a:lnTo>
                <a:lnTo>
                  <a:pt x="4573" y="1670"/>
                </a:lnTo>
                <a:lnTo>
                  <a:pt x="4697" y="1620"/>
                </a:lnTo>
                <a:lnTo>
                  <a:pt x="4820" y="1567"/>
                </a:lnTo>
                <a:lnTo>
                  <a:pt x="4944" y="1513"/>
                </a:lnTo>
                <a:lnTo>
                  <a:pt x="5068" y="1456"/>
                </a:lnTo>
                <a:lnTo>
                  <a:pt x="5191" y="1398"/>
                </a:lnTo>
                <a:lnTo>
                  <a:pt x="5315" y="1337"/>
                </a:lnTo>
                <a:lnTo>
                  <a:pt x="5438" y="1274"/>
                </a:lnTo>
                <a:lnTo>
                  <a:pt x="5562" y="1209"/>
                </a:lnTo>
                <a:lnTo>
                  <a:pt x="5685" y="1141"/>
                </a:lnTo>
                <a:lnTo>
                  <a:pt x="5809" y="1071"/>
                </a:lnTo>
                <a:lnTo>
                  <a:pt x="5933" y="999"/>
                </a:lnTo>
                <a:lnTo>
                  <a:pt x="6056" y="923"/>
                </a:lnTo>
                <a:lnTo>
                  <a:pt x="6180" y="845"/>
                </a:lnTo>
                <a:lnTo>
                  <a:pt x="6303" y="764"/>
                </a:lnTo>
                <a:lnTo>
                  <a:pt x="6427" y="681"/>
                </a:lnTo>
                <a:lnTo>
                  <a:pt x="6550" y="594"/>
                </a:lnTo>
                <a:lnTo>
                  <a:pt x="6674" y="503"/>
                </a:lnTo>
                <a:lnTo>
                  <a:pt x="6798" y="410"/>
                </a:lnTo>
                <a:lnTo>
                  <a:pt x="6921" y="313"/>
                </a:lnTo>
                <a:lnTo>
                  <a:pt x="7045" y="212"/>
                </a:lnTo>
                <a:lnTo>
                  <a:pt x="7168" y="108"/>
                </a:lnTo>
                <a:lnTo>
                  <a:pt x="7292" y="0"/>
                </a:lnTo>
              </a:path>
            </a:pathLst>
          </a:custGeom>
          <a:ln w="13320">
            <a:solidFill>
              <a:srgbClr val="6D97C0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91040" y="3276720"/>
            <a:ext cx="2625120" cy="811800"/>
          </a:xfrm>
          <a:custGeom>
            <a:avLst/>
            <a:gdLst/>
            <a:ahLst/>
            <a:rect l="0" t="0" r="r" b="b"/>
            <a:pathLst>
              <a:path fill="none" w="7292" h="2255">
                <a:moveTo>
                  <a:pt x="0" y="2255"/>
                </a:moveTo>
                <a:lnTo>
                  <a:pt x="124" y="2236"/>
                </a:lnTo>
                <a:lnTo>
                  <a:pt x="247" y="2217"/>
                </a:lnTo>
                <a:lnTo>
                  <a:pt x="371" y="2197"/>
                </a:lnTo>
                <a:lnTo>
                  <a:pt x="495" y="2176"/>
                </a:lnTo>
                <a:lnTo>
                  <a:pt x="618" y="2156"/>
                </a:lnTo>
                <a:lnTo>
                  <a:pt x="742" y="2134"/>
                </a:lnTo>
                <a:lnTo>
                  <a:pt x="865" y="2113"/>
                </a:lnTo>
                <a:lnTo>
                  <a:pt x="989" y="2090"/>
                </a:lnTo>
                <a:lnTo>
                  <a:pt x="1112" y="2068"/>
                </a:lnTo>
                <a:lnTo>
                  <a:pt x="1236" y="2044"/>
                </a:lnTo>
                <a:lnTo>
                  <a:pt x="1360" y="2021"/>
                </a:lnTo>
                <a:lnTo>
                  <a:pt x="1483" y="1997"/>
                </a:lnTo>
                <a:lnTo>
                  <a:pt x="1607" y="1972"/>
                </a:lnTo>
                <a:lnTo>
                  <a:pt x="1730" y="1947"/>
                </a:lnTo>
                <a:lnTo>
                  <a:pt x="1854" y="1921"/>
                </a:lnTo>
                <a:lnTo>
                  <a:pt x="1977" y="1894"/>
                </a:lnTo>
                <a:lnTo>
                  <a:pt x="2101" y="1867"/>
                </a:lnTo>
                <a:lnTo>
                  <a:pt x="2224" y="1840"/>
                </a:lnTo>
                <a:lnTo>
                  <a:pt x="2349" y="1811"/>
                </a:lnTo>
                <a:lnTo>
                  <a:pt x="2473" y="1783"/>
                </a:lnTo>
                <a:lnTo>
                  <a:pt x="2596" y="1753"/>
                </a:lnTo>
                <a:lnTo>
                  <a:pt x="2720" y="1723"/>
                </a:lnTo>
                <a:lnTo>
                  <a:pt x="2843" y="1693"/>
                </a:lnTo>
                <a:lnTo>
                  <a:pt x="2967" y="1661"/>
                </a:lnTo>
                <a:lnTo>
                  <a:pt x="3090" y="1629"/>
                </a:lnTo>
                <a:lnTo>
                  <a:pt x="3214" y="1596"/>
                </a:lnTo>
                <a:lnTo>
                  <a:pt x="3338" y="1563"/>
                </a:lnTo>
                <a:lnTo>
                  <a:pt x="3461" y="1529"/>
                </a:lnTo>
                <a:lnTo>
                  <a:pt x="3585" y="1494"/>
                </a:lnTo>
                <a:lnTo>
                  <a:pt x="3708" y="1458"/>
                </a:lnTo>
                <a:lnTo>
                  <a:pt x="3832" y="1421"/>
                </a:lnTo>
                <a:lnTo>
                  <a:pt x="3955" y="1384"/>
                </a:lnTo>
                <a:lnTo>
                  <a:pt x="4079" y="1346"/>
                </a:lnTo>
                <a:lnTo>
                  <a:pt x="4203" y="1307"/>
                </a:lnTo>
                <a:lnTo>
                  <a:pt x="4326" y="1267"/>
                </a:lnTo>
                <a:lnTo>
                  <a:pt x="4450" y="1226"/>
                </a:lnTo>
                <a:lnTo>
                  <a:pt x="4573" y="1185"/>
                </a:lnTo>
                <a:lnTo>
                  <a:pt x="4697" y="1142"/>
                </a:lnTo>
                <a:lnTo>
                  <a:pt x="4820" y="1099"/>
                </a:lnTo>
                <a:lnTo>
                  <a:pt x="4944" y="1055"/>
                </a:lnTo>
                <a:lnTo>
                  <a:pt x="5068" y="1008"/>
                </a:lnTo>
                <a:lnTo>
                  <a:pt x="5191" y="962"/>
                </a:lnTo>
                <a:lnTo>
                  <a:pt x="5315" y="914"/>
                </a:lnTo>
                <a:lnTo>
                  <a:pt x="5438" y="866"/>
                </a:lnTo>
                <a:lnTo>
                  <a:pt x="5562" y="817"/>
                </a:lnTo>
                <a:lnTo>
                  <a:pt x="5685" y="766"/>
                </a:lnTo>
                <a:lnTo>
                  <a:pt x="5809" y="714"/>
                </a:lnTo>
                <a:lnTo>
                  <a:pt x="5933" y="662"/>
                </a:lnTo>
                <a:lnTo>
                  <a:pt x="6056" y="608"/>
                </a:lnTo>
                <a:lnTo>
                  <a:pt x="6180" y="553"/>
                </a:lnTo>
                <a:lnTo>
                  <a:pt x="6303" y="497"/>
                </a:lnTo>
                <a:lnTo>
                  <a:pt x="6427" y="439"/>
                </a:lnTo>
                <a:lnTo>
                  <a:pt x="6550" y="380"/>
                </a:lnTo>
                <a:lnTo>
                  <a:pt x="6674" y="320"/>
                </a:lnTo>
                <a:lnTo>
                  <a:pt x="6798" y="259"/>
                </a:lnTo>
                <a:lnTo>
                  <a:pt x="6921" y="196"/>
                </a:lnTo>
                <a:lnTo>
                  <a:pt x="7045" y="132"/>
                </a:lnTo>
                <a:lnTo>
                  <a:pt x="7168" y="67"/>
                </a:lnTo>
                <a:lnTo>
                  <a:pt x="7292" y="0"/>
                </a:lnTo>
              </a:path>
            </a:pathLst>
          </a:custGeom>
          <a:ln w="13320">
            <a:solidFill>
              <a:srgbClr val="1F5F9E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91040" y="3246840"/>
            <a:ext cx="2625120" cy="338400"/>
          </a:xfrm>
          <a:custGeom>
            <a:avLst/>
            <a:gdLst/>
            <a:ahLst/>
            <a:rect l="0" t="0" r="r" b="b"/>
            <a:pathLst>
              <a:path fill="none" w="7292" h="940">
                <a:moveTo>
                  <a:pt x="0" y="940"/>
                </a:moveTo>
                <a:lnTo>
                  <a:pt x="124" y="926"/>
                </a:lnTo>
                <a:lnTo>
                  <a:pt x="247" y="913"/>
                </a:lnTo>
                <a:lnTo>
                  <a:pt x="371" y="899"/>
                </a:lnTo>
                <a:lnTo>
                  <a:pt x="495" y="886"/>
                </a:lnTo>
                <a:lnTo>
                  <a:pt x="618" y="872"/>
                </a:lnTo>
                <a:lnTo>
                  <a:pt x="865" y="845"/>
                </a:lnTo>
                <a:lnTo>
                  <a:pt x="989" y="831"/>
                </a:lnTo>
                <a:lnTo>
                  <a:pt x="1360" y="787"/>
                </a:lnTo>
                <a:lnTo>
                  <a:pt x="1483" y="773"/>
                </a:lnTo>
                <a:lnTo>
                  <a:pt x="1730" y="744"/>
                </a:lnTo>
                <a:lnTo>
                  <a:pt x="1854" y="730"/>
                </a:lnTo>
                <a:lnTo>
                  <a:pt x="1977" y="715"/>
                </a:lnTo>
                <a:lnTo>
                  <a:pt x="2101" y="701"/>
                </a:lnTo>
                <a:lnTo>
                  <a:pt x="2224" y="686"/>
                </a:lnTo>
                <a:lnTo>
                  <a:pt x="2349" y="671"/>
                </a:lnTo>
                <a:lnTo>
                  <a:pt x="2473" y="656"/>
                </a:lnTo>
                <a:lnTo>
                  <a:pt x="2596" y="641"/>
                </a:lnTo>
                <a:lnTo>
                  <a:pt x="2720" y="626"/>
                </a:lnTo>
                <a:lnTo>
                  <a:pt x="2843" y="611"/>
                </a:lnTo>
                <a:lnTo>
                  <a:pt x="2967" y="596"/>
                </a:lnTo>
                <a:lnTo>
                  <a:pt x="3090" y="580"/>
                </a:lnTo>
                <a:lnTo>
                  <a:pt x="3214" y="565"/>
                </a:lnTo>
                <a:lnTo>
                  <a:pt x="3338" y="549"/>
                </a:lnTo>
                <a:lnTo>
                  <a:pt x="3461" y="534"/>
                </a:lnTo>
                <a:lnTo>
                  <a:pt x="3585" y="518"/>
                </a:lnTo>
                <a:lnTo>
                  <a:pt x="3708" y="502"/>
                </a:lnTo>
                <a:lnTo>
                  <a:pt x="3832" y="486"/>
                </a:lnTo>
                <a:lnTo>
                  <a:pt x="3955" y="470"/>
                </a:lnTo>
                <a:lnTo>
                  <a:pt x="4203" y="438"/>
                </a:lnTo>
                <a:lnTo>
                  <a:pt x="4326" y="421"/>
                </a:lnTo>
                <a:lnTo>
                  <a:pt x="4450" y="405"/>
                </a:lnTo>
                <a:lnTo>
                  <a:pt x="4573" y="389"/>
                </a:lnTo>
                <a:lnTo>
                  <a:pt x="4697" y="372"/>
                </a:lnTo>
                <a:lnTo>
                  <a:pt x="4820" y="355"/>
                </a:lnTo>
                <a:lnTo>
                  <a:pt x="4944" y="339"/>
                </a:lnTo>
                <a:lnTo>
                  <a:pt x="5068" y="322"/>
                </a:lnTo>
                <a:lnTo>
                  <a:pt x="5191" y="305"/>
                </a:lnTo>
                <a:lnTo>
                  <a:pt x="5438" y="271"/>
                </a:lnTo>
                <a:lnTo>
                  <a:pt x="5562" y="253"/>
                </a:lnTo>
                <a:lnTo>
                  <a:pt x="5685" y="236"/>
                </a:lnTo>
                <a:lnTo>
                  <a:pt x="5809" y="218"/>
                </a:lnTo>
                <a:lnTo>
                  <a:pt x="5933" y="201"/>
                </a:lnTo>
                <a:lnTo>
                  <a:pt x="6056" y="183"/>
                </a:lnTo>
                <a:lnTo>
                  <a:pt x="6180" y="165"/>
                </a:lnTo>
                <a:lnTo>
                  <a:pt x="6303" y="148"/>
                </a:lnTo>
                <a:lnTo>
                  <a:pt x="6550" y="111"/>
                </a:lnTo>
                <a:lnTo>
                  <a:pt x="6674" y="93"/>
                </a:lnTo>
                <a:lnTo>
                  <a:pt x="6798" y="75"/>
                </a:lnTo>
                <a:lnTo>
                  <a:pt x="7045" y="38"/>
                </a:lnTo>
                <a:lnTo>
                  <a:pt x="7168" y="19"/>
                </a:lnTo>
                <a:lnTo>
                  <a:pt x="7292" y="0"/>
                </a:lnTo>
              </a:path>
            </a:pathLst>
          </a:custGeom>
          <a:ln w="13320">
            <a:solidFill>
              <a:srgbClr val="053E6E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332928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19840" y="428904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6D97C0"/>
                </a:solidFill>
                <a:effectLst/>
                <a:uFillTx/>
                <a:latin typeface="Arial"/>
                <a:ea typeface="Arial"/>
              </a:rPr>
              <a:t>3 visits/yr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19840" y="3877920"/>
            <a:ext cx="360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60 visits/yr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19840" y="3414240"/>
            <a:ext cx="46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053E6E"/>
                </a:solidFill>
                <a:effectLst/>
                <a:uFillTx/>
                <a:latin typeface="Arial"/>
                <a:ea typeface="Arial"/>
              </a:rPr>
              <a:t>1,114 visits/yr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226960" y="4229280"/>
            <a:ext cx="9057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 SD of warming = 0.18 °C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 flipV="1">
            <a:off x="360000" y="2640960"/>
            <a:ext cx="0" cy="176112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985760" y="4316040"/>
            <a:ext cx="1127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 SD of effort = ×7.7 annual visits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15280" y="43578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15280" y="38541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15280" y="33501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34440" y="440208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34440" y="389844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34440" y="339444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334440" y="289044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60000" y="4402080"/>
            <a:ext cx="288684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 flipV="1">
            <a:off x="37584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 flipV="1">
            <a:off x="109296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 flipV="1">
            <a:off x="180972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 flipV="1">
            <a:off x="252684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324360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15280" y="28461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99880" y="4432680"/>
            <a:ext cx="1512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017000" y="4432680"/>
            <a:ext cx="1512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−0.2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759320" y="44326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2476080" y="44326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192840" y="44326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56000" y="4559760"/>
            <a:ext cx="20278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Province warmed more than the species' range (°C)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 rot="16200000">
            <a:off x="-569880" y="3487320"/>
            <a:ext cx="1366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Annual hazard of a new record (%)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89720" y="2349360"/>
            <a:ext cx="1729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Warming raises hazard most at low effort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089600" y="2640960"/>
            <a:ext cx="2362680" cy="946440"/>
          </a:xfrm>
          <a:custGeom>
            <a:avLst/>
            <a:gdLst/>
            <a:ahLst/>
            <a:rect l="0" t="0" r="r" b="b"/>
            <a:pathLst>
              <a:path w="6563" h="2629">
                <a:moveTo>
                  <a:pt x="0" y="0"/>
                </a:moveTo>
                <a:lnTo>
                  <a:pt x="6563" y="0"/>
                </a:lnTo>
                <a:lnTo>
                  <a:pt x="6563" y="2629"/>
                </a:lnTo>
                <a:lnTo>
                  <a:pt x="0" y="26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4203720" y="2640960"/>
            <a:ext cx="0" cy="94608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203720" y="3114000"/>
            <a:ext cx="900360" cy="0"/>
          </a:xfrm>
          <a:prstGeom prst="line">
            <a:avLst/>
          </a:prstGeom>
          <a:ln w="162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203720" y="3409560"/>
            <a:ext cx="725040" cy="0"/>
          </a:xfrm>
          <a:prstGeom prst="line">
            <a:avLst/>
          </a:prstGeom>
          <a:ln w="162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4203720" y="2818440"/>
            <a:ext cx="1787040" cy="0"/>
          </a:xfrm>
          <a:prstGeom prst="line">
            <a:avLst/>
          </a:prstGeom>
          <a:ln w="162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079600" y="308952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9"/>
                </a:moveTo>
                <a:cubicBezTo>
                  <a:pt x="0" y="-23"/>
                  <a:pt x="137" y="-23"/>
                  <a:pt x="137" y="69"/>
                </a:cubicBezTo>
                <a:cubicBezTo>
                  <a:pt x="137" y="160"/>
                  <a:pt x="0" y="160"/>
                  <a:pt x="0" y="6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079600" y="308952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9"/>
                </a:moveTo>
                <a:cubicBezTo>
                  <a:pt x="137" y="160"/>
                  <a:pt x="0" y="160"/>
                  <a:pt x="0" y="69"/>
                </a:cubicBezTo>
                <a:cubicBezTo>
                  <a:pt x="0" y="-23"/>
                  <a:pt x="137" y="-23"/>
                  <a:pt x="137" y="6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904280" y="338508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9"/>
                </a:moveTo>
                <a:cubicBezTo>
                  <a:pt x="0" y="-23"/>
                  <a:pt x="137" y="-23"/>
                  <a:pt x="137" y="69"/>
                </a:cubicBezTo>
                <a:cubicBezTo>
                  <a:pt x="137" y="160"/>
                  <a:pt x="0" y="160"/>
                  <a:pt x="0" y="6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4904280" y="338508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9"/>
                </a:moveTo>
                <a:cubicBezTo>
                  <a:pt x="137" y="160"/>
                  <a:pt x="0" y="160"/>
                  <a:pt x="0" y="69"/>
                </a:cubicBezTo>
                <a:cubicBezTo>
                  <a:pt x="0" y="-23"/>
                  <a:pt x="137" y="-23"/>
                  <a:pt x="137" y="6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965920" y="2793960"/>
            <a:ext cx="49680" cy="49320"/>
          </a:xfrm>
          <a:custGeom>
            <a:avLst/>
            <a:gdLst/>
            <a:ahLst/>
            <a:rect l="0" t="0" r="r" b="b"/>
            <a:pathLst>
              <a:path w="138" h="137">
                <a:moveTo>
                  <a:pt x="0" y="69"/>
                </a:moveTo>
                <a:cubicBezTo>
                  <a:pt x="0" y="-23"/>
                  <a:pt x="138" y="-23"/>
                  <a:pt x="138" y="69"/>
                </a:cubicBezTo>
                <a:cubicBezTo>
                  <a:pt x="138" y="160"/>
                  <a:pt x="0" y="160"/>
                  <a:pt x="0" y="6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965920" y="2793960"/>
            <a:ext cx="49680" cy="49320"/>
          </a:xfrm>
          <a:custGeom>
            <a:avLst/>
            <a:gdLst/>
            <a:ahLst/>
            <a:rect l="0" t="0" r="r" b="b"/>
            <a:pathLst>
              <a:path fill="none" w="138" h="137">
                <a:moveTo>
                  <a:pt x="138" y="69"/>
                </a:moveTo>
                <a:cubicBezTo>
                  <a:pt x="138" y="160"/>
                  <a:pt x="0" y="160"/>
                  <a:pt x="0" y="69"/>
                </a:cubicBezTo>
                <a:cubicBezTo>
                  <a:pt x="0" y="-23"/>
                  <a:pt x="138" y="-23"/>
                  <a:pt x="138" y="6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0400" y="2298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161320" y="3069720"/>
            <a:ext cx="1936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×1.50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4986000" y="3365280"/>
            <a:ext cx="1936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×1.39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4089600" y="3751920"/>
            <a:ext cx="2362680" cy="650520"/>
          </a:xfrm>
          <a:custGeom>
            <a:avLst/>
            <a:gdLst/>
            <a:ahLst/>
            <a:rect l="0" t="0" r="r" b="b"/>
            <a:pathLst>
              <a:path w="6563" h="1807">
                <a:moveTo>
                  <a:pt x="0" y="0"/>
                </a:moveTo>
                <a:lnTo>
                  <a:pt x="6563" y="0"/>
                </a:lnTo>
                <a:lnTo>
                  <a:pt x="6563" y="1807"/>
                </a:lnTo>
                <a:lnTo>
                  <a:pt x="0" y="18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 flipV="1">
            <a:off x="4203720" y="3751920"/>
            <a:ext cx="0" cy="65016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4203720" y="4224960"/>
            <a:ext cx="686160" cy="0"/>
          </a:xfrm>
          <a:prstGeom prst="line">
            <a:avLst/>
          </a:prstGeom>
          <a:ln w="162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4203720" y="3929400"/>
            <a:ext cx="753840" cy="0"/>
          </a:xfrm>
          <a:prstGeom prst="line">
            <a:avLst/>
          </a:prstGeom>
          <a:ln w="162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4865400" y="420048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8"/>
                </a:moveTo>
                <a:cubicBezTo>
                  <a:pt x="0" y="-23"/>
                  <a:pt x="137" y="-23"/>
                  <a:pt x="137" y="68"/>
                </a:cubicBezTo>
                <a:cubicBezTo>
                  <a:pt x="137" y="160"/>
                  <a:pt x="0" y="160"/>
                  <a:pt x="0" y="68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4865400" y="420048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8"/>
                </a:moveTo>
                <a:cubicBezTo>
                  <a:pt x="137" y="160"/>
                  <a:pt x="0" y="160"/>
                  <a:pt x="0" y="68"/>
                </a:cubicBezTo>
                <a:cubicBezTo>
                  <a:pt x="0" y="-23"/>
                  <a:pt x="137" y="-23"/>
                  <a:pt x="137" y="68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4933080" y="390456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8"/>
                </a:moveTo>
                <a:cubicBezTo>
                  <a:pt x="0" y="-23"/>
                  <a:pt x="137" y="-23"/>
                  <a:pt x="137" y="68"/>
                </a:cubicBezTo>
                <a:cubicBezTo>
                  <a:pt x="137" y="159"/>
                  <a:pt x="0" y="159"/>
                  <a:pt x="0" y="68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4933080" y="390456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8"/>
                </a:moveTo>
                <a:cubicBezTo>
                  <a:pt x="137" y="159"/>
                  <a:pt x="0" y="159"/>
                  <a:pt x="0" y="68"/>
                </a:cubicBezTo>
                <a:cubicBezTo>
                  <a:pt x="0" y="-23"/>
                  <a:pt x="137" y="-23"/>
                  <a:pt x="137" y="68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048000" y="2774160"/>
            <a:ext cx="1936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×2.23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947120" y="4180680"/>
            <a:ext cx="1936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×1.36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014800" y="3885120"/>
            <a:ext cx="1936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×1.40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4089960" y="365040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Fixed effects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4089600" y="4402080"/>
            <a:ext cx="236232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 flipV="1">
            <a:off x="420372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 flipV="1">
            <a:off x="510480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 flipV="1">
            <a:off x="574416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 flipV="1">
            <a:off x="624024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4089960" y="2539800"/>
            <a:ext cx="640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Random intercepts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185000" y="44326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054040" y="44326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725440" y="44326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189480" y="44326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3792960" y="3365280"/>
            <a:ext cx="297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Province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818160" y="3069720"/>
            <a:ext cx="271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Species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551400" y="2774160"/>
            <a:ext cx="5320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Province ×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3360960" y="4180680"/>
            <a:ext cx="750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3640320" y="388512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4731120" y="4559760"/>
            <a:ext cx="10371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Hazard multiplier per 1 SD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474720" y="2349360"/>
            <a:ext cx="18622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Province-year shocks outweigh both drivers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329280" y="2298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TJ_Fig_model_anatomy</dc:title>
</cp:coreProperties>
</file>