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9144000" cy="3556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81360"/>
            <a:ext cx="822924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747720"/>
            <a:ext cx="8229240" cy="185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9144360" cy="3556080"/>
          </a:xfrm>
          <a:custGeom>
            <a:avLst/>
            <a:gdLst/>
            <a:ahLst/>
            <a:rect l="0" t="0" r="r" b="b"/>
            <a:pathLst>
              <a:path w="25401" h="9878">
                <a:moveTo>
                  <a:pt x="0" y="0"/>
                </a:moveTo>
                <a:lnTo>
                  <a:pt x="25401" y="0"/>
                </a:lnTo>
                <a:lnTo>
                  <a:pt x="25401" y="9878"/>
                </a:lnTo>
                <a:lnTo>
                  <a:pt x="0" y="987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0" y="0"/>
            <a:ext cx="9144360" cy="3556080"/>
          </a:xfrm>
          <a:custGeom>
            <a:avLst/>
            <a:gdLst/>
            <a:ahLst/>
            <a:rect l="0" t="0" r="r" b="b"/>
            <a:pathLst>
              <a:path w="25401" h="9878">
                <a:moveTo>
                  <a:pt x="0" y="0"/>
                </a:moveTo>
                <a:lnTo>
                  <a:pt x="25401" y="0"/>
                </a:lnTo>
                <a:lnTo>
                  <a:pt x="25401" y="9878"/>
                </a:lnTo>
                <a:lnTo>
                  <a:pt x="0" y="987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3320">
            <a:solidFill>
              <a:srgbClr val="FFFFFF"/>
            </a:solidFill>
            <a:round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69480" y="69480"/>
            <a:ext cx="2435040" cy="3417120"/>
          </a:xfrm>
          <a:custGeom>
            <a:avLst/>
            <a:gdLst/>
            <a:ahLst/>
            <a:rect l="0" t="0" r="r" b="b"/>
            <a:pathLst>
              <a:path w="6764" h="9492">
                <a:moveTo>
                  <a:pt x="0" y="0"/>
                </a:moveTo>
                <a:lnTo>
                  <a:pt x="6764" y="0"/>
                </a:lnTo>
                <a:lnTo>
                  <a:pt x="6764" y="9492"/>
                </a:lnTo>
                <a:lnTo>
                  <a:pt x="0" y="94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2240">
            <a:solidFill>
              <a:srgbClr val="FFFFFF"/>
            </a:solidFill>
            <a:round/>
          </a:ln>
        </p:spPr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2504160" y="69480"/>
            <a:ext cx="2409840" cy="3417120"/>
          </a:xfrm>
          <a:custGeom>
            <a:avLst/>
            <a:gdLst/>
            <a:ahLst/>
            <a:rect l="0" t="0" r="r" b="b"/>
            <a:pathLst>
              <a:path w="6694" h="9492">
                <a:moveTo>
                  <a:pt x="0" y="0"/>
                </a:moveTo>
                <a:lnTo>
                  <a:pt x="6694" y="0"/>
                </a:lnTo>
                <a:lnTo>
                  <a:pt x="6694" y="9492"/>
                </a:lnTo>
                <a:lnTo>
                  <a:pt x="0" y="94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2240">
            <a:solidFill>
              <a:srgbClr val="FFFFFF"/>
            </a:solidFill>
            <a:round/>
          </a:ln>
        </p:spPr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4913640" y="69480"/>
            <a:ext cx="4160880" cy="3417120"/>
          </a:xfrm>
          <a:custGeom>
            <a:avLst/>
            <a:gdLst/>
            <a:ahLst/>
            <a:rect l="0" t="0" r="r" b="b"/>
            <a:pathLst>
              <a:path w="11558" h="9492">
                <a:moveTo>
                  <a:pt x="0" y="0"/>
                </a:moveTo>
                <a:lnTo>
                  <a:pt x="11558" y="0"/>
                </a:lnTo>
                <a:lnTo>
                  <a:pt x="11558" y="9492"/>
                </a:lnTo>
                <a:lnTo>
                  <a:pt x="0" y="94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2240">
            <a:solidFill>
              <a:srgbClr val="FFFFFF"/>
            </a:solidFill>
            <a:round/>
          </a:ln>
        </p:spPr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551160" y="538560"/>
            <a:ext cx="1852200" cy="2266920"/>
          </a:xfrm>
          <a:custGeom>
            <a:avLst/>
            <a:gdLst/>
            <a:ahLst/>
            <a:rect l="0" t="0" r="r" b="b"/>
            <a:pathLst>
              <a:path w="5145" h="6297">
                <a:moveTo>
                  <a:pt x="0" y="0"/>
                </a:moveTo>
                <a:lnTo>
                  <a:pt x="5145" y="0"/>
                </a:lnTo>
                <a:lnTo>
                  <a:pt x="5145" y="6297"/>
                </a:lnTo>
                <a:lnTo>
                  <a:pt x="0" y="62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551160" y="2702160"/>
            <a:ext cx="185184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551160" y="2070720"/>
            <a:ext cx="185184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551160" y="1438920"/>
            <a:ext cx="185184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551160" y="807480"/>
            <a:ext cx="185184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633600" y="641520"/>
            <a:ext cx="194400" cy="2061000"/>
          </a:xfrm>
          <a:custGeom>
            <a:avLst/>
            <a:gdLst/>
            <a:ahLst/>
            <a:rect l="0" t="0" r="r" b="b"/>
            <a:pathLst>
              <a:path w="540" h="5725">
                <a:moveTo>
                  <a:pt x="0" y="0"/>
                </a:moveTo>
                <a:lnTo>
                  <a:pt x="540" y="0"/>
                </a:lnTo>
                <a:lnTo>
                  <a:pt x="540" y="5725"/>
                </a:lnTo>
                <a:lnTo>
                  <a:pt x="0" y="5725"/>
                </a:lnTo>
                <a:lnTo>
                  <a:pt x="0" y="0"/>
                </a:ln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932040" y="1455480"/>
            <a:ext cx="194400" cy="1247040"/>
          </a:xfrm>
          <a:custGeom>
            <a:avLst/>
            <a:gdLst/>
            <a:ahLst/>
            <a:rect l="0" t="0" r="r" b="b"/>
            <a:pathLst>
              <a:path w="540" h="3464">
                <a:moveTo>
                  <a:pt x="0" y="0"/>
                </a:moveTo>
                <a:lnTo>
                  <a:pt x="540" y="0"/>
                </a:lnTo>
                <a:lnTo>
                  <a:pt x="540" y="3464"/>
                </a:lnTo>
                <a:lnTo>
                  <a:pt x="0" y="3464"/>
                </a:lnTo>
                <a:lnTo>
                  <a:pt x="0" y="0"/>
                </a:ln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1230840" y="1757160"/>
            <a:ext cx="194400" cy="945360"/>
          </a:xfrm>
          <a:custGeom>
            <a:avLst/>
            <a:gdLst/>
            <a:ahLst/>
            <a:rect l="0" t="0" r="r" b="b"/>
            <a:pathLst>
              <a:path w="540" h="2626">
                <a:moveTo>
                  <a:pt x="0" y="0"/>
                </a:moveTo>
                <a:lnTo>
                  <a:pt x="540" y="0"/>
                </a:lnTo>
                <a:lnTo>
                  <a:pt x="540" y="2626"/>
                </a:lnTo>
                <a:lnTo>
                  <a:pt x="0" y="2626"/>
                </a:lnTo>
                <a:lnTo>
                  <a:pt x="0" y="0"/>
                </a:ln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1529280" y="2635560"/>
            <a:ext cx="194760" cy="66960"/>
          </a:xfrm>
          <a:custGeom>
            <a:avLst/>
            <a:gdLst/>
            <a:ahLst/>
            <a:rect l="0" t="0" r="r" b="b"/>
            <a:pathLst>
              <a:path w="541" h="186">
                <a:moveTo>
                  <a:pt x="0" y="0"/>
                </a:moveTo>
                <a:lnTo>
                  <a:pt x="541" y="0"/>
                </a:lnTo>
                <a:lnTo>
                  <a:pt x="541" y="186"/>
                </a:lnTo>
                <a:lnTo>
                  <a:pt x="0" y="186"/>
                </a:lnTo>
                <a:lnTo>
                  <a:pt x="0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1828080" y="2645280"/>
            <a:ext cx="194400" cy="57240"/>
          </a:xfrm>
          <a:custGeom>
            <a:avLst/>
            <a:gdLst/>
            <a:ahLst/>
            <a:rect l="0" t="0" r="r" b="b"/>
            <a:pathLst>
              <a:path w="540" h="159">
                <a:moveTo>
                  <a:pt x="0" y="0"/>
                </a:moveTo>
                <a:lnTo>
                  <a:pt x="540" y="0"/>
                </a:lnTo>
                <a:lnTo>
                  <a:pt x="540" y="159"/>
                </a:lnTo>
                <a:lnTo>
                  <a:pt x="0" y="159"/>
                </a:lnTo>
                <a:lnTo>
                  <a:pt x="0" y="0"/>
                </a:ln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591120" y="514800"/>
            <a:ext cx="25992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163.1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921240" y="1328760"/>
            <a:ext cx="20232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98.7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1220040" y="1630080"/>
            <a:ext cx="20232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74.8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1550520" y="2508840"/>
            <a:ext cx="14472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5.2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1849320" y="2518560"/>
            <a:ext cx="14472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4.5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 flipV="1">
            <a:off x="551160" y="538560"/>
            <a:ext cx="0" cy="226656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2147760" y="2575080"/>
            <a:ext cx="14472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0.0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443880" y="265140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393120" y="2019960"/>
            <a:ext cx="1141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50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342000" y="1388520"/>
            <a:ext cx="1710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100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519840" y="270216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519840" y="207072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519840" y="143892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519840" y="80748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551160" y="2805120"/>
            <a:ext cx="1851840" cy="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 flipV="1">
            <a:off x="730440" y="28051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 flipV="1">
            <a:off x="1029240" y="28051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 flipV="1">
            <a:off x="1327680" y="28051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 flipV="1">
            <a:off x="1626480" y="28051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 flipV="1">
            <a:off x="1925280" y="28051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 flipV="1">
            <a:off x="2223720" y="28051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342000" y="756720"/>
            <a:ext cx="1710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150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 txBox="1"/>
          <p:nvPr/>
        </p:nvSpPr>
        <p:spPr>
          <a:xfrm rot="20100000">
            <a:off x="431280" y="2911680"/>
            <a:ext cx="3470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species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 txBox="1"/>
          <p:nvPr/>
        </p:nvSpPr>
        <p:spPr>
          <a:xfrm rot="20100000">
            <a:off x="268920" y="3009960"/>
            <a:ext cx="8492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species + province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 txBox="1"/>
          <p:nvPr/>
        </p:nvSpPr>
        <p:spPr>
          <a:xfrm rot="20100000">
            <a:off x="922680" y="2983320"/>
            <a:ext cx="1764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(v1)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 txBox="1"/>
          <p:nvPr/>
        </p:nvSpPr>
        <p:spPr>
          <a:xfrm rot="20100000">
            <a:off x="1077480" y="2903400"/>
            <a:ext cx="28728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+ year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 txBox="1"/>
          <p:nvPr/>
        </p:nvSpPr>
        <p:spPr>
          <a:xfrm rot="20100000">
            <a:off x="927000" y="2997360"/>
            <a:ext cx="7812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+ province x year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 txBox="1"/>
          <p:nvPr/>
        </p:nvSpPr>
        <p:spPr>
          <a:xfrm rot="20100000">
            <a:off x="1374840" y="3016080"/>
            <a:ext cx="3240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(MAIN)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 txBox="1"/>
          <p:nvPr/>
        </p:nvSpPr>
        <p:spPr>
          <a:xfrm rot="20100000">
            <a:off x="910800" y="3065040"/>
            <a:ext cx="11217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+ species warming slope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 txBox="1"/>
          <p:nvPr/>
        </p:nvSpPr>
        <p:spPr>
          <a:xfrm rot="20100000">
            <a:off x="1329840" y="3035160"/>
            <a:ext cx="10083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+ province effort slope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 txBox="1"/>
          <p:nvPr/>
        </p:nvSpPr>
        <p:spPr>
          <a:xfrm rot="16200000">
            <a:off x="-36720" y="1610640"/>
            <a:ext cx="54216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Delta AIC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551520" y="335880"/>
            <a:ext cx="77040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Lower is better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551520" y="145440"/>
            <a:ext cx="15516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Fit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2960640" y="538560"/>
            <a:ext cx="1852200" cy="2266920"/>
          </a:xfrm>
          <a:custGeom>
            <a:avLst/>
            <a:gdLst/>
            <a:ahLst/>
            <a:rect l="0" t="0" r="r" b="b"/>
            <a:pathLst>
              <a:path w="5145" h="6297">
                <a:moveTo>
                  <a:pt x="0" y="0"/>
                </a:moveTo>
                <a:lnTo>
                  <a:pt x="5145" y="0"/>
                </a:lnTo>
                <a:lnTo>
                  <a:pt x="5145" y="6297"/>
                </a:lnTo>
                <a:lnTo>
                  <a:pt x="0" y="62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/>
          <p:nvPr/>
        </p:nvSpPr>
        <p:spPr>
          <a:xfrm>
            <a:off x="2960640" y="2349000"/>
            <a:ext cx="185184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2960640" y="1744560"/>
            <a:ext cx="185184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960640" y="1140480"/>
            <a:ext cx="185184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3139920" y="2014200"/>
            <a:ext cx="1493640" cy="688320"/>
          </a:xfrm>
          <a:custGeom>
            <a:avLst/>
            <a:gdLst/>
            <a:ahLst/>
            <a:rect l="0" t="0" r="r" b="b"/>
            <a:pathLst>
              <a:path fill="none" w="4149" h="1912">
                <a:moveTo>
                  <a:pt x="0" y="1912"/>
                </a:moveTo>
                <a:lnTo>
                  <a:pt x="830" y="1148"/>
                </a:lnTo>
                <a:lnTo>
                  <a:pt x="1661" y="1124"/>
                </a:lnTo>
                <a:lnTo>
                  <a:pt x="2490" y="0"/>
                </a:lnTo>
                <a:lnTo>
                  <a:pt x="3320" y="68"/>
                </a:lnTo>
                <a:lnTo>
                  <a:pt x="4149" y="133"/>
                </a:lnTo>
              </a:path>
            </a:pathLst>
          </a:custGeom>
          <a:ln w="16200">
            <a:solidFill>
              <a:srgbClr val="009E73"/>
            </a:solidFill>
            <a:round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3139920" y="641520"/>
            <a:ext cx="1493640" cy="537840"/>
          </a:xfrm>
          <a:custGeom>
            <a:avLst/>
            <a:gdLst/>
            <a:ahLst/>
            <a:rect l="0" t="0" r="r" b="b"/>
            <a:pathLst>
              <a:path fill="none" w="4149" h="1494">
                <a:moveTo>
                  <a:pt x="0" y="1494"/>
                </a:moveTo>
                <a:lnTo>
                  <a:pt x="830" y="1212"/>
                </a:lnTo>
                <a:lnTo>
                  <a:pt x="1661" y="1074"/>
                </a:lnTo>
                <a:lnTo>
                  <a:pt x="2490" y="91"/>
                </a:lnTo>
                <a:lnTo>
                  <a:pt x="3320" y="0"/>
                </a:lnTo>
                <a:lnTo>
                  <a:pt x="4149" y="111"/>
                </a:lnTo>
              </a:path>
            </a:pathLst>
          </a:custGeom>
          <a:ln w="16200">
            <a:solidFill>
              <a:srgbClr val="0072B2"/>
            </a:solidFill>
            <a:round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3139920" y="1402200"/>
            <a:ext cx="1493640" cy="20520"/>
          </a:xfrm>
          <a:custGeom>
            <a:avLst/>
            <a:gdLst/>
            <a:ahLst/>
            <a:rect l="0" t="0" r="r" b="b"/>
            <a:pathLst>
              <a:path fill="none" w="4149" h="57">
                <a:moveTo>
                  <a:pt x="0" y="0"/>
                </a:moveTo>
                <a:lnTo>
                  <a:pt x="830" y="12"/>
                </a:lnTo>
                <a:lnTo>
                  <a:pt x="1661" y="57"/>
                </a:lnTo>
                <a:lnTo>
                  <a:pt x="2490" y="14"/>
                </a:lnTo>
                <a:lnTo>
                  <a:pt x="3320" y="14"/>
                </a:lnTo>
                <a:lnTo>
                  <a:pt x="4149" y="19"/>
                </a:lnTo>
              </a:path>
            </a:pathLst>
          </a:custGeom>
          <a:ln w="16200">
            <a:solidFill>
              <a:srgbClr val="E69F00"/>
            </a:solidFill>
            <a:round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3108960" y="2670840"/>
            <a:ext cx="62640" cy="62640"/>
          </a:xfrm>
          <a:custGeom>
            <a:avLst/>
            <a:gdLst/>
            <a:ahLst/>
            <a:rect l="0" t="0" r="r" b="b"/>
            <a:pathLst>
              <a:path w="174" h="174">
                <a:moveTo>
                  <a:pt x="0" y="87"/>
                </a:moveTo>
                <a:cubicBezTo>
                  <a:pt x="0" y="-29"/>
                  <a:pt x="174" y="-29"/>
                  <a:pt x="174" y="87"/>
                </a:cubicBezTo>
                <a:cubicBezTo>
                  <a:pt x="174" y="203"/>
                  <a:pt x="0" y="203"/>
                  <a:pt x="0" y="87"/>
                </a:cubicBez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3108960" y="267084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7"/>
                </a:moveTo>
                <a:cubicBezTo>
                  <a:pt x="174" y="203"/>
                  <a:pt x="0" y="203"/>
                  <a:pt x="0" y="87"/>
                </a:cubicBezTo>
                <a:cubicBezTo>
                  <a:pt x="0" y="-29"/>
                  <a:pt x="174" y="-29"/>
                  <a:pt x="174" y="87"/>
                </a:cubicBezTo>
              </a:path>
            </a:pathLst>
          </a:custGeom>
          <a:ln cap="rnd" w="7920">
            <a:solidFill>
              <a:srgbClr val="009E73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/>
          <p:nvPr/>
        </p:nvSpPr>
        <p:spPr>
          <a:xfrm>
            <a:off x="3407400" y="2395800"/>
            <a:ext cx="62640" cy="63000"/>
          </a:xfrm>
          <a:custGeom>
            <a:avLst/>
            <a:gdLst/>
            <a:ahLst/>
            <a:rect l="0" t="0" r="r" b="b"/>
            <a:pathLst>
              <a:path w="174" h="175">
                <a:moveTo>
                  <a:pt x="0" y="88"/>
                </a:moveTo>
                <a:cubicBezTo>
                  <a:pt x="0" y="-29"/>
                  <a:pt x="174" y="-29"/>
                  <a:pt x="174" y="88"/>
                </a:cubicBezTo>
                <a:cubicBezTo>
                  <a:pt x="174" y="204"/>
                  <a:pt x="0" y="204"/>
                  <a:pt x="0" y="88"/>
                </a:cubicBez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>
            <a:off x="3407400" y="2395800"/>
            <a:ext cx="62640" cy="63000"/>
          </a:xfrm>
          <a:custGeom>
            <a:avLst/>
            <a:gdLst/>
            <a:ahLst/>
            <a:rect l="0" t="0" r="r" b="b"/>
            <a:pathLst>
              <a:path fill="none" w="174" h="175">
                <a:moveTo>
                  <a:pt x="174" y="88"/>
                </a:moveTo>
                <a:cubicBezTo>
                  <a:pt x="174" y="204"/>
                  <a:pt x="0" y="204"/>
                  <a:pt x="0" y="88"/>
                </a:cubicBezTo>
                <a:cubicBezTo>
                  <a:pt x="0" y="-29"/>
                  <a:pt x="174" y="-29"/>
                  <a:pt x="174" y="88"/>
                </a:cubicBezTo>
              </a:path>
            </a:pathLst>
          </a:custGeom>
          <a:ln cap="rnd" w="7920">
            <a:solidFill>
              <a:srgbClr val="009E73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>
            <a:off x="3706200" y="2387520"/>
            <a:ext cx="62640" cy="63000"/>
          </a:xfrm>
          <a:custGeom>
            <a:avLst/>
            <a:gdLst/>
            <a:ahLst/>
            <a:rect l="0" t="0" r="r" b="b"/>
            <a:pathLst>
              <a:path w="174" h="175">
                <a:moveTo>
                  <a:pt x="0" y="87"/>
                </a:moveTo>
                <a:cubicBezTo>
                  <a:pt x="0" y="-29"/>
                  <a:pt x="174" y="-29"/>
                  <a:pt x="174" y="87"/>
                </a:cubicBezTo>
                <a:cubicBezTo>
                  <a:pt x="174" y="204"/>
                  <a:pt x="0" y="204"/>
                  <a:pt x="0" y="87"/>
                </a:cubicBez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>
            <a:off x="3706200" y="2387520"/>
            <a:ext cx="62640" cy="63000"/>
          </a:xfrm>
          <a:custGeom>
            <a:avLst/>
            <a:gdLst/>
            <a:ahLst/>
            <a:rect l="0" t="0" r="r" b="b"/>
            <a:pathLst>
              <a:path fill="none" w="174" h="175">
                <a:moveTo>
                  <a:pt x="174" y="87"/>
                </a:moveTo>
                <a:cubicBezTo>
                  <a:pt x="174" y="204"/>
                  <a:pt x="0" y="204"/>
                  <a:pt x="0" y="87"/>
                </a:cubicBezTo>
                <a:cubicBezTo>
                  <a:pt x="0" y="-29"/>
                  <a:pt x="174" y="-29"/>
                  <a:pt x="174" y="87"/>
                </a:cubicBezTo>
              </a:path>
            </a:pathLst>
          </a:custGeom>
          <a:ln cap="rnd" w="7920">
            <a:solidFill>
              <a:srgbClr val="009E73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4004640" y="1983240"/>
            <a:ext cx="63000" cy="62640"/>
          </a:xfrm>
          <a:custGeom>
            <a:avLst/>
            <a:gdLst/>
            <a:ahLst/>
            <a:rect l="0" t="0" r="r" b="b"/>
            <a:pathLst>
              <a:path w="175" h="174">
                <a:moveTo>
                  <a:pt x="0" y="86"/>
                </a:moveTo>
                <a:cubicBezTo>
                  <a:pt x="0" y="-29"/>
                  <a:pt x="175" y="-29"/>
                  <a:pt x="175" y="86"/>
                </a:cubicBezTo>
                <a:cubicBezTo>
                  <a:pt x="175" y="203"/>
                  <a:pt x="0" y="203"/>
                  <a:pt x="0" y="86"/>
                </a:cubicBez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4004640" y="1983240"/>
            <a:ext cx="63000" cy="62640"/>
          </a:xfrm>
          <a:custGeom>
            <a:avLst/>
            <a:gdLst/>
            <a:ahLst/>
            <a:rect l="0" t="0" r="r" b="b"/>
            <a:pathLst>
              <a:path fill="none" w="175" h="174">
                <a:moveTo>
                  <a:pt x="175" y="86"/>
                </a:moveTo>
                <a:cubicBezTo>
                  <a:pt x="175" y="203"/>
                  <a:pt x="0" y="203"/>
                  <a:pt x="0" y="86"/>
                </a:cubicBezTo>
                <a:cubicBezTo>
                  <a:pt x="0" y="-29"/>
                  <a:pt x="175" y="-29"/>
                  <a:pt x="175" y="86"/>
                </a:cubicBezTo>
              </a:path>
            </a:pathLst>
          </a:custGeom>
          <a:ln cap="rnd" w="7920">
            <a:solidFill>
              <a:srgbClr val="009E73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4303440" y="2007360"/>
            <a:ext cx="62640" cy="62640"/>
          </a:xfrm>
          <a:custGeom>
            <a:avLst/>
            <a:gdLst/>
            <a:ahLst/>
            <a:rect l="0" t="0" r="r" b="b"/>
            <a:pathLst>
              <a:path w="174" h="174">
                <a:moveTo>
                  <a:pt x="0" y="88"/>
                </a:moveTo>
                <a:cubicBezTo>
                  <a:pt x="0" y="-29"/>
                  <a:pt x="174" y="-29"/>
                  <a:pt x="174" y="88"/>
                </a:cubicBezTo>
                <a:cubicBezTo>
                  <a:pt x="174" y="203"/>
                  <a:pt x="0" y="203"/>
                  <a:pt x="0" y="88"/>
                </a:cubicBez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4303440" y="200736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8"/>
                </a:moveTo>
                <a:cubicBezTo>
                  <a:pt x="174" y="203"/>
                  <a:pt x="0" y="203"/>
                  <a:pt x="0" y="88"/>
                </a:cubicBezTo>
                <a:cubicBezTo>
                  <a:pt x="0" y="-29"/>
                  <a:pt x="174" y="-29"/>
                  <a:pt x="174" y="88"/>
                </a:cubicBezTo>
              </a:path>
            </a:pathLst>
          </a:custGeom>
          <a:ln cap="rnd" w="7920">
            <a:solidFill>
              <a:srgbClr val="009E73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4602240" y="2031120"/>
            <a:ext cx="62640" cy="63000"/>
          </a:xfrm>
          <a:custGeom>
            <a:avLst/>
            <a:gdLst/>
            <a:ahLst/>
            <a:rect l="0" t="0" r="r" b="b"/>
            <a:pathLst>
              <a:path w="174" h="175">
                <a:moveTo>
                  <a:pt x="0" y="87"/>
                </a:moveTo>
                <a:cubicBezTo>
                  <a:pt x="0" y="-29"/>
                  <a:pt x="174" y="-29"/>
                  <a:pt x="174" y="87"/>
                </a:cubicBezTo>
                <a:cubicBezTo>
                  <a:pt x="174" y="204"/>
                  <a:pt x="0" y="204"/>
                  <a:pt x="0" y="87"/>
                </a:cubicBez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>
            <a:off x="4602240" y="2031120"/>
            <a:ext cx="62640" cy="63000"/>
          </a:xfrm>
          <a:custGeom>
            <a:avLst/>
            <a:gdLst/>
            <a:ahLst/>
            <a:rect l="0" t="0" r="r" b="b"/>
            <a:pathLst>
              <a:path fill="none" w="174" h="175">
                <a:moveTo>
                  <a:pt x="174" y="87"/>
                </a:moveTo>
                <a:cubicBezTo>
                  <a:pt x="174" y="204"/>
                  <a:pt x="0" y="204"/>
                  <a:pt x="0" y="87"/>
                </a:cubicBezTo>
                <a:cubicBezTo>
                  <a:pt x="0" y="-29"/>
                  <a:pt x="174" y="-29"/>
                  <a:pt x="174" y="87"/>
                </a:cubicBezTo>
              </a:path>
            </a:pathLst>
          </a:custGeom>
          <a:ln cap="rnd" w="7920">
            <a:solidFill>
              <a:srgbClr val="009E73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/>
          <p:nvPr/>
        </p:nvSpPr>
        <p:spPr>
          <a:xfrm>
            <a:off x="3108960" y="1148040"/>
            <a:ext cx="62640" cy="63000"/>
          </a:xfrm>
          <a:custGeom>
            <a:avLst/>
            <a:gdLst/>
            <a:ahLst/>
            <a:rect l="0" t="0" r="r" b="b"/>
            <a:pathLst>
              <a:path w="174" h="175">
                <a:moveTo>
                  <a:pt x="0" y="87"/>
                </a:moveTo>
                <a:cubicBezTo>
                  <a:pt x="0" y="-29"/>
                  <a:pt x="174" y="-29"/>
                  <a:pt x="174" y="87"/>
                </a:cubicBezTo>
                <a:cubicBezTo>
                  <a:pt x="174" y="204"/>
                  <a:pt x="0" y="204"/>
                  <a:pt x="0" y="87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3108960" y="1148040"/>
            <a:ext cx="62640" cy="63000"/>
          </a:xfrm>
          <a:custGeom>
            <a:avLst/>
            <a:gdLst/>
            <a:ahLst/>
            <a:rect l="0" t="0" r="r" b="b"/>
            <a:pathLst>
              <a:path fill="none" w="174" h="175">
                <a:moveTo>
                  <a:pt x="174" y="87"/>
                </a:moveTo>
                <a:cubicBezTo>
                  <a:pt x="174" y="204"/>
                  <a:pt x="0" y="204"/>
                  <a:pt x="0" y="87"/>
                </a:cubicBezTo>
                <a:cubicBezTo>
                  <a:pt x="0" y="-29"/>
                  <a:pt x="174" y="-29"/>
                  <a:pt x="174" y="87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>
            <a:off x="3407400" y="1046520"/>
            <a:ext cx="62640" cy="62640"/>
          </a:xfrm>
          <a:custGeom>
            <a:avLst/>
            <a:gdLst/>
            <a:ahLst/>
            <a:rect l="0" t="0" r="r" b="b"/>
            <a:pathLst>
              <a:path w="174" h="174">
                <a:moveTo>
                  <a:pt x="0" y="86"/>
                </a:moveTo>
                <a:cubicBezTo>
                  <a:pt x="0" y="-29"/>
                  <a:pt x="174" y="-29"/>
                  <a:pt x="174" y="86"/>
                </a:cubicBezTo>
                <a:cubicBezTo>
                  <a:pt x="174" y="203"/>
                  <a:pt x="0" y="203"/>
                  <a:pt x="0" y="86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3407400" y="104652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6"/>
                </a:moveTo>
                <a:cubicBezTo>
                  <a:pt x="174" y="203"/>
                  <a:pt x="0" y="203"/>
                  <a:pt x="0" y="86"/>
                </a:cubicBezTo>
                <a:cubicBezTo>
                  <a:pt x="0" y="-29"/>
                  <a:pt x="174" y="-29"/>
                  <a:pt x="174" y="86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/>
          <p:nvPr/>
        </p:nvSpPr>
        <p:spPr>
          <a:xfrm>
            <a:off x="3706200" y="996480"/>
            <a:ext cx="62640" cy="62640"/>
          </a:xfrm>
          <a:custGeom>
            <a:avLst/>
            <a:gdLst/>
            <a:ahLst/>
            <a:rect l="0" t="0" r="r" b="b"/>
            <a:pathLst>
              <a:path w="174" h="174">
                <a:moveTo>
                  <a:pt x="0" y="88"/>
                </a:moveTo>
                <a:cubicBezTo>
                  <a:pt x="0" y="-29"/>
                  <a:pt x="174" y="-29"/>
                  <a:pt x="174" y="88"/>
                </a:cubicBezTo>
                <a:cubicBezTo>
                  <a:pt x="174" y="203"/>
                  <a:pt x="0" y="203"/>
                  <a:pt x="0" y="88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/>
          <p:nvPr/>
        </p:nvSpPr>
        <p:spPr>
          <a:xfrm>
            <a:off x="3706200" y="99648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8"/>
                </a:moveTo>
                <a:cubicBezTo>
                  <a:pt x="174" y="203"/>
                  <a:pt x="0" y="203"/>
                  <a:pt x="0" y="88"/>
                </a:cubicBezTo>
                <a:cubicBezTo>
                  <a:pt x="0" y="-29"/>
                  <a:pt x="174" y="-29"/>
                  <a:pt x="174" y="88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>
            <a:off x="4004640" y="642960"/>
            <a:ext cx="63000" cy="62640"/>
          </a:xfrm>
          <a:custGeom>
            <a:avLst/>
            <a:gdLst/>
            <a:ahLst/>
            <a:rect l="0" t="0" r="r" b="b"/>
            <a:pathLst>
              <a:path w="175" h="174">
                <a:moveTo>
                  <a:pt x="0" y="88"/>
                </a:moveTo>
                <a:cubicBezTo>
                  <a:pt x="0" y="-29"/>
                  <a:pt x="175" y="-29"/>
                  <a:pt x="175" y="88"/>
                </a:cubicBezTo>
                <a:cubicBezTo>
                  <a:pt x="175" y="203"/>
                  <a:pt x="0" y="203"/>
                  <a:pt x="0" y="88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/>
          <p:nvPr/>
        </p:nvSpPr>
        <p:spPr>
          <a:xfrm>
            <a:off x="4004640" y="642960"/>
            <a:ext cx="63000" cy="62640"/>
          </a:xfrm>
          <a:custGeom>
            <a:avLst/>
            <a:gdLst/>
            <a:ahLst/>
            <a:rect l="0" t="0" r="r" b="b"/>
            <a:pathLst>
              <a:path fill="none" w="175" h="174">
                <a:moveTo>
                  <a:pt x="175" y="88"/>
                </a:moveTo>
                <a:cubicBezTo>
                  <a:pt x="175" y="203"/>
                  <a:pt x="0" y="203"/>
                  <a:pt x="0" y="88"/>
                </a:cubicBezTo>
                <a:cubicBezTo>
                  <a:pt x="0" y="-29"/>
                  <a:pt x="175" y="-29"/>
                  <a:pt x="175" y="88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>
            <a:off x="4303440" y="610560"/>
            <a:ext cx="62640" cy="62640"/>
          </a:xfrm>
          <a:custGeom>
            <a:avLst/>
            <a:gdLst/>
            <a:ahLst/>
            <a:rect l="0" t="0" r="r" b="b"/>
            <a:pathLst>
              <a:path w="174" h="174">
                <a:moveTo>
                  <a:pt x="0" y="86"/>
                </a:moveTo>
                <a:cubicBezTo>
                  <a:pt x="0" y="-29"/>
                  <a:pt x="174" y="-29"/>
                  <a:pt x="174" y="86"/>
                </a:cubicBezTo>
                <a:cubicBezTo>
                  <a:pt x="174" y="203"/>
                  <a:pt x="0" y="203"/>
                  <a:pt x="0" y="86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/>
          <p:nvPr/>
        </p:nvSpPr>
        <p:spPr>
          <a:xfrm>
            <a:off x="4303440" y="61056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6"/>
                </a:moveTo>
                <a:cubicBezTo>
                  <a:pt x="174" y="203"/>
                  <a:pt x="0" y="203"/>
                  <a:pt x="0" y="86"/>
                </a:cubicBezTo>
                <a:cubicBezTo>
                  <a:pt x="0" y="-29"/>
                  <a:pt x="174" y="-29"/>
                  <a:pt x="174" y="86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>
            <a:off x="4602240" y="650520"/>
            <a:ext cx="62640" cy="63000"/>
          </a:xfrm>
          <a:custGeom>
            <a:avLst/>
            <a:gdLst/>
            <a:ahLst/>
            <a:rect l="0" t="0" r="r" b="b"/>
            <a:pathLst>
              <a:path w="174" h="175">
                <a:moveTo>
                  <a:pt x="0" y="87"/>
                </a:moveTo>
                <a:cubicBezTo>
                  <a:pt x="0" y="-29"/>
                  <a:pt x="174" y="-29"/>
                  <a:pt x="174" y="87"/>
                </a:cubicBezTo>
                <a:cubicBezTo>
                  <a:pt x="174" y="204"/>
                  <a:pt x="0" y="204"/>
                  <a:pt x="0" y="87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4602240" y="650520"/>
            <a:ext cx="62640" cy="63000"/>
          </a:xfrm>
          <a:custGeom>
            <a:avLst/>
            <a:gdLst/>
            <a:ahLst/>
            <a:rect l="0" t="0" r="r" b="b"/>
            <a:pathLst>
              <a:path fill="none" w="174" h="175">
                <a:moveTo>
                  <a:pt x="174" y="87"/>
                </a:moveTo>
                <a:cubicBezTo>
                  <a:pt x="174" y="204"/>
                  <a:pt x="0" y="204"/>
                  <a:pt x="0" y="87"/>
                </a:cubicBezTo>
                <a:cubicBezTo>
                  <a:pt x="0" y="-29"/>
                  <a:pt x="174" y="-29"/>
                  <a:pt x="174" y="87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3108960" y="1370880"/>
            <a:ext cx="62640" cy="62640"/>
          </a:xfrm>
          <a:custGeom>
            <a:avLst/>
            <a:gdLst/>
            <a:ahLst/>
            <a:rect l="0" t="0" r="r" b="b"/>
            <a:pathLst>
              <a:path w="174" h="174">
                <a:moveTo>
                  <a:pt x="0" y="88"/>
                </a:moveTo>
                <a:cubicBezTo>
                  <a:pt x="0" y="-29"/>
                  <a:pt x="174" y="-29"/>
                  <a:pt x="174" y="88"/>
                </a:cubicBezTo>
                <a:cubicBezTo>
                  <a:pt x="174" y="203"/>
                  <a:pt x="0" y="203"/>
                  <a:pt x="0" y="88"/>
                </a:cubicBez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3108960" y="137088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8"/>
                </a:moveTo>
                <a:cubicBezTo>
                  <a:pt x="174" y="203"/>
                  <a:pt x="0" y="203"/>
                  <a:pt x="0" y="88"/>
                </a:cubicBezTo>
                <a:cubicBezTo>
                  <a:pt x="0" y="-29"/>
                  <a:pt x="174" y="-29"/>
                  <a:pt x="174" y="88"/>
                </a:cubicBezTo>
              </a:path>
            </a:pathLst>
          </a:custGeom>
          <a:ln cap="rnd" w="7920">
            <a:solidFill>
              <a:srgbClr val="E69F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>
            <a:off x="3407400" y="1375200"/>
            <a:ext cx="62640" cy="62640"/>
          </a:xfrm>
          <a:custGeom>
            <a:avLst/>
            <a:gdLst/>
            <a:ahLst/>
            <a:rect l="0" t="0" r="r" b="b"/>
            <a:pathLst>
              <a:path w="174" h="174">
                <a:moveTo>
                  <a:pt x="0" y="88"/>
                </a:moveTo>
                <a:cubicBezTo>
                  <a:pt x="0" y="-29"/>
                  <a:pt x="174" y="-29"/>
                  <a:pt x="174" y="88"/>
                </a:cubicBezTo>
                <a:cubicBezTo>
                  <a:pt x="174" y="203"/>
                  <a:pt x="0" y="203"/>
                  <a:pt x="0" y="88"/>
                </a:cubicBez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3407400" y="137520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8"/>
                </a:moveTo>
                <a:cubicBezTo>
                  <a:pt x="174" y="203"/>
                  <a:pt x="0" y="203"/>
                  <a:pt x="0" y="88"/>
                </a:cubicBezTo>
                <a:cubicBezTo>
                  <a:pt x="0" y="-29"/>
                  <a:pt x="174" y="-29"/>
                  <a:pt x="174" y="88"/>
                </a:cubicBezTo>
              </a:path>
            </a:pathLst>
          </a:custGeom>
          <a:ln cap="rnd" w="7920">
            <a:solidFill>
              <a:srgbClr val="E69F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3706200" y="1391040"/>
            <a:ext cx="62640" cy="63000"/>
          </a:xfrm>
          <a:custGeom>
            <a:avLst/>
            <a:gdLst/>
            <a:ahLst/>
            <a:rect l="0" t="0" r="r" b="b"/>
            <a:pathLst>
              <a:path w="174" h="175">
                <a:moveTo>
                  <a:pt x="0" y="87"/>
                </a:moveTo>
                <a:cubicBezTo>
                  <a:pt x="0" y="-29"/>
                  <a:pt x="174" y="-29"/>
                  <a:pt x="174" y="87"/>
                </a:cubicBezTo>
                <a:cubicBezTo>
                  <a:pt x="174" y="204"/>
                  <a:pt x="0" y="204"/>
                  <a:pt x="0" y="87"/>
                </a:cubicBez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3706200" y="1391040"/>
            <a:ext cx="62640" cy="63000"/>
          </a:xfrm>
          <a:custGeom>
            <a:avLst/>
            <a:gdLst/>
            <a:ahLst/>
            <a:rect l="0" t="0" r="r" b="b"/>
            <a:pathLst>
              <a:path fill="none" w="174" h="175">
                <a:moveTo>
                  <a:pt x="174" y="87"/>
                </a:moveTo>
                <a:cubicBezTo>
                  <a:pt x="174" y="204"/>
                  <a:pt x="0" y="204"/>
                  <a:pt x="0" y="87"/>
                </a:cubicBezTo>
                <a:cubicBezTo>
                  <a:pt x="0" y="-29"/>
                  <a:pt x="174" y="-29"/>
                  <a:pt x="174" y="87"/>
                </a:cubicBezTo>
              </a:path>
            </a:pathLst>
          </a:custGeom>
          <a:ln cap="rnd" w="7920">
            <a:solidFill>
              <a:srgbClr val="E69F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4004640" y="1375920"/>
            <a:ext cx="63000" cy="62640"/>
          </a:xfrm>
          <a:custGeom>
            <a:avLst/>
            <a:gdLst/>
            <a:ahLst/>
            <a:rect l="0" t="0" r="r" b="b"/>
            <a:pathLst>
              <a:path w="175" h="174">
                <a:moveTo>
                  <a:pt x="0" y="88"/>
                </a:moveTo>
                <a:cubicBezTo>
                  <a:pt x="0" y="-29"/>
                  <a:pt x="175" y="-29"/>
                  <a:pt x="175" y="88"/>
                </a:cubicBezTo>
                <a:cubicBezTo>
                  <a:pt x="175" y="203"/>
                  <a:pt x="0" y="203"/>
                  <a:pt x="0" y="88"/>
                </a:cubicBez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/>
          <p:nvPr/>
        </p:nvSpPr>
        <p:spPr>
          <a:xfrm>
            <a:off x="4004640" y="1375920"/>
            <a:ext cx="63000" cy="62640"/>
          </a:xfrm>
          <a:custGeom>
            <a:avLst/>
            <a:gdLst/>
            <a:ahLst/>
            <a:rect l="0" t="0" r="r" b="b"/>
            <a:pathLst>
              <a:path fill="none" w="175" h="174">
                <a:moveTo>
                  <a:pt x="175" y="88"/>
                </a:moveTo>
                <a:cubicBezTo>
                  <a:pt x="175" y="203"/>
                  <a:pt x="0" y="203"/>
                  <a:pt x="0" y="88"/>
                </a:cubicBezTo>
                <a:cubicBezTo>
                  <a:pt x="0" y="-29"/>
                  <a:pt x="175" y="-29"/>
                  <a:pt x="175" y="88"/>
                </a:cubicBezTo>
              </a:path>
            </a:pathLst>
          </a:custGeom>
          <a:ln cap="rnd" w="7920">
            <a:solidFill>
              <a:srgbClr val="E69F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4303440" y="1375920"/>
            <a:ext cx="62640" cy="62640"/>
          </a:xfrm>
          <a:custGeom>
            <a:avLst/>
            <a:gdLst/>
            <a:ahLst/>
            <a:rect l="0" t="0" r="r" b="b"/>
            <a:pathLst>
              <a:path w="174" h="174">
                <a:moveTo>
                  <a:pt x="0" y="88"/>
                </a:moveTo>
                <a:cubicBezTo>
                  <a:pt x="0" y="-29"/>
                  <a:pt x="174" y="-29"/>
                  <a:pt x="174" y="88"/>
                </a:cubicBezTo>
                <a:cubicBezTo>
                  <a:pt x="174" y="203"/>
                  <a:pt x="0" y="203"/>
                  <a:pt x="0" y="88"/>
                </a:cubicBez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4303440" y="137592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8"/>
                </a:moveTo>
                <a:cubicBezTo>
                  <a:pt x="174" y="203"/>
                  <a:pt x="0" y="203"/>
                  <a:pt x="0" y="88"/>
                </a:cubicBezTo>
                <a:cubicBezTo>
                  <a:pt x="0" y="-29"/>
                  <a:pt x="174" y="-29"/>
                  <a:pt x="174" y="88"/>
                </a:cubicBezTo>
              </a:path>
            </a:pathLst>
          </a:custGeom>
          <a:ln cap="rnd" w="7920">
            <a:solidFill>
              <a:srgbClr val="E69F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4602240" y="1377720"/>
            <a:ext cx="62640" cy="63000"/>
          </a:xfrm>
          <a:custGeom>
            <a:avLst/>
            <a:gdLst/>
            <a:ahLst/>
            <a:rect l="0" t="0" r="r" b="b"/>
            <a:pathLst>
              <a:path w="174" h="175">
                <a:moveTo>
                  <a:pt x="0" y="88"/>
                </a:moveTo>
                <a:cubicBezTo>
                  <a:pt x="0" y="-29"/>
                  <a:pt x="174" y="-29"/>
                  <a:pt x="174" y="88"/>
                </a:cubicBezTo>
                <a:cubicBezTo>
                  <a:pt x="174" y="204"/>
                  <a:pt x="0" y="204"/>
                  <a:pt x="0" y="88"/>
                </a:cubicBez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4602240" y="1377720"/>
            <a:ext cx="62640" cy="63000"/>
          </a:xfrm>
          <a:custGeom>
            <a:avLst/>
            <a:gdLst/>
            <a:ahLst/>
            <a:rect l="0" t="0" r="r" b="b"/>
            <a:pathLst>
              <a:path fill="none" w="174" h="175">
                <a:moveTo>
                  <a:pt x="174" y="88"/>
                </a:moveTo>
                <a:cubicBezTo>
                  <a:pt x="174" y="204"/>
                  <a:pt x="0" y="204"/>
                  <a:pt x="0" y="88"/>
                </a:cubicBezTo>
                <a:cubicBezTo>
                  <a:pt x="0" y="-29"/>
                  <a:pt x="174" y="-29"/>
                  <a:pt x="174" y="88"/>
                </a:cubicBezTo>
              </a:path>
            </a:pathLst>
          </a:custGeom>
          <a:ln cap="rnd" w="7920">
            <a:solidFill>
              <a:srgbClr val="E69F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 flipV="1">
            <a:off x="2960640" y="538560"/>
            <a:ext cx="0" cy="226656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137520" y="118440"/>
            <a:ext cx="16488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2777040" y="229824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2777040" y="169416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2929320" y="234900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2929320" y="174456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2929320" y="114048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2960640" y="2805120"/>
            <a:ext cx="1851840" cy="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 flipV="1">
            <a:off x="3139920" y="28051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 flipV="1">
            <a:off x="3438720" y="28051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 flipV="1">
            <a:off x="3737520" y="28051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 flipV="1">
            <a:off x="4035960" y="28051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 flipV="1">
            <a:off x="4334760" y="28051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 flipV="1">
            <a:off x="4633200" y="28051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2777040" y="108972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0.7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 txBox="1"/>
          <p:nvPr/>
        </p:nvSpPr>
        <p:spPr>
          <a:xfrm rot="20100000">
            <a:off x="2840760" y="2911680"/>
            <a:ext cx="3470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species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 txBox="1"/>
          <p:nvPr/>
        </p:nvSpPr>
        <p:spPr>
          <a:xfrm rot="20100000">
            <a:off x="2678400" y="3009960"/>
            <a:ext cx="8492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species + province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 txBox="1"/>
          <p:nvPr/>
        </p:nvSpPr>
        <p:spPr>
          <a:xfrm rot="20100000">
            <a:off x="3332160" y="2983320"/>
            <a:ext cx="1764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(v1)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 txBox="1"/>
          <p:nvPr/>
        </p:nvSpPr>
        <p:spPr>
          <a:xfrm rot="20100000">
            <a:off x="3486960" y="2903400"/>
            <a:ext cx="28728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+ year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 txBox="1"/>
          <p:nvPr/>
        </p:nvSpPr>
        <p:spPr>
          <a:xfrm rot="20100000">
            <a:off x="3336480" y="2997360"/>
            <a:ext cx="7812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+ province x year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 txBox="1"/>
          <p:nvPr/>
        </p:nvSpPr>
        <p:spPr>
          <a:xfrm rot="20100000">
            <a:off x="3784320" y="3016080"/>
            <a:ext cx="3240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(MAIN)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 txBox="1"/>
          <p:nvPr/>
        </p:nvSpPr>
        <p:spPr>
          <a:xfrm rot="20100000">
            <a:off x="3320280" y="3065040"/>
            <a:ext cx="11217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+ species warming slope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 txBox="1"/>
          <p:nvPr/>
        </p:nvSpPr>
        <p:spPr>
          <a:xfrm rot="20100000">
            <a:off x="3739320" y="3035160"/>
            <a:ext cx="10083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+ province effort slope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2895480" y="1437120"/>
            <a:ext cx="1167840" cy="469800"/>
          </a:xfrm>
          <a:custGeom>
            <a:avLst/>
            <a:gdLst/>
            <a:ahLst/>
            <a:rect l="0" t="0" r="r" b="b"/>
            <a:pathLst>
              <a:path w="3244" h="1305">
                <a:moveTo>
                  <a:pt x="0" y="0"/>
                </a:moveTo>
                <a:lnTo>
                  <a:pt x="3244" y="0"/>
                </a:lnTo>
                <a:lnTo>
                  <a:pt x="3244" y="1305"/>
                </a:lnTo>
                <a:lnTo>
                  <a:pt x="0" y="13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2958840" y="1500480"/>
            <a:ext cx="114120" cy="114480"/>
          </a:xfrm>
          <a:custGeom>
            <a:avLst/>
            <a:gdLst/>
            <a:ahLst/>
            <a:rect l="0" t="0" r="r" b="b"/>
            <a:pathLst>
              <a:path w="317" h="318">
                <a:moveTo>
                  <a:pt x="0" y="0"/>
                </a:moveTo>
                <a:lnTo>
                  <a:pt x="317" y="0"/>
                </a:lnTo>
                <a:lnTo>
                  <a:pt x="317" y="318"/>
                </a:lnTo>
                <a:lnTo>
                  <a:pt x="0" y="3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2970360" y="1557360"/>
            <a:ext cx="91080" cy="0"/>
          </a:xfrm>
          <a:prstGeom prst="line">
            <a:avLst/>
          </a:prstGeom>
          <a:ln w="16200">
            <a:solidFill>
              <a:srgbClr val="009E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920" tIns="-7920" rIns="7920" bIns="-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2984760" y="1526400"/>
            <a:ext cx="62640" cy="63000"/>
          </a:xfrm>
          <a:custGeom>
            <a:avLst/>
            <a:gdLst/>
            <a:ahLst/>
            <a:rect l="0" t="0" r="r" b="b"/>
            <a:pathLst>
              <a:path w="174" h="175">
                <a:moveTo>
                  <a:pt x="0" y="87"/>
                </a:moveTo>
                <a:cubicBezTo>
                  <a:pt x="0" y="-29"/>
                  <a:pt x="174" y="-29"/>
                  <a:pt x="174" y="87"/>
                </a:cubicBezTo>
                <a:cubicBezTo>
                  <a:pt x="174" y="204"/>
                  <a:pt x="0" y="204"/>
                  <a:pt x="0" y="87"/>
                </a:cubicBez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2984760" y="1526400"/>
            <a:ext cx="62640" cy="63000"/>
          </a:xfrm>
          <a:custGeom>
            <a:avLst/>
            <a:gdLst/>
            <a:ahLst/>
            <a:rect l="0" t="0" r="r" b="b"/>
            <a:pathLst>
              <a:path fill="none" w="174" h="175">
                <a:moveTo>
                  <a:pt x="174" y="87"/>
                </a:moveTo>
                <a:cubicBezTo>
                  <a:pt x="174" y="204"/>
                  <a:pt x="0" y="204"/>
                  <a:pt x="0" y="87"/>
                </a:cubicBezTo>
                <a:cubicBezTo>
                  <a:pt x="0" y="-29"/>
                  <a:pt x="174" y="-29"/>
                  <a:pt x="174" y="87"/>
                </a:cubicBezTo>
              </a:path>
            </a:pathLst>
          </a:custGeom>
          <a:ln cap="rnd" w="7920">
            <a:solidFill>
              <a:srgbClr val="009E73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2958840" y="1614600"/>
            <a:ext cx="114120" cy="114840"/>
          </a:xfrm>
          <a:custGeom>
            <a:avLst/>
            <a:gdLst/>
            <a:ahLst/>
            <a:rect l="0" t="0" r="r" b="b"/>
            <a:pathLst>
              <a:path w="317" h="319">
                <a:moveTo>
                  <a:pt x="0" y="0"/>
                </a:moveTo>
                <a:lnTo>
                  <a:pt x="317" y="0"/>
                </a:lnTo>
                <a:lnTo>
                  <a:pt x="317" y="319"/>
                </a:lnTo>
                <a:lnTo>
                  <a:pt x="0" y="31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2970360" y="1671840"/>
            <a:ext cx="91080" cy="0"/>
          </a:xfrm>
          <a:prstGeom prst="line">
            <a:avLst/>
          </a:prstGeom>
          <a:ln w="16200">
            <a:solidFill>
              <a:srgbClr val="007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920" tIns="-7920" rIns="7920" bIns="-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2984760" y="1640520"/>
            <a:ext cx="62640" cy="63360"/>
          </a:xfrm>
          <a:custGeom>
            <a:avLst/>
            <a:gdLst/>
            <a:ahLst/>
            <a:rect l="0" t="0" r="r" b="b"/>
            <a:pathLst>
              <a:path w="174" h="176">
                <a:moveTo>
                  <a:pt x="0" y="88"/>
                </a:moveTo>
                <a:cubicBezTo>
                  <a:pt x="0" y="-29"/>
                  <a:pt x="174" y="-29"/>
                  <a:pt x="174" y="88"/>
                </a:cubicBezTo>
                <a:cubicBezTo>
                  <a:pt x="174" y="205"/>
                  <a:pt x="0" y="205"/>
                  <a:pt x="0" y="88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2984760" y="1640520"/>
            <a:ext cx="62640" cy="63360"/>
          </a:xfrm>
          <a:custGeom>
            <a:avLst/>
            <a:gdLst/>
            <a:ahLst/>
            <a:rect l="0" t="0" r="r" b="b"/>
            <a:pathLst>
              <a:path fill="none" w="174" h="176">
                <a:moveTo>
                  <a:pt x="174" y="88"/>
                </a:moveTo>
                <a:cubicBezTo>
                  <a:pt x="174" y="205"/>
                  <a:pt x="0" y="205"/>
                  <a:pt x="0" y="88"/>
                </a:cubicBezTo>
                <a:cubicBezTo>
                  <a:pt x="0" y="-29"/>
                  <a:pt x="174" y="-29"/>
                  <a:pt x="174" y="88"/>
                </a:cubicBezTo>
              </a:path>
            </a:pathLst>
          </a:custGeom>
          <a:ln cap="rnd" w="7920">
            <a:solidFill>
              <a:srgbClr val="0072B2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2958840" y="1729080"/>
            <a:ext cx="114120" cy="114480"/>
          </a:xfrm>
          <a:custGeom>
            <a:avLst/>
            <a:gdLst/>
            <a:ahLst/>
            <a:rect l="0" t="0" r="r" b="b"/>
            <a:pathLst>
              <a:path w="317" h="318">
                <a:moveTo>
                  <a:pt x="0" y="0"/>
                </a:moveTo>
                <a:lnTo>
                  <a:pt x="317" y="0"/>
                </a:lnTo>
                <a:lnTo>
                  <a:pt x="317" y="318"/>
                </a:lnTo>
                <a:lnTo>
                  <a:pt x="0" y="3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2970360" y="1785960"/>
            <a:ext cx="91080" cy="0"/>
          </a:xfrm>
          <a:prstGeom prst="line">
            <a:avLst/>
          </a:prstGeom>
          <a:ln w="16200">
            <a:solidFill>
              <a:srgbClr val="E69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920" tIns="-7920" rIns="7920" bIns="-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2984760" y="1755000"/>
            <a:ext cx="62640" cy="62640"/>
          </a:xfrm>
          <a:custGeom>
            <a:avLst/>
            <a:gdLst/>
            <a:ahLst/>
            <a:rect l="0" t="0" r="r" b="b"/>
            <a:pathLst>
              <a:path w="174" h="174">
                <a:moveTo>
                  <a:pt x="0" y="87"/>
                </a:moveTo>
                <a:cubicBezTo>
                  <a:pt x="0" y="-29"/>
                  <a:pt x="174" y="-29"/>
                  <a:pt x="174" y="87"/>
                </a:cubicBezTo>
                <a:cubicBezTo>
                  <a:pt x="174" y="203"/>
                  <a:pt x="0" y="203"/>
                  <a:pt x="0" y="87"/>
                </a:cubicBez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2984760" y="175500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7"/>
                </a:moveTo>
                <a:cubicBezTo>
                  <a:pt x="174" y="203"/>
                  <a:pt x="0" y="203"/>
                  <a:pt x="0" y="87"/>
                </a:cubicBezTo>
                <a:cubicBezTo>
                  <a:pt x="0" y="-29"/>
                  <a:pt x="174" y="-29"/>
                  <a:pt x="174" y="87"/>
                </a:cubicBezTo>
              </a:path>
            </a:pathLst>
          </a:custGeom>
          <a:ln cap="rnd" w="7920">
            <a:solidFill>
              <a:srgbClr val="E69F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 txBox="1"/>
          <p:nvPr/>
        </p:nvSpPr>
        <p:spPr>
          <a:xfrm rot="16200000">
            <a:off x="1694880" y="1644120"/>
            <a:ext cx="194832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Explained variation / discrimination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3136320" y="1513080"/>
            <a:ext cx="75060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Conditional R2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3136320" y="1627560"/>
            <a:ext cx="84564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Conditional AUC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3136320" y="1741680"/>
            <a:ext cx="7120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Marginal AUC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2961000" y="335880"/>
            <a:ext cx="196344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Marginal AUC is ﬂat across structures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2961000" y="145440"/>
            <a:ext cx="113256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Explanatory power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5370120" y="538560"/>
            <a:ext cx="1852200" cy="2266920"/>
          </a:xfrm>
          <a:custGeom>
            <a:avLst/>
            <a:gdLst/>
            <a:ahLst/>
            <a:rect l="0" t="0" r="r" b="b"/>
            <a:pathLst>
              <a:path w="5145" h="6297">
                <a:moveTo>
                  <a:pt x="0" y="0"/>
                </a:moveTo>
                <a:lnTo>
                  <a:pt x="5145" y="0"/>
                </a:lnTo>
                <a:lnTo>
                  <a:pt x="5145" y="6297"/>
                </a:lnTo>
                <a:lnTo>
                  <a:pt x="0" y="62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5370120" y="2702160"/>
            <a:ext cx="185184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5370120" y="2127600"/>
            <a:ext cx="185184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5370120" y="1553040"/>
            <a:ext cx="185184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5370120" y="978120"/>
            <a:ext cx="185184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5452560" y="2255040"/>
            <a:ext cx="194400" cy="447480"/>
          </a:xfrm>
          <a:custGeom>
            <a:avLst/>
            <a:gdLst/>
            <a:ahLst/>
            <a:rect l="0" t="0" r="r" b="b"/>
            <a:pathLst>
              <a:path w="540" h="1243">
                <a:moveTo>
                  <a:pt x="0" y="0"/>
                </a:moveTo>
                <a:lnTo>
                  <a:pt x="540" y="0"/>
                </a:lnTo>
                <a:lnTo>
                  <a:pt x="540" y="1243"/>
                </a:lnTo>
                <a:lnTo>
                  <a:pt x="0" y="1243"/>
                </a:lnTo>
                <a:lnTo>
                  <a:pt x="0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5751000" y="1757520"/>
            <a:ext cx="194400" cy="428760"/>
          </a:xfrm>
          <a:custGeom>
            <a:avLst/>
            <a:gdLst/>
            <a:ahLst/>
            <a:rect l="0" t="0" r="r" b="b"/>
            <a:pathLst>
              <a:path w="540" h="1191">
                <a:moveTo>
                  <a:pt x="0" y="0"/>
                </a:moveTo>
                <a:lnTo>
                  <a:pt x="540" y="0"/>
                </a:lnTo>
                <a:lnTo>
                  <a:pt x="540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5751000" y="2185920"/>
            <a:ext cx="194400" cy="516600"/>
          </a:xfrm>
          <a:custGeom>
            <a:avLst/>
            <a:gdLst/>
            <a:ahLst/>
            <a:rect l="0" t="0" r="r" b="b"/>
            <a:pathLst>
              <a:path w="540" h="1435">
                <a:moveTo>
                  <a:pt x="0" y="0"/>
                </a:moveTo>
                <a:lnTo>
                  <a:pt x="540" y="0"/>
                </a:lnTo>
                <a:lnTo>
                  <a:pt x="540" y="1435"/>
                </a:lnTo>
                <a:lnTo>
                  <a:pt x="0" y="1435"/>
                </a:lnTo>
                <a:lnTo>
                  <a:pt x="0" y="0"/>
                </a:ln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6049800" y="1333440"/>
            <a:ext cx="194400" cy="433440"/>
          </a:xfrm>
          <a:custGeom>
            <a:avLst/>
            <a:gdLst/>
            <a:ahLst/>
            <a:rect l="0" t="0" r="r" b="b"/>
            <a:pathLst>
              <a:path w="540" h="1204">
                <a:moveTo>
                  <a:pt x="0" y="0"/>
                </a:moveTo>
                <a:lnTo>
                  <a:pt x="540" y="0"/>
                </a:lnTo>
                <a:lnTo>
                  <a:pt x="540" y="1204"/>
                </a:lnTo>
                <a:lnTo>
                  <a:pt x="0" y="1204"/>
                </a:lnTo>
                <a:lnTo>
                  <a:pt x="0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6049800" y="1766520"/>
            <a:ext cx="194400" cy="482040"/>
          </a:xfrm>
          <a:custGeom>
            <a:avLst/>
            <a:gdLst/>
            <a:ahLst/>
            <a:rect l="0" t="0" r="r" b="b"/>
            <a:pathLst>
              <a:path w="540" h="1339">
                <a:moveTo>
                  <a:pt x="0" y="0"/>
                </a:moveTo>
                <a:lnTo>
                  <a:pt x="540" y="0"/>
                </a:lnTo>
                <a:lnTo>
                  <a:pt x="540" y="1339"/>
                </a:lnTo>
                <a:lnTo>
                  <a:pt x="0" y="1339"/>
                </a:lnTo>
                <a:lnTo>
                  <a:pt x="0" y="0"/>
                </a:ln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6049800" y="2248200"/>
            <a:ext cx="194400" cy="454320"/>
          </a:xfrm>
          <a:custGeom>
            <a:avLst/>
            <a:gdLst/>
            <a:ahLst/>
            <a:rect l="0" t="0" r="r" b="b"/>
            <a:pathLst>
              <a:path w="540" h="1262">
                <a:moveTo>
                  <a:pt x="0" y="0"/>
                </a:moveTo>
                <a:lnTo>
                  <a:pt x="540" y="0"/>
                </a:lnTo>
                <a:lnTo>
                  <a:pt x="540" y="1262"/>
                </a:lnTo>
                <a:lnTo>
                  <a:pt x="0" y="1262"/>
                </a:lnTo>
                <a:lnTo>
                  <a:pt x="0" y="0"/>
                </a:lnTo>
                <a:close/>
              </a:path>
            </a:pathLst>
          </a:custGeom>
          <a:solidFill>
            <a:srgbClr val="56B4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6348600" y="938160"/>
            <a:ext cx="194400" cy="465840"/>
          </a:xfrm>
          <a:custGeom>
            <a:avLst/>
            <a:gdLst/>
            <a:ahLst/>
            <a:rect l="0" t="0" r="r" b="b"/>
            <a:pathLst>
              <a:path w="540" h="1294">
                <a:moveTo>
                  <a:pt x="0" y="0"/>
                </a:moveTo>
                <a:lnTo>
                  <a:pt x="540" y="0"/>
                </a:lnTo>
                <a:lnTo>
                  <a:pt x="540" y="1294"/>
                </a:lnTo>
                <a:lnTo>
                  <a:pt x="0" y="1294"/>
                </a:lnTo>
                <a:lnTo>
                  <a:pt x="0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6348600" y="1403640"/>
            <a:ext cx="194400" cy="374760"/>
          </a:xfrm>
          <a:custGeom>
            <a:avLst/>
            <a:gdLst/>
            <a:ahLst/>
            <a:rect l="0" t="0" r="r" b="b"/>
            <a:pathLst>
              <a:path w="540" h="1041">
                <a:moveTo>
                  <a:pt x="0" y="0"/>
                </a:moveTo>
                <a:lnTo>
                  <a:pt x="540" y="0"/>
                </a:lnTo>
                <a:lnTo>
                  <a:pt x="540" y="1041"/>
                </a:lnTo>
                <a:lnTo>
                  <a:pt x="0" y="1041"/>
                </a:lnTo>
                <a:lnTo>
                  <a:pt x="0" y="0"/>
                </a:ln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6348600" y="1778040"/>
            <a:ext cx="194400" cy="924480"/>
          </a:xfrm>
          <a:custGeom>
            <a:avLst/>
            <a:gdLst/>
            <a:ahLst/>
            <a:rect l="0" t="0" r="r" b="b"/>
            <a:pathLst>
              <a:path w="540" h="2568">
                <a:moveTo>
                  <a:pt x="0" y="0"/>
                </a:moveTo>
                <a:lnTo>
                  <a:pt x="540" y="0"/>
                </a:lnTo>
                <a:lnTo>
                  <a:pt x="540" y="2568"/>
                </a:lnTo>
                <a:lnTo>
                  <a:pt x="0" y="2568"/>
                </a:lnTo>
                <a:lnTo>
                  <a:pt x="0" y="0"/>
                </a:ln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6647040" y="673920"/>
            <a:ext cx="194400" cy="432360"/>
          </a:xfrm>
          <a:custGeom>
            <a:avLst/>
            <a:gdLst/>
            <a:ahLst/>
            <a:rect l="0" t="0" r="r" b="b"/>
            <a:pathLst>
              <a:path w="540" h="1201">
                <a:moveTo>
                  <a:pt x="0" y="0"/>
                </a:moveTo>
                <a:lnTo>
                  <a:pt x="540" y="0"/>
                </a:lnTo>
                <a:lnTo>
                  <a:pt x="540" y="1201"/>
                </a:lnTo>
                <a:lnTo>
                  <a:pt x="0" y="1201"/>
                </a:lnTo>
                <a:lnTo>
                  <a:pt x="0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6647040" y="1105920"/>
            <a:ext cx="194400" cy="350640"/>
          </a:xfrm>
          <a:custGeom>
            <a:avLst/>
            <a:gdLst/>
            <a:ahLst/>
            <a:rect l="0" t="0" r="r" b="b"/>
            <a:pathLst>
              <a:path w="540" h="974">
                <a:moveTo>
                  <a:pt x="0" y="0"/>
                </a:moveTo>
                <a:lnTo>
                  <a:pt x="540" y="0"/>
                </a:lnTo>
                <a:lnTo>
                  <a:pt x="540" y="974"/>
                </a:lnTo>
                <a:lnTo>
                  <a:pt x="0" y="974"/>
                </a:lnTo>
                <a:lnTo>
                  <a:pt x="0" y="0"/>
                </a:ln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6647040" y="1456200"/>
            <a:ext cx="194400" cy="931320"/>
          </a:xfrm>
          <a:custGeom>
            <a:avLst/>
            <a:gdLst/>
            <a:ahLst/>
            <a:rect l="0" t="0" r="r" b="b"/>
            <a:pathLst>
              <a:path w="540" h="2587">
                <a:moveTo>
                  <a:pt x="0" y="0"/>
                </a:moveTo>
                <a:lnTo>
                  <a:pt x="540" y="0"/>
                </a:lnTo>
                <a:lnTo>
                  <a:pt x="540" y="2587"/>
                </a:lnTo>
                <a:lnTo>
                  <a:pt x="0" y="2587"/>
                </a:lnTo>
                <a:lnTo>
                  <a:pt x="0" y="0"/>
                </a:ln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6647040" y="2387160"/>
            <a:ext cx="194400" cy="315360"/>
          </a:xfrm>
          <a:custGeom>
            <a:avLst/>
            <a:gdLst/>
            <a:ahLst/>
            <a:rect l="0" t="0" r="r" b="b"/>
            <a:pathLst>
              <a:path w="540" h="876">
                <a:moveTo>
                  <a:pt x="0" y="0"/>
                </a:moveTo>
                <a:lnTo>
                  <a:pt x="540" y="0"/>
                </a:lnTo>
                <a:lnTo>
                  <a:pt x="540" y="876"/>
                </a:lnTo>
                <a:lnTo>
                  <a:pt x="0" y="876"/>
                </a:lnTo>
                <a:lnTo>
                  <a:pt x="0" y="0"/>
                </a:lnTo>
                <a:close/>
              </a:path>
            </a:pathLst>
          </a:custGeom>
          <a:solidFill>
            <a:srgbClr val="CC79A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6945840" y="641520"/>
            <a:ext cx="194400" cy="462240"/>
          </a:xfrm>
          <a:custGeom>
            <a:avLst/>
            <a:gdLst/>
            <a:ahLst/>
            <a:rect l="0" t="0" r="r" b="b"/>
            <a:pathLst>
              <a:path w="540" h="1284">
                <a:moveTo>
                  <a:pt x="0" y="0"/>
                </a:moveTo>
                <a:lnTo>
                  <a:pt x="540" y="0"/>
                </a:lnTo>
                <a:lnTo>
                  <a:pt x="540" y="1284"/>
                </a:lnTo>
                <a:lnTo>
                  <a:pt x="0" y="1284"/>
                </a:lnTo>
                <a:lnTo>
                  <a:pt x="0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6945840" y="1103400"/>
            <a:ext cx="194400" cy="376200"/>
          </a:xfrm>
          <a:custGeom>
            <a:avLst/>
            <a:gdLst/>
            <a:ahLst/>
            <a:rect l="0" t="0" r="r" b="b"/>
            <a:pathLst>
              <a:path w="540" h="1045">
                <a:moveTo>
                  <a:pt x="0" y="0"/>
                </a:moveTo>
                <a:lnTo>
                  <a:pt x="540" y="0"/>
                </a:lnTo>
                <a:lnTo>
                  <a:pt x="540" y="1045"/>
                </a:lnTo>
                <a:lnTo>
                  <a:pt x="0" y="1045"/>
                </a:lnTo>
                <a:lnTo>
                  <a:pt x="0" y="0"/>
                </a:ln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6945840" y="1479240"/>
            <a:ext cx="194400" cy="876240"/>
          </a:xfrm>
          <a:custGeom>
            <a:avLst/>
            <a:gdLst/>
            <a:ahLst/>
            <a:rect l="0" t="0" r="r" b="b"/>
            <a:pathLst>
              <a:path w="540" h="2434">
                <a:moveTo>
                  <a:pt x="0" y="0"/>
                </a:moveTo>
                <a:lnTo>
                  <a:pt x="540" y="0"/>
                </a:lnTo>
                <a:lnTo>
                  <a:pt x="540" y="2434"/>
                </a:lnTo>
                <a:lnTo>
                  <a:pt x="0" y="2434"/>
                </a:lnTo>
                <a:lnTo>
                  <a:pt x="0" y="0"/>
                </a:ln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6945840" y="2355120"/>
            <a:ext cx="194400" cy="347400"/>
          </a:xfrm>
          <a:custGeom>
            <a:avLst/>
            <a:gdLst/>
            <a:ahLst/>
            <a:rect l="0" t="0" r="r" b="b"/>
            <a:pathLst>
              <a:path w="540" h="965">
                <a:moveTo>
                  <a:pt x="0" y="0"/>
                </a:moveTo>
                <a:lnTo>
                  <a:pt x="540" y="0"/>
                </a:lnTo>
                <a:lnTo>
                  <a:pt x="540" y="965"/>
                </a:lnTo>
                <a:lnTo>
                  <a:pt x="0" y="965"/>
                </a:lnTo>
                <a:lnTo>
                  <a:pt x="0" y="0"/>
                </a:lnTo>
                <a:close/>
              </a:path>
            </a:pathLst>
          </a:custGeom>
          <a:solidFill>
            <a:srgbClr val="D55E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 flipV="1">
            <a:off x="5370120" y="538560"/>
            <a:ext cx="0" cy="226656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2566080" y="118440"/>
            <a:ext cx="16488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5186520" y="265140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5186520" y="207684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5186520" y="150228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1.0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5338800" y="270216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5338800" y="212760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5338800" y="155304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5338800" y="97812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5370120" y="2805120"/>
            <a:ext cx="1851840" cy="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 flipV="1">
            <a:off x="5549400" y="28051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 flipV="1">
            <a:off x="5848200" y="28051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 flipV="1">
            <a:off x="6147000" y="28051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 flipV="1">
            <a:off x="6445440" y="28051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 flipV="1">
            <a:off x="6744240" y="28051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 flipV="1">
            <a:off x="7042680" y="280512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5186520" y="92772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1.5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 txBox="1"/>
          <p:nvPr/>
        </p:nvSpPr>
        <p:spPr>
          <a:xfrm rot="20100000">
            <a:off x="5250240" y="2911680"/>
            <a:ext cx="3470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species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 txBox="1"/>
          <p:nvPr/>
        </p:nvSpPr>
        <p:spPr>
          <a:xfrm rot="20100000">
            <a:off x="5087880" y="3009960"/>
            <a:ext cx="8492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species + province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 txBox="1"/>
          <p:nvPr/>
        </p:nvSpPr>
        <p:spPr>
          <a:xfrm rot="20100000">
            <a:off x="5741640" y="2983320"/>
            <a:ext cx="1764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(v1)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 txBox="1"/>
          <p:nvPr/>
        </p:nvSpPr>
        <p:spPr>
          <a:xfrm rot="20100000">
            <a:off x="5896440" y="2903400"/>
            <a:ext cx="28728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+ year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 txBox="1"/>
          <p:nvPr/>
        </p:nvSpPr>
        <p:spPr>
          <a:xfrm rot="20100000">
            <a:off x="5745960" y="2997360"/>
            <a:ext cx="7812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+ province x year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 txBox="1"/>
          <p:nvPr/>
        </p:nvSpPr>
        <p:spPr>
          <a:xfrm rot="20100000">
            <a:off x="6193800" y="3016080"/>
            <a:ext cx="3240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(MAIN)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 txBox="1"/>
          <p:nvPr/>
        </p:nvSpPr>
        <p:spPr>
          <a:xfrm rot="20100000">
            <a:off x="5729760" y="3065040"/>
            <a:ext cx="11217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+ species warming slope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 txBox="1"/>
          <p:nvPr/>
        </p:nvSpPr>
        <p:spPr>
          <a:xfrm rot="20100000">
            <a:off x="6148800" y="3035160"/>
            <a:ext cx="10083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+ province effort slope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7348680" y="1176840"/>
            <a:ext cx="1624680" cy="990360"/>
          </a:xfrm>
          <a:custGeom>
            <a:avLst/>
            <a:gdLst/>
            <a:ahLst/>
            <a:rect l="0" t="0" r="r" b="b"/>
            <a:pathLst>
              <a:path w="4513" h="2751">
                <a:moveTo>
                  <a:pt x="0" y="0"/>
                </a:moveTo>
                <a:lnTo>
                  <a:pt x="4513" y="0"/>
                </a:lnTo>
                <a:lnTo>
                  <a:pt x="4513" y="2751"/>
                </a:lnTo>
                <a:lnTo>
                  <a:pt x="0" y="27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 txBox="1"/>
          <p:nvPr/>
        </p:nvSpPr>
        <p:spPr>
          <a:xfrm rot="16200000">
            <a:off x="4178160" y="1641600"/>
            <a:ext cx="180036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Random-effect SD (latent scale)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7411680" y="1417680"/>
            <a:ext cx="114480" cy="114840"/>
          </a:xfrm>
          <a:custGeom>
            <a:avLst/>
            <a:gdLst/>
            <a:ahLst/>
            <a:rect l="0" t="0" r="r" b="b"/>
            <a:pathLst>
              <a:path w="318" h="319">
                <a:moveTo>
                  <a:pt x="0" y="0"/>
                </a:moveTo>
                <a:lnTo>
                  <a:pt x="318" y="0"/>
                </a:lnTo>
                <a:lnTo>
                  <a:pt x="318" y="319"/>
                </a:lnTo>
                <a:lnTo>
                  <a:pt x="0" y="31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7419960" y="1425960"/>
            <a:ext cx="97920" cy="98280"/>
          </a:xfrm>
          <a:custGeom>
            <a:avLst/>
            <a:gdLst/>
            <a:ahLst/>
            <a:rect l="0" t="0" r="r" b="b"/>
            <a:pathLst>
              <a:path w="272" h="273">
                <a:moveTo>
                  <a:pt x="0" y="0"/>
                </a:moveTo>
                <a:lnTo>
                  <a:pt x="272" y="0"/>
                </a:lnTo>
                <a:lnTo>
                  <a:pt x="272" y="273"/>
                </a:lnTo>
                <a:lnTo>
                  <a:pt x="0" y="273"/>
                </a:lnTo>
                <a:lnTo>
                  <a:pt x="0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7411680" y="1532160"/>
            <a:ext cx="114480" cy="114480"/>
          </a:xfrm>
          <a:custGeom>
            <a:avLst/>
            <a:gdLst/>
            <a:ahLst/>
            <a:rect l="0" t="0" r="r" b="b"/>
            <a:pathLst>
              <a:path w="318" h="318">
                <a:moveTo>
                  <a:pt x="0" y="0"/>
                </a:moveTo>
                <a:lnTo>
                  <a:pt x="318" y="0"/>
                </a:lnTo>
                <a:lnTo>
                  <a:pt x="318" y="318"/>
                </a:lnTo>
                <a:lnTo>
                  <a:pt x="0" y="3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7419960" y="1540080"/>
            <a:ext cx="97920" cy="98280"/>
          </a:xfrm>
          <a:custGeom>
            <a:avLst/>
            <a:gdLst/>
            <a:ahLst/>
            <a:rect l="0" t="0" r="r" b="b"/>
            <a:pathLst>
              <a:path w="272" h="273">
                <a:moveTo>
                  <a:pt x="0" y="0"/>
                </a:moveTo>
                <a:lnTo>
                  <a:pt x="272" y="0"/>
                </a:lnTo>
                <a:lnTo>
                  <a:pt x="272" y="273"/>
                </a:lnTo>
                <a:lnTo>
                  <a:pt x="0" y="273"/>
                </a:lnTo>
                <a:lnTo>
                  <a:pt x="0" y="0"/>
                </a:lnTo>
                <a:close/>
              </a:path>
            </a:pathLst>
          </a:custGeom>
          <a:solidFill>
            <a:srgbClr val="E69F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7411680" y="1646280"/>
            <a:ext cx="114480" cy="114840"/>
          </a:xfrm>
          <a:custGeom>
            <a:avLst/>
            <a:gdLst/>
            <a:ahLst/>
            <a:rect l="0" t="0" r="r" b="b"/>
            <a:pathLst>
              <a:path w="318" h="319">
                <a:moveTo>
                  <a:pt x="0" y="0"/>
                </a:moveTo>
                <a:lnTo>
                  <a:pt x="318" y="0"/>
                </a:lnTo>
                <a:lnTo>
                  <a:pt x="318" y="319"/>
                </a:lnTo>
                <a:lnTo>
                  <a:pt x="0" y="31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>
            <a:off x="7419960" y="1654560"/>
            <a:ext cx="97920" cy="98280"/>
          </a:xfrm>
          <a:custGeom>
            <a:avLst/>
            <a:gdLst/>
            <a:ahLst/>
            <a:rect l="0" t="0" r="r" b="b"/>
            <a:pathLst>
              <a:path w="272" h="273">
                <a:moveTo>
                  <a:pt x="0" y="0"/>
                </a:moveTo>
                <a:lnTo>
                  <a:pt x="272" y="0"/>
                </a:lnTo>
                <a:lnTo>
                  <a:pt x="272" y="273"/>
                </a:lnTo>
                <a:lnTo>
                  <a:pt x="0" y="273"/>
                </a:lnTo>
                <a:lnTo>
                  <a:pt x="0" y="0"/>
                </a:lnTo>
                <a:close/>
              </a:path>
            </a:pathLst>
          </a:custGeom>
          <a:solidFill>
            <a:srgbClr val="56B4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7411680" y="1760760"/>
            <a:ext cx="114480" cy="114480"/>
          </a:xfrm>
          <a:custGeom>
            <a:avLst/>
            <a:gdLst/>
            <a:ahLst/>
            <a:rect l="0" t="0" r="r" b="b"/>
            <a:pathLst>
              <a:path w="318" h="318">
                <a:moveTo>
                  <a:pt x="0" y="0"/>
                </a:moveTo>
                <a:lnTo>
                  <a:pt x="318" y="0"/>
                </a:lnTo>
                <a:lnTo>
                  <a:pt x="318" y="318"/>
                </a:lnTo>
                <a:lnTo>
                  <a:pt x="0" y="3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>
            <a:off x="7419960" y="1768680"/>
            <a:ext cx="97920" cy="98280"/>
          </a:xfrm>
          <a:custGeom>
            <a:avLst/>
            <a:gdLst/>
            <a:ahLst/>
            <a:rect l="0" t="0" r="r" b="b"/>
            <a:pathLst>
              <a:path w="272" h="273">
                <a:moveTo>
                  <a:pt x="0" y="0"/>
                </a:moveTo>
                <a:lnTo>
                  <a:pt x="272" y="0"/>
                </a:lnTo>
                <a:lnTo>
                  <a:pt x="272" y="273"/>
                </a:lnTo>
                <a:lnTo>
                  <a:pt x="0" y="273"/>
                </a:lnTo>
                <a:lnTo>
                  <a:pt x="0" y="0"/>
                </a:ln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7411680" y="1874880"/>
            <a:ext cx="114480" cy="114840"/>
          </a:xfrm>
          <a:custGeom>
            <a:avLst/>
            <a:gdLst/>
            <a:ahLst/>
            <a:rect l="0" t="0" r="r" b="b"/>
            <a:pathLst>
              <a:path w="318" h="319">
                <a:moveTo>
                  <a:pt x="0" y="0"/>
                </a:moveTo>
                <a:lnTo>
                  <a:pt x="318" y="0"/>
                </a:lnTo>
                <a:lnTo>
                  <a:pt x="318" y="319"/>
                </a:lnTo>
                <a:lnTo>
                  <a:pt x="0" y="31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7419960" y="1883160"/>
            <a:ext cx="97920" cy="98280"/>
          </a:xfrm>
          <a:custGeom>
            <a:avLst/>
            <a:gdLst/>
            <a:ahLst/>
            <a:rect l="0" t="0" r="r" b="b"/>
            <a:pathLst>
              <a:path w="272" h="273">
                <a:moveTo>
                  <a:pt x="0" y="0"/>
                </a:moveTo>
                <a:lnTo>
                  <a:pt x="272" y="0"/>
                </a:lnTo>
                <a:lnTo>
                  <a:pt x="272" y="273"/>
                </a:lnTo>
                <a:lnTo>
                  <a:pt x="0" y="273"/>
                </a:lnTo>
                <a:lnTo>
                  <a:pt x="0" y="0"/>
                </a:lnTo>
                <a:close/>
              </a:path>
            </a:pathLst>
          </a:custGeom>
          <a:solidFill>
            <a:srgbClr val="CC79A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7411680" y="1989360"/>
            <a:ext cx="114480" cy="114480"/>
          </a:xfrm>
          <a:custGeom>
            <a:avLst/>
            <a:gdLst/>
            <a:ahLst/>
            <a:rect l="0" t="0" r="r" b="b"/>
            <a:pathLst>
              <a:path w="318" h="318">
                <a:moveTo>
                  <a:pt x="0" y="0"/>
                </a:moveTo>
                <a:lnTo>
                  <a:pt x="318" y="0"/>
                </a:lnTo>
                <a:lnTo>
                  <a:pt x="318" y="318"/>
                </a:lnTo>
                <a:lnTo>
                  <a:pt x="0" y="3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7419960" y="1997280"/>
            <a:ext cx="97920" cy="98280"/>
          </a:xfrm>
          <a:custGeom>
            <a:avLst/>
            <a:gdLst/>
            <a:ahLst/>
            <a:rect l="0" t="0" r="r" b="b"/>
            <a:pathLst>
              <a:path w="272" h="273">
                <a:moveTo>
                  <a:pt x="0" y="0"/>
                </a:moveTo>
                <a:lnTo>
                  <a:pt x="272" y="0"/>
                </a:lnTo>
                <a:lnTo>
                  <a:pt x="272" y="273"/>
                </a:lnTo>
                <a:lnTo>
                  <a:pt x="0" y="273"/>
                </a:lnTo>
                <a:lnTo>
                  <a:pt x="0" y="0"/>
                </a:lnTo>
                <a:close/>
              </a:path>
            </a:pathLst>
          </a:custGeom>
          <a:solidFill>
            <a:srgbClr val="D55E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7412040" y="1253160"/>
            <a:ext cx="7372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Random term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7589160" y="1430640"/>
            <a:ext cx="8776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Species intercept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7589160" y="1544760"/>
            <a:ext cx="9154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Province intercept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7589160" y="1659240"/>
            <a:ext cx="71244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Year intercept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7589160" y="1773360"/>
            <a:ext cx="12585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Province x year intercept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7589160" y="1887840"/>
            <a:ext cx="12520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Species slope (warming)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7589160" y="2001960"/>
            <a:ext cx="11188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Province slope (effort)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5370480" y="335880"/>
            <a:ext cx="167724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No component collapses to zero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5370480" y="145440"/>
            <a:ext cx="111168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Variance structure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4990680" y="118440"/>
            <a:ext cx="16488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/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Chenchen Ding</dc:creator>
  <dc:description/>
  <dc:language>zh-CN</dc:language>
  <cp:lastModifiedBy>Chenchen Ding</cp:lastModifiedBy>
  <cp:revision>0</cp:revision>
  <dc:subject/>
  <dc:title>Fig4_random_structure_v2</dc:title>
</cp:coreProperties>
</file>