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8229600" cy="62992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11480" y="236880"/>
            <a:ext cx="7406280" cy="9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11480" y="1389600"/>
            <a:ext cx="7406280" cy="344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8229960" cy="6299280"/>
          </a:xfrm>
          <a:custGeom>
            <a:avLst/>
            <a:gdLst/>
            <a:ahLst/>
            <a:rect l="0" t="0" r="r" b="b"/>
            <a:pathLst>
              <a:path w="22861" h="17498">
                <a:moveTo>
                  <a:pt x="0" y="0"/>
                </a:moveTo>
                <a:lnTo>
                  <a:pt x="22861" y="0"/>
                </a:lnTo>
                <a:lnTo>
                  <a:pt x="22861" y="17498"/>
                </a:lnTo>
                <a:lnTo>
                  <a:pt x="0" y="174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8229960" cy="6299280"/>
          </a:xfrm>
          <a:custGeom>
            <a:avLst/>
            <a:gdLst/>
            <a:ahLst/>
            <a:rect l="0" t="0" r="r" b="b"/>
            <a:pathLst>
              <a:path w="22861" h="17498">
                <a:moveTo>
                  <a:pt x="0" y="0"/>
                </a:moveTo>
                <a:lnTo>
                  <a:pt x="22861" y="0"/>
                </a:lnTo>
                <a:lnTo>
                  <a:pt x="22861" y="17498"/>
                </a:lnTo>
                <a:lnTo>
                  <a:pt x="0" y="174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3320">
            <a:solidFill>
              <a:srgbClr val="FFFFFF"/>
            </a:solidFill>
            <a:round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69480" y="69480"/>
            <a:ext cx="4435920" cy="2747880"/>
          </a:xfrm>
          <a:custGeom>
            <a:avLst/>
            <a:gdLst/>
            <a:ahLst/>
            <a:rect l="0" t="0" r="r" b="b"/>
            <a:pathLst>
              <a:path w="12322" h="7633">
                <a:moveTo>
                  <a:pt x="0" y="0"/>
                </a:moveTo>
                <a:lnTo>
                  <a:pt x="12322" y="0"/>
                </a:lnTo>
                <a:lnTo>
                  <a:pt x="12322" y="7633"/>
                </a:lnTo>
                <a:lnTo>
                  <a:pt x="0" y="76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2240">
            <a:solidFill>
              <a:srgbClr val="FFFFFF"/>
            </a:solidFill>
            <a:round/>
          </a:ln>
        </p:spPr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4505040" y="69480"/>
            <a:ext cx="3655080" cy="2747880"/>
          </a:xfrm>
          <a:custGeom>
            <a:avLst/>
            <a:gdLst/>
            <a:ahLst/>
            <a:rect l="0" t="0" r="r" b="b"/>
            <a:pathLst>
              <a:path w="10153" h="7633">
                <a:moveTo>
                  <a:pt x="0" y="0"/>
                </a:moveTo>
                <a:lnTo>
                  <a:pt x="10153" y="0"/>
                </a:lnTo>
                <a:lnTo>
                  <a:pt x="10153" y="7633"/>
                </a:lnTo>
                <a:lnTo>
                  <a:pt x="0" y="76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2240">
            <a:solidFill>
              <a:srgbClr val="FFFFFF"/>
            </a:solidFill>
            <a:round/>
          </a:ln>
        </p:spPr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1307160" y="538560"/>
            <a:ext cx="3097080" cy="1872720"/>
          </a:xfrm>
          <a:custGeom>
            <a:avLst/>
            <a:gdLst/>
            <a:ahLst/>
            <a:rect l="0" t="0" r="r" b="b"/>
            <a:pathLst>
              <a:path w="8603" h="5202">
                <a:moveTo>
                  <a:pt x="0" y="0"/>
                </a:moveTo>
                <a:lnTo>
                  <a:pt x="8603" y="0"/>
                </a:lnTo>
                <a:lnTo>
                  <a:pt x="8603" y="5202"/>
                </a:lnTo>
                <a:lnTo>
                  <a:pt x="0" y="520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/>
          <p:nvPr/>
        </p:nvSpPr>
        <p:spPr>
          <a:xfrm>
            <a:off x="1307160" y="2143440"/>
            <a:ext cx="309672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/>
          <p:nvPr/>
        </p:nvSpPr>
        <p:spPr>
          <a:xfrm>
            <a:off x="1307160" y="1697760"/>
            <a:ext cx="309672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/>
          <p:nvPr/>
        </p:nvSpPr>
        <p:spPr>
          <a:xfrm>
            <a:off x="1307160" y="1252080"/>
            <a:ext cx="309672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/>
          <p:nvPr/>
        </p:nvSpPr>
        <p:spPr>
          <a:xfrm>
            <a:off x="1307160" y="806040"/>
            <a:ext cx="309672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 flipV="1">
            <a:off x="2494440" y="538560"/>
            <a:ext cx="0" cy="1872360"/>
          </a:xfrm>
          <a:prstGeom prst="line">
            <a:avLst/>
          </a:prstGeom>
          <a:ln w="9360">
            <a:solidFill>
              <a:srgbClr val="8C8C8C"/>
            </a:solidFill>
            <a:custDash>
              <a:ds d="403846" sp="403846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3364200" y="895320"/>
            <a:ext cx="876600" cy="0"/>
          </a:xfrm>
          <a:prstGeom prst="line">
            <a:avLst/>
          </a:prstGeom>
          <a:ln w="14760">
            <a:solidFill>
              <a:srgbClr val="0072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0" tIns="-7200" rIns="7200" bIns="-72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3366360" y="806040"/>
            <a:ext cx="879840" cy="0"/>
          </a:xfrm>
          <a:prstGeom prst="line">
            <a:avLst/>
          </a:prstGeom>
          <a:ln w="14760">
            <a:solidFill>
              <a:srgbClr val="E69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0" tIns="-7200" rIns="7200" bIns="-72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3379320" y="716760"/>
            <a:ext cx="883800" cy="0"/>
          </a:xfrm>
          <a:prstGeom prst="line">
            <a:avLst/>
          </a:prstGeom>
          <a:ln w="14760">
            <a:solidFill>
              <a:srgbClr val="009E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0" tIns="-7200" rIns="7200" bIns="-72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3218760" y="1341000"/>
            <a:ext cx="828720" cy="0"/>
          </a:xfrm>
          <a:prstGeom prst="line">
            <a:avLst/>
          </a:prstGeom>
          <a:ln w="14760">
            <a:solidFill>
              <a:srgbClr val="0072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0" tIns="-7200" rIns="7200" bIns="-72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3247920" y="1252080"/>
            <a:ext cx="846000" cy="0"/>
          </a:xfrm>
          <a:prstGeom prst="line">
            <a:avLst/>
          </a:prstGeom>
          <a:ln w="14760">
            <a:solidFill>
              <a:srgbClr val="E69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0" tIns="-7200" rIns="7200" bIns="-72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3226680" y="1162800"/>
            <a:ext cx="865440" cy="0"/>
          </a:xfrm>
          <a:prstGeom prst="line">
            <a:avLst/>
          </a:prstGeom>
          <a:ln w="14760">
            <a:solidFill>
              <a:srgbClr val="009E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0" tIns="-7200" rIns="7200" bIns="-72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2140560" y="1787040"/>
            <a:ext cx="667080" cy="0"/>
          </a:xfrm>
          <a:prstGeom prst="line">
            <a:avLst/>
          </a:prstGeom>
          <a:ln w="14760">
            <a:solidFill>
              <a:srgbClr val="0072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0" tIns="-7200" rIns="7200" bIns="-72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/>
          <p:nvPr/>
        </p:nvSpPr>
        <p:spPr>
          <a:xfrm>
            <a:off x="2140200" y="1697760"/>
            <a:ext cx="669960" cy="0"/>
          </a:xfrm>
          <a:prstGeom prst="line">
            <a:avLst/>
          </a:prstGeom>
          <a:ln w="14760">
            <a:solidFill>
              <a:srgbClr val="E69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0" tIns="-7200" rIns="7200" bIns="-72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2139840" y="1608480"/>
            <a:ext cx="672480" cy="0"/>
          </a:xfrm>
          <a:prstGeom prst="line">
            <a:avLst/>
          </a:prstGeom>
          <a:ln w="14760">
            <a:solidFill>
              <a:srgbClr val="009E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0" tIns="-7200" rIns="7200" bIns="-72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1448640" y="2232720"/>
            <a:ext cx="804960" cy="0"/>
          </a:xfrm>
          <a:prstGeom prst="line">
            <a:avLst/>
          </a:prstGeom>
          <a:ln w="14760">
            <a:solidFill>
              <a:srgbClr val="0072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0" tIns="-7200" rIns="7200" bIns="-72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1452600" y="2143440"/>
            <a:ext cx="807840" cy="0"/>
          </a:xfrm>
          <a:prstGeom prst="line">
            <a:avLst/>
          </a:prstGeom>
          <a:ln w="14760">
            <a:solidFill>
              <a:srgbClr val="E69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0" tIns="-7200" rIns="7200" bIns="-72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1447920" y="2054520"/>
            <a:ext cx="809280" cy="0"/>
          </a:xfrm>
          <a:prstGeom prst="line">
            <a:avLst/>
          </a:prstGeom>
          <a:ln w="14760">
            <a:solidFill>
              <a:srgbClr val="009E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0" tIns="-7200" rIns="7200" bIns="-72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3772440" y="865440"/>
            <a:ext cx="60120" cy="60120"/>
          </a:xfrm>
          <a:custGeom>
            <a:avLst/>
            <a:gdLst/>
            <a:ahLst/>
            <a:rect l="0" t="0" r="r" b="b"/>
            <a:pathLst>
              <a:path w="167" h="167">
                <a:moveTo>
                  <a:pt x="0" y="84"/>
                </a:moveTo>
                <a:cubicBezTo>
                  <a:pt x="0" y="-28"/>
                  <a:pt x="167" y="-28"/>
                  <a:pt x="167" y="84"/>
                </a:cubicBezTo>
                <a:cubicBezTo>
                  <a:pt x="167" y="195"/>
                  <a:pt x="0" y="195"/>
                  <a:pt x="0" y="84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3772440" y="865440"/>
            <a:ext cx="60120" cy="60120"/>
          </a:xfrm>
          <a:custGeom>
            <a:avLst/>
            <a:gdLst/>
            <a:ahLst/>
            <a:rect l="0" t="0" r="r" b="b"/>
            <a:pathLst>
              <a:path fill="none" w="167" h="167">
                <a:moveTo>
                  <a:pt x="167" y="84"/>
                </a:moveTo>
                <a:cubicBezTo>
                  <a:pt x="167" y="195"/>
                  <a:pt x="0" y="195"/>
                  <a:pt x="0" y="84"/>
                </a:cubicBezTo>
                <a:cubicBezTo>
                  <a:pt x="0" y="-28"/>
                  <a:pt x="167" y="-28"/>
                  <a:pt x="167" y="84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3776400" y="776160"/>
            <a:ext cx="60120" cy="60120"/>
          </a:xfrm>
          <a:custGeom>
            <a:avLst/>
            <a:gdLst/>
            <a:ahLst/>
            <a:rect l="0" t="0" r="r" b="b"/>
            <a:pathLst>
              <a:path w="167" h="167">
                <a:moveTo>
                  <a:pt x="0" y="83"/>
                </a:moveTo>
                <a:cubicBezTo>
                  <a:pt x="0" y="-28"/>
                  <a:pt x="167" y="-28"/>
                  <a:pt x="167" y="83"/>
                </a:cubicBezTo>
                <a:cubicBezTo>
                  <a:pt x="167" y="194"/>
                  <a:pt x="0" y="194"/>
                  <a:pt x="0" y="83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3776400" y="776160"/>
            <a:ext cx="60120" cy="60120"/>
          </a:xfrm>
          <a:custGeom>
            <a:avLst/>
            <a:gdLst/>
            <a:ahLst/>
            <a:rect l="0" t="0" r="r" b="b"/>
            <a:pathLst>
              <a:path fill="none" w="167" h="167">
                <a:moveTo>
                  <a:pt x="167" y="83"/>
                </a:moveTo>
                <a:cubicBezTo>
                  <a:pt x="167" y="194"/>
                  <a:pt x="0" y="194"/>
                  <a:pt x="0" y="83"/>
                </a:cubicBezTo>
                <a:cubicBezTo>
                  <a:pt x="0" y="-28"/>
                  <a:pt x="167" y="-28"/>
                  <a:pt x="167" y="83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3791520" y="686880"/>
            <a:ext cx="59760" cy="60120"/>
          </a:xfrm>
          <a:custGeom>
            <a:avLst/>
            <a:gdLst/>
            <a:ahLst/>
            <a:rect l="0" t="0" r="r" b="b"/>
            <a:pathLst>
              <a:path w="166" h="167">
                <a:moveTo>
                  <a:pt x="0" y="83"/>
                </a:moveTo>
                <a:cubicBezTo>
                  <a:pt x="0" y="-28"/>
                  <a:pt x="166" y="-28"/>
                  <a:pt x="166" y="83"/>
                </a:cubicBezTo>
                <a:cubicBezTo>
                  <a:pt x="166" y="195"/>
                  <a:pt x="0" y="195"/>
                  <a:pt x="0" y="83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3791520" y="686880"/>
            <a:ext cx="59760" cy="60120"/>
          </a:xfrm>
          <a:custGeom>
            <a:avLst/>
            <a:gdLst/>
            <a:ahLst/>
            <a:rect l="0" t="0" r="r" b="b"/>
            <a:pathLst>
              <a:path fill="none" w="166" h="167">
                <a:moveTo>
                  <a:pt x="166" y="83"/>
                </a:moveTo>
                <a:cubicBezTo>
                  <a:pt x="166" y="195"/>
                  <a:pt x="0" y="195"/>
                  <a:pt x="0" y="83"/>
                </a:cubicBezTo>
                <a:cubicBezTo>
                  <a:pt x="0" y="-28"/>
                  <a:pt x="166" y="-28"/>
                  <a:pt x="166" y="83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3603240" y="1311120"/>
            <a:ext cx="60120" cy="60120"/>
          </a:xfrm>
          <a:custGeom>
            <a:avLst/>
            <a:gdLst/>
            <a:ahLst/>
            <a:rect l="0" t="0" r="r" b="b"/>
            <a:pathLst>
              <a:path w="167" h="167">
                <a:moveTo>
                  <a:pt x="0" y="83"/>
                </a:moveTo>
                <a:cubicBezTo>
                  <a:pt x="0" y="-28"/>
                  <a:pt x="167" y="-28"/>
                  <a:pt x="167" y="83"/>
                </a:cubicBezTo>
                <a:cubicBezTo>
                  <a:pt x="167" y="194"/>
                  <a:pt x="0" y="194"/>
                  <a:pt x="0" y="83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3603240" y="1311120"/>
            <a:ext cx="60120" cy="60120"/>
          </a:xfrm>
          <a:custGeom>
            <a:avLst/>
            <a:gdLst/>
            <a:ahLst/>
            <a:rect l="0" t="0" r="r" b="b"/>
            <a:pathLst>
              <a:path fill="none" w="167" h="167">
                <a:moveTo>
                  <a:pt x="167" y="83"/>
                </a:moveTo>
                <a:cubicBezTo>
                  <a:pt x="167" y="194"/>
                  <a:pt x="0" y="194"/>
                  <a:pt x="0" y="83"/>
                </a:cubicBezTo>
                <a:cubicBezTo>
                  <a:pt x="0" y="-28"/>
                  <a:pt x="167" y="-28"/>
                  <a:pt x="167" y="83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3641040" y="1222200"/>
            <a:ext cx="60120" cy="60120"/>
          </a:xfrm>
          <a:custGeom>
            <a:avLst/>
            <a:gdLst/>
            <a:ahLst/>
            <a:rect l="0" t="0" r="r" b="b"/>
            <a:pathLst>
              <a:path w="167" h="167">
                <a:moveTo>
                  <a:pt x="0" y="84"/>
                </a:moveTo>
                <a:cubicBezTo>
                  <a:pt x="0" y="-28"/>
                  <a:pt x="167" y="-28"/>
                  <a:pt x="167" y="84"/>
                </a:cubicBezTo>
                <a:cubicBezTo>
                  <a:pt x="167" y="195"/>
                  <a:pt x="0" y="195"/>
                  <a:pt x="0" y="84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3641040" y="1222200"/>
            <a:ext cx="60120" cy="60120"/>
          </a:xfrm>
          <a:custGeom>
            <a:avLst/>
            <a:gdLst/>
            <a:ahLst/>
            <a:rect l="0" t="0" r="r" b="b"/>
            <a:pathLst>
              <a:path fill="none" w="167" h="167">
                <a:moveTo>
                  <a:pt x="167" y="84"/>
                </a:moveTo>
                <a:cubicBezTo>
                  <a:pt x="167" y="195"/>
                  <a:pt x="0" y="195"/>
                  <a:pt x="0" y="84"/>
                </a:cubicBezTo>
                <a:cubicBezTo>
                  <a:pt x="0" y="-28"/>
                  <a:pt x="167" y="-28"/>
                  <a:pt x="167" y="84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3629520" y="1132920"/>
            <a:ext cx="60120" cy="60120"/>
          </a:xfrm>
          <a:custGeom>
            <a:avLst/>
            <a:gdLst/>
            <a:ahLst/>
            <a:rect l="0" t="0" r="r" b="b"/>
            <a:pathLst>
              <a:path w="167" h="167">
                <a:moveTo>
                  <a:pt x="0" y="84"/>
                </a:moveTo>
                <a:cubicBezTo>
                  <a:pt x="0" y="-28"/>
                  <a:pt x="167" y="-28"/>
                  <a:pt x="167" y="84"/>
                </a:cubicBezTo>
                <a:cubicBezTo>
                  <a:pt x="167" y="194"/>
                  <a:pt x="0" y="194"/>
                  <a:pt x="0" y="84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3629520" y="1132920"/>
            <a:ext cx="60120" cy="60120"/>
          </a:xfrm>
          <a:custGeom>
            <a:avLst/>
            <a:gdLst/>
            <a:ahLst/>
            <a:rect l="0" t="0" r="r" b="b"/>
            <a:pathLst>
              <a:path fill="none" w="167" h="167">
                <a:moveTo>
                  <a:pt x="167" y="84"/>
                </a:moveTo>
                <a:cubicBezTo>
                  <a:pt x="167" y="194"/>
                  <a:pt x="0" y="194"/>
                  <a:pt x="0" y="84"/>
                </a:cubicBezTo>
                <a:cubicBezTo>
                  <a:pt x="0" y="-28"/>
                  <a:pt x="167" y="-28"/>
                  <a:pt x="167" y="84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2444400" y="1757160"/>
            <a:ext cx="60120" cy="60120"/>
          </a:xfrm>
          <a:custGeom>
            <a:avLst/>
            <a:gdLst/>
            <a:ahLst/>
            <a:rect l="0" t="0" r="r" b="b"/>
            <a:pathLst>
              <a:path w="167" h="167">
                <a:moveTo>
                  <a:pt x="0" y="84"/>
                </a:moveTo>
                <a:cubicBezTo>
                  <a:pt x="0" y="-28"/>
                  <a:pt x="167" y="-28"/>
                  <a:pt x="167" y="84"/>
                </a:cubicBezTo>
                <a:cubicBezTo>
                  <a:pt x="167" y="195"/>
                  <a:pt x="0" y="195"/>
                  <a:pt x="0" y="84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2444400" y="1757160"/>
            <a:ext cx="60120" cy="60120"/>
          </a:xfrm>
          <a:custGeom>
            <a:avLst/>
            <a:gdLst/>
            <a:ahLst/>
            <a:rect l="0" t="0" r="r" b="b"/>
            <a:pathLst>
              <a:path fill="none" w="167" h="167">
                <a:moveTo>
                  <a:pt x="167" y="84"/>
                </a:moveTo>
                <a:cubicBezTo>
                  <a:pt x="167" y="195"/>
                  <a:pt x="0" y="195"/>
                  <a:pt x="0" y="84"/>
                </a:cubicBezTo>
                <a:cubicBezTo>
                  <a:pt x="0" y="-28"/>
                  <a:pt x="167" y="-28"/>
                  <a:pt x="167" y="84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2445480" y="1667880"/>
            <a:ext cx="59760" cy="60120"/>
          </a:xfrm>
          <a:custGeom>
            <a:avLst/>
            <a:gdLst/>
            <a:ahLst/>
            <a:rect l="0" t="0" r="r" b="b"/>
            <a:pathLst>
              <a:path w="166" h="167">
                <a:moveTo>
                  <a:pt x="0" y="84"/>
                </a:moveTo>
                <a:cubicBezTo>
                  <a:pt x="0" y="-28"/>
                  <a:pt x="166" y="-28"/>
                  <a:pt x="166" y="84"/>
                </a:cubicBezTo>
                <a:cubicBezTo>
                  <a:pt x="166" y="194"/>
                  <a:pt x="0" y="194"/>
                  <a:pt x="0" y="84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2445480" y="1667880"/>
            <a:ext cx="59760" cy="60120"/>
          </a:xfrm>
          <a:custGeom>
            <a:avLst/>
            <a:gdLst/>
            <a:ahLst/>
            <a:rect l="0" t="0" r="r" b="b"/>
            <a:pathLst>
              <a:path fill="none" w="166" h="167">
                <a:moveTo>
                  <a:pt x="166" y="84"/>
                </a:moveTo>
                <a:cubicBezTo>
                  <a:pt x="166" y="194"/>
                  <a:pt x="0" y="194"/>
                  <a:pt x="0" y="84"/>
                </a:cubicBezTo>
                <a:cubicBezTo>
                  <a:pt x="0" y="-28"/>
                  <a:pt x="166" y="-28"/>
                  <a:pt x="166" y="84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2446200" y="1578600"/>
            <a:ext cx="60120" cy="60120"/>
          </a:xfrm>
          <a:custGeom>
            <a:avLst/>
            <a:gdLst/>
            <a:ahLst/>
            <a:rect l="0" t="0" r="r" b="b"/>
            <a:pathLst>
              <a:path w="167" h="167">
                <a:moveTo>
                  <a:pt x="0" y="83"/>
                </a:moveTo>
                <a:cubicBezTo>
                  <a:pt x="0" y="-28"/>
                  <a:pt x="167" y="-28"/>
                  <a:pt x="167" y="83"/>
                </a:cubicBezTo>
                <a:cubicBezTo>
                  <a:pt x="167" y="195"/>
                  <a:pt x="0" y="195"/>
                  <a:pt x="0" y="83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2446200" y="1578600"/>
            <a:ext cx="60120" cy="60120"/>
          </a:xfrm>
          <a:custGeom>
            <a:avLst/>
            <a:gdLst/>
            <a:ahLst/>
            <a:rect l="0" t="0" r="r" b="b"/>
            <a:pathLst>
              <a:path fill="none" w="167" h="167">
                <a:moveTo>
                  <a:pt x="167" y="83"/>
                </a:moveTo>
                <a:cubicBezTo>
                  <a:pt x="167" y="195"/>
                  <a:pt x="0" y="195"/>
                  <a:pt x="0" y="83"/>
                </a:cubicBezTo>
                <a:cubicBezTo>
                  <a:pt x="0" y="-28"/>
                  <a:pt x="167" y="-28"/>
                  <a:pt x="167" y="83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1821240" y="2202840"/>
            <a:ext cx="60120" cy="60120"/>
          </a:xfrm>
          <a:custGeom>
            <a:avLst/>
            <a:gdLst/>
            <a:ahLst/>
            <a:rect l="0" t="0" r="r" b="b"/>
            <a:pathLst>
              <a:path w="167" h="167">
                <a:moveTo>
                  <a:pt x="0" y="83"/>
                </a:moveTo>
                <a:cubicBezTo>
                  <a:pt x="0" y="-28"/>
                  <a:pt x="167" y="-28"/>
                  <a:pt x="167" y="83"/>
                </a:cubicBezTo>
                <a:cubicBezTo>
                  <a:pt x="167" y="194"/>
                  <a:pt x="0" y="194"/>
                  <a:pt x="0" y="83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1821240" y="2202840"/>
            <a:ext cx="60120" cy="60120"/>
          </a:xfrm>
          <a:custGeom>
            <a:avLst/>
            <a:gdLst/>
            <a:ahLst/>
            <a:rect l="0" t="0" r="r" b="b"/>
            <a:pathLst>
              <a:path fill="none" w="167" h="167">
                <a:moveTo>
                  <a:pt x="167" y="83"/>
                </a:moveTo>
                <a:cubicBezTo>
                  <a:pt x="167" y="194"/>
                  <a:pt x="0" y="194"/>
                  <a:pt x="0" y="83"/>
                </a:cubicBezTo>
                <a:cubicBezTo>
                  <a:pt x="0" y="-28"/>
                  <a:pt x="167" y="-28"/>
                  <a:pt x="167" y="83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1826640" y="2113920"/>
            <a:ext cx="60120" cy="60120"/>
          </a:xfrm>
          <a:custGeom>
            <a:avLst/>
            <a:gdLst/>
            <a:ahLst/>
            <a:rect l="0" t="0" r="r" b="b"/>
            <a:pathLst>
              <a:path w="167" h="167">
                <a:moveTo>
                  <a:pt x="0" y="83"/>
                </a:moveTo>
                <a:cubicBezTo>
                  <a:pt x="0" y="-28"/>
                  <a:pt x="167" y="-28"/>
                  <a:pt x="167" y="83"/>
                </a:cubicBezTo>
                <a:cubicBezTo>
                  <a:pt x="167" y="195"/>
                  <a:pt x="0" y="195"/>
                  <a:pt x="0" y="83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1826640" y="2113920"/>
            <a:ext cx="60120" cy="60120"/>
          </a:xfrm>
          <a:custGeom>
            <a:avLst/>
            <a:gdLst/>
            <a:ahLst/>
            <a:rect l="0" t="0" r="r" b="b"/>
            <a:pathLst>
              <a:path fill="none" w="167" h="167">
                <a:moveTo>
                  <a:pt x="167" y="83"/>
                </a:moveTo>
                <a:cubicBezTo>
                  <a:pt x="167" y="195"/>
                  <a:pt x="0" y="195"/>
                  <a:pt x="0" y="83"/>
                </a:cubicBezTo>
                <a:cubicBezTo>
                  <a:pt x="0" y="-28"/>
                  <a:pt x="167" y="-28"/>
                  <a:pt x="167" y="83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1822680" y="2024640"/>
            <a:ext cx="60120" cy="60120"/>
          </a:xfrm>
          <a:custGeom>
            <a:avLst/>
            <a:gdLst/>
            <a:ahLst/>
            <a:rect l="0" t="0" r="r" b="b"/>
            <a:pathLst>
              <a:path w="167" h="167">
                <a:moveTo>
                  <a:pt x="0" y="84"/>
                </a:moveTo>
                <a:cubicBezTo>
                  <a:pt x="0" y="-28"/>
                  <a:pt x="167" y="-28"/>
                  <a:pt x="167" y="84"/>
                </a:cubicBezTo>
                <a:cubicBezTo>
                  <a:pt x="167" y="194"/>
                  <a:pt x="0" y="194"/>
                  <a:pt x="0" y="84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1822680" y="2024640"/>
            <a:ext cx="60120" cy="60120"/>
          </a:xfrm>
          <a:custGeom>
            <a:avLst/>
            <a:gdLst/>
            <a:ahLst/>
            <a:rect l="0" t="0" r="r" b="b"/>
            <a:pathLst>
              <a:path fill="none" w="167" h="167">
                <a:moveTo>
                  <a:pt x="167" y="84"/>
                </a:moveTo>
                <a:cubicBezTo>
                  <a:pt x="167" y="194"/>
                  <a:pt x="0" y="194"/>
                  <a:pt x="0" y="84"/>
                </a:cubicBezTo>
                <a:cubicBezTo>
                  <a:pt x="0" y="-28"/>
                  <a:pt x="167" y="-28"/>
                  <a:pt x="167" y="84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 flipV="1">
            <a:off x="1307160" y="538560"/>
            <a:ext cx="0" cy="187272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539280" y="2093040"/>
            <a:ext cx="7495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Warming x effort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170640" y="1647000"/>
            <a:ext cx="11242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Annual climate variability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285120" y="1201320"/>
            <a:ext cx="1005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Accumulated warming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1275480" y="214344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1275480" y="169776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1275480" y="125208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1275480" y="80604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1307160" y="2411280"/>
            <a:ext cx="3096720" cy="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 flipV="1">
            <a:off x="1677240" y="2411280"/>
            <a:ext cx="0" cy="3132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 flipV="1">
            <a:off x="2108520" y="2411280"/>
            <a:ext cx="0" cy="3132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 flipV="1">
            <a:off x="2494440" y="2411280"/>
            <a:ext cx="0" cy="3132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 flipV="1">
            <a:off x="3161880" y="2411280"/>
            <a:ext cx="0" cy="3132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 flipV="1">
            <a:off x="3726360" y="2411280"/>
            <a:ext cx="0" cy="3132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 flipV="1">
            <a:off x="4215240" y="2411280"/>
            <a:ext cx="0" cy="3132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704160" y="755280"/>
            <a:ext cx="57960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Survey effort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1613880" y="245556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0.8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2045160" y="245556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0.9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2431080" y="245556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3098520" y="245556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3663000" y="245556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4151880" y="245556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3411720" y="1613880"/>
            <a:ext cx="1117440" cy="770760"/>
          </a:xfrm>
          <a:custGeom>
            <a:avLst/>
            <a:gdLst/>
            <a:ahLst/>
            <a:rect l="0" t="0" r="r" b="b"/>
            <a:pathLst>
              <a:path w="3104" h="2141">
                <a:moveTo>
                  <a:pt x="0" y="0"/>
                </a:moveTo>
                <a:lnTo>
                  <a:pt x="3104" y="0"/>
                </a:lnTo>
                <a:lnTo>
                  <a:pt x="3104" y="2141"/>
                </a:lnTo>
                <a:lnTo>
                  <a:pt x="0" y="214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1947600" y="2601360"/>
            <a:ext cx="175824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D0D0D"/>
                </a:solidFill>
                <a:effectLst/>
                <a:uFillTx/>
                <a:latin typeface="Arial"/>
                <a:ea typeface="Arial"/>
              </a:rPr>
              <a:t>Hazard ratio per 1 SD (95% CI)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3475440" y="1690200"/>
            <a:ext cx="96588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Minimum suitable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3475080" y="1978200"/>
            <a:ext cx="114120" cy="114480"/>
          </a:xfrm>
          <a:custGeom>
            <a:avLst/>
            <a:gdLst/>
            <a:ahLst/>
            <a:rect l="0" t="0" r="r" b="b"/>
            <a:pathLst>
              <a:path w="317" h="318">
                <a:moveTo>
                  <a:pt x="0" y="0"/>
                </a:moveTo>
                <a:lnTo>
                  <a:pt x="317" y="0"/>
                </a:lnTo>
                <a:lnTo>
                  <a:pt x="317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3486600" y="2035440"/>
            <a:ext cx="91080" cy="0"/>
          </a:xfrm>
          <a:prstGeom prst="line">
            <a:avLst/>
          </a:prstGeom>
          <a:ln w="14760">
            <a:solidFill>
              <a:srgbClr val="0072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0" tIns="-7200" rIns="7200" bIns="-72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3502080" y="2005560"/>
            <a:ext cx="60120" cy="60120"/>
          </a:xfrm>
          <a:custGeom>
            <a:avLst/>
            <a:gdLst/>
            <a:ahLst/>
            <a:rect l="0" t="0" r="r" b="b"/>
            <a:pathLst>
              <a:path w="167" h="167">
                <a:moveTo>
                  <a:pt x="0" y="83"/>
                </a:moveTo>
                <a:cubicBezTo>
                  <a:pt x="0" y="-28"/>
                  <a:pt x="167" y="-28"/>
                  <a:pt x="167" y="83"/>
                </a:cubicBezTo>
                <a:cubicBezTo>
                  <a:pt x="167" y="194"/>
                  <a:pt x="0" y="194"/>
                  <a:pt x="0" y="83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3502080" y="2005560"/>
            <a:ext cx="60120" cy="60120"/>
          </a:xfrm>
          <a:custGeom>
            <a:avLst/>
            <a:gdLst/>
            <a:ahLst/>
            <a:rect l="0" t="0" r="r" b="b"/>
            <a:pathLst>
              <a:path fill="none" w="167" h="167">
                <a:moveTo>
                  <a:pt x="167" y="83"/>
                </a:moveTo>
                <a:cubicBezTo>
                  <a:pt x="167" y="194"/>
                  <a:pt x="0" y="194"/>
                  <a:pt x="0" y="83"/>
                </a:cubicBezTo>
                <a:cubicBezTo>
                  <a:pt x="0" y="-28"/>
                  <a:pt x="167" y="-28"/>
                  <a:pt x="167" y="83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3475080" y="2092320"/>
            <a:ext cx="114120" cy="114840"/>
          </a:xfrm>
          <a:custGeom>
            <a:avLst/>
            <a:gdLst/>
            <a:ahLst/>
            <a:rect l="0" t="0" r="r" b="b"/>
            <a:pathLst>
              <a:path w="317" h="319">
                <a:moveTo>
                  <a:pt x="0" y="0"/>
                </a:moveTo>
                <a:lnTo>
                  <a:pt x="317" y="0"/>
                </a:lnTo>
                <a:lnTo>
                  <a:pt x="317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3486600" y="2149560"/>
            <a:ext cx="91080" cy="0"/>
          </a:xfrm>
          <a:prstGeom prst="line">
            <a:avLst/>
          </a:prstGeom>
          <a:ln w="14760">
            <a:solidFill>
              <a:srgbClr val="E69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0" tIns="-7200" rIns="7200" bIns="-72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3502080" y="2119680"/>
            <a:ext cx="60120" cy="60120"/>
          </a:xfrm>
          <a:custGeom>
            <a:avLst/>
            <a:gdLst/>
            <a:ahLst/>
            <a:rect l="0" t="0" r="r" b="b"/>
            <a:pathLst>
              <a:path w="167" h="167">
                <a:moveTo>
                  <a:pt x="0" y="83"/>
                </a:moveTo>
                <a:cubicBezTo>
                  <a:pt x="0" y="-27"/>
                  <a:pt x="167" y="-27"/>
                  <a:pt x="167" y="83"/>
                </a:cubicBezTo>
                <a:cubicBezTo>
                  <a:pt x="167" y="195"/>
                  <a:pt x="0" y="195"/>
                  <a:pt x="0" y="83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3502080" y="2119680"/>
            <a:ext cx="60120" cy="60120"/>
          </a:xfrm>
          <a:custGeom>
            <a:avLst/>
            <a:gdLst/>
            <a:ahLst/>
            <a:rect l="0" t="0" r="r" b="b"/>
            <a:pathLst>
              <a:path fill="none" w="167" h="167">
                <a:moveTo>
                  <a:pt x="167" y="83"/>
                </a:moveTo>
                <a:cubicBezTo>
                  <a:pt x="167" y="195"/>
                  <a:pt x="0" y="195"/>
                  <a:pt x="0" y="83"/>
                </a:cubicBezTo>
                <a:cubicBezTo>
                  <a:pt x="0" y="-27"/>
                  <a:pt x="167" y="-27"/>
                  <a:pt x="167" y="83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3475080" y="2206800"/>
            <a:ext cx="114120" cy="114480"/>
          </a:xfrm>
          <a:custGeom>
            <a:avLst/>
            <a:gdLst/>
            <a:ahLst/>
            <a:rect l="0" t="0" r="r" b="b"/>
            <a:pathLst>
              <a:path w="317" h="318">
                <a:moveTo>
                  <a:pt x="0" y="0"/>
                </a:moveTo>
                <a:lnTo>
                  <a:pt x="317" y="0"/>
                </a:lnTo>
                <a:lnTo>
                  <a:pt x="317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3486600" y="2264040"/>
            <a:ext cx="91080" cy="0"/>
          </a:xfrm>
          <a:prstGeom prst="line">
            <a:avLst/>
          </a:prstGeom>
          <a:ln w="14760">
            <a:solidFill>
              <a:srgbClr val="009E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0" tIns="-7200" rIns="7200" bIns="-72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3502080" y="2234160"/>
            <a:ext cx="60120" cy="60120"/>
          </a:xfrm>
          <a:custGeom>
            <a:avLst/>
            <a:gdLst/>
            <a:ahLst/>
            <a:rect l="0" t="0" r="r" b="b"/>
            <a:pathLst>
              <a:path w="167" h="167">
                <a:moveTo>
                  <a:pt x="0" y="84"/>
                </a:moveTo>
                <a:cubicBezTo>
                  <a:pt x="0" y="-28"/>
                  <a:pt x="167" y="-28"/>
                  <a:pt x="167" y="84"/>
                </a:cubicBezTo>
                <a:cubicBezTo>
                  <a:pt x="167" y="195"/>
                  <a:pt x="0" y="195"/>
                  <a:pt x="0" y="84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3502080" y="2234160"/>
            <a:ext cx="60120" cy="60120"/>
          </a:xfrm>
          <a:custGeom>
            <a:avLst/>
            <a:gdLst/>
            <a:ahLst/>
            <a:rect l="0" t="0" r="r" b="b"/>
            <a:pathLst>
              <a:path fill="none" w="167" h="167">
                <a:moveTo>
                  <a:pt x="167" y="84"/>
                </a:moveTo>
                <a:cubicBezTo>
                  <a:pt x="167" y="195"/>
                  <a:pt x="0" y="195"/>
                  <a:pt x="0" y="84"/>
                </a:cubicBezTo>
                <a:cubicBezTo>
                  <a:pt x="0" y="-28"/>
                  <a:pt x="167" y="-28"/>
                  <a:pt x="167" y="84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3475440" y="1813680"/>
            <a:ext cx="97272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cells per province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3652560" y="1991160"/>
            <a:ext cx="38844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50 cells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3652560" y="2105280"/>
            <a:ext cx="45180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100 cells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3652560" y="2219760"/>
            <a:ext cx="45180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200 cells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1307160" y="335880"/>
            <a:ext cx="244008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Discrete-time proportional hazards, cloglog link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1307160" y="145440"/>
            <a:ext cx="269928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Effort and warming contribute independently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4961520" y="538560"/>
            <a:ext cx="3097440" cy="1872720"/>
          </a:xfrm>
          <a:custGeom>
            <a:avLst/>
            <a:gdLst/>
            <a:ahLst/>
            <a:rect l="0" t="0" r="r" b="b"/>
            <a:pathLst>
              <a:path w="8604" h="5202">
                <a:moveTo>
                  <a:pt x="0" y="0"/>
                </a:moveTo>
                <a:lnTo>
                  <a:pt x="8604" y="0"/>
                </a:lnTo>
                <a:lnTo>
                  <a:pt x="8604" y="5202"/>
                </a:lnTo>
                <a:lnTo>
                  <a:pt x="0" y="520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4961520" y="2401920"/>
            <a:ext cx="30970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4961520" y="1879560"/>
            <a:ext cx="30970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4961520" y="1356840"/>
            <a:ext cx="30970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4961520" y="834480"/>
            <a:ext cx="30970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5102280" y="643320"/>
            <a:ext cx="2815920" cy="1683000"/>
          </a:xfrm>
          <a:custGeom>
            <a:avLst/>
            <a:gdLst/>
            <a:ahLst/>
            <a:rect l="0" t="0" r="r" b="b"/>
            <a:pathLst>
              <a:path w="7822" h="4675">
                <a:moveTo>
                  <a:pt x="0" y="4279"/>
                </a:moveTo>
                <a:lnTo>
                  <a:pt x="133" y="4263"/>
                </a:lnTo>
                <a:lnTo>
                  <a:pt x="266" y="4247"/>
                </a:lnTo>
                <a:lnTo>
                  <a:pt x="398" y="4231"/>
                </a:lnTo>
                <a:lnTo>
                  <a:pt x="531" y="4214"/>
                </a:lnTo>
                <a:lnTo>
                  <a:pt x="663" y="4196"/>
                </a:lnTo>
                <a:lnTo>
                  <a:pt x="796" y="4178"/>
                </a:lnTo>
                <a:lnTo>
                  <a:pt x="928" y="4160"/>
                </a:lnTo>
                <a:lnTo>
                  <a:pt x="1061" y="4141"/>
                </a:lnTo>
                <a:lnTo>
                  <a:pt x="1193" y="4121"/>
                </a:lnTo>
                <a:lnTo>
                  <a:pt x="1326" y="4101"/>
                </a:lnTo>
                <a:lnTo>
                  <a:pt x="1459" y="4080"/>
                </a:lnTo>
                <a:lnTo>
                  <a:pt x="1591" y="4058"/>
                </a:lnTo>
                <a:lnTo>
                  <a:pt x="1724" y="4036"/>
                </a:lnTo>
                <a:lnTo>
                  <a:pt x="1856" y="4013"/>
                </a:lnTo>
                <a:lnTo>
                  <a:pt x="1989" y="3989"/>
                </a:lnTo>
                <a:lnTo>
                  <a:pt x="2121" y="3964"/>
                </a:lnTo>
                <a:lnTo>
                  <a:pt x="2254" y="3938"/>
                </a:lnTo>
                <a:lnTo>
                  <a:pt x="2386" y="3911"/>
                </a:lnTo>
                <a:lnTo>
                  <a:pt x="2519" y="3883"/>
                </a:lnTo>
                <a:lnTo>
                  <a:pt x="2652" y="3854"/>
                </a:lnTo>
                <a:lnTo>
                  <a:pt x="2784" y="3823"/>
                </a:lnTo>
                <a:lnTo>
                  <a:pt x="2917" y="3792"/>
                </a:lnTo>
                <a:lnTo>
                  <a:pt x="3049" y="3758"/>
                </a:lnTo>
                <a:lnTo>
                  <a:pt x="3182" y="3724"/>
                </a:lnTo>
                <a:lnTo>
                  <a:pt x="3314" y="3687"/>
                </a:lnTo>
                <a:lnTo>
                  <a:pt x="3447" y="3649"/>
                </a:lnTo>
                <a:lnTo>
                  <a:pt x="3579" y="3609"/>
                </a:lnTo>
                <a:lnTo>
                  <a:pt x="3712" y="3567"/>
                </a:lnTo>
                <a:lnTo>
                  <a:pt x="3844" y="3523"/>
                </a:lnTo>
                <a:lnTo>
                  <a:pt x="3977" y="3476"/>
                </a:lnTo>
                <a:lnTo>
                  <a:pt x="4110" y="3426"/>
                </a:lnTo>
                <a:lnTo>
                  <a:pt x="4242" y="3374"/>
                </a:lnTo>
                <a:lnTo>
                  <a:pt x="4375" y="3319"/>
                </a:lnTo>
                <a:lnTo>
                  <a:pt x="4507" y="3260"/>
                </a:lnTo>
                <a:lnTo>
                  <a:pt x="4640" y="3198"/>
                </a:lnTo>
                <a:lnTo>
                  <a:pt x="4772" y="3132"/>
                </a:lnTo>
                <a:lnTo>
                  <a:pt x="4905" y="3063"/>
                </a:lnTo>
                <a:lnTo>
                  <a:pt x="5037" y="2989"/>
                </a:lnTo>
                <a:lnTo>
                  <a:pt x="5170" y="2911"/>
                </a:lnTo>
                <a:lnTo>
                  <a:pt x="5303" y="2828"/>
                </a:lnTo>
                <a:lnTo>
                  <a:pt x="5436" y="2741"/>
                </a:lnTo>
                <a:lnTo>
                  <a:pt x="5569" y="2648"/>
                </a:lnTo>
                <a:lnTo>
                  <a:pt x="5701" y="2550"/>
                </a:lnTo>
                <a:lnTo>
                  <a:pt x="5834" y="2447"/>
                </a:lnTo>
                <a:lnTo>
                  <a:pt x="5966" y="2337"/>
                </a:lnTo>
                <a:lnTo>
                  <a:pt x="6099" y="2222"/>
                </a:lnTo>
                <a:lnTo>
                  <a:pt x="6231" y="2100"/>
                </a:lnTo>
                <a:lnTo>
                  <a:pt x="6364" y="1971"/>
                </a:lnTo>
                <a:lnTo>
                  <a:pt x="6497" y="1835"/>
                </a:lnTo>
                <a:lnTo>
                  <a:pt x="6629" y="1692"/>
                </a:lnTo>
                <a:lnTo>
                  <a:pt x="6762" y="1540"/>
                </a:lnTo>
                <a:lnTo>
                  <a:pt x="6894" y="1381"/>
                </a:lnTo>
                <a:lnTo>
                  <a:pt x="7027" y="1213"/>
                </a:lnTo>
                <a:lnTo>
                  <a:pt x="7159" y="1036"/>
                </a:lnTo>
                <a:lnTo>
                  <a:pt x="7292" y="850"/>
                </a:lnTo>
                <a:lnTo>
                  <a:pt x="7424" y="654"/>
                </a:lnTo>
                <a:lnTo>
                  <a:pt x="7557" y="446"/>
                </a:lnTo>
                <a:lnTo>
                  <a:pt x="7689" y="229"/>
                </a:lnTo>
                <a:lnTo>
                  <a:pt x="7822" y="0"/>
                </a:lnTo>
                <a:lnTo>
                  <a:pt x="7822" y="2780"/>
                </a:lnTo>
                <a:lnTo>
                  <a:pt x="7689" y="2834"/>
                </a:lnTo>
                <a:lnTo>
                  <a:pt x="7557" y="2888"/>
                </a:lnTo>
                <a:lnTo>
                  <a:pt x="7424" y="2940"/>
                </a:lnTo>
                <a:lnTo>
                  <a:pt x="7292" y="2991"/>
                </a:lnTo>
                <a:lnTo>
                  <a:pt x="7159" y="3042"/>
                </a:lnTo>
                <a:lnTo>
                  <a:pt x="7027" y="3091"/>
                </a:lnTo>
                <a:lnTo>
                  <a:pt x="6894" y="3140"/>
                </a:lnTo>
                <a:lnTo>
                  <a:pt x="6762" y="3188"/>
                </a:lnTo>
                <a:lnTo>
                  <a:pt x="6629" y="3235"/>
                </a:lnTo>
                <a:lnTo>
                  <a:pt x="6497" y="3281"/>
                </a:lnTo>
                <a:lnTo>
                  <a:pt x="6364" y="3326"/>
                </a:lnTo>
                <a:lnTo>
                  <a:pt x="6231" y="3371"/>
                </a:lnTo>
                <a:lnTo>
                  <a:pt x="6099" y="3415"/>
                </a:lnTo>
                <a:lnTo>
                  <a:pt x="5966" y="3459"/>
                </a:lnTo>
                <a:lnTo>
                  <a:pt x="5834" y="3501"/>
                </a:lnTo>
                <a:lnTo>
                  <a:pt x="5701" y="3544"/>
                </a:lnTo>
                <a:lnTo>
                  <a:pt x="5569" y="3585"/>
                </a:lnTo>
                <a:lnTo>
                  <a:pt x="5436" y="3626"/>
                </a:lnTo>
                <a:lnTo>
                  <a:pt x="5303" y="3667"/>
                </a:lnTo>
                <a:lnTo>
                  <a:pt x="5170" y="3707"/>
                </a:lnTo>
                <a:lnTo>
                  <a:pt x="5037" y="3746"/>
                </a:lnTo>
                <a:lnTo>
                  <a:pt x="4905" y="3785"/>
                </a:lnTo>
                <a:lnTo>
                  <a:pt x="4772" y="3823"/>
                </a:lnTo>
                <a:lnTo>
                  <a:pt x="4640" y="3861"/>
                </a:lnTo>
                <a:lnTo>
                  <a:pt x="4507" y="3898"/>
                </a:lnTo>
                <a:lnTo>
                  <a:pt x="4375" y="3935"/>
                </a:lnTo>
                <a:lnTo>
                  <a:pt x="4242" y="3971"/>
                </a:lnTo>
                <a:lnTo>
                  <a:pt x="4110" y="4006"/>
                </a:lnTo>
                <a:lnTo>
                  <a:pt x="3977" y="4040"/>
                </a:lnTo>
                <a:lnTo>
                  <a:pt x="3844" y="4074"/>
                </a:lnTo>
                <a:lnTo>
                  <a:pt x="3712" y="4107"/>
                </a:lnTo>
                <a:lnTo>
                  <a:pt x="3579" y="4139"/>
                </a:lnTo>
                <a:lnTo>
                  <a:pt x="3447" y="4170"/>
                </a:lnTo>
                <a:lnTo>
                  <a:pt x="3314" y="4200"/>
                </a:lnTo>
                <a:lnTo>
                  <a:pt x="3182" y="4229"/>
                </a:lnTo>
                <a:lnTo>
                  <a:pt x="3049" y="4257"/>
                </a:lnTo>
                <a:lnTo>
                  <a:pt x="2917" y="4285"/>
                </a:lnTo>
                <a:lnTo>
                  <a:pt x="2784" y="4311"/>
                </a:lnTo>
                <a:lnTo>
                  <a:pt x="2652" y="4337"/>
                </a:lnTo>
                <a:lnTo>
                  <a:pt x="2519" y="4361"/>
                </a:lnTo>
                <a:lnTo>
                  <a:pt x="2386" y="4385"/>
                </a:lnTo>
                <a:lnTo>
                  <a:pt x="2254" y="4408"/>
                </a:lnTo>
                <a:lnTo>
                  <a:pt x="2121" y="4429"/>
                </a:lnTo>
                <a:lnTo>
                  <a:pt x="1989" y="4450"/>
                </a:lnTo>
                <a:lnTo>
                  <a:pt x="1856" y="4470"/>
                </a:lnTo>
                <a:lnTo>
                  <a:pt x="1724" y="4490"/>
                </a:lnTo>
                <a:lnTo>
                  <a:pt x="1591" y="4508"/>
                </a:lnTo>
                <a:lnTo>
                  <a:pt x="1459" y="4526"/>
                </a:lnTo>
                <a:lnTo>
                  <a:pt x="1326" y="4543"/>
                </a:lnTo>
                <a:lnTo>
                  <a:pt x="1193" y="4559"/>
                </a:lnTo>
                <a:lnTo>
                  <a:pt x="1061" y="4574"/>
                </a:lnTo>
                <a:lnTo>
                  <a:pt x="928" y="4589"/>
                </a:lnTo>
                <a:lnTo>
                  <a:pt x="796" y="4603"/>
                </a:lnTo>
                <a:lnTo>
                  <a:pt x="663" y="4617"/>
                </a:lnTo>
                <a:lnTo>
                  <a:pt x="531" y="4629"/>
                </a:lnTo>
                <a:lnTo>
                  <a:pt x="398" y="4642"/>
                </a:lnTo>
                <a:lnTo>
                  <a:pt x="266" y="4653"/>
                </a:lnTo>
                <a:lnTo>
                  <a:pt x="133" y="4665"/>
                </a:lnTo>
                <a:lnTo>
                  <a:pt x="0" y="4675"/>
                </a:lnTo>
                <a:lnTo>
                  <a:pt x="0" y="4279"/>
                </a:lnTo>
                <a:close/>
              </a:path>
            </a:pathLst>
          </a:custGeom>
          <a:solidFill>
            <a:srgbClr val="56B4E9">
              <a:alpha val="1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5102280" y="852480"/>
            <a:ext cx="2815920" cy="1315800"/>
          </a:xfrm>
          <a:custGeom>
            <a:avLst/>
            <a:gdLst/>
            <a:ahLst/>
            <a:rect l="0" t="0" r="r" b="b"/>
            <a:pathLst>
              <a:path w="7822" h="3655">
                <a:moveTo>
                  <a:pt x="0" y="3069"/>
                </a:moveTo>
                <a:lnTo>
                  <a:pt x="133" y="3050"/>
                </a:lnTo>
                <a:lnTo>
                  <a:pt x="266" y="3030"/>
                </a:lnTo>
                <a:lnTo>
                  <a:pt x="398" y="3010"/>
                </a:lnTo>
                <a:lnTo>
                  <a:pt x="531" y="2989"/>
                </a:lnTo>
                <a:lnTo>
                  <a:pt x="663" y="2968"/>
                </a:lnTo>
                <a:lnTo>
                  <a:pt x="796" y="2947"/>
                </a:lnTo>
                <a:lnTo>
                  <a:pt x="928" y="2925"/>
                </a:lnTo>
                <a:lnTo>
                  <a:pt x="1061" y="2902"/>
                </a:lnTo>
                <a:lnTo>
                  <a:pt x="1193" y="2879"/>
                </a:lnTo>
                <a:lnTo>
                  <a:pt x="1326" y="2856"/>
                </a:lnTo>
                <a:lnTo>
                  <a:pt x="1459" y="2832"/>
                </a:lnTo>
                <a:lnTo>
                  <a:pt x="1591" y="2807"/>
                </a:lnTo>
                <a:lnTo>
                  <a:pt x="1724" y="2781"/>
                </a:lnTo>
                <a:lnTo>
                  <a:pt x="1856" y="2756"/>
                </a:lnTo>
                <a:lnTo>
                  <a:pt x="1989" y="2729"/>
                </a:lnTo>
                <a:lnTo>
                  <a:pt x="2121" y="2701"/>
                </a:lnTo>
                <a:lnTo>
                  <a:pt x="2254" y="2673"/>
                </a:lnTo>
                <a:lnTo>
                  <a:pt x="2386" y="2644"/>
                </a:lnTo>
                <a:lnTo>
                  <a:pt x="2519" y="2614"/>
                </a:lnTo>
                <a:lnTo>
                  <a:pt x="2652" y="2584"/>
                </a:lnTo>
                <a:lnTo>
                  <a:pt x="2784" y="2552"/>
                </a:lnTo>
                <a:lnTo>
                  <a:pt x="2917" y="2519"/>
                </a:lnTo>
                <a:lnTo>
                  <a:pt x="3049" y="2486"/>
                </a:lnTo>
                <a:lnTo>
                  <a:pt x="3182" y="2451"/>
                </a:lnTo>
                <a:lnTo>
                  <a:pt x="3314" y="2415"/>
                </a:lnTo>
                <a:lnTo>
                  <a:pt x="3447" y="2377"/>
                </a:lnTo>
                <a:lnTo>
                  <a:pt x="3579" y="2339"/>
                </a:lnTo>
                <a:lnTo>
                  <a:pt x="3712" y="2299"/>
                </a:lnTo>
                <a:lnTo>
                  <a:pt x="3844" y="2258"/>
                </a:lnTo>
                <a:lnTo>
                  <a:pt x="3977" y="2215"/>
                </a:lnTo>
                <a:lnTo>
                  <a:pt x="4110" y="2170"/>
                </a:lnTo>
                <a:lnTo>
                  <a:pt x="4242" y="2124"/>
                </a:lnTo>
                <a:lnTo>
                  <a:pt x="4375" y="2076"/>
                </a:lnTo>
                <a:lnTo>
                  <a:pt x="4507" y="2026"/>
                </a:lnTo>
                <a:lnTo>
                  <a:pt x="4640" y="1975"/>
                </a:lnTo>
                <a:lnTo>
                  <a:pt x="4772" y="1921"/>
                </a:lnTo>
                <a:lnTo>
                  <a:pt x="4905" y="1866"/>
                </a:lnTo>
                <a:lnTo>
                  <a:pt x="5037" y="1808"/>
                </a:lnTo>
                <a:lnTo>
                  <a:pt x="5170" y="1749"/>
                </a:lnTo>
                <a:lnTo>
                  <a:pt x="5303" y="1687"/>
                </a:lnTo>
                <a:lnTo>
                  <a:pt x="5436" y="1623"/>
                </a:lnTo>
                <a:lnTo>
                  <a:pt x="5569" y="1556"/>
                </a:lnTo>
                <a:lnTo>
                  <a:pt x="5701" y="1487"/>
                </a:lnTo>
                <a:lnTo>
                  <a:pt x="5834" y="1416"/>
                </a:lnTo>
                <a:lnTo>
                  <a:pt x="5966" y="1342"/>
                </a:lnTo>
                <a:lnTo>
                  <a:pt x="6099" y="1265"/>
                </a:lnTo>
                <a:lnTo>
                  <a:pt x="6231" y="1186"/>
                </a:lnTo>
                <a:lnTo>
                  <a:pt x="6364" y="1104"/>
                </a:lnTo>
                <a:lnTo>
                  <a:pt x="6497" y="1019"/>
                </a:lnTo>
                <a:lnTo>
                  <a:pt x="6629" y="932"/>
                </a:lnTo>
                <a:lnTo>
                  <a:pt x="6762" y="841"/>
                </a:lnTo>
                <a:lnTo>
                  <a:pt x="6894" y="747"/>
                </a:lnTo>
                <a:lnTo>
                  <a:pt x="7027" y="651"/>
                </a:lnTo>
                <a:lnTo>
                  <a:pt x="7159" y="551"/>
                </a:lnTo>
                <a:lnTo>
                  <a:pt x="7292" y="448"/>
                </a:lnTo>
                <a:lnTo>
                  <a:pt x="7424" y="341"/>
                </a:lnTo>
                <a:lnTo>
                  <a:pt x="7557" y="231"/>
                </a:lnTo>
                <a:lnTo>
                  <a:pt x="7689" y="117"/>
                </a:lnTo>
                <a:lnTo>
                  <a:pt x="7822" y="0"/>
                </a:lnTo>
                <a:lnTo>
                  <a:pt x="7822" y="1834"/>
                </a:lnTo>
                <a:lnTo>
                  <a:pt x="7689" y="1873"/>
                </a:lnTo>
                <a:lnTo>
                  <a:pt x="7557" y="1912"/>
                </a:lnTo>
                <a:lnTo>
                  <a:pt x="7424" y="1951"/>
                </a:lnTo>
                <a:lnTo>
                  <a:pt x="7292" y="1990"/>
                </a:lnTo>
                <a:lnTo>
                  <a:pt x="7159" y="2028"/>
                </a:lnTo>
                <a:lnTo>
                  <a:pt x="7027" y="2066"/>
                </a:lnTo>
                <a:lnTo>
                  <a:pt x="6894" y="2103"/>
                </a:lnTo>
                <a:lnTo>
                  <a:pt x="6762" y="2141"/>
                </a:lnTo>
                <a:lnTo>
                  <a:pt x="6629" y="2178"/>
                </a:lnTo>
                <a:lnTo>
                  <a:pt x="6497" y="2214"/>
                </a:lnTo>
                <a:lnTo>
                  <a:pt x="6364" y="2251"/>
                </a:lnTo>
                <a:lnTo>
                  <a:pt x="6231" y="2287"/>
                </a:lnTo>
                <a:lnTo>
                  <a:pt x="6099" y="2323"/>
                </a:lnTo>
                <a:lnTo>
                  <a:pt x="5966" y="2359"/>
                </a:lnTo>
                <a:lnTo>
                  <a:pt x="5701" y="2430"/>
                </a:lnTo>
                <a:lnTo>
                  <a:pt x="5569" y="2465"/>
                </a:lnTo>
                <a:lnTo>
                  <a:pt x="5436" y="2500"/>
                </a:lnTo>
                <a:lnTo>
                  <a:pt x="5170" y="2570"/>
                </a:lnTo>
                <a:lnTo>
                  <a:pt x="4905" y="2639"/>
                </a:lnTo>
                <a:lnTo>
                  <a:pt x="4772" y="2673"/>
                </a:lnTo>
                <a:lnTo>
                  <a:pt x="4640" y="2707"/>
                </a:lnTo>
                <a:lnTo>
                  <a:pt x="4507" y="2741"/>
                </a:lnTo>
                <a:lnTo>
                  <a:pt x="4375" y="2775"/>
                </a:lnTo>
                <a:lnTo>
                  <a:pt x="4242" y="2808"/>
                </a:lnTo>
                <a:lnTo>
                  <a:pt x="4110" y="2841"/>
                </a:lnTo>
                <a:lnTo>
                  <a:pt x="3977" y="2874"/>
                </a:lnTo>
                <a:lnTo>
                  <a:pt x="3844" y="2907"/>
                </a:lnTo>
                <a:lnTo>
                  <a:pt x="3712" y="2939"/>
                </a:lnTo>
                <a:lnTo>
                  <a:pt x="3579" y="2971"/>
                </a:lnTo>
                <a:lnTo>
                  <a:pt x="3447" y="3003"/>
                </a:lnTo>
                <a:lnTo>
                  <a:pt x="3314" y="3034"/>
                </a:lnTo>
                <a:lnTo>
                  <a:pt x="3182" y="3065"/>
                </a:lnTo>
                <a:lnTo>
                  <a:pt x="3049" y="3095"/>
                </a:lnTo>
                <a:lnTo>
                  <a:pt x="2917" y="3126"/>
                </a:lnTo>
                <a:lnTo>
                  <a:pt x="2784" y="3155"/>
                </a:lnTo>
                <a:lnTo>
                  <a:pt x="2652" y="3184"/>
                </a:lnTo>
                <a:lnTo>
                  <a:pt x="2519" y="3213"/>
                </a:lnTo>
                <a:lnTo>
                  <a:pt x="2386" y="3241"/>
                </a:lnTo>
                <a:lnTo>
                  <a:pt x="2254" y="3268"/>
                </a:lnTo>
                <a:lnTo>
                  <a:pt x="2121" y="3295"/>
                </a:lnTo>
                <a:lnTo>
                  <a:pt x="1989" y="3322"/>
                </a:lnTo>
                <a:lnTo>
                  <a:pt x="1856" y="3348"/>
                </a:lnTo>
                <a:lnTo>
                  <a:pt x="1724" y="3373"/>
                </a:lnTo>
                <a:lnTo>
                  <a:pt x="1591" y="3398"/>
                </a:lnTo>
                <a:lnTo>
                  <a:pt x="1459" y="3422"/>
                </a:lnTo>
                <a:lnTo>
                  <a:pt x="1326" y="3446"/>
                </a:lnTo>
                <a:lnTo>
                  <a:pt x="1193" y="3469"/>
                </a:lnTo>
                <a:lnTo>
                  <a:pt x="1061" y="3492"/>
                </a:lnTo>
                <a:lnTo>
                  <a:pt x="928" y="3514"/>
                </a:lnTo>
                <a:lnTo>
                  <a:pt x="796" y="3536"/>
                </a:lnTo>
                <a:lnTo>
                  <a:pt x="663" y="3557"/>
                </a:lnTo>
                <a:lnTo>
                  <a:pt x="531" y="3578"/>
                </a:lnTo>
                <a:lnTo>
                  <a:pt x="398" y="3598"/>
                </a:lnTo>
                <a:lnTo>
                  <a:pt x="266" y="3617"/>
                </a:lnTo>
                <a:lnTo>
                  <a:pt x="133" y="3636"/>
                </a:lnTo>
                <a:lnTo>
                  <a:pt x="0" y="3655"/>
                </a:lnTo>
                <a:lnTo>
                  <a:pt x="0" y="3069"/>
                </a:lnTo>
                <a:close/>
              </a:path>
            </a:pathLst>
          </a:custGeom>
          <a:solidFill>
            <a:srgbClr val="0072B2">
              <a:alpha val="1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5102280" y="623520"/>
            <a:ext cx="2815920" cy="1198800"/>
          </a:xfrm>
          <a:custGeom>
            <a:avLst/>
            <a:gdLst/>
            <a:ahLst/>
            <a:rect l="0" t="0" r="r" b="b"/>
            <a:pathLst>
              <a:path w="7822" h="3330">
                <a:moveTo>
                  <a:pt x="0" y="942"/>
                </a:moveTo>
                <a:lnTo>
                  <a:pt x="133" y="964"/>
                </a:lnTo>
                <a:lnTo>
                  <a:pt x="266" y="986"/>
                </a:lnTo>
                <a:lnTo>
                  <a:pt x="398" y="1007"/>
                </a:lnTo>
                <a:lnTo>
                  <a:pt x="531" y="1027"/>
                </a:lnTo>
                <a:lnTo>
                  <a:pt x="663" y="1047"/>
                </a:lnTo>
                <a:lnTo>
                  <a:pt x="796" y="1066"/>
                </a:lnTo>
                <a:lnTo>
                  <a:pt x="928" y="1085"/>
                </a:lnTo>
                <a:lnTo>
                  <a:pt x="1061" y="1103"/>
                </a:lnTo>
                <a:lnTo>
                  <a:pt x="1193" y="1120"/>
                </a:lnTo>
                <a:lnTo>
                  <a:pt x="1326" y="1137"/>
                </a:lnTo>
                <a:lnTo>
                  <a:pt x="1459" y="1153"/>
                </a:lnTo>
                <a:lnTo>
                  <a:pt x="1591" y="1168"/>
                </a:lnTo>
                <a:lnTo>
                  <a:pt x="1724" y="1182"/>
                </a:lnTo>
                <a:lnTo>
                  <a:pt x="1856" y="1196"/>
                </a:lnTo>
                <a:lnTo>
                  <a:pt x="1989" y="1208"/>
                </a:lnTo>
                <a:lnTo>
                  <a:pt x="2121" y="1220"/>
                </a:lnTo>
                <a:lnTo>
                  <a:pt x="2254" y="1230"/>
                </a:lnTo>
                <a:lnTo>
                  <a:pt x="2386" y="1240"/>
                </a:lnTo>
                <a:lnTo>
                  <a:pt x="2519" y="1248"/>
                </a:lnTo>
                <a:lnTo>
                  <a:pt x="2652" y="1255"/>
                </a:lnTo>
                <a:lnTo>
                  <a:pt x="2784" y="1260"/>
                </a:lnTo>
                <a:lnTo>
                  <a:pt x="2917" y="1264"/>
                </a:lnTo>
                <a:lnTo>
                  <a:pt x="3049" y="1267"/>
                </a:lnTo>
                <a:lnTo>
                  <a:pt x="3182" y="1268"/>
                </a:lnTo>
                <a:lnTo>
                  <a:pt x="3314" y="1267"/>
                </a:lnTo>
                <a:lnTo>
                  <a:pt x="3447" y="1264"/>
                </a:lnTo>
                <a:lnTo>
                  <a:pt x="3579" y="1260"/>
                </a:lnTo>
                <a:lnTo>
                  <a:pt x="3712" y="1254"/>
                </a:lnTo>
                <a:lnTo>
                  <a:pt x="3844" y="1245"/>
                </a:lnTo>
                <a:lnTo>
                  <a:pt x="3977" y="1235"/>
                </a:lnTo>
                <a:lnTo>
                  <a:pt x="4110" y="1222"/>
                </a:lnTo>
                <a:lnTo>
                  <a:pt x="4242" y="1207"/>
                </a:lnTo>
                <a:lnTo>
                  <a:pt x="4375" y="1189"/>
                </a:lnTo>
                <a:lnTo>
                  <a:pt x="4507" y="1170"/>
                </a:lnTo>
                <a:lnTo>
                  <a:pt x="4640" y="1148"/>
                </a:lnTo>
                <a:lnTo>
                  <a:pt x="4772" y="1124"/>
                </a:lnTo>
                <a:lnTo>
                  <a:pt x="4905" y="1097"/>
                </a:lnTo>
                <a:lnTo>
                  <a:pt x="5037" y="1069"/>
                </a:lnTo>
                <a:lnTo>
                  <a:pt x="5170" y="1038"/>
                </a:lnTo>
                <a:lnTo>
                  <a:pt x="5303" y="1004"/>
                </a:lnTo>
                <a:lnTo>
                  <a:pt x="5436" y="969"/>
                </a:lnTo>
                <a:lnTo>
                  <a:pt x="5569" y="931"/>
                </a:lnTo>
                <a:lnTo>
                  <a:pt x="5701" y="891"/>
                </a:lnTo>
                <a:lnTo>
                  <a:pt x="5834" y="849"/>
                </a:lnTo>
                <a:lnTo>
                  <a:pt x="5966" y="805"/>
                </a:lnTo>
                <a:lnTo>
                  <a:pt x="6099" y="760"/>
                </a:lnTo>
                <a:lnTo>
                  <a:pt x="6231" y="712"/>
                </a:lnTo>
                <a:lnTo>
                  <a:pt x="6364" y="662"/>
                </a:lnTo>
                <a:lnTo>
                  <a:pt x="6497" y="611"/>
                </a:lnTo>
                <a:lnTo>
                  <a:pt x="6629" y="557"/>
                </a:lnTo>
                <a:lnTo>
                  <a:pt x="6762" y="502"/>
                </a:lnTo>
                <a:lnTo>
                  <a:pt x="6894" y="445"/>
                </a:lnTo>
                <a:lnTo>
                  <a:pt x="7027" y="387"/>
                </a:lnTo>
                <a:lnTo>
                  <a:pt x="7159" y="326"/>
                </a:lnTo>
                <a:lnTo>
                  <a:pt x="7292" y="265"/>
                </a:lnTo>
                <a:lnTo>
                  <a:pt x="7424" y="201"/>
                </a:lnTo>
                <a:lnTo>
                  <a:pt x="7557" y="136"/>
                </a:lnTo>
                <a:lnTo>
                  <a:pt x="7689" y="69"/>
                </a:lnTo>
                <a:lnTo>
                  <a:pt x="7822" y="0"/>
                </a:lnTo>
                <a:lnTo>
                  <a:pt x="7822" y="2707"/>
                </a:lnTo>
                <a:lnTo>
                  <a:pt x="7689" y="2697"/>
                </a:lnTo>
                <a:lnTo>
                  <a:pt x="7557" y="2686"/>
                </a:lnTo>
                <a:lnTo>
                  <a:pt x="7424" y="2676"/>
                </a:lnTo>
                <a:lnTo>
                  <a:pt x="7292" y="2666"/>
                </a:lnTo>
                <a:lnTo>
                  <a:pt x="7159" y="2656"/>
                </a:lnTo>
                <a:lnTo>
                  <a:pt x="7027" y="2647"/>
                </a:lnTo>
                <a:lnTo>
                  <a:pt x="6894" y="2638"/>
                </a:lnTo>
                <a:lnTo>
                  <a:pt x="6762" y="2629"/>
                </a:lnTo>
                <a:lnTo>
                  <a:pt x="6629" y="2622"/>
                </a:lnTo>
                <a:lnTo>
                  <a:pt x="6497" y="2614"/>
                </a:lnTo>
                <a:lnTo>
                  <a:pt x="6364" y="2608"/>
                </a:lnTo>
                <a:lnTo>
                  <a:pt x="6231" y="2602"/>
                </a:lnTo>
                <a:lnTo>
                  <a:pt x="6099" y="2596"/>
                </a:lnTo>
                <a:lnTo>
                  <a:pt x="5966" y="2592"/>
                </a:lnTo>
                <a:lnTo>
                  <a:pt x="5834" y="2588"/>
                </a:lnTo>
                <a:lnTo>
                  <a:pt x="5701" y="2585"/>
                </a:lnTo>
                <a:lnTo>
                  <a:pt x="5569" y="2583"/>
                </a:lnTo>
                <a:lnTo>
                  <a:pt x="5436" y="2583"/>
                </a:lnTo>
                <a:lnTo>
                  <a:pt x="5303" y="2583"/>
                </a:lnTo>
                <a:lnTo>
                  <a:pt x="5170" y="2584"/>
                </a:lnTo>
                <a:lnTo>
                  <a:pt x="5037" y="2587"/>
                </a:lnTo>
                <a:lnTo>
                  <a:pt x="4905" y="2591"/>
                </a:lnTo>
                <a:lnTo>
                  <a:pt x="4772" y="2596"/>
                </a:lnTo>
                <a:lnTo>
                  <a:pt x="4640" y="2602"/>
                </a:lnTo>
                <a:lnTo>
                  <a:pt x="4507" y="2610"/>
                </a:lnTo>
                <a:lnTo>
                  <a:pt x="4375" y="2619"/>
                </a:lnTo>
                <a:lnTo>
                  <a:pt x="4242" y="2630"/>
                </a:lnTo>
                <a:lnTo>
                  <a:pt x="4110" y="2642"/>
                </a:lnTo>
                <a:lnTo>
                  <a:pt x="3977" y="2654"/>
                </a:lnTo>
                <a:lnTo>
                  <a:pt x="3844" y="2669"/>
                </a:lnTo>
                <a:lnTo>
                  <a:pt x="3712" y="2684"/>
                </a:lnTo>
                <a:lnTo>
                  <a:pt x="3579" y="2701"/>
                </a:lnTo>
                <a:lnTo>
                  <a:pt x="3447" y="2718"/>
                </a:lnTo>
                <a:lnTo>
                  <a:pt x="3314" y="2737"/>
                </a:lnTo>
                <a:lnTo>
                  <a:pt x="3182" y="2757"/>
                </a:lnTo>
                <a:lnTo>
                  <a:pt x="3049" y="2777"/>
                </a:lnTo>
                <a:lnTo>
                  <a:pt x="2917" y="2798"/>
                </a:lnTo>
                <a:lnTo>
                  <a:pt x="2784" y="2820"/>
                </a:lnTo>
                <a:lnTo>
                  <a:pt x="2652" y="2842"/>
                </a:lnTo>
                <a:lnTo>
                  <a:pt x="2519" y="2865"/>
                </a:lnTo>
                <a:lnTo>
                  <a:pt x="2386" y="2889"/>
                </a:lnTo>
                <a:lnTo>
                  <a:pt x="2254" y="2912"/>
                </a:lnTo>
                <a:lnTo>
                  <a:pt x="2121" y="2936"/>
                </a:lnTo>
                <a:lnTo>
                  <a:pt x="1989" y="2961"/>
                </a:lnTo>
                <a:lnTo>
                  <a:pt x="1856" y="2985"/>
                </a:lnTo>
                <a:lnTo>
                  <a:pt x="1459" y="3060"/>
                </a:lnTo>
                <a:lnTo>
                  <a:pt x="1326" y="3085"/>
                </a:lnTo>
                <a:lnTo>
                  <a:pt x="1193" y="3109"/>
                </a:lnTo>
                <a:lnTo>
                  <a:pt x="1061" y="3134"/>
                </a:lnTo>
                <a:lnTo>
                  <a:pt x="928" y="3159"/>
                </a:lnTo>
                <a:lnTo>
                  <a:pt x="796" y="3184"/>
                </a:lnTo>
                <a:lnTo>
                  <a:pt x="531" y="3233"/>
                </a:lnTo>
                <a:lnTo>
                  <a:pt x="398" y="3257"/>
                </a:lnTo>
                <a:lnTo>
                  <a:pt x="266" y="3282"/>
                </a:lnTo>
                <a:lnTo>
                  <a:pt x="133" y="3306"/>
                </a:lnTo>
                <a:lnTo>
                  <a:pt x="0" y="3330"/>
                </a:lnTo>
                <a:lnTo>
                  <a:pt x="0" y="942"/>
                </a:lnTo>
                <a:close/>
              </a:path>
            </a:pathLst>
          </a:custGeom>
          <a:solidFill>
            <a:srgbClr val="D55E00">
              <a:alpha val="1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5102280" y="1246680"/>
            <a:ext cx="2815920" cy="1026720"/>
          </a:xfrm>
          <a:custGeom>
            <a:avLst/>
            <a:gdLst/>
            <a:ahLst/>
            <a:rect l="0" t="0" r="r" b="b"/>
            <a:pathLst>
              <a:path fill="none" w="7822" h="2852">
                <a:moveTo>
                  <a:pt x="0" y="2852"/>
                </a:moveTo>
                <a:lnTo>
                  <a:pt x="133" y="2838"/>
                </a:lnTo>
                <a:lnTo>
                  <a:pt x="266" y="2824"/>
                </a:lnTo>
                <a:lnTo>
                  <a:pt x="398" y="2810"/>
                </a:lnTo>
                <a:lnTo>
                  <a:pt x="531" y="2795"/>
                </a:lnTo>
                <a:lnTo>
                  <a:pt x="663" y="2779"/>
                </a:lnTo>
                <a:lnTo>
                  <a:pt x="796" y="2763"/>
                </a:lnTo>
                <a:lnTo>
                  <a:pt x="928" y="2746"/>
                </a:lnTo>
                <a:lnTo>
                  <a:pt x="1061" y="2728"/>
                </a:lnTo>
                <a:lnTo>
                  <a:pt x="1193" y="2710"/>
                </a:lnTo>
                <a:lnTo>
                  <a:pt x="1326" y="2691"/>
                </a:lnTo>
                <a:lnTo>
                  <a:pt x="1459" y="2671"/>
                </a:lnTo>
                <a:lnTo>
                  <a:pt x="1591" y="2651"/>
                </a:lnTo>
                <a:lnTo>
                  <a:pt x="1724" y="2630"/>
                </a:lnTo>
                <a:lnTo>
                  <a:pt x="1856" y="2607"/>
                </a:lnTo>
                <a:lnTo>
                  <a:pt x="1989" y="2585"/>
                </a:lnTo>
                <a:lnTo>
                  <a:pt x="2121" y="2561"/>
                </a:lnTo>
                <a:lnTo>
                  <a:pt x="2254" y="2536"/>
                </a:lnTo>
                <a:lnTo>
                  <a:pt x="2386" y="2511"/>
                </a:lnTo>
                <a:lnTo>
                  <a:pt x="2519" y="2484"/>
                </a:lnTo>
                <a:lnTo>
                  <a:pt x="2652" y="2457"/>
                </a:lnTo>
                <a:lnTo>
                  <a:pt x="2784" y="2428"/>
                </a:lnTo>
                <a:lnTo>
                  <a:pt x="2917" y="2399"/>
                </a:lnTo>
                <a:lnTo>
                  <a:pt x="3049" y="2368"/>
                </a:lnTo>
                <a:lnTo>
                  <a:pt x="3182" y="2336"/>
                </a:lnTo>
                <a:lnTo>
                  <a:pt x="3314" y="2303"/>
                </a:lnTo>
                <a:lnTo>
                  <a:pt x="3447" y="2269"/>
                </a:lnTo>
                <a:lnTo>
                  <a:pt x="3579" y="2233"/>
                </a:lnTo>
                <a:lnTo>
                  <a:pt x="3712" y="2196"/>
                </a:lnTo>
                <a:lnTo>
                  <a:pt x="3844" y="2158"/>
                </a:lnTo>
                <a:lnTo>
                  <a:pt x="3977" y="2118"/>
                </a:lnTo>
                <a:lnTo>
                  <a:pt x="4110" y="2076"/>
                </a:lnTo>
                <a:lnTo>
                  <a:pt x="4242" y="2033"/>
                </a:lnTo>
                <a:lnTo>
                  <a:pt x="4375" y="1989"/>
                </a:lnTo>
                <a:lnTo>
                  <a:pt x="4507" y="1943"/>
                </a:lnTo>
                <a:lnTo>
                  <a:pt x="4640" y="1895"/>
                </a:lnTo>
                <a:lnTo>
                  <a:pt x="4772" y="1845"/>
                </a:lnTo>
                <a:lnTo>
                  <a:pt x="4905" y="1793"/>
                </a:lnTo>
                <a:lnTo>
                  <a:pt x="5037" y="1739"/>
                </a:lnTo>
                <a:lnTo>
                  <a:pt x="5170" y="1684"/>
                </a:lnTo>
                <a:lnTo>
                  <a:pt x="5303" y="1626"/>
                </a:lnTo>
                <a:lnTo>
                  <a:pt x="5436" y="1566"/>
                </a:lnTo>
                <a:lnTo>
                  <a:pt x="5569" y="1504"/>
                </a:lnTo>
                <a:lnTo>
                  <a:pt x="5701" y="1439"/>
                </a:lnTo>
                <a:lnTo>
                  <a:pt x="5834" y="1372"/>
                </a:lnTo>
                <a:lnTo>
                  <a:pt x="5966" y="1302"/>
                </a:lnTo>
                <a:lnTo>
                  <a:pt x="6099" y="1230"/>
                </a:lnTo>
                <a:lnTo>
                  <a:pt x="6231" y="1155"/>
                </a:lnTo>
                <a:lnTo>
                  <a:pt x="6364" y="1078"/>
                </a:lnTo>
                <a:lnTo>
                  <a:pt x="6497" y="997"/>
                </a:lnTo>
                <a:lnTo>
                  <a:pt x="6629" y="913"/>
                </a:lnTo>
                <a:lnTo>
                  <a:pt x="6762" y="826"/>
                </a:lnTo>
                <a:lnTo>
                  <a:pt x="6894" y="735"/>
                </a:lnTo>
                <a:lnTo>
                  <a:pt x="7027" y="641"/>
                </a:lnTo>
                <a:lnTo>
                  <a:pt x="7159" y="544"/>
                </a:lnTo>
                <a:lnTo>
                  <a:pt x="7292" y="443"/>
                </a:lnTo>
                <a:lnTo>
                  <a:pt x="7424" y="339"/>
                </a:lnTo>
                <a:lnTo>
                  <a:pt x="7557" y="230"/>
                </a:lnTo>
                <a:lnTo>
                  <a:pt x="7689" y="117"/>
                </a:lnTo>
                <a:lnTo>
                  <a:pt x="7822" y="0"/>
                </a:lnTo>
              </a:path>
            </a:pathLst>
          </a:custGeom>
          <a:ln w="18720">
            <a:solidFill>
              <a:srgbClr val="56B4E9"/>
            </a:solidFill>
            <a:round/>
          </a:ln>
        </p:spPr>
        <p:txBody>
          <a:bodyPr lIns="9360" tIns="9360" r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5102280" y="1227960"/>
            <a:ext cx="2815920" cy="851760"/>
          </a:xfrm>
          <a:custGeom>
            <a:avLst/>
            <a:gdLst/>
            <a:ahLst/>
            <a:rect l="0" t="0" r="r" b="b"/>
            <a:pathLst>
              <a:path fill="none" w="7822" h="2366">
                <a:moveTo>
                  <a:pt x="0" y="2366"/>
                </a:moveTo>
                <a:lnTo>
                  <a:pt x="133" y="2346"/>
                </a:lnTo>
                <a:lnTo>
                  <a:pt x="266" y="2326"/>
                </a:lnTo>
                <a:lnTo>
                  <a:pt x="398" y="2305"/>
                </a:lnTo>
                <a:lnTo>
                  <a:pt x="531" y="2284"/>
                </a:lnTo>
                <a:lnTo>
                  <a:pt x="663" y="2262"/>
                </a:lnTo>
                <a:lnTo>
                  <a:pt x="796" y="2240"/>
                </a:lnTo>
                <a:lnTo>
                  <a:pt x="928" y="2218"/>
                </a:lnTo>
                <a:lnTo>
                  <a:pt x="1061" y="2195"/>
                </a:lnTo>
                <a:lnTo>
                  <a:pt x="1193" y="2171"/>
                </a:lnTo>
                <a:lnTo>
                  <a:pt x="1326" y="2147"/>
                </a:lnTo>
                <a:lnTo>
                  <a:pt x="1459" y="2122"/>
                </a:lnTo>
                <a:lnTo>
                  <a:pt x="1591" y="2097"/>
                </a:lnTo>
                <a:lnTo>
                  <a:pt x="1724" y="2071"/>
                </a:lnTo>
                <a:lnTo>
                  <a:pt x="1856" y="2044"/>
                </a:lnTo>
                <a:lnTo>
                  <a:pt x="1989" y="2018"/>
                </a:lnTo>
                <a:lnTo>
                  <a:pt x="2121" y="1990"/>
                </a:lnTo>
                <a:lnTo>
                  <a:pt x="2254" y="1962"/>
                </a:lnTo>
                <a:lnTo>
                  <a:pt x="2386" y="1933"/>
                </a:lnTo>
                <a:lnTo>
                  <a:pt x="2519" y="1904"/>
                </a:lnTo>
                <a:lnTo>
                  <a:pt x="2652" y="1873"/>
                </a:lnTo>
                <a:lnTo>
                  <a:pt x="2784" y="1843"/>
                </a:lnTo>
                <a:lnTo>
                  <a:pt x="2917" y="1811"/>
                </a:lnTo>
                <a:lnTo>
                  <a:pt x="3049" y="1779"/>
                </a:lnTo>
                <a:lnTo>
                  <a:pt x="3182" y="1746"/>
                </a:lnTo>
                <a:lnTo>
                  <a:pt x="3314" y="1713"/>
                </a:lnTo>
                <a:lnTo>
                  <a:pt x="3447" y="1678"/>
                </a:lnTo>
                <a:lnTo>
                  <a:pt x="3579" y="1643"/>
                </a:lnTo>
                <a:lnTo>
                  <a:pt x="3712" y="1608"/>
                </a:lnTo>
                <a:lnTo>
                  <a:pt x="3844" y="1571"/>
                </a:lnTo>
                <a:lnTo>
                  <a:pt x="3977" y="1534"/>
                </a:lnTo>
                <a:lnTo>
                  <a:pt x="4110" y="1495"/>
                </a:lnTo>
                <a:lnTo>
                  <a:pt x="4242" y="1456"/>
                </a:lnTo>
                <a:lnTo>
                  <a:pt x="4375" y="1416"/>
                </a:lnTo>
                <a:lnTo>
                  <a:pt x="4507" y="1375"/>
                </a:lnTo>
                <a:lnTo>
                  <a:pt x="4640" y="1334"/>
                </a:lnTo>
                <a:lnTo>
                  <a:pt x="4772" y="1291"/>
                </a:lnTo>
                <a:lnTo>
                  <a:pt x="4905" y="1247"/>
                </a:lnTo>
                <a:lnTo>
                  <a:pt x="5037" y="1203"/>
                </a:lnTo>
                <a:lnTo>
                  <a:pt x="5170" y="1157"/>
                </a:lnTo>
                <a:lnTo>
                  <a:pt x="5303" y="1110"/>
                </a:lnTo>
                <a:lnTo>
                  <a:pt x="5436" y="1063"/>
                </a:lnTo>
                <a:lnTo>
                  <a:pt x="5569" y="1014"/>
                </a:lnTo>
                <a:lnTo>
                  <a:pt x="5701" y="964"/>
                </a:lnTo>
                <a:lnTo>
                  <a:pt x="5834" y="913"/>
                </a:lnTo>
                <a:lnTo>
                  <a:pt x="5966" y="862"/>
                </a:lnTo>
                <a:lnTo>
                  <a:pt x="6099" y="809"/>
                </a:lnTo>
                <a:lnTo>
                  <a:pt x="6231" y="754"/>
                </a:lnTo>
                <a:lnTo>
                  <a:pt x="6364" y="699"/>
                </a:lnTo>
                <a:lnTo>
                  <a:pt x="6497" y="642"/>
                </a:lnTo>
                <a:lnTo>
                  <a:pt x="6629" y="584"/>
                </a:lnTo>
                <a:lnTo>
                  <a:pt x="6762" y="525"/>
                </a:lnTo>
                <a:lnTo>
                  <a:pt x="6894" y="464"/>
                </a:lnTo>
                <a:lnTo>
                  <a:pt x="7027" y="402"/>
                </a:lnTo>
                <a:lnTo>
                  <a:pt x="7159" y="339"/>
                </a:lnTo>
                <a:lnTo>
                  <a:pt x="7292" y="274"/>
                </a:lnTo>
                <a:lnTo>
                  <a:pt x="7424" y="208"/>
                </a:lnTo>
                <a:lnTo>
                  <a:pt x="7557" y="141"/>
                </a:lnTo>
                <a:lnTo>
                  <a:pt x="7689" y="71"/>
                </a:lnTo>
                <a:lnTo>
                  <a:pt x="7822" y="0"/>
                </a:lnTo>
              </a:path>
            </a:pathLst>
          </a:custGeom>
          <a:ln w="18720">
            <a:solidFill>
              <a:srgbClr val="0072B2"/>
            </a:solidFill>
            <a:round/>
          </a:ln>
        </p:spPr>
        <p:txBody>
          <a:bodyPr lIns="9360" tIns="9360" r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5102280" y="1206360"/>
            <a:ext cx="2815920" cy="282240"/>
          </a:xfrm>
          <a:custGeom>
            <a:avLst/>
            <a:gdLst/>
            <a:ahLst/>
            <a:rect l="0" t="0" r="r" b="b"/>
            <a:pathLst>
              <a:path fill="none" w="7822" h="784">
                <a:moveTo>
                  <a:pt x="0" y="784"/>
                </a:moveTo>
                <a:lnTo>
                  <a:pt x="266" y="760"/>
                </a:lnTo>
                <a:lnTo>
                  <a:pt x="398" y="749"/>
                </a:lnTo>
                <a:lnTo>
                  <a:pt x="531" y="737"/>
                </a:lnTo>
                <a:lnTo>
                  <a:pt x="663" y="725"/>
                </a:lnTo>
                <a:lnTo>
                  <a:pt x="796" y="713"/>
                </a:lnTo>
                <a:lnTo>
                  <a:pt x="928" y="701"/>
                </a:lnTo>
                <a:lnTo>
                  <a:pt x="1061" y="689"/>
                </a:lnTo>
                <a:lnTo>
                  <a:pt x="1193" y="677"/>
                </a:lnTo>
                <a:lnTo>
                  <a:pt x="1591" y="641"/>
                </a:lnTo>
                <a:lnTo>
                  <a:pt x="1724" y="629"/>
                </a:lnTo>
                <a:lnTo>
                  <a:pt x="1856" y="616"/>
                </a:lnTo>
                <a:lnTo>
                  <a:pt x="1989" y="604"/>
                </a:lnTo>
                <a:lnTo>
                  <a:pt x="2121" y="592"/>
                </a:lnTo>
                <a:lnTo>
                  <a:pt x="2519" y="554"/>
                </a:lnTo>
                <a:lnTo>
                  <a:pt x="2784" y="529"/>
                </a:lnTo>
                <a:lnTo>
                  <a:pt x="3182" y="490"/>
                </a:lnTo>
                <a:lnTo>
                  <a:pt x="3314" y="477"/>
                </a:lnTo>
                <a:lnTo>
                  <a:pt x="3447" y="464"/>
                </a:lnTo>
                <a:lnTo>
                  <a:pt x="3712" y="438"/>
                </a:lnTo>
                <a:lnTo>
                  <a:pt x="4110" y="398"/>
                </a:lnTo>
                <a:lnTo>
                  <a:pt x="4242" y="385"/>
                </a:lnTo>
                <a:lnTo>
                  <a:pt x="4375" y="372"/>
                </a:lnTo>
                <a:lnTo>
                  <a:pt x="4507" y="358"/>
                </a:lnTo>
                <a:lnTo>
                  <a:pt x="4640" y="345"/>
                </a:lnTo>
                <a:lnTo>
                  <a:pt x="4772" y="331"/>
                </a:lnTo>
                <a:lnTo>
                  <a:pt x="4905" y="317"/>
                </a:lnTo>
                <a:lnTo>
                  <a:pt x="5170" y="290"/>
                </a:lnTo>
                <a:lnTo>
                  <a:pt x="5303" y="276"/>
                </a:lnTo>
                <a:lnTo>
                  <a:pt x="5436" y="262"/>
                </a:lnTo>
                <a:lnTo>
                  <a:pt x="5569" y="248"/>
                </a:lnTo>
                <a:lnTo>
                  <a:pt x="5834" y="220"/>
                </a:lnTo>
                <a:lnTo>
                  <a:pt x="6099" y="192"/>
                </a:lnTo>
                <a:lnTo>
                  <a:pt x="6364" y="162"/>
                </a:lnTo>
                <a:lnTo>
                  <a:pt x="6497" y="147"/>
                </a:lnTo>
                <a:lnTo>
                  <a:pt x="6629" y="133"/>
                </a:lnTo>
                <a:lnTo>
                  <a:pt x="7027" y="89"/>
                </a:lnTo>
                <a:lnTo>
                  <a:pt x="7159" y="74"/>
                </a:lnTo>
                <a:lnTo>
                  <a:pt x="7292" y="60"/>
                </a:lnTo>
                <a:lnTo>
                  <a:pt x="7424" y="45"/>
                </a:lnTo>
                <a:lnTo>
                  <a:pt x="7557" y="30"/>
                </a:lnTo>
                <a:lnTo>
                  <a:pt x="7689" y="15"/>
                </a:lnTo>
                <a:lnTo>
                  <a:pt x="7822" y="0"/>
                </a:lnTo>
              </a:path>
            </a:pathLst>
          </a:custGeom>
          <a:ln w="18720">
            <a:solidFill>
              <a:srgbClr val="D55E00"/>
            </a:solidFill>
            <a:round/>
          </a:ln>
        </p:spPr>
        <p:txBody>
          <a:bodyPr lIns="9360" tIns="9360" r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 flipV="1">
            <a:off x="4961520" y="538560"/>
            <a:ext cx="0" cy="187272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147600" y="108360"/>
            <a:ext cx="16488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4777920" y="235116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4777920" y="182880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0.2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4777920" y="130644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0.4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4930200" y="240192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4930200" y="187956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4930200" y="135684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4930200" y="83448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4961520" y="2411280"/>
            <a:ext cx="3097080" cy="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 flipV="1">
            <a:off x="5186160" y="2411280"/>
            <a:ext cx="0" cy="3132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 flipV="1">
            <a:off x="5875920" y="2411280"/>
            <a:ext cx="0" cy="3132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 flipV="1">
            <a:off x="6565680" y="2411280"/>
            <a:ext cx="0" cy="3132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 flipV="1">
            <a:off x="7255440" y="2411280"/>
            <a:ext cx="0" cy="3132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 flipV="1">
            <a:off x="7945200" y="2411280"/>
            <a:ext cx="0" cy="3132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777920" y="78372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0.6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5141880" y="245556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-2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5831640" y="245556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-1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6540480" y="245556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7230240" y="245556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7920000" y="245556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4916520" y="2601360"/>
            <a:ext cx="306900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D0D0D"/>
                </a:solidFill>
                <a:effectLst/>
                <a:uFillTx/>
                <a:latin typeface="Arial"/>
                <a:ea typeface="Arial"/>
              </a:rPr>
              <a:t>Accumulated warming relative to the species' range (z)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5137200" y="565920"/>
            <a:ext cx="1383480" cy="469800"/>
          </a:xfrm>
          <a:custGeom>
            <a:avLst/>
            <a:gdLst/>
            <a:ahLst/>
            <a:rect l="0" t="0" r="r" b="b"/>
            <a:pathLst>
              <a:path w="3843" h="1305">
                <a:moveTo>
                  <a:pt x="0" y="0"/>
                </a:moveTo>
                <a:lnTo>
                  <a:pt x="3843" y="0"/>
                </a:lnTo>
                <a:lnTo>
                  <a:pt x="3843" y="1305"/>
                </a:lnTo>
                <a:lnTo>
                  <a:pt x="0" y="13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5200560" y="629280"/>
            <a:ext cx="114120" cy="114480"/>
          </a:xfrm>
          <a:custGeom>
            <a:avLst/>
            <a:gdLst/>
            <a:ahLst/>
            <a:rect l="0" t="0" r="r" b="b"/>
            <a:pathLst>
              <a:path w="317" h="318">
                <a:moveTo>
                  <a:pt x="0" y="0"/>
                </a:moveTo>
                <a:lnTo>
                  <a:pt x="317" y="0"/>
                </a:lnTo>
                <a:lnTo>
                  <a:pt x="317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5211720" y="686520"/>
            <a:ext cx="91440" cy="0"/>
          </a:xfrm>
          <a:prstGeom prst="line">
            <a:avLst/>
          </a:prstGeom>
          <a:ln w="18720">
            <a:solidFill>
              <a:srgbClr val="56B4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360" tIns="-9360" rIns="9360" bIns="-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5200560" y="743400"/>
            <a:ext cx="114120" cy="114840"/>
          </a:xfrm>
          <a:custGeom>
            <a:avLst/>
            <a:gdLst/>
            <a:ahLst/>
            <a:rect l="0" t="0" r="r" b="b"/>
            <a:pathLst>
              <a:path w="317" h="319">
                <a:moveTo>
                  <a:pt x="0" y="0"/>
                </a:moveTo>
                <a:lnTo>
                  <a:pt x="317" y="0"/>
                </a:lnTo>
                <a:lnTo>
                  <a:pt x="317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5211720" y="800640"/>
            <a:ext cx="91440" cy="0"/>
          </a:xfrm>
          <a:prstGeom prst="line">
            <a:avLst/>
          </a:prstGeom>
          <a:ln w="18720">
            <a:solidFill>
              <a:srgbClr val="0072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360" tIns="-9360" rIns="9360" bIns="-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5200560" y="857880"/>
            <a:ext cx="114120" cy="114480"/>
          </a:xfrm>
          <a:custGeom>
            <a:avLst/>
            <a:gdLst/>
            <a:ahLst/>
            <a:rect l="0" t="0" r="r" b="b"/>
            <a:pathLst>
              <a:path w="317" h="318">
                <a:moveTo>
                  <a:pt x="0" y="0"/>
                </a:moveTo>
                <a:lnTo>
                  <a:pt x="317" y="0"/>
                </a:lnTo>
                <a:lnTo>
                  <a:pt x="317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5211720" y="915120"/>
            <a:ext cx="91440" cy="0"/>
          </a:xfrm>
          <a:prstGeom prst="line">
            <a:avLst/>
          </a:prstGeom>
          <a:ln w="18720">
            <a:solidFill>
              <a:srgbClr val="D55E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360" tIns="-9360" rIns="9360" bIns="-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 txBox="1"/>
          <p:nvPr/>
        </p:nvSpPr>
        <p:spPr>
          <a:xfrm rot="16200000">
            <a:off x="3692160" y="1456200"/>
            <a:ext cx="195552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D0D0D"/>
                </a:solidFill>
                <a:effectLst/>
                <a:uFillTx/>
                <a:latin typeface="Arial"/>
                <a:ea typeface="Arial"/>
              </a:rPr>
              <a:t>Annual hazard of a new record (%)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5377680" y="642240"/>
            <a:ext cx="101736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Low effort (10th pct)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5377680" y="756360"/>
            <a:ext cx="66780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Median effort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5377680" y="870840"/>
            <a:ext cx="104256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High effort (90th pct)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4961880" y="335880"/>
            <a:ext cx="313164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Marginal predictions at ﬁxed-effect level; ribbons are 95% CI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4961880" y="145440"/>
            <a:ext cx="251712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Warming matters most where effort is low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69480" y="2817000"/>
            <a:ext cx="4435920" cy="3412800"/>
          </a:xfrm>
          <a:custGeom>
            <a:avLst/>
            <a:gdLst/>
            <a:ahLst/>
            <a:rect l="0" t="0" r="r" b="b"/>
            <a:pathLst>
              <a:path w="12322" h="9480">
                <a:moveTo>
                  <a:pt x="0" y="0"/>
                </a:moveTo>
                <a:lnTo>
                  <a:pt x="12322" y="0"/>
                </a:lnTo>
                <a:lnTo>
                  <a:pt x="12322" y="9480"/>
                </a:lnTo>
                <a:lnTo>
                  <a:pt x="0" y="94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2240">
            <a:solidFill>
              <a:srgbClr val="FFFFFF"/>
            </a:solidFill>
            <a:round/>
          </a:ln>
        </p:spPr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4505040" y="2817000"/>
            <a:ext cx="3655080" cy="3412800"/>
          </a:xfrm>
          <a:custGeom>
            <a:avLst/>
            <a:gdLst/>
            <a:ahLst/>
            <a:rect l="0" t="0" r="r" b="b"/>
            <a:pathLst>
              <a:path w="10153" h="9480">
                <a:moveTo>
                  <a:pt x="0" y="0"/>
                </a:moveTo>
                <a:lnTo>
                  <a:pt x="10153" y="0"/>
                </a:lnTo>
                <a:lnTo>
                  <a:pt x="10153" y="9480"/>
                </a:lnTo>
                <a:lnTo>
                  <a:pt x="0" y="94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2240">
            <a:solidFill>
              <a:srgbClr val="FFFFFF"/>
            </a:solidFill>
            <a:round/>
          </a:ln>
        </p:spPr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1307160" y="3653280"/>
            <a:ext cx="679680" cy="1872720"/>
          </a:xfrm>
          <a:custGeom>
            <a:avLst/>
            <a:gdLst/>
            <a:ahLst/>
            <a:rect l="0" t="0" r="r" b="b"/>
            <a:pathLst>
              <a:path w="1888" h="5202">
                <a:moveTo>
                  <a:pt x="0" y="0"/>
                </a:moveTo>
                <a:lnTo>
                  <a:pt x="1888" y="0"/>
                </a:lnTo>
                <a:lnTo>
                  <a:pt x="1888" y="5202"/>
                </a:lnTo>
                <a:lnTo>
                  <a:pt x="0" y="520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 flipV="1">
            <a:off x="1372680" y="3653280"/>
            <a:ext cx="0" cy="187236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 flipV="1">
            <a:off x="1546920" y="3653280"/>
            <a:ext cx="0" cy="187236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 flipV="1">
            <a:off x="1721520" y="3653280"/>
            <a:ext cx="0" cy="187236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 flipV="1">
            <a:off x="1896120" y="3653280"/>
            <a:ext cx="0" cy="187236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1372680" y="5113440"/>
            <a:ext cx="583200" cy="290160"/>
          </a:xfrm>
          <a:custGeom>
            <a:avLst/>
            <a:gdLst/>
            <a:ahLst/>
            <a:rect l="0" t="0" r="r" b="b"/>
            <a:pathLst>
              <a:path w="1620" h="806">
                <a:moveTo>
                  <a:pt x="0" y="0"/>
                </a:moveTo>
                <a:lnTo>
                  <a:pt x="1620" y="0"/>
                </a:lnTo>
                <a:lnTo>
                  <a:pt x="1620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1372680" y="4667400"/>
            <a:ext cx="522360" cy="290160"/>
          </a:xfrm>
          <a:custGeom>
            <a:avLst/>
            <a:gdLst/>
            <a:ahLst/>
            <a:rect l="0" t="0" r="r" b="b"/>
            <a:pathLst>
              <a:path w="1451" h="806">
                <a:moveTo>
                  <a:pt x="0" y="0"/>
                </a:moveTo>
                <a:lnTo>
                  <a:pt x="1451" y="0"/>
                </a:lnTo>
                <a:lnTo>
                  <a:pt x="1451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1372680" y="4221720"/>
            <a:ext cx="136440" cy="290160"/>
          </a:xfrm>
          <a:custGeom>
            <a:avLst/>
            <a:gdLst/>
            <a:ahLst/>
            <a:rect l="0" t="0" r="r" b="b"/>
            <a:pathLst>
              <a:path w="379" h="806">
                <a:moveTo>
                  <a:pt x="0" y="0"/>
                </a:moveTo>
                <a:lnTo>
                  <a:pt x="379" y="0"/>
                </a:lnTo>
                <a:lnTo>
                  <a:pt x="379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CC79A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1337760" y="3775680"/>
            <a:ext cx="35280" cy="290160"/>
          </a:xfrm>
          <a:custGeom>
            <a:avLst/>
            <a:gdLst/>
            <a:ahLst/>
            <a:rect l="0" t="0" r="r" b="b"/>
            <a:pathLst>
              <a:path w="98" h="806">
                <a:moveTo>
                  <a:pt x="0" y="0"/>
                </a:moveTo>
                <a:lnTo>
                  <a:pt x="98" y="0"/>
                </a:lnTo>
                <a:lnTo>
                  <a:pt x="98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 flipV="1">
            <a:off x="1372680" y="3653280"/>
            <a:ext cx="0" cy="1872360"/>
          </a:xfrm>
          <a:prstGeom prst="line">
            <a:avLst/>
          </a:prstGeom>
          <a:ln w="7920">
            <a:solidFill>
              <a:srgbClr val="7F7F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2112840" y="3653280"/>
            <a:ext cx="679680" cy="1872720"/>
          </a:xfrm>
          <a:custGeom>
            <a:avLst/>
            <a:gdLst/>
            <a:ahLst/>
            <a:rect l="0" t="0" r="r" b="b"/>
            <a:pathLst>
              <a:path w="1888" h="5202">
                <a:moveTo>
                  <a:pt x="0" y="0"/>
                </a:moveTo>
                <a:lnTo>
                  <a:pt x="1888" y="0"/>
                </a:lnTo>
                <a:lnTo>
                  <a:pt x="1888" y="5202"/>
                </a:lnTo>
                <a:lnTo>
                  <a:pt x="0" y="520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 flipV="1">
            <a:off x="2143800" y="3653280"/>
            <a:ext cx="0" cy="187236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 flipV="1">
            <a:off x="2377080" y="3653280"/>
            <a:ext cx="0" cy="187236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 flipV="1">
            <a:off x="2610360" y="3653280"/>
            <a:ext cx="0" cy="187236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2143800" y="5113440"/>
            <a:ext cx="384840" cy="290160"/>
          </a:xfrm>
          <a:custGeom>
            <a:avLst/>
            <a:gdLst/>
            <a:ahLst/>
            <a:rect l="0" t="0" r="r" b="b"/>
            <a:pathLst>
              <a:path w="1069" h="806">
                <a:moveTo>
                  <a:pt x="0" y="0"/>
                </a:moveTo>
                <a:lnTo>
                  <a:pt x="1069" y="0"/>
                </a:lnTo>
                <a:lnTo>
                  <a:pt x="1069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2143800" y="4667400"/>
            <a:ext cx="617760" cy="290160"/>
          </a:xfrm>
          <a:custGeom>
            <a:avLst/>
            <a:gdLst/>
            <a:ahLst/>
            <a:rect l="0" t="0" r="r" b="b"/>
            <a:pathLst>
              <a:path w="1716" h="806">
                <a:moveTo>
                  <a:pt x="0" y="0"/>
                </a:moveTo>
                <a:lnTo>
                  <a:pt x="1716" y="0"/>
                </a:lnTo>
                <a:lnTo>
                  <a:pt x="1716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2143800" y="4221720"/>
            <a:ext cx="25920" cy="290160"/>
          </a:xfrm>
          <a:custGeom>
            <a:avLst/>
            <a:gdLst/>
            <a:ahLst/>
            <a:rect l="0" t="0" r="r" b="b"/>
            <a:pathLst>
              <a:path w="72" h="806">
                <a:moveTo>
                  <a:pt x="0" y="0"/>
                </a:moveTo>
                <a:lnTo>
                  <a:pt x="72" y="0"/>
                </a:lnTo>
                <a:lnTo>
                  <a:pt x="72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CC79A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2143800" y="3775680"/>
            <a:ext cx="2880" cy="290160"/>
          </a:xfrm>
          <a:custGeom>
            <a:avLst/>
            <a:gdLst/>
            <a:ahLst/>
            <a:rect l="0" t="0" r="r" b="b"/>
            <a:pathLst>
              <a:path w="8" h="806">
                <a:moveTo>
                  <a:pt x="0" y="0"/>
                </a:moveTo>
                <a:lnTo>
                  <a:pt x="8" y="0"/>
                </a:lnTo>
                <a:lnTo>
                  <a:pt x="8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 flipV="1">
            <a:off x="2143800" y="3653280"/>
            <a:ext cx="0" cy="1872360"/>
          </a:xfrm>
          <a:prstGeom prst="line">
            <a:avLst/>
          </a:prstGeom>
          <a:ln w="7920">
            <a:solidFill>
              <a:srgbClr val="7F7F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2918880" y="3653280"/>
            <a:ext cx="679680" cy="1872720"/>
          </a:xfrm>
          <a:custGeom>
            <a:avLst/>
            <a:gdLst/>
            <a:ahLst/>
            <a:rect l="0" t="0" r="r" b="b"/>
            <a:pathLst>
              <a:path w="1888" h="5202">
                <a:moveTo>
                  <a:pt x="0" y="0"/>
                </a:moveTo>
                <a:lnTo>
                  <a:pt x="1888" y="0"/>
                </a:lnTo>
                <a:lnTo>
                  <a:pt x="1888" y="5202"/>
                </a:lnTo>
                <a:lnTo>
                  <a:pt x="0" y="520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 flipV="1">
            <a:off x="2964600" y="3653280"/>
            <a:ext cx="0" cy="187236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 flipV="1">
            <a:off x="3227400" y="3653280"/>
            <a:ext cx="0" cy="187236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 flipV="1">
            <a:off x="3490560" y="3653280"/>
            <a:ext cx="0" cy="187236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2964600" y="5113440"/>
            <a:ext cx="33840" cy="290160"/>
          </a:xfrm>
          <a:custGeom>
            <a:avLst/>
            <a:gdLst/>
            <a:ahLst/>
            <a:rect l="0" t="0" r="r" b="b"/>
            <a:pathLst>
              <a:path w="94" h="806">
                <a:moveTo>
                  <a:pt x="0" y="0"/>
                </a:moveTo>
                <a:lnTo>
                  <a:pt x="94" y="0"/>
                </a:lnTo>
                <a:lnTo>
                  <a:pt x="94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2964600" y="4667400"/>
            <a:ext cx="453240" cy="290160"/>
          </a:xfrm>
          <a:custGeom>
            <a:avLst/>
            <a:gdLst/>
            <a:ahLst/>
            <a:rect l="0" t="0" r="r" b="b"/>
            <a:pathLst>
              <a:path w="1259" h="806">
                <a:moveTo>
                  <a:pt x="0" y="0"/>
                </a:moveTo>
                <a:lnTo>
                  <a:pt x="1259" y="0"/>
                </a:lnTo>
                <a:lnTo>
                  <a:pt x="1259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2964600" y="4221720"/>
            <a:ext cx="603000" cy="290160"/>
          </a:xfrm>
          <a:custGeom>
            <a:avLst/>
            <a:gdLst/>
            <a:ahLst/>
            <a:rect l="0" t="0" r="r" b="b"/>
            <a:pathLst>
              <a:path w="1675" h="806">
                <a:moveTo>
                  <a:pt x="0" y="0"/>
                </a:moveTo>
                <a:lnTo>
                  <a:pt x="1675" y="0"/>
                </a:lnTo>
                <a:lnTo>
                  <a:pt x="1675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CC79A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2949480" y="3775680"/>
            <a:ext cx="15480" cy="290160"/>
          </a:xfrm>
          <a:custGeom>
            <a:avLst/>
            <a:gdLst/>
            <a:ahLst/>
            <a:rect l="0" t="0" r="r" b="b"/>
            <a:pathLst>
              <a:path w="43" h="806">
                <a:moveTo>
                  <a:pt x="0" y="0"/>
                </a:moveTo>
                <a:lnTo>
                  <a:pt x="43" y="0"/>
                </a:lnTo>
                <a:lnTo>
                  <a:pt x="43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 flipV="1">
            <a:off x="2964600" y="3653280"/>
            <a:ext cx="0" cy="1872360"/>
          </a:xfrm>
          <a:prstGeom prst="line">
            <a:avLst/>
          </a:prstGeom>
          <a:ln w="7920">
            <a:solidFill>
              <a:srgbClr val="7F7F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3724560" y="3653280"/>
            <a:ext cx="679680" cy="1872720"/>
          </a:xfrm>
          <a:custGeom>
            <a:avLst/>
            <a:gdLst/>
            <a:ahLst/>
            <a:rect l="0" t="0" r="r" b="b"/>
            <a:pathLst>
              <a:path w="1888" h="5202">
                <a:moveTo>
                  <a:pt x="0" y="0"/>
                </a:moveTo>
                <a:lnTo>
                  <a:pt x="1888" y="0"/>
                </a:lnTo>
                <a:lnTo>
                  <a:pt x="1888" y="5202"/>
                </a:lnTo>
                <a:lnTo>
                  <a:pt x="0" y="520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 flipV="1">
            <a:off x="3755520" y="3653280"/>
            <a:ext cx="0" cy="187236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 flipV="1">
            <a:off x="3928320" y="3653280"/>
            <a:ext cx="0" cy="187236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 flipV="1">
            <a:off x="4101480" y="3653280"/>
            <a:ext cx="0" cy="187236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 flipV="1">
            <a:off x="4274280" y="3653280"/>
            <a:ext cx="0" cy="187236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3755520" y="5113440"/>
            <a:ext cx="618120" cy="290160"/>
          </a:xfrm>
          <a:custGeom>
            <a:avLst/>
            <a:gdLst/>
            <a:ahLst/>
            <a:rect l="0" t="0" r="r" b="b"/>
            <a:pathLst>
              <a:path w="1717" h="806">
                <a:moveTo>
                  <a:pt x="0" y="0"/>
                </a:moveTo>
                <a:lnTo>
                  <a:pt x="1717" y="0"/>
                </a:lnTo>
                <a:lnTo>
                  <a:pt x="1717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3755520" y="4667400"/>
            <a:ext cx="538200" cy="290160"/>
          </a:xfrm>
          <a:custGeom>
            <a:avLst/>
            <a:gdLst/>
            <a:ahLst/>
            <a:rect l="0" t="0" r="r" b="b"/>
            <a:pathLst>
              <a:path w="1495" h="806">
                <a:moveTo>
                  <a:pt x="0" y="0"/>
                </a:moveTo>
                <a:lnTo>
                  <a:pt x="1495" y="0"/>
                </a:lnTo>
                <a:lnTo>
                  <a:pt x="1495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3755520" y="4221720"/>
            <a:ext cx="304200" cy="290160"/>
          </a:xfrm>
          <a:custGeom>
            <a:avLst/>
            <a:gdLst/>
            <a:ahLst/>
            <a:rect l="0" t="0" r="r" b="b"/>
            <a:pathLst>
              <a:path w="845" h="806">
                <a:moveTo>
                  <a:pt x="0" y="0"/>
                </a:moveTo>
                <a:lnTo>
                  <a:pt x="845" y="0"/>
                </a:lnTo>
                <a:lnTo>
                  <a:pt x="845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CC79A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3755520" y="3775680"/>
            <a:ext cx="9720" cy="290160"/>
          </a:xfrm>
          <a:custGeom>
            <a:avLst/>
            <a:gdLst/>
            <a:ahLst/>
            <a:rect l="0" t="0" r="r" b="b"/>
            <a:pathLst>
              <a:path w="27" h="806">
                <a:moveTo>
                  <a:pt x="0" y="0"/>
                </a:moveTo>
                <a:lnTo>
                  <a:pt x="27" y="0"/>
                </a:lnTo>
                <a:lnTo>
                  <a:pt x="27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 flipV="1">
            <a:off x="3755520" y="3653280"/>
            <a:ext cx="0" cy="1872360"/>
          </a:xfrm>
          <a:prstGeom prst="line">
            <a:avLst/>
          </a:prstGeom>
          <a:ln w="7920">
            <a:solidFill>
              <a:srgbClr val="7F7F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4573080" y="108360"/>
            <a:ext cx="16488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b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1357920" y="3481920"/>
            <a:ext cx="30996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ΔAIC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2163600" y="3481920"/>
            <a:ext cx="36612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ΔAUC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2969640" y="3481920"/>
            <a:ext cx="22536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ΔR²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1307160" y="5525640"/>
            <a:ext cx="679320" cy="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 flipV="1">
            <a:off x="1372680" y="552564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 flipV="1">
            <a:off x="1546920" y="552564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 flipV="1">
            <a:off x="1721520" y="552564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 flipV="1">
            <a:off x="1896120" y="552564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3775320" y="3481920"/>
            <a:ext cx="14796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|β|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1347480" y="557028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2112840" y="5525640"/>
            <a:ext cx="679320" cy="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 flipV="1">
            <a:off x="2143800" y="552564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 flipV="1">
            <a:off x="2377080" y="552564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 flipV="1">
            <a:off x="2610360" y="552564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1496520" y="5570280"/>
            <a:ext cx="398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10 20 30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2118600" y="557028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2918880" y="5525640"/>
            <a:ext cx="679320" cy="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 flipV="1">
            <a:off x="2964600" y="552564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 flipV="1">
            <a:off x="3227400" y="552564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 flipV="1">
            <a:off x="3490560" y="552564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2288520" y="5570280"/>
            <a:ext cx="42660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0.02 0.04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2939400" y="557028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3724560" y="5525640"/>
            <a:ext cx="679320" cy="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 flipV="1">
            <a:off x="3755520" y="552564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 flipV="1">
            <a:off x="3928320" y="552564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/>
          <p:nvPr/>
        </p:nvSpPr>
        <p:spPr>
          <a:xfrm flipV="1">
            <a:off x="4101480" y="552564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 flipV="1">
            <a:off x="4274280" y="552564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3113640" y="5570280"/>
            <a:ext cx="4834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0.005 0.01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3730320" y="557028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 flipV="1">
            <a:off x="1307160" y="3653280"/>
            <a:ext cx="0" cy="187236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3865320" y="5570280"/>
            <a:ext cx="483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0.1 0.2 0.3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716760" y="5207760"/>
            <a:ext cx="5626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survey effort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297720" y="4761720"/>
            <a:ext cx="9939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accumulated warming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615240" y="4316040"/>
            <a:ext cx="664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climate x effort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1275480" y="525816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1275480" y="481248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1275480" y="436644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1275480" y="392076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526320" y="3870000"/>
            <a:ext cx="76140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annual variability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1388880" y="6014160"/>
            <a:ext cx="280620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D0D0D"/>
                </a:solidFill>
                <a:effectLst/>
                <a:uFillTx/>
                <a:latin typeface="Arial"/>
                <a:ea typeface="Arial"/>
              </a:rPr>
              <a:t>Loss when the term is dropped from the full model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1307160" y="3083400"/>
            <a:ext cx="259668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ΔAIC and ΔAUC on ﬁxed effects; ΔR² conditional;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1307160" y="3209400"/>
            <a:ext cx="21978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 |β| standardised. Larger = more important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1307160" y="2892960"/>
            <a:ext cx="205308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Warming and effort matter equally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4961520" y="3653280"/>
            <a:ext cx="3097440" cy="1872720"/>
          </a:xfrm>
          <a:custGeom>
            <a:avLst/>
            <a:gdLst/>
            <a:ahLst/>
            <a:rect l="0" t="0" r="r" b="b"/>
            <a:pathLst>
              <a:path w="8604" h="5202">
                <a:moveTo>
                  <a:pt x="0" y="0"/>
                </a:moveTo>
                <a:lnTo>
                  <a:pt x="8604" y="0"/>
                </a:lnTo>
                <a:lnTo>
                  <a:pt x="8604" y="5202"/>
                </a:lnTo>
                <a:lnTo>
                  <a:pt x="0" y="520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4961520" y="5327280"/>
            <a:ext cx="30970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4961520" y="4759560"/>
            <a:ext cx="30970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4961520" y="4192200"/>
            <a:ext cx="30970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4961520" y="4759560"/>
            <a:ext cx="3090240" cy="0"/>
          </a:xfrm>
          <a:prstGeom prst="line">
            <a:avLst/>
          </a:prstGeom>
          <a:ln w="9360">
            <a:solidFill>
              <a:srgbClr val="8C8C8C"/>
            </a:solidFill>
            <a:custDash>
              <a:ds d="403846" sp="403846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5261400" y="4125240"/>
            <a:ext cx="2498040" cy="1143720"/>
          </a:xfrm>
          <a:custGeom>
            <a:avLst/>
            <a:gdLst/>
            <a:ahLst/>
            <a:rect l="0" t="0" r="r" b="b"/>
            <a:pathLst>
              <a:path fill="none" w="6939" h="3177">
                <a:moveTo>
                  <a:pt x="0" y="3177"/>
                </a:moveTo>
                <a:lnTo>
                  <a:pt x="1388" y="837"/>
                </a:lnTo>
                <a:lnTo>
                  <a:pt x="2776" y="508"/>
                </a:lnTo>
                <a:lnTo>
                  <a:pt x="4163" y="31"/>
                </a:lnTo>
                <a:lnTo>
                  <a:pt x="5551" y="35"/>
                </a:lnTo>
                <a:lnTo>
                  <a:pt x="6939" y="0"/>
                </a:lnTo>
              </a:path>
            </a:pathLst>
          </a:custGeom>
          <a:ln w="13320">
            <a:solidFill>
              <a:srgbClr val="999999"/>
            </a:solidFill>
            <a:round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5224680" y="5232240"/>
            <a:ext cx="73800" cy="73800"/>
          </a:xfrm>
          <a:custGeom>
            <a:avLst/>
            <a:gdLst/>
            <a:ahLst/>
            <a:rect l="0" t="0" r="r" b="b"/>
            <a:pathLst>
              <a:path w="205" h="205">
                <a:moveTo>
                  <a:pt x="0" y="102"/>
                </a:moveTo>
                <a:cubicBezTo>
                  <a:pt x="0" y="-34"/>
                  <a:pt x="205" y="-34"/>
                  <a:pt x="205" y="102"/>
                </a:cubicBezTo>
                <a:cubicBezTo>
                  <a:pt x="205" y="239"/>
                  <a:pt x="0" y="239"/>
                  <a:pt x="0" y="102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5224680" y="5232240"/>
            <a:ext cx="73800" cy="73800"/>
          </a:xfrm>
          <a:custGeom>
            <a:avLst/>
            <a:gdLst/>
            <a:ahLst/>
            <a:rect l="0" t="0" r="r" b="b"/>
            <a:pathLst>
              <a:path fill="none" w="205" h="205">
                <a:moveTo>
                  <a:pt x="205" y="102"/>
                </a:moveTo>
                <a:cubicBezTo>
                  <a:pt x="205" y="239"/>
                  <a:pt x="0" y="239"/>
                  <a:pt x="0" y="102"/>
                </a:cubicBezTo>
                <a:cubicBezTo>
                  <a:pt x="0" y="-34"/>
                  <a:pt x="205" y="-34"/>
                  <a:pt x="205" y="102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5724360" y="4389840"/>
            <a:ext cx="73440" cy="73440"/>
          </a:xfrm>
          <a:custGeom>
            <a:avLst/>
            <a:gdLst/>
            <a:ahLst/>
            <a:rect l="0" t="0" r="r" b="b"/>
            <a:pathLst>
              <a:path w="204" h="204">
                <a:moveTo>
                  <a:pt x="0" y="103"/>
                </a:moveTo>
                <a:cubicBezTo>
                  <a:pt x="0" y="-34"/>
                  <a:pt x="204" y="-34"/>
                  <a:pt x="204" y="103"/>
                </a:cubicBezTo>
                <a:cubicBezTo>
                  <a:pt x="204" y="238"/>
                  <a:pt x="0" y="238"/>
                  <a:pt x="0" y="103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5724360" y="4389840"/>
            <a:ext cx="73440" cy="73440"/>
          </a:xfrm>
          <a:custGeom>
            <a:avLst/>
            <a:gdLst/>
            <a:ahLst/>
            <a:rect l="0" t="0" r="r" b="b"/>
            <a:pathLst>
              <a:path fill="none" w="204" h="204">
                <a:moveTo>
                  <a:pt x="204" y="103"/>
                </a:moveTo>
                <a:cubicBezTo>
                  <a:pt x="204" y="238"/>
                  <a:pt x="0" y="238"/>
                  <a:pt x="0" y="103"/>
                </a:cubicBezTo>
                <a:cubicBezTo>
                  <a:pt x="0" y="-34"/>
                  <a:pt x="204" y="-34"/>
                  <a:pt x="204" y="103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6223680" y="4271400"/>
            <a:ext cx="73800" cy="74160"/>
          </a:xfrm>
          <a:custGeom>
            <a:avLst/>
            <a:gdLst/>
            <a:ahLst/>
            <a:rect l="0" t="0" r="r" b="b"/>
            <a:pathLst>
              <a:path w="205" h="206">
                <a:moveTo>
                  <a:pt x="0" y="103"/>
                </a:moveTo>
                <a:cubicBezTo>
                  <a:pt x="0" y="-34"/>
                  <a:pt x="205" y="-34"/>
                  <a:pt x="205" y="103"/>
                </a:cubicBezTo>
                <a:cubicBezTo>
                  <a:pt x="205" y="240"/>
                  <a:pt x="0" y="240"/>
                  <a:pt x="0" y="103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6223680" y="4271400"/>
            <a:ext cx="73800" cy="74160"/>
          </a:xfrm>
          <a:custGeom>
            <a:avLst/>
            <a:gdLst/>
            <a:ahLst/>
            <a:rect l="0" t="0" r="r" b="b"/>
            <a:pathLst>
              <a:path fill="none" w="205" h="206">
                <a:moveTo>
                  <a:pt x="205" y="103"/>
                </a:moveTo>
                <a:cubicBezTo>
                  <a:pt x="205" y="240"/>
                  <a:pt x="0" y="240"/>
                  <a:pt x="0" y="103"/>
                </a:cubicBezTo>
                <a:cubicBezTo>
                  <a:pt x="0" y="-34"/>
                  <a:pt x="205" y="-34"/>
                  <a:pt x="205" y="103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6723360" y="4100040"/>
            <a:ext cx="73440" cy="73440"/>
          </a:xfrm>
          <a:custGeom>
            <a:avLst/>
            <a:gdLst/>
            <a:ahLst/>
            <a:rect l="0" t="0" r="r" b="b"/>
            <a:pathLst>
              <a:path w="204" h="204">
                <a:moveTo>
                  <a:pt x="0" y="102"/>
                </a:moveTo>
                <a:cubicBezTo>
                  <a:pt x="0" y="-34"/>
                  <a:pt x="204" y="-34"/>
                  <a:pt x="204" y="102"/>
                </a:cubicBezTo>
                <a:cubicBezTo>
                  <a:pt x="204" y="238"/>
                  <a:pt x="0" y="238"/>
                  <a:pt x="0" y="102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6723360" y="4100040"/>
            <a:ext cx="73440" cy="73440"/>
          </a:xfrm>
          <a:custGeom>
            <a:avLst/>
            <a:gdLst/>
            <a:ahLst/>
            <a:rect l="0" t="0" r="r" b="b"/>
            <a:pathLst>
              <a:path fill="none" w="204" h="204">
                <a:moveTo>
                  <a:pt x="204" y="102"/>
                </a:moveTo>
                <a:cubicBezTo>
                  <a:pt x="204" y="238"/>
                  <a:pt x="0" y="238"/>
                  <a:pt x="0" y="102"/>
                </a:cubicBezTo>
                <a:cubicBezTo>
                  <a:pt x="0" y="-34"/>
                  <a:pt x="204" y="-34"/>
                  <a:pt x="204" y="102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7222680" y="4101120"/>
            <a:ext cx="73800" cy="73440"/>
          </a:xfrm>
          <a:custGeom>
            <a:avLst/>
            <a:gdLst/>
            <a:ahLst/>
            <a:rect l="0" t="0" r="r" b="b"/>
            <a:pathLst>
              <a:path w="205" h="204">
                <a:moveTo>
                  <a:pt x="0" y="103"/>
                </a:moveTo>
                <a:cubicBezTo>
                  <a:pt x="0" y="-34"/>
                  <a:pt x="205" y="-34"/>
                  <a:pt x="205" y="103"/>
                </a:cubicBezTo>
                <a:cubicBezTo>
                  <a:pt x="205" y="238"/>
                  <a:pt x="0" y="238"/>
                  <a:pt x="0" y="103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7222680" y="4101120"/>
            <a:ext cx="73800" cy="73440"/>
          </a:xfrm>
          <a:custGeom>
            <a:avLst/>
            <a:gdLst/>
            <a:ahLst/>
            <a:rect l="0" t="0" r="r" b="b"/>
            <a:pathLst>
              <a:path fill="none" w="205" h="204">
                <a:moveTo>
                  <a:pt x="205" y="103"/>
                </a:moveTo>
                <a:cubicBezTo>
                  <a:pt x="205" y="238"/>
                  <a:pt x="0" y="238"/>
                  <a:pt x="0" y="103"/>
                </a:cubicBezTo>
                <a:cubicBezTo>
                  <a:pt x="0" y="-34"/>
                  <a:pt x="205" y="-34"/>
                  <a:pt x="205" y="103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7722360" y="4088880"/>
            <a:ext cx="73440" cy="73440"/>
          </a:xfrm>
          <a:custGeom>
            <a:avLst/>
            <a:gdLst/>
            <a:ahLst/>
            <a:rect l="0" t="0" r="r" b="b"/>
            <a:pathLst>
              <a:path w="204" h="204">
                <a:moveTo>
                  <a:pt x="0" y="101"/>
                </a:moveTo>
                <a:cubicBezTo>
                  <a:pt x="0" y="-34"/>
                  <a:pt x="204" y="-34"/>
                  <a:pt x="204" y="101"/>
                </a:cubicBezTo>
                <a:cubicBezTo>
                  <a:pt x="204" y="238"/>
                  <a:pt x="0" y="238"/>
                  <a:pt x="0" y="101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7722360" y="4088880"/>
            <a:ext cx="73440" cy="73440"/>
          </a:xfrm>
          <a:custGeom>
            <a:avLst/>
            <a:gdLst/>
            <a:ahLst/>
            <a:rect l="0" t="0" r="r" b="b"/>
            <a:pathLst>
              <a:path fill="none" w="204" h="204">
                <a:moveTo>
                  <a:pt x="204" y="101"/>
                </a:moveTo>
                <a:cubicBezTo>
                  <a:pt x="204" y="238"/>
                  <a:pt x="0" y="238"/>
                  <a:pt x="0" y="101"/>
                </a:cubicBezTo>
                <a:cubicBezTo>
                  <a:pt x="0" y="-34"/>
                  <a:pt x="204" y="-34"/>
                  <a:pt x="204" y="101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147600" y="2865600"/>
            <a:ext cx="16488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5121720" y="5096160"/>
            <a:ext cx="25992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1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0.410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5621400" y="4253760"/>
            <a:ext cx="25992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1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0.559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6121080" y="4135680"/>
            <a:ext cx="25992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1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0.580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6620400" y="3963960"/>
            <a:ext cx="25992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1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0.610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7119720" y="3965400"/>
            <a:ext cx="25992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1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0.610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 flipV="1">
            <a:off x="4961520" y="3653280"/>
            <a:ext cx="0" cy="187236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7619400" y="3952800"/>
            <a:ext cx="25992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1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0.612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4777920" y="527652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0.4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4777920" y="470916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0.5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4930200" y="532728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4930200" y="475956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4930200" y="419220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4961520" y="5525640"/>
            <a:ext cx="3097080" cy="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 flipV="1">
            <a:off x="5261400" y="552564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 flipV="1">
            <a:off x="5761080" y="552564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 flipV="1">
            <a:off x="6260400" y="552564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 flipV="1">
            <a:off x="6759720" y="552564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 flipV="1">
            <a:off x="7259400" y="552564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 flipV="1">
            <a:off x="7759080" y="552564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4777920" y="414144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0.6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 txBox="1"/>
          <p:nvPr/>
        </p:nvSpPr>
        <p:spPr>
          <a:xfrm rot="20400000">
            <a:off x="5126760" y="5592600"/>
            <a:ext cx="1598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null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 txBox="1"/>
          <p:nvPr/>
        </p:nvSpPr>
        <p:spPr>
          <a:xfrm rot="20400000">
            <a:off x="5564160" y="5601600"/>
            <a:ext cx="2332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effort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"/>
          <p:cNvSpPr txBox="1"/>
          <p:nvPr/>
        </p:nvSpPr>
        <p:spPr>
          <a:xfrm rot="20400000">
            <a:off x="5965560" y="5620680"/>
            <a:ext cx="32400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climate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"/>
          <p:cNvSpPr txBox="1"/>
          <p:nvPr/>
        </p:nvSpPr>
        <p:spPr>
          <a:xfrm rot="20400000">
            <a:off x="6144120" y="5673960"/>
            <a:ext cx="67320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effort + climate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"/>
          <p:cNvSpPr txBox="1"/>
          <p:nvPr/>
        </p:nvSpPr>
        <p:spPr>
          <a:xfrm rot="20400000">
            <a:off x="6483240" y="5700240"/>
            <a:ext cx="8492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+ annual variability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"/>
          <p:cNvSpPr txBox="1"/>
          <p:nvPr/>
        </p:nvSpPr>
        <p:spPr>
          <a:xfrm rot="20400000">
            <a:off x="6909120" y="5715720"/>
            <a:ext cx="9115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+ interaction (MAIN)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"/>
          <p:cNvSpPr txBox="1"/>
          <p:nvPr/>
        </p:nvSpPr>
        <p:spPr>
          <a:xfrm rot="16200000">
            <a:off x="3903120" y="4553280"/>
            <a:ext cx="153324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D0D0D"/>
                </a:solidFill>
                <a:effectLst/>
                <a:uFillTx/>
                <a:latin typeface="Arial"/>
                <a:ea typeface="Arial"/>
              </a:rPr>
              <a:t>AUC from ﬁxed effects only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4961880" y="3083400"/>
            <a:ext cx="253152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Discrimination gained as ﬁxed effects are added;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4961880" y="3209400"/>
            <a:ext cx="21402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 random structure held at the main model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4961880" y="2892960"/>
            <a:ext cx="192672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Neither factor alone is sufﬁcient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4573080" y="2865600"/>
            <a:ext cx="16488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/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Chenchen Ding</dc:creator>
  <dc:description/>
  <dc:language>zh-CN</dc:language>
  <cp:lastModifiedBy>Chenchen Ding</cp:lastModifiedBy>
  <cp:revision>0</cp:revision>
  <dc:subject/>
  <dc:title>Figure1</dc:title>
</cp:coreProperties>
</file>