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8229600" cy="62992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11480" y="236880"/>
            <a:ext cx="7406280" cy="99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11480" y="1389600"/>
            <a:ext cx="7406280" cy="344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/>
        </p:nvSpPr>
        <p:spPr>
          <a:xfrm>
            <a:off x="0" y="0"/>
            <a:ext cx="8229960" cy="6299280"/>
          </a:xfrm>
          <a:custGeom>
            <a:avLst/>
            <a:gdLst/>
            <a:ahLst/>
            <a:rect l="0" t="0" r="r" b="b"/>
            <a:pathLst>
              <a:path w="22861" h="17498">
                <a:moveTo>
                  <a:pt x="0" y="0"/>
                </a:moveTo>
                <a:lnTo>
                  <a:pt x="22861" y="0"/>
                </a:lnTo>
                <a:lnTo>
                  <a:pt x="22861" y="17498"/>
                </a:lnTo>
                <a:lnTo>
                  <a:pt x="0" y="1749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"/>
          <p:cNvSpPr/>
          <p:nvPr/>
        </p:nvSpPr>
        <p:spPr>
          <a:xfrm>
            <a:off x="0" y="0"/>
            <a:ext cx="8229960" cy="6299280"/>
          </a:xfrm>
          <a:custGeom>
            <a:avLst/>
            <a:gdLst/>
            <a:ahLst/>
            <a:rect l="0" t="0" r="r" b="b"/>
            <a:pathLst>
              <a:path w="22861" h="17498">
                <a:moveTo>
                  <a:pt x="0" y="0"/>
                </a:moveTo>
                <a:lnTo>
                  <a:pt x="22861" y="0"/>
                </a:lnTo>
                <a:lnTo>
                  <a:pt x="22861" y="17498"/>
                </a:lnTo>
                <a:lnTo>
                  <a:pt x="0" y="1749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3320">
            <a:solidFill>
              <a:srgbClr val="FFFFFF"/>
            </a:solidFill>
            <a:round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69480" y="69480"/>
            <a:ext cx="4435920" cy="2747880"/>
          </a:xfrm>
          <a:custGeom>
            <a:avLst/>
            <a:gdLst/>
            <a:ahLst/>
            <a:rect l="0" t="0" r="r" b="b"/>
            <a:pathLst>
              <a:path w="12322" h="7633">
                <a:moveTo>
                  <a:pt x="0" y="0"/>
                </a:moveTo>
                <a:lnTo>
                  <a:pt x="12322" y="0"/>
                </a:lnTo>
                <a:lnTo>
                  <a:pt x="12322" y="7633"/>
                </a:lnTo>
                <a:lnTo>
                  <a:pt x="0" y="76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2240">
            <a:solidFill>
              <a:srgbClr val="FFFFFF"/>
            </a:solidFill>
            <a:round/>
          </a:ln>
        </p:spPr>
        <p:txBody>
          <a:bodyPr lIns="6120" tIns="6120" rIns="6120" bIns="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4505040" y="69480"/>
            <a:ext cx="3655080" cy="2747880"/>
          </a:xfrm>
          <a:custGeom>
            <a:avLst/>
            <a:gdLst/>
            <a:ahLst/>
            <a:rect l="0" t="0" r="r" b="b"/>
            <a:pathLst>
              <a:path w="10153" h="7633">
                <a:moveTo>
                  <a:pt x="0" y="0"/>
                </a:moveTo>
                <a:lnTo>
                  <a:pt x="10153" y="0"/>
                </a:lnTo>
                <a:lnTo>
                  <a:pt x="10153" y="7633"/>
                </a:lnTo>
                <a:lnTo>
                  <a:pt x="0" y="76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2240">
            <a:solidFill>
              <a:srgbClr val="FFFFFF"/>
            </a:solidFill>
            <a:round/>
          </a:ln>
        </p:spPr>
        <p:txBody>
          <a:bodyPr lIns="6120" tIns="6120" rIns="6120" bIns="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1307160" y="538560"/>
            <a:ext cx="3097080" cy="1872720"/>
          </a:xfrm>
          <a:custGeom>
            <a:avLst/>
            <a:gdLst/>
            <a:ahLst/>
            <a:rect l="0" t="0" r="r" b="b"/>
            <a:pathLst>
              <a:path w="8603" h="5202">
                <a:moveTo>
                  <a:pt x="0" y="0"/>
                </a:moveTo>
                <a:lnTo>
                  <a:pt x="8603" y="0"/>
                </a:lnTo>
                <a:lnTo>
                  <a:pt x="8603" y="5202"/>
                </a:lnTo>
                <a:lnTo>
                  <a:pt x="0" y="520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/>
          <p:nvPr/>
        </p:nvSpPr>
        <p:spPr>
          <a:xfrm>
            <a:off x="1307160" y="2143440"/>
            <a:ext cx="309672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/>
          <p:nvPr/>
        </p:nvSpPr>
        <p:spPr>
          <a:xfrm>
            <a:off x="1307160" y="1697760"/>
            <a:ext cx="309672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/>
          <p:nvPr/>
        </p:nvSpPr>
        <p:spPr>
          <a:xfrm>
            <a:off x="1307160" y="1252080"/>
            <a:ext cx="309672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/>
          <p:nvPr/>
        </p:nvSpPr>
        <p:spPr>
          <a:xfrm>
            <a:off x="1307160" y="806040"/>
            <a:ext cx="309672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 flipV="1">
            <a:off x="2491200" y="538560"/>
            <a:ext cx="0" cy="1872360"/>
          </a:xfrm>
          <a:prstGeom prst="line">
            <a:avLst/>
          </a:prstGeom>
          <a:ln w="9360">
            <a:solidFill>
              <a:srgbClr val="8C8C8C"/>
            </a:solidFill>
            <a:custDash>
              <a:ds d="403846" sp="403846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3327480" y="895320"/>
            <a:ext cx="913320" cy="0"/>
          </a:xfrm>
          <a:prstGeom prst="line">
            <a:avLst/>
          </a:prstGeom>
          <a:ln w="14760">
            <a:solidFill>
              <a:srgbClr val="007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-7200" rIns="7200" bIns="-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3328920" y="806040"/>
            <a:ext cx="916920" cy="0"/>
          </a:xfrm>
          <a:prstGeom prst="line">
            <a:avLst/>
          </a:prstGeom>
          <a:ln w="14760">
            <a:solidFill>
              <a:srgbClr val="E69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-7200" rIns="7200" bIns="-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>
            <a:off x="3341880" y="716760"/>
            <a:ext cx="921240" cy="0"/>
          </a:xfrm>
          <a:prstGeom prst="line">
            <a:avLst/>
          </a:prstGeom>
          <a:ln w="14760">
            <a:solidFill>
              <a:srgbClr val="009E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-7200" rIns="7200" bIns="-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3237480" y="1341000"/>
            <a:ext cx="860760" cy="0"/>
          </a:xfrm>
          <a:prstGeom prst="line">
            <a:avLst/>
          </a:prstGeom>
          <a:ln w="14760">
            <a:solidFill>
              <a:srgbClr val="007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-7200" rIns="7200" bIns="-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/>
          <p:nvPr/>
        </p:nvSpPr>
        <p:spPr>
          <a:xfrm>
            <a:off x="3268440" y="1252080"/>
            <a:ext cx="878400" cy="0"/>
          </a:xfrm>
          <a:prstGeom prst="line">
            <a:avLst/>
          </a:prstGeom>
          <a:ln w="14760">
            <a:solidFill>
              <a:srgbClr val="E69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-7200" rIns="7200" bIns="-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/>
          <p:nvPr/>
        </p:nvSpPr>
        <p:spPr>
          <a:xfrm>
            <a:off x="3246480" y="1162800"/>
            <a:ext cx="898920" cy="0"/>
          </a:xfrm>
          <a:prstGeom prst="line">
            <a:avLst/>
          </a:prstGeom>
          <a:ln w="14760">
            <a:solidFill>
              <a:srgbClr val="009E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-7200" rIns="7200" bIns="-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/>
          <p:nvPr/>
        </p:nvSpPr>
        <p:spPr>
          <a:xfrm>
            <a:off x="2125440" y="1787040"/>
            <a:ext cx="693720" cy="0"/>
          </a:xfrm>
          <a:prstGeom prst="line">
            <a:avLst/>
          </a:prstGeom>
          <a:ln w="14760">
            <a:solidFill>
              <a:srgbClr val="007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-7200" rIns="7200" bIns="-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/>
          <p:nvPr/>
        </p:nvSpPr>
        <p:spPr>
          <a:xfrm>
            <a:off x="2125080" y="1697760"/>
            <a:ext cx="696960" cy="0"/>
          </a:xfrm>
          <a:prstGeom prst="line">
            <a:avLst/>
          </a:prstGeom>
          <a:ln w="14760">
            <a:solidFill>
              <a:srgbClr val="E69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-7200" rIns="7200" bIns="-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2124720" y="1608480"/>
            <a:ext cx="699480" cy="0"/>
          </a:xfrm>
          <a:prstGeom prst="line">
            <a:avLst/>
          </a:prstGeom>
          <a:ln w="14760">
            <a:solidFill>
              <a:srgbClr val="009E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-7200" rIns="7200" bIns="-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1448280" y="2232720"/>
            <a:ext cx="839880" cy="0"/>
          </a:xfrm>
          <a:prstGeom prst="line">
            <a:avLst/>
          </a:prstGeom>
          <a:ln w="14760">
            <a:solidFill>
              <a:srgbClr val="007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-7200" rIns="7200" bIns="-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1453680" y="2143440"/>
            <a:ext cx="842400" cy="0"/>
          </a:xfrm>
          <a:prstGeom prst="line">
            <a:avLst/>
          </a:prstGeom>
          <a:ln w="14760">
            <a:solidFill>
              <a:srgbClr val="E69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-7200" rIns="7200" bIns="-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1447920" y="2054520"/>
            <a:ext cx="844560" cy="0"/>
          </a:xfrm>
          <a:prstGeom prst="line">
            <a:avLst/>
          </a:prstGeom>
          <a:ln w="14760">
            <a:solidFill>
              <a:srgbClr val="009E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-7200" rIns="7200" bIns="-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/>
          <p:nvPr/>
        </p:nvSpPr>
        <p:spPr>
          <a:xfrm>
            <a:off x="3754440" y="865440"/>
            <a:ext cx="59760" cy="60120"/>
          </a:xfrm>
          <a:custGeom>
            <a:avLst/>
            <a:gdLst/>
            <a:ahLst/>
            <a:rect l="0" t="0" r="r" b="b"/>
            <a:pathLst>
              <a:path w="166" h="167">
                <a:moveTo>
                  <a:pt x="0" y="84"/>
                </a:moveTo>
                <a:cubicBezTo>
                  <a:pt x="0" y="-28"/>
                  <a:pt x="166" y="-28"/>
                  <a:pt x="166" y="84"/>
                </a:cubicBezTo>
                <a:cubicBezTo>
                  <a:pt x="166" y="195"/>
                  <a:pt x="0" y="195"/>
                  <a:pt x="0" y="84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>
            <a:off x="3754440" y="865440"/>
            <a:ext cx="59760" cy="60120"/>
          </a:xfrm>
          <a:custGeom>
            <a:avLst/>
            <a:gdLst/>
            <a:ahLst/>
            <a:rect l="0" t="0" r="r" b="b"/>
            <a:pathLst>
              <a:path fill="none" w="166" h="167">
                <a:moveTo>
                  <a:pt x="166" y="84"/>
                </a:moveTo>
                <a:cubicBezTo>
                  <a:pt x="166" y="195"/>
                  <a:pt x="0" y="195"/>
                  <a:pt x="0" y="84"/>
                </a:cubicBezTo>
                <a:cubicBezTo>
                  <a:pt x="0" y="-28"/>
                  <a:pt x="166" y="-28"/>
                  <a:pt x="166" y="84"/>
                </a:cubicBezTo>
              </a:path>
            </a:pathLst>
          </a:custGeom>
          <a:ln cap="rnd" w="7920">
            <a:solidFill>
              <a:srgbClr val="0072B2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/>
          <p:nvPr/>
        </p:nvSpPr>
        <p:spPr>
          <a:xfrm>
            <a:off x="3757680" y="776160"/>
            <a:ext cx="60120" cy="60120"/>
          </a:xfrm>
          <a:custGeom>
            <a:avLst/>
            <a:gdLst/>
            <a:ahLst/>
            <a:rect l="0" t="0" r="r" b="b"/>
            <a:pathLst>
              <a:path w="167" h="167">
                <a:moveTo>
                  <a:pt x="0" y="83"/>
                </a:moveTo>
                <a:cubicBezTo>
                  <a:pt x="0" y="-28"/>
                  <a:pt x="167" y="-28"/>
                  <a:pt x="167" y="83"/>
                </a:cubicBezTo>
                <a:cubicBezTo>
                  <a:pt x="167" y="194"/>
                  <a:pt x="0" y="194"/>
                  <a:pt x="0" y="83"/>
                </a:cubicBezTo>
                <a:close/>
              </a:path>
            </a:pathLst>
          </a:custGeom>
          <a:solidFill>
            <a:srgbClr val="E69F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3757680" y="776160"/>
            <a:ext cx="60120" cy="60120"/>
          </a:xfrm>
          <a:custGeom>
            <a:avLst/>
            <a:gdLst/>
            <a:ahLst/>
            <a:rect l="0" t="0" r="r" b="b"/>
            <a:pathLst>
              <a:path fill="none" w="167" h="167">
                <a:moveTo>
                  <a:pt x="167" y="83"/>
                </a:moveTo>
                <a:cubicBezTo>
                  <a:pt x="167" y="194"/>
                  <a:pt x="0" y="194"/>
                  <a:pt x="0" y="83"/>
                </a:cubicBezTo>
                <a:cubicBezTo>
                  <a:pt x="0" y="-28"/>
                  <a:pt x="167" y="-28"/>
                  <a:pt x="167" y="83"/>
                </a:cubicBezTo>
              </a:path>
            </a:pathLst>
          </a:custGeom>
          <a:ln cap="rnd" w="7920">
            <a:solidFill>
              <a:srgbClr val="E69F00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3772800" y="686880"/>
            <a:ext cx="59760" cy="60120"/>
          </a:xfrm>
          <a:custGeom>
            <a:avLst/>
            <a:gdLst/>
            <a:ahLst/>
            <a:rect l="0" t="0" r="r" b="b"/>
            <a:pathLst>
              <a:path w="166" h="167">
                <a:moveTo>
                  <a:pt x="0" y="83"/>
                </a:moveTo>
                <a:cubicBezTo>
                  <a:pt x="0" y="-28"/>
                  <a:pt x="166" y="-28"/>
                  <a:pt x="166" y="83"/>
                </a:cubicBezTo>
                <a:cubicBezTo>
                  <a:pt x="166" y="195"/>
                  <a:pt x="0" y="195"/>
                  <a:pt x="0" y="83"/>
                </a:cubicBezTo>
                <a:close/>
              </a:path>
            </a:pathLst>
          </a:custGeom>
          <a:solidFill>
            <a:srgbClr val="009E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/>
          <p:nvPr/>
        </p:nvSpPr>
        <p:spPr>
          <a:xfrm>
            <a:off x="3772800" y="686880"/>
            <a:ext cx="59760" cy="60120"/>
          </a:xfrm>
          <a:custGeom>
            <a:avLst/>
            <a:gdLst/>
            <a:ahLst/>
            <a:rect l="0" t="0" r="r" b="b"/>
            <a:pathLst>
              <a:path fill="none" w="166" h="167">
                <a:moveTo>
                  <a:pt x="166" y="83"/>
                </a:moveTo>
                <a:cubicBezTo>
                  <a:pt x="166" y="195"/>
                  <a:pt x="0" y="195"/>
                  <a:pt x="0" y="83"/>
                </a:cubicBezTo>
                <a:cubicBezTo>
                  <a:pt x="0" y="-28"/>
                  <a:pt x="166" y="-28"/>
                  <a:pt x="166" y="83"/>
                </a:cubicBezTo>
              </a:path>
            </a:pathLst>
          </a:custGeom>
          <a:ln cap="rnd" w="7920">
            <a:solidFill>
              <a:srgbClr val="009E73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3638160" y="1311120"/>
            <a:ext cx="59760" cy="60120"/>
          </a:xfrm>
          <a:custGeom>
            <a:avLst/>
            <a:gdLst/>
            <a:ahLst/>
            <a:rect l="0" t="0" r="r" b="b"/>
            <a:pathLst>
              <a:path w="166" h="167">
                <a:moveTo>
                  <a:pt x="0" y="83"/>
                </a:moveTo>
                <a:cubicBezTo>
                  <a:pt x="0" y="-28"/>
                  <a:pt x="166" y="-28"/>
                  <a:pt x="166" y="83"/>
                </a:cubicBezTo>
                <a:cubicBezTo>
                  <a:pt x="166" y="194"/>
                  <a:pt x="0" y="194"/>
                  <a:pt x="0" y="83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3638160" y="1311120"/>
            <a:ext cx="59760" cy="60120"/>
          </a:xfrm>
          <a:custGeom>
            <a:avLst/>
            <a:gdLst/>
            <a:ahLst/>
            <a:rect l="0" t="0" r="r" b="b"/>
            <a:pathLst>
              <a:path fill="none" w="166" h="167">
                <a:moveTo>
                  <a:pt x="166" y="83"/>
                </a:moveTo>
                <a:cubicBezTo>
                  <a:pt x="166" y="194"/>
                  <a:pt x="0" y="194"/>
                  <a:pt x="0" y="83"/>
                </a:cubicBezTo>
                <a:cubicBezTo>
                  <a:pt x="0" y="-28"/>
                  <a:pt x="166" y="-28"/>
                  <a:pt x="166" y="83"/>
                </a:cubicBezTo>
              </a:path>
            </a:pathLst>
          </a:custGeom>
          <a:ln cap="rnd" w="7920">
            <a:solidFill>
              <a:srgbClr val="0072B2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>
            <a:off x="3677760" y="1222200"/>
            <a:ext cx="60120" cy="60120"/>
          </a:xfrm>
          <a:custGeom>
            <a:avLst/>
            <a:gdLst/>
            <a:ahLst/>
            <a:rect l="0" t="0" r="r" b="b"/>
            <a:pathLst>
              <a:path w="167" h="167">
                <a:moveTo>
                  <a:pt x="0" y="84"/>
                </a:moveTo>
                <a:cubicBezTo>
                  <a:pt x="0" y="-28"/>
                  <a:pt x="167" y="-28"/>
                  <a:pt x="167" y="84"/>
                </a:cubicBezTo>
                <a:cubicBezTo>
                  <a:pt x="167" y="195"/>
                  <a:pt x="0" y="195"/>
                  <a:pt x="0" y="84"/>
                </a:cubicBezTo>
                <a:close/>
              </a:path>
            </a:pathLst>
          </a:custGeom>
          <a:solidFill>
            <a:srgbClr val="E69F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3677760" y="1222200"/>
            <a:ext cx="60120" cy="60120"/>
          </a:xfrm>
          <a:custGeom>
            <a:avLst/>
            <a:gdLst/>
            <a:ahLst/>
            <a:rect l="0" t="0" r="r" b="b"/>
            <a:pathLst>
              <a:path fill="none" w="167" h="167">
                <a:moveTo>
                  <a:pt x="167" y="84"/>
                </a:moveTo>
                <a:cubicBezTo>
                  <a:pt x="167" y="195"/>
                  <a:pt x="0" y="195"/>
                  <a:pt x="0" y="84"/>
                </a:cubicBezTo>
                <a:cubicBezTo>
                  <a:pt x="0" y="-28"/>
                  <a:pt x="167" y="-28"/>
                  <a:pt x="167" y="84"/>
                </a:cubicBezTo>
              </a:path>
            </a:pathLst>
          </a:custGeom>
          <a:ln cap="rnd" w="7920">
            <a:solidFill>
              <a:srgbClr val="E69F00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>
            <a:off x="3666240" y="1132920"/>
            <a:ext cx="59760" cy="60120"/>
          </a:xfrm>
          <a:custGeom>
            <a:avLst/>
            <a:gdLst/>
            <a:ahLst/>
            <a:rect l="0" t="0" r="r" b="b"/>
            <a:pathLst>
              <a:path w="166" h="167">
                <a:moveTo>
                  <a:pt x="0" y="84"/>
                </a:moveTo>
                <a:cubicBezTo>
                  <a:pt x="0" y="-28"/>
                  <a:pt x="166" y="-28"/>
                  <a:pt x="166" y="84"/>
                </a:cubicBezTo>
                <a:cubicBezTo>
                  <a:pt x="166" y="194"/>
                  <a:pt x="0" y="194"/>
                  <a:pt x="0" y="84"/>
                </a:cubicBezTo>
                <a:close/>
              </a:path>
            </a:pathLst>
          </a:custGeom>
          <a:solidFill>
            <a:srgbClr val="009E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/>
          <p:nvPr/>
        </p:nvSpPr>
        <p:spPr>
          <a:xfrm>
            <a:off x="3666240" y="1132920"/>
            <a:ext cx="59760" cy="60120"/>
          </a:xfrm>
          <a:custGeom>
            <a:avLst/>
            <a:gdLst/>
            <a:ahLst/>
            <a:rect l="0" t="0" r="r" b="b"/>
            <a:pathLst>
              <a:path fill="none" w="166" h="167">
                <a:moveTo>
                  <a:pt x="166" y="84"/>
                </a:moveTo>
                <a:cubicBezTo>
                  <a:pt x="166" y="194"/>
                  <a:pt x="0" y="194"/>
                  <a:pt x="0" y="84"/>
                </a:cubicBezTo>
                <a:cubicBezTo>
                  <a:pt x="0" y="-28"/>
                  <a:pt x="166" y="-28"/>
                  <a:pt x="166" y="84"/>
                </a:cubicBezTo>
              </a:path>
            </a:pathLst>
          </a:custGeom>
          <a:ln cap="rnd" w="7920">
            <a:solidFill>
              <a:srgbClr val="009E73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2442600" y="1757160"/>
            <a:ext cx="60120" cy="60120"/>
          </a:xfrm>
          <a:custGeom>
            <a:avLst/>
            <a:gdLst/>
            <a:ahLst/>
            <a:rect l="0" t="0" r="r" b="b"/>
            <a:pathLst>
              <a:path w="167" h="167">
                <a:moveTo>
                  <a:pt x="0" y="84"/>
                </a:moveTo>
                <a:cubicBezTo>
                  <a:pt x="0" y="-28"/>
                  <a:pt x="167" y="-28"/>
                  <a:pt x="167" y="84"/>
                </a:cubicBezTo>
                <a:cubicBezTo>
                  <a:pt x="167" y="195"/>
                  <a:pt x="0" y="195"/>
                  <a:pt x="0" y="84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2442600" y="1757160"/>
            <a:ext cx="60120" cy="60120"/>
          </a:xfrm>
          <a:custGeom>
            <a:avLst/>
            <a:gdLst/>
            <a:ahLst/>
            <a:rect l="0" t="0" r="r" b="b"/>
            <a:pathLst>
              <a:path fill="none" w="167" h="167">
                <a:moveTo>
                  <a:pt x="167" y="84"/>
                </a:moveTo>
                <a:cubicBezTo>
                  <a:pt x="167" y="195"/>
                  <a:pt x="0" y="195"/>
                  <a:pt x="0" y="84"/>
                </a:cubicBezTo>
                <a:cubicBezTo>
                  <a:pt x="0" y="-28"/>
                  <a:pt x="167" y="-28"/>
                  <a:pt x="167" y="84"/>
                </a:cubicBezTo>
              </a:path>
            </a:pathLst>
          </a:custGeom>
          <a:ln cap="rnd" w="7920">
            <a:solidFill>
              <a:srgbClr val="0072B2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>
            <a:off x="2443680" y="1667880"/>
            <a:ext cx="60120" cy="60120"/>
          </a:xfrm>
          <a:custGeom>
            <a:avLst/>
            <a:gdLst/>
            <a:ahLst/>
            <a:rect l="0" t="0" r="r" b="b"/>
            <a:pathLst>
              <a:path w="167" h="167">
                <a:moveTo>
                  <a:pt x="0" y="84"/>
                </a:moveTo>
                <a:cubicBezTo>
                  <a:pt x="0" y="-28"/>
                  <a:pt x="167" y="-28"/>
                  <a:pt x="167" y="84"/>
                </a:cubicBezTo>
                <a:cubicBezTo>
                  <a:pt x="167" y="194"/>
                  <a:pt x="0" y="194"/>
                  <a:pt x="0" y="84"/>
                </a:cubicBezTo>
                <a:close/>
              </a:path>
            </a:pathLst>
          </a:custGeom>
          <a:solidFill>
            <a:srgbClr val="E69F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/>
          <p:nvPr/>
        </p:nvSpPr>
        <p:spPr>
          <a:xfrm>
            <a:off x="2443680" y="1667880"/>
            <a:ext cx="60120" cy="60120"/>
          </a:xfrm>
          <a:custGeom>
            <a:avLst/>
            <a:gdLst/>
            <a:ahLst/>
            <a:rect l="0" t="0" r="r" b="b"/>
            <a:pathLst>
              <a:path fill="none" w="167" h="167">
                <a:moveTo>
                  <a:pt x="167" y="84"/>
                </a:moveTo>
                <a:cubicBezTo>
                  <a:pt x="167" y="194"/>
                  <a:pt x="0" y="194"/>
                  <a:pt x="0" y="84"/>
                </a:cubicBezTo>
                <a:cubicBezTo>
                  <a:pt x="0" y="-28"/>
                  <a:pt x="167" y="-28"/>
                  <a:pt x="167" y="84"/>
                </a:cubicBezTo>
              </a:path>
            </a:pathLst>
          </a:custGeom>
          <a:ln cap="rnd" w="7920">
            <a:solidFill>
              <a:srgbClr val="E69F00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/>
          <p:nvPr/>
        </p:nvSpPr>
        <p:spPr>
          <a:xfrm>
            <a:off x="2444760" y="1578600"/>
            <a:ext cx="60120" cy="60120"/>
          </a:xfrm>
          <a:custGeom>
            <a:avLst/>
            <a:gdLst/>
            <a:ahLst/>
            <a:rect l="0" t="0" r="r" b="b"/>
            <a:pathLst>
              <a:path w="167" h="167">
                <a:moveTo>
                  <a:pt x="0" y="83"/>
                </a:moveTo>
                <a:cubicBezTo>
                  <a:pt x="0" y="-28"/>
                  <a:pt x="167" y="-28"/>
                  <a:pt x="167" y="83"/>
                </a:cubicBezTo>
                <a:cubicBezTo>
                  <a:pt x="167" y="195"/>
                  <a:pt x="0" y="195"/>
                  <a:pt x="0" y="83"/>
                </a:cubicBezTo>
                <a:close/>
              </a:path>
            </a:pathLst>
          </a:custGeom>
          <a:solidFill>
            <a:srgbClr val="009E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/>
          <p:nvPr/>
        </p:nvSpPr>
        <p:spPr>
          <a:xfrm>
            <a:off x="2444760" y="1578600"/>
            <a:ext cx="60120" cy="60120"/>
          </a:xfrm>
          <a:custGeom>
            <a:avLst/>
            <a:gdLst/>
            <a:ahLst/>
            <a:rect l="0" t="0" r="r" b="b"/>
            <a:pathLst>
              <a:path fill="none" w="167" h="167">
                <a:moveTo>
                  <a:pt x="167" y="83"/>
                </a:moveTo>
                <a:cubicBezTo>
                  <a:pt x="167" y="195"/>
                  <a:pt x="0" y="195"/>
                  <a:pt x="0" y="83"/>
                </a:cubicBezTo>
                <a:cubicBezTo>
                  <a:pt x="0" y="-28"/>
                  <a:pt x="167" y="-28"/>
                  <a:pt x="167" y="83"/>
                </a:cubicBezTo>
              </a:path>
            </a:pathLst>
          </a:custGeom>
          <a:ln cap="rnd" w="7920">
            <a:solidFill>
              <a:srgbClr val="009E73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/>
          <p:nvPr/>
        </p:nvSpPr>
        <p:spPr>
          <a:xfrm>
            <a:off x="1838520" y="2202840"/>
            <a:ext cx="59760" cy="60120"/>
          </a:xfrm>
          <a:custGeom>
            <a:avLst/>
            <a:gdLst/>
            <a:ahLst/>
            <a:rect l="0" t="0" r="r" b="b"/>
            <a:pathLst>
              <a:path w="166" h="167">
                <a:moveTo>
                  <a:pt x="0" y="83"/>
                </a:moveTo>
                <a:cubicBezTo>
                  <a:pt x="0" y="-28"/>
                  <a:pt x="166" y="-28"/>
                  <a:pt x="166" y="83"/>
                </a:cubicBezTo>
                <a:cubicBezTo>
                  <a:pt x="166" y="194"/>
                  <a:pt x="0" y="194"/>
                  <a:pt x="0" y="83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/>
          <p:nvPr/>
        </p:nvSpPr>
        <p:spPr>
          <a:xfrm>
            <a:off x="1838520" y="2202840"/>
            <a:ext cx="59760" cy="60120"/>
          </a:xfrm>
          <a:custGeom>
            <a:avLst/>
            <a:gdLst/>
            <a:ahLst/>
            <a:rect l="0" t="0" r="r" b="b"/>
            <a:pathLst>
              <a:path fill="none" w="166" h="167">
                <a:moveTo>
                  <a:pt x="166" y="83"/>
                </a:moveTo>
                <a:cubicBezTo>
                  <a:pt x="166" y="194"/>
                  <a:pt x="0" y="194"/>
                  <a:pt x="0" y="83"/>
                </a:cubicBezTo>
                <a:cubicBezTo>
                  <a:pt x="0" y="-28"/>
                  <a:pt x="166" y="-28"/>
                  <a:pt x="166" y="83"/>
                </a:cubicBezTo>
              </a:path>
            </a:pathLst>
          </a:custGeom>
          <a:ln cap="rnd" w="7920">
            <a:solidFill>
              <a:srgbClr val="0072B2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/>
          <p:nvPr/>
        </p:nvSpPr>
        <p:spPr>
          <a:xfrm>
            <a:off x="1845000" y="2113920"/>
            <a:ext cx="60120" cy="60120"/>
          </a:xfrm>
          <a:custGeom>
            <a:avLst/>
            <a:gdLst/>
            <a:ahLst/>
            <a:rect l="0" t="0" r="r" b="b"/>
            <a:pathLst>
              <a:path w="167" h="167">
                <a:moveTo>
                  <a:pt x="0" y="83"/>
                </a:moveTo>
                <a:cubicBezTo>
                  <a:pt x="0" y="-28"/>
                  <a:pt x="167" y="-28"/>
                  <a:pt x="167" y="83"/>
                </a:cubicBezTo>
                <a:cubicBezTo>
                  <a:pt x="167" y="195"/>
                  <a:pt x="0" y="195"/>
                  <a:pt x="0" y="83"/>
                </a:cubicBezTo>
                <a:close/>
              </a:path>
            </a:pathLst>
          </a:custGeom>
          <a:solidFill>
            <a:srgbClr val="E69F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/>
          <p:nvPr/>
        </p:nvSpPr>
        <p:spPr>
          <a:xfrm>
            <a:off x="1845000" y="2113920"/>
            <a:ext cx="60120" cy="60120"/>
          </a:xfrm>
          <a:custGeom>
            <a:avLst/>
            <a:gdLst/>
            <a:ahLst/>
            <a:rect l="0" t="0" r="r" b="b"/>
            <a:pathLst>
              <a:path fill="none" w="167" h="167">
                <a:moveTo>
                  <a:pt x="167" y="83"/>
                </a:moveTo>
                <a:cubicBezTo>
                  <a:pt x="167" y="195"/>
                  <a:pt x="0" y="195"/>
                  <a:pt x="0" y="83"/>
                </a:cubicBezTo>
                <a:cubicBezTo>
                  <a:pt x="0" y="-28"/>
                  <a:pt x="167" y="-28"/>
                  <a:pt x="167" y="83"/>
                </a:cubicBezTo>
              </a:path>
            </a:pathLst>
          </a:custGeom>
          <a:ln cap="rnd" w="7920">
            <a:solidFill>
              <a:srgbClr val="E69F00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/>
          <p:nvPr/>
        </p:nvSpPr>
        <p:spPr>
          <a:xfrm>
            <a:off x="1840320" y="2024640"/>
            <a:ext cx="60120" cy="60120"/>
          </a:xfrm>
          <a:custGeom>
            <a:avLst/>
            <a:gdLst/>
            <a:ahLst/>
            <a:rect l="0" t="0" r="r" b="b"/>
            <a:pathLst>
              <a:path w="167" h="167">
                <a:moveTo>
                  <a:pt x="0" y="84"/>
                </a:moveTo>
                <a:cubicBezTo>
                  <a:pt x="0" y="-28"/>
                  <a:pt x="167" y="-28"/>
                  <a:pt x="167" y="84"/>
                </a:cubicBezTo>
                <a:cubicBezTo>
                  <a:pt x="167" y="194"/>
                  <a:pt x="0" y="194"/>
                  <a:pt x="0" y="84"/>
                </a:cubicBezTo>
                <a:close/>
              </a:path>
            </a:pathLst>
          </a:custGeom>
          <a:solidFill>
            <a:srgbClr val="009E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"/>
          <p:cNvSpPr/>
          <p:nvPr/>
        </p:nvSpPr>
        <p:spPr>
          <a:xfrm>
            <a:off x="1840320" y="2024640"/>
            <a:ext cx="60120" cy="60120"/>
          </a:xfrm>
          <a:custGeom>
            <a:avLst/>
            <a:gdLst/>
            <a:ahLst/>
            <a:rect l="0" t="0" r="r" b="b"/>
            <a:pathLst>
              <a:path fill="none" w="167" h="167">
                <a:moveTo>
                  <a:pt x="167" y="84"/>
                </a:moveTo>
                <a:cubicBezTo>
                  <a:pt x="167" y="194"/>
                  <a:pt x="0" y="194"/>
                  <a:pt x="0" y="84"/>
                </a:cubicBezTo>
                <a:cubicBezTo>
                  <a:pt x="0" y="-28"/>
                  <a:pt x="167" y="-28"/>
                  <a:pt x="167" y="84"/>
                </a:cubicBezTo>
              </a:path>
            </a:pathLst>
          </a:custGeom>
          <a:ln cap="rnd" w="7920">
            <a:solidFill>
              <a:srgbClr val="009E73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 flipV="1">
            <a:off x="1307160" y="538560"/>
            <a:ext cx="0" cy="187272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539280" y="2093040"/>
            <a:ext cx="7495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Warming x effort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170640" y="1647000"/>
            <a:ext cx="112428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Annual climate variability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285120" y="1201320"/>
            <a:ext cx="10051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Accumulated warming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/>
          <p:nvPr/>
        </p:nvSpPr>
        <p:spPr>
          <a:xfrm>
            <a:off x="1275480" y="214344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1275480" y="169776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>
            <a:off x="1275480" y="125208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/>
          <p:nvPr/>
        </p:nvSpPr>
        <p:spPr>
          <a:xfrm>
            <a:off x="1275480" y="80604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/>
          <p:nvPr/>
        </p:nvSpPr>
        <p:spPr>
          <a:xfrm>
            <a:off x="1307160" y="2411280"/>
            <a:ext cx="3096720" cy="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/>
          <p:nvPr/>
        </p:nvSpPr>
        <p:spPr>
          <a:xfrm flipV="1">
            <a:off x="1640520" y="2411280"/>
            <a:ext cx="0" cy="3132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/>
          <p:nvPr/>
        </p:nvSpPr>
        <p:spPr>
          <a:xfrm flipV="1">
            <a:off x="2089440" y="2411280"/>
            <a:ext cx="0" cy="3132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/>
          <p:nvPr/>
        </p:nvSpPr>
        <p:spPr>
          <a:xfrm flipV="1">
            <a:off x="2491200" y="2411280"/>
            <a:ext cx="0" cy="3132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/>
          <p:nvPr/>
        </p:nvSpPr>
        <p:spPr>
          <a:xfrm flipV="1">
            <a:off x="3186000" y="2411280"/>
            <a:ext cx="0" cy="3132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/>
          <p:nvPr/>
        </p:nvSpPr>
        <p:spPr>
          <a:xfrm flipV="1">
            <a:off x="3773880" y="2411280"/>
            <a:ext cx="0" cy="3132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/>
          <p:nvPr/>
        </p:nvSpPr>
        <p:spPr>
          <a:xfrm flipV="1">
            <a:off x="4282920" y="2411280"/>
            <a:ext cx="0" cy="3132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704160" y="755280"/>
            <a:ext cx="57960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Survey effort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1577160" y="245556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0.8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2026080" y="245556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0.9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2427840" y="245556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1.0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3122640" y="245556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1.2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3710520" y="245556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1.4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4219560" y="245556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1.6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/>
          <p:nvPr/>
        </p:nvSpPr>
        <p:spPr>
          <a:xfrm>
            <a:off x="3411720" y="1613880"/>
            <a:ext cx="1117440" cy="770760"/>
          </a:xfrm>
          <a:custGeom>
            <a:avLst/>
            <a:gdLst/>
            <a:ahLst/>
            <a:rect l="0" t="0" r="r" b="b"/>
            <a:pathLst>
              <a:path w="3104" h="2141">
                <a:moveTo>
                  <a:pt x="0" y="0"/>
                </a:moveTo>
                <a:lnTo>
                  <a:pt x="3104" y="0"/>
                </a:lnTo>
                <a:lnTo>
                  <a:pt x="3104" y="2141"/>
                </a:lnTo>
                <a:lnTo>
                  <a:pt x="0" y="214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1947600" y="2601360"/>
            <a:ext cx="175824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0" u="none" strike="noStrike">
                <a:solidFill>
                  <a:srgbClr val="0D0D0D"/>
                </a:solidFill>
                <a:effectLst/>
                <a:uFillTx/>
                <a:latin typeface="Arial"/>
                <a:ea typeface="Arial"/>
              </a:rPr>
              <a:t>Hazard ratio per 1 SD (95% CI)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3475440" y="1690200"/>
            <a:ext cx="96588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Minimum suitable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/>
          <p:nvPr/>
        </p:nvSpPr>
        <p:spPr>
          <a:xfrm>
            <a:off x="3475080" y="1978200"/>
            <a:ext cx="114120" cy="114480"/>
          </a:xfrm>
          <a:custGeom>
            <a:avLst/>
            <a:gdLst/>
            <a:ahLst/>
            <a:rect l="0" t="0" r="r" b="b"/>
            <a:pathLst>
              <a:path w="317" h="318">
                <a:moveTo>
                  <a:pt x="0" y="0"/>
                </a:moveTo>
                <a:lnTo>
                  <a:pt x="317" y="0"/>
                </a:lnTo>
                <a:lnTo>
                  <a:pt x="317" y="318"/>
                </a:lnTo>
                <a:lnTo>
                  <a:pt x="0" y="3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/>
          <p:nvPr/>
        </p:nvSpPr>
        <p:spPr>
          <a:xfrm>
            <a:off x="3486600" y="2035440"/>
            <a:ext cx="91080" cy="0"/>
          </a:xfrm>
          <a:prstGeom prst="line">
            <a:avLst/>
          </a:prstGeom>
          <a:ln w="14760">
            <a:solidFill>
              <a:srgbClr val="007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-7200" rIns="7200" bIns="-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/>
          <p:nvPr/>
        </p:nvSpPr>
        <p:spPr>
          <a:xfrm>
            <a:off x="3502080" y="2005560"/>
            <a:ext cx="60120" cy="60120"/>
          </a:xfrm>
          <a:custGeom>
            <a:avLst/>
            <a:gdLst/>
            <a:ahLst/>
            <a:rect l="0" t="0" r="r" b="b"/>
            <a:pathLst>
              <a:path w="167" h="167">
                <a:moveTo>
                  <a:pt x="0" y="83"/>
                </a:moveTo>
                <a:cubicBezTo>
                  <a:pt x="0" y="-28"/>
                  <a:pt x="167" y="-28"/>
                  <a:pt x="167" y="83"/>
                </a:cubicBezTo>
                <a:cubicBezTo>
                  <a:pt x="167" y="194"/>
                  <a:pt x="0" y="194"/>
                  <a:pt x="0" y="83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/>
          <p:nvPr/>
        </p:nvSpPr>
        <p:spPr>
          <a:xfrm>
            <a:off x="3502080" y="2005560"/>
            <a:ext cx="60120" cy="60120"/>
          </a:xfrm>
          <a:custGeom>
            <a:avLst/>
            <a:gdLst/>
            <a:ahLst/>
            <a:rect l="0" t="0" r="r" b="b"/>
            <a:pathLst>
              <a:path fill="none" w="167" h="167">
                <a:moveTo>
                  <a:pt x="167" y="83"/>
                </a:moveTo>
                <a:cubicBezTo>
                  <a:pt x="167" y="194"/>
                  <a:pt x="0" y="194"/>
                  <a:pt x="0" y="83"/>
                </a:cubicBezTo>
                <a:cubicBezTo>
                  <a:pt x="0" y="-28"/>
                  <a:pt x="167" y="-28"/>
                  <a:pt x="167" y="83"/>
                </a:cubicBezTo>
              </a:path>
            </a:pathLst>
          </a:custGeom>
          <a:ln cap="rnd" w="7920">
            <a:solidFill>
              <a:srgbClr val="0072B2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/>
          <p:nvPr/>
        </p:nvSpPr>
        <p:spPr>
          <a:xfrm>
            <a:off x="3475080" y="2092320"/>
            <a:ext cx="114120" cy="114840"/>
          </a:xfrm>
          <a:custGeom>
            <a:avLst/>
            <a:gdLst/>
            <a:ahLst/>
            <a:rect l="0" t="0" r="r" b="b"/>
            <a:pathLst>
              <a:path w="317" h="319">
                <a:moveTo>
                  <a:pt x="0" y="0"/>
                </a:moveTo>
                <a:lnTo>
                  <a:pt x="317" y="0"/>
                </a:lnTo>
                <a:lnTo>
                  <a:pt x="317" y="319"/>
                </a:lnTo>
                <a:lnTo>
                  <a:pt x="0" y="31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/>
          <p:nvPr/>
        </p:nvSpPr>
        <p:spPr>
          <a:xfrm>
            <a:off x="3486600" y="2149560"/>
            <a:ext cx="91080" cy="0"/>
          </a:xfrm>
          <a:prstGeom prst="line">
            <a:avLst/>
          </a:prstGeom>
          <a:ln w="14760">
            <a:solidFill>
              <a:srgbClr val="E69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-7200" rIns="7200" bIns="-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/>
          <p:nvPr/>
        </p:nvSpPr>
        <p:spPr>
          <a:xfrm>
            <a:off x="3502080" y="2119680"/>
            <a:ext cx="60120" cy="60120"/>
          </a:xfrm>
          <a:custGeom>
            <a:avLst/>
            <a:gdLst/>
            <a:ahLst/>
            <a:rect l="0" t="0" r="r" b="b"/>
            <a:pathLst>
              <a:path w="167" h="167">
                <a:moveTo>
                  <a:pt x="0" y="83"/>
                </a:moveTo>
                <a:cubicBezTo>
                  <a:pt x="0" y="-27"/>
                  <a:pt x="167" y="-27"/>
                  <a:pt x="167" y="83"/>
                </a:cubicBezTo>
                <a:cubicBezTo>
                  <a:pt x="167" y="195"/>
                  <a:pt x="0" y="195"/>
                  <a:pt x="0" y="83"/>
                </a:cubicBezTo>
                <a:close/>
              </a:path>
            </a:pathLst>
          </a:custGeom>
          <a:solidFill>
            <a:srgbClr val="E69F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/>
          <p:nvPr/>
        </p:nvSpPr>
        <p:spPr>
          <a:xfrm>
            <a:off x="3502080" y="2119680"/>
            <a:ext cx="60120" cy="60120"/>
          </a:xfrm>
          <a:custGeom>
            <a:avLst/>
            <a:gdLst/>
            <a:ahLst/>
            <a:rect l="0" t="0" r="r" b="b"/>
            <a:pathLst>
              <a:path fill="none" w="167" h="167">
                <a:moveTo>
                  <a:pt x="167" y="83"/>
                </a:moveTo>
                <a:cubicBezTo>
                  <a:pt x="167" y="195"/>
                  <a:pt x="0" y="195"/>
                  <a:pt x="0" y="83"/>
                </a:cubicBezTo>
                <a:cubicBezTo>
                  <a:pt x="0" y="-27"/>
                  <a:pt x="167" y="-27"/>
                  <a:pt x="167" y="83"/>
                </a:cubicBezTo>
              </a:path>
            </a:pathLst>
          </a:custGeom>
          <a:ln cap="rnd" w="7920">
            <a:solidFill>
              <a:srgbClr val="E69F00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/>
          <p:nvPr/>
        </p:nvSpPr>
        <p:spPr>
          <a:xfrm>
            <a:off x="3475080" y="2206800"/>
            <a:ext cx="114120" cy="114480"/>
          </a:xfrm>
          <a:custGeom>
            <a:avLst/>
            <a:gdLst/>
            <a:ahLst/>
            <a:rect l="0" t="0" r="r" b="b"/>
            <a:pathLst>
              <a:path w="317" h="318">
                <a:moveTo>
                  <a:pt x="0" y="0"/>
                </a:moveTo>
                <a:lnTo>
                  <a:pt x="317" y="0"/>
                </a:lnTo>
                <a:lnTo>
                  <a:pt x="317" y="318"/>
                </a:lnTo>
                <a:lnTo>
                  <a:pt x="0" y="3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/>
          <p:nvPr/>
        </p:nvSpPr>
        <p:spPr>
          <a:xfrm>
            <a:off x="3486600" y="2264040"/>
            <a:ext cx="91080" cy="0"/>
          </a:xfrm>
          <a:prstGeom prst="line">
            <a:avLst/>
          </a:prstGeom>
          <a:ln w="14760">
            <a:solidFill>
              <a:srgbClr val="009E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-7200" rIns="7200" bIns="-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/>
          <p:nvPr/>
        </p:nvSpPr>
        <p:spPr>
          <a:xfrm>
            <a:off x="3502080" y="2234160"/>
            <a:ext cx="60120" cy="60120"/>
          </a:xfrm>
          <a:custGeom>
            <a:avLst/>
            <a:gdLst/>
            <a:ahLst/>
            <a:rect l="0" t="0" r="r" b="b"/>
            <a:pathLst>
              <a:path w="167" h="167">
                <a:moveTo>
                  <a:pt x="0" y="84"/>
                </a:moveTo>
                <a:cubicBezTo>
                  <a:pt x="0" y="-28"/>
                  <a:pt x="167" y="-28"/>
                  <a:pt x="167" y="84"/>
                </a:cubicBezTo>
                <a:cubicBezTo>
                  <a:pt x="167" y="195"/>
                  <a:pt x="0" y="195"/>
                  <a:pt x="0" y="84"/>
                </a:cubicBezTo>
                <a:close/>
              </a:path>
            </a:pathLst>
          </a:custGeom>
          <a:solidFill>
            <a:srgbClr val="009E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/>
          <p:nvPr/>
        </p:nvSpPr>
        <p:spPr>
          <a:xfrm>
            <a:off x="3502080" y="2234160"/>
            <a:ext cx="60120" cy="60120"/>
          </a:xfrm>
          <a:custGeom>
            <a:avLst/>
            <a:gdLst/>
            <a:ahLst/>
            <a:rect l="0" t="0" r="r" b="b"/>
            <a:pathLst>
              <a:path fill="none" w="167" h="167">
                <a:moveTo>
                  <a:pt x="167" y="84"/>
                </a:moveTo>
                <a:cubicBezTo>
                  <a:pt x="167" y="195"/>
                  <a:pt x="0" y="195"/>
                  <a:pt x="0" y="84"/>
                </a:cubicBezTo>
                <a:cubicBezTo>
                  <a:pt x="0" y="-28"/>
                  <a:pt x="167" y="-28"/>
                  <a:pt x="167" y="84"/>
                </a:cubicBezTo>
              </a:path>
            </a:pathLst>
          </a:custGeom>
          <a:ln cap="rnd" w="7920">
            <a:solidFill>
              <a:srgbClr val="009E73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3475440" y="1813680"/>
            <a:ext cx="97272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cells per province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3652560" y="1991160"/>
            <a:ext cx="38844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50 cells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3652560" y="2105280"/>
            <a:ext cx="45180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100 cells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3652560" y="2219760"/>
            <a:ext cx="45180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200 cells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1307160" y="335880"/>
            <a:ext cx="244008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Discrete-time proportional hazards, cloglog link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1307160" y="145440"/>
            <a:ext cx="269928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Effort and warming contribute independently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/>
          <p:nvPr/>
        </p:nvSpPr>
        <p:spPr>
          <a:xfrm>
            <a:off x="4961520" y="538560"/>
            <a:ext cx="3097440" cy="1872720"/>
          </a:xfrm>
          <a:custGeom>
            <a:avLst/>
            <a:gdLst/>
            <a:ahLst/>
            <a:rect l="0" t="0" r="r" b="b"/>
            <a:pathLst>
              <a:path w="8604" h="5202">
                <a:moveTo>
                  <a:pt x="0" y="0"/>
                </a:moveTo>
                <a:lnTo>
                  <a:pt x="8604" y="0"/>
                </a:lnTo>
                <a:lnTo>
                  <a:pt x="8604" y="5202"/>
                </a:lnTo>
                <a:lnTo>
                  <a:pt x="0" y="520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/>
          <p:nvPr/>
        </p:nvSpPr>
        <p:spPr>
          <a:xfrm>
            <a:off x="4961520" y="2406960"/>
            <a:ext cx="309708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/>
          <p:nvPr/>
        </p:nvSpPr>
        <p:spPr>
          <a:xfrm>
            <a:off x="4961520" y="1881360"/>
            <a:ext cx="309708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/>
          <p:nvPr/>
        </p:nvSpPr>
        <p:spPr>
          <a:xfrm>
            <a:off x="4961520" y="1355760"/>
            <a:ext cx="309708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/>
          <p:nvPr/>
        </p:nvSpPr>
        <p:spPr>
          <a:xfrm>
            <a:off x="4961520" y="830520"/>
            <a:ext cx="309708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/>
          <p:nvPr/>
        </p:nvSpPr>
        <p:spPr>
          <a:xfrm>
            <a:off x="5102280" y="660960"/>
            <a:ext cx="2815920" cy="1665360"/>
          </a:xfrm>
          <a:custGeom>
            <a:avLst/>
            <a:gdLst/>
            <a:ahLst/>
            <a:rect l="0" t="0" r="r" b="b"/>
            <a:pathLst>
              <a:path w="7822" h="4626">
                <a:moveTo>
                  <a:pt x="0" y="4204"/>
                </a:moveTo>
                <a:lnTo>
                  <a:pt x="133" y="4189"/>
                </a:lnTo>
                <a:lnTo>
                  <a:pt x="266" y="4173"/>
                </a:lnTo>
                <a:lnTo>
                  <a:pt x="398" y="4156"/>
                </a:lnTo>
                <a:lnTo>
                  <a:pt x="531" y="4139"/>
                </a:lnTo>
                <a:lnTo>
                  <a:pt x="663" y="4122"/>
                </a:lnTo>
                <a:lnTo>
                  <a:pt x="796" y="4104"/>
                </a:lnTo>
                <a:lnTo>
                  <a:pt x="928" y="4085"/>
                </a:lnTo>
                <a:lnTo>
                  <a:pt x="1061" y="4066"/>
                </a:lnTo>
                <a:lnTo>
                  <a:pt x="1193" y="4046"/>
                </a:lnTo>
                <a:lnTo>
                  <a:pt x="1326" y="4026"/>
                </a:lnTo>
                <a:lnTo>
                  <a:pt x="1459" y="4005"/>
                </a:lnTo>
                <a:lnTo>
                  <a:pt x="1591" y="3983"/>
                </a:lnTo>
                <a:lnTo>
                  <a:pt x="1724" y="3961"/>
                </a:lnTo>
                <a:lnTo>
                  <a:pt x="1856" y="3937"/>
                </a:lnTo>
                <a:lnTo>
                  <a:pt x="1989" y="3913"/>
                </a:lnTo>
                <a:lnTo>
                  <a:pt x="2121" y="3888"/>
                </a:lnTo>
                <a:lnTo>
                  <a:pt x="2254" y="3863"/>
                </a:lnTo>
                <a:lnTo>
                  <a:pt x="2386" y="3836"/>
                </a:lnTo>
                <a:lnTo>
                  <a:pt x="2519" y="3808"/>
                </a:lnTo>
                <a:lnTo>
                  <a:pt x="2652" y="3779"/>
                </a:lnTo>
                <a:lnTo>
                  <a:pt x="2784" y="3749"/>
                </a:lnTo>
                <a:lnTo>
                  <a:pt x="2917" y="3717"/>
                </a:lnTo>
                <a:lnTo>
                  <a:pt x="3049" y="3684"/>
                </a:lnTo>
                <a:lnTo>
                  <a:pt x="3182" y="3650"/>
                </a:lnTo>
                <a:lnTo>
                  <a:pt x="3314" y="3614"/>
                </a:lnTo>
                <a:lnTo>
                  <a:pt x="3447" y="3576"/>
                </a:lnTo>
                <a:lnTo>
                  <a:pt x="3579" y="3536"/>
                </a:lnTo>
                <a:lnTo>
                  <a:pt x="3712" y="3494"/>
                </a:lnTo>
                <a:lnTo>
                  <a:pt x="3844" y="3450"/>
                </a:lnTo>
                <a:lnTo>
                  <a:pt x="3977" y="3404"/>
                </a:lnTo>
                <a:lnTo>
                  <a:pt x="4110" y="3355"/>
                </a:lnTo>
                <a:lnTo>
                  <a:pt x="4242" y="3303"/>
                </a:lnTo>
                <a:lnTo>
                  <a:pt x="4375" y="3248"/>
                </a:lnTo>
                <a:lnTo>
                  <a:pt x="4507" y="3190"/>
                </a:lnTo>
                <a:lnTo>
                  <a:pt x="4640" y="3129"/>
                </a:lnTo>
                <a:lnTo>
                  <a:pt x="4772" y="3064"/>
                </a:lnTo>
                <a:lnTo>
                  <a:pt x="4905" y="2995"/>
                </a:lnTo>
                <a:lnTo>
                  <a:pt x="5037" y="2922"/>
                </a:lnTo>
                <a:lnTo>
                  <a:pt x="5170" y="2845"/>
                </a:lnTo>
                <a:lnTo>
                  <a:pt x="5303" y="2763"/>
                </a:lnTo>
                <a:lnTo>
                  <a:pt x="5436" y="2677"/>
                </a:lnTo>
                <a:lnTo>
                  <a:pt x="5569" y="2586"/>
                </a:lnTo>
                <a:lnTo>
                  <a:pt x="5701" y="2489"/>
                </a:lnTo>
                <a:lnTo>
                  <a:pt x="5834" y="2387"/>
                </a:lnTo>
                <a:lnTo>
                  <a:pt x="5966" y="2280"/>
                </a:lnTo>
                <a:lnTo>
                  <a:pt x="6099" y="2166"/>
                </a:lnTo>
                <a:lnTo>
                  <a:pt x="6231" y="2046"/>
                </a:lnTo>
                <a:lnTo>
                  <a:pt x="6364" y="1920"/>
                </a:lnTo>
                <a:lnTo>
                  <a:pt x="6497" y="1787"/>
                </a:lnTo>
                <a:lnTo>
                  <a:pt x="6629" y="1647"/>
                </a:lnTo>
                <a:lnTo>
                  <a:pt x="6762" y="1499"/>
                </a:lnTo>
                <a:lnTo>
                  <a:pt x="6894" y="1343"/>
                </a:lnTo>
                <a:lnTo>
                  <a:pt x="7027" y="1179"/>
                </a:lnTo>
                <a:lnTo>
                  <a:pt x="7159" y="1007"/>
                </a:lnTo>
                <a:lnTo>
                  <a:pt x="7292" y="825"/>
                </a:lnTo>
                <a:lnTo>
                  <a:pt x="7424" y="635"/>
                </a:lnTo>
                <a:lnTo>
                  <a:pt x="7557" y="433"/>
                </a:lnTo>
                <a:lnTo>
                  <a:pt x="7689" y="222"/>
                </a:lnTo>
                <a:lnTo>
                  <a:pt x="7822" y="0"/>
                </a:lnTo>
                <a:lnTo>
                  <a:pt x="7822" y="2761"/>
                </a:lnTo>
                <a:lnTo>
                  <a:pt x="7689" y="2813"/>
                </a:lnTo>
                <a:lnTo>
                  <a:pt x="7557" y="2864"/>
                </a:lnTo>
                <a:lnTo>
                  <a:pt x="7424" y="2913"/>
                </a:lnTo>
                <a:lnTo>
                  <a:pt x="7292" y="2962"/>
                </a:lnTo>
                <a:lnTo>
                  <a:pt x="7159" y="3010"/>
                </a:lnTo>
                <a:lnTo>
                  <a:pt x="7027" y="3057"/>
                </a:lnTo>
                <a:lnTo>
                  <a:pt x="6894" y="3104"/>
                </a:lnTo>
                <a:lnTo>
                  <a:pt x="6762" y="3150"/>
                </a:lnTo>
                <a:lnTo>
                  <a:pt x="6629" y="3195"/>
                </a:lnTo>
                <a:lnTo>
                  <a:pt x="6497" y="3239"/>
                </a:lnTo>
                <a:lnTo>
                  <a:pt x="6364" y="3283"/>
                </a:lnTo>
                <a:lnTo>
                  <a:pt x="6231" y="3326"/>
                </a:lnTo>
                <a:lnTo>
                  <a:pt x="6099" y="3368"/>
                </a:lnTo>
                <a:lnTo>
                  <a:pt x="5966" y="3410"/>
                </a:lnTo>
                <a:lnTo>
                  <a:pt x="5834" y="3451"/>
                </a:lnTo>
                <a:lnTo>
                  <a:pt x="5701" y="3492"/>
                </a:lnTo>
                <a:lnTo>
                  <a:pt x="5569" y="3533"/>
                </a:lnTo>
                <a:lnTo>
                  <a:pt x="5436" y="3573"/>
                </a:lnTo>
                <a:lnTo>
                  <a:pt x="5303" y="3612"/>
                </a:lnTo>
                <a:lnTo>
                  <a:pt x="5170" y="3652"/>
                </a:lnTo>
                <a:lnTo>
                  <a:pt x="5037" y="3690"/>
                </a:lnTo>
                <a:lnTo>
                  <a:pt x="4905" y="3728"/>
                </a:lnTo>
                <a:lnTo>
                  <a:pt x="4772" y="3766"/>
                </a:lnTo>
                <a:lnTo>
                  <a:pt x="4640" y="3803"/>
                </a:lnTo>
                <a:lnTo>
                  <a:pt x="4507" y="3840"/>
                </a:lnTo>
                <a:lnTo>
                  <a:pt x="4375" y="3876"/>
                </a:lnTo>
                <a:lnTo>
                  <a:pt x="4242" y="3912"/>
                </a:lnTo>
                <a:lnTo>
                  <a:pt x="4110" y="3947"/>
                </a:lnTo>
                <a:lnTo>
                  <a:pt x="3977" y="3981"/>
                </a:lnTo>
                <a:lnTo>
                  <a:pt x="3844" y="4015"/>
                </a:lnTo>
                <a:lnTo>
                  <a:pt x="3712" y="4047"/>
                </a:lnTo>
                <a:lnTo>
                  <a:pt x="3579" y="4079"/>
                </a:lnTo>
                <a:lnTo>
                  <a:pt x="3447" y="4110"/>
                </a:lnTo>
                <a:lnTo>
                  <a:pt x="3314" y="4141"/>
                </a:lnTo>
                <a:lnTo>
                  <a:pt x="3182" y="4170"/>
                </a:lnTo>
                <a:lnTo>
                  <a:pt x="3049" y="4199"/>
                </a:lnTo>
                <a:lnTo>
                  <a:pt x="2917" y="4226"/>
                </a:lnTo>
                <a:lnTo>
                  <a:pt x="2784" y="4253"/>
                </a:lnTo>
                <a:lnTo>
                  <a:pt x="2652" y="4279"/>
                </a:lnTo>
                <a:lnTo>
                  <a:pt x="2519" y="4304"/>
                </a:lnTo>
                <a:lnTo>
                  <a:pt x="2386" y="4328"/>
                </a:lnTo>
                <a:lnTo>
                  <a:pt x="2254" y="4351"/>
                </a:lnTo>
                <a:lnTo>
                  <a:pt x="2121" y="4373"/>
                </a:lnTo>
                <a:lnTo>
                  <a:pt x="1989" y="4395"/>
                </a:lnTo>
                <a:lnTo>
                  <a:pt x="1856" y="4415"/>
                </a:lnTo>
                <a:lnTo>
                  <a:pt x="1724" y="4435"/>
                </a:lnTo>
                <a:lnTo>
                  <a:pt x="1591" y="4454"/>
                </a:lnTo>
                <a:lnTo>
                  <a:pt x="1459" y="4472"/>
                </a:lnTo>
                <a:lnTo>
                  <a:pt x="1326" y="4489"/>
                </a:lnTo>
                <a:lnTo>
                  <a:pt x="1193" y="4506"/>
                </a:lnTo>
                <a:lnTo>
                  <a:pt x="1061" y="4522"/>
                </a:lnTo>
                <a:lnTo>
                  <a:pt x="928" y="4537"/>
                </a:lnTo>
                <a:lnTo>
                  <a:pt x="796" y="4551"/>
                </a:lnTo>
                <a:lnTo>
                  <a:pt x="663" y="4565"/>
                </a:lnTo>
                <a:lnTo>
                  <a:pt x="531" y="4579"/>
                </a:lnTo>
                <a:lnTo>
                  <a:pt x="398" y="4591"/>
                </a:lnTo>
                <a:lnTo>
                  <a:pt x="266" y="4604"/>
                </a:lnTo>
                <a:lnTo>
                  <a:pt x="133" y="4615"/>
                </a:lnTo>
                <a:lnTo>
                  <a:pt x="0" y="4626"/>
                </a:lnTo>
                <a:lnTo>
                  <a:pt x="0" y="4204"/>
                </a:lnTo>
                <a:close/>
              </a:path>
            </a:pathLst>
          </a:custGeom>
          <a:solidFill>
            <a:srgbClr val="56B4E9">
              <a:alpha val="1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/>
          <p:nvPr/>
        </p:nvSpPr>
        <p:spPr>
          <a:xfrm>
            <a:off x="5102280" y="859320"/>
            <a:ext cx="2815920" cy="1310040"/>
          </a:xfrm>
          <a:custGeom>
            <a:avLst/>
            <a:gdLst/>
            <a:ahLst/>
            <a:rect l="0" t="0" r="r" b="b"/>
            <a:pathLst>
              <a:path w="7822" h="3639">
                <a:moveTo>
                  <a:pt x="0" y="3047"/>
                </a:moveTo>
                <a:lnTo>
                  <a:pt x="133" y="3028"/>
                </a:lnTo>
                <a:lnTo>
                  <a:pt x="266" y="3008"/>
                </a:lnTo>
                <a:lnTo>
                  <a:pt x="398" y="2988"/>
                </a:lnTo>
                <a:lnTo>
                  <a:pt x="531" y="2967"/>
                </a:lnTo>
                <a:lnTo>
                  <a:pt x="663" y="2946"/>
                </a:lnTo>
                <a:lnTo>
                  <a:pt x="796" y="2925"/>
                </a:lnTo>
                <a:lnTo>
                  <a:pt x="928" y="2903"/>
                </a:lnTo>
                <a:lnTo>
                  <a:pt x="1061" y="2881"/>
                </a:lnTo>
                <a:lnTo>
                  <a:pt x="1193" y="2858"/>
                </a:lnTo>
                <a:lnTo>
                  <a:pt x="1326" y="2834"/>
                </a:lnTo>
                <a:lnTo>
                  <a:pt x="1459" y="2810"/>
                </a:lnTo>
                <a:lnTo>
                  <a:pt x="1591" y="2786"/>
                </a:lnTo>
                <a:lnTo>
                  <a:pt x="1724" y="2761"/>
                </a:lnTo>
                <a:lnTo>
                  <a:pt x="1856" y="2735"/>
                </a:lnTo>
                <a:lnTo>
                  <a:pt x="1989" y="2708"/>
                </a:lnTo>
                <a:lnTo>
                  <a:pt x="2121" y="2681"/>
                </a:lnTo>
                <a:lnTo>
                  <a:pt x="2254" y="2653"/>
                </a:lnTo>
                <a:lnTo>
                  <a:pt x="2386" y="2624"/>
                </a:lnTo>
                <a:lnTo>
                  <a:pt x="2519" y="2594"/>
                </a:lnTo>
                <a:lnTo>
                  <a:pt x="2652" y="2564"/>
                </a:lnTo>
                <a:lnTo>
                  <a:pt x="2784" y="2532"/>
                </a:lnTo>
                <a:lnTo>
                  <a:pt x="2917" y="2500"/>
                </a:lnTo>
                <a:lnTo>
                  <a:pt x="3049" y="2466"/>
                </a:lnTo>
                <a:lnTo>
                  <a:pt x="3182" y="2431"/>
                </a:lnTo>
                <a:lnTo>
                  <a:pt x="3314" y="2396"/>
                </a:lnTo>
                <a:lnTo>
                  <a:pt x="3447" y="2358"/>
                </a:lnTo>
                <a:lnTo>
                  <a:pt x="3579" y="2320"/>
                </a:lnTo>
                <a:lnTo>
                  <a:pt x="3712" y="2280"/>
                </a:lnTo>
                <a:lnTo>
                  <a:pt x="3844" y="2239"/>
                </a:lnTo>
                <a:lnTo>
                  <a:pt x="3977" y="2196"/>
                </a:lnTo>
                <a:lnTo>
                  <a:pt x="4110" y="2152"/>
                </a:lnTo>
                <a:lnTo>
                  <a:pt x="4242" y="2106"/>
                </a:lnTo>
                <a:lnTo>
                  <a:pt x="4375" y="2059"/>
                </a:lnTo>
                <a:lnTo>
                  <a:pt x="4507" y="2009"/>
                </a:lnTo>
                <a:lnTo>
                  <a:pt x="4640" y="1958"/>
                </a:lnTo>
                <a:lnTo>
                  <a:pt x="4772" y="1905"/>
                </a:lnTo>
                <a:lnTo>
                  <a:pt x="4905" y="1850"/>
                </a:lnTo>
                <a:lnTo>
                  <a:pt x="5037" y="1792"/>
                </a:lnTo>
                <a:lnTo>
                  <a:pt x="5170" y="1733"/>
                </a:lnTo>
                <a:lnTo>
                  <a:pt x="5303" y="1672"/>
                </a:lnTo>
                <a:lnTo>
                  <a:pt x="5436" y="1608"/>
                </a:lnTo>
                <a:lnTo>
                  <a:pt x="5569" y="1542"/>
                </a:lnTo>
                <a:lnTo>
                  <a:pt x="5701" y="1473"/>
                </a:lnTo>
                <a:lnTo>
                  <a:pt x="5834" y="1402"/>
                </a:lnTo>
                <a:lnTo>
                  <a:pt x="5966" y="1329"/>
                </a:lnTo>
                <a:lnTo>
                  <a:pt x="6099" y="1253"/>
                </a:lnTo>
                <a:lnTo>
                  <a:pt x="6231" y="1174"/>
                </a:lnTo>
                <a:lnTo>
                  <a:pt x="6364" y="1093"/>
                </a:lnTo>
                <a:lnTo>
                  <a:pt x="6497" y="1009"/>
                </a:lnTo>
                <a:lnTo>
                  <a:pt x="6629" y="922"/>
                </a:lnTo>
                <a:lnTo>
                  <a:pt x="6762" y="832"/>
                </a:lnTo>
                <a:lnTo>
                  <a:pt x="6894" y="739"/>
                </a:lnTo>
                <a:lnTo>
                  <a:pt x="7027" y="644"/>
                </a:lnTo>
                <a:lnTo>
                  <a:pt x="7159" y="545"/>
                </a:lnTo>
                <a:lnTo>
                  <a:pt x="7292" y="442"/>
                </a:lnTo>
                <a:lnTo>
                  <a:pt x="7424" y="337"/>
                </a:lnTo>
                <a:lnTo>
                  <a:pt x="7557" y="228"/>
                </a:lnTo>
                <a:lnTo>
                  <a:pt x="7689" y="116"/>
                </a:lnTo>
                <a:lnTo>
                  <a:pt x="7822" y="0"/>
                </a:lnTo>
                <a:lnTo>
                  <a:pt x="7822" y="1827"/>
                </a:lnTo>
                <a:lnTo>
                  <a:pt x="7689" y="1866"/>
                </a:lnTo>
                <a:lnTo>
                  <a:pt x="7557" y="1904"/>
                </a:lnTo>
                <a:lnTo>
                  <a:pt x="7424" y="1942"/>
                </a:lnTo>
                <a:lnTo>
                  <a:pt x="7292" y="1980"/>
                </a:lnTo>
                <a:lnTo>
                  <a:pt x="7159" y="2018"/>
                </a:lnTo>
                <a:lnTo>
                  <a:pt x="7027" y="2055"/>
                </a:lnTo>
                <a:lnTo>
                  <a:pt x="6894" y="2092"/>
                </a:lnTo>
                <a:lnTo>
                  <a:pt x="6762" y="2129"/>
                </a:lnTo>
                <a:lnTo>
                  <a:pt x="6629" y="2166"/>
                </a:lnTo>
                <a:lnTo>
                  <a:pt x="6497" y="2202"/>
                </a:lnTo>
                <a:lnTo>
                  <a:pt x="6364" y="2238"/>
                </a:lnTo>
                <a:lnTo>
                  <a:pt x="6231" y="2274"/>
                </a:lnTo>
                <a:lnTo>
                  <a:pt x="6099" y="2310"/>
                </a:lnTo>
                <a:lnTo>
                  <a:pt x="5966" y="2345"/>
                </a:lnTo>
                <a:lnTo>
                  <a:pt x="5834" y="2381"/>
                </a:lnTo>
                <a:lnTo>
                  <a:pt x="5701" y="2416"/>
                </a:lnTo>
                <a:lnTo>
                  <a:pt x="5569" y="2451"/>
                </a:lnTo>
                <a:lnTo>
                  <a:pt x="5436" y="2485"/>
                </a:lnTo>
                <a:lnTo>
                  <a:pt x="5303" y="2520"/>
                </a:lnTo>
                <a:lnTo>
                  <a:pt x="5170" y="2554"/>
                </a:lnTo>
                <a:lnTo>
                  <a:pt x="5037" y="2589"/>
                </a:lnTo>
                <a:lnTo>
                  <a:pt x="4905" y="2623"/>
                </a:lnTo>
                <a:lnTo>
                  <a:pt x="4640" y="2691"/>
                </a:lnTo>
                <a:lnTo>
                  <a:pt x="4507" y="2724"/>
                </a:lnTo>
                <a:lnTo>
                  <a:pt x="4375" y="2758"/>
                </a:lnTo>
                <a:lnTo>
                  <a:pt x="4242" y="2791"/>
                </a:lnTo>
                <a:lnTo>
                  <a:pt x="4110" y="2824"/>
                </a:lnTo>
                <a:lnTo>
                  <a:pt x="3977" y="2857"/>
                </a:lnTo>
                <a:lnTo>
                  <a:pt x="3844" y="2889"/>
                </a:lnTo>
                <a:lnTo>
                  <a:pt x="3712" y="2921"/>
                </a:lnTo>
                <a:lnTo>
                  <a:pt x="3579" y="2953"/>
                </a:lnTo>
                <a:lnTo>
                  <a:pt x="3447" y="2985"/>
                </a:lnTo>
                <a:lnTo>
                  <a:pt x="3314" y="3016"/>
                </a:lnTo>
                <a:lnTo>
                  <a:pt x="3182" y="3047"/>
                </a:lnTo>
                <a:lnTo>
                  <a:pt x="3049" y="3078"/>
                </a:lnTo>
                <a:lnTo>
                  <a:pt x="2917" y="3108"/>
                </a:lnTo>
                <a:lnTo>
                  <a:pt x="2784" y="3137"/>
                </a:lnTo>
                <a:lnTo>
                  <a:pt x="2652" y="3166"/>
                </a:lnTo>
                <a:lnTo>
                  <a:pt x="2519" y="3195"/>
                </a:lnTo>
                <a:lnTo>
                  <a:pt x="2386" y="3223"/>
                </a:lnTo>
                <a:lnTo>
                  <a:pt x="2254" y="3251"/>
                </a:lnTo>
                <a:lnTo>
                  <a:pt x="2121" y="3278"/>
                </a:lnTo>
                <a:lnTo>
                  <a:pt x="1989" y="3304"/>
                </a:lnTo>
                <a:lnTo>
                  <a:pt x="1856" y="3330"/>
                </a:lnTo>
                <a:lnTo>
                  <a:pt x="1724" y="3356"/>
                </a:lnTo>
                <a:lnTo>
                  <a:pt x="1591" y="3380"/>
                </a:lnTo>
                <a:lnTo>
                  <a:pt x="1459" y="3405"/>
                </a:lnTo>
                <a:lnTo>
                  <a:pt x="1326" y="3429"/>
                </a:lnTo>
                <a:lnTo>
                  <a:pt x="1193" y="3452"/>
                </a:lnTo>
                <a:lnTo>
                  <a:pt x="1061" y="3475"/>
                </a:lnTo>
                <a:lnTo>
                  <a:pt x="928" y="3497"/>
                </a:lnTo>
                <a:lnTo>
                  <a:pt x="796" y="3519"/>
                </a:lnTo>
                <a:lnTo>
                  <a:pt x="663" y="3540"/>
                </a:lnTo>
                <a:lnTo>
                  <a:pt x="531" y="3561"/>
                </a:lnTo>
                <a:lnTo>
                  <a:pt x="398" y="3581"/>
                </a:lnTo>
                <a:lnTo>
                  <a:pt x="266" y="3601"/>
                </a:lnTo>
                <a:lnTo>
                  <a:pt x="133" y="3620"/>
                </a:lnTo>
                <a:lnTo>
                  <a:pt x="0" y="3639"/>
                </a:lnTo>
                <a:lnTo>
                  <a:pt x="0" y="3047"/>
                </a:lnTo>
                <a:close/>
              </a:path>
            </a:pathLst>
          </a:custGeom>
          <a:solidFill>
            <a:srgbClr val="0072B2">
              <a:alpha val="1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/>
          <p:nvPr/>
        </p:nvSpPr>
        <p:spPr>
          <a:xfrm>
            <a:off x="5102280" y="623520"/>
            <a:ext cx="2815920" cy="1241280"/>
          </a:xfrm>
          <a:custGeom>
            <a:avLst/>
            <a:gdLst/>
            <a:ahLst/>
            <a:rect l="0" t="0" r="r" b="b"/>
            <a:pathLst>
              <a:path w="7822" h="3448">
                <a:moveTo>
                  <a:pt x="0" y="1233"/>
                </a:moveTo>
                <a:lnTo>
                  <a:pt x="133" y="1248"/>
                </a:lnTo>
                <a:lnTo>
                  <a:pt x="266" y="1263"/>
                </a:lnTo>
                <a:lnTo>
                  <a:pt x="398" y="1277"/>
                </a:lnTo>
                <a:lnTo>
                  <a:pt x="531" y="1291"/>
                </a:lnTo>
                <a:lnTo>
                  <a:pt x="663" y="1305"/>
                </a:lnTo>
                <a:lnTo>
                  <a:pt x="796" y="1318"/>
                </a:lnTo>
                <a:lnTo>
                  <a:pt x="928" y="1331"/>
                </a:lnTo>
                <a:lnTo>
                  <a:pt x="1061" y="1343"/>
                </a:lnTo>
                <a:lnTo>
                  <a:pt x="1193" y="1354"/>
                </a:lnTo>
                <a:lnTo>
                  <a:pt x="1326" y="1365"/>
                </a:lnTo>
                <a:lnTo>
                  <a:pt x="1459" y="1375"/>
                </a:lnTo>
                <a:lnTo>
                  <a:pt x="1591" y="1385"/>
                </a:lnTo>
                <a:lnTo>
                  <a:pt x="1724" y="1393"/>
                </a:lnTo>
                <a:lnTo>
                  <a:pt x="1856" y="1401"/>
                </a:lnTo>
                <a:lnTo>
                  <a:pt x="1989" y="1408"/>
                </a:lnTo>
                <a:lnTo>
                  <a:pt x="2121" y="1415"/>
                </a:lnTo>
                <a:lnTo>
                  <a:pt x="2254" y="1420"/>
                </a:lnTo>
                <a:lnTo>
                  <a:pt x="2386" y="1424"/>
                </a:lnTo>
                <a:lnTo>
                  <a:pt x="2519" y="1427"/>
                </a:lnTo>
                <a:lnTo>
                  <a:pt x="2652" y="1429"/>
                </a:lnTo>
                <a:lnTo>
                  <a:pt x="2784" y="1430"/>
                </a:lnTo>
                <a:lnTo>
                  <a:pt x="2917" y="1429"/>
                </a:lnTo>
                <a:lnTo>
                  <a:pt x="3049" y="1427"/>
                </a:lnTo>
                <a:lnTo>
                  <a:pt x="3182" y="1423"/>
                </a:lnTo>
                <a:lnTo>
                  <a:pt x="3314" y="1418"/>
                </a:lnTo>
                <a:lnTo>
                  <a:pt x="3447" y="1411"/>
                </a:lnTo>
                <a:lnTo>
                  <a:pt x="3579" y="1402"/>
                </a:lnTo>
                <a:lnTo>
                  <a:pt x="3712" y="1392"/>
                </a:lnTo>
                <a:lnTo>
                  <a:pt x="3844" y="1379"/>
                </a:lnTo>
                <a:lnTo>
                  <a:pt x="3977" y="1365"/>
                </a:lnTo>
                <a:lnTo>
                  <a:pt x="4110" y="1348"/>
                </a:lnTo>
                <a:lnTo>
                  <a:pt x="4242" y="1329"/>
                </a:lnTo>
                <a:lnTo>
                  <a:pt x="4375" y="1308"/>
                </a:lnTo>
                <a:lnTo>
                  <a:pt x="4507" y="1284"/>
                </a:lnTo>
                <a:lnTo>
                  <a:pt x="4640" y="1258"/>
                </a:lnTo>
                <a:lnTo>
                  <a:pt x="4772" y="1230"/>
                </a:lnTo>
                <a:lnTo>
                  <a:pt x="4905" y="1200"/>
                </a:lnTo>
                <a:lnTo>
                  <a:pt x="5037" y="1167"/>
                </a:lnTo>
                <a:lnTo>
                  <a:pt x="5170" y="1132"/>
                </a:lnTo>
                <a:lnTo>
                  <a:pt x="5303" y="1095"/>
                </a:lnTo>
                <a:lnTo>
                  <a:pt x="5436" y="1056"/>
                </a:lnTo>
                <a:lnTo>
                  <a:pt x="5569" y="1014"/>
                </a:lnTo>
                <a:lnTo>
                  <a:pt x="5701" y="970"/>
                </a:lnTo>
                <a:lnTo>
                  <a:pt x="5834" y="924"/>
                </a:lnTo>
                <a:lnTo>
                  <a:pt x="5966" y="876"/>
                </a:lnTo>
                <a:lnTo>
                  <a:pt x="6099" y="826"/>
                </a:lnTo>
                <a:lnTo>
                  <a:pt x="6231" y="774"/>
                </a:lnTo>
                <a:lnTo>
                  <a:pt x="6364" y="720"/>
                </a:lnTo>
                <a:lnTo>
                  <a:pt x="6497" y="664"/>
                </a:lnTo>
                <a:lnTo>
                  <a:pt x="6629" y="606"/>
                </a:lnTo>
                <a:lnTo>
                  <a:pt x="6762" y="546"/>
                </a:lnTo>
                <a:lnTo>
                  <a:pt x="6894" y="484"/>
                </a:lnTo>
                <a:lnTo>
                  <a:pt x="7027" y="420"/>
                </a:lnTo>
                <a:lnTo>
                  <a:pt x="7159" y="355"/>
                </a:lnTo>
                <a:lnTo>
                  <a:pt x="7292" y="288"/>
                </a:lnTo>
                <a:lnTo>
                  <a:pt x="7424" y="219"/>
                </a:lnTo>
                <a:lnTo>
                  <a:pt x="7557" y="148"/>
                </a:lnTo>
                <a:lnTo>
                  <a:pt x="7689" y="75"/>
                </a:lnTo>
                <a:lnTo>
                  <a:pt x="7822" y="0"/>
                </a:lnTo>
                <a:lnTo>
                  <a:pt x="7822" y="2694"/>
                </a:lnTo>
                <a:lnTo>
                  <a:pt x="7689" y="2686"/>
                </a:lnTo>
                <a:lnTo>
                  <a:pt x="7557" y="2678"/>
                </a:lnTo>
                <a:lnTo>
                  <a:pt x="7424" y="2671"/>
                </a:lnTo>
                <a:lnTo>
                  <a:pt x="7292" y="2664"/>
                </a:lnTo>
                <a:lnTo>
                  <a:pt x="7159" y="2658"/>
                </a:lnTo>
                <a:lnTo>
                  <a:pt x="7027" y="2652"/>
                </a:lnTo>
                <a:lnTo>
                  <a:pt x="6894" y="2646"/>
                </a:lnTo>
                <a:lnTo>
                  <a:pt x="6762" y="2641"/>
                </a:lnTo>
                <a:lnTo>
                  <a:pt x="6629" y="2637"/>
                </a:lnTo>
                <a:lnTo>
                  <a:pt x="6497" y="2633"/>
                </a:lnTo>
                <a:lnTo>
                  <a:pt x="6364" y="2629"/>
                </a:lnTo>
                <a:lnTo>
                  <a:pt x="6231" y="2626"/>
                </a:lnTo>
                <a:lnTo>
                  <a:pt x="6099" y="2625"/>
                </a:lnTo>
                <a:lnTo>
                  <a:pt x="5966" y="2623"/>
                </a:lnTo>
                <a:lnTo>
                  <a:pt x="5834" y="2623"/>
                </a:lnTo>
                <a:lnTo>
                  <a:pt x="5701" y="2624"/>
                </a:lnTo>
                <a:lnTo>
                  <a:pt x="5569" y="2625"/>
                </a:lnTo>
                <a:lnTo>
                  <a:pt x="5436" y="2628"/>
                </a:lnTo>
                <a:lnTo>
                  <a:pt x="5303" y="2631"/>
                </a:lnTo>
                <a:lnTo>
                  <a:pt x="5170" y="2636"/>
                </a:lnTo>
                <a:lnTo>
                  <a:pt x="5037" y="2642"/>
                </a:lnTo>
                <a:lnTo>
                  <a:pt x="4905" y="2649"/>
                </a:lnTo>
                <a:lnTo>
                  <a:pt x="4772" y="2657"/>
                </a:lnTo>
                <a:lnTo>
                  <a:pt x="4640" y="2667"/>
                </a:lnTo>
                <a:lnTo>
                  <a:pt x="4507" y="2677"/>
                </a:lnTo>
                <a:lnTo>
                  <a:pt x="4375" y="2689"/>
                </a:lnTo>
                <a:lnTo>
                  <a:pt x="4242" y="2703"/>
                </a:lnTo>
                <a:lnTo>
                  <a:pt x="4110" y="2717"/>
                </a:lnTo>
                <a:lnTo>
                  <a:pt x="3977" y="2733"/>
                </a:lnTo>
                <a:lnTo>
                  <a:pt x="3844" y="2750"/>
                </a:lnTo>
                <a:lnTo>
                  <a:pt x="3712" y="2768"/>
                </a:lnTo>
                <a:lnTo>
                  <a:pt x="3579" y="2787"/>
                </a:lnTo>
                <a:lnTo>
                  <a:pt x="3447" y="2807"/>
                </a:lnTo>
                <a:lnTo>
                  <a:pt x="3314" y="2828"/>
                </a:lnTo>
                <a:lnTo>
                  <a:pt x="3182" y="2849"/>
                </a:lnTo>
                <a:lnTo>
                  <a:pt x="3049" y="2872"/>
                </a:lnTo>
                <a:lnTo>
                  <a:pt x="2917" y="2895"/>
                </a:lnTo>
                <a:lnTo>
                  <a:pt x="2784" y="2918"/>
                </a:lnTo>
                <a:lnTo>
                  <a:pt x="2652" y="2943"/>
                </a:lnTo>
                <a:lnTo>
                  <a:pt x="2519" y="2967"/>
                </a:lnTo>
                <a:lnTo>
                  <a:pt x="2386" y="2992"/>
                </a:lnTo>
                <a:lnTo>
                  <a:pt x="2254" y="3017"/>
                </a:lnTo>
                <a:lnTo>
                  <a:pt x="2121" y="3043"/>
                </a:lnTo>
                <a:lnTo>
                  <a:pt x="1989" y="3068"/>
                </a:lnTo>
                <a:lnTo>
                  <a:pt x="1724" y="3120"/>
                </a:lnTo>
                <a:lnTo>
                  <a:pt x="1591" y="3146"/>
                </a:lnTo>
                <a:lnTo>
                  <a:pt x="1193" y="3223"/>
                </a:lnTo>
                <a:lnTo>
                  <a:pt x="1061" y="3249"/>
                </a:lnTo>
                <a:lnTo>
                  <a:pt x="928" y="3274"/>
                </a:lnTo>
                <a:lnTo>
                  <a:pt x="796" y="3299"/>
                </a:lnTo>
                <a:lnTo>
                  <a:pt x="531" y="3350"/>
                </a:lnTo>
                <a:lnTo>
                  <a:pt x="266" y="3399"/>
                </a:lnTo>
                <a:lnTo>
                  <a:pt x="133" y="3423"/>
                </a:lnTo>
                <a:lnTo>
                  <a:pt x="0" y="3448"/>
                </a:lnTo>
                <a:lnTo>
                  <a:pt x="0" y="1233"/>
                </a:lnTo>
                <a:close/>
              </a:path>
            </a:pathLst>
          </a:custGeom>
          <a:solidFill>
            <a:srgbClr val="D55E00">
              <a:alpha val="1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/>
          <p:nvPr/>
        </p:nvSpPr>
        <p:spPr>
          <a:xfrm>
            <a:off x="5102280" y="1260720"/>
            <a:ext cx="2815920" cy="1009440"/>
          </a:xfrm>
          <a:custGeom>
            <a:avLst/>
            <a:gdLst/>
            <a:ahLst/>
            <a:rect l="0" t="0" r="r" b="b"/>
            <a:pathLst>
              <a:path fill="none" w="7822" h="2804">
                <a:moveTo>
                  <a:pt x="0" y="2804"/>
                </a:moveTo>
                <a:lnTo>
                  <a:pt x="133" y="2790"/>
                </a:lnTo>
                <a:lnTo>
                  <a:pt x="266" y="2775"/>
                </a:lnTo>
                <a:lnTo>
                  <a:pt x="398" y="2760"/>
                </a:lnTo>
                <a:lnTo>
                  <a:pt x="531" y="2745"/>
                </a:lnTo>
                <a:lnTo>
                  <a:pt x="663" y="2729"/>
                </a:lnTo>
                <a:lnTo>
                  <a:pt x="796" y="2712"/>
                </a:lnTo>
                <a:lnTo>
                  <a:pt x="928" y="2695"/>
                </a:lnTo>
                <a:lnTo>
                  <a:pt x="1061" y="2677"/>
                </a:lnTo>
                <a:lnTo>
                  <a:pt x="1193" y="2658"/>
                </a:lnTo>
                <a:lnTo>
                  <a:pt x="1326" y="2639"/>
                </a:lnTo>
                <a:lnTo>
                  <a:pt x="1459" y="2619"/>
                </a:lnTo>
                <a:lnTo>
                  <a:pt x="1591" y="2598"/>
                </a:lnTo>
                <a:lnTo>
                  <a:pt x="1724" y="2576"/>
                </a:lnTo>
                <a:lnTo>
                  <a:pt x="1856" y="2554"/>
                </a:lnTo>
                <a:lnTo>
                  <a:pt x="1989" y="2531"/>
                </a:lnTo>
                <a:lnTo>
                  <a:pt x="2121" y="2507"/>
                </a:lnTo>
                <a:lnTo>
                  <a:pt x="2254" y="2482"/>
                </a:lnTo>
                <a:lnTo>
                  <a:pt x="2386" y="2456"/>
                </a:lnTo>
                <a:lnTo>
                  <a:pt x="2519" y="2430"/>
                </a:lnTo>
                <a:lnTo>
                  <a:pt x="2652" y="2402"/>
                </a:lnTo>
                <a:lnTo>
                  <a:pt x="2784" y="2373"/>
                </a:lnTo>
                <a:lnTo>
                  <a:pt x="2917" y="2344"/>
                </a:lnTo>
                <a:lnTo>
                  <a:pt x="3049" y="2313"/>
                </a:lnTo>
                <a:lnTo>
                  <a:pt x="3182" y="2281"/>
                </a:lnTo>
                <a:lnTo>
                  <a:pt x="3314" y="2248"/>
                </a:lnTo>
                <a:lnTo>
                  <a:pt x="3447" y="2213"/>
                </a:lnTo>
                <a:lnTo>
                  <a:pt x="3579" y="2178"/>
                </a:lnTo>
                <a:lnTo>
                  <a:pt x="3712" y="2141"/>
                </a:lnTo>
                <a:lnTo>
                  <a:pt x="3844" y="2102"/>
                </a:lnTo>
                <a:lnTo>
                  <a:pt x="3977" y="2063"/>
                </a:lnTo>
                <a:lnTo>
                  <a:pt x="4110" y="2022"/>
                </a:lnTo>
                <a:lnTo>
                  <a:pt x="4242" y="1979"/>
                </a:lnTo>
                <a:lnTo>
                  <a:pt x="4375" y="1935"/>
                </a:lnTo>
                <a:lnTo>
                  <a:pt x="4507" y="1889"/>
                </a:lnTo>
                <a:lnTo>
                  <a:pt x="4640" y="1842"/>
                </a:lnTo>
                <a:lnTo>
                  <a:pt x="4772" y="1792"/>
                </a:lnTo>
                <a:lnTo>
                  <a:pt x="4905" y="1741"/>
                </a:lnTo>
                <a:lnTo>
                  <a:pt x="5037" y="1689"/>
                </a:lnTo>
                <a:lnTo>
                  <a:pt x="5170" y="1634"/>
                </a:lnTo>
                <a:lnTo>
                  <a:pt x="5303" y="1577"/>
                </a:lnTo>
                <a:lnTo>
                  <a:pt x="5436" y="1518"/>
                </a:lnTo>
                <a:lnTo>
                  <a:pt x="5569" y="1457"/>
                </a:lnTo>
                <a:lnTo>
                  <a:pt x="5701" y="1394"/>
                </a:lnTo>
                <a:lnTo>
                  <a:pt x="5834" y="1328"/>
                </a:lnTo>
                <a:lnTo>
                  <a:pt x="5966" y="1260"/>
                </a:lnTo>
                <a:lnTo>
                  <a:pt x="6099" y="1190"/>
                </a:lnTo>
                <a:lnTo>
                  <a:pt x="6231" y="1117"/>
                </a:lnTo>
                <a:lnTo>
                  <a:pt x="6364" y="1041"/>
                </a:lnTo>
                <a:lnTo>
                  <a:pt x="6497" y="962"/>
                </a:lnTo>
                <a:lnTo>
                  <a:pt x="6629" y="881"/>
                </a:lnTo>
                <a:lnTo>
                  <a:pt x="6762" y="797"/>
                </a:lnTo>
                <a:lnTo>
                  <a:pt x="6894" y="709"/>
                </a:lnTo>
                <a:lnTo>
                  <a:pt x="7027" y="617"/>
                </a:lnTo>
                <a:lnTo>
                  <a:pt x="7159" y="524"/>
                </a:lnTo>
                <a:lnTo>
                  <a:pt x="7292" y="426"/>
                </a:lnTo>
                <a:lnTo>
                  <a:pt x="7424" y="325"/>
                </a:lnTo>
                <a:lnTo>
                  <a:pt x="7557" y="221"/>
                </a:lnTo>
                <a:lnTo>
                  <a:pt x="7689" y="112"/>
                </a:lnTo>
                <a:lnTo>
                  <a:pt x="7822" y="0"/>
                </a:lnTo>
              </a:path>
            </a:pathLst>
          </a:custGeom>
          <a:ln w="18720">
            <a:solidFill>
              <a:srgbClr val="56B4E9"/>
            </a:solidFill>
            <a:round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/>
          <p:nvPr/>
        </p:nvSpPr>
        <p:spPr>
          <a:xfrm>
            <a:off x="5102280" y="1233000"/>
            <a:ext cx="2815920" cy="846720"/>
          </a:xfrm>
          <a:custGeom>
            <a:avLst/>
            <a:gdLst/>
            <a:ahLst/>
            <a:rect l="0" t="0" r="r" b="b"/>
            <a:pathLst>
              <a:path fill="none" w="7822" h="2352">
                <a:moveTo>
                  <a:pt x="0" y="2352"/>
                </a:moveTo>
                <a:lnTo>
                  <a:pt x="133" y="2332"/>
                </a:lnTo>
                <a:lnTo>
                  <a:pt x="266" y="2312"/>
                </a:lnTo>
                <a:lnTo>
                  <a:pt x="398" y="2291"/>
                </a:lnTo>
                <a:lnTo>
                  <a:pt x="531" y="2270"/>
                </a:lnTo>
                <a:lnTo>
                  <a:pt x="663" y="2248"/>
                </a:lnTo>
                <a:lnTo>
                  <a:pt x="796" y="2226"/>
                </a:lnTo>
                <a:lnTo>
                  <a:pt x="928" y="2203"/>
                </a:lnTo>
                <a:lnTo>
                  <a:pt x="1061" y="2180"/>
                </a:lnTo>
                <a:lnTo>
                  <a:pt x="1193" y="2157"/>
                </a:lnTo>
                <a:lnTo>
                  <a:pt x="1326" y="2132"/>
                </a:lnTo>
                <a:lnTo>
                  <a:pt x="1459" y="2108"/>
                </a:lnTo>
                <a:lnTo>
                  <a:pt x="1591" y="2082"/>
                </a:lnTo>
                <a:lnTo>
                  <a:pt x="1724" y="2057"/>
                </a:lnTo>
                <a:lnTo>
                  <a:pt x="1856" y="2030"/>
                </a:lnTo>
                <a:lnTo>
                  <a:pt x="1989" y="2003"/>
                </a:lnTo>
                <a:lnTo>
                  <a:pt x="2121" y="1976"/>
                </a:lnTo>
                <a:lnTo>
                  <a:pt x="2254" y="1947"/>
                </a:lnTo>
                <a:lnTo>
                  <a:pt x="2386" y="1919"/>
                </a:lnTo>
                <a:lnTo>
                  <a:pt x="2519" y="1889"/>
                </a:lnTo>
                <a:lnTo>
                  <a:pt x="2652" y="1859"/>
                </a:lnTo>
                <a:lnTo>
                  <a:pt x="2784" y="1829"/>
                </a:lnTo>
                <a:lnTo>
                  <a:pt x="2917" y="1797"/>
                </a:lnTo>
                <a:lnTo>
                  <a:pt x="3049" y="1765"/>
                </a:lnTo>
                <a:lnTo>
                  <a:pt x="3182" y="1733"/>
                </a:lnTo>
                <a:lnTo>
                  <a:pt x="3314" y="1699"/>
                </a:lnTo>
                <a:lnTo>
                  <a:pt x="3447" y="1665"/>
                </a:lnTo>
                <a:lnTo>
                  <a:pt x="3579" y="1630"/>
                </a:lnTo>
                <a:lnTo>
                  <a:pt x="3712" y="1594"/>
                </a:lnTo>
                <a:lnTo>
                  <a:pt x="3844" y="1558"/>
                </a:lnTo>
                <a:lnTo>
                  <a:pt x="3977" y="1521"/>
                </a:lnTo>
                <a:lnTo>
                  <a:pt x="4110" y="1482"/>
                </a:lnTo>
                <a:lnTo>
                  <a:pt x="4242" y="1444"/>
                </a:lnTo>
                <a:lnTo>
                  <a:pt x="4375" y="1404"/>
                </a:lnTo>
                <a:lnTo>
                  <a:pt x="4507" y="1363"/>
                </a:lnTo>
                <a:lnTo>
                  <a:pt x="4640" y="1322"/>
                </a:lnTo>
                <a:lnTo>
                  <a:pt x="4772" y="1279"/>
                </a:lnTo>
                <a:lnTo>
                  <a:pt x="4905" y="1236"/>
                </a:lnTo>
                <a:lnTo>
                  <a:pt x="5037" y="1192"/>
                </a:lnTo>
                <a:lnTo>
                  <a:pt x="5170" y="1146"/>
                </a:lnTo>
                <a:lnTo>
                  <a:pt x="5303" y="1100"/>
                </a:lnTo>
                <a:lnTo>
                  <a:pt x="5436" y="1053"/>
                </a:lnTo>
                <a:lnTo>
                  <a:pt x="5569" y="1004"/>
                </a:lnTo>
                <a:lnTo>
                  <a:pt x="5701" y="955"/>
                </a:lnTo>
                <a:lnTo>
                  <a:pt x="5834" y="905"/>
                </a:lnTo>
                <a:lnTo>
                  <a:pt x="5966" y="853"/>
                </a:lnTo>
                <a:lnTo>
                  <a:pt x="6099" y="800"/>
                </a:lnTo>
                <a:lnTo>
                  <a:pt x="6231" y="747"/>
                </a:lnTo>
                <a:lnTo>
                  <a:pt x="6364" y="692"/>
                </a:lnTo>
                <a:lnTo>
                  <a:pt x="6497" y="635"/>
                </a:lnTo>
                <a:lnTo>
                  <a:pt x="6629" y="578"/>
                </a:lnTo>
                <a:lnTo>
                  <a:pt x="6762" y="519"/>
                </a:lnTo>
                <a:lnTo>
                  <a:pt x="6894" y="459"/>
                </a:lnTo>
                <a:lnTo>
                  <a:pt x="7027" y="398"/>
                </a:lnTo>
                <a:lnTo>
                  <a:pt x="7159" y="335"/>
                </a:lnTo>
                <a:lnTo>
                  <a:pt x="7292" y="272"/>
                </a:lnTo>
                <a:lnTo>
                  <a:pt x="7424" y="206"/>
                </a:lnTo>
                <a:lnTo>
                  <a:pt x="7557" y="139"/>
                </a:lnTo>
                <a:lnTo>
                  <a:pt x="7689" y="70"/>
                </a:lnTo>
                <a:lnTo>
                  <a:pt x="7822" y="0"/>
                </a:lnTo>
              </a:path>
            </a:pathLst>
          </a:custGeom>
          <a:ln w="18720">
            <a:solidFill>
              <a:srgbClr val="0072B2"/>
            </a:solidFill>
            <a:round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>
            <a:off x="5102280" y="1202040"/>
            <a:ext cx="2815920" cy="352800"/>
          </a:xfrm>
          <a:custGeom>
            <a:avLst/>
            <a:gdLst/>
            <a:ahLst/>
            <a:rect l="0" t="0" r="r" b="b"/>
            <a:pathLst>
              <a:path fill="none" w="7822" h="980">
                <a:moveTo>
                  <a:pt x="0" y="980"/>
                </a:moveTo>
                <a:lnTo>
                  <a:pt x="133" y="966"/>
                </a:lnTo>
                <a:lnTo>
                  <a:pt x="398" y="938"/>
                </a:lnTo>
                <a:lnTo>
                  <a:pt x="663" y="909"/>
                </a:lnTo>
                <a:lnTo>
                  <a:pt x="796" y="895"/>
                </a:lnTo>
                <a:lnTo>
                  <a:pt x="928" y="881"/>
                </a:lnTo>
                <a:lnTo>
                  <a:pt x="1061" y="866"/>
                </a:lnTo>
                <a:lnTo>
                  <a:pt x="1193" y="851"/>
                </a:lnTo>
                <a:lnTo>
                  <a:pt x="1459" y="822"/>
                </a:lnTo>
                <a:lnTo>
                  <a:pt x="1724" y="792"/>
                </a:lnTo>
                <a:lnTo>
                  <a:pt x="1856" y="777"/>
                </a:lnTo>
                <a:lnTo>
                  <a:pt x="1989" y="762"/>
                </a:lnTo>
                <a:lnTo>
                  <a:pt x="2121" y="747"/>
                </a:lnTo>
                <a:lnTo>
                  <a:pt x="2254" y="732"/>
                </a:lnTo>
                <a:lnTo>
                  <a:pt x="2519" y="701"/>
                </a:lnTo>
                <a:lnTo>
                  <a:pt x="2652" y="685"/>
                </a:lnTo>
                <a:lnTo>
                  <a:pt x="2917" y="654"/>
                </a:lnTo>
                <a:lnTo>
                  <a:pt x="3182" y="622"/>
                </a:lnTo>
                <a:lnTo>
                  <a:pt x="3314" y="606"/>
                </a:lnTo>
                <a:lnTo>
                  <a:pt x="3579" y="574"/>
                </a:lnTo>
                <a:lnTo>
                  <a:pt x="3977" y="524"/>
                </a:lnTo>
                <a:lnTo>
                  <a:pt x="4242" y="491"/>
                </a:lnTo>
                <a:lnTo>
                  <a:pt x="4375" y="474"/>
                </a:lnTo>
                <a:lnTo>
                  <a:pt x="4507" y="457"/>
                </a:lnTo>
                <a:lnTo>
                  <a:pt x="4905" y="406"/>
                </a:lnTo>
                <a:lnTo>
                  <a:pt x="5170" y="371"/>
                </a:lnTo>
                <a:lnTo>
                  <a:pt x="5303" y="354"/>
                </a:lnTo>
                <a:lnTo>
                  <a:pt x="5436" y="336"/>
                </a:lnTo>
                <a:lnTo>
                  <a:pt x="5569" y="319"/>
                </a:lnTo>
                <a:lnTo>
                  <a:pt x="5701" y="301"/>
                </a:lnTo>
                <a:lnTo>
                  <a:pt x="5834" y="283"/>
                </a:lnTo>
                <a:lnTo>
                  <a:pt x="5966" y="265"/>
                </a:lnTo>
                <a:lnTo>
                  <a:pt x="6231" y="229"/>
                </a:lnTo>
                <a:lnTo>
                  <a:pt x="6364" y="210"/>
                </a:lnTo>
                <a:lnTo>
                  <a:pt x="6497" y="192"/>
                </a:lnTo>
                <a:lnTo>
                  <a:pt x="6629" y="173"/>
                </a:lnTo>
                <a:lnTo>
                  <a:pt x="6894" y="136"/>
                </a:lnTo>
                <a:lnTo>
                  <a:pt x="7027" y="117"/>
                </a:lnTo>
                <a:lnTo>
                  <a:pt x="7292" y="78"/>
                </a:lnTo>
                <a:lnTo>
                  <a:pt x="7557" y="39"/>
                </a:lnTo>
                <a:lnTo>
                  <a:pt x="7689" y="20"/>
                </a:lnTo>
                <a:lnTo>
                  <a:pt x="7822" y="0"/>
                </a:lnTo>
              </a:path>
            </a:pathLst>
          </a:custGeom>
          <a:ln w="18720">
            <a:solidFill>
              <a:srgbClr val="D55E00"/>
            </a:solidFill>
            <a:round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 flipV="1">
            <a:off x="4961520" y="538560"/>
            <a:ext cx="0" cy="187272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147600" y="108360"/>
            <a:ext cx="16488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4777920" y="235620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0.0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4777920" y="183096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0.2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4777920" y="130536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0.4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>
            <a:off x="4930200" y="2406960"/>
            <a:ext cx="3132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>
            <a:off x="4930200" y="1881360"/>
            <a:ext cx="3132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4930200" y="1355760"/>
            <a:ext cx="3132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4930200" y="830520"/>
            <a:ext cx="3132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4961520" y="2411280"/>
            <a:ext cx="3097080" cy="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 flipV="1">
            <a:off x="5186160" y="2411280"/>
            <a:ext cx="0" cy="3132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 flipV="1">
            <a:off x="5875560" y="2411280"/>
            <a:ext cx="0" cy="3132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 flipV="1">
            <a:off x="6565320" y="2411280"/>
            <a:ext cx="0" cy="3132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 flipV="1">
            <a:off x="7254720" y="2411280"/>
            <a:ext cx="0" cy="3132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 flipV="1">
            <a:off x="7944480" y="2411280"/>
            <a:ext cx="0" cy="3132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4777920" y="77976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0.6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5141880" y="2455560"/>
            <a:ext cx="101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-2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5831280" y="2455560"/>
            <a:ext cx="101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-1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6540120" y="2455560"/>
            <a:ext cx="101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7229520" y="2455560"/>
            <a:ext cx="101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7919280" y="2455560"/>
            <a:ext cx="101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4916520" y="2601360"/>
            <a:ext cx="306900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0" u="none" strike="noStrike">
                <a:solidFill>
                  <a:srgbClr val="0D0D0D"/>
                </a:solidFill>
                <a:effectLst/>
                <a:uFillTx/>
                <a:latin typeface="Arial"/>
                <a:ea typeface="Arial"/>
              </a:rPr>
              <a:t>Accumulated warming relative to the species' range (z)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/>
          <p:nvPr/>
        </p:nvSpPr>
        <p:spPr>
          <a:xfrm>
            <a:off x="5137200" y="565920"/>
            <a:ext cx="1383480" cy="469800"/>
          </a:xfrm>
          <a:custGeom>
            <a:avLst/>
            <a:gdLst/>
            <a:ahLst/>
            <a:rect l="0" t="0" r="r" b="b"/>
            <a:pathLst>
              <a:path w="3843" h="1305">
                <a:moveTo>
                  <a:pt x="0" y="0"/>
                </a:moveTo>
                <a:lnTo>
                  <a:pt x="3843" y="0"/>
                </a:lnTo>
                <a:lnTo>
                  <a:pt x="3843" y="1305"/>
                </a:lnTo>
                <a:lnTo>
                  <a:pt x="0" y="13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/>
          <p:nvPr/>
        </p:nvSpPr>
        <p:spPr>
          <a:xfrm>
            <a:off x="5200560" y="629280"/>
            <a:ext cx="114120" cy="114480"/>
          </a:xfrm>
          <a:custGeom>
            <a:avLst/>
            <a:gdLst/>
            <a:ahLst/>
            <a:rect l="0" t="0" r="r" b="b"/>
            <a:pathLst>
              <a:path w="317" h="318">
                <a:moveTo>
                  <a:pt x="0" y="0"/>
                </a:moveTo>
                <a:lnTo>
                  <a:pt x="317" y="0"/>
                </a:lnTo>
                <a:lnTo>
                  <a:pt x="317" y="318"/>
                </a:lnTo>
                <a:lnTo>
                  <a:pt x="0" y="3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>
            <a:off x="5211720" y="686520"/>
            <a:ext cx="91440" cy="0"/>
          </a:xfrm>
          <a:prstGeom prst="line">
            <a:avLst/>
          </a:prstGeom>
          <a:ln w="18720">
            <a:solidFill>
              <a:srgbClr val="56B4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" tIns="-9360" rIns="9360" bIns="-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>
            <a:off x="5200560" y="743400"/>
            <a:ext cx="114120" cy="114840"/>
          </a:xfrm>
          <a:custGeom>
            <a:avLst/>
            <a:gdLst/>
            <a:ahLst/>
            <a:rect l="0" t="0" r="r" b="b"/>
            <a:pathLst>
              <a:path w="317" h="319">
                <a:moveTo>
                  <a:pt x="0" y="0"/>
                </a:moveTo>
                <a:lnTo>
                  <a:pt x="317" y="0"/>
                </a:lnTo>
                <a:lnTo>
                  <a:pt x="317" y="319"/>
                </a:lnTo>
                <a:lnTo>
                  <a:pt x="0" y="31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/>
          <p:nvPr/>
        </p:nvSpPr>
        <p:spPr>
          <a:xfrm>
            <a:off x="5211720" y="800640"/>
            <a:ext cx="91440" cy="0"/>
          </a:xfrm>
          <a:prstGeom prst="line">
            <a:avLst/>
          </a:prstGeom>
          <a:ln w="18720">
            <a:solidFill>
              <a:srgbClr val="007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" tIns="-9360" rIns="9360" bIns="-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/>
          <p:nvPr/>
        </p:nvSpPr>
        <p:spPr>
          <a:xfrm>
            <a:off x="5200560" y="857880"/>
            <a:ext cx="114120" cy="114480"/>
          </a:xfrm>
          <a:custGeom>
            <a:avLst/>
            <a:gdLst/>
            <a:ahLst/>
            <a:rect l="0" t="0" r="r" b="b"/>
            <a:pathLst>
              <a:path w="317" h="318">
                <a:moveTo>
                  <a:pt x="0" y="0"/>
                </a:moveTo>
                <a:lnTo>
                  <a:pt x="317" y="0"/>
                </a:lnTo>
                <a:lnTo>
                  <a:pt x="317" y="318"/>
                </a:lnTo>
                <a:lnTo>
                  <a:pt x="0" y="3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/>
          <p:nvPr/>
        </p:nvSpPr>
        <p:spPr>
          <a:xfrm>
            <a:off x="5211720" y="915120"/>
            <a:ext cx="91440" cy="0"/>
          </a:xfrm>
          <a:prstGeom prst="line">
            <a:avLst/>
          </a:prstGeom>
          <a:ln w="18720">
            <a:solidFill>
              <a:srgbClr val="D55E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" tIns="-9360" rIns="9360" bIns="-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 txBox="1"/>
          <p:nvPr/>
        </p:nvSpPr>
        <p:spPr>
          <a:xfrm rot="16200000">
            <a:off x="3692160" y="1456200"/>
            <a:ext cx="195552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0" u="none" strike="noStrike">
                <a:solidFill>
                  <a:srgbClr val="0D0D0D"/>
                </a:solidFill>
                <a:effectLst/>
                <a:uFillTx/>
                <a:latin typeface="Arial"/>
                <a:ea typeface="Arial"/>
              </a:rPr>
              <a:t>Annual hazard of a new record (%)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5377680" y="642240"/>
            <a:ext cx="101736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Low effort (10th pct)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5377680" y="756360"/>
            <a:ext cx="66780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Median effort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5377680" y="870840"/>
            <a:ext cx="104256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High effort (90th pct)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4961880" y="335880"/>
            <a:ext cx="313164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Marginal predictions at ﬁxed-effect level; ribbons are 95% CI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4961880" y="145440"/>
            <a:ext cx="251712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Warming matters most where effort is low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/>
          <p:nvPr/>
        </p:nvSpPr>
        <p:spPr>
          <a:xfrm>
            <a:off x="69480" y="2817000"/>
            <a:ext cx="4435920" cy="3412800"/>
          </a:xfrm>
          <a:custGeom>
            <a:avLst/>
            <a:gdLst/>
            <a:ahLst/>
            <a:rect l="0" t="0" r="r" b="b"/>
            <a:pathLst>
              <a:path w="12322" h="9480">
                <a:moveTo>
                  <a:pt x="0" y="0"/>
                </a:moveTo>
                <a:lnTo>
                  <a:pt x="12322" y="0"/>
                </a:lnTo>
                <a:lnTo>
                  <a:pt x="12322" y="9480"/>
                </a:lnTo>
                <a:lnTo>
                  <a:pt x="0" y="94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2240">
            <a:solidFill>
              <a:srgbClr val="FFFFFF"/>
            </a:solidFill>
            <a:round/>
          </a:ln>
        </p:spPr>
        <p:txBody>
          <a:bodyPr lIns="6120" tIns="6120" rIns="6120" bIns="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/>
          <p:nvPr/>
        </p:nvSpPr>
        <p:spPr>
          <a:xfrm>
            <a:off x="4505040" y="2817000"/>
            <a:ext cx="3655080" cy="3412800"/>
          </a:xfrm>
          <a:custGeom>
            <a:avLst/>
            <a:gdLst/>
            <a:ahLst/>
            <a:rect l="0" t="0" r="r" b="b"/>
            <a:pathLst>
              <a:path w="10153" h="9480">
                <a:moveTo>
                  <a:pt x="0" y="0"/>
                </a:moveTo>
                <a:lnTo>
                  <a:pt x="10153" y="0"/>
                </a:lnTo>
                <a:lnTo>
                  <a:pt x="10153" y="9480"/>
                </a:lnTo>
                <a:lnTo>
                  <a:pt x="0" y="94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2240">
            <a:solidFill>
              <a:srgbClr val="FFFFFF"/>
            </a:solidFill>
            <a:round/>
          </a:ln>
        </p:spPr>
        <p:txBody>
          <a:bodyPr lIns="6120" tIns="6120" rIns="6120" bIns="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/>
          <p:nvPr/>
        </p:nvSpPr>
        <p:spPr>
          <a:xfrm>
            <a:off x="1307160" y="3653280"/>
            <a:ext cx="679680" cy="1872720"/>
          </a:xfrm>
          <a:custGeom>
            <a:avLst/>
            <a:gdLst/>
            <a:ahLst/>
            <a:rect l="0" t="0" r="r" b="b"/>
            <a:pathLst>
              <a:path w="1888" h="5202">
                <a:moveTo>
                  <a:pt x="0" y="0"/>
                </a:moveTo>
                <a:lnTo>
                  <a:pt x="1888" y="0"/>
                </a:lnTo>
                <a:lnTo>
                  <a:pt x="1888" y="5202"/>
                </a:lnTo>
                <a:lnTo>
                  <a:pt x="0" y="520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/>
          <p:nvPr/>
        </p:nvSpPr>
        <p:spPr>
          <a:xfrm flipV="1">
            <a:off x="1377000" y="3653280"/>
            <a:ext cx="0" cy="187236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/>
          <p:nvPr/>
        </p:nvSpPr>
        <p:spPr>
          <a:xfrm flipV="1">
            <a:off x="1573200" y="3653280"/>
            <a:ext cx="0" cy="187236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/>
          <p:nvPr/>
        </p:nvSpPr>
        <p:spPr>
          <a:xfrm flipV="1">
            <a:off x="1769760" y="3653280"/>
            <a:ext cx="0" cy="187236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/>
          <p:nvPr/>
        </p:nvSpPr>
        <p:spPr>
          <a:xfrm flipV="1">
            <a:off x="1965960" y="3653280"/>
            <a:ext cx="0" cy="187236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/>
          <p:nvPr/>
        </p:nvSpPr>
        <p:spPr>
          <a:xfrm>
            <a:off x="1377000" y="5113440"/>
            <a:ext cx="564120" cy="290160"/>
          </a:xfrm>
          <a:custGeom>
            <a:avLst/>
            <a:gdLst/>
            <a:ahLst/>
            <a:rect l="0" t="0" r="r" b="b"/>
            <a:pathLst>
              <a:path w="1567" h="806">
                <a:moveTo>
                  <a:pt x="0" y="0"/>
                </a:moveTo>
                <a:lnTo>
                  <a:pt x="1567" y="0"/>
                </a:lnTo>
                <a:lnTo>
                  <a:pt x="1567" y="806"/>
                </a:lnTo>
                <a:lnTo>
                  <a:pt x="0" y="806"/>
                </a:lnTo>
                <a:lnTo>
                  <a:pt x="0" y="0"/>
                </a:lnTo>
                <a:close/>
              </a:path>
            </a:pathLst>
          </a:custGeom>
          <a:solidFill>
            <a:srgbClr val="009E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/>
          <p:nvPr/>
        </p:nvSpPr>
        <p:spPr>
          <a:xfrm>
            <a:off x="1377000" y="4667400"/>
            <a:ext cx="578880" cy="290160"/>
          </a:xfrm>
          <a:custGeom>
            <a:avLst/>
            <a:gdLst/>
            <a:ahLst/>
            <a:rect l="0" t="0" r="r" b="b"/>
            <a:pathLst>
              <a:path w="1608" h="806">
                <a:moveTo>
                  <a:pt x="0" y="0"/>
                </a:moveTo>
                <a:lnTo>
                  <a:pt x="1608" y="0"/>
                </a:lnTo>
                <a:lnTo>
                  <a:pt x="1608" y="806"/>
                </a:lnTo>
                <a:lnTo>
                  <a:pt x="0" y="806"/>
                </a:lnTo>
                <a:lnTo>
                  <a:pt x="0" y="0"/>
                </a:ln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/>
          <p:nvPr/>
        </p:nvSpPr>
        <p:spPr>
          <a:xfrm>
            <a:off x="1377000" y="4221720"/>
            <a:ext cx="127080" cy="290160"/>
          </a:xfrm>
          <a:custGeom>
            <a:avLst/>
            <a:gdLst/>
            <a:ahLst/>
            <a:rect l="0" t="0" r="r" b="b"/>
            <a:pathLst>
              <a:path w="353" h="806">
                <a:moveTo>
                  <a:pt x="0" y="0"/>
                </a:moveTo>
                <a:lnTo>
                  <a:pt x="353" y="0"/>
                </a:lnTo>
                <a:lnTo>
                  <a:pt x="353" y="806"/>
                </a:lnTo>
                <a:lnTo>
                  <a:pt x="0" y="806"/>
                </a:lnTo>
                <a:lnTo>
                  <a:pt x="0" y="0"/>
                </a:lnTo>
                <a:close/>
              </a:path>
            </a:pathLst>
          </a:custGeom>
          <a:solidFill>
            <a:srgbClr val="CC79A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/>
          <p:nvPr/>
        </p:nvSpPr>
        <p:spPr>
          <a:xfrm>
            <a:off x="1337760" y="3775680"/>
            <a:ext cx="39600" cy="290160"/>
          </a:xfrm>
          <a:custGeom>
            <a:avLst/>
            <a:gdLst/>
            <a:ahLst/>
            <a:rect l="0" t="0" r="r" b="b"/>
            <a:pathLst>
              <a:path w="110" h="806">
                <a:moveTo>
                  <a:pt x="0" y="0"/>
                </a:moveTo>
                <a:lnTo>
                  <a:pt x="110" y="0"/>
                </a:lnTo>
                <a:lnTo>
                  <a:pt x="110" y="806"/>
                </a:lnTo>
                <a:lnTo>
                  <a:pt x="0" y="806"/>
                </a:lnTo>
                <a:lnTo>
                  <a:pt x="0" y="0"/>
                </a:ln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/>
          <p:nvPr/>
        </p:nvSpPr>
        <p:spPr>
          <a:xfrm flipV="1">
            <a:off x="1377000" y="3653280"/>
            <a:ext cx="0" cy="1872360"/>
          </a:xfrm>
          <a:prstGeom prst="line">
            <a:avLst/>
          </a:prstGeom>
          <a:ln w="7920">
            <a:solidFill>
              <a:srgbClr val="7F7F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/>
          <p:nvPr/>
        </p:nvSpPr>
        <p:spPr>
          <a:xfrm>
            <a:off x="2112840" y="3653280"/>
            <a:ext cx="679680" cy="1872720"/>
          </a:xfrm>
          <a:custGeom>
            <a:avLst/>
            <a:gdLst/>
            <a:ahLst/>
            <a:rect l="0" t="0" r="r" b="b"/>
            <a:pathLst>
              <a:path w="1888" h="5202">
                <a:moveTo>
                  <a:pt x="0" y="0"/>
                </a:moveTo>
                <a:lnTo>
                  <a:pt x="1888" y="0"/>
                </a:lnTo>
                <a:lnTo>
                  <a:pt x="1888" y="5202"/>
                </a:lnTo>
                <a:lnTo>
                  <a:pt x="0" y="520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/>
          <p:nvPr/>
        </p:nvSpPr>
        <p:spPr>
          <a:xfrm flipV="1">
            <a:off x="2143800" y="3653280"/>
            <a:ext cx="0" cy="187236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/>
          <p:nvPr/>
        </p:nvSpPr>
        <p:spPr>
          <a:xfrm flipV="1">
            <a:off x="2377800" y="3653280"/>
            <a:ext cx="0" cy="187236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/>
          <p:nvPr/>
        </p:nvSpPr>
        <p:spPr>
          <a:xfrm flipV="1">
            <a:off x="2612160" y="3653280"/>
            <a:ext cx="0" cy="187236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/>
          <p:nvPr/>
        </p:nvSpPr>
        <p:spPr>
          <a:xfrm>
            <a:off x="2143800" y="5113440"/>
            <a:ext cx="617760" cy="290160"/>
          </a:xfrm>
          <a:custGeom>
            <a:avLst/>
            <a:gdLst/>
            <a:ahLst/>
            <a:rect l="0" t="0" r="r" b="b"/>
            <a:pathLst>
              <a:path w="1716" h="806">
                <a:moveTo>
                  <a:pt x="0" y="0"/>
                </a:moveTo>
                <a:lnTo>
                  <a:pt x="1716" y="0"/>
                </a:lnTo>
                <a:lnTo>
                  <a:pt x="1716" y="806"/>
                </a:lnTo>
                <a:lnTo>
                  <a:pt x="0" y="806"/>
                </a:lnTo>
                <a:lnTo>
                  <a:pt x="0" y="0"/>
                </a:lnTo>
                <a:close/>
              </a:path>
            </a:pathLst>
          </a:custGeom>
          <a:solidFill>
            <a:srgbClr val="009E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/>
          <p:nvPr/>
        </p:nvSpPr>
        <p:spPr>
          <a:xfrm>
            <a:off x="2143800" y="4667400"/>
            <a:ext cx="377640" cy="290160"/>
          </a:xfrm>
          <a:custGeom>
            <a:avLst/>
            <a:gdLst/>
            <a:ahLst/>
            <a:rect l="0" t="0" r="r" b="b"/>
            <a:pathLst>
              <a:path w="1049" h="806">
                <a:moveTo>
                  <a:pt x="0" y="0"/>
                </a:moveTo>
                <a:lnTo>
                  <a:pt x="1049" y="0"/>
                </a:lnTo>
                <a:lnTo>
                  <a:pt x="1049" y="806"/>
                </a:lnTo>
                <a:lnTo>
                  <a:pt x="0" y="806"/>
                </a:lnTo>
                <a:lnTo>
                  <a:pt x="0" y="0"/>
                </a:ln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/>
          <p:nvPr/>
        </p:nvSpPr>
        <p:spPr>
          <a:xfrm>
            <a:off x="2143800" y="4221720"/>
            <a:ext cx="26640" cy="290160"/>
          </a:xfrm>
          <a:custGeom>
            <a:avLst/>
            <a:gdLst/>
            <a:ahLst/>
            <a:rect l="0" t="0" r="r" b="b"/>
            <a:pathLst>
              <a:path w="74" h="806">
                <a:moveTo>
                  <a:pt x="0" y="0"/>
                </a:moveTo>
                <a:lnTo>
                  <a:pt x="74" y="0"/>
                </a:lnTo>
                <a:lnTo>
                  <a:pt x="74" y="806"/>
                </a:lnTo>
                <a:lnTo>
                  <a:pt x="0" y="806"/>
                </a:lnTo>
                <a:lnTo>
                  <a:pt x="0" y="0"/>
                </a:lnTo>
                <a:close/>
              </a:path>
            </a:pathLst>
          </a:custGeom>
          <a:solidFill>
            <a:srgbClr val="CC79A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/>
          <p:nvPr/>
        </p:nvSpPr>
        <p:spPr>
          <a:xfrm>
            <a:off x="2143800" y="3775680"/>
            <a:ext cx="2520" cy="290160"/>
          </a:xfrm>
          <a:custGeom>
            <a:avLst/>
            <a:gdLst/>
            <a:ahLst/>
            <a:rect l="0" t="0" r="r" b="b"/>
            <a:pathLst>
              <a:path w="7" h="806">
                <a:moveTo>
                  <a:pt x="0" y="0"/>
                </a:moveTo>
                <a:lnTo>
                  <a:pt x="7" y="0"/>
                </a:lnTo>
                <a:lnTo>
                  <a:pt x="7" y="806"/>
                </a:lnTo>
                <a:lnTo>
                  <a:pt x="0" y="806"/>
                </a:lnTo>
                <a:lnTo>
                  <a:pt x="0" y="0"/>
                </a:ln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/>
          <p:nvPr/>
        </p:nvSpPr>
        <p:spPr>
          <a:xfrm flipV="1">
            <a:off x="2143800" y="3653280"/>
            <a:ext cx="0" cy="1872360"/>
          </a:xfrm>
          <a:prstGeom prst="line">
            <a:avLst/>
          </a:prstGeom>
          <a:ln w="7920">
            <a:solidFill>
              <a:srgbClr val="7F7F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/>
          <p:nvPr/>
        </p:nvSpPr>
        <p:spPr>
          <a:xfrm>
            <a:off x="2918880" y="3653280"/>
            <a:ext cx="679680" cy="1872720"/>
          </a:xfrm>
          <a:custGeom>
            <a:avLst/>
            <a:gdLst/>
            <a:ahLst/>
            <a:rect l="0" t="0" r="r" b="b"/>
            <a:pathLst>
              <a:path w="1888" h="5202">
                <a:moveTo>
                  <a:pt x="0" y="0"/>
                </a:moveTo>
                <a:lnTo>
                  <a:pt x="1888" y="0"/>
                </a:lnTo>
                <a:lnTo>
                  <a:pt x="1888" y="5202"/>
                </a:lnTo>
                <a:lnTo>
                  <a:pt x="0" y="520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/>
          <p:nvPr/>
        </p:nvSpPr>
        <p:spPr>
          <a:xfrm flipV="1">
            <a:off x="2990160" y="3653280"/>
            <a:ext cx="0" cy="187236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/>
          <p:nvPr/>
        </p:nvSpPr>
        <p:spPr>
          <a:xfrm flipV="1">
            <a:off x="3282120" y="3653280"/>
            <a:ext cx="0" cy="187236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/>
          <p:nvPr/>
        </p:nvSpPr>
        <p:spPr>
          <a:xfrm flipV="1">
            <a:off x="3574080" y="3653280"/>
            <a:ext cx="0" cy="187236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/>
          <p:nvPr/>
        </p:nvSpPr>
        <p:spPr>
          <a:xfrm>
            <a:off x="2990160" y="5113440"/>
            <a:ext cx="413280" cy="290160"/>
          </a:xfrm>
          <a:custGeom>
            <a:avLst/>
            <a:gdLst/>
            <a:ahLst/>
            <a:rect l="0" t="0" r="r" b="b"/>
            <a:pathLst>
              <a:path w="1148" h="806">
                <a:moveTo>
                  <a:pt x="0" y="0"/>
                </a:moveTo>
                <a:lnTo>
                  <a:pt x="1148" y="0"/>
                </a:lnTo>
                <a:lnTo>
                  <a:pt x="1148" y="806"/>
                </a:lnTo>
                <a:lnTo>
                  <a:pt x="0" y="806"/>
                </a:lnTo>
                <a:lnTo>
                  <a:pt x="0" y="0"/>
                </a:lnTo>
                <a:close/>
              </a:path>
            </a:pathLst>
          </a:custGeom>
          <a:solidFill>
            <a:srgbClr val="009E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/>
          <p:nvPr/>
        </p:nvSpPr>
        <p:spPr>
          <a:xfrm>
            <a:off x="2949480" y="4667400"/>
            <a:ext cx="41040" cy="290160"/>
          </a:xfrm>
          <a:custGeom>
            <a:avLst/>
            <a:gdLst/>
            <a:ahLst/>
            <a:rect l="0" t="0" r="r" b="b"/>
            <a:pathLst>
              <a:path w="114" h="806">
                <a:moveTo>
                  <a:pt x="0" y="0"/>
                </a:moveTo>
                <a:lnTo>
                  <a:pt x="114" y="0"/>
                </a:lnTo>
                <a:lnTo>
                  <a:pt x="114" y="806"/>
                </a:lnTo>
                <a:lnTo>
                  <a:pt x="0" y="806"/>
                </a:lnTo>
                <a:lnTo>
                  <a:pt x="0" y="0"/>
                </a:ln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/>
          <p:nvPr/>
        </p:nvSpPr>
        <p:spPr>
          <a:xfrm>
            <a:off x="2990160" y="4221720"/>
            <a:ext cx="577440" cy="290160"/>
          </a:xfrm>
          <a:custGeom>
            <a:avLst/>
            <a:gdLst/>
            <a:ahLst/>
            <a:rect l="0" t="0" r="r" b="b"/>
            <a:pathLst>
              <a:path w="1604" h="806">
                <a:moveTo>
                  <a:pt x="0" y="0"/>
                </a:moveTo>
                <a:lnTo>
                  <a:pt x="1604" y="0"/>
                </a:lnTo>
                <a:lnTo>
                  <a:pt x="1604" y="806"/>
                </a:lnTo>
                <a:lnTo>
                  <a:pt x="0" y="806"/>
                </a:lnTo>
                <a:lnTo>
                  <a:pt x="0" y="0"/>
                </a:lnTo>
                <a:close/>
              </a:path>
            </a:pathLst>
          </a:custGeom>
          <a:solidFill>
            <a:srgbClr val="CC79A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/>
          <p:nvPr/>
        </p:nvSpPr>
        <p:spPr>
          <a:xfrm>
            <a:off x="2975400" y="3775680"/>
            <a:ext cx="15120" cy="290160"/>
          </a:xfrm>
          <a:custGeom>
            <a:avLst/>
            <a:gdLst/>
            <a:ahLst/>
            <a:rect l="0" t="0" r="r" b="b"/>
            <a:pathLst>
              <a:path w="42" h="806">
                <a:moveTo>
                  <a:pt x="0" y="0"/>
                </a:moveTo>
                <a:lnTo>
                  <a:pt x="42" y="0"/>
                </a:lnTo>
                <a:lnTo>
                  <a:pt x="42" y="806"/>
                </a:lnTo>
                <a:lnTo>
                  <a:pt x="0" y="806"/>
                </a:lnTo>
                <a:lnTo>
                  <a:pt x="0" y="0"/>
                </a:ln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/>
          <p:nvPr/>
        </p:nvSpPr>
        <p:spPr>
          <a:xfrm flipV="1">
            <a:off x="2990160" y="3653280"/>
            <a:ext cx="0" cy="1872360"/>
          </a:xfrm>
          <a:prstGeom prst="line">
            <a:avLst/>
          </a:prstGeom>
          <a:ln w="7920">
            <a:solidFill>
              <a:srgbClr val="7F7F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/>
          <p:nvPr/>
        </p:nvSpPr>
        <p:spPr>
          <a:xfrm>
            <a:off x="3724560" y="3653280"/>
            <a:ext cx="679680" cy="1872720"/>
          </a:xfrm>
          <a:custGeom>
            <a:avLst/>
            <a:gdLst/>
            <a:ahLst/>
            <a:rect l="0" t="0" r="r" b="b"/>
            <a:pathLst>
              <a:path w="1888" h="5202">
                <a:moveTo>
                  <a:pt x="0" y="0"/>
                </a:moveTo>
                <a:lnTo>
                  <a:pt x="1888" y="0"/>
                </a:lnTo>
                <a:lnTo>
                  <a:pt x="1888" y="5202"/>
                </a:lnTo>
                <a:lnTo>
                  <a:pt x="0" y="520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/>
          <p:nvPr/>
        </p:nvSpPr>
        <p:spPr>
          <a:xfrm flipV="1">
            <a:off x="3755520" y="3653280"/>
            <a:ext cx="0" cy="187236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/>
          <p:nvPr/>
        </p:nvSpPr>
        <p:spPr>
          <a:xfrm flipV="1">
            <a:off x="3937680" y="3653280"/>
            <a:ext cx="0" cy="187236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/>
          <p:nvPr/>
        </p:nvSpPr>
        <p:spPr>
          <a:xfrm flipV="1">
            <a:off x="4119840" y="3653280"/>
            <a:ext cx="0" cy="187236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/>
          <p:nvPr/>
        </p:nvSpPr>
        <p:spPr>
          <a:xfrm flipV="1">
            <a:off x="4301640" y="3653280"/>
            <a:ext cx="0" cy="187236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/>
          <p:nvPr/>
        </p:nvSpPr>
        <p:spPr>
          <a:xfrm>
            <a:off x="3755520" y="5113440"/>
            <a:ext cx="562320" cy="290160"/>
          </a:xfrm>
          <a:custGeom>
            <a:avLst/>
            <a:gdLst/>
            <a:ahLst/>
            <a:rect l="0" t="0" r="r" b="b"/>
            <a:pathLst>
              <a:path w="1562" h="806">
                <a:moveTo>
                  <a:pt x="0" y="0"/>
                </a:moveTo>
                <a:lnTo>
                  <a:pt x="1562" y="0"/>
                </a:lnTo>
                <a:lnTo>
                  <a:pt x="1562" y="806"/>
                </a:lnTo>
                <a:lnTo>
                  <a:pt x="0" y="806"/>
                </a:lnTo>
                <a:lnTo>
                  <a:pt x="0" y="0"/>
                </a:lnTo>
                <a:close/>
              </a:path>
            </a:pathLst>
          </a:custGeom>
          <a:solidFill>
            <a:srgbClr val="009E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/>
          <p:nvPr/>
        </p:nvSpPr>
        <p:spPr>
          <a:xfrm>
            <a:off x="3755520" y="4667400"/>
            <a:ext cx="618120" cy="290160"/>
          </a:xfrm>
          <a:custGeom>
            <a:avLst/>
            <a:gdLst/>
            <a:ahLst/>
            <a:rect l="0" t="0" r="r" b="b"/>
            <a:pathLst>
              <a:path w="1717" h="806">
                <a:moveTo>
                  <a:pt x="0" y="0"/>
                </a:moveTo>
                <a:lnTo>
                  <a:pt x="1717" y="0"/>
                </a:lnTo>
                <a:lnTo>
                  <a:pt x="1717" y="806"/>
                </a:lnTo>
                <a:lnTo>
                  <a:pt x="0" y="806"/>
                </a:lnTo>
                <a:lnTo>
                  <a:pt x="0" y="0"/>
                </a:ln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/>
          <p:nvPr/>
        </p:nvSpPr>
        <p:spPr>
          <a:xfrm>
            <a:off x="3755520" y="4221720"/>
            <a:ext cx="298080" cy="290160"/>
          </a:xfrm>
          <a:custGeom>
            <a:avLst/>
            <a:gdLst/>
            <a:ahLst/>
            <a:rect l="0" t="0" r="r" b="b"/>
            <a:pathLst>
              <a:path w="828" h="806">
                <a:moveTo>
                  <a:pt x="0" y="0"/>
                </a:moveTo>
                <a:lnTo>
                  <a:pt x="828" y="0"/>
                </a:lnTo>
                <a:lnTo>
                  <a:pt x="828" y="806"/>
                </a:lnTo>
                <a:lnTo>
                  <a:pt x="0" y="806"/>
                </a:lnTo>
                <a:lnTo>
                  <a:pt x="0" y="0"/>
                </a:lnTo>
                <a:close/>
              </a:path>
            </a:pathLst>
          </a:custGeom>
          <a:solidFill>
            <a:srgbClr val="CC79A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/>
          <p:nvPr/>
        </p:nvSpPr>
        <p:spPr>
          <a:xfrm>
            <a:off x="3755520" y="3775680"/>
            <a:ext cx="9360" cy="290160"/>
          </a:xfrm>
          <a:custGeom>
            <a:avLst/>
            <a:gdLst/>
            <a:ahLst/>
            <a:rect l="0" t="0" r="r" b="b"/>
            <a:pathLst>
              <a:path w="26" h="806">
                <a:moveTo>
                  <a:pt x="0" y="0"/>
                </a:moveTo>
                <a:lnTo>
                  <a:pt x="26" y="0"/>
                </a:lnTo>
                <a:lnTo>
                  <a:pt x="26" y="806"/>
                </a:lnTo>
                <a:lnTo>
                  <a:pt x="0" y="806"/>
                </a:lnTo>
                <a:lnTo>
                  <a:pt x="0" y="0"/>
                </a:ln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/>
          <p:nvPr/>
        </p:nvSpPr>
        <p:spPr>
          <a:xfrm flipV="1">
            <a:off x="3755520" y="3653280"/>
            <a:ext cx="0" cy="1872360"/>
          </a:xfrm>
          <a:prstGeom prst="line">
            <a:avLst/>
          </a:prstGeom>
          <a:ln w="7920">
            <a:solidFill>
              <a:srgbClr val="7F7F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 txBox="1"/>
          <p:nvPr/>
        </p:nvSpPr>
        <p:spPr>
          <a:xfrm>
            <a:off x="4573080" y="108360"/>
            <a:ext cx="16488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1357920" y="3481920"/>
            <a:ext cx="30996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ΔAIC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 txBox="1"/>
          <p:nvPr/>
        </p:nvSpPr>
        <p:spPr>
          <a:xfrm>
            <a:off x="2163600" y="3481920"/>
            <a:ext cx="36612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ΔAUC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2969640" y="3481920"/>
            <a:ext cx="22536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ΔR²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/>
          <p:nvPr/>
        </p:nvSpPr>
        <p:spPr>
          <a:xfrm>
            <a:off x="1307160" y="5525640"/>
            <a:ext cx="679320" cy="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/>
          <p:nvPr/>
        </p:nvSpPr>
        <p:spPr>
          <a:xfrm flipV="1">
            <a:off x="1377000" y="552564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/>
          <p:nvPr/>
        </p:nvSpPr>
        <p:spPr>
          <a:xfrm flipV="1">
            <a:off x="1573200" y="552564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/>
          <p:nvPr/>
        </p:nvSpPr>
        <p:spPr>
          <a:xfrm flipV="1">
            <a:off x="1769760" y="552564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/>
          <p:nvPr/>
        </p:nvSpPr>
        <p:spPr>
          <a:xfrm flipV="1">
            <a:off x="1965960" y="552564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 txBox="1"/>
          <p:nvPr/>
        </p:nvSpPr>
        <p:spPr>
          <a:xfrm>
            <a:off x="3775320" y="3481920"/>
            <a:ext cx="14796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|β|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 txBox="1"/>
          <p:nvPr/>
        </p:nvSpPr>
        <p:spPr>
          <a:xfrm>
            <a:off x="1351800" y="5570280"/>
            <a:ext cx="101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 txBox="1"/>
          <p:nvPr/>
        </p:nvSpPr>
        <p:spPr>
          <a:xfrm>
            <a:off x="1522800" y="5570280"/>
            <a:ext cx="1141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 txBox="1"/>
          <p:nvPr/>
        </p:nvSpPr>
        <p:spPr>
          <a:xfrm>
            <a:off x="1719000" y="5570280"/>
            <a:ext cx="1141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20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/>
          <p:nvPr/>
        </p:nvSpPr>
        <p:spPr>
          <a:xfrm>
            <a:off x="2112840" y="5525640"/>
            <a:ext cx="679320" cy="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/>
          <p:nvPr/>
        </p:nvSpPr>
        <p:spPr>
          <a:xfrm flipV="1">
            <a:off x="2143800" y="552564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/>
          <p:nvPr/>
        </p:nvSpPr>
        <p:spPr>
          <a:xfrm flipV="1">
            <a:off x="2377800" y="552564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/>
          <p:nvPr/>
        </p:nvSpPr>
        <p:spPr>
          <a:xfrm flipV="1">
            <a:off x="2612160" y="552564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 txBox="1"/>
          <p:nvPr/>
        </p:nvSpPr>
        <p:spPr>
          <a:xfrm>
            <a:off x="1915560" y="5570280"/>
            <a:ext cx="1141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30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 txBox="1"/>
          <p:nvPr/>
        </p:nvSpPr>
        <p:spPr>
          <a:xfrm>
            <a:off x="2118600" y="5570280"/>
            <a:ext cx="101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/>
          <p:nvPr/>
        </p:nvSpPr>
        <p:spPr>
          <a:xfrm>
            <a:off x="2918880" y="5525640"/>
            <a:ext cx="679320" cy="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/>
          <p:nvPr/>
        </p:nvSpPr>
        <p:spPr>
          <a:xfrm flipV="1">
            <a:off x="2990160" y="552564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/>
          <p:nvPr/>
        </p:nvSpPr>
        <p:spPr>
          <a:xfrm flipV="1">
            <a:off x="3282120" y="552564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/>
          <p:nvPr/>
        </p:nvSpPr>
        <p:spPr>
          <a:xfrm flipV="1">
            <a:off x="3574080" y="552564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 txBox="1"/>
          <p:nvPr/>
        </p:nvSpPr>
        <p:spPr>
          <a:xfrm>
            <a:off x="2289240" y="5570280"/>
            <a:ext cx="42660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0.02 0.04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 txBox="1"/>
          <p:nvPr/>
        </p:nvSpPr>
        <p:spPr>
          <a:xfrm>
            <a:off x="2964960" y="5570280"/>
            <a:ext cx="101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 txBox="1"/>
          <p:nvPr/>
        </p:nvSpPr>
        <p:spPr>
          <a:xfrm>
            <a:off x="3168000" y="5570280"/>
            <a:ext cx="2563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0.005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/>
          <p:nvPr/>
        </p:nvSpPr>
        <p:spPr>
          <a:xfrm>
            <a:off x="3724560" y="5525640"/>
            <a:ext cx="679320" cy="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/>
          <p:nvPr/>
        </p:nvSpPr>
        <p:spPr>
          <a:xfrm flipV="1">
            <a:off x="3755520" y="552564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/>
          <p:nvPr/>
        </p:nvSpPr>
        <p:spPr>
          <a:xfrm flipV="1">
            <a:off x="3937680" y="552564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/>
          <p:nvPr/>
        </p:nvSpPr>
        <p:spPr>
          <a:xfrm flipV="1">
            <a:off x="4119840" y="552564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/>
          <p:nvPr/>
        </p:nvSpPr>
        <p:spPr>
          <a:xfrm flipV="1">
            <a:off x="4301640" y="552564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 txBox="1"/>
          <p:nvPr/>
        </p:nvSpPr>
        <p:spPr>
          <a:xfrm>
            <a:off x="3485520" y="5570280"/>
            <a:ext cx="2847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0.01 0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/>
          <p:nvPr/>
        </p:nvSpPr>
        <p:spPr>
          <a:xfrm flipV="1">
            <a:off x="1307160" y="3653280"/>
            <a:ext cx="0" cy="187236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 txBox="1"/>
          <p:nvPr/>
        </p:nvSpPr>
        <p:spPr>
          <a:xfrm>
            <a:off x="3874320" y="5570280"/>
            <a:ext cx="4831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0.1 0.2 0.3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 txBox="1"/>
          <p:nvPr/>
        </p:nvSpPr>
        <p:spPr>
          <a:xfrm>
            <a:off x="297720" y="5207760"/>
            <a:ext cx="9939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accumulated warming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 txBox="1"/>
          <p:nvPr/>
        </p:nvSpPr>
        <p:spPr>
          <a:xfrm>
            <a:off x="716760" y="4761720"/>
            <a:ext cx="56268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survey effort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 txBox="1"/>
          <p:nvPr/>
        </p:nvSpPr>
        <p:spPr>
          <a:xfrm>
            <a:off x="615240" y="4316040"/>
            <a:ext cx="664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climate x effort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/>
          <p:nvPr/>
        </p:nvSpPr>
        <p:spPr>
          <a:xfrm>
            <a:off x="1275480" y="525816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/>
          <p:nvPr/>
        </p:nvSpPr>
        <p:spPr>
          <a:xfrm>
            <a:off x="1275480" y="481248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"/>
          <p:cNvSpPr/>
          <p:nvPr/>
        </p:nvSpPr>
        <p:spPr>
          <a:xfrm>
            <a:off x="1275480" y="436644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/>
          <p:nvPr/>
        </p:nvSpPr>
        <p:spPr>
          <a:xfrm>
            <a:off x="1275480" y="392076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 txBox="1"/>
          <p:nvPr/>
        </p:nvSpPr>
        <p:spPr>
          <a:xfrm>
            <a:off x="526320" y="3870000"/>
            <a:ext cx="76140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annual variability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 txBox="1"/>
          <p:nvPr/>
        </p:nvSpPr>
        <p:spPr>
          <a:xfrm>
            <a:off x="1388880" y="6014160"/>
            <a:ext cx="280620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0" u="none" strike="noStrike">
                <a:solidFill>
                  <a:srgbClr val="0D0D0D"/>
                </a:solidFill>
                <a:effectLst/>
                <a:uFillTx/>
                <a:latin typeface="Arial"/>
                <a:ea typeface="Arial"/>
              </a:rPr>
              <a:t>Loss when the term is dropped from the full model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 txBox="1"/>
          <p:nvPr/>
        </p:nvSpPr>
        <p:spPr>
          <a:xfrm>
            <a:off x="1307160" y="3083400"/>
            <a:ext cx="259668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ΔAIC and ΔAUC on ﬁxed effects; ΔR² conditional;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 txBox="1"/>
          <p:nvPr/>
        </p:nvSpPr>
        <p:spPr>
          <a:xfrm>
            <a:off x="1307160" y="3209400"/>
            <a:ext cx="219780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 |β| standardised. Larger = more important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 txBox="1"/>
          <p:nvPr/>
        </p:nvSpPr>
        <p:spPr>
          <a:xfrm>
            <a:off x="1307160" y="2892960"/>
            <a:ext cx="205308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Warming and effort matter equally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"/>
          <p:cNvSpPr/>
          <p:nvPr/>
        </p:nvSpPr>
        <p:spPr>
          <a:xfrm>
            <a:off x="4961520" y="3653280"/>
            <a:ext cx="3097440" cy="1872720"/>
          </a:xfrm>
          <a:custGeom>
            <a:avLst/>
            <a:gdLst/>
            <a:ahLst/>
            <a:rect l="0" t="0" r="r" b="b"/>
            <a:pathLst>
              <a:path w="8604" h="5202">
                <a:moveTo>
                  <a:pt x="0" y="0"/>
                </a:moveTo>
                <a:lnTo>
                  <a:pt x="8604" y="0"/>
                </a:lnTo>
                <a:lnTo>
                  <a:pt x="8604" y="5202"/>
                </a:lnTo>
                <a:lnTo>
                  <a:pt x="0" y="520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/>
          <p:nvPr/>
        </p:nvSpPr>
        <p:spPr>
          <a:xfrm>
            <a:off x="4961520" y="5327280"/>
            <a:ext cx="309708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"/>
          <p:cNvSpPr/>
          <p:nvPr/>
        </p:nvSpPr>
        <p:spPr>
          <a:xfrm>
            <a:off x="4961520" y="4759560"/>
            <a:ext cx="309708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"/>
          <p:cNvSpPr/>
          <p:nvPr/>
        </p:nvSpPr>
        <p:spPr>
          <a:xfrm>
            <a:off x="4961520" y="4192200"/>
            <a:ext cx="309708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/>
          <p:nvPr/>
        </p:nvSpPr>
        <p:spPr>
          <a:xfrm>
            <a:off x="4961520" y="4759560"/>
            <a:ext cx="3090240" cy="0"/>
          </a:xfrm>
          <a:prstGeom prst="line">
            <a:avLst/>
          </a:prstGeom>
          <a:ln w="9360">
            <a:solidFill>
              <a:srgbClr val="8C8C8C"/>
            </a:solidFill>
            <a:custDash>
              <a:ds d="403846" sp="403846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/>
          <p:nvPr/>
        </p:nvSpPr>
        <p:spPr>
          <a:xfrm>
            <a:off x="5261400" y="4125960"/>
            <a:ext cx="2498040" cy="1138320"/>
          </a:xfrm>
          <a:custGeom>
            <a:avLst/>
            <a:gdLst/>
            <a:ahLst/>
            <a:rect l="0" t="0" r="r" b="b"/>
            <a:pathLst>
              <a:path fill="none" w="6939" h="3162">
                <a:moveTo>
                  <a:pt x="0" y="3162"/>
                </a:moveTo>
                <a:lnTo>
                  <a:pt x="1388" y="832"/>
                </a:lnTo>
                <a:lnTo>
                  <a:pt x="2776" y="496"/>
                </a:lnTo>
                <a:lnTo>
                  <a:pt x="4163" y="32"/>
                </a:lnTo>
                <a:lnTo>
                  <a:pt x="5551" y="35"/>
                </a:lnTo>
                <a:lnTo>
                  <a:pt x="6939" y="0"/>
                </a:lnTo>
              </a:path>
            </a:pathLst>
          </a:custGeom>
          <a:ln w="13320">
            <a:solidFill>
              <a:srgbClr val="999999"/>
            </a:solidFill>
            <a:round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/>
          <p:nvPr/>
        </p:nvSpPr>
        <p:spPr>
          <a:xfrm>
            <a:off x="5224680" y="5227200"/>
            <a:ext cx="73800" cy="73800"/>
          </a:xfrm>
          <a:custGeom>
            <a:avLst/>
            <a:gdLst/>
            <a:ahLst/>
            <a:rect l="0" t="0" r="r" b="b"/>
            <a:pathLst>
              <a:path w="205" h="205">
                <a:moveTo>
                  <a:pt x="0" y="103"/>
                </a:moveTo>
                <a:cubicBezTo>
                  <a:pt x="0" y="-34"/>
                  <a:pt x="205" y="-34"/>
                  <a:pt x="205" y="103"/>
                </a:cubicBezTo>
                <a:cubicBezTo>
                  <a:pt x="205" y="239"/>
                  <a:pt x="0" y="239"/>
                  <a:pt x="0" y="103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/>
          <p:nvPr/>
        </p:nvSpPr>
        <p:spPr>
          <a:xfrm>
            <a:off x="5224680" y="5227200"/>
            <a:ext cx="73800" cy="73800"/>
          </a:xfrm>
          <a:custGeom>
            <a:avLst/>
            <a:gdLst/>
            <a:ahLst/>
            <a:rect l="0" t="0" r="r" b="b"/>
            <a:pathLst>
              <a:path fill="none" w="205" h="205">
                <a:moveTo>
                  <a:pt x="205" y="103"/>
                </a:moveTo>
                <a:cubicBezTo>
                  <a:pt x="205" y="239"/>
                  <a:pt x="0" y="239"/>
                  <a:pt x="0" y="103"/>
                </a:cubicBezTo>
                <a:cubicBezTo>
                  <a:pt x="0" y="-34"/>
                  <a:pt x="205" y="-34"/>
                  <a:pt x="205" y="103"/>
                </a:cubicBezTo>
              </a:path>
            </a:pathLst>
          </a:custGeom>
          <a:ln cap="rnd" w="7920">
            <a:solidFill>
              <a:srgbClr val="0072B2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/>
          <p:nvPr/>
        </p:nvSpPr>
        <p:spPr>
          <a:xfrm>
            <a:off x="5724360" y="4389120"/>
            <a:ext cx="73440" cy="73440"/>
          </a:xfrm>
          <a:custGeom>
            <a:avLst/>
            <a:gdLst/>
            <a:ahLst/>
            <a:rect l="0" t="0" r="r" b="b"/>
            <a:pathLst>
              <a:path w="204" h="204">
                <a:moveTo>
                  <a:pt x="0" y="102"/>
                </a:moveTo>
                <a:cubicBezTo>
                  <a:pt x="0" y="-34"/>
                  <a:pt x="204" y="-34"/>
                  <a:pt x="204" y="102"/>
                </a:cubicBezTo>
                <a:cubicBezTo>
                  <a:pt x="204" y="238"/>
                  <a:pt x="0" y="238"/>
                  <a:pt x="0" y="102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/>
          <p:nvPr/>
        </p:nvSpPr>
        <p:spPr>
          <a:xfrm>
            <a:off x="5724360" y="4389120"/>
            <a:ext cx="73440" cy="73440"/>
          </a:xfrm>
          <a:custGeom>
            <a:avLst/>
            <a:gdLst/>
            <a:ahLst/>
            <a:rect l="0" t="0" r="r" b="b"/>
            <a:pathLst>
              <a:path fill="none" w="204" h="204">
                <a:moveTo>
                  <a:pt x="204" y="102"/>
                </a:moveTo>
                <a:cubicBezTo>
                  <a:pt x="204" y="238"/>
                  <a:pt x="0" y="238"/>
                  <a:pt x="0" y="102"/>
                </a:cubicBezTo>
                <a:cubicBezTo>
                  <a:pt x="0" y="-34"/>
                  <a:pt x="204" y="-34"/>
                  <a:pt x="204" y="102"/>
                </a:cubicBezTo>
              </a:path>
            </a:pathLst>
          </a:custGeom>
          <a:ln cap="rnd" w="7920">
            <a:solidFill>
              <a:srgbClr val="0072B2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"/>
          <p:cNvSpPr/>
          <p:nvPr/>
        </p:nvSpPr>
        <p:spPr>
          <a:xfrm>
            <a:off x="6223680" y="4268160"/>
            <a:ext cx="73800" cy="73800"/>
          </a:xfrm>
          <a:custGeom>
            <a:avLst/>
            <a:gdLst/>
            <a:ahLst/>
            <a:rect l="0" t="0" r="r" b="b"/>
            <a:pathLst>
              <a:path w="205" h="205">
                <a:moveTo>
                  <a:pt x="0" y="102"/>
                </a:moveTo>
                <a:cubicBezTo>
                  <a:pt x="0" y="-34"/>
                  <a:pt x="205" y="-34"/>
                  <a:pt x="205" y="102"/>
                </a:cubicBezTo>
                <a:cubicBezTo>
                  <a:pt x="205" y="239"/>
                  <a:pt x="0" y="239"/>
                  <a:pt x="0" y="102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/>
          <p:nvPr/>
        </p:nvSpPr>
        <p:spPr>
          <a:xfrm>
            <a:off x="6223680" y="4268160"/>
            <a:ext cx="73800" cy="73800"/>
          </a:xfrm>
          <a:custGeom>
            <a:avLst/>
            <a:gdLst/>
            <a:ahLst/>
            <a:rect l="0" t="0" r="r" b="b"/>
            <a:pathLst>
              <a:path fill="none" w="205" h="205">
                <a:moveTo>
                  <a:pt x="205" y="102"/>
                </a:moveTo>
                <a:cubicBezTo>
                  <a:pt x="205" y="239"/>
                  <a:pt x="0" y="239"/>
                  <a:pt x="0" y="102"/>
                </a:cubicBezTo>
                <a:cubicBezTo>
                  <a:pt x="0" y="-34"/>
                  <a:pt x="205" y="-34"/>
                  <a:pt x="205" y="102"/>
                </a:cubicBezTo>
              </a:path>
            </a:pathLst>
          </a:custGeom>
          <a:ln cap="rnd" w="7920">
            <a:solidFill>
              <a:srgbClr val="0072B2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/>
          <p:nvPr/>
        </p:nvSpPr>
        <p:spPr>
          <a:xfrm>
            <a:off x="6723360" y="4100760"/>
            <a:ext cx="73440" cy="73800"/>
          </a:xfrm>
          <a:custGeom>
            <a:avLst/>
            <a:gdLst/>
            <a:ahLst/>
            <a:rect l="0" t="0" r="r" b="b"/>
            <a:pathLst>
              <a:path w="204" h="205">
                <a:moveTo>
                  <a:pt x="0" y="103"/>
                </a:moveTo>
                <a:cubicBezTo>
                  <a:pt x="0" y="-34"/>
                  <a:pt x="204" y="-34"/>
                  <a:pt x="204" y="103"/>
                </a:cubicBezTo>
                <a:cubicBezTo>
                  <a:pt x="204" y="239"/>
                  <a:pt x="0" y="239"/>
                  <a:pt x="0" y="103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/>
          <p:nvPr/>
        </p:nvSpPr>
        <p:spPr>
          <a:xfrm>
            <a:off x="6723360" y="4100760"/>
            <a:ext cx="73440" cy="73800"/>
          </a:xfrm>
          <a:custGeom>
            <a:avLst/>
            <a:gdLst/>
            <a:ahLst/>
            <a:rect l="0" t="0" r="r" b="b"/>
            <a:pathLst>
              <a:path fill="none" w="204" h="205">
                <a:moveTo>
                  <a:pt x="204" y="103"/>
                </a:moveTo>
                <a:cubicBezTo>
                  <a:pt x="204" y="239"/>
                  <a:pt x="0" y="239"/>
                  <a:pt x="0" y="103"/>
                </a:cubicBezTo>
                <a:cubicBezTo>
                  <a:pt x="0" y="-34"/>
                  <a:pt x="204" y="-34"/>
                  <a:pt x="204" y="103"/>
                </a:cubicBezTo>
              </a:path>
            </a:pathLst>
          </a:custGeom>
          <a:ln cap="rnd" w="7920">
            <a:solidFill>
              <a:srgbClr val="0072B2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/>
          <p:nvPr/>
        </p:nvSpPr>
        <p:spPr>
          <a:xfrm>
            <a:off x="7222680" y="4102200"/>
            <a:ext cx="73800" cy="73440"/>
          </a:xfrm>
          <a:custGeom>
            <a:avLst/>
            <a:gdLst/>
            <a:ahLst/>
            <a:rect l="0" t="0" r="r" b="b"/>
            <a:pathLst>
              <a:path w="205" h="204">
                <a:moveTo>
                  <a:pt x="0" y="102"/>
                </a:moveTo>
                <a:cubicBezTo>
                  <a:pt x="0" y="-34"/>
                  <a:pt x="205" y="-34"/>
                  <a:pt x="205" y="102"/>
                </a:cubicBezTo>
                <a:cubicBezTo>
                  <a:pt x="205" y="238"/>
                  <a:pt x="0" y="238"/>
                  <a:pt x="0" y="102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/>
          <p:nvPr/>
        </p:nvSpPr>
        <p:spPr>
          <a:xfrm>
            <a:off x="7222680" y="4102200"/>
            <a:ext cx="73800" cy="73440"/>
          </a:xfrm>
          <a:custGeom>
            <a:avLst/>
            <a:gdLst/>
            <a:ahLst/>
            <a:rect l="0" t="0" r="r" b="b"/>
            <a:pathLst>
              <a:path fill="none" w="205" h="204">
                <a:moveTo>
                  <a:pt x="205" y="102"/>
                </a:moveTo>
                <a:cubicBezTo>
                  <a:pt x="205" y="238"/>
                  <a:pt x="0" y="238"/>
                  <a:pt x="0" y="102"/>
                </a:cubicBezTo>
                <a:cubicBezTo>
                  <a:pt x="0" y="-34"/>
                  <a:pt x="205" y="-34"/>
                  <a:pt x="205" y="102"/>
                </a:cubicBezTo>
              </a:path>
            </a:pathLst>
          </a:custGeom>
          <a:ln cap="rnd" w="7920">
            <a:solidFill>
              <a:srgbClr val="0072B2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/>
          <p:nvPr/>
        </p:nvSpPr>
        <p:spPr>
          <a:xfrm>
            <a:off x="7722360" y="4089240"/>
            <a:ext cx="73440" cy="73800"/>
          </a:xfrm>
          <a:custGeom>
            <a:avLst/>
            <a:gdLst/>
            <a:ahLst/>
            <a:rect l="0" t="0" r="r" b="b"/>
            <a:pathLst>
              <a:path w="204" h="205">
                <a:moveTo>
                  <a:pt x="0" y="102"/>
                </a:moveTo>
                <a:cubicBezTo>
                  <a:pt x="0" y="-34"/>
                  <a:pt x="204" y="-34"/>
                  <a:pt x="204" y="102"/>
                </a:cubicBezTo>
                <a:cubicBezTo>
                  <a:pt x="204" y="239"/>
                  <a:pt x="0" y="239"/>
                  <a:pt x="0" y="102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/>
          <p:nvPr/>
        </p:nvSpPr>
        <p:spPr>
          <a:xfrm>
            <a:off x="7722360" y="4089240"/>
            <a:ext cx="73440" cy="73800"/>
          </a:xfrm>
          <a:custGeom>
            <a:avLst/>
            <a:gdLst/>
            <a:ahLst/>
            <a:rect l="0" t="0" r="r" b="b"/>
            <a:pathLst>
              <a:path fill="none" w="204" h="205">
                <a:moveTo>
                  <a:pt x="204" y="102"/>
                </a:moveTo>
                <a:cubicBezTo>
                  <a:pt x="204" y="239"/>
                  <a:pt x="0" y="239"/>
                  <a:pt x="0" y="102"/>
                </a:cubicBezTo>
                <a:cubicBezTo>
                  <a:pt x="0" y="-34"/>
                  <a:pt x="204" y="-34"/>
                  <a:pt x="204" y="102"/>
                </a:cubicBezTo>
              </a:path>
            </a:pathLst>
          </a:custGeom>
          <a:ln cap="rnd" w="7920">
            <a:solidFill>
              <a:srgbClr val="0072B2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"/>
          <p:cNvSpPr txBox="1"/>
          <p:nvPr/>
        </p:nvSpPr>
        <p:spPr>
          <a:xfrm>
            <a:off x="147600" y="2865600"/>
            <a:ext cx="16488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"/>
          <p:cNvSpPr txBox="1"/>
          <p:nvPr/>
        </p:nvSpPr>
        <p:spPr>
          <a:xfrm>
            <a:off x="5134680" y="5091480"/>
            <a:ext cx="25992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0.411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"/>
          <p:cNvSpPr txBox="1"/>
          <p:nvPr/>
        </p:nvSpPr>
        <p:spPr>
          <a:xfrm>
            <a:off x="5621400" y="4253040"/>
            <a:ext cx="25992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0.559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"/>
          <p:cNvSpPr txBox="1"/>
          <p:nvPr/>
        </p:nvSpPr>
        <p:spPr>
          <a:xfrm>
            <a:off x="6121080" y="4132080"/>
            <a:ext cx="25992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0.580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"/>
          <p:cNvSpPr txBox="1"/>
          <p:nvPr/>
        </p:nvSpPr>
        <p:spPr>
          <a:xfrm>
            <a:off x="6620400" y="3965040"/>
            <a:ext cx="25992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0.610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"/>
          <p:cNvSpPr txBox="1"/>
          <p:nvPr/>
        </p:nvSpPr>
        <p:spPr>
          <a:xfrm>
            <a:off x="7119720" y="3966120"/>
            <a:ext cx="25992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0.609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"/>
          <p:cNvSpPr/>
          <p:nvPr/>
        </p:nvSpPr>
        <p:spPr>
          <a:xfrm flipV="1">
            <a:off x="4961520" y="3653280"/>
            <a:ext cx="0" cy="187236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 txBox="1"/>
          <p:nvPr/>
        </p:nvSpPr>
        <p:spPr>
          <a:xfrm>
            <a:off x="7619400" y="3953520"/>
            <a:ext cx="25992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0.612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4777920" y="527652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0.4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"/>
          <p:cNvSpPr txBox="1"/>
          <p:nvPr/>
        </p:nvSpPr>
        <p:spPr>
          <a:xfrm>
            <a:off x="4777920" y="470916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0.5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"/>
          <p:cNvSpPr/>
          <p:nvPr/>
        </p:nvSpPr>
        <p:spPr>
          <a:xfrm>
            <a:off x="4930200" y="5327280"/>
            <a:ext cx="3132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"/>
          <p:cNvSpPr/>
          <p:nvPr/>
        </p:nvSpPr>
        <p:spPr>
          <a:xfrm>
            <a:off x="4930200" y="4759560"/>
            <a:ext cx="3132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"/>
          <p:cNvSpPr/>
          <p:nvPr/>
        </p:nvSpPr>
        <p:spPr>
          <a:xfrm>
            <a:off x="4930200" y="4192200"/>
            <a:ext cx="3132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"/>
          <p:cNvSpPr/>
          <p:nvPr/>
        </p:nvSpPr>
        <p:spPr>
          <a:xfrm>
            <a:off x="4961520" y="5525640"/>
            <a:ext cx="3097080" cy="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"/>
          <p:cNvSpPr/>
          <p:nvPr/>
        </p:nvSpPr>
        <p:spPr>
          <a:xfrm flipV="1">
            <a:off x="5261400" y="552564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"/>
          <p:cNvSpPr/>
          <p:nvPr/>
        </p:nvSpPr>
        <p:spPr>
          <a:xfrm flipV="1">
            <a:off x="5761080" y="552564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"/>
          <p:cNvSpPr/>
          <p:nvPr/>
        </p:nvSpPr>
        <p:spPr>
          <a:xfrm flipV="1">
            <a:off x="6260400" y="552564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"/>
          <p:cNvSpPr/>
          <p:nvPr/>
        </p:nvSpPr>
        <p:spPr>
          <a:xfrm flipV="1">
            <a:off x="6759720" y="552564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"/>
          <p:cNvSpPr/>
          <p:nvPr/>
        </p:nvSpPr>
        <p:spPr>
          <a:xfrm flipV="1">
            <a:off x="7259400" y="552564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"/>
          <p:cNvSpPr/>
          <p:nvPr/>
        </p:nvSpPr>
        <p:spPr>
          <a:xfrm flipV="1">
            <a:off x="7759080" y="552564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"/>
          <p:cNvSpPr txBox="1"/>
          <p:nvPr/>
        </p:nvSpPr>
        <p:spPr>
          <a:xfrm>
            <a:off x="4777920" y="414144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0.6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"/>
          <p:cNvSpPr txBox="1"/>
          <p:nvPr/>
        </p:nvSpPr>
        <p:spPr>
          <a:xfrm rot="20400000">
            <a:off x="5126760" y="5592600"/>
            <a:ext cx="15984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null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"/>
          <p:cNvSpPr txBox="1"/>
          <p:nvPr/>
        </p:nvSpPr>
        <p:spPr>
          <a:xfrm rot="20400000">
            <a:off x="5564160" y="5601600"/>
            <a:ext cx="23328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effort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"/>
          <p:cNvSpPr txBox="1"/>
          <p:nvPr/>
        </p:nvSpPr>
        <p:spPr>
          <a:xfrm rot="20400000">
            <a:off x="5965560" y="5620680"/>
            <a:ext cx="32400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climate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"/>
          <p:cNvSpPr txBox="1"/>
          <p:nvPr/>
        </p:nvSpPr>
        <p:spPr>
          <a:xfrm rot="20400000">
            <a:off x="6144120" y="5673960"/>
            <a:ext cx="67320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effort + climate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"/>
          <p:cNvSpPr txBox="1"/>
          <p:nvPr/>
        </p:nvSpPr>
        <p:spPr>
          <a:xfrm rot="20400000">
            <a:off x="6483240" y="5700240"/>
            <a:ext cx="84924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+ annual variability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"/>
          <p:cNvSpPr txBox="1"/>
          <p:nvPr/>
        </p:nvSpPr>
        <p:spPr>
          <a:xfrm rot="20400000">
            <a:off x="6909120" y="5715720"/>
            <a:ext cx="9115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+ interaction (MAIN)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"/>
          <p:cNvSpPr txBox="1"/>
          <p:nvPr/>
        </p:nvSpPr>
        <p:spPr>
          <a:xfrm rot="16200000">
            <a:off x="3903120" y="4553280"/>
            <a:ext cx="153324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0" u="none" strike="noStrike">
                <a:solidFill>
                  <a:srgbClr val="0D0D0D"/>
                </a:solidFill>
                <a:effectLst/>
                <a:uFillTx/>
                <a:latin typeface="Arial"/>
                <a:ea typeface="Arial"/>
              </a:rPr>
              <a:t>AUC from ﬁxed effects only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"/>
          <p:cNvSpPr txBox="1"/>
          <p:nvPr/>
        </p:nvSpPr>
        <p:spPr>
          <a:xfrm>
            <a:off x="4961880" y="3083400"/>
            <a:ext cx="253152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Discrimination gained as ﬁxed effects are added;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"/>
          <p:cNvSpPr txBox="1"/>
          <p:nvPr/>
        </p:nvSpPr>
        <p:spPr>
          <a:xfrm>
            <a:off x="4961880" y="3209400"/>
            <a:ext cx="214020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 random structure held at the main model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"/>
          <p:cNvSpPr txBox="1"/>
          <p:nvPr/>
        </p:nvSpPr>
        <p:spPr>
          <a:xfrm>
            <a:off x="4961880" y="2892960"/>
            <a:ext cx="192672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Neither factor alone is sufﬁcient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"/>
          <p:cNvSpPr txBox="1"/>
          <p:nvPr/>
        </p:nvSpPr>
        <p:spPr>
          <a:xfrm>
            <a:off x="4573080" y="2865600"/>
            <a:ext cx="16488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/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Chenchen Ding</dc:creator>
  <dc:description/>
  <dc:language>zh-CN</dc:language>
  <cp:lastModifiedBy>Chenchen Ding</cp:lastModifiedBy>
  <cp:revision>0</cp:revision>
  <dc:subject/>
  <dc:title>Figure1</dc:title>
</cp:coreProperties>
</file>