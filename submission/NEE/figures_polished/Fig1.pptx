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495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64880"/>
            <a:ext cx="5919840" cy="69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967680"/>
            <a:ext cx="5919840" cy="239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496040"/>
          </a:xfrm>
          <a:custGeom>
            <a:avLst/>
            <a:gdLst/>
            <a:ahLst/>
            <a:rect l="0" t="0" r="r" b="b"/>
            <a:pathLst>
              <a:path w="18274" h="12489">
                <a:moveTo>
                  <a:pt x="0" y="0"/>
                </a:moveTo>
                <a:lnTo>
                  <a:pt x="18274" y="0"/>
                </a:lnTo>
                <a:lnTo>
                  <a:pt x="18274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496040"/>
          </a:xfrm>
          <a:custGeom>
            <a:avLst/>
            <a:gdLst/>
            <a:ahLst/>
            <a:rect l="0" t="0" r="r" b="b"/>
            <a:pathLst>
              <a:path w="18274" h="12489">
                <a:moveTo>
                  <a:pt x="0" y="0"/>
                </a:moveTo>
                <a:lnTo>
                  <a:pt x="18274" y="0"/>
                </a:lnTo>
                <a:lnTo>
                  <a:pt x="18274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3486600" cy="2178000"/>
          </a:xfrm>
          <a:custGeom>
            <a:avLst/>
            <a:gdLst/>
            <a:ahLst/>
            <a:rect l="0" t="0" r="r" b="b"/>
            <a:pathLst>
              <a:path w="9685" h="6050">
                <a:moveTo>
                  <a:pt x="0" y="0"/>
                </a:moveTo>
                <a:lnTo>
                  <a:pt x="9685" y="0"/>
                </a:lnTo>
                <a:lnTo>
                  <a:pt x="9685" y="6050"/>
                </a:lnTo>
                <a:lnTo>
                  <a:pt x="0" y="6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511440" y="25200"/>
            <a:ext cx="3042000" cy="2178000"/>
          </a:xfrm>
          <a:custGeom>
            <a:avLst/>
            <a:gdLst/>
            <a:ahLst/>
            <a:rect l="0" t="0" r="r" b="b"/>
            <a:pathLst>
              <a:path w="8450" h="6050">
                <a:moveTo>
                  <a:pt x="0" y="0"/>
                </a:moveTo>
                <a:lnTo>
                  <a:pt x="8450" y="0"/>
                </a:lnTo>
                <a:lnTo>
                  <a:pt x="8450" y="6050"/>
                </a:lnTo>
                <a:lnTo>
                  <a:pt x="0" y="6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202840"/>
            <a:ext cx="3486600" cy="2268000"/>
          </a:xfrm>
          <a:custGeom>
            <a:avLst/>
            <a:gdLst/>
            <a:ahLst/>
            <a:rect l="0" t="0" r="r" b="b"/>
            <a:pathLst>
              <a:path w="9685" h="6300">
                <a:moveTo>
                  <a:pt x="0" y="0"/>
                </a:moveTo>
                <a:lnTo>
                  <a:pt x="9685" y="0"/>
                </a:lnTo>
                <a:lnTo>
                  <a:pt x="9685" y="6300"/>
                </a:lnTo>
                <a:lnTo>
                  <a:pt x="0" y="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3511440" y="2202840"/>
            <a:ext cx="3042000" cy="2268000"/>
          </a:xfrm>
          <a:custGeom>
            <a:avLst/>
            <a:gdLst/>
            <a:ahLst/>
            <a:rect l="0" t="0" r="r" b="b"/>
            <a:pathLst>
              <a:path w="8450" h="6300">
                <a:moveTo>
                  <a:pt x="0" y="0"/>
                </a:moveTo>
                <a:lnTo>
                  <a:pt x="8450" y="0"/>
                </a:lnTo>
                <a:lnTo>
                  <a:pt x="8450" y="6300"/>
                </a:lnTo>
                <a:lnTo>
                  <a:pt x="0" y="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804600" y="227880"/>
            <a:ext cx="2643840" cy="1653120"/>
          </a:xfrm>
          <a:custGeom>
            <a:avLst/>
            <a:gdLst/>
            <a:ahLst/>
            <a:rect l="0" t="0" r="r" b="b"/>
            <a:pathLst>
              <a:path w="7344" h="4592">
                <a:moveTo>
                  <a:pt x="0" y="0"/>
                </a:moveTo>
                <a:lnTo>
                  <a:pt x="7344" y="0"/>
                </a:lnTo>
                <a:lnTo>
                  <a:pt x="7344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 flipV="1">
            <a:off x="103644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 flipV="1">
            <a:off x="138672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 flipV="1">
            <a:off x="170028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 flipV="1">
            <a:off x="224244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 flipV="1">
            <a:off x="270072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V="1">
            <a:off x="3097800" y="227880"/>
            <a:ext cx="0" cy="1652760"/>
          </a:xfrm>
          <a:prstGeom prst="line">
            <a:avLst/>
          </a:prstGeom>
          <a:ln w="5400">
            <a:solidFill>
              <a:srgbClr val="ECEC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 flipV="1">
            <a:off x="1700280" y="227880"/>
            <a:ext cx="0" cy="165276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406600" y="338400"/>
            <a:ext cx="711720" cy="0"/>
          </a:xfrm>
          <a:prstGeom prst="line">
            <a:avLst/>
          </a:prstGeom>
          <a:ln w="1080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2408400" y="440640"/>
            <a:ext cx="714600" cy="0"/>
          </a:xfrm>
          <a:prstGeom prst="line">
            <a:avLst/>
          </a:prstGeom>
          <a:ln w="10800">
            <a:solidFill>
              <a:srgbClr val="628F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418840" y="542880"/>
            <a:ext cx="717840" cy="0"/>
          </a:xfrm>
          <a:prstGeom prst="line">
            <a:avLst/>
          </a:prstGeom>
          <a:ln w="10800">
            <a:solidFill>
              <a:srgbClr val="9AB7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288520" y="747360"/>
            <a:ext cx="672840" cy="0"/>
          </a:xfrm>
          <a:prstGeom prst="line">
            <a:avLst/>
          </a:prstGeom>
          <a:ln w="1080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312280" y="849960"/>
            <a:ext cx="686880" cy="0"/>
          </a:xfrm>
          <a:prstGeom prst="line">
            <a:avLst/>
          </a:prstGeom>
          <a:ln w="10800">
            <a:solidFill>
              <a:srgbClr val="DF88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2295000" y="952200"/>
            <a:ext cx="703080" cy="0"/>
          </a:xfrm>
          <a:prstGeom prst="line">
            <a:avLst/>
          </a:prstGeom>
          <a:ln w="10800">
            <a:solidFill>
              <a:srgbClr val="EAB3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413000" y="1156680"/>
            <a:ext cx="541800" cy="0"/>
          </a:xfrm>
          <a:prstGeom prst="line">
            <a:avLst/>
          </a:prstGeom>
          <a:ln w="1080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412640" y="1258920"/>
            <a:ext cx="543960" cy="0"/>
          </a:xfrm>
          <a:prstGeom prst="line">
            <a:avLst/>
          </a:prstGeom>
          <a:ln w="10800">
            <a:solidFill>
              <a:srgbClr val="B8B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412280" y="1361160"/>
            <a:ext cx="546120" cy="0"/>
          </a:xfrm>
          <a:prstGeom prst="line">
            <a:avLst/>
          </a:prstGeom>
          <a:ln w="10800">
            <a:solidFill>
              <a:srgbClr val="D2D2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851040" y="1565640"/>
            <a:ext cx="653760" cy="0"/>
          </a:xfrm>
          <a:prstGeom prst="line">
            <a:avLst/>
          </a:prstGeom>
          <a:ln w="1080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854280" y="1668240"/>
            <a:ext cx="655920" cy="0"/>
          </a:xfrm>
          <a:prstGeom prst="line">
            <a:avLst/>
          </a:prstGeom>
          <a:ln w="10800">
            <a:solidFill>
              <a:srgbClr val="76767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850320" y="1770480"/>
            <a:ext cx="657360" cy="0"/>
          </a:xfrm>
          <a:prstGeom prst="line">
            <a:avLst/>
          </a:prstGeom>
          <a:ln w="10800">
            <a:solidFill>
              <a:srgbClr val="A7A7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742120" y="317880"/>
            <a:ext cx="41040" cy="41400"/>
          </a:xfrm>
          <a:custGeom>
            <a:avLst/>
            <a:gdLst/>
            <a:ahLst/>
            <a:rect l="0" t="0" r="r" b="b"/>
            <a:pathLst>
              <a:path w="114" h="115">
                <a:moveTo>
                  <a:pt x="0" y="57"/>
                </a:moveTo>
                <a:cubicBezTo>
                  <a:pt x="0" y="-19"/>
                  <a:pt x="114" y="-19"/>
                  <a:pt x="114" y="57"/>
                </a:cubicBezTo>
                <a:cubicBezTo>
                  <a:pt x="114" y="134"/>
                  <a:pt x="0" y="134"/>
                  <a:pt x="0" y="57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742120" y="317880"/>
            <a:ext cx="41040" cy="41400"/>
          </a:xfrm>
          <a:custGeom>
            <a:avLst/>
            <a:gdLst/>
            <a:ahLst/>
            <a:rect l="0" t="0" r="r" b="b"/>
            <a:pathLst>
              <a:path fill="none" w="114" h="115">
                <a:moveTo>
                  <a:pt x="114" y="57"/>
                </a:moveTo>
                <a:cubicBezTo>
                  <a:pt x="114" y="134"/>
                  <a:pt x="0" y="134"/>
                  <a:pt x="0" y="57"/>
                </a:cubicBezTo>
                <a:cubicBezTo>
                  <a:pt x="0" y="-19"/>
                  <a:pt x="114" y="-19"/>
                  <a:pt x="114" y="57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2745000" y="420120"/>
            <a:ext cx="41400" cy="41760"/>
          </a:xfrm>
          <a:custGeom>
            <a:avLst/>
            <a:gdLst/>
            <a:ahLst/>
            <a:rect l="0" t="0" r="r" b="b"/>
            <a:pathLst>
              <a:path w="115" h="116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5"/>
                  <a:pt x="0" y="135"/>
                  <a:pt x="0" y="58"/>
                </a:cubicBezTo>
                <a:close/>
              </a:path>
            </a:pathLst>
          </a:custGeom>
          <a:solidFill>
            <a:srgbClr val="628F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745000" y="420120"/>
            <a:ext cx="41400" cy="41760"/>
          </a:xfrm>
          <a:custGeom>
            <a:avLst/>
            <a:gdLst/>
            <a:ahLst/>
            <a:rect l="0" t="0" r="r" b="b"/>
            <a:pathLst>
              <a:path fill="none" w="115" h="116">
                <a:moveTo>
                  <a:pt x="115" y="58"/>
                </a:moveTo>
                <a:cubicBezTo>
                  <a:pt x="115" y="135"/>
                  <a:pt x="0" y="135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628FB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757240" y="5223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9AB7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757240" y="52236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9AB7D3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2604600" y="72720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604600" y="72720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635200" y="8294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DF88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635200" y="8294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DF886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625840" y="93168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EAB3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625840" y="93168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EAB3A0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663200" y="113616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663200" y="113616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664280" y="1238400"/>
            <a:ext cx="41040" cy="41760"/>
          </a:xfrm>
          <a:custGeom>
            <a:avLst/>
            <a:gdLst/>
            <a:ahLst/>
            <a:rect l="0" t="0" r="r" b="b"/>
            <a:pathLst>
              <a:path w="114" h="116">
                <a:moveTo>
                  <a:pt x="0" y="58"/>
                </a:moveTo>
                <a:cubicBezTo>
                  <a:pt x="0" y="-19"/>
                  <a:pt x="114" y="-19"/>
                  <a:pt x="114" y="58"/>
                </a:cubicBezTo>
                <a:cubicBezTo>
                  <a:pt x="114" y="135"/>
                  <a:pt x="0" y="135"/>
                  <a:pt x="0" y="58"/>
                </a:cubicBezTo>
                <a:close/>
              </a:path>
            </a:pathLst>
          </a:custGeom>
          <a:solidFill>
            <a:srgbClr val="B8B8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664280" y="1238400"/>
            <a:ext cx="41040" cy="41760"/>
          </a:xfrm>
          <a:custGeom>
            <a:avLst/>
            <a:gdLst/>
            <a:ahLst/>
            <a:rect l="0" t="0" r="r" b="b"/>
            <a:pathLst>
              <a:path fill="none" w="114" h="116">
                <a:moveTo>
                  <a:pt x="114" y="58"/>
                </a:moveTo>
                <a:cubicBezTo>
                  <a:pt x="114" y="135"/>
                  <a:pt x="0" y="135"/>
                  <a:pt x="0" y="58"/>
                </a:cubicBezTo>
                <a:cubicBezTo>
                  <a:pt x="0" y="-19"/>
                  <a:pt x="114" y="-19"/>
                  <a:pt x="114" y="58"/>
                </a:cubicBezTo>
              </a:path>
            </a:pathLst>
          </a:custGeom>
          <a:ln cap="rnd" w="5400">
            <a:solidFill>
              <a:srgbClr val="B8B8B8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664640" y="134064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7"/>
                </a:moveTo>
                <a:cubicBezTo>
                  <a:pt x="0" y="-19"/>
                  <a:pt x="115" y="-19"/>
                  <a:pt x="115" y="57"/>
                </a:cubicBezTo>
                <a:cubicBezTo>
                  <a:pt x="115" y="134"/>
                  <a:pt x="0" y="134"/>
                  <a:pt x="0" y="57"/>
                </a:cubicBez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664640" y="134064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7"/>
                </a:moveTo>
                <a:cubicBezTo>
                  <a:pt x="115" y="134"/>
                  <a:pt x="0" y="134"/>
                  <a:pt x="0" y="57"/>
                </a:cubicBezTo>
                <a:cubicBezTo>
                  <a:pt x="0" y="-19"/>
                  <a:pt x="115" y="-19"/>
                  <a:pt x="115" y="57"/>
                </a:cubicBezTo>
              </a:path>
            </a:pathLst>
          </a:custGeom>
          <a:ln cap="rnd" w="5400">
            <a:solidFill>
              <a:srgbClr val="D2D2D2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157400" y="154548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6"/>
                </a:moveTo>
                <a:cubicBezTo>
                  <a:pt x="0" y="-19"/>
                  <a:pt x="115" y="-19"/>
                  <a:pt x="115" y="56"/>
                </a:cubicBezTo>
                <a:cubicBezTo>
                  <a:pt x="115" y="133"/>
                  <a:pt x="0" y="133"/>
                  <a:pt x="0" y="56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157400" y="154548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6"/>
                </a:moveTo>
                <a:cubicBezTo>
                  <a:pt x="115" y="133"/>
                  <a:pt x="0" y="133"/>
                  <a:pt x="0" y="56"/>
                </a:cubicBezTo>
                <a:cubicBezTo>
                  <a:pt x="0" y="-19"/>
                  <a:pt x="115" y="-19"/>
                  <a:pt x="115" y="56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161720" y="1647720"/>
            <a:ext cx="41400" cy="41400"/>
          </a:xfrm>
          <a:custGeom>
            <a:avLst/>
            <a:gdLst/>
            <a:ahLst/>
            <a:rect l="0" t="0" r="r" b="b"/>
            <a:pathLst>
              <a:path w="115" h="115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4"/>
                  <a:pt x="0" y="134"/>
                  <a:pt x="0" y="58"/>
                </a:cubicBezTo>
                <a:close/>
              </a:path>
            </a:pathLst>
          </a:custGeom>
          <a:solidFill>
            <a:srgbClr val="7676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161720" y="1647720"/>
            <a:ext cx="41400" cy="41400"/>
          </a:xfrm>
          <a:custGeom>
            <a:avLst/>
            <a:gdLst/>
            <a:ahLst/>
            <a:rect l="0" t="0" r="r" b="b"/>
            <a:pathLst>
              <a:path fill="none" w="115" h="115">
                <a:moveTo>
                  <a:pt x="115" y="58"/>
                </a:moveTo>
                <a:cubicBezTo>
                  <a:pt x="115" y="134"/>
                  <a:pt x="0" y="134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767676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158480" y="1749960"/>
            <a:ext cx="41400" cy="41040"/>
          </a:xfrm>
          <a:custGeom>
            <a:avLst/>
            <a:gdLst/>
            <a:ahLst/>
            <a:rect l="0" t="0" r="r" b="b"/>
            <a:pathLst>
              <a:path w="115" h="114">
                <a:moveTo>
                  <a:pt x="0" y="58"/>
                </a:moveTo>
                <a:cubicBezTo>
                  <a:pt x="0" y="-19"/>
                  <a:pt x="115" y="-19"/>
                  <a:pt x="115" y="58"/>
                </a:cubicBezTo>
                <a:cubicBezTo>
                  <a:pt x="115" y="133"/>
                  <a:pt x="0" y="133"/>
                  <a:pt x="0" y="58"/>
                </a:cubicBezTo>
                <a:close/>
              </a:path>
            </a:pathLst>
          </a:custGeom>
          <a:solidFill>
            <a:srgbClr val="A7A7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158480" y="1749960"/>
            <a:ext cx="41400" cy="41040"/>
          </a:xfrm>
          <a:custGeom>
            <a:avLst/>
            <a:gdLst/>
            <a:ahLst/>
            <a:rect l="0" t="0" r="r" b="b"/>
            <a:pathLst>
              <a:path fill="none" w="115" h="114">
                <a:moveTo>
                  <a:pt x="115" y="58"/>
                </a:moveTo>
                <a:cubicBezTo>
                  <a:pt x="115" y="133"/>
                  <a:pt x="0" y="133"/>
                  <a:pt x="0" y="58"/>
                </a:cubicBezTo>
                <a:cubicBezTo>
                  <a:pt x="0" y="-19"/>
                  <a:pt x="115" y="-19"/>
                  <a:pt x="115" y="58"/>
                </a:cubicBezTo>
              </a:path>
            </a:pathLst>
          </a:custGeom>
          <a:ln cap="rnd" w="5400">
            <a:solidFill>
              <a:srgbClr val="A7A7A7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121120" y="300600"/>
            <a:ext cx="2383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50 cells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2084760" y="402840"/>
            <a:ext cx="2775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4E81B2"/>
                </a:solidFill>
                <a:effectLst/>
                <a:uFillTx/>
                <a:latin typeface="Arial"/>
                <a:ea typeface="Arial"/>
              </a:rPr>
              <a:t>100 cells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095200" y="505080"/>
            <a:ext cx="2775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759DC3"/>
                </a:solidFill>
                <a:effectLst/>
                <a:uFillTx/>
                <a:latin typeface="Arial"/>
                <a:ea typeface="Arial"/>
              </a:rPr>
              <a:t>200 cells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292200" y="2941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1.43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3292200" y="703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D1552C"/>
                </a:solidFill>
                <a:effectLst/>
                <a:uFillTx/>
                <a:latin typeface="Arial"/>
                <a:ea typeface="Arial"/>
              </a:rPr>
              <a:t>1.36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292200" y="111240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9A9A9A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292200" y="15217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B3B3B"/>
                </a:solidFill>
                <a:effectLst/>
                <a:uFillTx/>
                <a:latin typeface="Arial"/>
                <a:ea typeface="Arial"/>
              </a:rPr>
              <a:t>0.84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55320" y="39636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5960" y="80568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17160" y="1173600"/>
            <a:ext cx="500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 climate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95000" y="125568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804600" y="1880640"/>
            <a:ext cx="229320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10364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 flipV="1">
            <a:off x="138672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170028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22424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V="1">
            <a:off x="270072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 flipV="1">
            <a:off x="309780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28240" y="1623960"/>
            <a:ext cx="565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8604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33632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64952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19168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65032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047400" y="19112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504440" y="2038320"/>
            <a:ext cx="1228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Hazard ratio per 1 SD (95% CI)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89720" y="63360"/>
            <a:ext cx="178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Effort and warming contribute comparably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846240" y="227880"/>
            <a:ext cx="2643840" cy="1653120"/>
          </a:xfrm>
          <a:custGeom>
            <a:avLst/>
            <a:gdLst/>
            <a:ahLst/>
            <a:rect l="0" t="0" r="r" b="b"/>
            <a:pathLst>
              <a:path w="7344" h="4592">
                <a:moveTo>
                  <a:pt x="0" y="0"/>
                </a:moveTo>
                <a:lnTo>
                  <a:pt x="7344" y="0"/>
                </a:lnTo>
                <a:lnTo>
                  <a:pt x="7344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885120" y="335520"/>
            <a:ext cx="1975680" cy="1478880"/>
          </a:xfrm>
          <a:custGeom>
            <a:avLst/>
            <a:gdLst/>
            <a:ahLst/>
            <a:rect l="0" t="0" r="r" b="b"/>
            <a:pathLst>
              <a:path w="5488" h="4108">
                <a:moveTo>
                  <a:pt x="0" y="3760"/>
                </a:moveTo>
                <a:lnTo>
                  <a:pt x="93" y="3746"/>
                </a:lnTo>
                <a:lnTo>
                  <a:pt x="186" y="3732"/>
                </a:lnTo>
                <a:lnTo>
                  <a:pt x="279" y="3718"/>
                </a:lnTo>
                <a:lnTo>
                  <a:pt x="372" y="3703"/>
                </a:lnTo>
                <a:lnTo>
                  <a:pt x="465" y="3688"/>
                </a:lnTo>
                <a:lnTo>
                  <a:pt x="558" y="3672"/>
                </a:lnTo>
                <a:lnTo>
                  <a:pt x="651" y="3656"/>
                </a:lnTo>
                <a:lnTo>
                  <a:pt x="744" y="3639"/>
                </a:lnTo>
                <a:lnTo>
                  <a:pt x="837" y="3622"/>
                </a:lnTo>
                <a:lnTo>
                  <a:pt x="930" y="3604"/>
                </a:lnTo>
                <a:lnTo>
                  <a:pt x="1023" y="3585"/>
                </a:lnTo>
                <a:lnTo>
                  <a:pt x="1116" y="3566"/>
                </a:lnTo>
                <a:lnTo>
                  <a:pt x="1209" y="3546"/>
                </a:lnTo>
                <a:lnTo>
                  <a:pt x="1302" y="3526"/>
                </a:lnTo>
                <a:lnTo>
                  <a:pt x="1395" y="3505"/>
                </a:lnTo>
                <a:lnTo>
                  <a:pt x="1488" y="3483"/>
                </a:lnTo>
                <a:lnTo>
                  <a:pt x="1581" y="3460"/>
                </a:lnTo>
                <a:lnTo>
                  <a:pt x="1674" y="3437"/>
                </a:lnTo>
                <a:lnTo>
                  <a:pt x="1767" y="3412"/>
                </a:lnTo>
                <a:lnTo>
                  <a:pt x="1860" y="3386"/>
                </a:lnTo>
                <a:lnTo>
                  <a:pt x="1953" y="3360"/>
                </a:lnTo>
                <a:lnTo>
                  <a:pt x="2046" y="3332"/>
                </a:lnTo>
                <a:lnTo>
                  <a:pt x="2139" y="3303"/>
                </a:lnTo>
                <a:lnTo>
                  <a:pt x="2232" y="3272"/>
                </a:lnTo>
                <a:lnTo>
                  <a:pt x="2325" y="3240"/>
                </a:lnTo>
                <a:lnTo>
                  <a:pt x="2418" y="3207"/>
                </a:lnTo>
                <a:lnTo>
                  <a:pt x="2511" y="3172"/>
                </a:lnTo>
                <a:lnTo>
                  <a:pt x="2604" y="3135"/>
                </a:lnTo>
                <a:lnTo>
                  <a:pt x="2697" y="3095"/>
                </a:lnTo>
                <a:lnTo>
                  <a:pt x="2790" y="3054"/>
                </a:lnTo>
                <a:lnTo>
                  <a:pt x="2883" y="3011"/>
                </a:lnTo>
                <a:lnTo>
                  <a:pt x="2977" y="2965"/>
                </a:lnTo>
                <a:lnTo>
                  <a:pt x="3070" y="2916"/>
                </a:lnTo>
                <a:lnTo>
                  <a:pt x="3163" y="2865"/>
                </a:lnTo>
                <a:lnTo>
                  <a:pt x="3256" y="2810"/>
                </a:lnTo>
                <a:lnTo>
                  <a:pt x="3349" y="2752"/>
                </a:lnTo>
                <a:lnTo>
                  <a:pt x="3442" y="2691"/>
                </a:lnTo>
                <a:lnTo>
                  <a:pt x="3535" y="2626"/>
                </a:lnTo>
                <a:lnTo>
                  <a:pt x="3628" y="2558"/>
                </a:lnTo>
                <a:lnTo>
                  <a:pt x="3721" y="2485"/>
                </a:lnTo>
                <a:lnTo>
                  <a:pt x="3814" y="2408"/>
                </a:lnTo>
                <a:lnTo>
                  <a:pt x="3907" y="2327"/>
                </a:lnTo>
                <a:lnTo>
                  <a:pt x="4000" y="2241"/>
                </a:lnTo>
                <a:lnTo>
                  <a:pt x="4093" y="2150"/>
                </a:lnTo>
                <a:lnTo>
                  <a:pt x="4186" y="2054"/>
                </a:lnTo>
                <a:lnTo>
                  <a:pt x="4279" y="1952"/>
                </a:lnTo>
                <a:lnTo>
                  <a:pt x="4372" y="1845"/>
                </a:lnTo>
                <a:lnTo>
                  <a:pt x="4465" y="1732"/>
                </a:lnTo>
                <a:lnTo>
                  <a:pt x="4558" y="1612"/>
                </a:lnTo>
                <a:lnTo>
                  <a:pt x="4651" y="1486"/>
                </a:lnTo>
                <a:lnTo>
                  <a:pt x="4744" y="1354"/>
                </a:lnTo>
                <a:lnTo>
                  <a:pt x="4837" y="1214"/>
                </a:lnTo>
                <a:lnTo>
                  <a:pt x="4930" y="1065"/>
                </a:lnTo>
                <a:lnTo>
                  <a:pt x="5023" y="910"/>
                </a:lnTo>
                <a:lnTo>
                  <a:pt x="5116" y="746"/>
                </a:lnTo>
                <a:lnTo>
                  <a:pt x="5209" y="574"/>
                </a:lnTo>
                <a:lnTo>
                  <a:pt x="5302" y="392"/>
                </a:lnTo>
                <a:lnTo>
                  <a:pt x="5395" y="201"/>
                </a:lnTo>
                <a:lnTo>
                  <a:pt x="5488" y="0"/>
                </a:lnTo>
                <a:lnTo>
                  <a:pt x="5488" y="2443"/>
                </a:lnTo>
                <a:lnTo>
                  <a:pt x="5395" y="2490"/>
                </a:lnTo>
                <a:lnTo>
                  <a:pt x="5302" y="2537"/>
                </a:lnTo>
                <a:lnTo>
                  <a:pt x="5209" y="2583"/>
                </a:lnTo>
                <a:lnTo>
                  <a:pt x="5116" y="2629"/>
                </a:lnTo>
                <a:lnTo>
                  <a:pt x="5023" y="2673"/>
                </a:lnTo>
                <a:lnTo>
                  <a:pt x="4930" y="2716"/>
                </a:lnTo>
                <a:lnTo>
                  <a:pt x="4837" y="2759"/>
                </a:lnTo>
                <a:lnTo>
                  <a:pt x="4744" y="2801"/>
                </a:lnTo>
                <a:lnTo>
                  <a:pt x="4651" y="2843"/>
                </a:lnTo>
                <a:lnTo>
                  <a:pt x="4558" y="2883"/>
                </a:lnTo>
                <a:lnTo>
                  <a:pt x="4465" y="2923"/>
                </a:lnTo>
                <a:lnTo>
                  <a:pt x="4372" y="2962"/>
                </a:lnTo>
                <a:lnTo>
                  <a:pt x="4279" y="3001"/>
                </a:lnTo>
                <a:lnTo>
                  <a:pt x="4186" y="3039"/>
                </a:lnTo>
                <a:lnTo>
                  <a:pt x="4093" y="3077"/>
                </a:lnTo>
                <a:lnTo>
                  <a:pt x="4000" y="3114"/>
                </a:lnTo>
                <a:lnTo>
                  <a:pt x="3907" y="3151"/>
                </a:lnTo>
                <a:lnTo>
                  <a:pt x="3814" y="3186"/>
                </a:lnTo>
                <a:lnTo>
                  <a:pt x="3721" y="3222"/>
                </a:lnTo>
                <a:lnTo>
                  <a:pt x="3628" y="3257"/>
                </a:lnTo>
                <a:lnTo>
                  <a:pt x="3535" y="3292"/>
                </a:lnTo>
                <a:lnTo>
                  <a:pt x="3442" y="3326"/>
                </a:lnTo>
                <a:lnTo>
                  <a:pt x="3349" y="3360"/>
                </a:lnTo>
                <a:lnTo>
                  <a:pt x="3256" y="3393"/>
                </a:lnTo>
                <a:lnTo>
                  <a:pt x="3163" y="3426"/>
                </a:lnTo>
                <a:lnTo>
                  <a:pt x="3070" y="3458"/>
                </a:lnTo>
                <a:lnTo>
                  <a:pt x="2977" y="3489"/>
                </a:lnTo>
                <a:lnTo>
                  <a:pt x="2883" y="3520"/>
                </a:lnTo>
                <a:lnTo>
                  <a:pt x="2790" y="3550"/>
                </a:lnTo>
                <a:lnTo>
                  <a:pt x="2697" y="3580"/>
                </a:lnTo>
                <a:lnTo>
                  <a:pt x="2604" y="3609"/>
                </a:lnTo>
                <a:lnTo>
                  <a:pt x="2511" y="3637"/>
                </a:lnTo>
                <a:lnTo>
                  <a:pt x="2418" y="3664"/>
                </a:lnTo>
                <a:lnTo>
                  <a:pt x="2325" y="3691"/>
                </a:lnTo>
                <a:lnTo>
                  <a:pt x="2232" y="3716"/>
                </a:lnTo>
                <a:lnTo>
                  <a:pt x="2139" y="3741"/>
                </a:lnTo>
                <a:lnTo>
                  <a:pt x="2046" y="3765"/>
                </a:lnTo>
                <a:lnTo>
                  <a:pt x="1953" y="3788"/>
                </a:lnTo>
                <a:lnTo>
                  <a:pt x="1860" y="3811"/>
                </a:lnTo>
                <a:lnTo>
                  <a:pt x="1767" y="3832"/>
                </a:lnTo>
                <a:lnTo>
                  <a:pt x="1674" y="3853"/>
                </a:lnTo>
                <a:lnTo>
                  <a:pt x="1581" y="3873"/>
                </a:lnTo>
                <a:lnTo>
                  <a:pt x="1488" y="3892"/>
                </a:lnTo>
                <a:lnTo>
                  <a:pt x="1395" y="3911"/>
                </a:lnTo>
                <a:lnTo>
                  <a:pt x="1302" y="3928"/>
                </a:lnTo>
                <a:lnTo>
                  <a:pt x="1209" y="3945"/>
                </a:lnTo>
                <a:lnTo>
                  <a:pt x="1116" y="3961"/>
                </a:lnTo>
                <a:lnTo>
                  <a:pt x="1023" y="3977"/>
                </a:lnTo>
                <a:lnTo>
                  <a:pt x="930" y="3992"/>
                </a:lnTo>
                <a:lnTo>
                  <a:pt x="837" y="4006"/>
                </a:lnTo>
                <a:lnTo>
                  <a:pt x="744" y="4020"/>
                </a:lnTo>
                <a:lnTo>
                  <a:pt x="651" y="4033"/>
                </a:lnTo>
                <a:lnTo>
                  <a:pt x="558" y="4045"/>
                </a:lnTo>
                <a:lnTo>
                  <a:pt x="465" y="4057"/>
                </a:lnTo>
                <a:lnTo>
                  <a:pt x="372" y="4068"/>
                </a:lnTo>
                <a:lnTo>
                  <a:pt x="279" y="4079"/>
                </a:lnTo>
                <a:lnTo>
                  <a:pt x="186" y="4089"/>
                </a:lnTo>
                <a:lnTo>
                  <a:pt x="93" y="4099"/>
                </a:lnTo>
                <a:lnTo>
                  <a:pt x="0" y="4108"/>
                </a:lnTo>
                <a:lnTo>
                  <a:pt x="0" y="3760"/>
                </a:lnTo>
                <a:close/>
              </a:path>
            </a:pathLst>
          </a:custGeom>
          <a:solidFill>
            <a:srgbClr val="8FAFC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885120" y="519480"/>
            <a:ext cx="1975680" cy="1155960"/>
          </a:xfrm>
          <a:custGeom>
            <a:avLst/>
            <a:gdLst/>
            <a:ahLst/>
            <a:rect l="0" t="0" r="r" b="b"/>
            <a:pathLst>
              <a:path w="5488" h="3211">
                <a:moveTo>
                  <a:pt x="0" y="2697"/>
                </a:moveTo>
                <a:lnTo>
                  <a:pt x="93" y="2680"/>
                </a:lnTo>
                <a:lnTo>
                  <a:pt x="186" y="2663"/>
                </a:lnTo>
                <a:lnTo>
                  <a:pt x="279" y="2645"/>
                </a:lnTo>
                <a:lnTo>
                  <a:pt x="372" y="2627"/>
                </a:lnTo>
                <a:lnTo>
                  <a:pt x="465" y="2609"/>
                </a:lnTo>
                <a:lnTo>
                  <a:pt x="558" y="2590"/>
                </a:lnTo>
                <a:lnTo>
                  <a:pt x="651" y="2570"/>
                </a:lnTo>
                <a:lnTo>
                  <a:pt x="744" y="2551"/>
                </a:lnTo>
                <a:lnTo>
                  <a:pt x="837" y="2531"/>
                </a:lnTo>
                <a:lnTo>
                  <a:pt x="930" y="2510"/>
                </a:lnTo>
                <a:lnTo>
                  <a:pt x="1023" y="2489"/>
                </a:lnTo>
                <a:lnTo>
                  <a:pt x="1116" y="2467"/>
                </a:lnTo>
                <a:lnTo>
                  <a:pt x="1209" y="2445"/>
                </a:lnTo>
                <a:lnTo>
                  <a:pt x="1302" y="2422"/>
                </a:lnTo>
                <a:lnTo>
                  <a:pt x="1395" y="2398"/>
                </a:lnTo>
                <a:lnTo>
                  <a:pt x="1488" y="2374"/>
                </a:lnTo>
                <a:lnTo>
                  <a:pt x="1581" y="2350"/>
                </a:lnTo>
                <a:lnTo>
                  <a:pt x="1674" y="2324"/>
                </a:lnTo>
                <a:lnTo>
                  <a:pt x="1767" y="2298"/>
                </a:lnTo>
                <a:lnTo>
                  <a:pt x="1860" y="2271"/>
                </a:lnTo>
                <a:lnTo>
                  <a:pt x="1953" y="2243"/>
                </a:lnTo>
                <a:lnTo>
                  <a:pt x="2046" y="2214"/>
                </a:lnTo>
                <a:lnTo>
                  <a:pt x="2139" y="2185"/>
                </a:lnTo>
                <a:lnTo>
                  <a:pt x="2232" y="2154"/>
                </a:lnTo>
                <a:lnTo>
                  <a:pt x="2325" y="2122"/>
                </a:lnTo>
                <a:lnTo>
                  <a:pt x="2418" y="2090"/>
                </a:lnTo>
                <a:lnTo>
                  <a:pt x="2511" y="2056"/>
                </a:lnTo>
                <a:lnTo>
                  <a:pt x="2604" y="2021"/>
                </a:lnTo>
                <a:lnTo>
                  <a:pt x="2697" y="1984"/>
                </a:lnTo>
                <a:lnTo>
                  <a:pt x="2790" y="1947"/>
                </a:lnTo>
                <a:lnTo>
                  <a:pt x="2883" y="1908"/>
                </a:lnTo>
                <a:lnTo>
                  <a:pt x="2977" y="1867"/>
                </a:lnTo>
                <a:lnTo>
                  <a:pt x="3070" y="1825"/>
                </a:lnTo>
                <a:lnTo>
                  <a:pt x="3163" y="1781"/>
                </a:lnTo>
                <a:lnTo>
                  <a:pt x="3256" y="1736"/>
                </a:lnTo>
                <a:lnTo>
                  <a:pt x="3349" y="1689"/>
                </a:lnTo>
                <a:lnTo>
                  <a:pt x="3442" y="1640"/>
                </a:lnTo>
                <a:lnTo>
                  <a:pt x="3535" y="1590"/>
                </a:lnTo>
                <a:lnTo>
                  <a:pt x="3628" y="1537"/>
                </a:lnTo>
                <a:lnTo>
                  <a:pt x="3721" y="1483"/>
                </a:lnTo>
                <a:lnTo>
                  <a:pt x="3814" y="1426"/>
                </a:lnTo>
                <a:lnTo>
                  <a:pt x="3907" y="1368"/>
                </a:lnTo>
                <a:lnTo>
                  <a:pt x="4000" y="1307"/>
                </a:lnTo>
                <a:lnTo>
                  <a:pt x="4093" y="1245"/>
                </a:lnTo>
                <a:lnTo>
                  <a:pt x="4186" y="1179"/>
                </a:lnTo>
                <a:lnTo>
                  <a:pt x="4279" y="1112"/>
                </a:lnTo>
                <a:lnTo>
                  <a:pt x="4372" y="1043"/>
                </a:lnTo>
                <a:lnTo>
                  <a:pt x="4465" y="971"/>
                </a:lnTo>
                <a:lnTo>
                  <a:pt x="4558" y="896"/>
                </a:lnTo>
                <a:lnTo>
                  <a:pt x="4651" y="819"/>
                </a:lnTo>
                <a:lnTo>
                  <a:pt x="4744" y="739"/>
                </a:lnTo>
                <a:lnTo>
                  <a:pt x="4837" y="657"/>
                </a:lnTo>
                <a:lnTo>
                  <a:pt x="4930" y="572"/>
                </a:lnTo>
                <a:lnTo>
                  <a:pt x="5023" y="484"/>
                </a:lnTo>
                <a:lnTo>
                  <a:pt x="5116" y="394"/>
                </a:lnTo>
                <a:lnTo>
                  <a:pt x="5209" y="300"/>
                </a:lnTo>
                <a:lnTo>
                  <a:pt x="5302" y="203"/>
                </a:lnTo>
                <a:lnTo>
                  <a:pt x="5395" y="103"/>
                </a:lnTo>
                <a:lnTo>
                  <a:pt x="5488" y="0"/>
                </a:lnTo>
                <a:lnTo>
                  <a:pt x="5488" y="1612"/>
                </a:lnTo>
                <a:lnTo>
                  <a:pt x="5395" y="1646"/>
                </a:lnTo>
                <a:lnTo>
                  <a:pt x="5302" y="1681"/>
                </a:lnTo>
                <a:lnTo>
                  <a:pt x="5209" y="1715"/>
                </a:lnTo>
                <a:lnTo>
                  <a:pt x="5116" y="1749"/>
                </a:lnTo>
                <a:lnTo>
                  <a:pt x="5023" y="1783"/>
                </a:lnTo>
                <a:lnTo>
                  <a:pt x="4930" y="1816"/>
                </a:lnTo>
                <a:lnTo>
                  <a:pt x="4837" y="1849"/>
                </a:lnTo>
                <a:lnTo>
                  <a:pt x="4744" y="1881"/>
                </a:lnTo>
                <a:lnTo>
                  <a:pt x="4651" y="1914"/>
                </a:lnTo>
                <a:lnTo>
                  <a:pt x="4558" y="1946"/>
                </a:lnTo>
                <a:lnTo>
                  <a:pt x="4465" y="1978"/>
                </a:lnTo>
                <a:lnTo>
                  <a:pt x="4372" y="2010"/>
                </a:lnTo>
                <a:lnTo>
                  <a:pt x="4279" y="2042"/>
                </a:lnTo>
                <a:lnTo>
                  <a:pt x="4186" y="2073"/>
                </a:lnTo>
                <a:lnTo>
                  <a:pt x="4093" y="2105"/>
                </a:lnTo>
                <a:lnTo>
                  <a:pt x="4000" y="2136"/>
                </a:lnTo>
                <a:lnTo>
                  <a:pt x="3907" y="2167"/>
                </a:lnTo>
                <a:lnTo>
                  <a:pt x="3721" y="2228"/>
                </a:lnTo>
                <a:lnTo>
                  <a:pt x="3628" y="2259"/>
                </a:lnTo>
                <a:lnTo>
                  <a:pt x="3535" y="2289"/>
                </a:lnTo>
                <a:lnTo>
                  <a:pt x="3349" y="2350"/>
                </a:lnTo>
                <a:lnTo>
                  <a:pt x="3256" y="2379"/>
                </a:lnTo>
                <a:lnTo>
                  <a:pt x="3070" y="2439"/>
                </a:lnTo>
                <a:lnTo>
                  <a:pt x="2977" y="2468"/>
                </a:lnTo>
                <a:lnTo>
                  <a:pt x="2883" y="2497"/>
                </a:lnTo>
                <a:lnTo>
                  <a:pt x="2790" y="2526"/>
                </a:lnTo>
                <a:lnTo>
                  <a:pt x="2697" y="2555"/>
                </a:lnTo>
                <a:lnTo>
                  <a:pt x="2604" y="2583"/>
                </a:lnTo>
                <a:lnTo>
                  <a:pt x="2511" y="2611"/>
                </a:lnTo>
                <a:lnTo>
                  <a:pt x="2418" y="2639"/>
                </a:lnTo>
                <a:lnTo>
                  <a:pt x="2325" y="2666"/>
                </a:lnTo>
                <a:lnTo>
                  <a:pt x="2232" y="2693"/>
                </a:lnTo>
                <a:lnTo>
                  <a:pt x="2139" y="2720"/>
                </a:lnTo>
                <a:lnTo>
                  <a:pt x="2046" y="2746"/>
                </a:lnTo>
                <a:lnTo>
                  <a:pt x="1953" y="2772"/>
                </a:lnTo>
                <a:lnTo>
                  <a:pt x="1860" y="2798"/>
                </a:lnTo>
                <a:lnTo>
                  <a:pt x="1767" y="2823"/>
                </a:lnTo>
                <a:lnTo>
                  <a:pt x="1674" y="2847"/>
                </a:lnTo>
                <a:lnTo>
                  <a:pt x="1581" y="2872"/>
                </a:lnTo>
                <a:lnTo>
                  <a:pt x="1488" y="2895"/>
                </a:lnTo>
                <a:lnTo>
                  <a:pt x="1395" y="2919"/>
                </a:lnTo>
                <a:lnTo>
                  <a:pt x="1302" y="2941"/>
                </a:lnTo>
                <a:lnTo>
                  <a:pt x="1209" y="2964"/>
                </a:lnTo>
                <a:lnTo>
                  <a:pt x="1116" y="2986"/>
                </a:lnTo>
                <a:lnTo>
                  <a:pt x="1023" y="3007"/>
                </a:lnTo>
                <a:lnTo>
                  <a:pt x="930" y="3028"/>
                </a:lnTo>
                <a:lnTo>
                  <a:pt x="837" y="3048"/>
                </a:lnTo>
                <a:lnTo>
                  <a:pt x="744" y="3068"/>
                </a:lnTo>
                <a:lnTo>
                  <a:pt x="651" y="3088"/>
                </a:lnTo>
                <a:lnTo>
                  <a:pt x="558" y="3107"/>
                </a:lnTo>
                <a:lnTo>
                  <a:pt x="465" y="3125"/>
                </a:lnTo>
                <a:lnTo>
                  <a:pt x="372" y="3143"/>
                </a:lnTo>
                <a:lnTo>
                  <a:pt x="279" y="3161"/>
                </a:lnTo>
                <a:lnTo>
                  <a:pt x="186" y="3178"/>
                </a:lnTo>
                <a:lnTo>
                  <a:pt x="93" y="3195"/>
                </a:lnTo>
                <a:lnTo>
                  <a:pt x="0" y="3211"/>
                </a:lnTo>
                <a:lnTo>
                  <a:pt x="0" y="2697"/>
                </a:lnTo>
                <a:close/>
              </a:path>
            </a:pathLst>
          </a:custGeom>
          <a:solidFill>
            <a:srgbClr val="1F5F9E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885120" y="318240"/>
            <a:ext cx="1975680" cy="1053360"/>
          </a:xfrm>
          <a:custGeom>
            <a:avLst/>
            <a:gdLst/>
            <a:ahLst/>
            <a:rect l="0" t="0" r="r" b="b"/>
            <a:pathLst>
              <a:path w="5488" h="2926">
                <a:moveTo>
                  <a:pt x="0" y="828"/>
                </a:moveTo>
                <a:lnTo>
                  <a:pt x="93" y="848"/>
                </a:lnTo>
                <a:lnTo>
                  <a:pt x="186" y="867"/>
                </a:lnTo>
                <a:lnTo>
                  <a:pt x="279" y="885"/>
                </a:lnTo>
                <a:lnTo>
                  <a:pt x="372" y="903"/>
                </a:lnTo>
                <a:lnTo>
                  <a:pt x="465" y="920"/>
                </a:lnTo>
                <a:lnTo>
                  <a:pt x="558" y="937"/>
                </a:lnTo>
                <a:lnTo>
                  <a:pt x="651" y="954"/>
                </a:lnTo>
                <a:lnTo>
                  <a:pt x="744" y="970"/>
                </a:lnTo>
                <a:lnTo>
                  <a:pt x="837" y="985"/>
                </a:lnTo>
                <a:lnTo>
                  <a:pt x="930" y="1000"/>
                </a:lnTo>
                <a:lnTo>
                  <a:pt x="1023" y="1014"/>
                </a:lnTo>
                <a:lnTo>
                  <a:pt x="1116" y="1027"/>
                </a:lnTo>
                <a:lnTo>
                  <a:pt x="1209" y="1040"/>
                </a:lnTo>
                <a:lnTo>
                  <a:pt x="1302" y="1051"/>
                </a:lnTo>
                <a:lnTo>
                  <a:pt x="1395" y="1062"/>
                </a:lnTo>
                <a:lnTo>
                  <a:pt x="1488" y="1072"/>
                </a:lnTo>
                <a:lnTo>
                  <a:pt x="1581" y="1082"/>
                </a:lnTo>
                <a:lnTo>
                  <a:pt x="1674" y="1090"/>
                </a:lnTo>
                <a:lnTo>
                  <a:pt x="1767" y="1097"/>
                </a:lnTo>
                <a:lnTo>
                  <a:pt x="1860" y="1103"/>
                </a:lnTo>
                <a:lnTo>
                  <a:pt x="1953" y="1108"/>
                </a:lnTo>
                <a:lnTo>
                  <a:pt x="2046" y="1111"/>
                </a:lnTo>
                <a:lnTo>
                  <a:pt x="2139" y="1114"/>
                </a:lnTo>
                <a:lnTo>
                  <a:pt x="2232" y="1115"/>
                </a:lnTo>
                <a:lnTo>
                  <a:pt x="2325" y="1114"/>
                </a:lnTo>
                <a:lnTo>
                  <a:pt x="2418" y="1112"/>
                </a:lnTo>
                <a:lnTo>
                  <a:pt x="2511" y="1108"/>
                </a:lnTo>
                <a:lnTo>
                  <a:pt x="2604" y="1102"/>
                </a:lnTo>
                <a:lnTo>
                  <a:pt x="2697" y="1095"/>
                </a:lnTo>
                <a:lnTo>
                  <a:pt x="2790" y="1085"/>
                </a:lnTo>
                <a:lnTo>
                  <a:pt x="2883" y="1074"/>
                </a:lnTo>
                <a:lnTo>
                  <a:pt x="2977" y="1061"/>
                </a:lnTo>
                <a:lnTo>
                  <a:pt x="3070" y="1046"/>
                </a:lnTo>
                <a:lnTo>
                  <a:pt x="3163" y="1029"/>
                </a:lnTo>
                <a:lnTo>
                  <a:pt x="3256" y="1010"/>
                </a:lnTo>
                <a:lnTo>
                  <a:pt x="3349" y="988"/>
                </a:lnTo>
                <a:lnTo>
                  <a:pt x="3442" y="965"/>
                </a:lnTo>
                <a:lnTo>
                  <a:pt x="3535" y="940"/>
                </a:lnTo>
                <a:lnTo>
                  <a:pt x="3628" y="912"/>
                </a:lnTo>
                <a:lnTo>
                  <a:pt x="3721" y="883"/>
                </a:lnTo>
                <a:lnTo>
                  <a:pt x="3814" y="852"/>
                </a:lnTo>
                <a:lnTo>
                  <a:pt x="3907" y="819"/>
                </a:lnTo>
                <a:lnTo>
                  <a:pt x="4000" y="784"/>
                </a:lnTo>
                <a:lnTo>
                  <a:pt x="4093" y="747"/>
                </a:lnTo>
                <a:lnTo>
                  <a:pt x="4186" y="708"/>
                </a:lnTo>
                <a:lnTo>
                  <a:pt x="4279" y="668"/>
                </a:lnTo>
                <a:lnTo>
                  <a:pt x="4372" y="626"/>
                </a:lnTo>
                <a:lnTo>
                  <a:pt x="4465" y="582"/>
                </a:lnTo>
                <a:lnTo>
                  <a:pt x="4558" y="536"/>
                </a:lnTo>
                <a:lnTo>
                  <a:pt x="4651" y="489"/>
                </a:lnTo>
                <a:lnTo>
                  <a:pt x="4744" y="441"/>
                </a:lnTo>
                <a:lnTo>
                  <a:pt x="4837" y="391"/>
                </a:lnTo>
                <a:lnTo>
                  <a:pt x="4930" y="339"/>
                </a:lnTo>
                <a:lnTo>
                  <a:pt x="5023" y="286"/>
                </a:lnTo>
                <a:lnTo>
                  <a:pt x="5116" y="232"/>
                </a:lnTo>
                <a:lnTo>
                  <a:pt x="5209" y="176"/>
                </a:lnTo>
                <a:lnTo>
                  <a:pt x="5302" y="119"/>
                </a:lnTo>
                <a:lnTo>
                  <a:pt x="5395" y="60"/>
                </a:lnTo>
                <a:lnTo>
                  <a:pt x="5488" y="0"/>
                </a:lnTo>
                <a:lnTo>
                  <a:pt x="5488" y="2380"/>
                </a:lnTo>
                <a:lnTo>
                  <a:pt x="5395" y="2370"/>
                </a:lnTo>
                <a:lnTo>
                  <a:pt x="5302" y="2361"/>
                </a:lnTo>
                <a:lnTo>
                  <a:pt x="5209" y="2352"/>
                </a:lnTo>
                <a:lnTo>
                  <a:pt x="5116" y="2343"/>
                </a:lnTo>
                <a:lnTo>
                  <a:pt x="5023" y="2334"/>
                </a:lnTo>
                <a:lnTo>
                  <a:pt x="4930" y="2326"/>
                </a:lnTo>
                <a:lnTo>
                  <a:pt x="4837" y="2319"/>
                </a:lnTo>
                <a:lnTo>
                  <a:pt x="4744" y="2311"/>
                </a:lnTo>
                <a:lnTo>
                  <a:pt x="4651" y="2304"/>
                </a:lnTo>
                <a:lnTo>
                  <a:pt x="4558" y="2298"/>
                </a:lnTo>
                <a:lnTo>
                  <a:pt x="4465" y="2292"/>
                </a:lnTo>
                <a:lnTo>
                  <a:pt x="4372" y="2287"/>
                </a:lnTo>
                <a:lnTo>
                  <a:pt x="4279" y="2282"/>
                </a:lnTo>
                <a:lnTo>
                  <a:pt x="4186" y="2278"/>
                </a:lnTo>
                <a:lnTo>
                  <a:pt x="4093" y="2275"/>
                </a:lnTo>
                <a:lnTo>
                  <a:pt x="4000" y="2272"/>
                </a:lnTo>
                <a:lnTo>
                  <a:pt x="3907" y="2271"/>
                </a:lnTo>
                <a:lnTo>
                  <a:pt x="3814" y="2270"/>
                </a:lnTo>
                <a:lnTo>
                  <a:pt x="3721" y="2270"/>
                </a:lnTo>
                <a:lnTo>
                  <a:pt x="3628" y="2272"/>
                </a:lnTo>
                <a:lnTo>
                  <a:pt x="3535" y="2274"/>
                </a:lnTo>
                <a:lnTo>
                  <a:pt x="3442" y="2277"/>
                </a:lnTo>
                <a:lnTo>
                  <a:pt x="3349" y="2282"/>
                </a:lnTo>
                <a:lnTo>
                  <a:pt x="3256" y="2287"/>
                </a:lnTo>
                <a:lnTo>
                  <a:pt x="3163" y="2294"/>
                </a:lnTo>
                <a:lnTo>
                  <a:pt x="3070" y="2302"/>
                </a:lnTo>
                <a:lnTo>
                  <a:pt x="2977" y="2311"/>
                </a:lnTo>
                <a:lnTo>
                  <a:pt x="2883" y="2322"/>
                </a:lnTo>
                <a:lnTo>
                  <a:pt x="2790" y="2333"/>
                </a:lnTo>
                <a:lnTo>
                  <a:pt x="2697" y="2346"/>
                </a:lnTo>
                <a:lnTo>
                  <a:pt x="2604" y="2359"/>
                </a:lnTo>
                <a:lnTo>
                  <a:pt x="2511" y="2374"/>
                </a:lnTo>
                <a:lnTo>
                  <a:pt x="2418" y="2389"/>
                </a:lnTo>
                <a:lnTo>
                  <a:pt x="2325" y="2406"/>
                </a:lnTo>
                <a:lnTo>
                  <a:pt x="2232" y="2423"/>
                </a:lnTo>
                <a:lnTo>
                  <a:pt x="2139" y="2441"/>
                </a:lnTo>
                <a:lnTo>
                  <a:pt x="2046" y="2459"/>
                </a:lnTo>
                <a:lnTo>
                  <a:pt x="1953" y="2479"/>
                </a:lnTo>
                <a:lnTo>
                  <a:pt x="1860" y="2498"/>
                </a:lnTo>
                <a:lnTo>
                  <a:pt x="1767" y="2518"/>
                </a:lnTo>
                <a:lnTo>
                  <a:pt x="1674" y="2539"/>
                </a:lnTo>
                <a:lnTo>
                  <a:pt x="1581" y="2560"/>
                </a:lnTo>
                <a:lnTo>
                  <a:pt x="1488" y="2581"/>
                </a:lnTo>
                <a:lnTo>
                  <a:pt x="1395" y="2602"/>
                </a:lnTo>
                <a:lnTo>
                  <a:pt x="1209" y="2646"/>
                </a:lnTo>
                <a:lnTo>
                  <a:pt x="1116" y="2667"/>
                </a:lnTo>
                <a:lnTo>
                  <a:pt x="930" y="2711"/>
                </a:lnTo>
                <a:lnTo>
                  <a:pt x="837" y="2733"/>
                </a:lnTo>
                <a:lnTo>
                  <a:pt x="744" y="2755"/>
                </a:lnTo>
                <a:lnTo>
                  <a:pt x="651" y="2777"/>
                </a:lnTo>
                <a:lnTo>
                  <a:pt x="465" y="2820"/>
                </a:lnTo>
                <a:lnTo>
                  <a:pt x="372" y="2841"/>
                </a:lnTo>
                <a:lnTo>
                  <a:pt x="279" y="2863"/>
                </a:lnTo>
                <a:lnTo>
                  <a:pt x="186" y="2884"/>
                </a:lnTo>
                <a:lnTo>
                  <a:pt x="93" y="2905"/>
                </a:lnTo>
                <a:lnTo>
                  <a:pt x="0" y="2926"/>
                </a:lnTo>
                <a:lnTo>
                  <a:pt x="0" y="828"/>
                </a:lnTo>
                <a:close/>
              </a:path>
            </a:pathLst>
          </a:custGeom>
          <a:solidFill>
            <a:srgbClr val="0E4373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885120" y="865800"/>
            <a:ext cx="1975680" cy="902160"/>
          </a:xfrm>
          <a:custGeom>
            <a:avLst/>
            <a:gdLst/>
            <a:ahLst/>
            <a:rect l="0" t="0" r="r" b="b"/>
            <a:pathLst>
              <a:path fill="none" w="5488" h="2506">
                <a:moveTo>
                  <a:pt x="0" y="2506"/>
                </a:moveTo>
                <a:lnTo>
                  <a:pt x="93" y="2494"/>
                </a:lnTo>
                <a:lnTo>
                  <a:pt x="186" y="2482"/>
                </a:lnTo>
                <a:lnTo>
                  <a:pt x="279" y="2469"/>
                </a:lnTo>
                <a:lnTo>
                  <a:pt x="372" y="2456"/>
                </a:lnTo>
                <a:lnTo>
                  <a:pt x="465" y="2442"/>
                </a:lnTo>
                <a:lnTo>
                  <a:pt x="558" y="2427"/>
                </a:lnTo>
                <a:lnTo>
                  <a:pt x="651" y="2413"/>
                </a:lnTo>
                <a:lnTo>
                  <a:pt x="744" y="2397"/>
                </a:lnTo>
                <a:lnTo>
                  <a:pt x="837" y="2381"/>
                </a:lnTo>
                <a:lnTo>
                  <a:pt x="930" y="2364"/>
                </a:lnTo>
                <a:lnTo>
                  <a:pt x="1023" y="2347"/>
                </a:lnTo>
                <a:lnTo>
                  <a:pt x="1116" y="2329"/>
                </a:lnTo>
                <a:lnTo>
                  <a:pt x="1209" y="2310"/>
                </a:lnTo>
                <a:lnTo>
                  <a:pt x="1302" y="2291"/>
                </a:lnTo>
                <a:lnTo>
                  <a:pt x="1395" y="2271"/>
                </a:lnTo>
                <a:lnTo>
                  <a:pt x="1488" y="2250"/>
                </a:lnTo>
                <a:lnTo>
                  <a:pt x="1581" y="2229"/>
                </a:lnTo>
                <a:lnTo>
                  <a:pt x="1674" y="2206"/>
                </a:lnTo>
                <a:lnTo>
                  <a:pt x="1767" y="2183"/>
                </a:lnTo>
                <a:lnTo>
                  <a:pt x="1860" y="2159"/>
                </a:lnTo>
                <a:lnTo>
                  <a:pt x="1953" y="2134"/>
                </a:lnTo>
                <a:lnTo>
                  <a:pt x="2046" y="2108"/>
                </a:lnTo>
                <a:lnTo>
                  <a:pt x="2139" y="2081"/>
                </a:lnTo>
                <a:lnTo>
                  <a:pt x="2232" y="2053"/>
                </a:lnTo>
                <a:lnTo>
                  <a:pt x="2325" y="2024"/>
                </a:lnTo>
                <a:lnTo>
                  <a:pt x="2418" y="1993"/>
                </a:lnTo>
                <a:lnTo>
                  <a:pt x="2511" y="1962"/>
                </a:lnTo>
                <a:lnTo>
                  <a:pt x="2604" y="1930"/>
                </a:lnTo>
                <a:lnTo>
                  <a:pt x="2697" y="1896"/>
                </a:lnTo>
                <a:lnTo>
                  <a:pt x="2790" y="1861"/>
                </a:lnTo>
                <a:lnTo>
                  <a:pt x="2883" y="1824"/>
                </a:lnTo>
                <a:lnTo>
                  <a:pt x="2977" y="1787"/>
                </a:lnTo>
                <a:lnTo>
                  <a:pt x="3070" y="1748"/>
                </a:lnTo>
                <a:lnTo>
                  <a:pt x="3163" y="1707"/>
                </a:lnTo>
                <a:lnTo>
                  <a:pt x="3256" y="1665"/>
                </a:lnTo>
                <a:lnTo>
                  <a:pt x="3349" y="1621"/>
                </a:lnTo>
                <a:lnTo>
                  <a:pt x="3442" y="1575"/>
                </a:lnTo>
                <a:lnTo>
                  <a:pt x="3535" y="1528"/>
                </a:lnTo>
                <a:lnTo>
                  <a:pt x="3628" y="1479"/>
                </a:lnTo>
                <a:lnTo>
                  <a:pt x="3721" y="1429"/>
                </a:lnTo>
                <a:lnTo>
                  <a:pt x="3814" y="1376"/>
                </a:lnTo>
                <a:lnTo>
                  <a:pt x="3907" y="1320"/>
                </a:lnTo>
                <a:lnTo>
                  <a:pt x="4000" y="1263"/>
                </a:lnTo>
                <a:lnTo>
                  <a:pt x="4093" y="1205"/>
                </a:lnTo>
                <a:lnTo>
                  <a:pt x="4186" y="1143"/>
                </a:lnTo>
                <a:lnTo>
                  <a:pt x="4279" y="1080"/>
                </a:lnTo>
                <a:lnTo>
                  <a:pt x="4372" y="1014"/>
                </a:lnTo>
                <a:lnTo>
                  <a:pt x="4465" y="946"/>
                </a:lnTo>
                <a:lnTo>
                  <a:pt x="4558" y="875"/>
                </a:lnTo>
                <a:lnTo>
                  <a:pt x="4651" y="801"/>
                </a:lnTo>
                <a:lnTo>
                  <a:pt x="4744" y="725"/>
                </a:lnTo>
                <a:lnTo>
                  <a:pt x="4837" y="645"/>
                </a:lnTo>
                <a:lnTo>
                  <a:pt x="4930" y="563"/>
                </a:lnTo>
                <a:lnTo>
                  <a:pt x="5023" y="478"/>
                </a:lnTo>
                <a:lnTo>
                  <a:pt x="5116" y="389"/>
                </a:lnTo>
                <a:lnTo>
                  <a:pt x="5209" y="297"/>
                </a:lnTo>
                <a:lnTo>
                  <a:pt x="5302" y="202"/>
                </a:lnTo>
                <a:lnTo>
                  <a:pt x="5395" y="103"/>
                </a:lnTo>
                <a:lnTo>
                  <a:pt x="5488" y="0"/>
                </a:lnTo>
              </a:path>
            </a:pathLst>
          </a:custGeom>
          <a:ln w="13320">
            <a:solidFill>
              <a:srgbClr val="8FAFC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885120" y="849240"/>
            <a:ext cx="1975680" cy="748440"/>
          </a:xfrm>
          <a:custGeom>
            <a:avLst/>
            <a:gdLst/>
            <a:ahLst/>
            <a:rect l="0" t="0" r="r" b="b"/>
            <a:pathLst>
              <a:path fill="none" w="5488" h="2079">
                <a:moveTo>
                  <a:pt x="0" y="2079"/>
                </a:moveTo>
                <a:lnTo>
                  <a:pt x="93" y="2062"/>
                </a:lnTo>
                <a:lnTo>
                  <a:pt x="186" y="2044"/>
                </a:lnTo>
                <a:lnTo>
                  <a:pt x="279" y="2026"/>
                </a:lnTo>
                <a:lnTo>
                  <a:pt x="372" y="2007"/>
                </a:lnTo>
                <a:lnTo>
                  <a:pt x="465" y="1988"/>
                </a:lnTo>
                <a:lnTo>
                  <a:pt x="558" y="1969"/>
                </a:lnTo>
                <a:lnTo>
                  <a:pt x="651" y="1949"/>
                </a:lnTo>
                <a:lnTo>
                  <a:pt x="744" y="1928"/>
                </a:lnTo>
                <a:lnTo>
                  <a:pt x="837" y="1908"/>
                </a:lnTo>
                <a:lnTo>
                  <a:pt x="930" y="1886"/>
                </a:lnTo>
                <a:lnTo>
                  <a:pt x="1023" y="1865"/>
                </a:lnTo>
                <a:lnTo>
                  <a:pt x="1116" y="1843"/>
                </a:lnTo>
                <a:lnTo>
                  <a:pt x="1209" y="1820"/>
                </a:lnTo>
                <a:lnTo>
                  <a:pt x="1302" y="1797"/>
                </a:lnTo>
                <a:lnTo>
                  <a:pt x="1395" y="1773"/>
                </a:lnTo>
                <a:lnTo>
                  <a:pt x="1488" y="1749"/>
                </a:lnTo>
                <a:lnTo>
                  <a:pt x="1581" y="1724"/>
                </a:lnTo>
                <a:lnTo>
                  <a:pt x="1674" y="1699"/>
                </a:lnTo>
                <a:lnTo>
                  <a:pt x="1767" y="1673"/>
                </a:lnTo>
                <a:lnTo>
                  <a:pt x="1860" y="1646"/>
                </a:lnTo>
                <a:lnTo>
                  <a:pt x="1953" y="1619"/>
                </a:lnTo>
                <a:lnTo>
                  <a:pt x="2046" y="1592"/>
                </a:lnTo>
                <a:lnTo>
                  <a:pt x="2139" y="1564"/>
                </a:lnTo>
                <a:lnTo>
                  <a:pt x="2232" y="1535"/>
                </a:lnTo>
                <a:lnTo>
                  <a:pt x="2325" y="1505"/>
                </a:lnTo>
                <a:lnTo>
                  <a:pt x="2418" y="1475"/>
                </a:lnTo>
                <a:lnTo>
                  <a:pt x="2511" y="1444"/>
                </a:lnTo>
                <a:lnTo>
                  <a:pt x="2604" y="1413"/>
                </a:lnTo>
                <a:lnTo>
                  <a:pt x="2697" y="1381"/>
                </a:lnTo>
                <a:lnTo>
                  <a:pt x="2790" y="1348"/>
                </a:lnTo>
                <a:lnTo>
                  <a:pt x="2883" y="1314"/>
                </a:lnTo>
                <a:lnTo>
                  <a:pt x="2977" y="1280"/>
                </a:lnTo>
                <a:lnTo>
                  <a:pt x="3070" y="1245"/>
                </a:lnTo>
                <a:lnTo>
                  <a:pt x="3163" y="1209"/>
                </a:lnTo>
                <a:lnTo>
                  <a:pt x="3256" y="1172"/>
                </a:lnTo>
                <a:lnTo>
                  <a:pt x="3349" y="1134"/>
                </a:lnTo>
                <a:lnTo>
                  <a:pt x="3442" y="1096"/>
                </a:lnTo>
                <a:lnTo>
                  <a:pt x="3535" y="1057"/>
                </a:lnTo>
                <a:lnTo>
                  <a:pt x="3628" y="1017"/>
                </a:lnTo>
                <a:lnTo>
                  <a:pt x="3721" y="976"/>
                </a:lnTo>
                <a:lnTo>
                  <a:pt x="3814" y="934"/>
                </a:lnTo>
                <a:lnTo>
                  <a:pt x="3907" y="891"/>
                </a:lnTo>
                <a:lnTo>
                  <a:pt x="4000" y="848"/>
                </a:lnTo>
                <a:lnTo>
                  <a:pt x="4093" y="803"/>
                </a:lnTo>
                <a:lnTo>
                  <a:pt x="4186" y="756"/>
                </a:lnTo>
                <a:lnTo>
                  <a:pt x="4279" y="710"/>
                </a:lnTo>
                <a:lnTo>
                  <a:pt x="4372" y="662"/>
                </a:lnTo>
                <a:lnTo>
                  <a:pt x="4465" y="613"/>
                </a:lnTo>
                <a:lnTo>
                  <a:pt x="4558" y="563"/>
                </a:lnTo>
                <a:lnTo>
                  <a:pt x="4651" y="512"/>
                </a:lnTo>
                <a:lnTo>
                  <a:pt x="4744" y="460"/>
                </a:lnTo>
                <a:lnTo>
                  <a:pt x="4837" y="407"/>
                </a:lnTo>
                <a:lnTo>
                  <a:pt x="4930" y="353"/>
                </a:lnTo>
                <a:lnTo>
                  <a:pt x="5023" y="297"/>
                </a:lnTo>
                <a:lnTo>
                  <a:pt x="5116" y="240"/>
                </a:lnTo>
                <a:lnTo>
                  <a:pt x="5209" y="182"/>
                </a:lnTo>
                <a:lnTo>
                  <a:pt x="5302" y="123"/>
                </a:lnTo>
                <a:lnTo>
                  <a:pt x="5395" y="62"/>
                </a:lnTo>
                <a:lnTo>
                  <a:pt x="5488" y="0"/>
                </a:lnTo>
              </a:path>
            </a:pathLst>
          </a:custGeom>
          <a:ln w="13320">
            <a:solidFill>
              <a:srgbClr val="1F5F9E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885120" y="830160"/>
            <a:ext cx="1975680" cy="248040"/>
          </a:xfrm>
          <a:custGeom>
            <a:avLst/>
            <a:gdLst/>
            <a:ahLst/>
            <a:rect l="0" t="0" r="r" b="b"/>
            <a:pathLst>
              <a:path fill="none" w="5488" h="689">
                <a:moveTo>
                  <a:pt x="0" y="689"/>
                </a:moveTo>
                <a:lnTo>
                  <a:pt x="186" y="669"/>
                </a:lnTo>
                <a:lnTo>
                  <a:pt x="465" y="638"/>
                </a:lnTo>
                <a:lnTo>
                  <a:pt x="744" y="606"/>
                </a:lnTo>
                <a:lnTo>
                  <a:pt x="1023" y="574"/>
                </a:lnTo>
                <a:lnTo>
                  <a:pt x="1209" y="553"/>
                </a:lnTo>
                <a:lnTo>
                  <a:pt x="1302" y="542"/>
                </a:lnTo>
                <a:lnTo>
                  <a:pt x="1395" y="531"/>
                </a:lnTo>
                <a:lnTo>
                  <a:pt x="1488" y="520"/>
                </a:lnTo>
                <a:lnTo>
                  <a:pt x="1581" y="509"/>
                </a:lnTo>
                <a:lnTo>
                  <a:pt x="1767" y="487"/>
                </a:lnTo>
                <a:lnTo>
                  <a:pt x="2046" y="454"/>
                </a:lnTo>
                <a:lnTo>
                  <a:pt x="2232" y="431"/>
                </a:lnTo>
                <a:lnTo>
                  <a:pt x="2604" y="385"/>
                </a:lnTo>
                <a:lnTo>
                  <a:pt x="2697" y="374"/>
                </a:lnTo>
                <a:lnTo>
                  <a:pt x="3070" y="327"/>
                </a:lnTo>
                <a:lnTo>
                  <a:pt x="3163" y="315"/>
                </a:lnTo>
                <a:lnTo>
                  <a:pt x="3256" y="303"/>
                </a:lnTo>
                <a:lnTo>
                  <a:pt x="3349" y="291"/>
                </a:lnTo>
                <a:lnTo>
                  <a:pt x="3442" y="279"/>
                </a:lnTo>
                <a:lnTo>
                  <a:pt x="3721" y="243"/>
                </a:lnTo>
                <a:lnTo>
                  <a:pt x="4000" y="206"/>
                </a:lnTo>
                <a:lnTo>
                  <a:pt x="4093" y="194"/>
                </a:lnTo>
                <a:lnTo>
                  <a:pt x="4186" y="181"/>
                </a:lnTo>
                <a:lnTo>
                  <a:pt x="4465" y="144"/>
                </a:lnTo>
                <a:lnTo>
                  <a:pt x="4558" y="131"/>
                </a:lnTo>
                <a:lnTo>
                  <a:pt x="4837" y="91"/>
                </a:lnTo>
                <a:lnTo>
                  <a:pt x="5116" y="53"/>
                </a:lnTo>
                <a:lnTo>
                  <a:pt x="5209" y="39"/>
                </a:lnTo>
                <a:lnTo>
                  <a:pt x="5302" y="26"/>
                </a:lnTo>
                <a:lnTo>
                  <a:pt x="5395" y="13"/>
                </a:lnTo>
                <a:lnTo>
                  <a:pt x="5488" y="0"/>
                </a:lnTo>
              </a:path>
            </a:pathLst>
          </a:custGeom>
          <a:ln w="13320">
            <a:solidFill>
              <a:srgbClr val="0E4373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889600" y="865800"/>
            <a:ext cx="101880" cy="241560"/>
          </a:xfrm>
          <a:prstGeom prst="line">
            <a:avLst/>
          </a:prstGeom>
          <a:ln w="6480">
            <a:solidFill>
              <a:srgbClr val="8FAF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889600" y="849240"/>
            <a:ext cx="101520" cy="0"/>
          </a:xfrm>
          <a:prstGeom prst="line">
            <a:avLst/>
          </a:prstGeom>
          <a:ln w="648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 flipV="1">
            <a:off x="5889600" y="588960"/>
            <a:ext cx="101880" cy="241560"/>
          </a:xfrm>
          <a:prstGeom prst="line">
            <a:avLst/>
          </a:prstGeom>
          <a:ln w="6480">
            <a:solidFill>
              <a:srgbClr val="0E43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015600" y="1021320"/>
            <a:ext cx="335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FAFCF"/>
                </a:solidFill>
                <a:effectLst/>
                <a:uFillTx/>
                <a:latin typeface="Arial"/>
                <a:ea typeface="Arial"/>
              </a:rPr>
              <a:t>Low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015600" y="1103760"/>
            <a:ext cx="322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8FAFCF"/>
                </a:solidFill>
                <a:effectLst/>
                <a:uFillTx/>
                <a:latin typeface="Arial"/>
                <a:ea typeface="Arial"/>
              </a:rPr>
              <a:t>(10th pct)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015600" y="763920"/>
            <a:ext cx="250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Median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015600" y="846000"/>
            <a:ext cx="174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F5F9E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6015600" y="503640"/>
            <a:ext cx="35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0E4373"/>
                </a:solidFill>
                <a:effectLst/>
                <a:uFillTx/>
                <a:latin typeface="Arial"/>
                <a:ea typeface="Arial"/>
              </a:rPr>
              <a:t>High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6015600" y="586080"/>
            <a:ext cx="322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0E4373"/>
                </a:solidFill>
                <a:effectLst/>
                <a:uFillTx/>
                <a:latin typeface="Arial"/>
                <a:ea typeface="Arial"/>
              </a:rPr>
              <a:t>(90th pct)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 flipV="1">
            <a:off x="3846240" y="227880"/>
            <a:ext cx="0" cy="165276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885120" y="261360"/>
            <a:ext cx="1298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3B3B3B"/>
                </a:solidFill>
                <a:effectLst/>
                <a:uFillTx/>
                <a:latin typeface="Arial"/>
                <a:ea typeface="Arial"/>
              </a:rPr>
              <a:t>Warming × effort: HR 0.84 (0.75–0.94)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765240" y="183672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701880" y="1377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3701880" y="918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821040" y="1880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821040" y="1421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821040" y="962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821040" y="5032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846240" y="1880640"/>
            <a:ext cx="20336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 flipV="1">
            <a:off x="394380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 flipV="1">
            <a:off x="44276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 flipV="1">
            <a:off x="491184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39568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 flipV="1">
            <a:off x="5879880" y="18806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701880" y="4590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899520" y="1911240"/>
            <a:ext cx="87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83360" y="1911240"/>
            <a:ext cx="87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893120" y="19112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376960" y="19112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5861160" y="19112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3999960" y="2038320"/>
            <a:ext cx="21448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 relative to the species' range (z)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 rot="16200000">
            <a:off x="2916000" y="1020240"/>
            <a:ext cx="1366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Annual hazard of a new record (%)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676320" y="63360"/>
            <a:ext cx="1758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matters most where effort is low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04600" y="2545200"/>
            <a:ext cx="576000" cy="1521000"/>
          </a:xfrm>
          <a:custGeom>
            <a:avLst/>
            <a:gdLst/>
            <a:ahLst/>
            <a:rect l="0" t="0" r="r" b="b"/>
            <a:pathLst>
              <a:path w="1600" h="4225">
                <a:moveTo>
                  <a:pt x="0" y="0"/>
                </a:moveTo>
                <a:lnTo>
                  <a:pt x="1600" y="0"/>
                </a:lnTo>
                <a:lnTo>
                  <a:pt x="1600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89280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92800" y="2735280"/>
            <a:ext cx="42444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92800" y="3115440"/>
            <a:ext cx="38016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892800" y="3875760"/>
            <a:ext cx="9936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H="1">
            <a:off x="867600" y="3495600"/>
            <a:ext cx="2520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294200" y="27122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294200" y="27122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249560" y="30924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249560" y="30924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96876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6876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844560" y="3472560"/>
            <a:ext cx="46440" cy="47160"/>
          </a:xfrm>
          <a:custGeom>
            <a:avLst/>
            <a:gdLst/>
            <a:ahLst/>
            <a:rect l="0" t="0" r="r" b="b"/>
            <a:pathLst>
              <a:path w="129" h="131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844560" y="3472560"/>
            <a:ext cx="46440" cy="47160"/>
          </a:xfrm>
          <a:custGeom>
            <a:avLst/>
            <a:gdLst/>
            <a:ahLst/>
            <a:rect l="0" t="0" r="r" b="b"/>
            <a:pathLst>
              <a:path fill="none" w="129" h="131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494000" y="2545200"/>
            <a:ext cx="576000" cy="1521000"/>
          </a:xfrm>
          <a:custGeom>
            <a:avLst/>
            <a:gdLst/>
            <a:ahLst/>
            <a:rect l="0" t="0" r="r" b="b"/>
            <a:pathLst>
              <a:path w="1600" h="4225">
                <a:moveTo>
                  <a:pt x="0" y="0"/>
                </a:moveTo>
                <a:lnTo>
                  <a:pt x="1600" y="0"/>
                </a:lnTo>
                <a:lnTo>
                  <a:pt x="1600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 flipV="1">
            <a:off x="155700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557000" y="2735280"/>
            <a:ext cx="27972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557000" y="3115440"/>
            <a:ext cx="44964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557000" y="3875760"/>
            <a:ext cx="1836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557000" y="3495600"/>
            <a:ext cx="180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813680" y="271224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813680" y="271224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983240" y="30924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983240" y="30924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55232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55232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535760" y="3472560"/>
            <a:ext cx="46440" cy="47160"/>
          </a:xfrm>
          <a:custGeom>
            <a:avLst/>
            <a:gdLst/>
            <a:ahLst/>
            <a:rect l="0" t="0" r="r" b="b"/>
            <a:pathLst>
              <a:path w="129" h="131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535760" y="3472560"/>
            <a:ext cx="46440" cy="47160"/>
          </a:xfrm>
          <a:custGeom>
            <a:avLst/>
            <a:gdLst/>
            <a:ahLst/>
            <a:rect l="0" t="0" r="r" b="b"/>
            <a:pathLst>
              <a:path fill="none" w="129" h="131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183400" y="2545200"/>
            <a:ext cx="575640" cy="1521000"/>
          </a:xfrm>
          <a:custGeom>
            <a:avLst/>
            <a:gdLst/>
            <a:ahLst/>
            <a:rect l="0" t="0" r="r" b="b"/>
            <a:pathLst>
              <a:path w="1599" h="4225">
                <a:moveTo>
                  <a:pt x="0" y="0"/>
                </a:moveTo>
                <a:lnTo>
                  <a:pt x="1599" y="0"/>
                </a:lnTo>
                <a:lnTo>
                  <a:pt x="1599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 flipV="1">
            <a:off x="225720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257200" y="2735280"/>
            <a:ext cx="2448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257200" y="3115440"/>
            <a:ext cx="32976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257200" y="3875760"/>
            <a:ext cx="43884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 flipH="1">
            <a:off x="2246400" y="3495600"/>
            <a:ext cx="1080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258640" y="271224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1"/>
                  <a:pt x="129" y="-21"/>
                  <a:pt x="129" y="65"/>
                </a:cubicBezTo>
                <a:cubicBezTo>
                  <a:pt x="129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258640" y="271224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2"/>
                  <a:pt x="0" y="152"/>
                  <a:pt x="0" y="65"/>
                </a:cubicBezTo>
                <a:cubicBezTo>
                  <a:pt x="0" y="-21"/>
                  <a:pt x="129" y="-21"/>
                  <a:pt x="129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563560" y="309240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563560" y="309240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1"/>
                  <a:pt x="0" y="151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67264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67264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223000" y="347256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223000" y="347256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872800" y="2545200"/>
            <a:ext cx="575640" cy="1521000"/>
          </a:xfrm>
          <a:custGeom>
            <a:avLst/>
            <a:gdLst/>
            <a:ahLst/>
            <a:rect l="0" t="0" r="r" b="b"/>
            <a:pathLst>
              <a:path w="1599" h="4225">
                <a:moveTo>
                  <a:pt x="0" y="0"/>
                </a:moveTo>
                <a:lnTo>
                  <a:pt x="1599" y="0"/>
                </a:lnTo>
                <a:lnTo>
                  <a:pt x="1599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2935800" y="2545200"/>
            <a:ext cx="0" cy="152064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935800" y="2735280"/>
            <a:ext cx="449280" cy="0"/>
          </a:xfrm>
          <a:prstGeom prst="line">
            <a:avLst/>
          </a:prstGeom>
          <a:ln w="13320">
            <a:solidFill>
              <a:srgbClr val="1F5F9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935800" y="3115440"/>
            <a:ext cx="391320" cy="0"/>
          </a:xfrm>
          <a:prstGeom prst="line">
            <a:avLst/>
          </a:prstGeom>
          <a:ln w="1332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935800" y="3875760"/>
            <a:ext cx="221040" cy="0"/>
          </a:xfrm>
          <a:prstGeom prst="line">
            <a:avLst/>
          </a:prstGeom>
          <a:ln w="13320">
            <a:solidFill>
              <a:srgbClr val="3B3B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935800" y="3495600"/>
            <a:ext cx="6840" cy="0"/>
          </a:xfrm>
          <a:prstGeom prst="line">
            <a:avLst/>
          </a:prstGeom>
          <a:ln w="13320">
            <a:solidFill>
              <a:srgbClr val="9A9A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3362040" y="2712240"/>
            <a:ext cx="46800" cy="46800"/>
          </a:xfrm>
          <a:custGeom>
            <a:avLst/>
            <a:gdLst/>
            <a:ahLst/>
            <a:rect l="0" t="0" r="r" b="b"/>
            <a:pathLst>
              <a:path w="130" h="130">
                <a:moveTo>
                  <a:pt x="0" y="65"/>
                </a:moveTo>
                <a:cubicBezTo>
                  <a:pt x="0" y="-21"/>
                  <a:pt x="130" y="-21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3362040" y="2712240"/>
            <a:ext cx="46800" cy="46800"/>
          </a:xfrm>
          <a:custGeom>
            <a:avLst/>
            <a:gdLst/>
            <a:ahLst/>
            <a:rect l="0" t="0" r="r" b="b"/>
            <a:pathLst>
              <a:path fill="none" w="130" h="130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1"/>
                  <a:pt x="130" y="-21"/>
                  <a:pt x="130" y="65"/>
                </a:cubicBezTo>
              </a:path>
            </a:pathLst>
          </a:custGeom>
          <a:ln cap="rnd" w="5400">
            <a:solidFill>
              <a:srgbClr val="1F5F9E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3304080" y="3092400"/>
            <a:ext cx="46440" cy="46800"/>
          </a:xfrm>
          <a:custGeom>
            <a:avLst/>
            <a:gdLst/>
            <a:ahLst/>
            <a:rect l="0" t="0" r="r" b="b"/>
            <a:pathLst>
              <a:path w="129" h="130">
                <a:moveTo>
                  <a:pt x="0" y="65"/>
                </a:moveTo>
                <a:cubicBezTo>
                  <a:pt x="0" y="-22"/>
                  <a:pt x="129" y="-22"/>
                  <a:pt x="129" y="65"/>
                </a:cubicBezTo>
                <a:cubicBezTo>
                  <a:pt x="129" y="151"/>
                  <a:pt x="0" y="151"/>
                  <a:pt x="0" y="65"/>
                </a:cubicBezTo>
                <a:close/>
              </a:path>
            </a:pathLst>
          </a:custGeom>
          <a:solidFill>
            <a:srgbClr val="D155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304080" y="3092400"/>
            <a:ext cx="46440" cy="46800"/>
          </a:xfrm>
          <a:custGeom>
            <a:avLst/>
            <a:gdLst/>
            <a:ahLst/>
            <a:rect l="0" t="0" r="r" b="b"/>
            <a:pathLst>
              <a:path fill="none" w="129" h="130">
                <a:moveTo>
                  <a:pt x="129" y="65"/>
                </a:moveTo>
                <a:cubicBezTo>
                  <a:pt x="129" y="151"/>
                  <a:pt x="0" y="151"/>
                  <a:pt x="0" y="65"/>
                </a:cubicBezTo>
                <a:cubicBezTo>
                  <a:pt x="0" y="-22"/>
                  <a:pt x="129" y="-22"/>
                  <a:pt x="129" y="65"/>
                </a:cubicBezTo>
              </a:path>
            </a:pathLst>
          </a:custGeom>
          <a:ln cap="rnd" w="5400">
            <a:solidFill>
              <a:srgbClr val="D1552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133440" y="385272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3B3B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133440" y="385272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3B3B3B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919240" y="3472560"/>
            <a:ext cx="46800" cy="47160"/>
          </a:xfrm>
          <a:custGeom>
            <a:avLst/>
            <a:gdLst/>
            <a:ahLst/>
            <a:rect l="0" t="0" r="r" b="b"/>
            <a:pathLst>
              <a:path w="130" h="131">
                <a:moveTo>
                  <a:pt x="0" y="65"/>
                </a:moveTo>
                <a:cubicBezTo>
                  <a:pt x="0" y="-22"/>
                  <a:pt x="130" y="-22"/>
                  <a:pt x="130" y="65"/>
                </a:cubicBezTo>
                <a:cubicBezTo>
                  <a:pt x="130" y="152"/>
                  <a:pt x="0" y="152"/>
                  <a:pt x="0" y="65"/>
                </a:cubicBezTo>
                <a:close/>
              </a:path>
            </a:pathLst>
          </a:custGeom>
          <a:solidFill>
            <a:srgbClr val="9A9A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919240" y="3472560"/>
            <a:ext cx="46800" cy="47160"/>
          </a:xfrm>
          <a:custGeom>
            <a:avLst/>
            <a:gdLst/>
            <a:ahLst/>
            <a:rect l="0" t="0" r="r" b="b"/>
            <a:pathLst>
              <a:path fill="none" w="130" h="131">
                <a:moveTo>
                  <a:pt x="130" y="65"/>
                </a:moveTo>
                <a:cubicBezTo>
                  <a:pt x="130" y="152"/>
                  <a:pt x="0" y="152"/>
                  <a:pt x="0" y="65"/>
                </a:cubicBezTo>
                <a:cubicBezTo>
                  <a:pt x="0" y="-22"/>
                  <a:pt x="130" y="-22"/>
                  <a:pt x="130" y="65"/>
                </a:cubicBezTo>
              </a:path>
            </a:pathLst>
          </a:custGeom>
          <a:ln cap="rnd" w="5400">
            <a:solidFill>
              <a:srgbClr val="9A9A9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353052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04960" y="2405880"/>
            <a:ext cx="216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ΔAIC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494360" y="2405880"/>
            <a:ext cx="2556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ΔAUC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183400" y="2405880"/>
            <a:ext cx="1576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ΔR²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872800" y="2405880"/>
            <a:ext cx="1040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|β|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55320" y="2691000"/>
            <a:ext cx="432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5960" y="3071160"/>
            <a:ext cx="750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17160" y="3410280"/>
            <a:ext cx="500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Annual climate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95000" y="349272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804600" y="4065840"/>
            <a:ext cx="5756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 flipV="1">
            <a:off x="8928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127368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228240" y="3831480"/>
            <a:ext cx="5659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 ×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7408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494000" y="4065840"/>
            <a:ext cx="57564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15570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198144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235880" y="409644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153792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183400" y="4065840"/>
            <a:ext cx="5752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 flipV="1">
            <a:off x="22572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 flipV="1">
            <a:off x="264024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1911960" y="4096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23812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872800" y="4065840"/>
            <a:ext cx="5752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 flipV="1">
            <a:off x="29358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 flipV="1">
            <a:off x="343908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570400" y="4096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2916720" y="4096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388680" y="40964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04120" y="4223160"/>
            <a:ext cx="1960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Loss when the term is dropped from the full model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89720" y="2241000"/>
            <a:ext cx="1434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Warming and effort matter equally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846240" y="2545200"/>
            <a:ext cx="2643840" cy="1521000"/>
          </a:xfrm>
          <a:custGeom>
            <a:avLst/>
            <a:gdLst/>
            <a:ahLst/>
            <a:rect l="0" t="0" r="r" b="b"/>
            <a:pathLst>
              <a:path w="7344" h="4225">
                <a:moveTo>
                  <a:pt x="0" y="0"/>
                </a:moveTo>
                <a:lnTo>
                  <a:pt x="7344" y="0"/>
                </a:lnTo>
                <a:lnTo>
                  <a:pt x="7344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071400" y="2545200"/>
            <a:ext cx="396720" cy="1521000"/>
          </a:xfrm>
          <a:custGeom>
            <a:avLst/>
            <a:gdLst/>
            <a:ahLst/>
            <a:rect l="0" t="0" r="r" b="b"/>
            <a:pathLst>
              <a:path w="1102" h="4225">
                <a:moveTo>
                  <a:pt x="0" y="0"/>
                </a:moveTo>
                <a:lnTo>
                  <a:pt x="1102" y="0"/>
                </a:lnTo>
                <a:lnTo>
                  <a:pt x="1102" y="4225"/>
                </a:lnTo>
                <a:lnTo>
                  <a:pt x="0" y="4225"/>
                </a:lnTo>
                <a:lnTo>
                  <a:pt x="0" y="0"/>
                </a:lnTo>
                <a:close/>
              </a:path>
            </a:pathLst>
          </a:custGeom>
          <a:solidFill>
            <a:srgbClr val="F4F1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846240" y="3457800"/>
            <a:ext cx="2643480" cy="0"/>
          </a:xfrm>
          <a:prstGeom prst="line">
            <a:avLst/>
          </a:prstGeom>
          <a:ln w="6480">
            <a:solidFill>
              <a:srgbClr val="9A9A9A"/>
            </a:solidFill>
            <a:custDash>
              <a:ds d="288889" sp="28888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0400" y="219024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4066560" y="2891160"/>
            <a:ext cx="2203200" cy="1021680"/>
          </a:xfrm>
          <a:custGeom>
            <a:avLst/>
            <a:gdLst/>
            <a:ahLst/>
            <a:rect l="0" t="0" r="r" b="b"/>
            <a:pathLst>
              <a:path fill="none" w="6120" h="2838">
                <a:moveTo>
                  <a:pt x="0" y="2838"/>
                </a:moveTo>
                <a:lnTo>
                  <a:pt x="1224" y="747"/>
                </a:lnTo>
                <a:lnTo>
                  <a:pt x="2448" y="453"/>
                </a:lnTo>
                <a:lnTo>
                  <a:pt x="3672" y="27"/>
                </a:lnTo>
                <a:lnTo>
                  <a:pt x="4897" y="30"/>
                </a:lnTo>
                <a:lnTo>
                  <a:pt x="6120" y="0"/>
                </a:lnTo>
              </a:path>
            </a:pathLst>
          </a:custGeom>
          <a:ln w="13320">
            <a:solidFill>
              <a:srgbClr val="9A9A9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4044600" y="389052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3"/>
                  <a:pt x="0" y="143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4044600" y="389052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3"/>
                  <a:pt x="0" y="143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4485240" y="3138120"/>
            <a:ext cx="44280" cy="43920"/>
          </a:xfrm>
          <a:custGeom>
            <a:avLst/>
            <a:gdLst/>
            <a:ahLst/>
            <a:rect l="0" t="0" r="r" b="b"/>
            <a:pathLst>
              <a:path w="123" h="122">
                <a:moveTo>
                  <a:pt x="0" y="62"/>
                </a:moveTo>
                <a:cubicBezTo>
                  <a:pt x="0" y="-20"/>
                  <a:pt x="123" y="-20"/>
                  <a:pt x="123" y="62"/>
                </a:cubicBezTo>
                <a:cubicBezTo>
                  <a:pt x="123" y="142"/>
                  <a:pt x="0" y="142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485240" y="3138120"/>
            <a:ext cx="44280" cy="43920"/>
          </a:xfrm>
          <a:custGeom>
            <a:avLst/>
            <a:gdLst/>
            <a:ahLst/>
            <a:rect l="0" t="0" r="r" b="b"/>
            <a:pathLst>
              <a:path fill="none" w="123" h="122">
                <a:moveTo>
                  <a:pt x="123" y="62"/>
                </a:moveTo>
                <a:cubicBezTo>
                  <a:pt x="123" y="142"/>
                  <a:pt x="0" y="142"/>
                  <a:pt x="0" y="62"/>
                </a:cubicBezTo>
                <a:cubicBezTo>
                  <a:pt x="0" y="-20"/>
                  <a:pt x="123" y="-20"/>
                  <a:pt x="123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925880" y="3032640"/>
            <a:ext cx="43920" cy="44280"/>
          </a:xfrm>
          <a:custGeom>
            <a:avLst/>
            <a:gdLst/>
            <a:ahLst/>
            <a:rect l="0" t="0" r="r" b="b"/>
            <a:pathLst>
              <a:path w="122" h="123">
                <a:moveTo>
                  <a:pt x="0" y="62"/>
                </a:moveTo>
                <a:cubicBezTo>
                  <a:pt x="0" y="-20"/>
                  <a:pt x="122" y="-20"/>
                  <a:pt x="122" y="62"/>
                </a:cubicBezTo>
                <a:cubicBezTo>
                  <a:pt x="122" y="144"/>
                  <a:pt x="0" y="144"/>
                  <a:pt x="0" y="62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4925880" y="3032640"/>
            <a:ext cx="43920" cy="44280"/>
          </a:xfrm>
          <a:custGeom>
            <a:avLst/>
            <a:gdLst/>
            <a:ahLst/>
            <a:rect l="0" t="0" r="r" b="b"/>
            <a:pathLst>
              <a:path fill="none" w="122" h="123">
                <a:moveTo>
                  <a:pt x="122" y="62"/>
                </a:moveTo>
                <a:cubicBezTo>
                  <a:pt x="122" y="144"/>
                  <a:pt x="0" y="144"/>
                  <a:pt x="0" y="62"/>
                </a:cubicBezTo>
                <a:cubicBezTo>
                  <a:pt x="0" y="-20"/>
                  <a:pt x="122" y="-20"/>
                  <a:pt x="122" y="62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366520" y="287928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2"/>
                  <a:pt x="0" y="142"/>
                  <a:pt x="0" y="61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366520" y="287928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2"/>
                  <a:pt x="0" y="142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807160" y="2880360"/>
            <a:ext cx="43920" cy="43920"/>
          </a:xfrm>
          <a:custGeom>
            <a:avLst/>
            <a:gdLst/>
            <a:ahLst/>
            <a:rect l="0" t="0" r="r" b="b"/>
            <a:pathLst>
              <a:path w="122" h="122">
                <a:moveTo>
                  <a:pt x="0" y="61"/>
                </a:moveTo>
                <a:cubicBezTo>
                  <a:pt x="0" y="-20"/>
                  <a:pt x="122" y="-20"/>
                  <a:pt x="122" y="61"/>
                </a:cubicBezTo>
                <a:cubicBezTo>
                  <a:pt x="122" y="142"/>
                  <a:pt x="0" y="142"/>
                  <a:pt x="0" y="61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807160" y="2880360"/>
            <a:ext cx="43920" cy="43920"/>
          </a:xfrm>
          <a:custGeom>
            <a:avLst/>
            <a:gdLst/>
            <a:ahLst/>
            <a:rect l="0" t="0" r="r" b="b"/>
            <a:pathLst>
              <a:path fill="none" w="122" h="122">
                <a:moveTo>
                  <a:pt x="122" y="61"/>
                </a:moveTo>
                <a:cubicBezTo>
                  <a:pt x="122" y="142"/>
                  <a:pt x="0" y="142"/>
                  <a:pt x="0" y="61"/>
                </a:cubicBezTo>
                <a:cubicBezTo>
                  <a:pt x="0" y="-20"/>
                  <a:pt x="122" y="-20"/>
                  <a:pt x="122" y="61"/>
                </a:cubicBezTo>
              </a:path>
            </a:pathLst>
          </a:custGeom>
          <a:ln cap="rnd" w="5400">
            <a:solidFill>
              <a:srgbClr val="5A5A5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239520" y="2861280"/>
            <a:ext cx="60480" cy="60120"/>
          </a:xfrm>
          <a:custGeom>
            <a:avLst/>
            <a:gdLst/>
            <a:ahLst/>
            <a:rect l="0" t="0" r="r" b="b"/>
            <a:pathLst>
              <a:path w="168" h="167">
                <a:moveTo>
                  <a:pt x="0" y="83"/>
                </a:moveTo>
                <a:cubicBezTo>
                  <a:pt x="0" y="-28"/>
                  <a:pt x="168" y="-28"/>
                  <a:pt x="168" y="83"/>
                </a:cubicBezTo>
                <a:cubicBezTo>
                  <a:pt x="168" y="195"/>
                  <a:pt x="0" y="195"/>
                  <a:pt x="0" y="83"/>
                </a:cubicBez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6239520" y="2861280"/>
            <a:ext cx="60480" cy="60120"/>
          </a:xfrm>
          <a:custGeom>
            <a:avLst/>
            <a:gdLst/>
            <a:ahLst/>
            <a:rect l="0" t="0" r="r" b="b"/>
            <a:pathLst>
              <a:path fill="none" w="168" h="167">
                <a:moveTo>
                  <a:pt x="168" y="83"/>
                </a:moveTo>
                <a:cubicBezTo>
                  <a:pt x="168" y="195"/>
                  <a:pt x="0" y="195"/>
                  <a:pt x="0" y="83"/>
                </a:cubicBezTo>
                <a:cubicBezTo>
                  <a:pt x="0" y="-28"/>
                  <a:pt x="168" y="-28"/>
                  <a:pt x="168" y="83"/>
                </a:cubicBezTo>
              </a:path>
            </a:pathLst>
          </a:custGeom>
          <a:ln cap="rnd" w="5400">
            <a:solidFill>
              <a:srgbClr val="1A1A1A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890520" y="3368880"/>
            <a:ext cx="2422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55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Chance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978000" y="377280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418280" y="302040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0.559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858920" y="291492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0.580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5299560" y="276156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740200" y="276264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 flipV="1">
            <a:off x="3846240" y="2545200"/>
            <a:ext cx="0" cy="152064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6180840" y="275148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0.612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701880" y="39204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701880" y="34135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821040" y="39646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821040" y="3457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821040" y="29509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3846240" y="4065840"/>
            <a:ext cx="26434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 flipV="1">
            <a:off x="406656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45072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494784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538848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 flipV="1">
            <a:off x="582912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 flipV="1">
            <a:off x="6269400" y="4065840"/>
            <a:ext cx="0" cy="2556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3701880" y="29066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009680" y="4096440"/>
            <a:ext cx="132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Null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4412160" y="4096440"/>
            <a:ext cx="182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4808160" y="4096440"/>
            <a:ext cx="305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255280" y="4096440"/>
            <a:ext cx="248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 +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5255280" y="4178880"/>
            <a:ext cx="2887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warming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689440" y="4096440"/>
            <a:ext cx="303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+ Annual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682960" y="4178880"/>
            <a:ext cx="31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variability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053760" y="4096440"/>
            <a:ext cx="437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+ Warming ×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6066360" y="4178880"/>
            <a:ext cx="411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effort (main)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 rot="16200000">
            <a:off x="3063240" y="3285360"/>
            <a:ext cx="10717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AUC from fixed effects only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676320" y="2241000"/>
            <a:ext cx="13464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Neither factor alone is sufficient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530520" y="219024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TJ_Fig_main_results</dc:title>
</cp:coreProperties>
</file>