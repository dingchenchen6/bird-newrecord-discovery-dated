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321800" cy="6400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5840" y="240840"/>
            <a:ext cx="8388720" cy="100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5840" y="1413360"/>
            <a:ext cx="8388720" cy="350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321840" cy="6401160"/>
          </a:xfrm>
          <a:custGeom>
            <a:avLst/>
            <a:gdLst/>
            <a:ahLst/>
            <a:rect l="0" t="0" r="r" b="b"/>
            <a:pathLst>
              <a:path w="25894" h="17781">
                <a:moveTo>
                  <a:pt x="0" y="0"/>
                </a:moveTo>
                <a:lnTo>
                  <a:pt x="25894" y="0"/>
                </a:lnTo>
                <a:lnTo>
                  <a:pt x="25894" y="17781"/>
                </a:lnTo>
                <a:lnTo>
                  <a:pt x="0" y="1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321840" cy="6401160"/>
          </a:xfrm>
          <a:custGeom>
            <a:avLst/>
            <a:gdLst/>
            <a:ahLst/>
            <a:rect l="0" t="0" r="r" b="b"/>
            <a:pathLst>
              <a:path w="25894" h="17781">
                <a:moveTo>
                  <a:pt x="0" y="0"/>
                </a:moveTo>
                <a:lnTo>
                  <a:pt x="25894" y="0"/>
                </a:lnTo>
                <a:lnTo>
                  <a:pt x="25894" y="17781"/>
                </a:lnTo>
                <a:lnTo>
                  <a:pt x="0" y="1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4186800" cy="3131280"/>
          </a:xfrm>
          <a:custGeom>
            <a:avLst/>
            <a:gdLst/>
            <a:ahLst/>
            <a:rect l="0" t="0" r="r" b="b"/>
            <a:pathLst>
              <a:path w="11630" h="8698">
                <a:moveTo>
                  <a:pt x="0" y="0"/>
                </a:moveTo>
                <a:lnTo>
                  <a:pt x="11630" y="0"/>
                </a:lnTo>
                <a:lnTo>
                  <a:pt x="11630" y="8698"/>
                </a:lnTo>
                <a:lnTo>
                  <a:pt x="0" y="86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255920" y="69480"/>
            <a:ext cx="4996440" cy="3131280"/>
          </a:xfrm>
          <a:custGeom>
            <a:avLst/>
            <a:gdLst/>
            <a:ahLst/>
            <a:rect l="0" t="0" r="r" b="b"/>
            <a:pathLst>
              <a:path w="13879" h="8698">
                <a:moveTo>
                  <a:pt x="0" y="0"/>
                </a:moveTo>
                <a:lnTo>
                  <a:pt x="13879" y="0"/>
                </a:lnTo>
                <a:lnTo>
                  <a:pt x="13879" y="8698"/>
                </a:lnTo>
                <a:lnTo>
                  <a:pt x="0" y="86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49000" y="594000"/>
            <a:ext cx="3650400" cy="2253960"/>
          </a:xfrm>
          <a:custGeom>
            <a:avLst/>
            <a:gdLst/>
            <a:ahLst/>
            <a:rect l="0" t="0" r="r" b="b"/>
            <a:pathLst>
              <a:path w="10140" h="6261">
                <a:moveTo>
                  <a:pt x="0" y="0"/>
                </a:moveTo>
                <a:lnTo>
                  <a:pt x="10140" y="0"/>
                </a:lnTo>
                <a:lnTo>
                  <a:pt x="10140" y="6261"/>
                </a:lnTo>
                <a:lnTo>
                  <a:pt x="0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577520" y="1274400"/>
            <a:ext cx="514800" cy="1471320"/>
          </a:xfrm>
          <a:custGeom>
            <a:avLst/>
            <a:gdLst/>
            <a:ahLst/>
            <a:rect l="0" t="0" r="r" b="b"/>
            <a:pathLst>
              <a:path w="1430" h="4087">
                <a:moveTo>
                  <a:pt x="0" y="0"/>
                </a:moveTo>
                <a:lnTo>
                  <a:pt x="1430" y="0"/>
                </a:lnTo>
                <a:lnTo>
                  <a:pt x="1430" y="4087"/>
                </a:lnTo>
                <a:lnTo>
                  <a:pt x="0" y="408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3236760" y="1983600"/>
            <a:ext cx="514440" cy="762120"/>
          </a:xfrm>
          <a:custGeom>
            <a:avLst/>
            <a:gdLst/>
            <a:ahLst/>
            <a:rect l="0" t="0" r="r" b="b"/>
            <a:pathLst>
              <a:path w="1429" h="2117">
                <a:moveTo>
                  <a:pt x="0" y="0"/>
                </a:moveTo>
                <a:lnTo>
                  <a:pt x="1429" y="0"/>
                </a:lnTo>
                <a:lnTo>
                  <a:pt x="1429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996840" y="1215720"/>
            <a:ext cx="514800" cy="1530000"/>
          </a:xfrm>
          <a:custGeom>
            <a:avLst/>
            <a:gdLst/>
            <a:ahLst/>
            <a:rect l="0" t="0" r="r" b="b"/>
            <a:pathLst>
              <a:path w="1430" h="4250">
                <a:moveTo>
                  <a:pt x="0" y="0"/>
                </a:moveTo>
                <a:lnTo>
                  <a:pt x="1430" y="0"/>
                </a:lnTo>
                <a:lnTo>
                  <a:pt x="1430" y="4250"/>
                </a:lnTo>
                <a:lnTo>
                  <a:pt x="0" y="425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656080" y="1869840"/>
            <a:ext cx="514440" cy="875880"/>
          </a:xfrm>
          <a:custGeom>
            <a:avLst/>
            <a:gdLst/>
            <a:ahLst/>
            <a:rect l="0" t="0" r="r" b="b"/>
            <a:pathLst>
              <a:path w="1429" h="2433">
                <a:moveTo>
                  <a:pt x="0" y="0"/>
                </a:moveTo>
                <a:lnTo>
                  <a:pt x="1429" y="0"/>
                </a:lnTo>
                <a:lnTo>
                  <a:pt x="1429" y="2433"/>
                </a:lnTo>
                <a:lnTo>
                  <a:pt x="0" y="2433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784880" y="983520"/>
            <a:ext cx="9972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834560" y="983520"/>
            <a:ext cx="0" cy="5814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784880" y="1564920"/>
            <a:ext cx="9972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444120" y="1739160"/>
            <a:ext cx="9936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493800" y="1739160"/>
            <a:ext cx="0" cy="48888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444120" y="2228040"/>
            <a:ext cx="9936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204200" y="1039320"/>
            <a:ext cx="9972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253880" y="1039320"/>
            <a:ext cx="0" cy="3531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204200" y="1392480"/>
            <a:ext cx="9972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863440" y="1714680"/>
            <a:ext cx="9936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913120" y="1714680"/>
            <a:ext cx="0" cy="31032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863440" y="2025000"/>
            <a:ext cx="99360" cy="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 flipV="1">
            <a:off x="549000" y="594000"/>
            <a:ext cx="0" cy="2253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70800" y="2707200"/>
            <a:ext cx="1328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20040" y="202428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20040" y="134136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20560" y="27453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20560" y="20624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20560" y="13795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20560" y="6966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49000" y="2847600"/>
            <a:ext cx="36500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154440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320364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20040" y="65844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79560" y="2899080"/>
            <a:ext cx="1128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Re-detected in ≥1 later year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613240" y="2899080"/>
            <a:ext cx="11743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Re-detected in ≥3 later years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3056040" y="647280"/>
            <a:ext cx="972000" cy="344520"/>
          </a:xfrm>
          <a:custGeom>
            <a:avLst/>
            <a:gdLst/>
            <a:ahLst/>
            <a:rect l="0" t="0" r="r" b="b"/>
            <a:pathLst>
              <a:path w="2700" h="957">
                <a:moveTo>
                  <a:pt x="0" y="0"/>
                </a:moveTo>
                <a:lnTo>
                  <a:pt x="2700" y="0"/>
                </a:lnTo>
                <a:lnTo>
                  <a:pt x="2700" y="957"/>
                </a:lnTo>
                <a:lnTo>
                  <a:pt x="0" y="9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112920" y="70416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120120" y="711360"/>
            <a:ext cx="101160" cy="100800"/>
          </a:xfrm>
          <a:custGeom>
            <a:avLst/>
            <a:gdLst/>
            <a:ahLst/>
            <a:rect l="0" t="0" r="r" b="b"/>
            <a:pathLst>
              <a:path w="281" h="280">
                <a:moveTo>
                  <a:pt x="0" y="0"/>
                </a:moveTo>
                <a:lnTo>
                  <a:pt x="281" y="0"/>
                </a:lnTo>
                <a:lnTo>
                  <a:pt x="281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3112920" y="81936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3120120" y="826920"/>
            <a:ext cx="101160" cy="100800"/>
          </a:xfrm>
          <a:custGeom>
            <a:avLst/>
            <a:gdLst/>
            <a:ahLst/>
            <a:rect l="0" t="0" r="r" b="b"/>
            <a:pathLst>
              <a:path w="281" h="280">
                <a:moveTo>
                  <a:pt x="0" y="0"/>
                </a:moveTo>
                <a:lnTo>
                  <a:pt x="281" y="0"/>
                </a:lnTo>
                <a:lnTo>
                  <a:pt x="281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 rot="16200000">
            <a:off x="-896400" y="1713240"/>
            <a:ext cx="2160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Proportion re-detected after the ﬁrst record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285360" y="711000"/>
            <a:ext cx="721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285360" y="826200"/>
            <a:ext cx="64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49000" y="310320"/>
            <a:ext cx="3952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Persistence proxied by later-year detections of the same species in the same province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545080" y="594000"/>
            <a:ext cx="3650400" cy="2253960"/>
          </a:xfrm>
          <a:custGeom>
            <a:avLst/>
            <a:gdLst/>
            <a:ahLst/>
            <a:rect l="0" t="0" r="r" b="b"/>
            <a:pathLst>
              <a:path w="10140" h="6261">
                <a:moveTo>
                  <a:pt x="0" y="0"/>
                </a:moveTo>
                <a:lnTo>
                  <a:pt x="10140" y="0"/>
                </a:lnTo>
                <a:lnTo>
                  <a:pt x="10140" y="6261"/>
                </a:lnTo>
                <a:lnTo>
                  <a:pt x="0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366600" y="594000"/>
            <a:ext cx="1805040" cy="2253960"/>
          </a:xfrm>
          <a:custGeom>
            <a:avLst/>
            <a:gdLst/>
            <a:ahLst/>
            <a:rect l="0" t="0" r="r" b="b"/>
            <a:pathLst>
              <a:path w="5014" h="6261">
                <a:moveTo>
                  <a:pt x="0" y="0"/>
                </a:moveTo>
                <a:lnTo>
                  <a:pt x="5014" y="0"/>
                </a:lnTo>
                <a:lnTo>
                  <a:pt x="5014" y="6261"/>
                </a:lnTo>
                <a:lnTo>
                  <a:pt x="0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009E73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7263360" y="594000"/>
            <a:ext cx="0" cy="2253600"/>
          </a:xfrm>
          <a:prstGeom prst="line">
            <a:avLst/>
          </a:prstGeom>
          <a:ln w="10800">
            <a:solidFill>
              <a:srgbClr val="999999"/>
            </a:solidFill>
            <a:custDash>
              <a:ds d="410000" sp="41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176520" y="1208520"/>
            <a:ext cx="219708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58160" y="2233080"/>
            <a:ext cx="264780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7251480" y="118512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66"/>
                </a:moveTo>
                <a:cubicBezTo>
                  <a:pt x="0" y="-22"/>
                  <a:pt x="132" y="-22"/>
                  <a:pt x="132" y="66"/>
                </a:cubicBezTo>
                <a:cubicBezTo>
                  <a:pt x="132" y="154"/>
                  <a:pt x="0" y="154"/>
                  <a:pt x="0" y="6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251480" y="1185120"/>
            <a:ext cx="47520" cy="47520"/>
          </a:xfrm>
          <a:custGeom>
            <a:avLst/>
            <a:gdLst/>
            <a:ahLst/>
            <a:rect l="0" t="0" r="r" b="b"/>
            <a:pathLst>
              <a:path fill="none" w="132" h="132">
                <a:moveTo>
                  <a:pt x="132" y="66"/>
                </a:moveTo>
                <a:cubicBezTo>
                  <a:pt x="132" y="154"/>
                  <a:pt x="0" y="154"/>
                  <a:pt x="0" y="66"/>
                </a:cubicBezTo>
                <a:cubicBezTo>
                  <a:pt x="0" y="-22"/>
                  <a:pt x="132" y="-22"/>
                  <a:pt x="132" y="66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7458480" y="220932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66"/>
                </a:moveTo>
                <a:cubicBezTo>
                  <a:pt x="0" y="-22"/>
                  <a:pt x="132" y="-22"/>
                  <a:pt x="132" y="66"/>
                </a:cubicBezTo>
                <a:cubicBezTo>
                  <a:pt x="132" y="154"/>
                  <a:pt x="0" y="154"/>
                  <a:pt x="0" y="6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458480" y="2209320"/>
            <a:ext cx="47520" cy="47520"/>
          </a:xfrm>
          <a:custGeom>
            <a:avLst/>
            <a:gdLst/>
            <a:ahLst/>
            <a:rect l="0" t="0" r="r" b="b"/>
            <a:pathLst>
              <a:path fill="none" w="132" h="132">
                <a:moveTo>
                  <a:pt x="132" y="66"/>
                </a:moveTo>
                <a:cubicBezTo>
                  <a:pt x="132" y="154"/>
                  <a:pt x="0" y="154"/>
                  <a:pt x="0" y="66"/>
                </a:cubicBezTo>
                <a:cubicBezTo>
                  <a:pt x="0" y="-22"/>
                  <a:pt x="132" y="-22"/>
                  <a:pt x="132" y="66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 flipV="1">
            <a:off x="5545080" y="594000"/>
            <a:ext cx="0" cy="2253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49000" y="126360"/>
            <a:ext cx="1427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Raw re-detection 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313160" y="2195280"/>
            <a:ext cx="11743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Re-detected in ≥3 later years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516640" y="2233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516640" y="12085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545080" y="2847600"/>
            <a:ext cx="36500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571104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636660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 flipV="1">
            <a:off x="726336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817164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8815680" y="28476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363920" y="1170720"/>
            <a:ext cx="1128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Re-detected in ≥1 later year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622480" y="289908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277680" y="289908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0.67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174800" y="289908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082720" y="289908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727120" y="289908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386040" y="3029040"/>
            <a:ext cx="1881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Inside-vs-outside odds ratio (95% CI)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545440" y="310320"/>
            <a:ext cx="3422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Green band: pre-declared equivalence bounds [0.67, 1.5]; the intervals are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545440" y="423000"/>
            <a:ext cx="3468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slightly wider, so we report no detectable difference rather than equivalence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9480" y="3200400"/>
            <a:ext cx="4617000" cy="3130920"/>
          </a:xfrm>
          <a:custGeom>
            <a:avLst/>
            <a:gdLst/>
            <a:ahLst/>
            <a:rect l="0" t="0" r="r" b="b"/>
            <a:pathLst>
              <a:path w="12825" h="8697">
                <a:moveTo>
                  <a:pt x="0" y="0"/>
                </a:moveTo>
                <a:lnTo>
                  <a:pt x="12825" y="0"/>
                </a:lnTo>
                <a:lnTo>
                  <a:pt x="12825" y="8697"/>
                </a:lnTo>
                <a:lnTo>
                  <a:pt x="0" y="86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4686120" y="3200400"/>
            <a:ext cx="4566240" cy="3130920"/>
          </a:xfrm>
          <a:custGeom>
            <a:avLst/>
            <a:gdLst/>
            <a:ahLst/>
            <a:rect l="0" t="0" r="r" b="b"/>
            <a:pathLst>
              <a:path w="12684" h="8697">
                <a:moveTo>
                  <a:pt x="0" y="0"/>
                </a:moveTo>
                <a:lnTo>
                  <a:pt x="12684" y="0"/>
                </a:lnTo>
                <a:lnTo>
                  <a:pt x="12684" y="8697"/>
                </a:lnTo>
                <a:lnTo>
                  <a:pt x="0" y="86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49000" y="3724920"/>
            <a:ext cx="4080600" cy="2253960"/>
          </a:xfrm>
          <a:custGeom>
            <a:avLst/>
            <a:gdLst/>
            <a:ahLst/>
            <a:rect l="0" t="0" r="r" b="b"/>
            <a:pathLst>
              <a:path w="11335" h="6261">
                <a:moveTo>
                  <a:pt x="0" y="0"/>
                </a:moveTo>
                <a:lnTo>
                  <a:pt x="11335" y="0"/>
                </a:lnTo>
                <a:lnTo>
                  <a:pt x="11335" y="6261"/>
                </a:lnTo>
                <a:lnTo>
                  <a:pt x="0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3533760" y="4507560"/>
            <a:ext cx="0" cy="49500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2542320" y="4498920"/>
            <a:ext cx="0" cy="45432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 flipV="1">
            <a:off x="2509200" y="4656960"/>
            <a:ext cx="0" cy="29268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 flipV="1">
            <a:off x="1581120" y="5042880"/>
            <a:ext cx="0" cy="35208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 flipV="1">
            <a:off x="820080" y="4618080"/>
            <a:ext cx="0" cy="67140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4443840" y="4088520"/>
            <a:ext cx="0" cy="52416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 flipV="1">
            <a:off x="734400" y="5025600"/>
            <a:ext cx="0" cy="85032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1724760" y="4899240"/>
            <a:ext cx="0" cy="50688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 flipV="1">
            <a:off x="3441600" y="4293360"/>
            <a:ext cx="0" cy="109188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516480" y="473796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516480" y="473796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525040" y="470880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2"/>
                  <a:pt x="0" y="112"/>
                  <a:pt x="0" y="4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525040" y="470880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8"/>
                </a:moveTo>
                <a:cubicBezTo>
                  <a:pt x="96" y="112"/>
                  <a:pt x="0" y="112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492280" y="478620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7"/>
                </a:moveTo>
                <a:cubicBezTo>
                  <a:pt x="0" y="-16"/>
                  <a:pt x="96" y="-16"/>
                  <a:pt x="96" y="47"/>
                </a:cubicBezTo>
                <a:cubicBezTo>
                  <a:pt x="96" y="112"/>
                  <a:pt x="0" y="112"/>
                  <a:pt x="0" y="47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492280" y="478620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7"/>
                </a:moveTo>
                <a:cubicBezTo>
                  <a:pt x="96" y="112"/>
                  <a:pt x="0" y="112"/>
                  <a:pt x="0" y="47"/>
                </a:cubicBezTo>
                <a:cubicBezTo>
                  <a:pt x="0" y="-16"/>
                  <a:pt x="96" y="-16"/>
                  <a:pt x="96" y="47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564200" y="520164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2"/>
                  <a:pt x="0" y="112"/>
                  <a:pt x="0" y="49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564200" y="520164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9"/>
                </a:moveTo>
                <a:cubicBezTo>
                  <a:pt x="96" y="112"/>
                  <a:pt x="0" y="112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802800" y="493668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3"/>
                  <a:pt x="0" y="113"/>
                  <a:pt x="0" y="49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802800" y="493668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9"/>
                </a:moveTo>
                <a:cubicBezTo>
                  <a:pt x="96" y="113"/>
                  <a:pt x="0" y="113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426560" y="433332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2"/>
                  <a:pt x="0" y="112"/>
                  <a:pt x="0" y="48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4426560" y="433332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8"/>
                </a:moveTo>
                <a:cubicBezTo>
                  <a:pt x="96" y="112"/>
                  <a:pt x="0" y="112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17480" y="543384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7"/>
                </a:moveTo>
                <a:cubicBezTo>
                  <a:pt x="0" y="-16"/>
                  <a:pt x="96" y="-16"/>
                  <a:pt x="96" y="47"/>
                </a:cubicBezTo>
                <a:cubicBezTo>
                  <a:pt x="96" y="112"/>
                  <a:pt x="0" y="112"/>
                  <a:pt x="0" y="4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17480" y="543384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7"/>
                </a:moveTo>
                <a:cubicBezTo>
                  <a:pt x="96" y="112"/>
                  <a:pt x="0" y="112"/>
                  <a:pt x="0" y="47"/>
                </a:cubicBezTo>
                <a:cubicBezTo>
                  <a:pt x="0" y="-16"/>
                  <a:pt x="96" y="-16"/>
                  <a:pt x="96" y="47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707480" y="513540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2"/>
                  <a:pt x="0" y="112"/>
                  <a:pt x="0" y="49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707480" y="513540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9"/>
                </a:moveTo>
                <a:cubicBezTo>
                  <a:pt x="96" y="112"/>
                  <a:pt x="0" y="112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197960" y="381024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4197960" y="381024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424680" y="482220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2"/>
                  <a:pt x="0" y="112"/>
                  <a:pt x="0" y="49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424680" y="482220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9"/>
                </a:moveTo>
                <a:cubicBezTo>
                  <a:pt x="96" y="112"/>
                  <a:pt x="0" y="112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820080" y="4469760"/>
            <a:ext cx="3624120" cy="666000"/>
          </a:xfrm>
          <a:custGeom>
            <a:avLst/>
            <a:gdLst/>
            <a:ahLst/>
            <a:rect l="0" t="0" r="r" b="b"/>
            <a:pathLst>
              <a:path fill="none" w="10067" h="1850">
                <a:moveTo>
                  <a:pt x="0" y="1850"/>
                </a:moveTo>
                <a:lnTo>
                  <a:pt x="127" y="1830"/>
                </a:lnTo>
                <a:lnTo>
                  <a:pt x="255" y="1809"/>
                </a:lnTo>
                <a:lnTo>
                  <a:pt x="382" y="1788"/>
                </a:lnTo>
                <a:lnTo>
                  <a:pt x="510" y="1767"/>
                </a:lnTo>
                <a:lnTo>
                  <a:pt x="637" y="1746"/>
                </a:lnTo>
                <a:lnTo>
                  <a:pt x="764" y="1725"/>
                </a:lnTo>
                <a:lnTo>
                  <a:pt x="892" y="1703"/>
                </a:lnTo>
                <a:lnTo>
                  <a:pt x="1147" y="1660"/>
                </a:lnTo>
                <a:lnTo>
                  <a:pt x="1274" y="1638"/>
                </a:lnTo>
                <a:lnTo>
                  <a:pt x="1401" y="1616"/>
                </a:lnTo>
                <a:lnTo>
                  <a:pt x="1529" y="1594"/>
                </a:lnTo>
                <a:lnTo>
                  <a:pt x="1784" y="1550"/>
                </a:lnTo>
                <a:lnTo>
                  <a:pt x="1911" y="1527"/>
                </a:lnTo>
                <a:lnTo>
                  <a:pt x="2038" y="1504"/>
                </a:lnTo>
                <a:lnTo>
                  <a:pt x="2166" y="1482"/>
                </a:lnTo>
                <a:lnTo>
                  <a:pt x="2293" y="1459"/>
                </a:lnTo>
                <a:lnTo>
                  <a:pt x="2421" y="1435"/>
                </a:lnTo>
                <a:lnTo>
                  <a:pt x="2548" y="1412"/>
                </a:lnTo>
                <a:lnTo>
                  <a:pt x="2676" y="1388"/>
                </a:lnTo>
                <a:lnTo>
                  <a:pt x="2804" y="1365"/>
                </a:lnTo>
                <a:lnTo>
                  <a:pt x="2931" y="1342"/>
                </a:lnTo>
                <a:lnTo>
                  <a:pt x="3186" y="1295"/>
                </a:lnTo>
                <a:lnTo>
                  <a:pt x="3314" y="1271"/>
                </a:lnTo>
                <a:lnTo>
                  <a:pt x="3441" y="1247"/>
                </a:lnTo>
                <a:lnTo>
                  <a:pt x="3568" y="1223"/>
                </a:lnTo>
                <a:lnTo>
                  <a:pt x="3823" y="1175"/>
                </a:lnTo>
                <a:lnTo>
                  <a:pt x="3951" y="1151"/>
                </a:lnTo>
                <a:lnTo>
                  <a:pt x="4078" y="1127"/>
                </a:lnTo>
                <a:lnTo>
                  <a:pt x="4205" y="1103"/>
                </a:lnTo>
                <a:lnTo>
                  <a:pt x="4333" y="1079"/>
                </a:lnTo>
                <a:lnTo>
                  <a:pt x="4460" y="1054"/>
                </a:lnTo>
                <a:lnTo>
                  <a:pt x="4588" y="1030"/>
                </a:lnTo>
                <a:lnTo>
                  <a:pt x="4715" y="1006"/>
                </a:lnTo>
                <a:lnTo>
                  <a:pt x="4843" y="981"/>
                </a:lnTo>
                <a:lnTo>
                  <a:pt x="4970" y="957"/>
                </a:lnTo>
                <a:lnTo>
                  <a:pt x="5097" y="932"/>
                </a:lnTo>
                <a:lnTo>
                  <a:pt x="5225" y="908"/>
                </a:lnTo>
                <a:lnTo>
                  <a:pt x="5480" y="859"/>
                </a:lnTo>
                <a:lnTo>
                  <a:pt x="5607" y="834"/>
                </a:lnTo>
                <a:lnTo>
                  <a:pt x="5735" y="810"/>
                </a:lnTo>
                <a:lnTo>
                  <a:pt x="5862" y="785"/>
                </a:lnTo>
                <a:lnTo>
                  <a:pt x="6117" y="736"/>
                </a:lnTo>
                <a:lnTo>
                  <a:pt x="6244" y="711"/>
                </a:lnTo>
                <a:lnTo>
                  <a:pt x="6499" y="662"/>
                </a:lnTo>
                <a:lnTo>
                  <a:pt x="6626" y="638"/>
                </a:lnTo>
                <a:lnTo>
                  <a:pt x="6754" y="613"/>
                </a:lnTo>
                <a:lnTo>
                  <a:pt x="6881" y="589"/>
                </a:lnTo>
                <a:lnTo>
                  <a:pt x="7136" y="540"/>
                </a:lnTo>
                <a:lnTo>
                  <a:pt x="7263" y="516"/>
                </a:lnTo>
                <a:lnTo>
                  <a:pt x="7391" y="491"/>
                </a:lnTo>
                <a:lnTo>
                  <a:pt x="7518" y="467"/>
                </a:lnTo>
                <a:lnTo>
                  <a:pt x="7773" y="419"/>
                </a:lnTo>
                <a:lnTo>
                  <a:pt x="7901" y="395"/>
                </a:lnTo>
                <a:lnTo>
                  <a:pt x="8028" y="371"/>
                </a:lnTo>
                <a:lnTo>
                  <a:pt x="8155" y="347"/>
                </a:lnTo>
                <a:lnTo>
                  <a:pt x="8283" y="323"/>
                </a:lnTo>
                <a:lnTo>
                  <a:pt x="8410" y="300"/>
                </a:lnTo>
                <a:lnTo>
                  <a:pt x="8538" y="276"/>
                </a:lnTo>
                <a:lnTo>
                  <a:pt x="8665" y="252"/>
                </a:lnTo>
                <a:lnTo>
                  <a:pt x="8793" y="229"/>
                </a:lnTo>
                <a:lnTo>
                  <a:pt x="8920" y="206"/>
                </a:lnTo>
                <a:lnTo>
                  <a:pt x="9047" y="182"/>
                </a:lnTo>
                <a:lnTo>
                  <a:pt x="9175" y="159"/>
                </a:lnTo>
                <a:lnTo>
                  <a:pt x="9302" y="136"/>
                </a:lnTo>
                <a:lnTo>
                  <a:pt x="9430" y="113"/>
                </a:lnTo>
                <a:lnTo>
                  <a:pt x="9557" y="90"/>
                </a:lnTo>
                <a:lnTo>
                  <a:pt x="9812" y="45"/>
                </a:lnTo>
                <a:lnTo>
                  <a:pt x="9939" y="23"/>
                </a:lnTo>
                <a:lnTo>
                  <a:pt x="10067" y="0"/>
                </a:lnTo>
              </a:path>
            </a:pathLst>
          </a:custGeom>
          <a:ln w="1476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34400" y="4119840"/>
            <a:ext cx="3481200" cy="1359720"/>
          </a:xfrm>
          <a:custGeom>
            <a:avLst/>
            <a:gdLst/>
            <a:ahLst/>
            <a:rect l="0" t="0" r="r" b="b"/>
            <a:pathLst>
              <a:path fill="none" w="9670" h="3777">
                <a:moveTo>
                  <a:pt x="0" y="3777"/>
                </a:moveTo>
                <a:lnTo>
                  <a:pt x="122" y="3752"/>
                </a:lnTo>
                <a:lnTo>
                  <a:pt x="245" y="3727"/>
                </a:lnTo>
                <a:lnTo>
                  <a:pt x="367" y="3701"/>
                </a:lnTo>
                <a:lnTo>
                  <a:pt x="490" y="3673"/>
                </a:lnTo>
                <a:lnTo>
                  <a:pt x="612" y="3645"/>
                </a:lnTo>
                <a:lnTo>
                  <a:pt x="734" y="3616"/>
                </a:lnTo>
                <a:lnTo>
                  <a:pt x="857" y="3586"/>
                </a:lnTo>
                <a:lnTo>
                  <a:pt x="979" y="3554"/>
                </a:lnTo>
                <a:lnTo>
                  <a:pt x="1102" y="3522"/>
                </a:lnTo>
                <a:lnTo>
                  <a:pt x="1224" y="3489"/>
                </a:lnTo>
                <a:lnTo>
                  <a:pt x="1346" y="3454"/>
                </a:lnTo>
                <a:lnTo>
                  <a:pt x="1469" y="3418"/>
                </a:lnTo>
                <a:lnTo>
                  <a:pt x="1591" y="3382"/>
                </a:lnTo>
                <a:lnTo>
                  <a:pt x="1714" y="3344"/>
                </a:lnTo>
                <a:lnTo>
                  <a:pt x="1836" y="3305"/>
                </a:lnTo>
                <a:lnTo>
                  <a:pt x="1958" y="3265"/>
                </a:lnTo>
                <a:lnTo>
                  <a:pt x="2081" y="3223"/>
                </a:lnTo>
                <a:lnTo>
                  <a:pt x="2203" y="3181"/>
                </a:lnTo>
                <a:lnTo>
                  <a:pt x="2325" y="3138"/>
                </a:lnTo>
                <a:lnTo>
                  <a:pt x="2448" y="3093"/>
                </a:lnTo>
                <a:lnTo>
                  <a:pt x="2570" y="3047"/>
                </a:lnTo>
                <a:lnTo>
                  <a:pt x="2693" y="3000"/>
                </a:lnTo>
                <a:lnTo>
                  <a:pt x="2816" y="2952"/>
                </a:lnTo>
                <a:lnTo>
                  <a:pt x="2938" y="2904"/>
                </a:lnTo>
                <a:lnTo>
                  <a:pt x="3061" y="2854"/>
                </a:lnTo>
                <a:lnTo>
                  <a:pt x="3183" y="2803"/>
                </a:lnTo>
                <a:lnTo>
                  <a:pt x="3306" y="2751"/>
                </a:lnTo>
                <a:lnTo>
                  <a:pt x="3428" y="2698"/>
                </a:lnTo>
                <a:lnTo>
                  <a:pt x="3550" y="2644"/>
                </a:lnTo>
                <a:lnTo>
                  <a:pt x="3673" y="2589"/>
                </a:lnTo>
                <a:lnTo>
                  <a:pt x="3795" y="2533"/>
                </a:lnTo>
                <a:lnTo>
                  <a:pt x="3917" y="2477"/>
                </a:lnTo>
                <a:lnTo>
                  <a:pt x="4040" y="2420"/>
                </a:lnTo>
                <a:lnTo>
                  <a:pt x="4162" y="2362"/>
                </a:lnTo>
                <a:lnTo>
                  <a:pt x="4285" y="2303"/>
                </a:lnTo>
                <a:lnTo>
                  <a:pt x="4407" y="2244"/>
                </a:lnTo>
                <a:lnTo>
                  <a:pt x="4529" y="2185"/>
                </a:lnTo>
                <a:lnTo>
                  <a:pt x="4652" y="2125"/>
                </a:lnTo>
                <a:lnTo>
                  <a:pt x="4774" y="2064"/>
                </a:lnTo>
                <a:lnTo>
                  <a:pt x="4897" y="2003"/>
                </a:lnTo>
                <a:lnTo>
                  <a:pt x="5019" y="1942"/>
                </a:lnTo>
                <a:lnTo>
                  <a:pt x="5141" y="1881"/>
                </a:lnTo>
                <a:lnTo>
                  <a:pt x="5264" y="1820"/>
                </a:lnTo>
                <a:lnTo>
                  <a:pt x="5631" y="1634"/>
                </a:lnTo>
                <a:lnTo>
                  <a:pt x="5753" y="1573"/>
                </a:lnTo>
                <a:lnTo>
                  <a:pt x="5876" y="1512"/>
                </a:lnTo>
                <a:lnTo>
                  <a:pt x="5998" y="1451"/>
                </a:lnTo>
                <a:lnTo>
                  <a:pt x="6120" y="1391"/>
                </a:lnTo>
                <a:lnTo>
                  <a:pt x="6243" y="1331"/>
                </a:lnTo>
                <a:lnTo>
                  <a:pt x="6365" y="1271"/>
                </a:lnTo>
                <a:lnTo>
                  <a:pt x="6488" y="1212"/>
                </a:lnTo>
                <a:lnTo>
                  <a:pt x="6610" y="1154"/>
                </a:lnTo>
                <a:lnTo>
                  <a:pt x="6732" y="1096"/>
                </a:lnTo>
                <a:lnTo>
                  <a:pt x="6855" y="1039"/>
                </a:lnTo>
                <a:lnTo>
                  <a:pt x="6977" y="983"/>
                </a:lnTo>
                <a:lnTo>
                  <a:pt x="7100" y="928"/>
                </a:lnTo>
                <a:lnTo>
                  <a:pt x="7222" y="873"/>
                </a:lnTo>
                <a:lnTo>
                  <a:pt x="7344" y="820"/>
                </a:lnTo>
                <a:lnTo>
                  <a:pt x="7467" y="767"/>
                </a:lnTo>
                <a:lnTo>
                  <a:pt x="7589" y="715"/>
                </a:lnTo>
                <a:lnTo>
                  <a:pt x="7711" y="664"/>
                </a:lnTo>
                <a:lnTo>
                  <a:pt x="7834" y="614"/>
                </a:lnTo>
                <a:lnTo>
                  <a:pt x="7956" y="566"/>
                </a:lnTo>
                <a:lnTo>
                  <a:pt x="8079" y="518"/>
                </a:lnTo>
                <a:lnTo>
                  <a:pt x="8201" y="472"/>
                </a:lnTo>
                <a:lnTo>
                  <a:pt x="8323" y="426"/>
                </a:lnTo>
                <a:lnTo>
                  <a:pt x="8446" y="382"/>
                </a:lnTo>
                <a:lnTo>
                  <a:pt x="8568" y="339"/>
                </a:lnTo>
                <a:lnTo>
                  <a:pt x="8691" y="296"/>
                </a:lnTo>
                <a:lnTo>
                  <a:pt x="8813" y="255"/>
                </a:lnTo>
                <a:lnTo>
                  <a:pt x="8935" y="216"/>
                </a:lnTo>
                <a:lnTo>
                  <a:pt x="9058" y="177"/>
                </a:lnTo>
                <a:lnTo>
                  <a:pt x="9180" y="139"/>
                </a:lnTo>
                <a:lnTo>
                  <a:pt x="9303" y="103"/>
                </a:lnTo>
                <a:lnTo>
                  <a:pt x="9425" y="67"/>
                </a:lnTo>
                <a:lnTo>
                  <a:pt x="9547" y="33"/>
                </a:lnTo>
                <a:lnTo>
                  <a:pt x="9670" y="0"/>
                </a:lnTo>
              </a:path>
            </a:pathLst>
          </a:custGeom>
          <a:ln w="1476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49000" y="3724920"/>
            <a:ext cx="0" cy="2253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545440" y="126360"/>
            <a:ext cx="29944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After controlling for subsequent effort and year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70800" y="5644800"/>
            <a:ext cx="1328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20040" y="518112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20040" y="471708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20040" y="425304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20560" y="56826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0560" y="52189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20560" y="47548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20560" y="42912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20560" y="38271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49000" y="5978520"/>
            <a:ext cx="40802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101556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 flipV="1">
            <a:off x="194544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287496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 flipV="1">
            <a:off x="380484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69280" y="3789360"/>
            <a:ext cx="234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990360" y="60300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920240" y="60300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849760" y="60300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779640" y="60300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065240" y="6159960"/>
            <a:ext cx="2897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Cumulative provincial checklists after the ﬁrst record (log)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97400" y="3823200"/>
            <a:ext cx="972360" cy="344520"/>
          </a:xfrm>
          <a:custGeom>
            <a:avLst/>
            <a:gdLst/>
            <a:ahLst/>
            <a:rect l="0" t="0" r="r" b="b"/>
            <a:pathLst>
              <a:path w="2701" h="957">
                <a:moveTo>
                  <a:pt x="0" y="0"/>
                </a:moveTo>
                <a:lnTo>
                  <a:pt x="2701" y="0"/>
                </a:lnTo>
                <a:lnTo>
                  <a:pt x="2701" y="957"/>
                </a:lnTo>
                <a:lnTo>
                  <a:pt x="0" y="9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54280" y="38800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911880" y="3891600"/>
            <a:ext cx="0" cy="9216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888480" y="391392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66"/>
                </a:moveTo>
                <a:cubicBezTo>
                  <a:pt x="0" y="-22"/>
                  <a:pt x="132" y="-22"/>
                  <a:pt x="132" y="66"/>
                </a:cubicBezTo>
                <a:cubicBezTo>
                  <a:pt x="132" y="154"/>
                  <a:pt x="0" y="154"/>
                  <a:pt x="0" y="66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888480" y="3913920"/>
            <a:ext cx="47520" cy="47520"/>
          </a:xfrm>
          <a:custGeom>
            <a:avLst/>
            <a:gdLst/>
            <a:ahLst/>
            <a:rect l="0" t="0" r="r" b="b"/>
            <a:pathLst>
              <a:path fill="none" w="132" h="132">
                <a:moveTo>
                  <a:pt x="132" y="66"/>
                </a:moveTo>
                <a:cubicBezTo>
                  <a:pt x="132" y="154"/>
                  <a:pt x="0" y="154"/>
                  <a:pt x="0" y="66"/>
                </a:cubicBezTo>
                <a:cubicBezTo>
                  <a:pt x="0" y="-22"/>
                  <a:pt x="132" y="-22"/>
                  <a:pt x="132" y="66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65800" y="3937680"/>
            <a:ext cx="92160" cy="0"/>
          </a:xfrm>
          <a:prstGeom prst="line">
            <a:avLst/>
          </a:prstGeom>
          <a:ln w="147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54280" y="39952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911880" y="4006800"/>
            <a:ext cx="0" cy="9216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88480" y="4029120"/>
            <a:ext cx="47520" cy="47880"/>
          </a:xfrm>
          <a:custGeom>
            <a:avLst/>
            <a:gdLst/>
            <a:ahLst/>
            <a:rect l="0" t="0" r="r" b="b"/>
            <a:pathLst>
              <a:path w="132" h="133">
                <a:moveTo>
                  <a:pt x="0" y="67"/>
                </a:moveTo>
                <a:cubicBezTo>
                  <a:pt x="0" y="-22"/>
                  <a:pt x="132" y="-22"/>
                  <a:pt x="132" y="67"/>
                </a:cubicBezTo>
                <a:cubicBezTo>
                  <a:pt x="132" y="155"/>
                  <a:pt x="0" y="155"/>
                  <a:pt x="0" y="6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88480" y="4029120"/>
            <a:ext cx="47520" cy="47880"/>
          </a:xfrm>
          <a:custGeom>
            <a:avLst/>
            <a:gdLst/>
            <a:ahLst/>
            <a:rect l="0" t="0" r="r" b="b"/>
            <a:pathLst>
              <a:path fill="none" w="132" h="133">
                <a:moveTo>
                  <a:pt x="132" y="67"/>
                </a:moveTo>
                <a:cubicBezTo>
                  <a:pt x="132" y="155"/>
                  <a:pt x="0" y="155"/>
                  <a:pt x="0" y="67"/>
                </a:cubicBezTo>
                <a:cubicBezTo>
                  <a:pt x="0" y="-22"/>
                  <a:pt x="132" y="-22"/>
                  <a:pt x="132" y="67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65800" y="4052880"/>
            <a:ext cx="9216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 rot="16200000">
            <a:off x="-384840" y="4809600"/>
            <a:ext cx="1137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Proportion re-detected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026720" y="3886920"/>
            <a:ext cx="721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26720" y="4002120"/>
            <a:ext cx="64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49000" y="3441240"/>
            <a:ext cx="3427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Re-detection rises steeply with checklist volume; inside-outside differences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49000" y="3553920"/>
            <a:ext cx="2045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are indistinguishable within every effort band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114880" y="3724920"/>
            <a:ext cx="4080600" cy="2253960"/>
          </a:xfrm>
          <a:custGeom>
            <a:avLst/>
            <a:gdLst/>
            <a:ahLst/>
            <a:rect l="0" t="0" r="r" b="b"/>
            <a:pathLst>
              <a:path w="11335" h="6261">
                <a:moveTo>
                  <a:pt x="0" y="0"/>
                </a:moveTo>
                <a:lnTo>
                  <a:pt x="11335" y="0"/>
                </a:lnTo>
                <a:lnTo>
                  <a:pt x="11335" y="6261"/>
                </a:lnTo>
                <a:lnTo>
                  <a:pt x="0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348760" y="5337720"/>
            <a:ext cx="85680" cy="86040"/>
          </a:xfrm>
          <a:custGeom>
            <a:avLst/>
            <a:gdLst/>
            <a:ahLst/>
            <a:rect l="0" t="0" r="r" b="b"/>
            <a:pathLst>
              <a:path w="238" h="239">
                <a:moveTo>
                  <a:pt x="0" y="119"/>
                </a:moveTo>
                <a:cubicBezTo>
                  <a:pt x="0" y="-40"/>
                  <a:pt x="238" y="-40"/>
                  <a:pt x="238" y="119"/>
                </a:cubicBezTo>
                <a:cubicBezTo>
                  <a:pt x="238" y="279"/>
                  <a:pt x="0" y="279"/>
                  <a:pt x="0" y="119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348760" y="5337720"/>
            <a:ext cx="85680" cy="86040"/>
          </a:xfrm>
          <a:custGeom>
            <a:avLst/>
            <a:gdLst/>
            <a:ahLst/>
            <a:rect l="0" t="0" r="r" b="b"/>
            <a:pathLst>
              <a:path fill="none" w="238" h="239">
                <a:moveTo>
                  <a:pt x="238" y="119"/>
                </a:moveTo>
                <a:cubicBezTo>
                  <a:pt x="238" y="279"/>
                  <a:pt x="0" y="279"/>
                  <a:pt x="0" y="119"/>
                </a:cubicBezTo>
                <a:cubicBezTo>
                  <a:pt x="0" y="-40"/>
                  <a:pt x="238" y="-40"/>
                  <a:pt x="238" y="119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526160" y="4828680"/>
            <a:ext cx="82440" cy="82800"/>
          </a:xfrm>
          <a:custGeom>
            <a:avLst/>
            <a:gdLst/>
            <a:ahLst/>
            <a:rect l="0" t="0" r="r" b="b"/>
            <a:pathLst>
              <a:path w="229" h="230">
                <a:moveTo>
                  <a:pt x="0" y="115"/>
                </a:moveTo>
                <a:cubicBezTo>
                  <a:pt x="0" y="-38"/>
                  <a:pt x="229" y="-38"/>
                  <a:pt x="229" y="115"/>
                </a:cubicBezTo>
                <a:cubicBezTo>
                  <a:pt x="229" y="268"/>
                  <a:pt x="0" y="268"/>
                  <a:pt x="0" y="115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526160" y="4828680"/>
            <a:ext cx="82440" cy="82800"/>
          </a:xfrm>
          <a:custGeom>
            <a:avLst/>
            <a:gdLst/>
            <a:ahLst/>
            <a:rect l="0" t="0" r="r" b="b"/>
            <a:pathLst>
              <a:path fill="none" w="229" h="230">
                <a:moveTo>
                  <a:pt x="229" y="115"/>
                </a:moveTo>
                <a:cubicBezTo>
                  <a:pt x="229" y="268"/>
                  <a:pt x="0" y="268"/>
                  <a:pt x="0" y="115"/>
                </a:cubicBezTo>
                <a:cubicBezTo>
                  <a:pt x="0" y="-38"/>
                  <a:pt x="229" y="-38"/>
                  <a:pt x="229" y="115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8154360" y="52959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8154360" y="52959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913080" y="4943880"/>
            <a:ext cx="72000" cy="72360"/>
          </a:xfrm>
          <a:custGeom>
            <a:avLst/>
            <a:gdLst/>
            <a:ahLst/>
            <a:rect l="0" t="0" r="r" b="b"/>
            <a:pathLst>
              <a:path w="200" h="201">
                <a:moveTo>
                  <a:pt x="0" y="101"/>
                </a:moveTo>
                <a:cubicBezTo>
                  <a:pt x="0" y="-34"/>
                  <a:pt x="200" y="-34"/>
                  <a:pt x="200" y="101"/>
                </a:cubicBezTo>
                <a:cubicBezTo>
                  <a:pt x="200" y="234"/>
                  <a:pt x="0" y="234"/>
                  <a:pt x="0" y="101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913080" y="4943880"/>
            <a:ext cx="72000" cy="72360"/>
          </a:xfrm>
          <a:custGeom>
            <a:avLst/>
            <a:gdLst/>
            <a:ahLst/>
            <a:rect l="0" t="0" r="r" b="b"/>
            <a:pathLst>
              <a:path fill="none" w="200" h="201">
                <a:moveTo>
                  <a:pt x="200" y="101"/>
                </a:moveTo>
                <a:cubicBezTo>
                  <a:pt x="200" y="234"/>
                  <a:pt x="0" y="234"/>
                  <a:pt x="0" y="101"/>
                </a:cubicBezTo>
                <a:cubicBezTo>
                  <a:pt x="0" y="-34"/>
                  <a:pt x="200" y="-34"/>
                  <a:pt x="200" y="101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7328160" y="5042880"/>
            <a:ext cx="66240" cy="65880"/>
          </a:xfrm>
          <a:custGeom>
            <a:avLst/>
            <a:gdLst/>
            <a:ahLst/>
            <a:rect l="0" t="0" r="r" b="b"/>
            <a:pathLst>
              <a:path w="184" h="183">
                <a:moveTo>
                  <a:pt x="0" y="91"/>
                </a:moveTo>
                <a:cubicBezTo>
                  <a:pt x="0" y="-30"/>
                  <a:pt x="184" y="-30"/>
                  <a:pt x="184" y="91"/>
                </a:cubicBezTo>
                <a:cubicBezTo>
                  <a:pt x="184" y="214"/>
                  <a:pt x="0" y="214"/>
                  <a:pt x="0" y="91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328160" y="5042880"/>
            <a:ext cx="66240" cy="65880"/>
          </a:xfrm>
          <a:custGeom>
            <a:avLst/>
            <a:gdLst/>
            <a:ahLst/>
            <a:rect l="0" t="0" r="r" b="b"/>
            <a:pathLst>
              <a:path fill="none" w="184" h="183">
                <a:moveTo>
                  <a:pt x="184" y="91"/>
                </a:moveTo>
                <a:cubicBezTo>
                  <a:pt x="184" y="214"/>
                  <a:pt x="0" y="214"/>
                  <a:pt x="0" y="91"/>
                </a:cubicBezTo>
                <a:cubicBezTo>
                  <a:pt x="0" y="-30"/>
                  <a:pt x="184" y="-30"/>
                  <a:pt x="184" y="91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8560080" y="5373000"/>
            <a:ext cx="75240" cy="74880"/>
          </a:xfrm>
          <a:custGeom>
            <a:avLst/>
            <a:gdLst/>
            <a:ahLst/>
            <a:rect l="0" t="0" r="r" b="b"/>
            <a:pathLst>
              <a:path w="209" h="208">
                <a:moveTo>
                  <a:pt x="0" y="104"/>
                </a:moveTo>
                <a:cubicBezTo>
                  <a:pt x="0" y="-35"/>
                  <a:pt x="209" y="-35"/>
                  <a:pt x="209" y="104"/>
                </a:cubicBezTo>
                <a:cubicBezTo>
                  <a:pt x="209" y="242"/>
                  <a:pt x="0" y="242"/>
                  <a:pt x="0" y="104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8560080" y="5373000"/>
            <a:ext cx="75240" cy="74880"/>
          </a:xfrm>
          <a:custGeom>
            <a:avLst/>
            <a:gdLst/>
            <a:ahLst/>
            <a:rect l="0" t="0" r="r" b="b"/>
            <a:pathLst>
              <a:path fill="none" w="209" h="208">
                <a:moveTo>
                  <a:pt x="209" y="104"/>
                </a:moveTo>
                <a:cubicBezTo>
                  <a:pt x="209" y="242"/>
                  <a:pt x="0" y="242"/>
                  <a:pt x="0" y="104"/>
                </a:cubicBezTo>
                <a:cubicBezTo>
                  <a:pt x="0" y="-35"/>
                  <a:pt x="209" y="-35"/>
                  <a:pt x="209" y="104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8966880" y="5833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119"/>
                </a:moveTo>
                <a:cubicBezTo>
                  <a:pt x="0" y="-40"/>
                  <a:pt x="239" y="-40"/>
                  <a:pt x="239" y="119"/>
                </a:cubicBezTo>
                <a:cubicBezTo>
                  <a:pt x="239" y="279"/>
                  <a:pt x="0" y="279"/>
                  <a:pt x="0" y="119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8966880" y="5833440"/>
            <a:ext cx="86040" cy="86040"/>
          </a:xfrm>
          <a:custGeom>
            <a:avLst/>
            <a:gdLst/>
            <a:ahLst/>
            <a:rect l="0" t="0" r="r" b="b"/>
            <a:pathLst>
              <a:path fill="none" w="239" h="239">
                <a:moveTo>
                  <a:pt x="239" y="119"/>
                </a:moveTo>
                <a:cubicBezTo>
                  <a:pt x="239" y="279"/>
                  <a:pt x="0" y="279"/>
                  <a:pt x="0" y="119"/>
                </a:cubicBezTo>
                <a:cubicBezTo>
                  <a:pt x="0" y="-40"/>
                  <a:pt x="239" y="-40"/>
                  <a:pt x="239" y="119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091920" y="4882680"/>
            <a:ext cx="65880" cy="66240"/>
          </a:xfrm>
          <a:custGeom>
            <a:avLst/>
            <a:gdLst/>
            <a:ahLst/>
            <a:rect l="0" t="0" r="r" b="b"/>
            <a:pathLst>
              <a:path w="183" h="184">
                <a:moveTo>
                  <a:pt x="0" y="92"/>
                </a:moveTo>
                <a:cubicBezTo>
                  <a:pt x="0" y="-31"/>
                  <a:pt x="183" y="-31"/>
                  <a:pt x="183" y="92"/>
                </a:cubicBezTo>
                <a:cubicBezTo>
                  <a:pt x="183" y="214"/>
                  <a:pt x="0" y="214"/>
                  <a:pt x="0" y="92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091920" y="4882680"/>
            <a:ext cx="65880" cy="66240"/>
          </a:xfrm>
          <a:custGeom>
            <a:avLst/>
            <a:gdLst/>
            <a:ahLst/>
            <a:rect l="0" t="0" r="r" b="b"/>
            <a:pathLst>
              <a:path fill="none" w="183" h="184">
                <a:moveTo>
                  <a:pt x="183" y="92"/>
                </a:moveTo>
                <a:cubicBezTo>
                  <a:pt x="183" y="214"/>
                  <a:pt x="0" y="214"/>
                  <a:pt x="0" y="92"/>
                </a:cubicBezTo>
                <a:cubicBezTo>
                  <a:pt x="0" y="-31"/>
                  <a:pt x="183" y="-31"/>
                  <a:pt x="183" y="92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8980560" y="5633640"/>
            <a:ext cx="58680" cy="59040"/>
          </a:xfrm>
          <a:custGeom>
            <a:avLst/>
            <a:gdLst/>
            <a:ahLst/>
            <a:rect l="0" t="0" r="r" b="b"/>
            <a:pathLst>
              <a:path w="163" h="164">
                <a:moveTo>
                  <a:pt x="0" y="83"/>
                </a:moveTo>
                <a:cubicBezTo>
                  <a:pt x="0" y="-27"/>
                  <a:pt x="163" y="-27"/>
                  <a:pt x="163" y="83"/>
                </a:cubicBezTo>
                <a:cubicBezTo>
                  <a:pt x="163" y="192"/>
                  <a:pt x="0" y="192"/>
                  <a:pt x="0" y="83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8980560" y="5633640"/>
            <a:ext cx="58680" cy="59040"/>
          </a:xfrm>
          <a:custGeom>
            <a:avLst/>
            <a:gdLst/>
            <a:ahLst/>
            <a:rect l="0" t="0" r="r" b="b"/>
            <a:pathLst>
              <a:path fill="none" w="163" h="164">
                <a:moveTo>
                  <a:pt x="163" y="83"/>
                </a:moveTo>
                <a:cubicBezTo>
                  <a:pt x="163" y="192"/>
                  <a:pt x="0" y="192"/>
                  <a:pt x="0" y="83"/>
                </a:cubicBezTo>
                <a:cubicBezTo>
                  <a:pt x="0" y="-27"/>
                  <a:pt x="163" y="-27"/>
                  <a:pt x="163" y="83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8361360" y="5648760"/>
            <a:ext cx="60480" cy="60840"/>
          </a:xfrm>
          <a:custGeom>
            <a:avLst/>
            <a:gdLst/>
            <a:ahLst/>
            <a:rect l="0" t="0" r="r" b="b"/>
            <a:pathLst>
              <a:path w="168" h="169">
                <a:moveTo>
                  <a:pt x="0" y="84"/>
                </a:moveTo>
                <a:cubicBezTo>
                  <a:pt x="0" y="-28"/>
                  <a:pt x="168" y="-28"/>
                  <a:pt x="168" y="84"/>
                </a:cubicBezTo>
                <a:cubicBezTo>
                  <a:pt x="168" y="197"/>
                  <a:pt x="0" y="197"/>
                  <a:pt x="0" y="84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8361360" y="5648760"/>
            <a:ext cx="60480" cy="60840"/>
          </a:xfrm>
          <a:custGeom>
            <a:avLst/>
            <a:gdLst/>
            <a:ahLst/>
            <a:rect l="0" t="0" r="r" b="b"/>
            <a:pathLst>
              <a:path fill="none" w="168" h="169">
                <a:moveTo>
                  <a:pt x="168" y="84"/>
                </a:moveTo>
                <a:cubicBezTo>
                  <a:pt x="168" y="197"/>
                  <a:pt x="0" y="197"/>
                  <a:pt x="0" y="84"/>
                </a:cubicBezTo>
                <a:cubicBezTo>
                  <a:pt x="0" y="-28"/>
                  <a:pt x="168" y="-28"/>
                  <a:pt x="168" y="84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121160" y="4938480"/>
            <a:ext cx="68040" cy="67680"/>
          </a:xfrm>
          <a:custGeom>
            <a:avLst/>
            <a:gdLst/>
            <a:ahLst/>
            <a:rect l="0" t="0" r="r" b="b"/>
            <a:pathLst>
              <a:path w="189" h="188">
                <a:moveTo>
                  <a:pt x="0" y="95"/>
                </a:moveTo>
                <a:cubicBezTo>
                  <a:pt x="0" y="-31"/>
                  <a:pt x="189" y="-31"/>
                  <a:pt x="189" y="95"/>
                </a:cubicBezTo>
                <a:cubicBezTo>
                  <a:pt x="189" y="220"/>
                  <a:pt x="0" y="220"/>
                  <a:pt x="0" y="95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121160" y="4938480"/>
            <a:ext cx="68040" cy="67680"/>
          </a:xfrm>
          <a:custGeom>
            <a:avLst/>
            <a:gdLst/>
            <a:ahLst/>
            <a:rect l="0" t="0" r="r" b="b"/>
            <a:pathLst>
              <a:path fill="none" w="189" h="188">
                <a:moveTo>
                  <a:pt x="189" y="95"/>
                </a:moveTo>
                <a:cubicBezTo>
                  <a:pt x="189" y="220"/>
                  <a:pt x="0" y="220"/>
                  <a:pt x="0" y="95"/>
                </a:cubicBezTo>
                <a:cubicBezTo>
                  <a:pt x="0" y="-31"/>
                  <a:pt x="189" y="-31"/>
                  <a:pt x="189" y="95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8144280" y="5469120"/>
            <a:ext cx="82440" cy="82800"/>
          </a:xfrm>
          <a:custGeom>
            <a:avLst/>
            <a:gdLst/>
            <a:ahLst/>
            <a:rect l="0" t="0" r="r" b="b"/>
            <a:pathLst>
              <a:path w="229" h="230">
                <a:moveTo>
                  <a:pt x="0" y="115"/>
                </a:moveTo>
                <a:cubicBezTo>
                  <a:pt x="0" y="-38"/>
                  <a:pt x="229" y="-38"/>
                  <a:pt x="229" y="115"/>
                </a:cubicBezTo>
                <a:cubicBezTo>
                  <a:pt x="229" y="268"/>
                  <a:pt x="0" y="268"/>
                  <a:pt x="0" y="115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8144280" y="5469120"/>
            <a:ext cx="82440" cy="82800"/>
          </a:xfrm>
          <a:custGeom>
            <a:avLst/>
            <a:gdLst/>
            <a:ahLst/>
            <a:rect l="0" t="0" r="r" b="b"/>
            <a:pathLst>
              <a:path fill="none" w="229" h="230">
                <a:moveTo>
                  <a:pt x="229" y="115"/>
                </a:moveTo>
                <a:cubicBezTo>
                  <a:pt x="229" y="268"/>
                  <a:pt x="0" y="268"/>
                  <a:pt x="0" y="115"/>
                </a:cubicBezTo>
                <a:cubicBezTo>
                  <a:pt x="0" y="-38"/>
                  <a:pt x="229" y="-38"/>
                  <a:pt x="229" y="115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8759160" y="575640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0" y="124"/>
                </a:moveTo>
                <a:cubicBezTo>
                  <a:pt x="0" y="-41"/>
                  <a:pt x="247" y="-41"/>
                  <a:pt x="247" y="124"/>
                </a:cubicBezTo>
                <a:cubicBezTo>
                  <a:pt x="247" y="288"/>
                  <a:pt x="0" y="288"/>
                  <a:pt x="0" y="124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8759160" y="5756400"/>
            <a:ext cx="88920" cy="88920"/>
          </a:xfrm>
          <a:custGeom>
            <a:avLst/>
            <a:gdLst/>
            <a:ahLst/>
            <a:rect l="0" t="0" r="r" b="b"/>
            <a:pathLst>
              <a:path fill="none" w="247" h="247">
                <a:moveTo>
                  <a:pt x="247" y="124"/>
                </a:moveTo>
                <a:cubicBezTo>
                  <a:pt x="247" y="288"/>
                  <a:pt x="0" y="288"/>
                  <a:pt x="0" y="124"/>
                </a:cubicBezTo>
                <a:cubicBezTo>
                  <a:pt x="0" y="-41"/>
                  <a:pt x="247" y="-41"/>
                  <a:pt x="247" y="124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948080" y="56620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948080" y="56620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891760" y="3800160"/>
            <a:ext cx="54000" cy="54000"/>
          </a:xfrm>
          <a:custGeom>
            <a:avLst/>
            <a:gdLst/>
            <a:ahLst/>
            <a:rect l="0" t="0" r="r" b="b"/>
            <a:pathLst>
              <a:path w="150" h="150">
                <a:moveTo>
                  <a:pt x="0" y="74"/>
                </a:moveTo>
                <a:cubicBezTo>
                  <a:pt x="0" y="-25"/>
                  <a:pt x="150" y="-25"/>
                  <a:pt x="150" y="74"/>
                </a:cubicBezTo>
                <a:cubicBezTo>
                  <a:pt x="150" y="175"/>
                  <a:pt x="0" y="175"/>
                  <a:pt x="0" y="74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891760" y="3800160"/>
            <a:ext cx="54000" cy="54000"/>
          </a:xfrm>
          <a:custGeom>
            <a:avLst/>
            <a:gdLst/>
            <a:ahLst/>
            <a:rect l="0" t="0" r="r" b="b"/>
            <a:pathLst>
              <a:path fill="none" w="150" h="150">
                <a:moveTo>
                  <a:pt x="150" y="74"/>
                </a:moveTo>
                <a:cubicBezTo>
                  <a:pt x="150" y="175"/>
                  <a:pt x="0" y="175"/>
                  <a:pt x="0" y="74"/>
                </a:cubicBezTo>
                <a:cubicBezTo>
                  <a:pt x="0" y="-25"/>
                  <a:pt x="150" y="-25"/>
                  <a:pt x="150" y="74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720480" y="5487840"/>
            <a:ext cx="45000" cy="45000"/>
          </a:xfrm>
          <a:custGeom>
            <a:avLst/>
            <a:gdLst/>
            <a:ahLst/>
            <a:rect l="0" t="0" r="r" b="b"/>
            <a:pathLst>
              <a:path w="125" h="125">
                <a:moveTo>
                  <a:pt x="0" y="62"/>
                </a:moveTo>
                <a:cubicBezTo>
                  <a:pt x="0" y="-21"/>
                  <a:pt x="125" y="-21"/>
                  <a:pt x="125" y="62"/>
                </a:cubicBezTo>
                <a:cubicBezTo>
                  <a:pt x="125" y="146"/>
                  <a:pt x="0" y="146"/>
                  <a:pt x="0" y="62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720480" y="5487840"/>
            <a:ext cx="45000" cy="45000"/>
          </a:xfrm>
          <a:custGeom>
            <a:avLst/>
            <a:gdLst/>
            <a:ahLst/>
            <a:rect l="0" t="0" r="r" b="b"/>
            <a:pathLst>
              <a:path fill="none" w="125" h="125">
                <a:moveTo>
                  <a:pt x="125" y="62"/>
                </a:moveTo>
                <a:cubicBezTo>
                  <a:pt x="125" y="146"/>
                  <a:pt x="0" y="146"/>
                  <a:pt x="0" y="62"/>
                </a:cubicBezTo>
                <a:cubicBezTo>
                  <a:pt x="0" y="-21"/>
                  <a:pt x="125" y="-21"/>
                  <a:pt x="125" y="62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516720" y="5002200"/>
            <a:ext cx="40320" cy="40320"/>
          </a:xfrm>
          <a:custGeom>
            <a:avLst/>
            <a:gdLst/>
            <a:ahLst/>
            <a:rect l="0" t="0" r="r" b="b"/>
            <a:pathLst>
              <a:path w="112" h="112">
                <a:moveTo>
                  <a:pt x="0" y="56"/>
                </a:moveTo>
                <a:cubicBezTo>
                  <a:pt x="0" y="-19"/>
                  <a:pt x="112" y="-19"/>
                  <a:pt x="112" y="56"/>
                </a:cubicBezTo>
                <a:cubicBezTo>
                  <a:pt x="112" y="130"/>
                  <a:pt x="0" y="130"/>
                  <a:pt x="0" y="56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516720" y="5002200"/>
            <a:ext cx="40320" cy="40320"/>
          </a:xfrm>
          <a:custGeom>
            <a:avLst/>
            <a:gdLst/>
            <a:ahLst/>
            <a:rect l="0" t="0" r="r" b="b"/>
            <a:pathLst>
              <a:path fill="none" w="112" h="112">
                <a:moveTo>
                  <a:pt x="112" y="56"/>
                </a:moveTo>
                <a:cubicBezTo>
                  <a:pt x="112" y="130"/>
                  <a:pt x="0" y="130"/>
                  <a:pt x="0" y="56"/>
                </a:cubicBezTo>
                <a:cubicBezTo>
                  <a:pt x="0" y="-19"/>
                  <a:pt x="112" y="-19"/>
                  <a:pt x="112" y="56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296040" y="4987800"/>
            <a:ext cx="69480" cy="69840"/>
          </a:xfrm>
          <a:custGeom>
            <a:avLst/>
            <a:gdLst/>
            <a:ahLst/>
            <a:rect l="0" t="0" r="r" b="b"/>
            <a:pathLst>
              <a:path w="193" h="194">
                <a:moveTo>
                  <a:pt x="0" y="97"/>
                </a:moveTo>
                <a:cubicBezTo>
                  <a:pt x="0" y="-32"/>
                  <a:pt x="193" y="-32"/>
                  <a:pt x="193" y="97"/>
                </a:cubicBezTo>
                <a:cubicBezTo>
                  <a:pt x="193" y="226"/>
                  <a:pt x="0" y="226"/>
                  <a:pt x="0" y="97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296040" y="4987800"/>
            <a:ext cx="69480" cy="69840"/>
          </a:xfrm>
          <a:custGeom>
            <a:avLst/>
            <a:gdLst/>
            <a:ahLst/>
            <a:rect l="0" t="0" r="r" b="b"/>
            <a:pathLst>
              <a:path fill="none" w="193" h="194">
                <a:moveTo>
                  <a:pt x="193" y="97"/>
                </a:moveTo>
                <a:cubicBezTo>
                  <a:pt x="193" y="226"/>
                  <a:pt x="0" y="226"/>
                  <a:pt x="0" y="97"/>
                </a:cubicBezTo>
                <a:cubicBezTo>
                  <a:pt x="0" y="-32"/>
                  <a:pt x="193" y="-32"/>
                  <a:pt x="193" y="97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8766720" y="4863600"/>
            <a:ext cx="73800" cy="74160"/>
          </a:xfrm>
          <a:custGeom>
            <a:avLst/>
            <a:gdLst/>
            <a:ahLst/>
            <a:rect l="0" t="0" r="r" b="b"/>
            <a:pathLst>
              <a:path w="205" h="206">
                <a:moveTo>
                  <a:pt x="0" y="103"/>
                </a:moveTo>
                <a:cubicBezTo>
                  <a:pt x="0" y="-34"/>
                  <a:pt x="205" y="-34"/>
                  <a:pt x="205" y="103"/>
                </a:cubicBezTo>
                <a:cubicBezTo>
                  <a:pt x="205" y="240"/>
                  <a:pt x="0" y="240"/>
                  <a:pt x="0" y="103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8766720" y="4863600"/>
            <a:ext cx="73800" cy="74160"/>
          </a:xfrm>
          <a:custGeom>
            <a:avLst/>
            <a:gdLst/>
            <a:ahLst/>
            <a:rect l="0" t="0" r="r" b="b"/>
            <a:pathLst>
              <a:path fill="none" w="205" h="206">
                <a:moveTo>
                  <a:pt x="205" y="103"/>
                </a:moveTo>
                <a:cubicBezTo>
                  <a:pt x="205" y="240"/>
                  <a:pt x="0" y="240"/>
                  <a:pt x="0" y="103"/>
                </a:cubicBezTo>
                <a:cubicBezTo>
                  <a:pt x="0" y="-34"/>
                  <a:pt x="205" y="-34"/>
                  <a:pt x="205" y="103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733880" y="5017320"/>
            <a:ext cx="78840" cy="78840"/>
          </a:xfrm>
          <a:custGeom>
            <a:avLst/>
            <a:gdLst/>
            <a:ahLst/>
            <a:rect l="0" t="0" r="r" b="b"/>
            <a:pathLst>
              <a:path w="219" h="219">
                <a:moveTo>
                  <a:pt x="0" y="110"/>
                </a:moveTo>
                <a:cubicBezTo>
                  <a:pt x="0" y="-36"/>
                  <a:pt x="219" y="-36"/>
                  <a:pt x="219" y="110"/>
                </a:cubicBezTo>
                <a:cubicBezTo>
                  <a:pt x="219" y="256"/>
                  <a:pt x="0" y="256"/>
                  <a:pt x="0" y="110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733880" y="5017320"/>
            <a:ext cx="78840" cy="78840"/>
          </a:xfrm>
          <a:custGeom>
            <a:avLst/>
            <a:gdLst/>
            <a:ahLst/>
            <a:rect l="0" t="0" r="r" b="b"/>
            <a:pathLst>
              <a:path fill="none" w="219" h="219">
                <a:moveTo>
                  <a:pt x="219" y="110"/>
                </a:moveTo>
                <a:cubicBezTo>
                  <a:pt x="219" y="256"/>
                  <a:pt x="0" y="256"/>
                  <a:pt x="0" y="110"/>
                </a:cubicBezTo>
                <a:cubicBezTo>
                  <a:pt x="0" y="-36"/>
                  <a:pt x="219" y="-36"/>
                  <a:pt x="219" y="110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926400" y="5487840"/>
            <a:ext cx="45360" cy="45000"/>
          </a:xfrm>
          <a:custGeom>
            <a:avLst/>
            <a:gdLst/>
            <a:ahLst/>
            <a:rect l="0" t="0" r="r" b="b"/>
            <a:pathLst>
              <a:path w="126" h="125">
                <a:moveTo>
                  <a:pt x="0" y="62"/>
                </a:moveTo>
                <a:cubicBezTo>
                  <a:pt x="0" y="-21"/>
                  <a:pt x="126" y="-21"/>
                  <a:pt x="126" y="62"/>
                </a:cubicBezTo>
                <a:cubicBezTo>
                  <a:pt x="126" y="146"/>
                  <a:pt x="0" y="146"/>
                  <a:pt x="0" y="62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926400" y="5487840"/>
            <a:ext cx="45360" cy="45000"/>
          </a:xfrm>
          <a:custGeom>
            <a:avLst/>
            <a:gdLst/>
            <a:ahLst/>
            <a:rect l="0" t="0" r="r" b="b"/>
            <a:pathLst>
              <a:path fill="none" w="126" h="125">
                <a:moveTo>
                  <a:pt x="126" y="62"/>
                </a:moveTo>
                <a:cubicBezTo>
                  <a:pt x="126" y="146"/>
                  <a:pt x="0" y="146"/>
                  <a:pt x="0" y="62"/>
                </a:cubicBezTo>
                <a:cubicBezTo>
                  <a:pt x="0" y="-21"/>
                  <a:pt x="126" y="-21"/>
                  <a:pt x="126" y="62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7947360" y="5331960"/>
            <a:ext cx="64440" cy="64440"/>
          </a:xfrm>
          <a:custGeom>
            <a:avLst/>
            <a:gdLst/>
            <a:ahLst/>
            <a:rect l="0" t="0" r="r" b="b"/>
            <a:pathLst>
              <a:path w="179" h="179">
                <a:moveTo>
                  <a:pt x="0" y="89"/>
                </a:moveTo>
                <a:cubicBezTo>
                  <a:pt x="0" y="-30"/>
                  <a:pt x="179" y="-30"/>
                  <a:pt x="179" y="89"/>
                </a:cubicBezTo>
                <a:cubicBezTo>
                  <a:pt x="179" y="208"/>
                  <a:pt x="0" y="208"/>
                  <a:pt x="0" y="89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947360" y="5331960"/>
            <a:ext cx="64440" cy="64440"/>
          </a:xfrm>
          <a:custGeom>
            <a:avLst/>
            <a:gdLst/>
            <a:ahLst/>
            <a:rect l="0" t="0" r="r" b="b"/>
            <a:pathLst>
              <a:path fill="none" w="179" h="179">
                <a:moveTo>
                  <a:pt x="179" y="89"/>
                </a:moveTo>
                <a:cubicBezTo>
                  <a:pt x="179" y="208"/>
                  <a:pt x="0" y="208"/>
                  <a:pt x="0" y="89"/>
                </a:cubicBezTo>
                <a:cubicBezTo>
                  <a:pt x="0" y="-30"/>
                  <a:pt x="179" y="-30"/>
                  <a:pt x="179" y="89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749000" y="5851800"/>
            <a:ext cx="48600" cy="48600"/>
          </a:xfrm>
          <a:custGeom>
            <a:avLst/>
            <a:gdLst/>
            <a:ahLst/>
            <a:rect l="0" t="0" r="r" b="b"/>
            <a:pathLst>
              <a:path w="135" h="135">
                <a:moveTo>
                  <a:pt x="0" y="68"/>
                </a:moveTo>
                <a:cubicBezTo>
                  <a:pt x="0" y="-22"/>
                  <a:pt x="135" y="-22"/>
                  <a:pt x="135" y="68"/>
                </a:cubicBezTo>
                <a:cubicBezTo>
                  <a:pt x="135" y="158"/>
                  <a:pt x="0" y="158"/>
                  <a:pt x="0" y="68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749000" y="5851800"/>
            <a:ext cx="48600" cy="48600"/>
          </a:xfrm>
          <a:custGeom>
            <a:avLst/>
            <a:gdLst/>
            <a:ahLst/>
            <a:rect l="0" t="0" r="r" b="b"/>
            <a:pathLst>
              <a:path fill="none" w="135" h="135">
                <a:moveTo>
                  <a:pt x="135" y="68"/>
                </a:moveTo>
                <a:cubicBezTo>
                  <a:pt x="135" y="158"/>
                  <a:pt x="0" y="158"/>
                  <a:pt x="0" y="68"/>
                </a:cubicBezTo>
                <a:cubicBezTo>
                  <a:pt x="0" y="-22"/>
                  <a:pt x="135" y="-22"/>
                  <a:pt x="135" y="68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678640" y="433584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0" y="95"/>
                </a:moveTo>
                <a:cubicBezTo>
                  <a:pt x="0" y="-31"/>
                  <a:pt x="189" y="-31"/>
                  <a:pt x="189" y="95"/>
                </a:cubicBezTo>
                <a:cubicBezTo>
                  <a:pt x="189" y="221"/>
                  <a:pt x="0" y="221"/>
                  <a:pt x="0" y="95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678640" y="4335840"/>
            <a:ext cx="68040" cy="68040"/>
          </a:xfrm>
          <a:custGeom>
            <a:avLst/>
            <a:gdLst/>
            <a:ahLst/>
            <a:rect l="0" t="0" r="r" b="b"/>
            <a:pathLst>
              <a:path fill="none" w="189" h="189">
                <a:moveTo>
                  <a:pt x="189" y="95"/>
                </a:moveTo>
                <a:cubicBezTo>
                  <a:pt x="189" y="221"/>
                  <a:pt x="0" y="221"/>
                  <a:pt x="0" y="95"/>
                </a:cubicBezTo>
                <a:cubicBezTo>
                  <a:pt x="0" y="-31"/>
                  <a:pt x="189" y="-31"/>
                  <a:pt x="189" y="95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280120" y="414864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56"/>
                </a:moveTo>
                <a:cubicBezTo>
                  <a:pt x="0" y="-19"/>
                  <a:pt x="113" y="-19"/>
                  <a:pt x="113" y="56"/>
                </a:cubicBezTo>
                <a:cubicBezTo>
                  <a:pt x="113" y="131"/>
                  <a:pt x="0" y="131"/>
                  <a:pt x="0" y="56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280120" y="4148640"/>
            <a:ext cx="40680" cy="40680"/>
          </a:xfrm>
          <a:custGeom>
            <a:avLst/>
            <a:gdLst/>
            <a:ahLst/>
            <a:rect l="0" t="0" r="r" b="b"/>
            <a:pathLst>
              <a:path fill="none" w="113" h="113">
                <a:moveTo>
                  <a:pt x="113" y="56"/>
                </a:moveTo>
                <a:cubicBezTo>
                  <a:pt x="113" y="131"/>
                  <a:pt x="0" y="131"/>
                  <a:pt x="0" y="56"/>
                </a:cubicBezTo>
                <a:cubicBezTo>
                  <a:pt x="0" y="-19"/>
                  <a:pt x="113" y="-19"/>
                  <a:pt x="113" y="56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8583120" y="5349240"/>
            <a:ext cx="29160" cy="29160"/>
          </a:xfrm>
          <a:custGeom>
            <a:avLst/>
            <a:gdLst/>
            <a:ahLst/>
            <a:rect l="0" t="0" r="r" b="b"/>
            <a:pathLst>
              <a:path w="81" h="81">
                <a:moveTo>
                  <a:pt x="0" y="41"/>
                </a:moveTo>
                <a:cubicBezTo>
                  <a:pt x="0" y="-13"/>
                  <a:pt x="81" y="-13"/>
                  <a:pt x="81" y="41"/>
                </a:cubicBezTo>
                <a:cubicBezTo>
                  <a:pt x="81" y="95"/>
                  <a:pt x="0" y="95"/>
                  <a:pt x="0" y="41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8583120" y="5349240"/>
            <a:ext cx="29160" cy="29160"/>
          </a:xfrm>
          <a:custGeom>
            <a:avLst/>
            <a:gdLst/>
            <a:ahLst/>
            <a:rect l="0" t="0" r="r" b="b"/>
            <a:pathLst>
              <a:path fill="none" w="81" h="81">
                <a:moveTo>
                  <a:pt x="81" y="41"/>
                </a:moveTo>
                <a:cubicBezTo>
                  <a:pt x="81" y="95"/>
                  <a:pt x="0" y="95"/>
                  <a:pt x="0" y="41"/>
                </a:cubicBezTo>
                <a:cubicBezTo>
                  <a:pt x="0" y="-13"/>
                  <a:pt x="81" y="-13"/>
                  <a:pt x="81" y="41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712560" y="5451840"/>
            <a:ext cx="60840" cy="60840"/>
          </a:xfrm>
          <a:custGeom>
            <a:avLst/>
            <a:gdLst/>
            <a:ahLst/>
            <a:rect l="0" t="0" r="r" b="b"/>
            <a:pathLst>
              <a:path w="169" h="169">
                <a:moveTo>
                  <a:pt x="0" y="84"/>
                </a:moveTo>
                <a:cubicBezTo>
                  <a:pt x="0" y="-28"/>
                  <a:pt x="169" y="-28"/>
                  <a:pt x="169" y="84"/>
                </a:cubicBezTo>
                <a:cubicBezTo>
                  <a:pt x="169" y="197"/>
                  <a:pt x="0" y="197"/>
                  <a:pt x="0" y="84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712560" y="5451840"/>
            <a:ext cx="60840" cy="60840"/>
          </a:xfrm>
          <a:custGeom>
            <a:avLst/>
            <a:gdLst/>
            <a:ahLst/>
            <a:rect l="0" t="0" r="r" b="b"/>
            <a:pathLst>
              <a:path fill="none" w="169" h="169">
                <a:moveTo>
                  <a:pt x="169" y="84"/>
                </a:moveTo>
                <a:cubicBezTo>
                  <a:pt x="169" y="197"/>
                  <a:pt x="0" y="197"/>
                  <a:pt x="0" y="84"/>
                </a:cubicBezTo>
                <a:cubicBezTo>
                  <a:pt x="0" y="-28"/>
                  <a:pt x="169" y="-28"/>
                  <a:pt x="169" y="84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552440" y="5349240"/>
            <a:ext cx="29520" cy="29160"/>
          </a:xfrm>
          <a:custGeom>
            <a:avLst/>
            <a:gdLst/>
            <a:ahLst/>
            <a:rect l="0" t="0" r="r" b="b"/>
            <a:pathLst>
              <a:path w="82" h="81">
                <a:moveTo>
                  <a:pt x="0" y="41"/>
                </a:moveTo>
                <a:cubicBezTo>
                  <a:pt x="0" y="-13"/>
                  <a:pt x="82" y="-13"/>
                  <a:pt x="82" y="41"/>
                </a:cubicBezTo>
                <a:cubicBezTo>
                  <a:pt x="82" y="95"/>
                  <a:pt x="0" y="95"/>
                  <a:pt x="0" y="41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7552440" y="5349240"/>
            <a:ext cx="29520" cy="29160"/>
          </a:xfrm>
          <a:custGeom>
            <a:avLst/>
            <a:gdLst/>
            <a:ahLst/>
            <a:rect l="0" t="0" r="r" b="b"/>
            <a:pathLst>
              <a:path fill="none" w="82" h="81">
                <a:moveTo>
                  <a:pt x="82" y="41"/>
                </a:moveTo>
                <a:cubicBezTo>
                  <a:pt x="82" y="95"/>
                  <a:pt x="0" y="95"/>
                  <a:pt x="0" y="41"/>
                </a:cubicBezTo>
                <a:cubicBezTo>
                  <a:pt x="0" y="-13"/>
                  <a:pt x="82" y="-13"/>
                  <a:pt x="82" y="41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7129440" y="5281200"/>
            <a:ext cx="51480" cy="51480"/>
          </a:xfrm>
          <a:custGeom>
            <a:avLst/>
            <a:gdLst/>
            <a:ahLst/>
            <a:rect l="0" t="0" r="r" b="b"/>
            <a:pathLst>
              <a:path w="143" h="143">
                <a:moveTo>
                  <a:pt x="0" y="71"/>
                </a:moveTo>
                <a:cubicBezTo>
                  <a:pt x="0" y="-24"/>
                  <a:pt x="143" y="-24"/>
                  <a:pt x="143" y="71"/>
                </a:cubicBezTo>
                <a:cubicBezTo>
                  <a:pt x="143" y="166"/>
                  <a:pt x="0" y="166"/>
                  <a:pt x="0" y="71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129440" y="5281200"/>
            <a:ext cx="51480" cy="51480"/>
          </a:xfrm>
          <a:custGeom>
            <a:avLst/>
            <a:gdLst/>
            <a:ahLst/>
            <a:rect l="0" t="0" r="r" b="b"/>
            <a:pathLst>
              <a:path fill="none" w="143" h="143">
                <a:moveTo>
                  <a:pt x="143" y="71"/>
                </a:moveTo>
                <a:cubicBezTo>
                  <a:pt x="143" y="166"/>
                  <a:pt x="0" y="166"/>
                  <a:pt x="0" y="71"/>
                </a:cubicBezTo>
                <a:cubicBezTo>
                  <a:pt x="0" y="-24"/>
                  <a:pt x="143" y="-24"/>
                  <a:pt x="143" y="71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300280" y="4283280"/>
            <a:ext cx="3709800" cy="1518120"/>
          </a:xfrm>
          <a:custGeom>
            <a:avLst/>
            <a:gdLst/>
            <a:ahLst/>
            <a:rect l="0" t="0" r="r" b="b"/>
            <a:pathLst>
              <a:path fill="none" w="10305" h="4217">
                <a:moveTo>
                  <a:pt x="0" y="0"/>
                </a:moveTo>
                <a:lnTo>
                  <a:pt x="131" y="53"/>
                </a:lnTo>
                <a:lnTo>
                  <a:pt x="261" y="106"/>
                </a:lnTo>
                <a:lnTo>
                  <a:pt x="391" y="160"/>
                </a:lnTo>
                <a:lnTo>
                  <a:pt x="522" y="213"/>
                </a:lnTo>
                <a:lnTo>
                  <a:pt x="652" y="267"/>
                </a:lnTo>
                <a:lnTo>
                  <a:pt x="784" y="320"/>
                </a:lnTo>
                <a:lnTo>
                  <a:pt x="914" y="373"/>
                </a:lnTo>
                <a:lnTo>
                  <a:pt x="1045" y="427"/>
                </a:lnTo>
                <a:lnTo>
                  <a:pt x="1175" y="480"/>
                </a:lnTo>
                <a:lnTo>
                  <a:pt x="1305" y="533"/>
                </a:lnTo>
                <a:lnTo>
                  <a:pt x="1566" y="640"/>
                </a:lnTo>
                <a:lnTo>
                  <a:pt x="1697" y="694"/>
                </a:lnTo>
                <a:lnTo>
                  <a:pt x="1827" y="747"/>
                </a:lnTo>
                <a:lnTo>
                  <a:pt x="1958" y="800"/>
                </a:lnTo>
                <a:lnTo>
                  <a:pt x="2088" y="854"/>
                </a:lnTo>
                <a:lnTo>
                  <a:pt x="2218" y="907"/>
                </a:lnTo>
                <a:lnTo>
                  <a:pt x="2349" y="960"/>
                </a:lnTo>
                <a:lnTo>
                  <a:pt x="2479" y="1014"/>
                </a:lnTo>
                <a:lnTo>
                  <a:pt x="2610" y="1067"/>
                </a:lnTo>
                <a:lnTo>
                  <a:pt x="2740" y="1121"/>
                </a:lnTo>
                <a:lnTo>
                  <a:pt x="2870" y="1174"/>
                </a:lnTo>
                <a:lnTo>
                  <a:pt x="3001" y="1227"/>
                </a:lnTo>
                <a:lnTo>
                  <a:pt x="3131" y="1281"/>
                </a:lnTo>
                <a:lnTo>
                  <a:pt x="3262" y="1334"/>
                </a:lnTo>
                <a:lnTo>
                  <a:pt x="3392" y="1387"/>
                </a:lnTo>
                <a:lnTo>
                  <a:pt x="3523" y="1441"/>
                </a:lnTo>
                <a:lnTo>
                  <a:pt x="3653" y="1494"/>
                </a:lnTo>
                <a:lnTo>
                  <a:pt x="3783" y="1548"/>
                </a:lnTo>
                <a:lnTo>
                  <a:pt x="3914" y="1601"/>
                </a:lnTo>
                <a:lnTo>
                  <a:pt x="4044" y="1654"/>
                </a:lnTo>
                <a:lnTo>
                  <a:pt x="4175" y="1708"/>
                </a:lnTo>
                <a:lnTo>
                  <a:pt x="4305" y="1761"/>
                </a:lnTo>
                <a:lnTo>
                  <a:pt x="4436" y="1814"/>
                </a:lnTo>
                <a:lnTo>
                  <a:pt x="4566" y="1868"/>
                </a:lnTo>
                <a:lnTo>
                  <a:pt x="4696" y="1921"/>
                </a:lnTo>
                <a:lnTo>
                  <a:pt x="4827" y="1974"/>
                </a:lnTo>
                <a:lnTo>
                  <a:pt x="4957" y="2028"/>
                </a:lnTo>
                <a:lnTo>
                  <a:pt x="5088" y="2081"/>
                </a:lnTo>
                <a:lnTo>
                  <a:pt x="5218" y="2135"/>
                </a:lnTo>
                <a:lnTo>
                  <a:pt x="5349" y="2188"/>
                </a:lnTo>
                <a:lnTo>
                  <a:pt x="5479" y="2241"/>
                </a:lnTo>
                <a:lnTo>
                  <a:pt x="5609" y="2295"/>
                </a:lnTo>
                <a:lnTo>
                  <a:pt x="5740" y="2348"/>
                </a:lnTo>
                <a:lnTo>
                  <a:pt x="5870" y="2401"/>
                </a:lnTo>
                <a:lnTo>
                  <a:pt x="6001" y="2455"/>
                </a:lnTo>
                <a:lnTo>
                  <a:pt x="6131" y="2508"/>
                </a:lnTo>
                <a:lnTo>
                  <a:pt x="6262" y="2562"/>
                </a:lnTo>
                <a:lnTo>
                  <a:pt x="6392" y="2615"/>
                </a:lnTo>
                <a:lnTo>
                  <a:pt x="6522" y="2668"/>
                </a:lnTo>
                <a:lnTo>
                  <a:pt x="6653" y="2722"/>
                </a:lnTo>
                <a:lnTo>
                  <a:pt x="6783" y="2775"/>
                </a:lnTo>
                <a:lnTo>
                  <a:pt x="6914" y="2828"/>
                </a:lnTo>
                <a:lnTo>
                  <a:pt x="7044" y="2883"/>
                </a:lnTo>
                <a:lnTo>
                  <a:pt x="7175" y="2936"/>
                </a:lnTo>
                <a:lnTo>
                  <a:pt x="7305" y="2990"/>
                </a:lnTo>
                <a:lnTo>
                  <a:pt x="7566" y="3096"/>
                </a:lnTo>
                <a:lnTo>
                  <a:pt x="7696" y="3150"/>
                </a:lnTo>
                <a:lnTo>
                  <a:pt x="7827" y="3203"/>
                </a:lnTo>
                <a:lnTo>
                  <a:pt x="7957" y="3256"/>
                </a:lnTo>
                <a:lnTo>
                  <a:pt x="8087" y="3310"/>
                </a:lnTo>
                <a:lnTo>
                  <a:pt x="8218" y="3363"/>
                </a:lnTo>
                <a:lnTo>
                  <a:pt x="8348" y="3417"/>
                </a:lnTo>
                <a:lnTo>
                  <a:pt x="8479" y="3470"/>
                </a:lnTo>
                <a:lnTo>
                  <a:pt x="8609" y="3523"/>
                </a:lnTo>
                <a:lnTo>
                  <a:pt x="8740" y="3577"/>
                </a:lnTo>
                <a:lnTo>
                  <a:pt x="9000" y="3683"/>
                </a:lnTo>
                <a:lnTo>
                  <a:pt x="9131" y="3737"/>
                </a:lnTo>
                <a:lnTo>
                  <a:pt x="9261" y="3790"/>
                </a:lnTo>
                <a:lnTo>
                  <a:pt x="9392" y="3843"/>
                </a:lnTo>
                <a:lnTo>
                  <a:pt x="9522" y="3897"/>
                </a:lnTo>
                <a:lnTo>
                  <a:pt x="9653" y="3950"/>
                </a:lnTo>
                <a:lnTo>
                  <a:pt x="9783" y="4004"/>
                </a:lnTo>
                <a:lnTo>
                  <a:pt x="9914" y="4057"/>
                </a:lnTo>
                <a:lnTo>
                  <a:pt x="10044" y="4110"/>
                </a:lnTo>
                <a:lnTo>
                  <a:pt x="10174" y="4164"/>
                </a:lnTo>
                <a:lnTo>
                  <a:pt x="10305" y="4217"/>
                </a:lnTo>
              </a:path>
            </a:pathLst>
          </a:custGeom>
          <a:ln w="1476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742800" y="5387040"/>
            <a:ext cx="2267280" cy="115560"/>
          </a:xfrm>
          <a:custGeom>
            <a:avLst/>
            <a:gdLst/>
            <a:ahLst/>
            <a:rect l="0" t="0" r="r" b="b"/>
            <a:pathLst>
              <a:path fill="none" w="6298" h="321">
                <a:moveTo>
                  <a:pt x="0" y="321"/>
                </a:moveTo>
                <a:lnTo>
                  <a:pt x="80" y="317"/>
                </a:lnTo>
                <a:lnTo>
                  <a:pt x="160" y="313"/>
                </a:lnTo>
                <a:lnTo>
                  <a:pt x="239" y="309"/>
                </a:lnTo>
                <a:lnTo>
                  <a:pt x="319" y="304"/>
                </a:lnTo>
                <a:lnTo>
                  <a:pt x="399" y="300"/>
                </a:lnTo>
                <a:lnTo>
                  <a:pt x="478" y="296"/>
                </a:lnTo>
                <a:lnTo>
                  <a:pt x="558" y="292"/>
                </a:lnTo>
                <a:lnTo>
                  <a:pt x="638" y="288"/>
                </a:lnTo>
                <a:lnTo>
                  <a:pt x="717" y="284"/>
                </a:lnTo>
                <a:lnTo>
                  <a:pt x="797" y="280"/>
                </a:lnTo>
                <a:lnTo>
                  <a:pt x="877" y="276"/>
                </a:lnTo>
                <a:lnTo>
                  <a:pt x="957" y="272"/>
                </a:lnTo>
                <a:lnTo>
                  <a:pt x="1036" y="268"/>
                </a:lnTo>
                <a:lnTo>
                  <a:pt x="1116" y="264"/>
                </a:lnTo>
                <a:lnTo>
                  <a:pt x="1196" y="260"/>
                </a:lnTo>
                <a:lnTo>
                  <a:pt x="1275" y="256"/>
                </a:lnTo>
                <a:lnTo>
                  <a:pt x="1355" y="252"/>
                </a:lnTo>
                <a:lnTo>
                  <a:pt x="1435" y="248"/>
                </a:lnTo>
                <a:lnTo>
                  <a:pt x="1515" y="244"/>
                </a:lnTo>
                <a:lnTo>
                  <a:pt x="1594" y="240"/>
                </a:lnTo>
                <a:lnTo>
                  <a:pt x="1674" y="236"/>
                </a:lnTo>
                <a:lnTo>
                  <a:pt x="1754" y="232"/>
                </a:lnTo>
                <a:lnTo>
                  <a:pt x="1833" y="228"/>
                </a:lnTo>
                <a:lnTo>
                  <a:pt x="1913" y="224"/>
                </a:lnTo>
                <a:lnTo>
                  <a:pt x="1993" y="220"/>
                </a:lnTo>
                <a:lnTo>
                  <a:pt x="2072" y="215"/>
                </a:lnTo>
                <a:lnTo>
                  <a:pt x="2152" y="211"/>
                </a:lnTo>
                <a:lnTo>
                  <a:pt x="2232" y="207"/>
                </a:lnTo>
                <a:lnTo>
                  <a:pt x="2312" y="203"/>
                </a:lnTo>
                <a:lnTo>
                  <a:pt x="2391" y="199"/>
                </a:lnTo>
                <a:lnTo>
                  <a:pt x="2471" y="195"/>
                </a:lnTo>
                <a:lnTo>
                  <a:pt x="2551" y="191"/>
                </a:lnTo>
                <a:lnTo>
                  <a:pt x="2630" y="186"/>
                </a:lnTo>
                <a:lnTo>
                  <a:pt x="2710" y="182"/>
                </a:lnTo>
                <a:lnTo>
                  <a:pt x="2790" y="178"/>
                </a:lnTo>
                <a:lnTo>
                  <a:pt x="2869" y="174"/>
                </a:lnTo>
                <a:lnTo>
                  <a:pt x="2949" y="170"/>
                </a:lnTo>
                <a:lnTo>
                  <a:pt x="3029" y="166"/>
                </a:lnTo>
                <a:lnTo>
                  <a:pt x="3109" y="162"/>
                </a:lnTo>
                <a:lnTo>
                  <a:pt x="3188" y="158"/>
                </a:lnTo>
                <a:lnTo>
                  <a:pt x="3268" y="154"/>
                </a:lnTo>
                <a:lnTo>
                  <a:pt x="3349" y="150"/>
                </a:lnTo>
                <a:lnTo>
                  <a:pt x="3428" y="146"/>
                </a:lnTo>
                <a:lnTo>
                  <a:pt x="3508" y="142"/>
                </a:lnTo>
                <a:lnTo>
                  <a:pt x="3588" y="138"/>
                </a:lnTo>
                <a:lnTo>
                  <a:pt x="3667" y="134"/>
                </a:lnTo>
                <a:lnTo>
                  <a:pt x="3747" y="129"/>
                </a:lnTo>
                <a:lnTo>
                  <a:pt x="3907" y="121"/>
                </a:lnTo>
                <a:lnTo>
                  <a:pt x="3986" y="117"/>
                </a:lnTo>
                <a:lnTo>
                  <a:pt x="4066" y="113"/>
                </a:lnTo>
                <a:lnTo>
                  <a:pt x="4146" y="109"/>
                </a:lnTo>
                <a:lnTo>
                  <a:pt x="4305" y="101"/>
                </a:lnTo>
                <a:lnTo>
                  <a:pt x="4385" y="97"/>
                </a:lnTo>
                <a:lnTo>
                  <a:pt x="4544" y="89"/>
                </a:lnTo>
                <a:lnTo>
                  <a:pt x="4624" y="85"/>
                </a:lnTo>
                <a:lnTo>
                  <a:pt x="4704" y="81"/>
                </a:lnTo>
                <a:lnTo>
                  <a:pt x="4783" y="77"/>
                </a:lnTo>
                <a:lnTo>
                  <a:pt x="4943" y="69"/>
                </a:lnTo>
                <a:lnTo>
                  <a:pt x="5022" y="65"/>
                </a:lnTo>
                <a:lnTo>
                  <a:pt x="5102" y="61"/>
                </a:lnTo>
                <a:lnTo>
                  <a:pt x="5182" y="57"/>
                </a:lnTo>
                <a:lnTo>
                  <a:pt x="5262" y="53"/>
                </a:lnTo>
                <a:lnTo>
                  <a:pt x="5341" y="49"/>
                </a:lnTo>
                <a:lnTo>
                  <a:pt x="5421" y="45"/>
                </a:lnTo>
                <a:lnTo>
                  <a:pt x="5501" y="40"/>
                </a:lnTo>
                <a:lnTo>
                  <a:pt x="5580" y="36"/>
                </a:lnTo>
                <a:lnTo>
                  <a:pt x="5660" y="32"/>
                </a:lnTo>
                <a:lnTo>
                  <a:pt x="5740" y="28"/>
                </a:lnTo>
                <a:lnTo>
                  <a:pt x="5820" y="24"/>
                </a:lnTo>
                <a:lnTo>
                  <a:pt x="5899" y="20"/>
                </a:lnTo>
                <a:lnTo>
                  <a:pt x="5979" y="16"/>
                </a:lnTo>
                <a:lnTo>
                  <a:pt x="6059" y="12"/>
                </a:lnTo>
                <a:lnTo>
                  <a:pt x="6138" y="8"/>
                </a:lnTo>
                <a:lnTo>
                  <a:pt x="6218" y="4"/>
                </a:lnTo>
                <a:lnTo>
                  <a:pt x="6298" y="0"/>
                </a:lnTo>
              </a:path>
            </a:pathLst>
          </a:custGeom>
          <a:ln w="1476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 flipV="1">
            <a:off x="5114880" y="3724920"/>
            <a:ext cx="0" cy="2253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49000" y="3257280"/>
            <a:ext cx="3381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  Re-detection is governed by subsequent survey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936680" y="5838120"/>
            <a:ext cx="1328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885920" y="532584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885920" y="481392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885920" y="430164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086440" y="58759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086440" y="53640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086440" y="48517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086440" y="43394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086440" y="38271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114880" y="5978520"/>
            <a:ext cx="40802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 flipV="1">
            <a:off x="591840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 flipV="1">
            <a:off x="694908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 flipV="1">
            <a:off x="797940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 flipV="1">
            <a:off x="900972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885920" y="378936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80%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817240" y="6030000"/>
            <a:ext cx="2041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847560" y="6030000"/>
            <a:ext cx="2041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877880" y="6030000"/>
            <a:ext cx="2041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8908200" y="6030000"/>
            <a:ext cx="2041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660000" y="6159960"/>
            <a:ext cx="940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Year of ﬁrst record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974720" y="3823200"/>
            <a:ext cx="972000" cy="344520"/>
          </a:xfrm>
          <a:custGeom>
            <a:avLst/>
            <a:gdLst/>
            <a:ahLst/>
            <a:rect l="0" t="0" r="r" b="b"/>
            <a:pathLst>
              <a:path w="2700" h="957">
                <a:moveTo>
                  <a:pt x="0" y="0"/>
                </a:moveTo>
                <a:lnTo>
                  <a:pt x="2700" y="0"/>
                </a:lnTo>
                <a:lnTo>
                  <a:pt x="2700" y="957"/>
                </a:lnTo>
                <a:lnTo>
                  <a:pt x="0" y="9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8031600" y="38800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069040" y="39175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8C8C8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069040" y="39175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200">
            <a:solidFill>
              <a:srgbClr val="8C8C8C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043120" y="3937680"/>
            <a:ext cx="92160" cy="0"/>
          </a:xfrm>
          <a:prstGeom prst="line">
            <a:avLst/>
          </a:prstGeom>
          <a:ln w="147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031600" y="39952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069040" y="40327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009E73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069040" y="40327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200">
            <a:solidFill>
              <a:srgbClr val="009E73">
                <a:alpha val="70000"/>
              </a:srgbClr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043120" y="4052880"/>
            <a:ext cx="9216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 rot="16200000">
            <a:off x="3809520" y="4831920"/>
            <a:ext cx="1982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Proportion re-detected in ≥3 later years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204040" y="3886920"/>
            <a:ext cx="721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204040" y="4002120"/>
            <a:ext cx="64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Inside reserve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114880" y="3441240"/>
            <a:ext cx="2806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main analysis is therefore restricted to events up to 2020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114880" y="3257280"/>
            <a:ext cx="3627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  Right-censoring: later ﬁrst records have shorter follow-up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FigP2_pa_persistence</dc:title>
</cp:coreProperties>
</file>