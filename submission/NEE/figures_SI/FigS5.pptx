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414000" cy="69469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20560" y="262800"/>
            <a:ext cx="9371880" cy="1099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20560" y="1541160"/>
            <a:ext cx="9371880" cy="381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0414080" cy="6946920"/>
          </a:xfrm>
          <a:custGeom>
            <a:avLst/>
            <a:gdLst/>
            <a:ahLst/>
            <a:rect l="0" t="0" r="r" b="b"/>
            <a:pathLst>
              <a:path w="28928" h="19297">
                <a:moveTo>
                  <a:pt x="0" y="0"/>
                </a:moveTo>
                <a:lnTo>
                  <a:pt x="28928" y="0"/>
                </a:lnTo>
                <a:lnTo>
                  <a:pt x="28928" y="19297"/>
                </a:lnTo>
                <a:lnTo>
                  <a:pt x="0" y="19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0414080" cy="6946920"/>
          </a:xfrm>
          <a:custGeom>
            <a:avLst/>
            <a:gdLst/>
            <a:ahLst/>
            <a:rect l="0" t="0" r="r" b="b"/>
            <a:pathLst>
              <a:path w="28928" h="19297">
                <a:moveTo>
                  <a:pt x="0" y="0"/>
                </a:moveTo>
                <a:lnTo>
                  <a:pt x="28928" y="0"/>
                </a:lnTo>
                <a:lnTo>
                  <a:pt x="28928" y="19297"/>
                </a:lnTo>
                <a:lnTo>
                  <a:pt x="0" y="192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3320">
            <a:solidFill>
              <a:srgbClr val="FFFFFF"/>
            </a:solidFill>
            <a:round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9480" y="69480"/>
            <a:ext cx="4975560" cy="3425040"/>
          </a:xfrm>
          <a:custGeom>
            <a:avLst/>
            <a:gdLst/>
            <a:ahLst/>
            <a:rect l="0" t="0" r="r" b="b"/>
            <a:pathLst>
              <a:path w="13821" h="9514">
                <a:moveTo>
                  <a:pt x="0" y="0"/>
                </a:moveTo>
                <a:lnTo>
                  <a:pt x="13821" y="0"/>
                </a:lnTo>
                <a:lnTo>
                  <a:pt x="13821" y="9514"/>
                </a:lnTo>
                <a:lnTo>
                  <a:pt x="0" y="95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5044680" y="69480"/>
            <a:ext cx="5299920" cy="3425040"/>
          </a:xfrm>
          <a:custGeom>
            <a:avLst/>
            <a:gdLst/>
            <a:ahLst/>
            <a:rect l="0" t="0" r="r" b="b"/>
            <a:pathLst>
              <a:path w="14722" h="9514">
                <a:moveTo>
                  <a:pt x="0" y="0"/>
                </a:moveTo>
                <a:lnTo>
                  <a:pt x="14722" y="0"/>
                </a:lnTo>
                <a:lnTo>
                  <a:pt x="14722" y="9514"/>
                </a:lnTo>
                <a:lnTo>
                  <a:pt x="0" y="951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500400" y="779400"/>
            <a:ext cx="1299600" cy="2129760"/>
          </a:xfrm>
          <a:custGeom>
            <a:avLst/>
            <a:gdLst/>
            <a:ahLst/>
            <a:rect l="0" t="0" r="r" b="b"/>
            <a:pathLst>
              <a:path w="3610" h="5916">
                <a:moveTo>
                  <a:pt x="0" y="0"/>
                </a:moveTo>
                <a:lnTo>
                  <a:pt x="3610" y="0"/>
                </a:lnTo>
                <a:lnTo>
                  <a:pt x="3610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500400" y="235512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500400" y="180108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500400" y="124740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618120" y="1073160"/>
            <a:ext cx="252360" cy="1836000"/>
          </a:xfrm>
          <a:custGeom>
            <a:avLst/>
            <a:gdLst/>
            <a:ahLst/>
            <a:rect l="0" t="0" r="r" b="b"/>
            <a:pathLst>
              <a:path w="701" h="5100">
                <a:moveTo>
                  <a:pt x="0" y="0"/>
                </a:moveTo>
                <a:lnTo>
                  <a:pt x="701" y="0"/>
                </a:lnTo>
                <a:lnTo>
                  <a:pt x="701" y="5100"/>
                </a:lnTo>
                <a:lnTo>
                  <a:pt x="0" y="5100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1024200" y="1873800"/>
            <a:ext cx="252000" cy="1035360"/>
          </a:xfrm>
          <a:custGeom>
            <a:avLst/>
            <a:gdLst/>
            <a:ahLst/>
            <a:rect l="0" t="0" r="r" b="b"/>
            <a:pathLst>
              <a:path w="700" h="2876">
                <a:moveTo>
                  <a:pt x="0" y="0"/>
                </a:moveTo>
                <a:lnTo>
                  <a:pt x="700" y="0"/>
                </a:lnTo>
                <a:lnTo>
                  <a:pt x="700" y="2876"/>
                </a:lnTo>
                <a:lnTo>
                  <a:pt x="0" y="2876"/>
                </a:lnTo>
                <a:lnTo>
                  <a:pt x="0" y="0"/>
                </a:ln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1430280" y="1258560"/>
            <a:ext cx="252000" cy="1650600"/>
          </a:xfrm>
          <a:custGeom>
            <a:avLst/>
            <a:gdLst/>
            <a:ahLst/>
            <a:rect l="0" t="0" r="r" b="b"/>
            <a:pathLst>
              <a:path w="700" h="4585">
                <a:moveTo>
                  <a:pt x="0" y="0"/>
                </a:moveTo>
                <a:lnTo>
                  <a:pt x="700" y="0"/>
                </a:lnTo>
                <a:lnTo>
                  <a:pt x="700" y="4585"/>
                </a:lnTo>
                <a:lnTo>
                  <a:pt x="0" y="4585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668160" y="970560"/>
            <a:ext cx="14580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66k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074240" y="1770840"/>
            <a:ext cx="14580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37k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2072520" y="779400"/>
            <a:ext cx="1299600" cy="2129760"/>
          </a:xfrm>
          <a:custGeom>
            <a:avLst/>
            <a:gdLst/>
            <a:ahLst/>
            <a:rect l="0" t="0" r="r" b="b"/>
            <a:pathLst>
              <a:path w="3610" h="5916">
                <a:moveTo>
                  <a:pt x="0" y="0"/>
                </a:moveTo>
                <a:lnTo>
                  <a:pt x="3610" y="0"/>
                </a:lnTo>
                <a:lnTo>
                  <a:pt x="3610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2072520" y="248796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2072520" y="206676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2072520" y="164592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2072520" y="122472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2072520" y="80388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2190240" y="1073160"/>
            <a:ext cx="252000" cy="1836000"/>
          </a:xfrm>
          <a:custGeom>
            <a:avLst/>
            <a:gdLst/>
            <a:ahLst/>
            <a:rect l="0" t="0" r="r" b="b"/>
            <a:pathLst>
              <a:path w="700" h="5100">
                <a:moveTo>
                  <a:pt x="0" y="0"/>
                </a:moveTo>
                <a:lnTo>
                  <a:pt x="700" y="0"/>
                </a:lnTo>
                <a:lnTo>
                  <a:pt x="700" y="5100"/>
                </a:lnTo>
                <a:lnTo>
                  <a:pt x="0" y="5100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2596320" y="1595160"/>
            <a:ext cx="252000" cy="1314000"/>
          </a:xfrm>
          <a:custGeom>
            <a:avLst/>
            <a:gdLst/>
            <a:ahLst/>
            <a:rect l="0" t="0" r="r" b="b"/>
            <a:pathLst>
              <a:path w="700" h="3650">
                <a:moveTo>
                  <a:pt x="0" y="0"/>
                </a:moveTo>
                <a:lnTo>
                  <a:pt x="700" y="0"/>
                </a:lnTo>
                <a:lnTo>
                  <a:pt x="700" y="3650"/>
                </a:lnTo>
                <a:lnTo>
                  <a:pt x="0" y="3650"/>
                </a:lnTo>
                <a:lnTo>
                  <a:pt x="0" y="0"/>
                </a:ln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3002400" y="1435320"/>
            <a:ext cx="252000" cy="1473840"/>
          </a:xfrm>
          <a:custGeom>
            <a:avLst/>
            <a:gdLst/>
            <a:ahLst/>
            <a:rect l="0" t="0" r="r" b="b"/>
            <a:pathLst>
              <a:path w="700" h="4094">
                <a:moveTo>
                  <a:pt x="0" y="0"/>
                </a:moveTo>
                <a:lnTo>
                  <a:pt x="700" y="0"/>
                </a:lnTo>
                <a:lnTo>
                  <a:pt x="700" y="4094"/>
                </a:lnTo>
                <a:lnTo>
                  <a:pt x="0" y="4094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1480320" y="1155960"/>
            <a:ext cx="14580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60k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2239920" y="970560"/>
            <a:ext cx="15084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218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2646000" y="1492560"/>
            <a:ext cx="15084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156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3644280" y="779400"/>
            <a:ext cx="1299600" cy="2129760"/>
          </a:xfrm>
          <a:custGeom>
            <a:avLst/>
            <a:gdLst/>
            <a:ahLst/>
            <a:rect l="0" t="0" r="r" b="b"/>
            <a:pathLst>
              <a:path w="3610" h="5916">
                <a:moveTo>
                  <a:pt x="0" y="0"/>
                </a:moveTo>
                <a:lnTo>
                  <a:pt x="3610" y="0"/>
                </a:lnTo>
                <a:lnTo>
                  <a:pt x="3610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3644280" y="237276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3644280" y="183708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644280" y="1301040"/>
            <a:ext cx="129924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3762000" y="1073160"/>
            <a:ext cx="252000" cy="1836000"/>
          </a:xfrm>
          <a:custGeom>
            <a:avLst/>
            <a:gdLst/>
            <a:ahLst/>
            <a:rect l="0" t="0" r="r" b="b"/>
            <a:pathLst>
              <a:path w="700" h="5100">
                <a:moveTo>
                  <a:pt x="0" y="0"/>
                </a:moveTo>
                <a:lnTo>
                  <a:pt x="700" y="0"/>
                </a:lnTo>
                <a:lnTo>
                  <a:pt x="700" y="5100"/>
                </a:lnTo>
                <a:lnTo>
                  <a:pt x="0" y="5100"/>
                </a:lnTo>
                <a:lnTo>
                  <a:pt x="0" y="0"/>
                </a:ln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4168080" y="1944000"/>
            <a:ext cx="252000" cy="965160"/>
          </a:xfrm>
          <a:custGeom>
            <a:avLst/>
            <a:gdLst/>
            <a:ahLst/>
            <a:rect l="0" t="0" r="r" b="b"/>
            <a:pathLst>
              <a:path w="700" h="2681">
                <a:moveTo>
                  <a:pt x="0" y="0"/>
                </a:moveTo>
                <a:lnTo>
                  <a:pt x="700" y="0"/>
                </a:lnTo>
                <a:lnTo>
                  <a:pt x="700" y="2681"/>
                </a:lnTo>
                <a:lnTo>
                  <a:pt x="0" y="2681"/>
                </a:lnTo>
                <a:lnTo>
                  <a:pt x="0" y="0"/>
                </a:ln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4574160" y="1475280"/>
            <a:ext cx="252000" cy="1433880"/>
          </a:xfrm>
          <a:custGeom>
            <a:avLst/>
            <a:gdLst/>
            <a:ahLst/>
            <a:rect l="0" t="0" r="r" b="b"/>
            <a:pathLst>
              <a:path w="700" h="3983">
                <a:moveTo>
                  <a:pt x="0" y="0"/>
                </a:moveTo>
                <a:lnTo>
                  <a:pt x="700" y="0"/>
                </a:lnTo>
                <a:lnTo>
                  <a:pt x="700" y="3983"/>
                </a:lnTo>
                <a:lnTo>
                  <a:pt x="0" y="3983"/>
                </a:lnTo>
                <a:lnTo>
                  <a:pt x="0" y="0"/>
                </a:ln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52080" y="1332720"/>
            <a:ext cx="15084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175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812040" y="970560"/>
            <a:ext cx="15084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137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4243320" y="1841400"/>
            <a:ext cx="10080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72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 flipV="1">
            <a:off x="3644280" y="779400"/>
            <a:ext cx="0" cy="21294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4623840" y="1372320"/>
            <a:ext cx="150840" cy="9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1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107</a:t>
            </a:r>
            <a:endParaRPr lang="en-US" sz="71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3536640" y="28584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3485880" y="232236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3485880" y="178632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80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3612600" y="29088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3612600" y="2372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3612600" y="18370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3612600" y="1301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 flipV="1">
            <a:off x="2072520" y="779400"/>
            <a:ext cx="0" cy="21294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3435120" y="1250280"/>
            <a:ext cx="171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1964880" y="28584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914120" y="243720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863360" y="2016360"/>
            <a:ext cx="171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863360" y="1595160"/>
            <a:ext cx="171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1863360" y="1174320"/>
            <a:ext cx="171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2040840" y="29088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2040840" y="24879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2040840" y="20667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2040840" y="16459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2040840" y="12247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2040840" y="8038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863360" y="753120"/>
            <a:ext cx="17100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250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51160" y="608400"/>
            <a:ext cx="12240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Risk-set rows (000s)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123280" y="608400"/>
            <a:ext cx="4154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Events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500400" y="2908800"/>
            <a:ext cx="129924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 flipV="1">
            <a:off x="74412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 flipV="1">
            <a:off x="115020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 flipV="1">
            <a:off x="155628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3695040" y="608400"/>
            <a:ext cx="47880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Species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 rot="20520000">
            <a:off x="383760" y="3006720"/>
            <a:ext cx="403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Resident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 rot="20520000">
            <a:off x="889200" y="2992680"/>
            <a:ext cx="290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Partial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2072520" y="2908800"/>
            <a:ext cx="129924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 flipV="1">
            <a:off x="231588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/>
          <p:nvPr/>
        </p:nvSpPr>
        <p:spPr>
          <a:xfrm flipV="1">
            <a:off x="272196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 flipV="1">
            <a:off x="312804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 rot="20520000">
            <a:off x="984600" y="3036600"/>
            <a:ext cx="642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Long-distance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 rot="20520000">
            <a:off x="1955520" y="3006720"/>
            <a:ext cx="403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Resident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 rot="20520000">
            <a:off x="2461320" y="2992680"/>
            <a:ext cx="290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Partial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3644280" y="2908800"/>
            <a:ext cx="129924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 flipV="1">
            <a:off x="388800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 flipV="1">
            <a:off x="429408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 flipV="1">
            <a:off x="470016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 rot="20520000">
            <a:off x="2556720" y="3036600"/>
            <a:ext cx="642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Long-distance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 rot="20520000">
            <a:off x="3527640" y="3006720"/>
            <a:ext cx="403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Resident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 txBox="1"/>
          <p:nvPr/>
        </p:nvSpPr>
        <p:spPr>
          <a:xfrm rot="20520000">
            <a:off x="4033080" y="2992680"/>
            <a:ext cx="290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Partial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 flipV="1">
            <a:off x="500400" y="779400"/>
            <a:ext cx="0" cy="21294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 rot="20520000">
            <a:off x="4128480" y="3036600"/>
            <a:ext cx="642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Long-distance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393120" y="28584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342000" y="230436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42000" y="175068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468720" y="29088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468720" y="2355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468720" y="18010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468720" y="12474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42000" y="1196640"/>
            <a:ext cx="11412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60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0760" y="335880"/>
            <a:ext cx="35362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Every group carries at least 156 events, so none is a token category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00760" y="132840"/>
            <a:ext cx="23457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Power comes from all three groups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799960" y="779400"/>
            <a:ext cx="2190240" cy="2129760"/>
          </a:xfrm>
          <a:custGeom>
            <a:avLst/>
            <a:gdLst/>
            <a:ahLst/>
            <a:rect l="0" t="0" r="r" b="b"/>
            <a:pathLst>
              <a:path w="6084" h="5916">
                <a:moveTo>
                  <a:pt x="0" y="0"/>
                </a:moveTo>
                <a:lnTo>
                  <a:pt x="6084" y="0"/>
                </a:lnTo>
                <a:lnTo>
                  <a:pt x="6084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 flipV="1">
            <a:off x="5899320" y="812520"/>
            <a:ext cx="0" cy="209628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6279840" y="2509560"/>
            <a:ext cx="1077480" cy="0"/>
          </a:xfrm>
          <a:prstGeom prst="line">
            <a:avLst/>
          </a:prstGeom>
          <a:ln w="1620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489000" y="1844280"/>
            <a:ext cx="1401120" cy="0"/>
          </a:xfrm>
          <a:prstGeom prst="line">
            <a:avLst/>
          </a:prstGeom>
          <a:ln w="1620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537960" y="1178640"/>
            <a:ext cx="1320120" cy="0"/>
          </a:xfrm>
          <a:prstGeom prst="line">
            <a:avLst/>
          </a:prstGeom>
          <a:ln w="1620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742080" y="2477160"/>
            <a:ext cx="65520" cy="65520"/>
          </a:xfrm>
          <a:custGeom>
            <a:avLst/>
            <a:gdLst/>
            <a:ahLst/>
            <a:rect l="0" t="0" r="r" b="b"/>
            <a:pathLst>
              <a:path w="182" h="182">
                <a:moveTo>
                  <a:pt x="0" y="91"/>
                </a:moveTo>
                <a:cubicBezTo>
                  <a:pt x="0" y="-30"/>
                  <a:pt x="182" y="-30"/>
                  <a:pt x="182" y="91"/>
                </a:cubicBezTo>
                <a:cubicBezTo>
                  <a:pt x="182" y="212"/>
                  <a:pt x="0" y="212"/>
                  <a:pt x="0" y="91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6742080" y="2477160"/>
            <a:ext cx="65520" cy="65520"/>
          </a:xfrm>
          <a:custGeom>
            <a:avLst/>
            <a:gdLst/>
            <a:ahLst/>
            <a:rect l="0" t="0" r="r" b="b"/>
            <a:pathLst>
              <a:path fill="none" w="182" h="182">
                <a:moveTo>
                  <a:pt x="182" y="91"/>
                </a:moveTo>
                <a:cubicBezTo>
                  <a:pt x="182" y="212"/>
                  <a:pt x="0" y="212"/>
                  <a:pt x="0" y="91"/>
                </a:cubicBezTo>
                <a:cubicBezTo>
                  <a:pt x="0" y="-30"/>
                  <a:pt x="182" y="-30"/>
                  <a:pt x="182" y="91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7090200" y="1811520"/>
            <a:ext cx="65520" cy="65520"/>
          </a:xfrm>
          <a:custGeom>
            <a:avLst/>
            <a:gdLst/>
            <a:ahLst/>
            <a:rect l="0" t="0" r="r" b="b"/>
            <a:pathLst>
              <a:path w="182" h="182">
                <a:moveTo>
                  <a:pt x="0" y="91"/>
                </a:moveTo>
                <a:cubicBezTo>
                  <a:pt x="0" y="-30"/>
                  <a:pt x="182" y="-30"/>
                  <a:pt x="182" y="91"/>
                </a:cubicBezTo>
                <a:cubicBezTo>
                  <a:pt x="182" y="212"/>
                  <a:pt x="0" y="212"/>
                  <a:pt x="0" y="91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090200" y="1811520"/>
            <a:ext cx="65520" cy="65520"/>
          </a:xfrm>
          <a:custGeom>
            <a:avLst/>
            <a:gdLst/>
            <a:ahLst/>
            <a:rect l="0" t="0" r="r" b="b"/>
            <a:pathLst>
              <a:path fill="none" w="182" h="182">
                <a:moveTo>
                  <a:pt x="182" y="91"/>
                </a:moveTo>
                <a:cubicBezTo>
                  <a:pt x="182" y="212"/>
                  <a:pt x="0" y="212"/>
                  <a:pt x="0" y="91"/>
                </a:cubicBezTo>
                <a:cubicBezTo>
                  <a:pt x="0" y="-30"/>
                  <a:pt x="182" y="-30"/>
                  <a:pt x="182" y="91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7106400" y="1146240"/>
            <a:ext cx="65520" cy="65520"/>
          </a:xfrm>
          <a:custGeom>
            <a:avLst/>
            <a:gdLst/>
            <a:ahLst/>
            <a:rect l="0" t="0" r="r" b="b"/>
            <a:pathLst>
              <a:path w="182" h="182">
                <a:moveTo>
                  <a:pt x="0" y="90"/>
                </a:moveTo>
                <a:cubicBezTo>
                  <a:pt x="0" y="-30"/>
                  <a:pt x="182" y="-30"/>
                  <a:pt x="182" y="90"/>
                </a:cubicBezTo>
                <a:cubicBezTo>
                  <a:pt x="182" y="212"/>
                  <a:pt x="0" y="212"/>
                  <a:pt x="0" y="90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7106400" y="1146240"/>
            <a:ext cx="65520" cy="65520"/>
          </a:xfrm>
          <a:custGeom>
            <a:avLst/>
            <a:gdLst/>
            <a:ahLst/>
            <a:rect l="0" t="0" r="r" b="b"/>
            <a:pathLst>
              <a:path fill="none" w="182" h="182">
                <a:moveTo>
                  <a:pt x="182" y="90"/>
                </a:moveTo>
                <a:cubicBezTo>
                  <a:pt x="182" y="212"/>
                  <a:pt x="0" y="212"/>
                  <a:pt x="0" y="90"/>
                </a:cubicBezTo>
                <a:cubicBezTo>
                  <a:pt x="0" y="-30"/>
                  <a:pt x="182" y="-30"/>
                  <a:pt x="182" y="90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50120" y="1184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6685920" y="2370240"/>
            <a:ext cx="16992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1.36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7034040" y="1704600"/>
            <a:ext cx="16992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1.51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8053200" y="779400"/>
            <a:ext cx="2190240" cy="2129760"/>
          </a:xfrm>
          <a:custGeom>
            <a:avLst/>
            <a:gdLst/>
            <a:ahLst/>
            <a:rect l="0" t="0" r="r" b="b"/>
            <a:pathLst>
              <a:path w="6084" h="5916">
                <a:moveTo>
                  <a:pt x="0" y="0"/>
                </a:moveTo>
                <a:lnTo>
                  <a:pt x="6084" y="0"/>
                </a:lnTo>
                <a:lnTo>
                  <a:pt x="6084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 flipV="1">
            <a:off x="8152560" y="812520"/>
            <a:ext cx="0" cy="209628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418240" y="2509560"/>
            <a:ext cx="955440" cy="0"/>
          </a:xfrm>
          <a:prstGeom prst="line">
            <a:avLst/>
          </a:prstGeom>
          <a:ln w="1620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8225280" y="1844280"/>
            <a:ext cx="1292760" cy="0"/>
          </a:xfrm>
          <a:prstGeom prst="line">
            <a:avLst/>
          </a:prstGeom>
          <a:ln w="1620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8466840" y="1178640"/>
            <a:ext cx="1126800" cy="0"/>
          </a:xfrm>
          <a:prstGeom prst="line">
            <a:avLst/>
          </a:prstGeom>
          <a:ln w="1620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8826840" y="2477160"/>
            <a:ext cx="65520" cy="65520"/>
          </a:xfrm>
          <a:custGeom>
            <a:avLst/>
            <a:gdLst/>
            <a:ahLst/>
            <a:rect l="0" t="0" r="r" b="b"/>
            <a:pathLst>
              <a:path w="182" h="182">
                <a:moveTo>
                  <a:pt x="0" y="91"/>
                </a:moveTo>
                <a:cubicBezTo>
                  <a:pt x="0" y="-30"/>
                  <a:pt x="182" y="-30"/>
                  <a:pt x="182" y="91"/>
                </a:cubicBezTo>
                <a:cubicBezTo>
                  <a:pt x="182" y="212"/>
                  <a:pt x="0" y="212"/>
                  <a:pt x="0" y="91"/>
                </a:cubicBezTo>
                <a:close/>
              </a:path>
            </a:pathLst>
          </a:custGeom>
          <a:solidFill>
            <a:srgbClr val="009E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8826840" y="2477160"/>
            <a:ext cx="65520" cy="65520"/>
          </a:xfrm>
          <a:custGeom>
            <a:avLst/>
            <a:gdLst/>
            <a:ahLst/>
            <a:rect l="0" t="0" r="r" b="b"/>
            <a:pathLst>
              <a:path fill="none" w="182" h="182">
                <a:moveTo>
                  <a:pt x="182" y="91"/>
                </a:moveTo>
                <a:cubicBezTo>
                  <a:pt x="182" y="212"/>
                  <a:pt x="0" y="212"/>
                  <a:pt x="0" y="91"/>
                </a:cubicBezTo>
                <a:cubicBezTo>
                  <a:pt x="0" y="-30"/>
                  <a:pt x="182" y="-30"/>
                  <a:pt x="182" y="91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8771760" y="1811520"/>
            <a:ext cx="65160" cy="65520"/>
          </a:xfrm>
          <a:custGeom>
            <a:avLst/>
            <a:gdLst/>
            <a:ahLst/>
            <a:rect l="0" t="0" r="r" b="b"/>
            <a:pathLst>
              <a:path w="181" h="182">
                <a:moveTo>
                  <a:pt x="0" y="91"/>
                </a:moveTo>
                <a:cubicBezTo>
                  <a:pt x="0" y="-30"/>
                  <a:pt x="181" y="-30"/>
                  <a:pt x="181" y="91"/>
                </a:cubicBezTo>
                <a:cubicBezTo>
                  <a:pt x="181" y="212"/>
                  <a:pt x="0" y="212"/>
                  <a:pt x="0" y="91"/>
                </a:cubicBezTo>
                <a:close/>
              </a:path>
            </a:pathLst>
          </a:custGeom>
          <a:solidFill>
            <a:srgbClr val="E69F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8771760" y="1811520"/>
            <a:ext cx="65160" cy="65520"/>
          </a:xfrm>
          <a:custGeom>
            <a:avLst/>
            <a:gdLst/>
            <a:ahLst/>
            <a:rect l="0" t="0" r="r" b="b"/>
            <a:pathLst>
              <a:path fill="none" w="181" h="182">
                <a:moveTo>
                  <a:pt x="181" y="91"/>
                </a:moveTo>
                <a:cubicBezTo>
                  <a:pt x="181" y="212"/>
                  <a:pt x="0" y="212"/>
                  <a:pt x="0" y="91"/>
                </a:cubicBezTo>
                <a:cubicBezTo>
                  <a:pt x="0" y="-30"/>
                  <a:pt x="181" y="-30"/>
                  <a:pt x="181" y="91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8948880" y="1146240"/>
            <a:ext cx="65520" cy="65520"/>
          </a:xfrm>
          <a:custGeom>
            <a:avLst/>
            <a:gdLst/>
            <a:ahLst/>
            <a:rect l="0" t="0" r="r" b="b"/>
            <a:pathLst>
              <a:path w="182" h="182">
                <a:moveTo>
                  <a:pt x="0" y="90"/>
                </a:moveTo>
                <a:cubicBezTo>
                  <a:pt x="0" y="-30"/>
                  <a:pt x="182" y="-30"/>
                  <a:pt x="182" y="90"/>
                </a:cubicBezTo>
                <a:cubicBezTo>
                  <a:pt x="182" y="212"/>
                  <a:pt x="0" y="212"/>
                  <a:pt x="0" y="90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948880" y="1146240"/>
            <a:ext cx="65520" cy="65520"/>
          </a:xfrm>
          <a:custGeom>
            <a:avLst/>
            <a:gdLst/>
            <a:ahLst/>
            <a:rect l="0" t="0" r="r" b="b"/>
            <a:pathLst>
              <a:path fill="none" w="182" h="182">
                <a:moveTo>
                  <a:pt x="182" y="90"/>
                </a:moveTo>
                <a:cubicBezTo>
                  <a:pt x="182" y="212"/>
                  <a:pt x="0" y="212"/>
                  <a:pt x="0" y="90"/>
                </a:cubicBezTo>
                <a:cubicBezTo>
                  <a:pt x="0" y="-30"/>
                  <a:pt x="182" y="-30"/>
                  <a:pt x="182" y="90"/>
                </a:cubicBezTo>
              </a:path>
            </a:pathLst>
          </a:custGeom>
          <a:ln cap="rnd" w="7920">
            <a:solidFill>
              <a:srgbClr val="0072B2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050240" y="1039320"/>
            <a:ext cx="16992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1.51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8770680" y="2370240"/>
            <a:ext cx="16992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1.29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8715600" y="1704600"/>
            <a:ext cx="16992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1.27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8892720" y="1039320"/>
            <a:ext cx="16992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1.34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850720" y="608400"/>
            <a:ext cx="13503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Accumulated warming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5799960" y="2908800"/>
            <a:ext cx="21898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 flipV="1">
            <a:off x="589932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 flipV="1">
            <a:off x="638172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 flipV="1">
            <a:off x="686376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 flipV="1">
            <a:off x="734616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 flipV="1">
            <a:off x="782820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8103960" y="608400"/>
            <a:ext cx="7808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Survey effort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83596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31836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80040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28280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8053200" y="2908800"/>
            <a:ext cx="218988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 flipV="1">
            <a:off x="815256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 flipV="1">
            <a:off x="863496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 flipV="1">
            <a:off x="911700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 flipV="1">
            <a:off x="959940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 flipV="1">
            <a:off x="10081440" y="290880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776484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808920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857160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905364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953604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 flipV="1">
            <a:off x="5799960" y="779400"/>
            <a:ext cx="0" cy="21294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10018080" y="29534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5362200" y="2459160"/>
            <a:ext cx="403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Resident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463720" y="1793520"/>
            <a:ext cx="290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Partial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5768280" y="25095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5768280" y="18442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5768280" y="11786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146200" y="1128240"/>
            <a:ext cx="642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Long-distance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113600" y="3278880"/>
            <a:ext cx="175824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Hazard ratio per 1 SD (95% CI)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799960" y="335880"/>
            <a:ext cx="38620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Conﬁdence intervals overlap heavily; no group is exempt from either driver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5799960" y="132840"/>
            <a:ext cx="275904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Both drivers act in every migratory group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69480" y="3494160"/>
            <a:ext cx="4975560" cy="3383280"/>
          </a:xfrm>
          <a:custGeom>
            <a:avLst/>
            <a:gdLst/>
            <a:ahLst/>
            <a:rect l="0" t="0" r="r" b="b"/>
            <a:pathLst>
              <a:path w="13821" h="9398">
                <a:moveTo>
                  <a:pt x="0" y="0"/>
                </a:moveTo>
                <a:lnTo>
                  <a:pt x="13821" y="0"/>
                </a:lnTo>
                <a:lnTo>
                  <a:pt x="13821" y="9398"/>
                </a:lnTo>
                <a:lnTo>
                  <a:pt x="0" y="93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5044680" y="3494160"/>
            <a:ext cx="5299920" cy="3383280"/>
          </a:xfrm>
          <a:custGeom>
            <a:avLst/>
            <a:gdLst/>
            <a:ahLst/>
            <a:rect l="0" t="0" r="r" b="b"/>
            <a:pathLst>
              <a:path w="14722" h="9398">
                <a:moveTo>
                  <a:pt x="0" y="0"/>
                </a:moveTo>
                <a:lnTo>
                  <a:pt x="14722" y="0"/>
                </a:lnTo>
                <a:lnTo>
                  <a:pt x="14722" y="9398"/>
                </a:lnTo>
                <a:lnTo>
                  <a:pt x="0" y="93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cap="rnd" w="12240">
            <a:solidFill>
              <a:srgbClr val="FFFFFF"/>
            </a:solidFill>
            <a:round/>
          </a:ln>
        </p:spPr>
        <p:txBody>
          <a:bodyPr lIns="6120" tIns="6120" rIns="6120" bIns="61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500400" y="4341960"/>
            <a:ext cx="4443480" cy="2129760"/>
          </a:xfrm>
          <a:custGeom>
            <a:avLst/>
            <a:gdLst/>
            <a:ahLst/>
            <a:rect l="0" t="0" r="r" b="b"/>
            <a:pathLst>
              <a:path w="12343" h="5916">
                <a:moveTo>
                  <a:pt x="0" y="0"/>
                </a:moveTo>
                <a:lnTo>
                  <a:pt x="12343" y="0"/>
                </a:lnTo>
                <a:lnTo>
                  <a:pt x="12343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500400" y="5941440"/>
            <a:ext cx="4443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500400" y="5411880"/>
            <a:ext cx="4443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500400" y="4881960"/>
            <a:ext cx="4443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00400" y="4352040"/>
            <a:ext cx="4443120" cy="0"/>
          </a:xfrm>
          <a:prstGeom prst="line">
            <a:avLst/>
          </a:prstGeom>
          <a:ln w="6480">
            <a:solidFill>
              <a:srgbClr val="EBEB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40" tIns="-3240" rIns="3240" bIns="-324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708480" y="4829040"/>
            <a:ext cx="444600" cy="1642680"/>
          </a:xfrm>
          <a:custGeom>
            <a:avLst/>
            <a:gdLst/>
            <a:ahLst/>
            <a:rect l="0" t="0" r="r" b="b"/>
            <a:pathLst>
              <a:path w="1235" h="4563">
                <a:moveTo>
                  <a:pt x="0" y="0"/>
                </a:moveTo>
                <a:lnTo>
                  <a:pt x="1235" y="0"/>
                </a:lnTo>
                <a:lnTo>
                  <a:pt x="1235" y="4563"/>
                </a:lnTo>
                <a:lnTo>
                  <a:pt x="0" y="4563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2141640" y="5605200"/>
            <a:ext cx="444600" cy="866520"/>
          </a:xfrm>
          <a:custGeom>
            <a:avLst/>
            <a:gdLst/>
            <a:ahLst/>
            <a:rect l="0" t="0" r="r" b="b"/>
            <a:pathLst>
              <a:path w="1235" h="2407">
                <a:moveTo>
                  <a:pt x="0" y="0"/>
                </a:moveTo>
                <a:lnTo>
                  <a:pt x="1235" y="0"/>
                </a:lnTo>
                <a:lnTo>
                  <a:pt x="1235" y="2407"/>
                </a:lnTo>
                <a:lnTo>
                  <a:pt x="0" y="2407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2858040" y="5496480"/>
            <a:ext cx="444960" cy="975240"/>
          </a:xfrm>
          <a:custGeom>
            <a:avLst/>
            <a:gdLst/>
            <a:ahLst/>
            <a:rect l="0" t="0" r="r" b="b"/>
            <a:pathLst>
              <a:path w="1236" h="2709">
                <a:moveTo>
                  <a:pt x="0" y="0"/>
                </a:moveTo>
                <a:lnTo>
                  <a:pt x="1236" y="0"/>
                </a:lnTo>
                <a:lnTo>
                  <a:pt x="1236" y="2709"/>
                </a:lnTo>
                <a:lnTo>
                  <a:pt x="0" y="2709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3574800" y="4635720"/>
            <a:ext cx="444600" cy="1836000"/>
          </a:xfrm>
          <a:custGeom>
            <a:avLst/>
            <a:gdLst/>
            <a:ahLst/>
            <a:rect l="0" t="0" r="r" b="b"/>
            <a:pathLst>
              <a:path w="1235" h="5100">
                <a:moveTo>
                  <a:pt x="0" y="0"/>
                </a:moveTo>
                <a:lnTo>
                  <a:pt x="1235" y="0"/>
                </a:lnTo>
                <a:lnTo>
                  <a:pt x="1235" y="5100"/>
                </a:lnTo>
                <a:lnTo>
                  <a:pt x="0" y="5100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4291560" y="5348160"/>
            <a:ext cx="444600" cy="1123560"/>
          </a:xfrm>
          <a:custGeom>
            <a:avLst/>
            <a:gdLst/>
            <a:ahLst/>
            <a:rect l="0" t="0" r="r" b="b"/>
            <a:pathLst>
              <a:path w="1235" h="3121">
                <a:moveTo>
                  <a:pt x="0" y="0"/>
                </a:moveTo>
                <a:lnTo>
                  <a:pt x="1235" y="0"/>
                </a:lnTo>
                <a:lnTo>
                  <a:pt x="1235" y="3121"/>
                </a:lnTo>
                <a:lnTo>
                  <a:pt x="0" y="3121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121000" y="11844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b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867240" y="4722480"/>
            <a:ext cx="132120" cy="9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4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6.2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583640" y="6364800"/>
            <a:ext cx="132120" cy="9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4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0.0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2300400" y="5498640"/>
            <a:ext cx="132120" cy="9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4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3.3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3017160" y="5389920"/>
            <a:ext cx="132120" cy="9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4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3.7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3733560" y="4529160"/>
            <a:ext cx="132120" cy="9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4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6.9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4450320" y="5241600"/>
            <a:ext cx="132120" cy="9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4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4.2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198880" y="6268320"/>
            <a:ext cx="31536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D55E00"/>
                </a:solidFill>
                <a:effectLst/>
                <a:uFillTx/>
                <a:latin typeface="Arial"/>
                <a:ea typeface="Arial"/>
              </a:rPr>
              <a:t>P = 0.69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2915280" y="6268320"/>
            <a:ext cx="31536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D55E00"/>
                </a:solidFill>
                <a:effectLst/>
                <a:uFillTx/>
                <a:latin typeface="Arial"/>
                <a:ea typeface="Arial"/>
              </a:rPr>
              <a:t>P = 0.85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3632040" y="6268320"/>
            <a:ext cx="31536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D55E00"/>
                </a:solidFill>
                <a:effectLst/>
                <a:uFillTx/>
                <a:latin typeface="Arial"/>
                <a:ea typeface="Arial"/>
              </a:rPr>
              <a:t>P = 0.90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 flipV="1">
            <a:off x="500400" y="4341960"/>
            <a:ext cx="0" cy="21294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4348800" y="6268320"/>
            <a:ext cx="315360" cy="84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50" b="0" u="none" strike="noStrike">
                <a:solidFill>
                  <a:srgbClr val="D55E00"/>
                </a:solidFill>
                <a:effectLst/>
                <a:uFillTx/>
                <a:latin typeface="Arial"/>
                <a:ea typeface="Arial"/>
              </a:rPr>
              <a:t>P = 0.26</a:t>
            </a:r>
            <a:endParaRPr lang="en-US" sz="6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393120" y="64206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393120" y="58910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393120" y="536112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393120" y="483120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468720" y="64713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468720" y="59414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468720" y="54118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468720" y="488196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468720" y="435204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500400" y="6471360"/>
            <a:ext cx="44431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 flipV="1">
            <a:off x="93060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 flipV="1">
            <a:off x="164700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 flipV="1">
            <a:off x="236376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 flipV="1">
            <a:off x="308052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 flipV="1">
            <a:off x="379692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 flipV="1">
            <a:off x="451368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393120" y="4301640"/>
            <a:ext cx="101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86076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M0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7752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M1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29392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M2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01068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M3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72744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M4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44384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M5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 rot="16200000">
            <a:off x="-36720" y="5345280"/>
            <a:ext cx="5421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Delta AIC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00760" y="3760560"/>
            <a:ext cx="50126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M0 main model | M1 + migratory main effect | M2 + warming x migratory | M3 + effort x migratory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00760" y="3886920"/>
            <a:ext cx="473364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M4 + both | M5 + three-way warming x effort x migratory. Red: likelihood-ratio P against M1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500760" y="3557520"/>
            <a:ext cx="351432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Migratory strategy shifts the baseline, not the slopes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5799960" y="4341960"/>
            <a:ext cx="4443480" cy="2129760"/>
          </a:xfrm>
          <a:custGeom>
            <a:avLst/>
            <a:gdLst/>
            <a:ahLst/>
            <a:rect l="0" t="0" r="r" b="b"/>
            <a:pathLst>
              <a:path w="12343" h="5916">
                <a:moveTo>
                  <a:pt x="0" y="0"/>
                </a:moveTo>
                <a:lnTo>
                  <a:pt x="12343" y="0"/>
                </a:lnTo>
                <a:lnTo>
                  <a:pt x="12343" y="5916"/>
                </a:lnTo>
                <a:lnTo>
                  <a:pt x="0" y="591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 flipV="1">
            <a:off x="8271360" y="4368600"/>
            <a:ext cx="0" cy="2102760"/>
          </a:xfrm>
          <a:prstGeom prst="line">
            <a:avLst/>
          </a:prstGeom>
          <a:ln w="9360">
            <a:solidFill>
              <a:srgbClr val="8C8C8C"/>
            </a:solidFill>
            <a:custDash>
              <a:ds d="403846" sp="403846"/>
            </a:custDash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6920280" y="6072120"/>
            <a:ext cx="2206080" cy="0"/>
          </a:xfrm>
          <a:prstGeom prst="line">
            <a:avLst/>
          </a:prstGeom>
          <a:ln w="16200">
            <a:solidFill>
              <a:srgbClr val="009E7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7410240" y="5406480"/>
            <a:ext cx="2630880" cy="0"/>
          </a:xfrm>
          <a:prstGeom prst="line">
            <a:avLst/>
          </a:prstGeom>
          <a:ln w="16200">
            <a:solidFill>
              <a:srgbClr val="E69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6001920" y="4741200"/>
            <a:ext cx="1677960" cy="0"/>
          </a:xfrm>
          <a:prstGeom prst="line">
            <a:avLst/>
          </a:prstGeom>
          <a:ln w="16200">
            <a:solidFill>
              <a:srgbClr val="0072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920" tIns="-7920" rIns="7920" bIns="-79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7882920" y="6036840"/>
            <a:ext cx="70920" cy="70920"/>
          </a:xfrm>
          <a:custGeom>
            <a:avLst/>
            <a:gdLst/>
            <a:ahLst/>
            <a:rect l="0" t="0" r="r" b="b"/>
            <a:pathLst>
              <a:path fill="none" w="197" h="197">
                <a:moveTo>
                  <a:pt x="197" y="98"/>
                </a:moveTo>
                <a:cubicBezTo>
                  <a:pt x="197" y="229"/>
                  <a:pt x="0" y="229"/>
                  <a:pt x="0" y="98"/>
                </a:cubicBezTo>
                <a:cubicBezTo>
                  <a:pt x="0" y="-33"/>
                  <a:pt x="197" y="-33"/>
                  <a:pt x="197" y="98"/>
                </a:cubicBezTo>
              </a:path>
            </a:pathLst>
          </a:custGeom>
          <a:ln cap="rnd" w="7920">
            <a:solidFill>
              <a:srgbClr val="009E73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8556840" y="5371200"/>
            <a:ext cx="70920" cy="70920"/>
          </a:xfrm>
          <a:custGeom>
            <a:avLst/>
            <a:gdLst/>
            <a:ahLst/>
            <a:rect l="0" t="0" r="r" b="b"/>
            <a:pathLst>
              <a:path fill="none" w="197" h="197">
                <a:moveTo>
                  <a:pt x="197" y="98"/>
                </a:moveTo>
                <a:cubicBezTo>
                  <a:pt x="197" y="230"/>
                  <a:pt x="0" y="230"/>
                  <a:pt x="0" y="98"/>
                </a:cubicBezTo>
                <a:cubicBezTo>
                  <a:pt x="0" y="-33"/>
                  <a:pt x="197" y="-33"/>
                  <a:pt x="197" y="98"/>
                </a:cubicBezTo>
              </a:path>
            </a:pathLst>
          </a:custGeom>
          <a:ln cap="rnd" w="7920">
            <a:solidFill>
              <a:srgbClr val="E69F00"/>
            </a:solidFill>
            <a:round/>
          </a:ln>
        </p:spPr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6729480" y="4705920"/>
            <a:ext cx="70920" cy="70920"/>
          </a:xfrm>
          <a:custGeom>
            <a:avLst/>
            <a:gdLst/>
            <a:ahLst/>
            <a:rect l="0" t="0" r="r" b="b"/>
            <a:pathLst>
              <a:path w="197" h="197">
                <a:moveTo>
                  <a:pt x="0" y="99"/>
                </a:moveTo>
                <a:cubicBezTo>
                  <a:pt x="0" y="-33"/>
                  <a:pt x="197" y="-33"/>
                  <a:pt x="197" y="99"/>
                </a:cubicBezTo>
                <a:cubicBezTo>
                  <a:pt x="197" y="229"/>
                  <a:pt x="0" y="229"/>
                  <a:pt x="0" y="99"/>
                </a:cubicBezTo>
                <a:close/>
              </a:path>
            </a:pathLst>
          </a:custGeom>
          <a:solidFill>
            <a:srgbClr val="0072B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50120" y="354240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7601040" y="5932440"/>
            <a:ext cx="62604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0.94 (P = 0.540)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8274960" y="5267160"/>
            <a:ext cx="62604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1.05 (P = 0.622)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 flipV="1">
            <a:off x="5799960" y="4341960"/>
            <a:ext cx="0" cy="212940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6447600" y="4601520"/>
            <a:ext cx="626040" cy="8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90" b="0" u="none" strike="noStrike">
                <a:solidFill>
                  <a:srgbClr val="333333"/>
                </a:solidFill>
                <a:effectLst/>
                <a:uFillTx/>
                <a:latin typeface="Arial"/>
                <a:ea typeface="Arial"/>
              </a:rPr>
              <a:t>0.75 (P = 0.002)</a:t>
            </a:r>
            <a:endParaRPr lang="en-US" sz="69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362200" y="6021360"/>
            <a:ext cx="403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Resident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463720" y="5356080"/>
            <a:ext cx="2901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Partial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5768280" y="607212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5768280" y="540648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5768280" y="4741200"/>
            <a:ext cx="31680" cy="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-3960" rIns="3960" bIns="-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5799960" y="6471360"/>
            <a:ext cx="4443120" cy="0"/>
          </a:xfrm>
          <a:prstGeom prst="line">
            <a:avLst/>
          </a:prstGeom>
          <a:ln cap="sq" w="936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4680" tIns="-4680" rIns="4680" bIns="-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 flipV="1">
            <a:off x="583128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 flipV="1">
            <a:off x="705132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 flipV="1">
            <a:off x="827136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 flipV="1">
            <a:off x="9491760" y="6471360"/>
            <a:ext cx="0" cy="31680"/>
          </a:xfrm>
          <a:prstGeom prst="line">
            <a:avLst/>
          </a:prstGeom>
          <a:ln w="792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960" tIns="3960" rIns="3960" bIns="396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5146200" y="4690440"/>
            <a:ext cx="64224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Long-distance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76792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698796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0.8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820800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9428400" y="6515640"/>
            <a:ext cx="142560" cy="102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00" b="0" u="none" strike="noStrike">
                <a:solidFill>
                  <a:srgbClr val="262626"/>
                </a:solidFill>
                <a:effectLst/>
                <a:uFillTx/>
                <a:latin typeface="Arial"/>
                <a:ea typeface="Arial"/>
              </a:rPr>
              <a:t>1.2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910560" y="6661800"/>
            <a:ext cx="2165760" cy="1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00" b="0" u="none" strike="noStrike">
                <a:solidFill>
                  <a:srgbClr val="0D0D0D"/>
                </a:solidFill>
                <a:effectLst/>
                <a:uFillTx/>
                <a:latin typeface="Arial"/>
                <a:ea typeface="Arial"/>
              </a:rPr>
              <a:t>Warming x effort hazard ratio (95% CI)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5799960" y="3760560"/>
            <a:ext cx="336636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The interaction is signiﬁcant only among long-distance migrants, 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799960" y="3886920"/>
            <a:ext cx="3474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but the formal test for heterogeneity is not (three-way LR P = 0.26; 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799960" y="4012920"/>
            <a:ext cx="37026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long-distance vs resident contrast P = 0.078). With 156-218 events per 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5799960" y="4139280"/>
            <a:ext cx="350388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4D4D4D"/>
                </a:solidFill>
                <a:effectLst/>
                <a:uFillTx/>
                <a:latin typeface="Arial"/>
                <a:ea typeface="Arial"/>
              </a:rPr>
              <a:t>group the design cannot resolve group differences in an interaction.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799960" y="3557520"/>
            <a:ext cx="1231560" cy="140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hint, not a result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121000" y="3542400"/>
            <a:ext cx="16488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/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Chenchen Ding</dc:creator>
  <dc:description/>
  <dc:language>zh-CN</dc:language>
  <cp:lastModifiedBy>Chenchen Ding</cp:lastModifiedBy>
  <cp:revision>0</cp:revision>
  <dc:subject/>
  <dc:title>Fig8_migratory_strategy_v2</dc:title>
</cp:coreProperties>
</file>