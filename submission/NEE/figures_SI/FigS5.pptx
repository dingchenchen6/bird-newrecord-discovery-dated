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414000" cy="69469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20560" y="262800"/>
            <a:ext cx="9371880" cy="109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20560" y="1541160"/>
            <a:ext cx="9371880" cy="381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0414080" cy="6946920"/>
          </a:xfrm>
          <a:custGeom>
            <a:avLst/>
            <a:gdLst/>
            <a:ahLst/>
            <a:rect l="0" t="0" r="r" b="b"/>
            <a:pathLst>
              <a:path w="28928" h="19297">
                <a:moveTo>
                  <a:pt x="0" y="0"/>
                </a:moveTo>
                <a:lnTo>
                  <a:pt x="28928" y="0"/>
                </a:lnTo>
                <a:lnTo>
                  <a:pt x="28928" y="19297"/>
                </a:lnTo>
                <a:lnTo>
                  <a:pt x="0" y="19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0414080" cy="6946920"/>
          </a:xfrm>
          <a:custGeom>
            <a:avLst/>
            <a:gdLst/>
            <a:ahLst/>
            <a:rect l="0" t="0" r="r" b="b"/>
            <a:pathLst>
              <a:path w="28928" h="19297">
                <a:moveTo>
                  <a:pt x="0" y="0"/>
                </a:moveTo>
                <a:lnTo>
                  <a:pt x="28928" y="0"/>
                </a:lnTo>
                <a:lnTo>
                  <a:pt x="28928" y="19297"/>
                </a:lnTo>
                <a:lnTo>
                  <a:pt x="0" y="19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69480"/>
            <a:ext cx="4975560" cy="3425040"/>
          </a:xfrm>
          <a:custGeom>
            <a:avLst/>
            <a:gdLst/>
            <a:ahLst/>
            <a:rect l="0" t="0" r="r" b="b"/>
            <a:pathLst>
              <a:path w="13821" h="9514">
                <a:moveTo>
                  <a:pt x="0" y="0"/>
                </a:moveTo>
                <a:lnTo>
                  <a:pt x="13821" y="0"/>
                </a:lnTo>
                <a:lnTo>
                  <a:pt x="13821" y="9514"/>
                </a:lnTo>
                <a:lnTo>
                  <a:pt x="0" y="95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5044680" y="69480"/>
            <a:ext cx="5299920" cy="3425040"/>
          </a:xfrm>
          <a:custGeom>
            <a:avLst/>
            <a:gdLst/>
            <a:ahLst/>
            <a:rect l="0" t="0" r="r" b="b"/>
            <a:pathLst>
              <a:path w="14722" h="9514">
                <a:moveTo>
                  <a:pt x="0" y="0"/>
                </a:moveTo>
                <a:lnTo>
                  <a:pt x="14722" y="0"/>
                </a:lnTo>
                <a:lnTo>
                  <a:pt x="14722" y="9514"/>
                </a:lnTo>
                <a:lnTo>
                  <a:pt x="0" y="95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500400" y="779400"/>
            <a:ext cx="1299600" cy="2129760"/>
          </a:xfrm>
          <a:custGeom>
            <a:avLst/>
            <a:gdLst/>
            <a:ahLst/>
            <a:rect l="0" t="0" r="r" b="b"/>
            <a:pathLst>
              <a:path w="3610" h="5916">
                <a:moveTo>
                  <a:pt x="0" y="0"/>
                </a:moveTo>
                <a:lnTo>
                  <a:pt x="3610" y="0"/>
                </a:lnTo>
                <a:lnTo>
                  <a:pt x="3610" y="5916"/>
                </a:lnTo>
                <a:lnTo>
                  <a:pt x="0" y="59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500400" y="2354040"/>
            <a:ext cx="1299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500400" y="1799280"/>
            <a:ext cx="1299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500400" y="1244520"/>
            <a:ext cx="1299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618120" y="1073160"/>
            <a:ext cx="252360" cy="1836000"/>
          </a:xfrm>
          <a:custGeom>
            <a:avLst/>
            <a:gdLst/>
            <a:ahLst/>
            <a:rect l="0" t="0" r="r" b="b"/>
            <a:pathLst>
              <a:path w="701" h="5100">
                <a:moveTo>
                  <a:pt x="0" y="0"/>
                </a:moveTo>
                <a:lnTo>
                  <a:pt x="701" y="0"/>
                </a:lnTo>
                <a:lnTo>
                  <a:pt x="701" y="5100"/>
                </a:lnTo>
                <a:lnTo>
                  <a:pt x="0" y="5100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1024200" y="1873440"/>
            <a:ext cx="252000" cy="1035720"/>
          </a:xfrm>
          <a:custGeom>
            <a:avLst/>
            <a:gdLst/>
            <a:ahLst/>
            <a:rect l="0" t="0" r="r" b="b"/>
            <a:pathLst>
              <a:path w="700" h="2877">
                <a:moveTo>
                  <a:pt x="0" y="0"/>
                </a:moveTo>
                <a:lnTo>
                  <a:pt x="700" y="0"/>
                </a:lnTo>
                <a:lnTo>
                  <a:pt x="700" y="2877"/>
                </a:lnTo>
                <a:lnTo>
                  <a:pt x="0" y="2877"/>
                </a:lnTo>
                <a:lnTo>
                  <a:pt x="0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1430280" y="1258200"/>
            <a:ext cx="252000" cy="1650960"/>
          </a:xfrm>
          <a:custGeom>
            <a:avLst/>
            <a:gdLst/>
            <a:ahLst/>
            <a:rect l="0" t="0" r="r" b="b"/>
            <a:pathLst>
              <a:path w="700" h="4586">
                <a:moveTo>
                  <a:pt x="0" y="0"/>
                </a:moveTo>
                <a:lnTo>
                  <a:pt x="700" y="0"/>
                </a:lnTo>
                <a:lnTo>
                  <a:pt x="700" y="4586"/>
                </a:lnTo>
                <a:lnTo>
                  <a:pt x="0" y="4586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668160" y="970560"/>
            <a:ext cx="14580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66k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074240" y="1770840"/>
            <a:ext cx="14580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37k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2072520" y="779400"/>
            <a:ext cx="1299600" cy="2129760"/>
          </a:xfrm>
          <a:custGeom>
            <a:avLst/>
            <a:gdLst/>
            <a:ahLst/>
            <a:rect l="0" t="0" r="r" b="b"/>
            <a:pathLst>
              <a:path w="3610" h="5916">
                <a:moveTo>
                  <a:pt x="0" y="0"/>
                </a:moveTo>
                <a:lnTo>
                  <a:pt x="3610" y="0"/>
                </a:lnTo>
                <a:lnTo>
                  <a:pt x="3610" y="5916"/>
                </a:lnTo>
                <a:lnTo>
                  <a:pt x="0" y="59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2072520" y="2487960"/>
            <a:ext cx="1299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2072520" y="2066760"/>
            <a:ext cx="1299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2072520" y="1645920"/>
            <a:ext cx="1299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072520" y="1224720"/>
            <a:ext cx="1299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2072520" y="803880"/>
            <a:ext cx="1299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190240" y="1073160"/>
            <a:ext cx="252000" cy="1836000"/>
          </a:xfrm>
          <a:custGeom>
            <a:avLst/>
            <a:gdLst/>
            <a:ahLst/>
            <a:rect l="0" t="0" r="r" b="b"/>
            <a:pathLst>
              <a:path w="700" h="5100">
                <a:moveTo>
                  <a:pt x="0" y="0"/>
                </a:moveTo>
                <a:lnTo>
                  <a:pt x="700" y="0"/>
                </a:lnTo>
                <a:lnTo>
                  <a:pt x="700" y="5100"/>
                </a:lnTo>
                <a:lnTo>
                  <a:pt x="0" y="5100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596320" y="1595160"/>
            <a:ext cx="252000" cy="1314000"/>
          </a:xfrm>
          <a:custGeom>
            <a:avLst/>
            <a:gdLst/>
            <a:ahLst/>
            <a:rect l="0" t="0" r="r" b="b"/>
            <a:pathLst>
              <a:path w="700" h="3650">
                <a:moveTo>
                  <a:pt x="0" y="0"/>
                </a:moveTo>
                <a:lnTo>
                  <a:pt x="700" y="0"/>
                </a:lnTo>
                <a:lnTo>
                  <a:pt x="700" y="3650"/>
                </a:lnTo>
                <a:lnTo>
                  <a:pt x="0" y="3650"/>
                </a:lnTo>
                <a:lnTo>
                  <a:pt x="0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3002400" y="1435320"/>
            <a:ext cx="252000" cy="1473840"/>
          </a:xfrm>
          <a:custGeom>
            <a:avLst/>
            <a:gdLst/>
            <a:ahLst/>
            <a:rect l="0" t="0" r="r" b="b"/>
            <a:pathLst>
              <a:path w="700" h="4094">
                <a:moveTo>
                  <a:pt x="0" y="0"/>
                </a:moveTo>
                <a:lnTo>
                  <a:pt x="700" y="0"/>
                </a:lnTo>
                <a:lnTo>
                  <a:pt x="700" y="4094"/>
                </a:lnTo>
                <a:lnTo>
                  <a:pt x="0" y="409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480320" y="1155600"/>
            <a:ext cx="14580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60k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2239920" y="970560"/>
            <a:ext cx="15084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218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2646000" y="1492560"/>
            <a:ext cx="15084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156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3644280" y="779400"/>
            <a:ext cx="1299600" cy="2129760"/>
          </a:xfrm>
          <a:custGeom>
            <a:avLst/>
            <a:gdLst/>
            <a:ahLst/>
            <a:rect l="0" t="0" r="r" b="b"/>
            <a:pathLst>
              <a:path w="3610" h="5916">
                <a:moveTo>
                  <a:pt x="0" y="0"/>
                </a:moveTo>
                <a:lnTo>
                  <a:pt x="3610" y="0"/>
                </a:lnTo>
                <a:lnTo>
                  <a:pt x="3610" y="5916"/>
                </a:lnTo>
                <a:lnTo>
                  <a:pt x="0" y="59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3644280" y="2372760"/>
            <a:ext cx="1299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3644280" y="1837080"/>
            <a:ext cx="1299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3644280" y="1301040"/>
            <a:ext cx="12992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3762000" y="1073160"/>
            <a:ext cx="252000" cy="1836000"/>
          </a:xfrm>
          <a:custGeom>
            <a:avLst/>
            <a:gdLst/>
            <a:ahLst/>
            <a:rect l="0" t="0" r="r" b="b"/>
            <a:pathLst>
              <a:path w="700" h="5100">
                <a:moveTo>
                  <a:pt x="0" y="0"/>
                </a:moveTo>
                <a:lnTo>
                  <a:pt x="700" y="0"/>
                </a:lnTo>
                <a:lnTo>
                  <a:pt x="700" y="5100"/>
                </a:lnTo>
                <a:lnTo>
                  <a:pt x="0" y="5100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4168080" y="1944000"/>
            <a:ext cx="252000" cy="965160"/>
          </a:xfrm>
          <a:custGeom>
            <a:avLst/>
            <a:gdLst/>
            <a:ahLst/>
            <a:rect l="0" t="0" r="r" b="b"/>
            <a:pathLst>
              <a:path w="700" h="2681">
                <a:moveTo>
                  <a:pt x="0" y="0"/>
                </a:moveTo>
                <a:lnTo>
                  <a:pt x="700" y="0"/>
                </a:lnTo>
                <a:lnTo>
                  <a:pt x="700" y="2681"/>
                </a:lnTo>
                <a:lnTo>
                  <a:pt x="0" y="2681"/>
                </a:lnTo>
                <a:lnTo>
                  <a:pt x="0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4574160" y="1475280"/>
            <a:ext cx="252000" cy="1433880"/>
          </a:xfrm>
          <a:custGeom>
            <a:avLst/>
            <a:gdLst/>
            <a:ahLst/>
            <a:rect l="0" t="0" r="r" b="b"/>
            <a:pathLst>
              <a:path w="700" h="3983">
                <a:moveTo>
                  <a:pt x="0" y="0"/>
                </a:moveTo>
                <a:lnTo>
                  <a:pt x="700" y="0"/>
                </a:lnTo>
                <a:lnTo>
                  <a:pt x="700" y="3983"/>
                </a:lnTo>
                <a:lnTo>
                  <a:pt x="0" y="3983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3052080" y="1332720"/>
            <a:ext cx="15084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175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3812040" y="970560"/>
            <a:ext cx="15084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137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4243320" y="1841400"/>
            <a:ext cx="10080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72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 flipV="1">
            <a:off x="3644280" y="779400"/>
            <a:ext cx="0" cy="212940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4623840" y="1372320"/>
            <a:ext cx="15084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107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536640" y="28584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3485880" y="232236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40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3485880" y="178632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80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3612600" y="29088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3612600" y="23727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3612600" y="18370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3612600" y="13010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 flipV="1">
            <a:off x="2072520" y="779400"/>
            <a:ext cx="0" cy="212940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3435120" y="1250280"/>
            <a:ext cx="171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964880" y="28584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914120" y="24372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863360" y="2016360"/>
            <a:ext cx="171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863360" y="1595160"/>
            <a:ext cx="171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150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863360" y="1174320"/>
            <a:ext cx="171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040840" y="29088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2040840" y="24879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2040840" y="20667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2040840" y="16459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2040840" y="12247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2040840" y="8038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863360" y="753120"/>
            <a:ext cx="171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250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51160" y="608400"/>
            <a:ext cx="12240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Risk-set rows (000s)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2123280" y="608400"/>
            <a:ext cx="4154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Events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500400" y="2908800"/>
            <a:ext cx="129924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 flipV="1">
            <a:off x="74412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 flipV="1">
            <a:off x="115020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 flipV="1">
            <a:off x="155628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3695040" y="608400"/>
            <a:ext cx="4788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Species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 rot="20520000">
            <a:off x="383760" y="3006720"/>
            <a:ext cx="403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Resident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 rot="20520000">
            <a:off x="889200" y="2992680"/>
            <a:ext cx="290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Partial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2072520" y="2908800"/>
            <a:ext cx="129924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 flipV="1">
            <a:off x="231588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 flipV="1">
            <a:off x="272196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 flipV="1">
            <a:off x="312804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 rot="20520000">
            <a:off x="984600" y="3036600"/>
            <a:ext cx="642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Long-distance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 rot="20520000">
            <a:off x="1955520" y="3006720"/>
            <a:ext cx="403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Resident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 rot="20520000">
            <a:off x="2461320" y="2992680"/>
            <a:ext cx="290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Partial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3644280" y="2908800"/>
            <a:ext cx="129924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 flipV="1">
            <a:off x="388800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 flipV="1">
            <a:off x="429408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 flipV="1">
            <a:off x="470016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 rot="20520000">
            <a:off x="2556720" y="3036600"/>
            <a:ext cx="642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Long-distance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 rot="20520000">
            <a:off x="3527640" y="3006720"/>
            <a:ext cx="403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Resident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 rot="20520000">
            <a:off x="4033080" y="2992680"/>
            <a:ext cx="290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Partial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 flipV="1">
            <a:off x="500400" y="779400"/>
            <a:ext cx="0" cy="212940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 rot="20520000">
            <a:off x="4128480" y="3036600"/>
            <a:ext cx="642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Long-distance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393120" y="28584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342000" y="230364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42000" y="174888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40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468720" y="29088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468720" y="23540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468720" y="17992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468720" y="12445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342000" y="119412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60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500760" y="335880"/>
            <a:ext cx="35362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Every group carries at least 156 events, so none is a token category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500760" y="132840"/>
            <a:ext cx="234576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Power comes from all three groups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5799960" y="779400"/>
            <a:ext cx="2190240" cy="2129760"/>
          </a:xfrm>
          <a:custGeom>
            <a:avLst/>
            <a:gdLst/>
            <a:ahLst/>
            <a:rect l="0" t="0" r="r" b="b"/>
            <a:pathLst>
              <a:path w="6084" h="5916">
                <a:moveTo>
                  <a:pt x="0" y="0"/>
                </a:moveTo>
                <a:lnTo>
                  <a:pt x="6084" y="0"/>
                </a:lnTo>
                <a:lnTo>
                  <a:pt x="6084" y="5916"/>
                </a:lnTo>
                <a:lnTo>
                  <a:pt x="0" y="59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 flipV="1">
            <a:off x="5899320" y="812520"/>
            <a:ext cx="0" cy="209628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6274440" y="2509560"/>
            <a:ext cx="1060560" cy="0"/>
          </a:xfrm>
          <a:prstGeom prst="line">
            <a:avLst/>
          </a:prstGeom>
          <a:ln w="1620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6478200" y="1844280"/>
            <a:ext cx="1411920" cy="0"/>
          </a:xfrm>
          <a:prstGeom prst="line">
            <a:avLst/>
          </a:prstGeom>
          <a:ln w="1620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6526800" y="1178640"/>
            <a:ext cx="1297440" cy="0"/>
          </a:xfrm>
          <a:prstGeom prst="line">
            <a:avLst/>
          </a:prstGeom>
          <a:ln w="1620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6729120" y="2477160"/>
            <a:ext cx="65520" cy="65520"/>
          </a:xfrm>
          <a:custGeom>
            <a:avLst/>
            <a:gdLst/>
            <a:ahLst/>
            <a:rect l="0" t="0" r="r" b="b"/>
            <a:pathLst>
              <a:path w="182" h="182">
                <a:moveTo>
                  <a:pt x="0" y="91"/>
                </a:moveTo>
                <a:cubicBezTo>
                  <a:pt x="0" y="-30"/>
                  <a:pt x="182" y="-30"/>
                  <a:pt x="182" y="91"/>
                </a:cubicBezTo>
                <a:cubicBezTo>
                  <a:pt x="182" y="212"/>
                  <a:pt x="0" y="212"/>
                  <a:pt x="0" y="91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6729120" y="2477160"/>
            <a:ext cx="65520" cy="65520"/>
          </a:xfrm>
          <a:custGeom>
            <a:avLst/>
            <a:gdLst/>
            <a:ahLst/>
            <a:rect l="0" t="0" r="r" b="b"/>
            <a:pathLst>
              <a:path fill="none" w="182" h="182">
                <a:moveTo>
                  <a:pt x="182" y="91"/>
                </a:moveTo>
                <a:cubicBezTo>
                  <a:pt x="182" y="212"/>
                  <a:pt x="0" y="212"/>
                  <a:pt x="0" y="91"/>
                </a:cubicBezTo>
                <a:cubicBezTo>
                  <a:pt x="0" y="-30"/>
                  <a:pt x="182" y="-30"/>
                  <a:pt x="182" y="91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7083000" y="1811520"/>
            <a:ext cx="65520" cy="65520"/>
          </a:xfrm>
          <a:custGeom>
            <a:avLst/>
            <a:gdLst/>
            <a:ahLst/>
            <a:rect l="0" t="0" r="r" b="b"/>
            <a:pathLst>
              <a:path w="182" h="182">
                <a:moveTo>
                  <a:pt x="0" y="91"/>
                </a:moveTo>
                <a:cubicBezTo>
                  <a:pt x="0" y="-30"/>
                  <a:pt x="182" y="-30"/>
                  <a:pt x="182" y="91"/>
                </a:cubicBezTo>
                <a:cubicBezTo>
                  <a:pt x="182" y="212"/>
                  <a:pt x="0" y="212"/>
                  <a:pt x="0" y="91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7083000" y="1811520"/>
            <a:ext cx="65520" cy="65520"/>
          </a:xfrm>
          <a:custGeom>
            <a:avLst/>
            <a:gdLst/>
            <a:ahLst/>
            <a:rect l="0" t="0" r="r" b="b"/>
            <a:pathLst>
              <a:path fill="none" w="182" h="182">
                <a:moveTo>
                  <a:pt x="182" y="91"/>
                </a:moveTo>
                <a:cubicBezTo>
                  <a:pt x="182" y="212"/>
                  <a:pt x="0" y="212"/>
                  <a:pt x="0" y="91"/>
                </a:cubicBezTo>
                <a:cubicBezTo>
                  <a:pt x="0" y="-30"/>
                  <a:pt x="182" y="-30"/>
                  <a:pt x="182" y="91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7085160" y="1146240"/>
            <a:ext cx="65160" cy="65520"/>
          </a:xfrm>
          <a:custGeom>
            <a:avLst/>
            <a:gdLst/>
            <a:ahLst/>
            <a:rect l="0" t="0" r="r" b="b"/>
            <a:pathLst>
              <a:path w="181" h="182">
                <a:moveTo>
                  <a:pt x="0" y="90"/>
                </a:moveTo>
                <a:cubicBezTo>
                  <a:pt x="0" y="-30"/>
                  <a:pt x="181" y="-30"/>
                  <a:pt x="181" y="90"/>
                </a:cubicBezTo>
                <a:cubicBezTo>
                  <a:pt x="181" y="212"/>
                  <a:pt x="0" y="212"/>
                  <a:pt x="0" y="90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7085160" y="1146240"/>
            <a:ext cx="65160" cy="65520"/>
          </a:xfrm>
          <a:custGeom>
            <a:avLst/>
            <a:gdLst/>
            <a:ahLst/>
            <a:rect l="0" t="0" r="r" b="b"/>
            <a:pathLst>
              <a:path fill="none" w="181" h="182">
                <a:moveTo>
                  <a:pt x="181" y="90"/>
                </a:moveTo>
                <a:cubicBezTo>
                  <a:pt x="181" y="212"/>
                  <a:pt x="0" y="212"/>
                  <a:pt x="0" y="90"/>
                </a:cubicBezTo>
                <a:cubicBezTo>
                  <a:pt x="0" y="-30"/>
                  <a:pt x="181" y="-30"/>
                  <a:pt x="181" y="90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50120" y="11844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6672960" y="2370240"/>
            <a:ext cx="16992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1.36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026840" y="1704600"/>
            <a:ext cx="16992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1.51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8053200" y="779400"/>
            <a:ext cx="2190240" cy="2129760"/>
          </a:xfrm>
          <a:custGeom>
            <a:avLst/>
            <a:gdLst/>
            <a:ahLst/>
            <a:rect l="0" t="0" r="r" b="b"/>
            <a:pathLst>
              <a:path w="6084" h="5916">
                <a:moveTo>
                  <a:pt x="0" y="0"/>
                </a:moveTo>
                <a:lnTo>
                  <a:pt x="6084" y="0"/>
                </a:lnTo>
                <a:lnTo>
                  <a:pt x="6084" y="5916"/>
                </a:lnTo>
                <a:lnTo>
                  <a:pt x="0" y="59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 flipV="1">
            <a:off x="8152560" y="812520"/>
            <a:ext cx="0" cy="209628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8401320" y="2509560"/>
            <a:ext cx="937440" cy="0"/>
          </a:xfrm>
          <a:prstGeom prst="line">
            <a:avLst/>
          </a:prstGeom>
          <a:ln w="1620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8352720" y="1844280"/>
            <a:ext cx="1347120" cy="0"/>
          </a:xfrm>
          <a:prstGeom prst="line">
            <a:avLst/>
          </a:prstGeom>
          <a:ln w="1620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8442360" y="1178640"/>
            <a:ext cx="1099800" cy="0"/>
          </a:xfrm>
          <a:prstGeom prst="line">
            <a:avLst/>
          </a:prstGeom>
          <a:ln w="1620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8801640" y="2477160"/>
            <a:ext cx="65520" cy="65520"/>
          </a:xfrm>
          <a:custGeom>
            <a:avLst/>
            <a:gdLst/>
            <a:ahLst/>
            <a:rect l="0" t="0" r="r" b="b"/>
            <a:pathLst>
              <a:path w="182" h="182">
                <a:moveTo>
                  <a:pt x="0" y="91"/>
                </a:moveTo>
                <a:cubicBezTo>
                  <a:pt x="0" y="-30"/>
                  <a:pt x="182" y="-30"/>
                  <a:pt x="182" y="91"/>
                </a:cubicBezTo>
                <a:cubicBezTo>
                  <a:pt x="182" y="212"/>
                  <a:pt x="0" y="212"/>
                  <a:pt x="0" y="91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8801640" y="2477160"/>
            <a:ext cx="65520" cy="65520"/>
          </a:xfrm>
          <a:custGeom>
            <a:avLst/>
            <a:gdLst/>
            <a:ahLst/>
            <a:rect l="0" t="0" r="r" b="b"/>
            <a:pathLst>
              <a:path fill="none" w="182" h="182">
                <a:moveTo>
                  <a:pt x="182" y="91"/>
                </a:moveTo>
                <a:cubicBezTo>
                  <a:pt x="182" y="212"/>
                  <a:pt x="0" y="212"/>
                  <a:pt x="0" y="91"/>
                </a:cubicBezTo>
                <a:cubicBezTo>
                  <a:pt x="0" y="-30"/>
                  <a:pt x="182" y="-30"/>
                  <a:pt x="182" y="91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8923320" y="1811520"/>
            <a:ext cx="65520" cy="65520"/>
          </a:xfrm>
          <a:custGeom>
            <a:avLst/>
            <a:gdLst/>
            <a:ahLst/>
            <a:rect l="0" t="0" r="r" b="b"/>
            <a:pathLst>
              <a:path w="182" h="182">
                <a:moveTo>
                  <a:pt x="0" y="91"/>
                </a:moveTo>
                <a:cubicBezTo>
                  <a:pt x="0" y="-30"/>
                  <a:pt x="182" y="-30"/>
                  <a:pt x="182" y="91"/>
                </a:cubicBezTo>
                <a:cubicBezTo>
                  <a:pt x="182" y="212"/>
                  <a:pt x="0" y="212"/>
                  <a:pt x="0" y="91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8923320" y="1811520"/>
            <a:ext cx="65520" cy="65520"/>
          </a:xfrm>
          <a:custGeom>
            <a:avLst/>
            <a:gdLst/>
            <a:ahLst/>
            <a:rect l="0" t="0" r="r" b="b"/>
            <a:pathLst>
              <a:path fill="none" w="182" h="182">
                <a:moveTo>
                  <a:pt x="182" y="91"/>
                </a:moveTo>
                <a:cubicBezTo>
                  <a:pt x="182" y="212"/>
                  <a:pt x="0" y="212"/>
                  <a:pt x="0" y="91"/>
                </a:cubicBezTo>
                <a:cubicBezTo>
                  <a:pt x="0" y="-30"/>
                  <a:pt x="182" y="-30"/>
                  <a:pt x="182" y="91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8912160" y="1146240"/>
            <a:ext cx="65520" cy="65520"/>
          </a:xfrm>
          <a:custGeom>
            <a:avLst/>
            <a:gdLst/>
            <a:ahLst/>
            <a:rect l="0" t="0" r="r" b="b"/>
            <a:pathLst>
              <a:path w="182" h="182">
                <a:moveTo>
                  <a:pt x="0" y="90"/>
                </a:moveTo>
                <a:cubicBezTo>
                  <a:pt x="0" y="-30"/>
                  <a:pt x="182" y="-30"/>
                  <a:pt x="182" y="90"/>
                </a:cubicBezTo>
                <a:cubicBezTo>
                  <a:pt x="182" y="212"/>
                  <a:pt x="0" y="212"/>
                  <a:pt x="0" y="90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8912160" y="1146240"/>
            <a:ext cx="65520" cy="65520"/>
          </a:xfrm>
          <a:custGeom>
            <a:avLst/>
            <a:gdLst/>
            <a:ahLst/>
            <a:rect l="0" t="0" r="r" b="b"/>
            <a:pathLst>
              <a:path fill="none" w="182" h="182">
                <a:moveTo>
                  <a:pt x="182" y="90"/>
                </a:moveTo>
                <a:cubicBezTo>
                  <a:pt x="182" y="212"/>
                  <a:pt x="0" y="212"/>
                  <a:pt x="0" y="90"/>
                </a:cubicBezTo>
                <a:cubicBezTo>
                  <a:pt x="0" y="-30"/>
                  <a:pt x="182" y="-30"/>
                  <a:pt x="182" y="90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7029000" y="1039320"/>
            <a:ext cx="16992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1.51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8745480" y="2370240"/>
            <a:ext cx="16992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1.29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8867160" y="1704600"/>
            <a:ext cx="16992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1.34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8856000" y="1039320"/>
            <a:ext cx="16992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1.33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5850720" y="608400"/>
            <a:ext cx="13503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5799960" y="2908800"/>
            <a:ext cx="21898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 flipV="1">
            <a:off x="589932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 flipV="1">
            <a:off x="637524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 flipV="1">
            <a:off x="685080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 flipV="1">
            <a:off x="732636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 flipV="1">
            <a:off x="780192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8103960" y="608400"/>
            <a:ext cx="7808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5835960" y="29534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6311880" y="29534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6787440" y="29534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7263000" y="29534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8053200" y="2908800"/>
            <a:ext cx="21898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 flipV="1">
            <a:off x="815256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 flipV="1">
            <a:off x="862812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 flipV="1">
            <a:off x="910404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 flipV="1">
            <a:off x="957960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 flipV="1">
            <a:off x="10055160" y="29088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7738920" y="29534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8089200" y="29534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8565120" y="29534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9040680" y="29534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9516240" y="29534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 flipV="1">
            <a:off x="5799960" y="779400"/>
            <a:ext cx="0" cy="212940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9991800" y="29534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5362200" y="2459160"/>
            <a:ext cx="403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Resident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5463720" y="1793520"/>
            <a:ext cx="290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Partial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5768280" y="25095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5768280" y="18442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5768280" y="11786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5146200" y="1128240"/>
            <a:ext cx="642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Long-distance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7113600" y="3278880"/>
            <a:ext cx="17582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Hazard ratio per 1 SD (95% CI)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5799960" y="335880"/>
            <a:ext cx="38620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Conﬁdence intervals overlap heavily; no group is exempt from either driver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5799960" y="132840"/>
            <a:ext cx="275904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Both drivers act in every migratory group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69480" y="3494160"/>
            <a:ext cx="4975560" cy="3383280"/>
          </a:xfrm>
          <a:custGeom>
            <a:avLst/>
            <a:gdLst/>
            <a:ahLst/>
            <a:rect l="0" t="0" r="r" b="b"/>
            <a:pathLst>
              <a:path w="13821" h="9398">
                <a:moveTo>
                  <a:pt x="0" y="0"/>
                </a:moveTo>
                <a:lnTo>
                  <a:pt x="13821" y="0"/>
                </a:lnTo>
                <a:lnTo>
                  <a:pt x="13821" y="9398"/>
                </a:lnTo>
                <a:lnTo>
                  <a:pt x="0" y="93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5044680" y="3494160"/>
            <a:ext cx="5299920" cy="3383280"/>
          </a:xfrm>
          <a:custGeom>
            <a:avLst/>
            <a:gdLst/>
            <a:ahLst/>
            <a:rect l="0" t="0" r="r" b="b"/>
            <a:pathLst>
              <a:path w="14722" h="9398">
                <a:moveTo>
                  <a:pt x="0" y="0"/>
                </a:moveTo>
                <a:lnTo>
                  <a:pt x="14722" y="0"/>
                </a:lnTo>
                <a:lnTo>
                  <a:pt x="14722" y="9398"/>
                </a:lnTo>
                <a:lnTo>
                  <a:pt x="0" y="93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500400" y="4341960"/>
            <a:ext cx="4443480" cy="2129760"/>
          </a:xfrm>
          <a:custGeom>
            <a:avLst/>
            <a:gdLst/>
            <a:ahLst/>
            <a:rect l="0" t="0" r="r" b="b"/>
            <a:pathLst>
              <a:path w="12343" h="5916">
                <a:moveTo>
                  <a:pt x="0" y="0"/>
                </a:moveTo>
                <a:lnTo>
                  <a:pt x="12343" y="0"/>
                </a:lnTo>
                <a:lnTo>
                  <a:pt x="12343" y="5916"/>
                </a:lnTo>
                <a:lnTo>
                  <a:pt x="0" y="59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500400" y="5889600"/>
            <a:ext cx="44431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500400" y="5307480"/>
            <a:ext cx="44431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500400" y="4725720"/>
            <a:ext cx="44431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708480" y="4670640"/>
            <a:ext cx="444600" cy="1801080"/>
          </a:xfrm>
          <a:custGeom>
            <a:avLst/>
            <a:gdLst/>
            <a:ahLst/>
            <a:rect l="0" t="0" r="r" b="b"/>
            <a:pathLst>
              <a:path w="1235" h="5003">
                <a:moveTo>
                  <a:pt x="0" y="0"/>
                </a:moveTo>
                <a:lnTo>
                  <a:pt x="1235" y="0"/>
                </a:lnTo>
                <a:lnTo>
                  <a:pt x="1235" y="5003"/>
                </a:lnTo>
                <a:lnTo>
                  <a:pt x="0" y="5003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141640" y="5522760"/>
            <a:ext cx="444600" cy="948960"/>
          </a:xfrm>
          <a:custGeom>
            <a:avLst/>
            <a:gdLst/>
            <a:ahLst/>
            <a:rect l="0" t="0" r="r" b="b"/>
            <a:pathLst>
              <a:path w="1235" h="2636">
                <a:moveTo>
                  <a:pt x="0" y="0"/>
                </a:moveTo>
                <a:lnTo>
                  <a:pt x="1235" y="0"/>
                </a:lnTo>
                <a:lnTo>
                  <a:pt x="1235" y="2636"/>
                </a:lnTo>
                <a:lnTo>
                  <a:pt x="0" y="2636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858040" y="5569560"/>
            <a:ext cx="444960" cy="902160"/>
          </a:xfrm>
          <a:custGeom>
            <a:avLst/>
            <a:gdLst/>
            <a:ahLst/>
            <a:rect l="0" t="0" r="r" b="b"/>
            <a:pathLst>
              <a:path w="1236" h="2506">
                <a:moveTo>
                  <a:pt x="0" y="0"/>
                </a:moveTo>
                <a:lnTo>
                  <a:pt x="1236" y="0"/>
                </a:lnTo>
                <a:lnTo>
                  <a:pt x="1236" y="2506"/>
                </a:lnTo>
                <a:lnTo>
                  <a:pt x="0" y="2506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3574800" y="4635720"/>
            <a:ext cx="444600" cy="1836000"/>
          </a:xfrm>
          <a:custGeom>
            <a:avLst/>
            <a:gdLst/>
            <a:ahLst/>
            <a:rect l="0" t="0" r="r" b="b"/>
            <a:pathLst>
              <a:path w="1235" h="5100">
                <a:moveTo>
                  <a:pt x="0" y="0"/>
                </a:moveTo>
                <a:lnTo>
                  <a:pt x="1235" y="0"/>
                </a:lnTo>
                <a:lnTo>
                  <a:pt x="1235" y="5100"/>
                </a:lnTo>
                <a:lnTo>
                  <a:pt x="0" y="5100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4291560" y="5223240"/>
            <a:ext cx="444600" cy="1248480"/>
          </a:xfrm>
          <a:custGeom>
            <a:avLst/>
            <a:gdLst/>
            <a:ahLst/>
            <a:rect l="0" t="0" r="r" b="b"/>
            <a:pathLst>
              <a:path w="1235" h="3468">
                <a:moveTo>
                  <a:pt x="0" y="0"/>
                </a:moveTo>
                <a:lnTo>
                  <a:pt x="1235" y="0"/>
                </a:lnTo>
                <a:lnTo>
                  <a:pt x="1235" y="3468"/>
                </a:lnTo>
                <a:lnTo>
                  <a:pt x="0" y="3468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5121000" y="11844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867240" y="4564080"/>
            <a:ext cx="132120" cy="9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4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6.2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583640" y="6364800"/>
            <a:ext cx="132120" cy="9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4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2300400" y="5416560"/>
            <a:ext cx="132120" cy="9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4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3.3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3017160" y="5463000"/>
            <a:ext cx="132120" cy="9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4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3.1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3733560" y="4529160"/>
            <a:ext cx="132120" cy="9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4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6.3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4450320" y="5116680"/>
            <a:ext cx="132120" cy="9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4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4.3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2198880" y="6252480"/>
            <a:ext cx="31536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D55E00"/>
                </a:solidFill>
                <a:effectLst/>
                <a:uFillTx/>
                <a:latin typeface="Arial"/>
                <a:ea typeface="Arial"/>
              </a:rPr>
              <a:t>P = 0.69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2915280" y="6252480"/>
            <a:ext cx="31536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D55E00"/>
                </a:solidFill>
                <a:effectLst/>
                <a:uFillTx/>
                <a:latin typeface="Arial"/>
                <a:ea typeface="Arial"/>
              </a:rPr>
              <a:t>P = 0.64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3632040" y="6252480"/>
            <a:ext cx="31536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D55E00"/>
                </a:solidFill>
                <a:effectLst/>
                <a:uFillTx/>
                <a:latin typeface="Arial"/>
                <a:ea typeface="Arial"/>
              </a:rPr>
              <a:t>P = 0.79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 flipV="1">
            <a:off x="500400" y="4341960"/>
            <a:ext cx="0" cy="212940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4348800" y="6252480"/>
            <a:ext cx="31536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D55E00"/>
                </a:solidFill>
                <a:effectLst/>
                <a:uFillTx/>
                <a:latin typeface="Arial"/>
                <a:ea typeface="Arial"/>
              </a:rPr>
              <a:t>P = 0.26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393120" y="64206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393120" y="583884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393120" y="525708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468720" y="64713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468720" y="58896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468720" y="53074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468720" y="47257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500400" y="6471360"/>
            <a:ext cx="444312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 flipV="1">
            <a:off x="930600" y="64713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 flipV="1">
            <a:off x="1647000" y="64713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 flipV="1">
            <a:off x="2363760" y="64713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 flipV="1">
            <a:off x="3080520" y="64713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 flipV="1">
            <a:off x="3796920" y="64713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 flipV="1">
            <a:off x="4513680" y="64713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393120" y="467532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860760" y="65156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M0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1577520" y="65156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M1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2293920" y="65156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M2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3010680" y="65156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M3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3727440" y="65156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M4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4443840" y="65156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M5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 rot="16200000">
            <a:off x="-36720" y="5345280"/>
            <a:ext cx="5421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Delta AIC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500760" y="3760560"/>
            <a:ext cx="50126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M0 main model | M1 + migratory main effect | M2 + warming x migratory | M3 + effort x migratory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500760" y="3886920"/>
            <a:ext cx="47336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M4 + both | M5 + three-way warming x effort x migratory. Red: likelihood-ratio P against M1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500760" y="3557520"/>
            <a:ext cx="351432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Migratory strategy shifts the baseline, not the slopes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5799960" y="4341960"/>
            <a:ext cx="4443480" cy="2129760"/>
          </a:xfrm>
          <a:custGeom>
            <a:avLst/>
            <a:gdLst/>
            <a:ahLst/>
            <a:rect l="0" t="0" r="r" b="b"/>
            <a:pathLst>
              <a:path w="12343" h="5916">
                <a:moveTo>
                  <a:pt x="0" y="0"/>
                </a:moveTo>
                <a:lnTo>
                  <a:pt x="12343" y="0"/>
                </a:lnTo>
                <a:lnTo>
                  <a:pt x="12343" y="5916"/>
                </a:lnTo>
                <a:lnTo>
                  <a:pt x="0" y="59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 flipV="1">
            <a:off x="8372160" y="4368600"/>
            <a:ext cx="0" cy="210276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6955560" y="6072120"/>
            <a:ext cx="2302200" cy="0"/>
          </a:xfrm>
          <a:prstGeom prst="line">
            <a:avLst/>
          </a:prstGeom>
          <a:ln w="1620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7351200" y="5406480"/>
            <a:ext cx="2689920" cy="0"/>
          </a:xfrm>
          <a:prstGeom prst="line">
            <a:avLst/>
          </a:prstGeom>
          <a:ln w="1620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6001920" y="4741200"/>
            <a:ext cx="1749600" cy="0"/>
          </a:xfrm>
          <a:prstGeom prst="line">
            <a:avLst/>
          </a:prstGeom>
          <a:ln w="1620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7961760" y="6036840"/>
            <a:ext cx="70920" cy="70920"/>
          </a:xfrm>
          <a:custGeom>
            <a:avLst/>
            <a:gdLst/>
            <a:ahLst/>
            <a:rect l="0" t="0" r="r" b="b"/>
            <a:pathLst>
              <a:path fill="none" w="197" h="197">
                <a:moveTo>
                  <a:pt x="197" y="98"/>
                </a:moveTo>
                <a:cubicBezTo>
                  <a:pt x="197" y="229"/>
                  <a:pt x="0" y="229"/>
                  <a:pt x="0" y="98"/>
                </a:cubicBezTo>
                <a:cubicBezTo>
                  <a:pt x="0" y="-33"/>
                  <a:pt x="197" y="-33"/>
                  <a:pt x="197" y="98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8524080" y="5371200"/>
            <a:ext cx="70920" cy="70920"/>
          </a:xfrm>
          <a:custGeom>
            <a:avLst/>
            <a:gdLst/>
            <a:ahLst/>
            <a:rect l="0" t="0" r="r" b="b"/>
            <a:pathLst>
              <a:path fill="none" w="197" h="197">
                <a:moveTo>
                  <a:pt x="197" y="98"/>
                </a:moveTo>
                <a:cubicBezTo>
                  <a:pt x="197" y="230"/>
                  <a:pt x="0" y="230"/>
                  <a:pt x="0" y="98"/>
                </a:cubicBezTo>
                <a:cubicBezTo>
                  <a:pt x="0" y="-33"/>
                  <a:pt x="197" y="-33"/>
                  <a:pt x="197" y="9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6762240" y="4705920"/>
            <a:ext cx="70920" cy="70920"/>
          </a:xfrm>
          <a:custGeom>
            <a:avLst/>
            <a:gdLst/>
            <a:ahLst/>
            <a:rect l="0" t="0" r="r" b="b"/>
            <a:pathLst>
              <a:path w="197" h="197">
                <a:moveTo>
                  <a:pt x="0" y="99"/>
                </a:moveTo>
                <a:cubicBezTo>
                  <a:pt x="0" y="-33"/>
                  <a:pt x="197" y="-33"/>
                  <a:pt x="197" y="99"/>
                </a:cubicBezTo>
                <a:cubicBezTo>
                  <a:pt x="197" y="229"/>
                  <a:pt x="0" y="229"/>
                  <a:pt x="0" y="99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150120" y="354240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7679520" y="5932440"/>
            <a:ext cx="62604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0.94 (P = 0.533)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8242200" y="5267160"/>
            <a:ext cx="62604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1.03 (P = 0.780)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 flipV="1">
            <a:off x="5799960" y="4341960"/>
            <a:ext cx="0" cy="212940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6480000" y="4601520"/>
            <a:ext cx="62604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0.75 (P = 0.002)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5362200" y="6021360"/>
            <a:ext cx="403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Resident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5463720" y="5356080"/>
            <a:ext cx="290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Partial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5768280" y="60721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5768280" y="54064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5768280" y="47412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5799960" y="6471360"/>
            <a:ext cx="444312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 flipV="1">
            <a:off x="5827320" y="64713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 flipV="1">
            <a:off x="7099560" y="64713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 flipV="1">
            <a:off x="8372160" y="64713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 flipV="1">
            <a:off x="9644400" y="64713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5146200" y="4690440"/>
            <a:ext cx="642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Long-distance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5763960" y="65156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7036200" y="65156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8308800" y="65156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9581040" y="65156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6910560" y="6661800"/>
            <a:ext cx="21657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Warming x effort hazard ratio (95% CI)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5799960" y="3760560"/>
            <a:ext cx="33663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The interaction is signiﬁcant only among long-distance migrants,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5799960" y="3886920"/>
            <a:ext cx="34740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but the formal test for heterogeneity is not (three-way LR P = 0.26;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5799960" y="4012920"/>
            <a:ext cx="37026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long-distance vs resident contrast P = 0.078). With 156-218 events per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5799960" y="4139280"/>
            <a:ext cx="35038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group the design cannot resolve group differences in an interaction.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5799960" y="3557520"/>
            <a:ext cx="123156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hint, not a result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5121000" y="354240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Fig8_migratory_strategy_v2</dc:title>
</cp:coreProperties>
</file>