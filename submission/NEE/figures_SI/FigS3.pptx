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236200" cy="67564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11560" y="254880"/>
            <a:ext cx="9211680" cy="1067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511560" y="1496520"/>
            <a:ext cx="9211680" cy="3709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0236240" cy="6756480"/>
          </a:xfrm>
          <a:custGeom>
            <a:avLst/>
            <a:gdLst/>
            <a:ahLst/>
            <a:rect l="0" t="0" r="r" b="b"/>
            <a:pathLst>
              <a:path w="28434" h="18768">
                <a:moveTo>
                  <a:pt x="0" y="0"/>
                </a:moveTo>
                <a:lnTo>
                  <a:pt x="28434" y="0"/>
                </a:lnTo>
                <a:lnTo>
                  <a:pt x="28434" y="18768"/>
                </a:lnTo>
                <a:lnTo>
                  <a:pt x="0" y="187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0236240" cy="6756480"/>
          </a:xfrm>
          <a:custGeom>
            <a:avLst/>
            <a:gdLst/>
            <a:ahLst/>
            <a:rect l="0" t="0" r="r" b="b"/>
            <a:pathLst>
              <a:path w="28434" h="18768">
                <a:moveTo>
                  <a:pt x="0" y="0"/>
                </a:moveTo>
                <a:lnTo>
                  <a:pt x="28434" y="0"/>
                </a:lnTo>
                <a:lnTo>
                  <a:pt x="28434" y="18768"/>
                </a:lnTo>
                <a:lnTo>
                  <a:pt x="0" y="187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3320">
            <a:solidFill>
              <a:srgbClr val="FFFFFF"/>
            </a:solidFill>
            <a:round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69480" y="69480"/>
            <a:ext cx="5048640" cy="3182760"/>
          </a:xfrm>
          <a:custGeom>
            <a:avLst/>
            <a:gdLst/>
            <a:ahLst/>
            <a:rect l="0" t="0" r="r" b="b"/>
            <a:pathLst>
              <a:path w="14024" h="8841">
                <a:moveTo>
                  <a:pt x="0" y="0"/>
                </a:moveTo>
                <a:lnTo>
                  <a:pt x="14024" y="0"/>
                </a:lnTo>
                <a:lnTo>
                  <a:pt x="14024" y="8841"/>
                </a:lnTo>
                <a:lnTo>
                  <a:pt x="0" y="884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5117760" y="69480"/>
            <a:ext cx="5049000" cy="3182760"/>
          </a:xfrm>
          <a:custGeom>
            <a:avLst/>
            <a:gdLst/>
            <a:ahLst/>
            <a:rect l="0" t="0" r="r" b="b"/>
            <a:pathLst>
              <a:path w="14025" h="8841">
                <a:moveTo>
                  <a:pt x="0" y="0"/>
                </a:moveTo>
                <a:lnTo>
                  <a:pt x="14025" y="0"/>
                </a:lnTo>
                <a:lnTo>
                  <a:pt x="14025" y="8841"/>
                </a:lnTo>
                <a:lnTo>
                  <a:pt x="0" y="884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525960" y="664560"/>
            <a:ext cx="4491000" cy="2181960"/>
          </a:xfrm>
          <a:custGeom>
            <a:avLst/>
            <a:gdLst/>
            <a:ahLst/>
            <a:rect l="0" t="0" r="r" b="b"/>
            <a:pathLst>
              <a:path w="12475" h="6061">
                <a:moveTo>
                  <a:pt x="0" y="0"/>
                </a:moveTo>
                <a:lnTo>
                  <a:pt x="12475" y="0"/>
                </a:lnTo>
                <a:lnTo>
                  <a:pt x="12475" y="6061"/>
                </a:lnTo>
                <a:lnTo>
                  <a:pt x="0" y="606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525960" y="2746800"/>
            <a:ext cx="44906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/>
          <p:nvPr/>
        </p:nvSpPr>
        <p:spPr>
          <a:xfrm>
            <a:off x="525960" y="2048040"/>
            <a:ext cx="44906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525960" y="1349280"/>
            <a:ext cx="44906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525960" y="2746800"/>
            <a:ext cx="4465080" cy="0"/>
          </a:xfrm>
          <a:prstGeom prst="line">
            <a:avLst/>
          </a:prstGeom>
          <a:ln w="9360">
            <a:solidFill>
              <a:srgbClr val="8C8C8C"/>
            </a:solidFill>
            <a:custDash>
              <a:ds d="403846" sp="403846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730080" y="763920"/>
            <a:ext cx="4082760" cy="1796400"/>
          </a:xfrm>
          <a:custGeom>
            <a:avLst/>
            <a:gdLst/>
            <a:ahLst/>
            <a:rect l="0" t="0" r="r" b="b"/>
            <a:pathLst>
              <a:path w="11341" h="4990">
                <a:moveTo>
                  <a:pt x="0" y="2671"/>
                </a:moveTo>
                <a:lnTo>
                  <a:pt x="3781" y="2070"/>
                </a:lnTo>
                <a:lnTo>
                  <a:pt x="7561" y="420"/>
                </a:lnTo>
                <a:lnTo>
                  <a:pt x="11341" y="0"/>
                </a:lnTo>
                <a:lnTo>
                  <a:pt x="11341" y="3141"/>
                </a:lnTo>
                <a:lnTo>
                  <a:pt x="7561" y="3410"/>
                </a:lnTo>
                <a:lnTo>
                  <a:pt x="3781" y="4674"/>
                </a:lnTo>
                <a:lnTo>
                  <a:pt x="0" y="4990"/>
                </a:lnTo>
                <a:lnTo>
                  <a:pt x="0" y="2671"/>
                </a:lnTo>
                <a:close/>
              </a:path>
            </a:pathLst>
          </a:custGeom>
          <a:solidFill>
            <a:srgbClr val="0072B2">
              <a:alpha val="12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730080" y="924120"/>
            <a:ext cx="4082760" cy="1679040"/>
          </a:xfrm>
          <a:custGeom>
            <a:avLst/>
            <a:gdLst/>
            <a:ahLst/>
            <a:rect l="0" t="0" r="r" b="b"/>
            <a:pathLst>
              <a:path w="11341" h="4664">
                <a:moveTo>
                  <a:pt x="0" y="2337"/>
                </a:moveTo>
                <a:lnTo>
                  <a:pt x="3781" y="1856"/>
                </a:lnTo>
                <a:lnTo>
                  <a:pt x="7561" y="613"/>
                </a:lnTo>
                <a:lnTo>
                  <a:pt x="11341" y="0"/>
                </a:lnTo>
                <a:lnTo>
                  <a:pt x="11341" y="2975"/>
                </a:lnTo>
                <a:lnTo>
                  <a:pt x="7561" y="3408"/>
                </a:lnTo>
                <a:lnTo>
                  <a:pt x="3781" y="4390"/>
                </a:lnTo>
                <a:lnTo>
                  <a:pt x="0" y="4664"/>
                </a:lnTo>
                <a:lnTo>
                  <a:pt x="0" y="2337"/>
                </a:lnTo>
                <a:close/>
              </a:path>
            </a:pathLst>
          </a:custGeom>
          <a:solidFill>
            <a:srgbClr val="999999">
              <a:alpha val="12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730080" y="785520"/>
            <a:ext cx="4082760" cy="1640160"/>
          </a:xfrm>
          <a:custGeom>
            <a:avLst/>
            <a:gdLst/>
            <a:ahLst/>
            <a:rect l="0" t="0" r="r" b="b"/>
            <a:pathLst>
              <a:path w="11341" h="4556">
                <a:moveTo>
                  <a:pt x="0" y="2110"/>
                </a:moveTo>
                <a:lnTo>
                  <a:pt x="3781" y="1535"/>
                </a:lnTo>
                <a:lnTo>
                  <a:pt x="7561" y="381"/>
                </a:lnTo>
                <a:lnTo>
                  <a:pt x="11341" y="0"/>
                </a:lnTo>
                <a:lnTo>
                  <a:pt x="11341" y="3041"/>
                </a:lnTo>
                <a:lnTo>
                  <a:pt x="7561" y="3352"/>
                </a:lnTo>
                <a:lnTo>
                  <a:pt x="3781" y="4231"/>
                </a:lnTo>
                <a:lnTo>
                  <a:pt x="0" y="4556"/>
                </a:lnTo>
                <a:lnTo>
                  <a:pt x="0" y="2110"/>
                </a:lnTo>
                <a:close/>
              </a:path>
            </a:pathLst>
          </a:custGeom>
          <a:solidFill>
            <a:srgbClr val="009E73">
              <a:alpha val="12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730080" y="1361520"/>
            <a:ext cx="4082760" cy="802800"/>
          </a:xfrm>
          <a:custGeom>
            <a:avLst/>
            <a:gdLst/>
            <a:ahLst/>
            <a:rect l="0" t="0" r="r" b="b"/>
            <a:pathLst>
              <a:path fill="none" w="11341" h="2230">
                <a:moveTo>
                  <a:pt x="0" y="2230"/>
                </a:moveTo>
                <a:lnTo>
                  <a:pt x="3781" y="1783"/>
                </a:lnTo>
                <a:lnTo>
                  <a:pt x="7561" y="338"/>
                </a:lnTo>
                <a:lnTo>
                  <a:pt x="11341" y="0"/>
                </a:lnTo>
              </a:path>
            </a:pathLst>
          </a:custGeom>
          <a:ln w="18720">
            <a:solidFill>
              <a:srgbClr val="0072B2"/>
            </a:solidFill>
            <a:round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730080" y="1489680"/>
            <a:ext cx="4082760" cy="716400"/>
          </a:xfrm>
          <a:custGeom>
            <a:avLst/>
            <a:gdLst/>
            <a:ahLst/>
            <a:rect l="0" t="0" r="r" b="b"/>
            <a:pathLst>
              <a:path fill="none" w="11341" h="1990">
                <a:moveTo>
                  <a:pt x="0" y="1990"/>
                </a:moveTo>
                <a:lnTo>
                  <a:pt x="3781" y="1622"/>
                </a:lnTo>
                <a:lnTo>
                  <a:pt x="7561" y="517"/>
                </a:lnTo>
                <a:lnTo>
                  <a:pt x="11341" y="0"/>
                </a:lnTo>
              </a:path>
            </a:pathLst>
          </a:custGeom>
          <a:ln w="18720">
            <a:solidFill>
              <a:srgbClr val="999999"/>
            </a:solidFill>
            <a:round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730080" y="1363320"/>
            <a:ext cx="4082760" cy="645120"/>
          </a:xfrm>
          <a:custGeom>
            <a:avLst/>
            <a:gdLst/>
            <a:ahLst/>
            <a:rect l="0" t="0" r="r" b="b"/>
            <a:pathLst>
              <a:path fill="none" w="11341" h="1792">
                <a:moveTo>
                  <a:pt x="0" y="1792"/>
                </a:moveTo>
                <a:lnTo>
                  <a:pt x="3781" y="1353"/>
                </a:lnTo>
                <a:lnTo>
                  <a:pt x="7561" y="343"/>
                </a:lnTo>
                <a:lnTo>
                  <a:pt x="11341" y="0"/>
                </a:lnTo>
              </a:path>
            </a:pathLst>
          </a:custGeom>
          <a:ln w="18720">
            <a:solidFill>
              <a:srgbClr val="009E73"/>
            </a:solidFill>
            <a:round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707040" y="198468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5"/>
                </a:moveTo>
                <a:cubicBezTo>
                  <a:pt x="0" y="-22"/>
                  <a:pt x="129" y="-22"/>
                  <a:pt x="129" y="65"/>
                </a:cubicBezTo>
                <a:cubicBezTo>
                  <a:pt x="129" y="150"/>
                  <a:pt x="0" y="150"/>
                  <a:pt x="0" y="65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707040" y="198468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5"/>
                </a:moveTo>
                <a:cubicBezTo>
                  <a:pt x="129" y="150"/>
                  <a:pt x="0" y="150"/>
                  <a:pt x="0" y="65"/>
                </a:cubicBezTo>
                <a:cubicBezTo>
                  <a:pt x="0" y="-22"/>
                  <a:pt x="129" y="-22"/>
                  <a:pt x="129" y="65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2067840" y="182700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0" y="65"/>
                </a:moveTo>
                <a:cubicBezTo>
                  <a:pt x="0" y="-22"/>
                  <a:pt x="129" y="-22"/>
                  <a:pt x="129" y="65"/>
                </a:cubicBezTo>
                <a:cubicBezTo>
                  <a:pt x="129" y="151"/>
                  <a:pt x="0" y="151"/>
                  <a:pt x="0" y="65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2067840" y="1827000"/>
            <a:ext cx="46440" cy="46800"/>
          </a:xfrm>
          <a:custGeom>
            <a:avLst/>
            <a:gdLst/>
            <a:ahLst/>
            <a:rect l="0" t="0" r="r" b="b"/>
            <a:pathLst>
              <a:path fill="none" w="129" h="130">
                <a:moveTo>
                  <a:pt x="129" y="65"/>
                </a:moveTo>
                <a:cubicBezTo>
                  <a:pt x="129" y="151"/>
                  <a:pt x="0" y="151"/>
                  <a:pt x="0" y="65"/>
                </a:cubicBezTo>
                <a:cubicBezTo>
                  <a:pt x="0" y="-22"/>
                  <a:pt x="129" y="-22"/>
                  <a:pt x="129" y="65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3428640" y="146376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4"/>
                </a:moveTo>
                <a:cubicBezTo>
                  <a:pt x="0" y="-21"/>
                  <a:pt x="129" y="-21"/>
                  <a:pt x="129" y="64"/>
                </a:cubicBezTo>
                <a:cubicBezTo>
                  <a:pt x="129" y="151"/>
                  <a:pt x="0" y="151"/>
                  <a:pt x="0" y="64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3428640" y="146376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4"/>
                </a:moveTo>
                <a:cubicBezTo>
                  <a:pt x="129" y="151"/>
                  <a:pt x="0" y="151"/>
                  <a:pt x="0" y="64"/>
                </a:cubicBezTo>
                <a:cubicBezTo>
                  <a:pt x="0" y="-21"/>
                  <a:pt x="129" y="-21"/>
                  <a:pt x="129" y="64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4789440" y="1340280"/>
            <a:ext cx="46440" cy="46080"/>
          </a:xfrm>
          <a:custGeom>
            <a:avLst/>
            <a:gdLst/>
            <a:ahLst/>
            <a:rect l="0" t="0" r="r" b="b"/>
            <a:pathLst>
              <a:path w="129" h="128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0"/>
                  <a:pt x="0" y="150"/>
                  <a:pt x="0" y="65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4789440" y="1340280"/>
            <a:ext cx="46440" cy="46080"/>
          </a:xfrm>
          <a:custGeom>
            <a:avLst/>
            <a:gdLst/>
            <a:ahLst/>
            <a:rect l="0" t="0" r="r" b="b"/>
            <a:pathLst>
              <a:path fill="none" w="129" h="128">
                <a:moveTo>
                  <a:pt x="129" y="65"/>
                </a:moveTo>
                <a:cubicBezTo>
                  <a:pt x="129" y="150"/>
                  <a:pt x="0" y="150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707040" y="218268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2"/>
                  <a:pt x="0" y="152"/>
                  <a:pt x="0" y="65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707040" y="2182680"/>
            <a:ext cx="46440" cy="46800"/>
          </a:xfrm>
          <a:custGeom>
            <a:avLst/>
            <a:gdLst/>
            <a:ahLst/>
            <a:rect l="0" t="0" r="r" b="b"/>
            <a:pathLst>
              <a:path fill="none" w="129" h="130">
                <a:moveTo>
                  <a:pt x="129" y="65"/>
                </a:moveTo>
                <a:cubicBezTo>
                  <a:pt x="129" y="152"/>
                  <a:pt x="0" y="152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2067840" y="205020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1"/>
                  <a:pt x="0" y="151"/>
                  <a:pt x="0" y="65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2067840" y="205020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5"/>
                </a:moveTo>
                <a:cubicBezTo>
                  <a:pt x="129" y="151"/>
                  <a:pt x="0" y="151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3428640" y="165240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1"/>
                  <a:pt x="0" y="151"/>
                  <a:pt x="0" y="65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3428640" y="165240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5"/>
                </a:moveTo>
                <a:cubicBezTo>
                  <a:pt x="129" y="151"/>
                  <a:pt x="0" y="151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4789440" y="146664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4"/>
                </a:moveTo>
                <a:cubicBezTo>
                  <a:pt x="0" y="-21"/>
                  <a:pt x="129" y="-21"/>
                  <a:pt x="129" y="64"/>
                </a:cubicBezTo>
                <a:cubicBezTo>
                  <a:pt x="129" y="151"/>
                  <a:pt x="0" y="151"/>
                  <a:pt x="0" y="64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4789440" y="146664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4"/>
                </a:moveTo>
                <a:cubicBezTo>
                  <a:pt x="129" y="151"/>
                  <a:pt x="0" y="151"/>
                  <a:pt x="0" y="64"/>
                </a:cubicBezTo>
                <a:cubicBezTo>
                  <a:pt x="0" y="-21"/>
                  <a:pt x="129" y="-21"/>
                  <a:pt x="129" y="64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707040" y="214056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0" y="65"/>
                </a:moveTo>
                <a:cubicBezTo>
                  <a:pt x="0" y="-22"/>
                  <a:pt x="129" y="-22"/>
                  <a:pt x="129" y="65"/>
                </a:cubicBezTo>
                <a:cubicBezTo>
                  <a:pt x="129" y="151"/>
                  <a:pt x="0" y="151"/>
                  <a:pt x="0" y="65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707040" y="2140560"/>
            <a:ext cx="46440" cy="46800"/>
          </a:xfrm>
          <a:custGeom>
            <a:avLst/>
            <a:gdLst/>
            <a:ahLst/>
            <a:rect l="0" t="0" r="r" b="b"/>
            <a:pathLst>
              <a:path fill="none" w="129" h="130">
                <a:moveTo>
                  <a:pt x="129" y="65"/>
                </a:moveTo>
                <a:cubicBezTo>
                  <a:pt x="129" y="151"/>
                  <a:pt x="0" y="151"/>
                  <a:pt x="0" y="65"/>
                </a:cubicBezTo>
                <a:cubicBezTo>
                  <a:pt x="0" y="-22"/>
                  <a:pt x="129" y="-22"/>
                  <a:pt x="129" y="65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2067840" y="1980360"/>
            <a:ext cx="46440" cy="46080"/>
          </a:xfrm>
          <a:custGeom>
            <a:avLst/>
            <a:gdLst/>
            <a:ahLst/>
            <a:rect l="0" t="0" r="r" b="b"/>
            <a:pathLst>
              <a:path w="129" h="128">
                <a:moveTo>
                  <a:pt x="0" y="64"/>
                </a:moveTo>
                <a:cubicBezTo>
                  <a:pt x="0" y="-21"/>
                  <a:pt x="129" y="-21"/>
                  <a:pt x="129" y="64"/>
                </a:cubicBezTo>
                <a:cubicBezTo>
                  <a:pt x="129" y="150"/>
                  <a:pt x="0" y="150"/>
                  <a:pt x="0" y="64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2067840" y="1980360"/>
            <a:ext cx="46440" cy="46080"/>
          </a:xfrm>
          <a:custGeom>
            <a:avLst/>
            <a:gdLst/>
            <a:ahLst/>
            <a:rect l="0" t="0" r="r" b="b"/>
            <a:pathLst>
              <a:path fill="none" w="129" h="128">
                <a:moveTo>
                  <a:pt x="129" y="64"/>
                </a:moveTo>
                <a:cubicBezTo>
                  <a:pt x="129" y="150"/>
                  <a:pt x="0" y="150"/>
                  <a:pt x="0" y="64"/>
                </a:cubicBezTo>
                <a:cubicBezTo>
                  <a:pt x="0" y="-21"/>
                  <a:pt x="129" y="-21"/>
                  <a:pt x="129" y="64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3428640" y="146016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4"/>
                </a:moveTo>
                <a:cubicBezTo>
                  <a:pt x="0" y="-21"/>
                  <a:pt x="129" y="-21"/>
                  <a:pt x="129" y="64"/>
                </a:cubicBezTo>
                <a:cubicBezTo>
                  <a:pt x="129" y="151"/>
                  <a:pt x="0" y="151"/>
                  <a:pt x="0" y="64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3428640" y="146016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4"/>
                </a:moveTo>
                <a:cubicBezTo>
                  <a:pt x="129" y="151"/>
                  <a:pt x="0" y="151"/>
                  <a:pt x="0" y="64"/>
                </a:cubicBezTo>
                <a:cubicBezTo>
                  <a:pt x="0" y="-21"/>
                  <a:pt x="129" y="-21"/>
                  <a:pt x="129" y="64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4789440" y="133848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1"/>
                  <a:pt x="0" y="151"/>
                  <a:pt x="0" y="65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4789440" y="133848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5"/>
                </a:moveTo>
                <a:cubicBezTo>
                  <a:pt x="129" y="151"/>
                  <a:pt x="0" y="151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 flipV="1">
            <a:off x="525960" y="664560"/>
            <a:ext cx="0" cy="218160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342000" y="269640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42000" y="199728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494280" y="274680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494280" y="204804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494280" y="134928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525960" y="2846160"/>
            <a:ext cx="449064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 flipV="1">
            <a:off x="730080" y="284616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 flipV="1">
            <a:off x="2090880" y="284616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 flipV="1">
            <a:off x="3451680" y="284616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 flipV="1">
            <a:off x="4812480" y="284616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342000" y="12985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704880" y="289044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2040120" y="289044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3401280" y="289044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4762080" y="289044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1850760" y="3036240"/>
            <a:ext cx="180036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Accumulation window W (years)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2376360" y="2162160"/>
            <a:ext cx="1688400" cy="582840"/>
          </a:xfrm>
          <a:custGeom>
            <a:avLst/>
            <a:gdLst/>
            <a:ahLst/>
            <a:rect l="0" t="0" r="r" b="b"/>
            <a:pathLst>
              <a:path w="4690" h="1619">
                <a:moveTo>
                  <a:pt x="0" y="0"/>
                </a:moveTo>
                <a:lnTo>
                  <a:pt x="4690" y="0"/>
                </a:lnTo>
                <a:lnTo>
                  <a:pt x="4690" y="1619"/>
                </a:lnTo>
                <a:lnTo>
                  <a:pt x="0" y="16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 rot="16200000">
            <a:off x="-377640" y="1715040"/>
            <a:ext cx="122400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Hazard ratio per 1 SD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2439720" y="2377800"/>
            <a:ext cx="114120" cy="101520"/>
          </a:xfrm>
          <a:custGeom>
            <a:avLst/>
            <a:gdLst/>
            <a:ahLst/>
            <a:rect l="0" t="0" r="r" b="b"/>
            <a:pathLst>
              <a:path w="317" h="282">
                <a:moveTo>
                  <a:pt x="0" y="0"/>
                </a:moveTo>
                <a:lnTo>
                  <a:pt x="317" y="0"/>
                </a:lnTo>
                <a:lnTo>
                  <a:pt x="317" y="282"/>
                </a:lnTo>
                <a:lnTo>
                  <a:pt x="0" y="2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2451240" y="2428200"/>
            <a:ext cx="91080" cy="0"/>
          </a:xfrm>
          <a:prstGeom prst="line">
            <a:avLst/>
          </a:prstGeom>
          <a:ln w="18720">
            <a:solidFill>
              <a:srgbClr val="0072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360" tIns="-9360" rIns="9360" bIns="-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2473560" y="240516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1"/>
                  <a:pt x="0" y="151"/>
                  <a:pt x="0" y="65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2473560" y="240516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5"/>
                </a:moveTo>
                <a:cubicBezTo>
                  <a:pt x="129" y="151"/>
                  <a:pt x="0" y="151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2439720" y="2478960"/>
            <a:ext cx="114120" cy="101520"/>
          </a:xfrm>
          <a:custGeom>
            <a:avLst/>
            <a:gdLst/>
            <a:ahLst/>
            <a:rect l="0" t="0" r="r" b="b"/>
            <a:pathLst>
              <a:path w="317" h="282">
                <a:moveTo>
                  <a:pt x="0" y="0"/>
                </a:moveTo>
                <a:lnTo>
                  <a:pt x="317" y="0"/>
                </a:lnTo>
                <a:lnTo>
                  <a:pt x="317" y="282"/>
                </a:lnTo>
                <a:lnTo>
                  <a:pt x="0" y="2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2451240" y="2529360"/>
            <a:ext cx="91080" cy="0"/>
          </a:xfrm>
          <a:prstGeom prst="line">
            <a:avLst/>
          </a:prstGeom>
          <a:ln w="1872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360" tIns="-9360" rIns="9360" bIns="-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2473560" y="250632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2"/>
                  <a:pt x="0" y="152"/>
                  <a:pt x="0" y="65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2473560" y="2506320"/>
            <a:ext cx="46440" cy="46800"/>
          </a:xfrm>
          <a:custGeom>
            <a:avLst/>
            <a:gdLst/>
            <a:ahLst/>
            <a:rect l="0" t="0" r="r" b="b"/>
            <a:pathLst>
              <a:path fill="none" w="129" h="130">
                <a:moveTo>
                  <a:pt x="129" y="65"/>
                </a:moveTo>
                <a:cubicBezTo>
                  <a:pt x="129" y="152"/>
                  <a:pt x="0" y="152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2439720" y="2580120"/>
            <a:ext cx="114120" cy="101520"/>
          </a:xfrm>
          <a:custGeom>
            <a:avLst/>
            <a:gdLst/>
            <a:ahLst/>
            <a:rect l="0" t="0" r="r" b="b"/>
            <a:pathLst>
              <a:path w="317" h="282">
                <a:moveTo>
                  <a:pt x="0" y="0"/>
                </a:moveTo>
                <a:lnTo>
                  <a:pt x="317" y="0"/>
                </a:lnTo>
                <a:lnTo>
                  <a:pt x="317" y="282"/>
                </a:lnTo>
                <a:lnTo>
                  <a:pt x="0" y="2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2451240" y="2630880"/>
            <a:ext cx="91080" cy="0"/>
          </a:xfrm>
          <a:prstGeom prst="line">
            <a:avLst/>
          </a:prstGeom>
          <a:ln w="18720">
            <a:solidFill>
              <a:srgbClr val="009E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360" tIns="-9360" rIns="9360" bIns="-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2473560" y="260748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0" y="65"/>
                </a:moveTo>
                <a:cubicBezTo>
                  <a:pt x="0" y="-22"/>
                  <a:pt x="129" y="-22"/>
                  <a:pt x="129" y="65"/>
                </a:cubicBezTo>
                <a:cubicBezTo>
                  <a:pt x="129" y="151"/>
                  <a:pt x="0" y="151"/>
                  <a:pt x="0" y="65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2473560" y="2607480"/>
            <a:ext cx="46440" cy="46800"/>
          </a:xfrm>
          <a:custGeom>
            <a:avLst/>
            <a:gdLst/>
            <a:ahLst/>
            <a:rect l="0" t="0" r="r" b="b"/>
            <a:pathLst>
              <a:path fill="none" w="129" h="130">
                <a:moveTo>
                  <a:pt x="129" y="65"/>
                </a:moveTo>
                <a:cubicBezTo>
                  <a:pt x="129" y="151"/>
                  <a:pt x="0" y="151"/>
                  <a:pt x="0" y="65"/>
                </a:cubicBezTo>
                <a:cubicBezTo>
                  <a:pt x="0" y="-22"/>
                  <a:pt x="129" y="-22"/>
                  <a:pt x="129" y="65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2439720" y="2225520"/>
            <a:ext cx="686160" cy="8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8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Climate baseline</a:t>
            </a:r>
            <a:endParaRPr lang="en-US" sz="6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2616840" y="2396880"/>
            <a:ext cx="1182960" cy="7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WorldClim 10' , 1980-2000 (main)</a:t>
            </a:r>
            <a:endParaRPr lang="en-US" sz="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2616840" y="2498040"/>
            <a:ext cx="1477080" cy="7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CRU TS 0.5° , 1980-2000 (source control)</a:t>
            </a:r>
            <a:endParaRPr lang="en-US" sz="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2616840" y="2599200"/>
            <a:ext cx="1517040" cy="7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CRU TS 0.5° , 1970-2000 (longer baseline)</a:t>
            </a:r>
            <a:endParaRPr lang="en-US" sz="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525960" y="335880"/>
            <a:ext cx="35748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Every source and baseline gives the same rise from W = 5 to W = 20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525960" y="132840"/>
            <a:ext cx="281340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The warming signal is decadal, not annual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5574600" y="664560"/>
            <a:ext cx="4491000" cy="2181960"/>
          </a:xfrm>
          <a:custGeom>
            <a:avLst/>
            <a:gdLst/>
            <a:ahLst/>
            <a:rect l="0" t="0" r="r" b="b"/>
            <a:pathLst>
              <a:path w="12475" h="6061">
                <a:moveTo>
                  <a:pt x="0" y="0"/>
                </a:moveTo>
                <a:lnTo>
                  <a:pt x="12475" y="0"/>
                </a:lnTo>
                <a:lnTo>
                  <a:pt x="12475" y="6061"/>
                </a:lnTo>
                <a:lnTo>
                  <a:pt x="0" y="606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5574600" y="2746800"/>
            <a:ext cx="44906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5574600" y="2072520"/>
            <a:ext cx="44906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5574600" y="1397880"/>
            <a:ext cx="44906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5574600" y="723240"/>
            <a:ext cx="44906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5574600" y="2746800"/>
            <a:ext cx="4458240" cy="0"/>
          </a:xfrm>
          <a:prstGeom prst="line">
            <a:avLst/>
          </a:prstGeom>
          <a:ln w="9360">
            <a:solidFill>
              <a:srgbClr val="8C8C8C"/>
            </a:solidFill>
            <a:custDash>
              <a:ds d="403846" sp="403846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5778360" y="763920"/>
            <a:ext cx="4083120" cy="1195920"/>
          </a:xfrm>
          <a:custGeom>
            <a:avLst/>
            <a:gdLst/>
            <a:ahLst/>
            <a:rect l="0" t="0" r="r" b="b"/>
            <a:pathLst>
              <a:path w="11342" h="3322">
                <a:moveTo>
                  <a:pt x="0" y="159"/>
                </a:moveTo>
                <a:lnTo>
                  <a:pt x="3782" y="0"/>
                </a:lnTo>
                <a:lnTo>
                  <a:pt x="7562" y="51"/>
                </a:lnTo>
                <a:lnTo>
                  <a:pt x="11342" y="104"/>
                </a:lnTo>
                <a:lnTo>
                  <a:pt x="11342" y="3235"/>
                </a:lnTo>
                <a:lnTo>
                  <a:pt x="7562" y="3211"/>
                </a:lnTo>
                <a:lnTo>
                  <a:pt x="3782" y="3203"/>
                </a:lnTo>
                <a:lnTo>
                  <a:pt x="0" y="3322"/>
                </a:lnTo>
                <a:lnTo>
                  <a:pt x="0" y="159"/>
                </a:lnTo>
                <a:close/>
              </a:path>
            </a:pathLst>
          </a:custGeom>
          <a:solidFill>
            <a:srgbClr val="0072B2">
              <a:alpha val="12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5778360" y="946800"/>
            <a:ext cx="4083120" cy="1156680"/>
          </a:xfrm>
          <a:custGeom>
            <a:avLst/>
            <a:gdLst/>
            <a:ahLst/>
            <a:rect l="0" t="0" r="r" b="b"/>
            <a:pathLst>
              <a:path w="11342" h="3213">
                <a:moveTo>
                  <a:pt x="0" y="131"/>
                </a:moveTo>
                <a:lnTo>
                  <a:pt x="3782" y="0"/>
                </a:lnTo>
                <a:lnTo>
                  <a:pt x="7562" y="145"/>
                </a:lnTo>
                <a:lnTo>
                  <a:pt x="11342" y="196"/>
                </a:lnTo>
                <a:lnTo>
                  <a:pt x="11342" y="3213"/>
                </a:lnTo>
                <a:lnTo>
                  <a:pt x="7562" y="3191"/>
                </a:lnTo>
                <a:lnTo>
                  <a:pt x="3782" y="3125"/>
                </a:lnTo>
                <a:lnTo>
                  <a:pt x="0" y="3205"/>
                </a:lnTo>
                <a:lnTo>
                  <a:pt x="0" y="131"/>
                </a:lnTo>
                <a:close/>
              </a:path>
            </a:pathLst>
          </a:custGeom>
          <a:solidFill>
            <a:srgbClr val="999999">
              <a:alpha val="12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5778360" y="888480"/>
            <a:ext cx="4083120" cy="1187640"/>
          </a:xfrm>
          <a:custGeom>
            <a:avLst/>
            <a:gdLst/>
            <a:ahLst/>
            <a:rect l="0" t="0" r="r" b="b"/>
            <a:pathLst>
              <a:path w="11342" h="3299">
                <a:moveTo>
                  <a:pt x="0" y="205"/>
                </a:moveTo>
                <a:lnTo>
                  <a:pt x="3782" y="0"/>
                </a:lnTo>
                <a:lnTo>
                  <a:pt x="7562" y="86"/>
                </a:lnTo>
                <a:lnTo>
                  <a:pt x="11342" y="54"/>
                </a:lnTo>
                <a:lnTo>
                  <a:pt x="11342" y="3145"/>
                </a:lnTo>
                <a:lnTo>
                  <a:pt x="7562" y="3190"/>
                </a:lnTo>
                <a:lnTo>
                  <a:pt x="3782" y="3163"/>
                </a:lnTo>
                <a:lnTo>
                  <a:pt x="0" y="3299"/>
                </a:lnTo>
                <a:lnTo>
                  <a:pt x="0" y="205"/>
                </a:lnTo>
                <a:close/>
              </a:path>
            </a:pathLst>
          </a:custGeom>
          <a:solidFill>
            <a:srgbClr val="009E73">
              <a:alpha val="12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5778360" y="1375200"/>
            <a:ext cx="4083120" cy="49680"/>
          </a:xfrm>
          <a:custGeom>
            <a:avLst/>
            <a:gdLst/>
            <a:ahLst/>
            <a:rect l="0" t="0" r="r" b="b"/>
            <a:pathLst>
              <a:path fill="none" w="11342" h="138">
                <a:moveTo>
                  <a:pt x="0" y="138"/>
                </a:moveTo>
                <a:lnTo>
                  <a:pt x="3782" y="0"/>
                </a:lnTo>
                <a:lnTo>
                  <a:pt x="7562" y="27"/>
                </a:lnTo>
                <a:lnTo>
                  <a:pt x="11342" y="64"/>
                </a:lnTo>
              </a:path>
            </a:pathLst>
          </a:custGeom>
          <a:ln w="18720">
            <a:solidFill>
              <a:srgbClr val="0072B2"/>
            </a:solidFill>
            <a:round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5778360" y="1543680"/>
            <a:ext cx="4083120" cy="49320"/>
          </a:xfrm>
          <a:custGeom>
            <a:avLst/>
            <a:gdLst/>
            <a:ahLst/>
            <a:rect l="0" t="0" r="r" b="b"/>
            <a:pathLst>
              <a:path fill="none" w="11342" h="137">
                <a:moveTo>
                  <a:pt x="0" y="103"/>
                </a:moveTo>
                <a:lnTo>
                  <a:pt x="3782" y="0"/>
                </a:lnTo>
                <a:lnTo>
                  <a:pt x="7562" y="101"/>
                </a:lnTo>
                <a:lnTo>
                  <a:pt x="11342" y="137"/>
                </a:lnTo>
              </a:path>
            </a:pathLst>
          </a:custGeom>
          <a:ln w="18720">
            <a:solidFill>
              <a:srgbClr val="999999"/>
            </a:solidFill>
            <a:round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5778360" y="1492560"/>
            <a:ext cx="4083120" cy="60840"/>
          </a:xfrm>
          <a:custGeom>
            <a:avLst/>
            <a:gdLst/>
            <a:ahLst/>
            <a:rect l="0" t="0" r="r" b="b"/>
            <a:pathLst>
              <a:path fill="none" w="11342" h="169">
                <a:moveTo>
                  <a:pt x="0" y="169"/>
                </a:moveTo>
                <a:lnTo>
                  <a:pt x="3782" y="0"/>
                </a:lnTo>
                <a:lnTo>
                  <a:pt x="7562" y="53"/>
                </a:lnTo>
                <a:lnTo>
                  <a:pt x="11342" y="14"/>
                </a:lnTo>
              </a:path>
            </a:pathLst>
          </a:custGeom>
          <a:ln w="18720">
            <a:solidFill>
              <a:srgbClr val="009E73"/>
            </a:solidFill>
            <a:round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5755320" y="1530000"/>
            <a:ext cx="46800" cy="46440"/>
          </a:xfrm>
          <a:custGeom>
            <a:avLst/>
            <a:gdLst/>
            <a:ahLst/>
            <a:rect l="0" t="0" r="r" b="b"/>
            <a:pathLst>
              <a:path w="130" h="129">
                <a:moveTo>
                  <a:pt x="0" y="65"/>
                </a:moveTo>
                <a:cubicBezTo>
                  <a:pt x="0" y="-22"/>
                  <a:pt x="130" y="-22"/>
                  <a:pt x="130" y="65"/>
                </a:cubicBezTo>
                <a:cubicBezTo>
                  <a:pt x="130" y="150"/>
                  <a:pt x="0" y="150"/>
                  <a:pt x="0" y="65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5755320" y="1530000"/>
            <a:ext cx="46800" cy="46440"/>
          </a:xfrm>
          <a:custGeom>
            <a:avLst/>
            <a:gdLst/>
            <a:ahLst/>
            <a:rect l="0" t="0" r="r" b="b"/>
            <a:pathLst>
              <a:path fill="none" w="130" h="129">
                <a:moveTo>
                  <a:pt x="130" y="65"/>
                </a:moveTo>
                <a:cubicBezTo>
                  <a:pt x="130" y="150"/>
                  <a:pt x="0" y="150"/>
                  <a:pt x="0" y="65"/>
                </a:cubicBezTo>
                <a:cubicBezTo>
                  <a:pt x="0" y="-22"/>
                  <a:pt x="130" y="-22"/>
                  <a:pt x="130" y="65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7116480" y="146952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1"/>
                  <a:pt x="0" y="151"/>
                  <a:pt x="0" y="65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7116480" y="146952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5"/>
                </a:moveTo>
                <a:cubicBezTo>
                  <a:pt x="129" y="151"/>
                  <a:pt x="0" y="151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8477280" y="148860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1"/>
                  <a:pt x="0" y="151"/>
                  <a:pt x="0" y="65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8477280" y="148860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5"/>
                </a:moveTo>
                <a:cubicBezTo>
                  <a:pt x="129" y="151"/>
                  <a:pt x="0" y="151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9838080" y="147456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5"/>
                </a:moveTo>
                <a:cubicBezTo>
                  <a:pt x="0" y="-22"/>
                  <a:pt x="129" y="-22"/>
                  <a:pt x="129" y="65"/>
                </a:cubicBezTo>
                <a:cubicBezTo>
                  <a:pt x="129" y="150"/>
                  <a:pt x="0" y="150"/>
                  <a:pt x="0" y="65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9838080" y="147456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5"/>
                </a:moveTo>
                <a:cubicBezTo>
                  <a:pt x="129" y="150"/>
                  <a:pt x="0" y="150"/>
                  <a:pt x="0" y="65"/>
                </a:cubicBezTo>
                <a:cubicBezTo>
                  <a:pt x="0" y="-22"/>
                  <a:pt x="129" y="-22"/>
                  <a:pt x="129" y="65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5755320" y="1557720"/>
            <a:ext cx="46800" cy="46080"/>
          </a:xfrm>
          <a:custGeom>
            <a:avLst/>
            <a:gdLst/>
            <a:ahLst/>
            <a:rect l="0" t="0" r="r" b="b"/>
            <a:pathLst>
              <a:path w="130" h="128">
                <a:moveTo>
                  <a:pt x="0" y="64"/>
                </a:moveTo>
                <a:cubicBezTo>
                  <a:pt x="0" y="-21"/>
                  <a:pt x="130" y="-21"/>
                  <a:pt x="130" y="64"/>
                </a:cubicBezTo>
                <a:cubicBezTo>
                  <a:pt x="130" y="150"/>
                  <a:pt x="0" y="150"/>
                  <a:pt x="0" y="64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5755320" y="1557720"/>
            <a:ext cx="46800" cy="46080"/>
          </a:xfrm>
          <a:custGeom>
            <a:avLst/>
            <a:gdLst/>
            <a:ahLst/>
            <a:rect l="0" t="0" r="r" b="b"/>
            <a:pathLst>
              <a:path fill="none" w="130" h="128">
                <a:moveTo>
                  <a:pt x="130" y="64"/>
                </a:moveTo>
                <a:cubicBezTo>
                  <a:pt x="130" y="150"/>
                  <a:pt x="0" y="150"/>
                  <a:pt x="0" y="64"/>
                </a:cubicBezTo>
                <a:cubicBezTo>
                  <a:pt x="0" y="-21"/>
                  <a:pt x="130" y="-21"/>
                  <a:pt x="130" y="64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7116480" y="152064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5"/>
                </a:moveTo>
                <a:cubicBezTo>
                  <a:pt x="0" y="-22"/>
                  <a:pt x="129" y="-22"/>
                  <a:pt x="129" y="65"/>
                </a:cubicBezTo>
                <a:cubicBezTo>
                  <a:pt x="129" y="150"/>
                  <a:pt x="0" y="150"/>
                  <a:pt x="0" y="65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7116480" y="152064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5"/>
                </a:moveTo>
                <a:cubicBezTo>
                  <a:pt x="129" y="150"/>
                  <a:pt x="0" y="150"/>
                  <a:pt x="0" y="65"/>
                </a:cubicBezTo>
                <a:cubicBezTo>
                  <a:pt x="0" y="-22"/>
                  <a:pt x="129" y="-22"/>
                  <a:pt x="129" y="65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8477280" y="155700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4"/>
                </a:moveTo>
                <a:cubicBezTo>
                  <a:pt x="0" y="-21"/>
                  <a:pt x="129" y="-21"/>
                  <a:pt x="129" y="64"/>
                </a:cubicBezTo>
                <a:cubicBezTo>
                  <a:pt x="129" y="151"/>
                  <a:pt x="0" y="151"/>
                  <a:pt x="0" y="64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8477280" y="155700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4"/>
                </a:moveTo>
                <a:cubicBezTo>
                  <a:pt x="129" y="151"/>
                  <a:pt x="0" y="151"/>
                  <a:pt x="0" y="64"/>
                </a:cubicBezTo>
                <a:cubicBezTo>
                  <a:pt x="0" y="-21"/>
                  <a:pt x="129" y="-21"/>
                  <a:pt x="129" y="64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9838080" y="1569600"/>
            <a:ext cx="46440" cy="46080"/>
          </a:xfrm>
          <a:custGeom>
            <a:avLst/>
            <a:gdLst/>
            <a:ahLst/>
            <a:rect l="0" t="0" r="r" b="b"/>
            <a:pathLst>
              <a:path w="129" h="128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0"/>
                  <a:pt x="0" y="150"/>
                  <a:pt x="0" y="65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9838080" y="1569600"/>
            <a:ext cx="46440" cy="46080"/>
          </a:xfrm>
          <a:custGeom>
            <a:avLst/>
            <a:gdLst/>
            <a:ahLst/>
            <a:rect l="0" t="0" r="r" b="b"/>
            <a:pathLst>
              <a:path fill="none" w="129" h="128">
                <a:moveTo>
                  <a:pt x="129" y="65"/>
                </a:moveTo>
                <a:cubicBezTo>
                  <a:pt x="129" y="150"/>
                  <a:pt x="0" y="150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5755320" y="1401480"/>
            <a:ext cx="46800" cy="46800"/>
          </a:xfrm>
          <a:custGeom>
            <a:avLst/>
            <a:gdLst/>
            <a:ahLst/>
            <a:rect l="0" t="0" r="r" b="b"/>
            <a:pathLst>
              <a:path w="130" h="130">
                <a:moveTo>
                  <a:pt x="0" y="65"/>
                </a:moveTo>
                <a:cubicBezTo>
                  <a:pt x="0" y="-21"/>
                  <a:pt x="130" y="-21"/>
                  <a:pt x="130" y="65"/>
                </a:cubicBezTo>
                <a:cubicBezTo>
                  <a:pt x="130" y="152"/>
                  <a:pt x="0" y="152"/>
                  <a:pt x="0" y="65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5755320" y="1401480"/>
            <a:ext cx="46800" cy="46800"/>
          </a:xfrm>
          <a:custGeom>
            <a:avLst/>
            <a:gdLst/>
            <a:ahLst/>
            <a:rect l="0" t="0" r="r" b="b"/>
            <a:pathLst>
              <a:path fill="none" w="130" h="130">
                <a:moveTo>
                  <a:pt x="130" y="65"/>
                </a:moveTo>
                <a:cubicBezTo>
                  <a:pt x="130" y="152"/>
                  <a:pt x="0" y="152"/>
                  <a:pt x="0" y="65"/>
                </a:cubicBezTo>
                <a:cubicBezTo>
                  <a:pt x="0" y="-21"/>
                  <a:pt x="130" y="-21"/>
                  <a:pt x="130" y="65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7116480" y="135216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0" y="65"/>
                </a:moveTo>
                <a:cubicBezTo>
                  <a:pt x="0" y="-22"/>
                  <a:pt x="129" y="-22"/>
                  <a:pt x="129" y="65"/>
                </a:cubicBezTo>
                <a:cubicBezTo>
                  <a:pt x="129" y="151"/>
                  <a:pt x="0" y="151"/>
                  <a:pt x="0" y="65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7116480" y="1352160"/>
            <a:ext cx="46440" cy="46800"/>
          </a:xfrm>
          <a:custGeom>
            <a:avLst/>
            <a:gdLst/>
            <a:ahLst/>
            <a:rect l="0" t="0" r="r" b="b"/>
            <a:pathLst>
              <a:path fill="none" w="129" h="130">
                <a:moveTo>
                  <a:pt x="129" y="65"/>
                </a:moveTo>
                <a:cubicBezTo>
                  <a:pt x="129" y="151"/>
                  <a:pt x="0" y="151"/>
                  <a:pt x="0" y="65"/>
                </a:cubicBezTo>
                <a:cubicBezTo>
                  <a:pt x="0" y="-22"/>
                  <a:pt x="129" y="-22"/>
                  <a:pt x="129" y="65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8477280" y="136188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2"/>
                  <a:pt x="0" y="152"/>
                  <a:pt x="0" y="65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8477280" y="1361880"/>
            <a:ext cx="46440" cy="46800"/>
          </a:xfrm>
          <a:custGeom>
            <a:avLst/>
            <a:gdLst/>
            <a:ahLst/>
            <a:rect l="0" t="0" r="r" b="b"/>
            <a:pathLst>
              <a:path fill="none" w="129" h="130">
                <a:moveTo>
                  <a:pt x="129" y="65"/>
                </a:moveTo>
                <a:cubicBezTo>
                  <a:pt x="129" y="152"/>
                  <a:pt x="0" y="152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9838080" y="137520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1"/>
                  <a:pt x="0" y="151"/>
                  <a:pt x="0" y="65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9838080" y="137520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5"/>
                </a:moveTo>
                <a:cubicBezTo>
                  <a:pt x="129" y="151"/>
                  <a:pt x="0" y="151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 flipV="1">
            <a:off x="5574600" y="664560"/>
            <a:ext cx="0" cy="218160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150480" y="11484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5390640" y="269640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5390640" y="202176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5390640" y="13471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5542920" y="274680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5542920" y="207252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5542920" y="139788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5542920" y="72324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5574600" y="2846160"/>
            <a:ext cx="449064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 flipV="1">
            <a:off x="5778360" y="284616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 flipV="1">
            <a:off x="7139520" y="284616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 flipV="1">
            <a:off x="8500320" y="284616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 flipV="1">
            <a:off x="9861120" y="284616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5390640" y="67248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5753160" y="289044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7088760" y="289044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8449560" y="289044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9810360" y="289044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899400" y="3036240"/>
            <a:ext cx="180036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Accumulation window W (years)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 rot="16200000">
            <a:off x="4670640" y="1715040"/>
            <a:ext cx="122400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Hazard ratio per 1 SD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5574600" y="335880"/>
            <a:ext cx="214668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1.34-1.41 across all twelve combinations,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5574600" y="461880"/>
            <a:ext cx="274032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as expected if the two terms are separately identiﬁed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5574600" y="132840"/>
            <a:ext cx="233784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The effort coefﬁcient does not care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69480" y="3251880"/>
            <a:ext cx="5061600" cy="3435120"/>
          </a:xfrm>
          <a:custGeom>
            <a:avLst/>
            <a:gdLst/>
            <a:ahLst/>
            <a:rect l="0" t="0" r="r" b="b"/>
            <a:pathLst>
              <a:path w="14060" h="9542">
                <a:moveTo>
                  <a:pt x="0" y="0"/>
                </a:moveTo>
                <a:lnTo>
                  <a:pt x="14060" y="0"/>
                </a:lnTo>
                <a:lnTo>
                  <a:pt x="14060" y="9542"/>
                </a:lnTo>
                <a:lnTo>
                  <a:pt x="0" y="954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5130720" y="3251880"/>
            <a:ext cx="5036040" cy="3435120"/>
          </a:xfrm>
          <a:custGeom>
            <a:avLst/>
            <a:gdLst/>
            <a:ahLst/>
            <a:rect l="0" t="0" r="r" b="b"/>
            <a:pathLst>
              <a:path w="13989" h="9542">
                <a:moveTo>
                  <a:pt x="0" y="0"/>
                </a:moveTo>
                <a:lnTo>
                  <a:pt x="13989" y="0"/>
                </a:lnTo>
                <a:lnTo>
                  <a:pt x="13989" y="9542"/>
                </a:lnTo>
                <a:lnTo>
                  <a:pt x="0" y="954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525960" y="4099680"/>
            <a:ext cx="4503600" cy="2181600"/>
          </a:xfrm>
          <a:custGeom>
            <a:avLst/>
            <a:gdLst/>
            <a:ahLst/>
            <a:rect l="0" t="0" r="r" b="b"/>
            <a:pathLst>
              <a:path w="12510" h="6060">
                <a:moveTo>
                  <a:pt x="0" y="0"/>
                </a:moveTo>
                <a:lnTo>
                  <a:pt x="12510" y="0"/>
                </a:lnTo>
                <a:lnTo>
                  <a:pt x="12510" y="6060"/>
                </a:lnTo>
                <a:lnTo>
                  <a:pt x="0" y="6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525960" y="5865120"/>
            <a:ext cx="45032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525960" y="5334120"/>
            <a:ext cx="45032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525960" y="4803120"/>
            <a:ext cx="45032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525960" y="4271760"/>
            <a:ext cx="45032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525960" y="4803120"/>
            <a:ext cx="4503240" cy="0"/>
          </a:xfrm>
          <a:prstGeom prst="line">
            <a:avLst/>
          </a:prstGeom>
          <a:ln w="9360">
            <a:solidFill>
              <a:srgbClr val="8C8C8C"/>
            </a:solidFill>
            <a:custDash>
              <a:ds d="403846" sp="403846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730440" y="4816800"/>
            <a:ext cx="4094640" cy="1365120"/>
          </a:xfrm>
          <a:custGeom>
            <a:avLst/>
            <a:gdLst/>
            <a:ahLst/>
            <a:rect l="0" t="0" r="r" b="b"/>
            <a:pathLst>
              <a:path w="11374" h="3792">
                <a:moveTo>
                  <a:pt x="0" y="0"/>
                </a:moveTo>
                <a:lnTo>
                  <a:pt x="3792" y="836"/>
                </a:lnTo>
                <a:lnTo>
                  <a:pt x="7583" y="726"/>
                </a:lnTo>
                <a:lnTo>
                  <a:pt x="11374" y="1208"/>
                </a:lnTo>
                <a:lnTo>
                  <a:pt x="11374" y="3792"/>
                </a:lnTo>
                <a:lnTo>
                  <a:pt x="7583" y="3493"/>
                </a:lnTo>
                <a:lnTo>
                  <a:pt x="3792" y="3470"/>
                </a:lnTo>
                <a:lnTo>
                  <a:pt x="0" y="2807"/>
                </a:lnTo>
                <a:lnTo>
                  <a:pt x="0" y="0"/>
                </a:lnTo>
                <a:close/>
              </a:path>
            </a:pathLst>
          </a:custGeom>
          <a:solidFill>
            <a:srgbClr val="0072B2">
              <a:alpha val="12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730440" y="4198680"/>
            <a:ext cx="4094640" cy="1663920"/>
          </a:xfrm>
          <a:custGeom>
            <a:avLst/>
            <a:gdLst/>
            <a:ahLst/>
            <a:rect l="0" t="0" r="r" b="b"/>
            <a:pathLst>
              <a:path w="11374" h="4622">
                <a:moveTo>
                  <a:pt x="0" y="0"/>
                </a:moveTo>
                <a:lnTo>
                  <a:pt x="3792" y="1115"/>
                </a:lnTo>
                <a:lnTo>
                  <a:pt x="7583" y="1355"/>
                </a:lnTo>
                <a:lnTo>
                  <a:pt x="11374" y="1735"/>
                </a:lnTo>
                <a:lnTo>
                  <a:pt x="11374" y="4622"/>
                </a:lnTo>
                <a:lnTo>
                  <a:pt x="7583" y="4257"/>
                </a:lnTo>
                <a:lnTo>
                  <a:pt x="3792" y="4085"/>
                </a:lnTo>
                <a:lnTo>
                  <a:pt x="0" y="3232"/>
                </a:lnTo>
                <a:lnTo>
                  <a:pt x="0" y="0"/>
                </a:lnTo>
                <a:close/>
              </a:path>
            </a:pathLst>
          </a:custGeom>
          <a:solidFill>
            <a:srgbClr val="999999">
              <a:alpha val="12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730440" y="4529520"/>
            <a:ext cx="4094640" cy="1429560"/>
          </a:xfrm>
          <a:custGeom>
            <a:avLst/>
            <a:gdLst/>
            <a:ahLst/>
            <a:rect l="0" t="0" r="r" b="b"/>
            <a:pathLst>
              <a:path w="11374" h="3971">
                <a:moveTo>
                  <a:pt x="0" y="0"/>
                </a:moveTo>
                <a:lnTo>
                  <a:pt x="3792" y="896"/>
                </a:lnTo>
                <a:lnTo>
                  <a:pt x="7583" y="764"/>
                </a:lnTo>
                <a:lnTo>
                  <a:pt x="11374" y="1172"/>
                </a:lnTo>
                <a:lnTo>
                  <a:pt x="11374" y="3971"/>
                </a:lnTo>
                <a:lnTo>
                  <a:pt x="7583" y="3642"/>
                </a:lnTo>
                <a:lnTo>
                  <a:pt x="3792" y="3710"/>
                </a:lnTo>
                <a:lnTo>
                  <a:pt x="0" y="3046"/>
                </a:lnTo>
                <a:lnTo>
                  <a:pt x="0" y="0"/>
                </a:lnTo>
                <a:close/>
              </a:path>
            </a:pathLst>
          </a:custGeom>
          <a:solidFill>
            <a:srgbClr val="009E73">
              <a:alpha val="12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730440" y="5348520"/>
            <a:ext cx="4094640" cy="393120"/>
          </a:xfrm>
          <a:custGeom>
            <a:avLst/>
            <a:gdLst/>
            <a:ahLst/>
            <a:rect l="0" t="0" r="r" b="b"/>
            <a:pathLst>
              <a:path fill="none" w="11374" h="1092">
                <a:moveTo>
                  <a:pt x="0" y="0"/>
                </a:moveTo>
                <a:lnTo>
                  <a:pt x="3792" y="745"/>
                </a:lnTo>
                <a:lnTo>
                  <a:pt x="7583" y="709"/>
                </a:lnTo>
                <a:lnTo>
                  <a:pt x="11374" y="1092"/>
                </a:lnTo>
              </a:path>
            </a:pathLst>
          </a:custGeom>
          <a:ln w="18720">
            <a:solidFill>
              <a:srgbClr val="0072B2"/>
            </a:solidFill>
            <a:round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730440" y="4812120"/>
            <a:ext cx="4094640" cy="559440"/>
          </a:xfrm>
          <a:custGeom>
            <a:avLst/>
            <a:gdLst/>
            <a:ahLst/>
            <a:rect l="0" t="0" r="r" b="b"/>
            <a:pathLst>
              <a:path fill="none" w="11374" h="1554">
                <a:moveTo>
                  <a:pt x="0" y="0"/>
                </a:moveTo>
                <a:lnTo>
                  <a:pt x="3792" y="976"/>
                </a:lnTo>
                <a:lnTo>
                  <a:pt x="7583" y="1180"/>
                </a:lnTo>
                <a:lnTo>
                  <a:pt x="11374" y="1554"/>
                </a:lnTo>
              </a:path>
            </a:pathLst>
          </a:custGeom>
          <a:ln w="18720">
            <a:solidFill>
              <a:srgbClr val="999999"/>
            </a:solidFill>
            <a:round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730440" y="5107680"/>
            <a:ext cx="4094640" cy="375120"/>
          </a:xfrm>
          <a:custGeom>
            <a:avLst/>
            <a:gdLst/>
            <a:ahLst/>
            <a:rect l="0" t="0" r="r" b="b"/>
            <a:pathLst>
              <a:path fill="none" w="11374" h="1042">
                <a:moveTo>
                  <a:pt x="0" y="0"/>
                </a:moveTo>
                <a:lnTo>
                  <a:pt x="3792" y="772"/>
                </a:lnTo>
                <a:lnTo>
                  <a:pt x="7583" y="675"/>
                </a:lnTo>
                <a:lnTo>
                  <a:pt x="11374" y="1042"/>
                </a:lnTo>
              </a:path>
            </a:pathLst>
          </a:custGeom>
          <a:ln w="18720">
            <a:solidFill>
              <a:srgbClr val="009E73"/>
            </a:solidFill>
            <a:round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707400" y="5084640"/>
            <a:ext cx="46800" cy="46800"/>
          </a:xfrm>
          <a:custGeom>
            <a:avLst/>
            <a:gdLst/>
            <a:ahLst/>
            <a:rect l="0" t="0" r="r" b="b"/>
            <a:pathLst>
              <a:path w="130" h="130">
                <a:moveTo>
                  <a:pt x="0" y="65"/>
                </a:moveTo>
                <a:cubicBezTo>
                  <a:pt x="0" y="-22"/>
                  <a:pt x="130" y="-22"/>
                  <a:pt x="130" y="65"/>
                </a:cubicBezTo>
                <a:cubicBezTo>
                  <a:pt x="130" y="151"/>
                  <a:pt x="0" y="151"/>
                  <a:pt x="0" y="65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707400" y="5084640"/>
            <a:ext cx="46800" cy="46800"/>
          </a:xfrm>
          <a:custGeom>
            <a:avLst/>
            <a:gdLst/>
            <a:ahLst/>
            <a:rect l="0" t="0" r="r" b="b"/>
            <a:pathLst>
              <a:path fill="none" w="130" h="130">
                <a:moveTo>
                  <a:pt x="130" y="65"/>
                </a:moveTo>
                <a:cubicBezTo>
                  <a:pt x="130" y="151"/>
                  <a:pt x="0" y="151"/>
                  <a:pt x="0" y="65"/>
                </a:cubicBezTo>
                <a:cubicBezTo>
                  <a:pt x="0" y="-22"/>
                  <a:pt x="130" y="-22"/>
                  <a:pt x="130" y="65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2072160" y="536256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0" y="65"/>
                </a:moveTo>
                <a:cubicBezTo>
                  <a:pt x="0" y="-22"/>
                  <a:pt x="129" y="-22"/>
                  <a:pt x="129" y="65"/>
                </a:cubicBezTo>
                <a:cubicBezTo>
                  <a:pt x="129" y="151"/>
                  <a:pt x="0" y="151"/>
                  <a:pt x="0" y="65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2072160" y="5362560"/>
            <a:ext cx="46440" cy="46800"/>
          </a:xfrm>
          <a:custGeom>
            <a:avLst/>
            <a:gdLst/>
            <a:ahLst/>
            <a:rect l="0" t="0" r="r" b="b"/>
            <a:pathLst>
              <a:path fill="none" w="129" h="130">
                <a:moveTo>
                  <a:pt x="129" y="65"/>
                </a:moveTo>
                <a:cubicBezTo>
                  <a:pt x="129" y="151"/>
                  <a:pt x="0" y="151"/>
                  <a:pt x="0" y="65"/>
                </a:cubicBezTo>
                <a:cubicBezTo>
                  <a:pt x="0" y="-22"/>
                  <a:pt x="129" y="-22"/>
                  <a:pt x="129" y="65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3436920" y="532764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0" y="65"/>
                </a:moveTo>
                <a:cubicBezTo>
                  <a:pt x="0" y="-22"/>
                  <a:pt x="129" y="-22"/>
                  <a:pt x="129" y="65"/>
                </a:cubicBezTo>
                <a:cubicBezTo>
                  <a:pt x="129" y="151"/>
                  <a:pt x="0" y="151"/>
                  <a:pt x="0" y="65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3436920" y="5327640"/>
            <a:ext cx="46440" cy="46800"/>
          </a:xfrm>
          <a:custGeom>
            <a:avLst/>
            <a:gdLst/>
            <a:ahLst/>
            <a:rect l="0" t="0" r="r" b="b"/>
            <a:pathLst>
              <a:path fill="none" w="129" h="130">
                <a:moveTo>
                  <a:pt x="129" y="65"/>
                </a:moveTo>
                <a:cubicBezTo>
                  <a:pt x="129" y="151"/>
                  <a:pt x="0" y="151"/>
                  <a:pt x="0" y="65"/>
                </a:cubicBezTo>
                <a:cubicBezTo>
                  <a:pt x="0" y="-22"/>
                  <a:pt x="129" y="-22"/>
                  <a:pt x="129" y="65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4801680" y="545940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1"/>
                  <a:pt x="0" y="151"/>
                  <a:pt x="0" y="65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4801680" y="545940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5"/>
                </a:moveTo>
                <a:cubicBezTo>
                  <a:pt x="129" y="151"/>
                  <a:pt x="0" y="151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707400" y="4789080"/>
            <a:ext cx="46800" cy="46440"/>
          </a:xfrm>
          <a:custGeom>
            <a:avLst/>
            <a:gdLst/>
            <a:ahLst/>
            <a:rect l="0" t="0" r="r" b="b"/>
            <a:pathLst>
              <a:path w="130" h="129">
                <a:moveTo>
                  <a:pt x="0" y="64"/>
                </a:moveTo>
                <a:cubicBezTo>
                  <a:pt x="0" y="-21"/>
                  <a:pt x="130" y="-21"/>
                  <a:pt x="130" y="64"/>
                </a:cubicBezTo>
                <a:cubicBezTo>
                  <a:pt x="130" y="151"/>
                  <a:pt x="0" y="151"/>
                  <a:pt x="0" y="64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707400" y="4789080"/>
            <a:ext cx="46800" cy="46440"/>
          </a:xfrm>
          <a:custGeom>
            <a:avLst/>
            <a:gdLst/>
            <a:ahLst/>
            <a:rect l="0" t="0" r="r" b="b"/>
            <a:pathLst>
              <a:path fill="none" w="130" h="129">
                <a:moveTo>
                  <a:pt x="130" y="64"/>
                </a:moveTo>
                <a:cubicBezTo>
                  <a:pt x="130" y="151"/>
                  <a:pt x="0" y="151"/>
                  <a:pt x="0" y="64"/>
                </a:cubicBezTo>
                <a:cubicBezTo>
                  <a:pt x="0" y="-21"/>
                  <a:pt x="130" y="-21"/>
                  <a:pt x="130" y="64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2072160" y="514044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1"/>
                  <a:pt x="0" y="151"/>
                  <a:pt x="0" y="65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2072160" y="514044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5"/>
                </a:moveTo>
                <a:cubicBezTo>
                  <a:pt x="129" y="151"/>
                  <a:pt x="0" y="151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3436920" y="521388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5"/>
                </a:moveTo>
                <a:cubicBezTo>
                  <a:pt x="0" y="-22"/>
                  <a:pt x="129" y="-22"/>
                  <a:pt x="129" y="65"/>
                </a:cubicBezTo>
                <a:cubicBezTo>
                  <a:pt x="129" y="150"/>
                  <a:pt x="0" y="150"/>
                  <a:pt x="0" y="65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3436920" y="521388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5"/>
                </a:moveTo>
                <a:cubicBezTo>
                  <a:pt x="129" y="150"/>
                  <a:pt x="0" y="150"/>
                  <a:pt x="0" y="65"/>
                </a:cubicBezTo>
                <a:cubicBezTo>
                  <a:pt x="0" y="-22"/>
                  <a:pt x="129" y="-22"/>
                  <a:pt x="129" y="65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4801680" y="5348160"/>
            <a:ext cx="46440" cy="46080"/>
          </a:xfrm>
          <a:custGeom>
            <a:avLst/>
            <a:gdLst/>
            <a:ahLst/>
            <a:rect l="0" t="0" r="r" b="b"/>
            <a:pathLst>
              <a:path w="129" h="128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0"/>
                  <a:pt x="0" y="150"/>
                  <a:pt x="0" y="65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4801680" y="5348160"/>
            <a:ext cx="46440" cy="46080"/>
          </a:xfrm>
          <a:custGeom>
            <a:avLst/>
            <a:gdLst/>
            <a:ahLst/>
            <a:rect l="0" t="0" r="r" b="b"/>
            <a:pathLst>
              <a:path fill="none" w="129" h="128">
                <a:moveTo>
                  <a:pt x="129" y="65"/>
                </a:moveTo>
                <a:cubicBezTo>
                  <a:pt x="129" y="150"/>
                  <a:pt x="0" y="150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707400" y="5325480"/>
            <a:ext cx="46800" cy="46800"/>
          </a:xfrm>
          <a:custGeom>
            <a:avLst/>
            <a:gdLst/>
            <a:ahLst/>
            <a:rect l="0" t="0" r="r" b="b"/>
            <a:pathLst>
              <a:path w="130" h="130">
                <a:moveTo>
                  <a:pt x="0" y="65"/>
                </a:moveTo>
                <a:cubicBezTo>
                  <a:pt x="0" y="-21"/>
                  <a:pt x="130" y="-21"/>
                  <a:pt x="130" y="65"/>
                </a:cubicBezTo>
                <a:cubicBezTo>
                  <a:pt x="130" y="152"/>
                  <a:pt x="0" y="152"/>
                  <a:pt x="0" y="65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707400" y="5325480"/>
            <a:ext cx="46800" cy="46800"/>
          </a:xfrm>
          <a:custGeom>
            <a:avLst/>
            <a:gdLst/>
            <a:ahLst/>
            <a:rect l="0" t="0" r="r" b="b"/>
            <a:pathLst>
              <a:path fill="none" w="130" h="130">
                <a:moveTo>
                  <a:pt x="130" y="65"/>
                </a:moveTo>
                <a:cubicBezTo>
                  <a:pt x="130" y="152"/>
                  <a:pt x="0" y="152"/>
                  <a:pt x="0" y="65"/>
                </a:cubicBezTo>
                <a:cubicBezTo>
                  <a:pt x="0" y="-21"/>
                  <a:pt x="130" y="-21"/>
                  <a:pt x="130" y="65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2072160" y="559368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2"/>
                  <a:pt x="0" y="152"/>
                  <a:pt x="0" y="65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2072160" y="5593680"/>
            <a:ext cx="46440" cy="46800"/>
          </a:xfrm>
          <a:custGeom>
            <a:avLst/>
            <a:gdLst/>
            <a:ahLst/>
            <a:rect l="0" t="0" r="r" b="b"/>
            <a:pathLst>
              <a:path fill="none" w="129" h="130">
                <a:moveTo>
                  <a:pt x="129" y="65"/>
                </a:moveTo>
                <a:cubicBezTo>
                  <a:pt x="129" y="152"/>
                  <a:pt x="0" y="152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3436920" y="558072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5"/>
                </a:moveTo>
                <a:cubicBezTo>
                  <a:pt x="0" y="-22"/>
                  <a:pt x="129" y="-22"/>
                  <a:pt x="129" y="65"/>
                </a:cubicBezTo>
                <a:cubicBezTo>
                  <a:pt x="129" y="150"/>
                  <a:pt x="0" y="150"/>
                  <a:pt x="0" y="65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3436920" y="558072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5"/>
                </a:moveTo>
                <a:cubicBezTo>
                  <a:pt x="129" y="150"/>
                  <a:pt x="0" y="150"/>
                  <a:pt x="0" y="65"/>
                </a:cubicBezTo>
                <a:cubicBezTo>
                  <a:pt x="0" y="-22"/>
                  <a:pt x="129" y="-22"/>
                  <a:pt x="129" y="65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4801680" y="571824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1"/>
                  <a:pt x="0" y="151"/>
                  <a:pt x="0" y="65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4801680" y="571824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5"/>
                </a:moveTo>
                <a:cubicBezTo>
                  <a:pt x="129" y="151"/>
                  <a:pt x="0" y="151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 flipV="1">
            <a:off x="525960" y="4099680"/>
            <a:ext cx="0" cy="218124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5192640" y="11484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342000" y="58147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342000" y="52837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342000" y="475236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494280" y="586512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494280" y="533412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494280" y="480312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494280" y="427176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525960" y="6280920"/>
            <a:ext cx="450360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 flipV="1">
            <a:off x="730440" y="6280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 flipV="1">
            <a:off x="2095200" y="6280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 flipV="1">
            <a:off x="3459960" y="6280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 flipV="1">
            <a:off x="4824720" y="6280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342000" y="422136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05240" y="632520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2044800" y="632520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3409200" y="632520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4773960" y="632520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1857240" y="6471360"/>
            <a:ext cx="180036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Accumulation window W (years)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 rot="16200000">
            <a:off x="-377640" y="5150160"/>
            <a:ext cx="122400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Hazard ratio per 1 SD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525960" y="3518280"/>
            <a:ext cx="35946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Warming x effort stays below 1 at every window, source and baseline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525960" y="3315240"/>
            <a:ext cx="255564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The interaction is negative throughout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5561640" y="4099680"/>
            <a:ext cx="4503960" cy="2181600"/>
          </a:xfrm>
          <a:custGeom>
            <a:avLst/>
            <a:gdLst/>
            <a:ahLst/>
            <a:rect l="0" t="0" r="r" b="b"/>
            <a:pathLst>
              <a:path w="12511" h="6060">
                <a:moveTo>
                  <a:pt x="0" y="0"/>
                </a:moveTo>
                <a:lnTo>
                  <a:pt x="12511" y="0"/>
                </a:lnTo>
                <a:lnTo>
                  <a:pt x="12511" y="6060"/>
                </a:lnTo>
                <a:lnTo>
                  <a:pt x="0" y="6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5561640" y="6181560"/>
            <a:ext cx="450360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5561640" y="5765040"/>
            <a:ext cx="450360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5561640" y="5348160"/>
            <a:ext cx="450360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5561640" y="4931640"/>
            <a:ext cx="450360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5561640" y="4514760"/>
            <a:ext cx="450360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5766480" y="4198680"/>
            <a:ext cx="4094280" cy="1983240"/>
          </a:xfrm>
          <a:custGeom>
            <a:avLst/>
            <a:gdLst/>
            <a:ahLst/>
            <a:rect l="0" t="0" r="r" b="b"/>
            <a:pathLst>
              <a:path fill="none" w="11373" h="5509">
                <a:moveTo>
                  <a:pt x="0" y="0"/>
                </a:moveTo>
                <a:lnTo>
                  <a:pt x="3792" y="1596"/>
                </a:lnTo>
                <a:lnTo>
                  <a:pt x="7583" y="4999"/>
                </a:lnTo>
                <a:lnTo>
                  <a:pt x="11373" y="5509"/>
                </a:lnTo>
              </a:path>
            </a:pathLst>
          </a:custGeom>
          <a:ln w="18720">
            <a:solidFill>
              <a:srgbClr val="0072B2"/>
            </a:solidFill>
            <a:round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5766480" y="4489200"/>
            <a:ext cx="4094280" cy="1692720"/>
          </a:xfrm>
          <a:custGeom>
            <a:avLst/>
            <a:gdLst/>
            <a:ahLst/>
            <a:rect l="0" t="0" r="r" b="b"/>
            <a:pathLst>
              <a:path fill="none" w="11373" h="4702">
                <a:moveTo>
                  <a:pt x="0" y="0"/>
                </a:moveTo>
                <a:lnTo>
                  <a:pt x="3792" y="634"/>
                </a:lnTo>
                <a:lnTo>
                  <a:pt x="7583" y="3411"/>
                </a:lnTo>
                <a:lnTo>
                  <a:pt x="11373" y="4702"/>
                </a:lnTo>
              </a:path>
            </a:pathLst>
          </a:custGeom>
          <a:ln w="18720">
            <a:solidFill>
              <a:srgbClr val="999999"/>
            </a:solidFill>
            <a:round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5766480" y="4289400"/>
            <a:ext cx="4094280" cy="1892520"/>
          </a:xfrm>
          <a:custGeom>
            <a:avLst/>
            <a:gdLst/>
            <a:ahLst/>
            <a:rect l="0" t="0" r="r" b="b"/>
            <a:pathLst>
              <a:path fill="none" w="11373" h="5257">
                <a:moveTo>
                  <a:pt x="0" y="0"/>
                </a:moveTo>
                <a:lnTo>
                  <a:pt x="3792" y="1293"/>
                </a:lnTo>
                <a:lnTo>
                  <a:pt x="7583" y="4096"/>
                </a:lnTo>
                <a:lnTo>
                  <a:pt x="11373" y="5257"/>
                </a:lnTo>
              </a:path>
            </a:pathLst>
          </a:custGeom>
          <a:ln w="18720">
            <a:solidFill>
              <a:srgbClr val="009E73"/>
            </a:solidFill>
            <a:round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5743440" y="426636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1"/>
                  <a:pt x="0" y="151"/>
                  <a:pt x="0" y="65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5743440" y="426636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5"/>
                </a:moveTo>
                <a:cubicBezTo>
                  <a:pt x="129" y="151"/>
                  <a:pt x="0" y="151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7108200" y="473148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4"/>
                </a:moveTo>
                <a:cubicBezTo>
                  <a:pt x="0" y="-21"/>
                  <a:pt x="129" y="-21"/>
                  <a:pt x="129" y="64"/>
                </a:cubicBezTo>
                <a:cubicBezTo>
                  <a:pt x="129" y="151"/>
                  <a:pt x="0" y="151"/>
                  <a:pt x="0" y="64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7108200" y="473148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4"/>
                </a:moveTo>
                <a:cubicBezTo>
                  <a:pt x="129" y="151"/>
                  <a:pt x="0" y="151"/>
                  <a:pt x="0" y="64"/>
                </a:cubicBezTo>
                <a:cubicBezTo>
                  <a:pt x="0" y="-21"/>
                  <a:pt x="129" y="-21"/>
                  <a:pt x="129" y="64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8472600" y="5740560"/>
            <a:ext cx="46800" cy="46800"/>
          </a:xfrm>
          <a:custGeom>
            <a:avLst/>
            <a:gdLst/>
            <a:ahLst/>
            <a:rect l="0" t="0" r="r" b="b"/>
            <a:pathLst>
              <a:path w="130" h="130">
                <a:moveTo>
                  <a:pt x="0" y="65"/>
                </a:moveTo>
                <a:cubicBezTo>
                  <a:pt x="0" y="-21"/>
                  <a:pt x="130" y="-21"/>
                  <a:pt x="130" y="65"/>
                </a:cubicBezTo>
                <a:cubicBezTo>
                  <a:pt x="130" y="152"/>
                  <a:pt x="0" y="152"/>
                  <a:pt x="0" y="65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8472600" y="5740560"/>
            <a:ext cx="46800" cy="46800"/>
          </a:xfrm>
          <a:custGeom>
            <a:avLst/>
            <a:gdLst/>
            <a:ahLst/>
            <a:rect l="0" t="0" r="r" b="b"/>
            <a:pathLst>
              <a:path fill="none" w="130" h="130">
                <a:moveTo>
                  <a:pt x="130" y="65"/>
                </a:moveTo>
                <a:cubicBezTo>
                  <a:pt x="130" y="152"/>
                  <a:pt x="0" y="152"/>
                  <a:pt x="0" y="65"/>
                </a:cubicBezTo>
                <a:cubicBezTo>
                  <a:pt x="0" y="-21"/>
                  <a:pt x="130" y="-21"/>
                  <a:pt x="130" y="65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9837360" y="615852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2"/>
                  <a:pt x="0" y="152"/>
                  <a:pt x="0" y="65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9837360" y="6158520"/>
            <a:ext cx="46440" cy="46800"/>
          </a:xfrm>
          <a:custGeom>
            <a:avLst/>
            <a:gdLst/>
            <a:ahLst/>
            <a:rect l="0" t="0" r="r" b="b"/>
            <a:pathLst>
              <a:path fill="none" w="129" h="130">
                <a:moveTo>
                  <a:pt x="129" y="65"/>
                </a:moveTo>
                <a:cubicBezTo>
                  <a:pt x="129" y="152"/>
                  <a:pt x="0" y="152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5743440" y="446616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1"/>
                  <a:pt x="0" y="151"/>
                  <a:pt x="0" y="65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5743440" y="446616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5"/>
                </a:moveTo>
                <a:cubicBezTo>
                  <a:pt x="129" y="151"/>
                  <a:pt x="0" y="151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7108200" y="469440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4"/>
                </a:moveTo>
                <a:cubicBezTo>
                  <a:pt x="0" y="-21"/>
                  <a:pt x="129" y="-21"/>
                  <a:pt x="129" y="64"/>
                </a:cubicBezTo>
                <a:cubicBezTo>
                  <a:pt x="129" y="151"/>
                  <a:pt x="0" y="151"/>
                  <a:pt x="0" y="64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7108200" y="469440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4"/>
                </a:moveTo>
                <a:cubicBezTo>
                  <a:pt x="129" y="151"/>
                  <a:pt x="0" y="151"/>
                  <a:pt x="0" y="64"/>
                </a:cubicBezTo>
                <a:cubicBezTo>
                  <a:pt x="0" y="-21"/>
                  <a:pt x="129" y="-21"/>
                  <a:pt x="129" y="64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8472600" y="5694120"/>
            <a:ext cx="46800" cy="46800"/>
          </a:xfrm>
          <a:custGeom>
            <a:avLst/>
            <a:gdLst/>
            <a:ahLst/>
            <a:rect l="0" t="0" r="r" b="b"/>
            <a:pathLst>
              <a:path w="130" h="130">
                <a:moveTo>
                  <a:pt x="0" y="65"/>
                </a:moveTo>
                <a:cubicBezTo>
                  <a:pt x="0" y="-22"/>
                  <a:pt x="130" y="-22"/>
                  <a:pt x="130" y="65"/>
                </a:cubicBezTo>
                <a:cubicBezTo>
                  <a:pt x="130" y="151"/>
                  <a:pt x="0" y="151"/>
                  <a:pt x="0" y="65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8472600" y="5694120"/>
            <a:ext cx="46800" cy="46800"/>
          </a:xfrm>
          <a:custGeom>
            <a:avLst/>
            <a:gdLst/>
            <a:ahLst/>
            <a:rect l="0" t="0" r="r" b="b"/>
            <a:pathLst>
              <a:path fill="none" w="130" h="130">
                <a:moveTo>
                  <a:pt x="130" y="65"/>
                </a:moveTo>
                <a:cubicBezTo>
                  <a:pt x="130" y="151"/>
                  <a:pt x="0" y="151"/>
                  <a:pt x="0" y="65"/>
                </a:cubicBezTo>
                <a:cubicBezTo>
                  <a:pt x="0" y="-22"/>
                  <a:pt x="130" y="-22"/>
                  <a:pt x="130" y="65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9837360" y="615852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2"/>
                  <a:pt x="0" y="152"/>
                  <a:pt x="0" y="65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9837360" y="6158520"/>
            <a:ext cx="46440" cy="46800"/>
          </a:xfrm>
          <a:custGeom>
            <a:avLst/>
            <a:gdLst/>
            <a:ahLst/>
            <a:rect l="0" t="0" r="r" b="b"/>
            <a:pathLst>
              <a:path fill="none" w="129" h="130">
                <a:moveTo>
                  <a:pt x="129" y="65"/>
                </a:moveTo>
                <a:cubicBezTo>
                  <a:pt x="129" y="152"/>
                  <a:pt x="0" y="152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5743440" y="417564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1"/>
                  <a:pt x="0" y="151"/>
                  <a:pt x="0" y="65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5743440" y="4175640"/>
            <a:ext cx="46440" cy="46440"/>
          </a:xfrm>
          <a:custGeom>
            <a:avLst/>
            <a:gdLst/>
            <a:ahLst/>
            <a:rect l="0" t="0" r="r" b="b"/>
            <a:pathLst>
              <a:path fill="none" w="129" h="129">
                <a:moveTo>
                  <a:pt x="129" y="65"/>
                </a:moveTo>
                <a:cubicBezTo>
                  <a:pt x="129" y="151"/>
                  <a:pt x="0" y="151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7108200" y="4750200"/>
            <a:ext cx="46440" cy="46080"/>
          </a:xfrm>
          <a:custGeom>
            <a:avLst/>
            <a:gdLst/>
            <a:ahLst/>
            <a:rect l="0" t="0" r="r" b="b"/>
            <a:pathLst>
              <a:path w="129" h="128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0"/>
                  <a:pt x="0" y="150"/>
                  <a:pt x="0" y="65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7108200" y="4750200"/>
            <a:ext cx="46440" cy="46080"/>
          </a:xfrm>
          <a:custGeom>
            <a:avLst/>
            <a:gdLst/>
            <a:ahLst/>
            <a:rect l="0" t="0" r="r" b="b"/>
            <a:pathLst>
              <a:path fill="none" w="129" h="128">
                <a:moveTo>
                  <a:pt x="129" y="65"/>
                </a:moveTo>
                <a:cubicBezTo>
                  <a:pt x="129" y="150"/>
                  <a:pt x="0" y="150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8472600" y="5974920"/>
            <a:ext cx="46800" cy="46440"/>
          </a:xfrm>
          <a:custGeom>
            <a:avLst/>
            <a:gdLst/>
            <a:ahLst/>
            <a:rect l="0" t="0" r="r" b="b"/>
            <a:pathLst>
              <a:path w="130" h="129">
                <a:moveTo>
                  <a:pt x="0" y="64"/>
                </a:moveTo>
                <a:cubicBezTo>
                  <a:pt x="0" y="-21"/>
                  <a:pt x="130" y="-21"/>
                  <a:pt x="130" y="64"/>
                </a:cubicBezTo>
                <a:cubicBezTo>
                  <a:pt x="130" y="151"/>
                  <a:pt x="0" y="151"/>
                  <a:pt x="0" y="64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8472600" y="5974920"/>
            <a:ext cx="46800" cy="46440"/>
          </a:xfrm>
          <a:custGeom>
            <a:avLst/>
            <a:gdLst/>
            <a:ahLst/>
            <a:rect l="0" t="0" r="r" b="b"/>
            <a:pathLst>
              <a:path fill="none" w="130" h="129">
                <a:moveTo>
                  <a:pt x="130" y="64"/>
                </a:moveTo>
                <a:cubicBezTo>
                  <a:pt x="130" y="151"/>
                  <a:pt x="0" y="151"/>
                  <a:pt x="0" y="64"/>
                </a:cubicBezTo>
                <a:cubicBezTo>
                  <a:pt x="0" y="-21"/>
                  <a:pt x="130" y="-21"/>
                  <a:pt x="130" y="64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9837360" y="615852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0" y="65"/>
                </a:moveTo>
                <a:cubicBezTo>
                  <a:pt x="0" y="-21"/>
                  <a:pt x="129" y="-21"/>
                  <a:pt x="129" y="65"/>
                </a:cubicBezTo>
                <a:cubicBezTo>
                  <a:pt x="129" y="152"/>
                  <a:pt x="0" y="152"/>
                  <a:pt x="0" y="65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9837360" y="6158520"/>
            <a:ext cx="46440" cy="46800"/>
          </a:xfrm>
          <a:custGeom>
            <a:avLst/>
            <a:gdLst/>
            <a:ahLst/>
            <a:rect l="0" t="0" r="r" b="b"/>
            <a:pathLst>
              <a:path fill="none" w="129" h="130">
                <a:moveTo>
                  <a:pt x="129" y="65"/>
                </a:moveTo>
                <a:cubicBezTo>
                  <a:pt x="129" y="152"/>
                  <a:pt x="0" y="152"/>
                  <a:pt x="0" y="65"/>
                </a:cubicBezTo>
                <a:cubicBezTo>
                  <a:pt x="0" y="-21"/>
                  <a:pt x="129" y="-21"/>
                  <a:pt x="129" y="65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9807120" y="6128280"/>
            <a:ext cx="106920" cy="106920"/>
          </a:xfrm>
          <a:custGeom>
            <a:avLst/>
            <a:gdLst/>
            <a:ahLst/>
            <a:rect l="0" t="0" r="r" b="b"/>
            <a:pathLst>
              <a:path fill="none" w="297" h="297">
                <a:moveTo>
                  <a:pt x="297" y="148"/>
                </a:moveTo>
                <a:cubicBezTo>
                  <a:pt x="297" y="347"/>
                  <a:pt x="0" y="347"/>
                  <a:pt x="0" y="148"/>
                </a:cubicBezTo>
                <a:cubicBezTo>
                  <a:pt x="0" y="-49"/>
                  <a:pt x="297" y="-49"/>
                  <a:pt x="297" y="148"/>
                </a:cubicBezTo>
              </a:path>
            </a:pathLst>
          </a:custGeom>
          <a:ln cap="rnd" w="14040">
            <a:solidFill>
              <a:srgbClr val="009E73"/>
            </a:solidFill>
            <a:round/>
          </a:ln>
        </p:spPr>
        <p:txBody>
          <a:bodyPr lIns="6840" tIns="6840" rIns="6840" bIns="68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9807120" y="6128280"/>
            <a:ext cx="106920" cy="106920"/>
          </a:xfrm>
          <a:custGeom>
            <a:avLst/>
            <a:gdLst/>
            <a:ahLst/>
            <a:rect l="0" t="0" r="r" b="b"/>
            <a:pathLst>
              <a:path fill="none" w="297" h="297">
                <a:moveTo>
                  <a:pt x="297" y="148"/>
                </a:moveTo>
                <a:cubicBezTo>
                  <a:pt x="297" y="347"/>
                  <a:pt x="0" y="347"/>
                  <a:pt x="0" y="148"/>
                </a:cubicBezTo>
                <a:cubicBezTo>
                  <a:pt x="0" y="-49"/>
                  <a:pt x="297" y="-49"/>
                  <a:pt x="297" y="148"/>
                </a:cubicBezTo>
              </a:path>
            </a:pathLst>
          </a:custGeom>
          <a:ln cap="rnd" w="14040">
            <a:solidFill>
              <a:srgbClr val="999999"/>
            </a:solidFill>
            <a:round/>
          </a:ln>
        </p:spPr>
        <p:txBody>
          <a:bodyPr lIns="6840" tIns="6840" rIns="6840" bIns="68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9807120" y="6128280"/>
            <a:ext cx="106920" cy="106920"/>
          </a:xfrm>
          <a:custGeom>
            <a:avLst/>
            <a:gdLst/>
            <a:ahLst/>
            <a:rect l="0" t="0" r="r" b="b"/>
            <a:pathLst>
              <a:path fill="none" w="297" h="297">
                <a:moveTo>
                  <a:pt x="297" y="148"/>
                </a:moveTo>
                <a:cubicBezTo>
                  <a:pt x="297" y="347"/>
                  <a:pt x="0" y="347"/>
                  <a:pt x="0" y="148"/>
                </a:cubicBezTo>
                <a:cubicBezTo>
                  <a:pt x="0" y="-49"/>
                  <a:pt x="297" y="-49"/>
                  <a:pt x="297" y="148"/>
                </a:cubicBezTo>
              </a:path>
            </a:pathLst>
          </a:custGeom>
          <a:ln cap="rnd" w="14040">
            <a:solidFill>
              <a:srgbClr val="0072B2"/>
            </a:solidFill>
            <a:round/>
          </a:ln>
        </p:spPr>
        <p:txBody>
          <a:bodyPr lIns="6840" tIns="6840" rIns="6840" bIns="68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 flipV="1">
            <a:off x="5561640" y="4099680"/>
            <a:ext cx="0" cy="218124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150840" y="330084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5454000" y="613116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5454000" y="571428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5403240" y="529776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5403240" y="488088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5529960" y="618156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5529960" y="576504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5529960" y="534816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5529960" y="493164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5529960" y="451476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5561640" y="6280920"/>
            <a:ext cx="450360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 flipV="1">
            <a:off x="5766480" y="6280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 flipV="1">
            <a:off x="7131240" y="6280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 flipV="1">
            <a:off x="8496000" y="6280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 flipV="1">
            <a:off x="9860400" y="6280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5403240" y="446436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5741280" y="632520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7080480" y="632520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8445240" y="632520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9810000" y="632520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6892920" y="6471360"/>
            <a:ext cx="180036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Accumulation window W (years)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 rot="16200000">
            <a:off x="4658760" y="5138280"/>
            <a:ext cx="127296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Delta AIC within series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5562000" y="3518280"/>
            <a:ext cx="420372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Circles mark the AIC optimum; W = 15 is within 2.2-5.6 units of it in every series. 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5562000" y="3644280"/>
            <a:ext cx="398592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A ﬁner grid (3-23 yr, Extended Data Table 2) places the optimum at 18-20 yr 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5562000" y="3770640"/>
            <a:ext cx="193788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and shows AIC rising again by 23 yr, 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562000" y="3896640"/>
            <a:ext cx="343188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so the optimum is interior rather than an artefact of stopping at 20.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5562000" y="3315240"/>
            <a:ext cx="283752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All three series select a 15-20 year window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5205240" y="330084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/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Chenchen Ding</dc:creator>
  <dc:description/>
  <dc:language>zh-CN</dc:language>
  <cp:lastModifiedBy>Chenchen Ding</cp:lastModifiedBy>
  <cp:revision>0</cp:revision>
  <dc:subject/>
  <dc:title>Fig7_window_baseline_sensitivity_v2</dc:title>
</cp:coreProperties>
</file>