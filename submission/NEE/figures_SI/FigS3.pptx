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236200" cy="67564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11560" y="254880"/>
            <a:ext cx="9211680" cy="106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11560" y="1496520"/>
            <a:ext cx="9211680" cy="370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0236240" cy="6756480"/>
          </a:xfrm>
          <a:custGeom>
            <a:avLst/>
            <a:gdLst/>
            <a:ahLst/>
            <a:rect l="0" t="0" r="r" b="b"/>
            <a:pathLst>
              <a:path w="28434" h="18768">
                <a:moveTo>
                  <a:pt x="0" y="0"/>
                </a:moveTo>
                <a:lnTo>
                  <a:pt x="28434" y="0"/>
                </a:lnTo>
                <a:lnTo>
                  <a:pt x="28434" y="18768"/>
                </a:lnTo>
                <a:lnTo>
                  <a:pt x="0" y="18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0236240" cy="6756480"/>
          </a:xfrm>
          <a:custGeom>
            <a:avLst/>
            <a:gdLst/>
            <a:ahLst/>
            <a:rect l="0" t="0" r="r" b="b"/>
            <a:pathLst>
              <a:path w="28434" h="18768">
                <a:moveTo>
                  <a:pt x="0" y="0"/>
                </a:moveTo>
                <a:lnTo>
                  <a:pt x="28434" y="0"/>
                </a:lnTo>
                <a:lnTo>
                  <a:pt x="28434" y="18768"/>
                </a:lnTo>
                <a:lnTo>
                  <a:pt x="0" y="18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5048640" cy="3182760"/>
          </a:xfrm>
          <a:custGeom>
            <a:avLst/>
            <a:gdLst/>
            <a:ahLst/>
            <a:rect l="0" t="0" r="r" b="b"/>
            <a:pathLst>
              <a:path w="14024" h="8841">
                <a:moveTo>
                  <a:pt x="0" y="0"/>
                </a:moveTo>
                <a:lnTo>
                  <a:pt x="14024" y="0"/>
                </a:lnTo>
                <a:lnTo>
                  <a:pt x="14024" y="8841"/>
                </a:lnTo>
                <a:lnTo>
                  <a:pt x="0" y="88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5117760" y="69480"/>
            <a:ext cx="5049000" cy="3182760"/>
          </a:xfrm>
          <a:custGeom>
            <a:avLst/>
            <a:gdLst/>
            <a:ahLst/>
            <a:rect l="0" t="0" r="r" b="b"/>
            <a:pathLst>
              <a:path w="14025" h="8841">
                <a:moveTo>
                  <a:pt x="0" y="0"/>
                </a:moveTo>
                <a:lnTo>
                  <a:pt x="14025" y="0"/>
                </a:lnTo>
                <a:lnTo>
                  <a:pt x="14025" y="8841"/>
                </a:lnTo>
                <a:lnTo>
                  <a:pt x="0" y="88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525960" y="664560"/>
            <a:ext cx="4491000" cy="2181960"/>
          </a:xfrm>
          <a:custGeom>
            <a:avLst/>
            <a:gdLst/>
            <a:ahLst/>
            <a:rect l="0" t="0" r="r" b="b"/>
            <a:pathLst>
              <a:path w="12475" h="6061">
                <a:moveTo>
                  <a:pt x="0" y="0"/>
                </a:moveTo>
                <a:lnTo>
                  <a:pt x="12475" y="0"/>
                </a:lnTo>
                <a:lnTo>
                  <a:pt x="12475" y="6061"/>
                </a:lnTo>
                <a:lnTo>
                  <a:pt x="0" y="60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525960" y="2746800"/>
            <a:ext cx="44906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525960" y="2053080"/>
            <a:ext cx="44906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525960" y="1359360"/>
            <a:ext cx="44906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525960" y="666000"/>
            <a:ext cx="44906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525960" y="2746800"/>
            <a:ext cx="4465080" cy="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730080" y="763920"/>
            <a:ext cx="4082760" cy="1786680"/>
          </a:xfrm>
          <a:custGeom>
            <a:avLst/>
            <a:gdLst/>
            <a:ahLst/>
            <a:rect l="0" t="0" r="r" b="b"/>
            <a:pathLst>
              <a:path w="11341" h="4963">
                <a:moveTo>
                  <a:pt x="0" y="2652"/>
                </a:moveTo>
                <a:lnTo>
                  <a:pt x="3781" y="2003"/>
                </a:lnTo>
                <a:lnTo>
                  <a:pt x="7561" y="420"/>
                </a:lnTo>
                <a:lnTo>
                  <a:pt x="11341" y="0"/>
                </a:lnTo>
                <a:lnTo>
                  <a:pt x="11341" y="3129"/>
                </a:lnTo>
                <a:lnTo>
                  <a:pt x="7561" y="3402"/>
                </a:lnTo>
                <a:lnTo>
                  <a:pt x="3781" y="4611"/>
                </a:lnTo>
                <a:lnTo>
                  <a:pt x="0" y="4963"/>
                </a:lnTo>
                <a:lnTo>
                  <a:pt x="0" y="2652"/>
                </a:lnTo>
                <a:close/>
              </a:path>
            </a:pathLst>
          </a:custGeom>
          <a:solidFill>
            <a:srgbClr val="0072B2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730080" y="866160"/>
            <a:ext cx="4082760" cy="1716840"/>
          </a:xfrm>
          <a:custGeom>
            <a:avLst/>
            <a:gdLst/>
            <a:ahLst/>
            <a:rect l="0" t="0" r="r" b="b"/>
            <a:pathLst>
              <a:path w="11341" h="4769">
                <a:moveTo>
                  <a:pt x="0" y="2448"/>
                </a:moveTo>
                <a:lnTo>
                  <a:pt x="3781" y="1880"/>
                </a:lnTo>
                <a:lnTo>
                  <a:pt x="7561" y="668"/>
                </a:lnTo>
                <a:lnTo>
                  <a:pt x="11341" y="0"/>
                </a:lnTo>
                <a:lnTo>
                  <a:pt x="11341" y="3002"/>
                </a:lnTo>
                <a:lnTo>
                  <a:pt x="7561" y="3477"/>
                </a:lnTo>
                <a:lnTo>
                  <a:pt x="3781" y="4429"/>
                </a:lnTo>
                <a:lnTo>
                  <a:pt x="0" y="4769"/>
                </a:lnTo>
                <a:lnTo>
                  <a:pt x="0" y="2448"/>
                </a:lnTo>
                <a:close/>
              </a:path>
            </a:pathLst>
          </a:custGeom>
          <a:solidFill>
            <a:srgbClr val="999999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730080" y="767520"/>
            <a:ext cx="4082760" cy="1641600"/>
          </a:xfrm>
          <a:custGeom>
            <a:avLst/>
            <a:gdLst/>
            <a:ahLst/>
            <a:rect l="0" t="0" r="r" b="b"/>
            <a:pathLst>
              <a:path w="11341" h="4560">
                <a:moveTo>
                  <a:pt x="0" y="2117"/>
                </a:moveTo>
                <a:lnTo>
                  <a:pt x="3781" y="1487"/>
                </a:lnTo>
                <a:lnTo>
                  <a:pt x="7561" y="403"/>
                </a:lnTo>
                <a:lnTo>
                  <a:pt x="11341" y="0"/>
                </a:lnTo>
                <a:lnTo>
                  <a:pt x="11341" y="3047"/>
                </a:lnTo>
                <a:lnTo>
                  <a:pt x="7561" y="3377"/>
                </a:lnTo>
                <a:lnTo>
                  <a:pt x="3781" y="4199"/>
                </a:lnTo>
                <a:lnTo>
                  <a:pt x="0" y="4560"/>
                </a:lnTo>
                <a:lnTo>
                  <a:pt x="0" y="2117"/>
                </a:lnTo>
                <a:close/>
              </a:path>
            </a:pathLst>
          </a:custGeom>
          <a:solidFill>
            <a:srgbClr val="009E7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730080" y="1359360"/>
            <a:ext cx="4082760" cy="796680"/>
          </a:xfrm>
          <a:custGeom>
            <a:avLst/>
            <a:gdLst/>
            <a:ahLst/>
            <a:rect l="0" t="0" r="r" b="b"/>
            <a:pathLst>
              <a:path fill="none" w="11341" h="2213">
                <a:moveTo>
                  <a:pt x="0" y="2213"/>
                </a:moveTo>
                <a:lnTo>
                  <a:pt x="3781" y="1724"/>
                </a:lnTo>
                <a:lnTo>
                  <a:pt x="7561" y="340"/>
                </a:lnTo>
                <a:lnTo>
                  <a:pt x="11341" y="0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730080" y="1437120"/>
            <a:ext cx="4082760" cy="749880"/>
          </a:xfrm>
          <a:custGeom>
            <a:avLst/>
            <a:gdLst/>
            <a:ahLst/>
            <a:rect l="0" t="0" r="r" b="b"/>
            <a:pathLst>
              <a:path fill="none" w="11341" h="2083">
                <a:moveTo>
                  <a:pt x="0" y="2083"/>
                </a:moveTo>
                <a:lnTo>
                  <a:pt x="3781" y="1639"/>
                </a:lnTo>
                <a:lnTo>
                  <a:pt x="7561" y="564"/>
                </a:lnTo>
                <a:lnTo>
                  <a:pt x="11341" y="0"/>
                </a:lnTo>
              </a:path>
            </a:pathLst>
          </a:custGeom>
          <a:ln w="18720">
            <a:solidFill>
              <a:srgbClr val="999999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730080" y="1346760"/>
            <a:ext cx="4082760" cy="645480"/>
          </a:xfrm>
          <a:custGeom>
            <a:avLst/>
            <a:gdLst/>
            <a:ahLst/>
            <a:rect l="0" t="0" r="r" b="b"/>
            <a:pathLst>
              <a:path fill="none" w="11341" h="1793">
                <a:moveTo>
                  <a:pt x="0" y="1793"/>
                </a:moveTo>
                <a:lnTo>
                  <a:pt x="3781" y="1309"/>
                </a:lnTo>
                <a:lnTo>
                  <a:pt x="7561" y="363"/>
                </a:lnTo>
                <a:lnTo>
                  <a:pt x="11341" y="0"/>
                </a:lnTo>
              </a:path>
            </a:pathLst>
          </a:custGeom>
          <a:ln w="18720">
            <a:solidFill>
              <a:srgbClr val="009E73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707040" y="196884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707040" y="196884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067840" y="179460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4"/>
                </a:moveTo>
                <a:cubicBezTo>
                  <a:pt x="0" y="-21"/>
                  <a:pt x="129" y="-21"/>
                  <a:pt x="129" y="64"/>
                </a:cubicBezTo>
                <a:cubicBezTo>
                  <a:pt x="129" y="151"/>
                  <a:pt x="0" y="151"/>
                  <a:pt x="0" y="64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067840" y="179460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4"/>
                </a:moveTo>
                <a:cubicBezTo>
                  <a:pt x="129" y="151"/>
                  <a:pt x="0" y="151"/>
                  <a:pt x="0" y="64"/>
                </a:cubicBezTo>
                <a:cubicBezTo>
                  <a:pt x="0" y="-21"/>
                  <a:pt x="129" y="-21"/>
                  <a:pt x="129" y="64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3428640" y="145440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3428640" y="145440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4789440" y="132372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4789440" y="132372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707040" y="216360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707040" y="216360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2067840" y="200376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2067840" y="200376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3428640" y="161712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428640" y="161712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4789440" y="141408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4789440" y="141408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707040" y="213264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0"/>
                  <a:pt x="0" y="150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707040" y="213264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0"/>
                  <a:pt x="0" y="150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067840" y="195696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067840" y="195696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3428640" y="145872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3428640" y="145872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4789440" y="133632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4789440" y="133632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 flipV="1">
            <a:off x="525960" y="664560"/>
            <a:ext cx="0" cy="21816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42000" y="26964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42000" y="20026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42000" y="13089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494280" y="27468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494280" y="20530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494280" y="13593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494280" y="6660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25960" y="2846160"/>
            <a:ext cx="44906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 flipV="1">
            <a:off x="730080" y="28461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 flipV="1">
            <a:off x="2090880" y="28461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 flipV="1">
            <a:off x="3451680" y="28461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V="1">
            <a:off x="4812480" y="28461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42000" y="615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704880" y="28904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040120" y="289044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401280" y="289044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762080" y="289044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850760" y="3036240"/>
            <a:ext cx="1800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Accumulation window W (years)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2376360" y="2162160"/>
            <a:ext cx="1688400" cy="582840"/>
          </a:xfrm>
          <a:custGeom>
            <a:avLst/>
            <a:gdLst/>
            <a:ahLst/>
            <a:rect l="0" t="0" r="r" b="b"/>
            <a:pathLst>
              <a:path w="4690" h="1619">
                <a:moveTo>
                  <a:pt x="0" y="0"/>
                </a:moveTo>
                <a:lnTo>
                  <a:pt x="4690" y="0"/>
                </a:lnTo>
                <a:lnTo>
                  <a:pt x="4690" y="1619"/>
                </a:lnTo>
                <a:lnTo>
                  <a:pt x="0" y="16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 rot="16200000">
            <a:off x="-377640" y="1715040"/>
            <a:ext cx="12240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ratio per 1 SD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2439720" y="2377800"/>
            <a:ext cx="114120" cy="101520"/>
          </a:xfrm>
          <a:custGeom>
            <a:avLst/>
            <a:gdLst/>
            <a:ahLst/>
            <a:rect l="0" t="0" r="r" b="b"/>
            <a:pathLst>
              <a:path w="317" h="282">
                <a:moveTo>
                  <a:pt x="0" y="0"/>
                </a:moveTo>
                <a:lnTo>
                  <a:pt x="317" y="0"/>
                </a:lnTo>
                <a:lnTo>
                  <a:pt x="317" y="282"/>
                </a:lnTo>
                <a:lnTo>
                  <a:pt x="0" y="2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2451240" y="2428200"/>
            <a:ext cx="91080" cy="0"/>
          </a:xfrm>
          <a:prstGeom prst="line">
            <a:avLst/>
          </a:prstGeom>
          <a:ln w="187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2473560" y="240516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473560" y="240516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2439720" y="2478960"/>
            <a:ext cx="114120" cy="101520"/>
          </a:xfrm>
          <a:custGeom>
            <a:avLst/>
            <a:gdLst/>
            <a:ahLst/>
            <a:rect l="0" t="0" r="r" b="b"/>
            <a:pathLst>
              <a:path w="317" h="282">
                <a:moveTo>
                  <a:pt x="0" y="0"/>
                </a:moveTo>
                <a:lnTo>
                  <a:pt x="317" y="0"/>
                </a:lnTo>
                <a:lnTo>
                  <a:pt x="317" y="282"/>
                </a:lnTo>
                <a:lnTo>
                  <a:pt x="0" y="2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2451240" y="2529360"/>
            <a:ext cx="91080" cy="0"/>
          </a:xfrm>
          <a:prstGeom prst="line">
            <a:avLst/>
          </a:prstGeom>
          <a:ln w="18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2473560" y="250632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2473560" y="250632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2439720" y="2580120"/>
            <a:ext cx="114120" cy="101520"/>
          </a:xfrm>
          <a:custGeom>
            <a:avLst/>
            <a:gdLst/>
            <a:ahLst/>
            <a:rect l="0" t="0" r="r" b="b"/>
            <a:pathLst>
              <a:path w="317" h="282">
                <a:moveTo>
                  <a:pt x="0" y="0"/>
                </a:moveTo>
                <a:lnTo>
                  <a:pt x="317" y="0"/>
                </a:lnTo>
                <a:lnTo>
                  <a:pt x="317" y="282"/>
                </a:lnTo>
                <a:lnTo>
                  <a:pt x="0" y="2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451240" y="2630880"/>
            <a:ext cx="91080" cy="0"/>
          </a:xfrm>
          <a:prstGeom prst="line">
            <a:avLst/>
          </a:prstGeom>
          <a:ln w="187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2473560" y="260748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2473560" y="260748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439720" y="2225520"/>
            <a:ext cx="68616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8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Climate baseline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616840" y="2396880"/>
            <a:ext cx="11829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WorldClim 10' , 1980-2000 (main)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616840" y="2498040"/>
            <a:ext cx="14770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CRU TS 0.5° , 1980-2000 (source control)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616840" y="2599200"/>
            <a:ext cx="151704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CRU TS 0.5° , 1970-2000 (longer baseline)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525960" y="335880"/>
            <a:ext cx="35748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Every source and baseline gives the same rise from W = 5 to W = 20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25960" y="132840"/>
            <a:ext cx="281340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warming signal is decadal, not annual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574600" y="664560"/>
            <a:ext cx="4491000" cy="2181960"/>
          </a:xfrm>
          <a:custGeom>
            <a:avLst/>
            <a:gdLst/>
            <a:ahLst/>
            <a:rect l="0" t="0" r="r" b="b"/>
            <a:pathLst>
              <a:path w="12475" h="6061">
                <a:moveTo>
                  <a:pt x="0" y="0"/>
                </a:moveTo>
                <a:lnTo>
                  <a:pt x="12475" y="0"/>
                </a:lnTo>
                <a:lnTo>
                  <a:pt x="12475" y="6061"/>
                </a:lnTo>
                <a:lnTo>
                  <a:pt x="0" y="60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574600" y="2746800"/>
            <a:ext cx="44906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574600" y="2106000"/>
            <a:ext cx="44906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5574600" y="1465200"/>
            <a:ext cx="44906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5574600" y="824400"/>
            <a:ext cx="44906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574600" y="2746800"/>
            <a:ext cx="4458240" cy="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5778360" y="763920"/>
            <a:ext cx="4083120" cy="1161720"/>
          </a:xfrm>
          <a:custGeom>
            <a:avLst/>
            <a:gdLst/>
            <a:ahLst/>
            <a:rect l="0" t="0" r="r" b="b"/>
            <a:pathLst>
              <a:path w="11342" h="3227">
                <a:moveTo>
                  <a:pt x="0" y="173"/>
                </a:moveTo>
                <a:lnTo>
                  <a:pt x="3782" y="0"/>
                </a:lnTo>
                <a:lnTo>
                  <a:pt x="7562" y="69"/>
                </a:lnTo>
                <a:lnTo>
                  <a:pt x="11342" y="141"/>
                </a:lnTo>
                <a:lnTo>
                  <a:pt x="11342" y="3162"/>
                </a:lnTo>
                <a:lnTo>
                  <a:pt x="7562" y="3123"/>
                </a:lnTo>
                <a:lnTo>
                  <a:pt x="3782" y="3096"/>
                </a:lnTo>
                <a:lnTo>
                  <a:pt x="0" y="3227"/>
                </a:lnTo>
                <a:lnTo>
                  <a:pt x="0" y="173"/>
                </a:lnTo>
                <a:close/>
              </a:path>
            </a:pathLst>
          </a:custGeom>
          <a:solidFill>
            <a:srgbClr val="0072B2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5778360" y="898920"/>
            <a:ext cx="4083120" cy="1144080"/>
          </a:xfrm>
          <a:custGeom>
            <a:avLst/>
            <a:gdLst/>
            <a:ahLst/>
            <a:rect l="0" t="0" r="r" b="b"/>
            <a:pathLst>
              <a:path w="11342" h="3178">
                <a:moveTo>
                  <a:pt x="0" y="191"/>
                </a:moveTo>
                <a:lnTo>
                  <a:pt x="3782" y="0"/>
                </a:lnTo>
                <a:lnTo>
                  <a:pt x="7562" y="184"/>
                </a:lnTo>
                <a:lnTo>
                  <a:pt x="11342" y="252"/>
                </a:lnTo>
                <a:lnTo>
                  <a:pt x="11342" y="3178"/>
                </a:lnTo>
                <a:lnTo>
                  <a:pt x="7562" y="3144"/>
                </a:lnTo>
                <a:lnTo>
                  <a:pt x="3782" y="3046"/>
                </a:lnTo>
                <a:lnTo>
                  <a:pt x="0" y="3177"/>
                </a:lnTo>
                <a:lnTo>
                  <a:pt x="0" y="191"/>
                </a:lnTo>
                <a:close/>
              </a:path>
            </a:pathLst>
          </a:custGeom>
          <a:solidFill>
            <a:srgbClr val="999999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778360" y="837720"/>
            <a:ext cx="4083120" cy="1177920"/>
          </a:xfrm>
          <a:custGeom>
            <a:avLst/>
            <a:gdLst/>
            <a:ahLst/>
            <a:rect l="0" t="0" r="r" b="b"/>
            <a:pathLst>
              <a:path w="11342" h="3272">
                <a:moveTo>
                  <a:pt x="0" y="264"/>
                </a:moveTo>
                <a:lnTo>
                  <a:pt x="3782" y="0"/>
                </a:lnTo>
                <a:lnTo>
                  <a:pt x="7562" y="132"/>
                </a:lnTo>
                <a:lnTo>
                  <a:pt x="11342" y="132"/>
                </a:lnTo>
                <a:lnTo>
                  <a:pt x="11342" y="3132"/>
                </a:lnTo>
                <a:lnTo>
                  <a:pt x="7562" y="3153"/>
                </a:lnTo>
                <a:lnTo>
                  <a:pt x="3782" y="3086"/>
                </a:lnTo>
                <a:lnTo>
                  <a:pt x="0" y="3272"/>
                </a:lnTo>
                <a:lnTo>
                  <a:pt x="0" y="264"/>
                </a:lnTo>
                <a:close/>
              </a:path>
            </a:pathLst>
          </a:custGeom>
          <a:solidFill>
            <a:srgbClr val="009E7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778360" y="1354680"/>
            <a:ext cx="4083120" cy="54720"/>
          </a:xfrm>
          <a:custGeom>
            <a:avLst/>
            <a:gdLst/>
            <a:ahLst/>
            <a:rect l="0" t="0" r="r" b="b"/>
            <a:pathLst>
              <a:path fill="none" w="11342" h="152">
                <a:moveTo>
                  <a:pt x="0" y="152"/>
                </a:moveTo>
                <a:lnTo>
                  <a:pt x="3782" y="0"/>
                </a:lnTo>
                <a:lnTo>
                  <a:pt x="7562" y="46"/>
                </a:lnTo>
                <a:lnTo>
                  <a:pt x="11342" y="101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5778360" y="1480320"/>
            <a:ext cx="4083120" cy="67320"/>
          </a:xfrm>
          <a:custGeom>
            <a:avLst/>
            <a:gdLst/>
            <a:ahLst/>
            <a:rect l="0" t="0" r="r" b="b"/>
            <a:pathLst>
              <a:path fill="none" w="11342" h="187">
                <a:moveTo>
                  <a:pt x="0" y="160"/>
                </a:moveTo>
                <a:lnTo>
                  <a:pt x="3782" y="0"/>
                </a:lnTo>
                <a:lnTo>
                  <a:pt x="7562" y="138"/>
                </a:lnTo>
                <a:lnTo>
                  <a:pt x="11342" y="187"/>
                </a:lnTo>
              </a:path>
            </a:pathLst>
          </a:custGeom>
          <a:ln w="18720">
            <a:solidFill>
              <a:srgbClr val="999999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778360" y="1427040"/>
            <a:ext cx="4083120" cy="80280"/>
          </a:xfrm>
          <a:custGeom>
            <a:avLst/>
            <a:gdLst/>
            <a:ahLst/>
            <a:rect l="0" t="0" r="r" b="b"/>
            <a:pathLst>
              <a:path fill="none" w="11342" h="223">
                <a:moveTo>
                  <a:pt x="0" y="223"/>
                </a:moveTo>
                <a:lnTo>
                  <a:pt x="3782" y="0"/>
                </a:lnTo>
                <a:lnTo>
                  <a:pt x="7562" y="96"/>
                </a:lnTo>
                <a:lnTo>
                  <a:pt x="11342" y="84"/>
                </a:lnTo>
              </a:path>
            </a:pathLst>
          </a:custGeom>
          <a:ln w="18720">
            <a:solidFill>
              <a:srgbClr val="009E73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5755320" y="1483920"/>
            <a:ext cx="46800" cy="46440"/>
          </a:xfrm>
          <a:custGeom>
            <a:avLst/>
            <a:gdLst/>
            <a:ahLst/>
            <a:rect l="0" t="0" r="r" b="b"/>
            <a:pathLst>
              <a:path w="130" h="129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0"/>
                  <a:pt x="0" y="150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5755320" y="1483920"/>
            <a:ext cx="46800" cy="46440"/>
          </a:xfrm>
          <a:custGeom>
            <a:avLst/>
            <a:gdLst/>
            <a:ahLst/>
            <a:rect l="0" t="0" r="r" b="b"/>
            <a:pathLst>
              <a:path fill="none" w="130" h="129">
                <a:moveTo>
                  <a:pt x="130" y="65"/>
                </a:moveTo>
                <a:cubicBezTo>
                  <a:pt x="130" y="150"/>
                  <a:pt x="0" y="150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7116480" y="140364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116480" y="140364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8477280" y="143856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8477280" y="143856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9838080" y="143424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9838080" y="143424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755320" y="1514520"/>
            <a:ext cx="46800" cy="46080"/>
          </a:xfrm>
          <a:custGeom>
            <a:avLst/>
            <a:gdLst/>
            <a:ahLst/>
            <a:rect l="0" t="0" r="r" b="b"/>
            <a:pathLst>
              <a:path w="130" h="128">
                <a:moveTo>
                  <a:pt x="0" y="64"/>
                </a:moveTo>
                <a:cubicBezTo>
                  <a:pt x="0" y="-21"/>
                  <a:pt x="130" y="-21"/>
                  <a:pt x="130" y="64"/>
                </a:cubicBezTo>
                <a:cubicBezTo>
                  <a:pt x="130" y="150"/>
                  <a:pt x="0" y="150"/>
                  <a:pt x="0" y="64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755320" y="1514520"/>
            <a:ext cx="46800" cy="46080"/>
          </a:xfrm>
          <a:custGeom>
            <a:avLst/>
            <a:gdLst/>
            <a:ahLst/>
            <a:rect l="0" t="0" r="r" b="b"/>
            <a:pathLst>
              <a:path fill="none" w="130" h="128">
                <a:moveTo>
                  <a:pt x="130" y="64"/>
                </a:moveTo>
                <a:cubicBezTo>
                  <a:pt x="130" y="150"/>
                  <a:pt x="0" y="150"/>
                  <a:pt x="0" y="64"/>
                </a:cubicBezTo>
                <a:cubicBezTo>
                  <a:pt x="0" y="-21"/>
                  <a:pt x="130" y="-21"/>
                  <a:pt x="130" y="64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116480" y="145728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7116480" y="145728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8477280" y="1506600"/>
            <a:ext cx="46440" cy="46080"/>
          </a:xfrm>
          <a:custGeom>
            <a:avLst/>
            <a:gdLst/>
            <a:ahLst/>
            <a:rect l="0" t="0" r="r" b="b"/>
            <a:pathLst>
              <a:path w="129" h="128">
                <a:moveTo>
                  <a:pt x="0" y="64"/>
                </a:moveTo>
                <a:cubicBezTo>
                  <a:pt x="0" y="-21"/>
                  <a:pt x="129" y="-21"/>
                  <a:pt x="129" y="64"/>
                </a:cubicBezTo>
                <a:cubicBezTo>
                  <a:pt x="129" y="150"/>
                  <a:pt x="0" y="150"/>
                  <a:pt x="0" y="64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8477280" y="1506600"/>
            <a:ext cx="46440" cy="46080"/>
          </a:xfrm>
          <a:custGeom>
            <a:avLst/>
            <a:gdLst/>
            <a:ahLst/>
            <a:rect l="0" t="0" r="r" b="b"/>
            <a:pathLst>
              <a:path fill="none" w="129" h="128">
                <a:moveTo>
                  <a:pt x="129" y="64"/>
                </a:moveTo>
                <a:cubicBezTo>
                  <a:pt x="129" y="150"/>
                  <a:pt x="0" y="150"/>
                  <a:pt x="0" y="64"/>
                </a:cubicBezTo>
                <a:cubicBezTo>
                  <a:pt x="0" y="-21"/>
                  <a:pt x="129" y="-21"/>
                  <a:pt x="129" y="64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9838080" y="152424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9838080" y="152424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5755320" y="1386000"/>
            <a:ext cx="46800" cy="46440"/>
          </a:xfrm>
          <a:custGeom>
            <a:avLst/>
            <a:gdLst/>
            <a:ahLst/>
            <a:rect l="0" t="0" r="r" b="b"/>
            <a:pathLst>
              <a:path w="130" h="129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0"/>
                  <a:pt x="0" y="150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5755320" y="1386000"/>
            <a:ext cx="46800" cy="46440"/>
          </a:xfrm>
          <a:custGeom>
            <a:avLst/>
            <a:gdLst/>
            <a:ahLst/>
            <a:rect l="0" t="0" r="r" b="b"/>
            <a:pathLst>
              <a:path fill="none" w="130" h="129">
                <a:moveTo>
                  <a:pt x="130" y="65"/>
                </a:moveTo>
                <a:cubicBezTo>
                  <a:pt x="130" y="150"/>
                  <a:pt x="0" y="150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7116480" y="133164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116480" y="133164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8477280" y="134820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0"/>
                  <a:pt x="0" y="150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8477280" y="134820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0"/>
                  <a:pt x="0" y="150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9838080" y="136728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9838080" y="136728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 flipV="1">
            <a:off x="5574600" y="664560"/>
            <a:ext cx="0" cy="21816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50480" y="1148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390640" y="26964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390640" y="2055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390640" y="1414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5542920" y="27468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542920" y="21060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542920" y="1465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542920" y="8244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5574600" y="2846160"/>
            <a:ext cx="44906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 flipV="1">
            <a:off x="5778360" y="28461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 flipV="1">
            <a:off x="7139520" y="28461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 flipV="1">
            <a:off x="8500320" y="28461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 flipV="1">
            <a:off x="9861120" y="28461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390640" y="773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753160" y="28904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088760" y="289044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8449560" y="289044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9810360" y="289044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899400" y="3036240"/>
            <a:ext cx="1800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Accumulation window W (years)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 rot="16200000">
            <a:off x="4670640" y="1715040"/>
            <a:ext cx="12240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ratio per 1 SD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574600" y="335880"/>
            <a:ext cx="21466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1.37-1.43 across all twelve combinations,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574600" y="461880"/>
            <a:ext cx="27403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as expected if the two terms are separately identiﬁed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574600" y="132840"/>
            <a:ext cx="23378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effort coefﬁcient does not care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69480" y="3251880"/>
            <a:ext cx="5061600" cy="3435120"/>
          </a:xfrm>
          <a:custGeom>
            <a:avLst/>
            <a:gdLst/>
            <a:ahLst/>
            <a:rect l="0" t="0" r="r" b="b"/>
            <a:pathLst>
              <a:path w="14060" h="9542">
                <a:moveTo>
                  <a:pt x="0" y="0"/>
                </a:moveTo>
                <a:lnTo>
                  <a:pt x="14060" y="0"/>
                </a:lnTo>
                <a:lnTo>
                  <a:pt x="14060" y="9542"/>
                </a:lnTo>
                <a:lnTo>
                  <a:pt x="0" y="95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130720" y="3251880"/>
            <a:ext cx="5036040" cy="3435120"/>
          </a:xfrm>
          <a:custGeom>
            <a:avLst/>
            <a:gdLst/>
            <a:ahLst/>
            <a:rect l="0" t="0" r="r" b="b"/>
            <a:pathLst>
              <a:path w="13989" h="9542">
                <a:moveTo>
                  <a:pt x="0" y="0"/>
                </a:moveTo>
                <a:lnTo>
                  <a:pt x="13989" y="0"/>
                </a:lnTo>
                <a:lnTo>
                  <a:pt x="13989" y="9542"/>
                </a:lnTo>
                <a:lnTo>
                  <a:pt x="0" y="95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25960" y="4099680"/>
            <a:ext cx="4503600" cy="2181600"/>
          </a:xfrm>
          <a:custGeom>
            <a:avLst/>
            <a:gdLst/>
            <a:ahLst/>
            <a:rect l="0" t="0" r="r" b="b"/>
            <a:pathLst>
              <a:path w="12510" h="6060">
                <a:moveTo>
                  <a:pt x="0" y="0"/>
                </a:moveTo>
                <a:lnTo>
                  <a:pt x="12510" y="0"/>
                </a:lnTo>
                <a:lnTo>
                  <a:pt x="12510" y="6060"/>
                </a:lnTo>
                <a:lnTo>
                  <a:pt x="0" y="6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25960" y="5795280"/>
            <a:ext cx="4503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525960" y="5211000"/>
            <a:ext cx="4503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525960" y="4626360"/>
            <a:ext cx="4503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525960" y="4626360"/>
            <a:ext cx="4503240" cy="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730440" y="4707000"/>
            <a:ext cx="4094640" cy="1474920"/>
          </a:xfrm>
          <a:custGeom>
            <a:avLst/>
            <a:gdLst/>
            <a:ahLst/>
            <a:rect l="0" t="0" r="r" b="b"/>
            <a:pathLst>
              <a:path w="11374" h="4097">
                <a:moveTo>
                  <a:pt x="0" y="0"/>
                </a:moveTo>
                <a:lnTo>
                  <a:pt x="3792" y="1003"/>
                </a:lnTo>
                <a:lnTo>
                  <a:pt x="7583" y="808"/>
                </a:lnTo>
                <a:lnTo>
                  <a:pt x="11374" y="1298"/>
                </a:lnTo>
                <a:lnTo>
                  <a:pt x="11374" y="4097"/>
                </a:lnTo>
                <a:lnTo>
                  <a:pt x="7583" y="3811"/>
                </a:lnTo>
                <a:lnTo>
                  <a:pt x="3792" y="3829"/>
                </a:lnTo>
                <a:lnTo>
                  <a:pt x="0" y="3040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730440" y="4198680"/>
            <a:ext cx="4094640" cy="1762560"/>
          </a:xfrm>
          <a:custGeom>
            <a:avLst/>
            <a:gdLst/>
            <a:ahLst/>
            <a:rect l="0" t="0" r="r" b="b"/>
            <a:pathLst>
              <a:path w="11374" h="4896">
                <a:moveTo>
                  <a:pt x="0" y="0"/>
                </a:moveTo>
                <a:lnTo>
                  <a:pt x="3792" y="1343"/>
                </a:lnTo>
                <a:lnTo>
                  <a:pt x="7583" y="1435"/>
                </a:lnTo>
                <a:lnTo>
                  <a:pt x="11374" y="1847"/>
                </a:lnTo>
                <a:lnTo>
                  <a:pt x="11374" y="4896"/>
                </a:lnTo>
                <a:lnTo>
                  <a:pt x="7583" y="4516"/>
                </a:lnTo>
                <a:lnTo>
                  <a:pt x="3792" y="4472"/>
                </a:lnTo>
                <a:lnTo>
                  <a:pt x="0" y="3442"/>
                </a:ln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730440" y="4526640"/>
            <a:ext cx="4094640" cy="1496160"/>
          </a:xfrm>
          <a:custGeom>
            <a:avLst/>
            <a:gdLst/>
            <a:ahLst/>
            <a:rect l="0" t="0" r="r" b="b"/>
            <a:pathLst>
              <a:path w="11374" h="4156">
                <a:moveTo>
                  <a:pt x="0" y="0"/>
                </a:moveTo>
                <a:lnTo>
                  <a:pt x="3792" y="1069"/>
                </a:lnTo>
                <a:lnTo>
                  <a:pt x="7583" y="786"/>
                </a:lnTo>
                <a:lnTo>
                  <a:pt x="11374" y="1173"/>
                </a:lnTo>
                <a:lnTo>
                  <a:pt x="11374" y="4156"/>
                </a:lnTo>
                <a:lnTo>
                  <a:pt x="7583" y="3852"/>
                </a:lnTo>
                <a:lnTo>
                  <a:pt x="3792" y="4050"/>
                </a:lnTo>
                <a:lnTo>
                  <a:pt x="0" y="3257"/>
                </a:lnTo>
                <a:lnTo>
                  <a:pt x="0" y="0"/>
                </a:lnTo>
                <a:close/>
              </a:path>
            </a:pathLst>
          </a:custGeom>
          <a:solidFill>
            <a:srgbClr val="009E7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730440" y="5282640"/>
            <a:ext cx="4094640" cy="421920"/>
          </a:xfrm>
          <a:custGeom>
            <a:avLst/>
            <a:gdLst/>
            <a:ahLst/>
            <a:rect l="0" t="0" r="r" b="b"/>
            <a:pathLst>
              <a:path fill="none" w="11374" h="1172">
                <a:moveTo>
                  <a:pt x="0" y="0"/>
                </a:moveTo>
                <a:lnTo>
                  <a:pt x="3792" y="890"/>
                </a:lnTo>
                <a:lnTo>
                  <a:pt x="7583" y="792"/>
                </a:lnTo>
                <a:lnTo>
                  <a:pt x="11374" y="1172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730440" y="4852080"/>
            <a:ext cx="4094640" cy="590040"/>
          </a:xfrm>
          <a:custGeom>
            <a:avLst/>
            <a:gdLst/>
            <a:ahLst/>
            <a:rect l="0" t="0" r="r" b="b"/>
            <a:pathLst>
              <a:path fill="none" w="11374" h="1639">
                <a:moveTo>
                  <a:pt x="0" y="0"/>
                </a:moveTo>
                <a:lnTo>
                  <a:pt x="3792" y="1177"/>
                </a:lnTo>
                <a:lnTo>
                  <a:pt x="7583" y="1243"/>
                </a:lnTo>
                <a:lnTo>
                  <a:pt x="11374" y="1639"/>
                </a:lnTo>
              </a:path>
            </a:pathLst>
          </a:custGeom>
          <a:ln w="18720">
            <a:solidFill>
              <a:srgbClr val="999999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730440" y="5145120"/>
            <a:ext cx="4094640" cy="370080"/>
          </a:xfrm>
          <a:custGeom>
            <a:avLst/>
            <a:gdLst/>
            <a:ahLst/>
            <a:rect l="0" t="0" r="r" b="b"/>
            <a:pathLst>
              <a:path fill="none" w="11374" h="1028">
                <a:moveTo>
                  <a:pt x="0" y="0"/>
                </a:moveTo>
                <a:lnTo>
                  <a:pt x="3792" y="922"/>
                </a:lnTo>
                <a:lnTo>
                  <a:pt x="7583" y="684"/>
                </a:lnTo>
                <a:lnTo>
                  <a:pt x="11374" y="1028"/>
                </a:lnTo>
              </a:path>
            </a:pathLst>
          </a:custGeom>
          <a:ln w="18720">
            <a:solidFill>
              <a:srgbClr val="009E73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707400" y="5122080"/>
            <a:ext cx="46800" cy="46440"/>
          </a:xfrm>
          <a:custGeom>
            <a:avLst/>
            <a:gdLst/>
            <a:ahLst/>
            <a:rect l="0" t="0" r="r" b="b"/>
            <a:pathLst>
              <a:path w="130" h="129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0"/>
                  <a:pt x="0" y="150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707400" y="5122080"/>
            <a:ext cx="46800" cy="46440"/>
          </a:xfrm>
          <a:custGeom>
            <a:avLst/>
            <a:gdLst/>
            <a:ahLst/>
            <a:rect l="0" t="0" r="r" b="b"/>
            <a:pathLst>
              <a:path fill="none" w="130" h="129">
                <a:moveTo>
                  <a:pt x="130" y="65"/>
                </a:moveTo>
                <a:cubicBezTo>
                  <a:pt x="130" y="150"/>
                  <a:pt x="0" y="150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072160" y="545364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2072160" y="545364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3436920" y="536796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3436920" y="536796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4801680" y="549180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0"/>
                  <a:pt x="0" y="150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4801680" y="549180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0"/>
                  <a:pt x="0" y="150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707400" y="4829040"/>
            <a:ext cx="46800" cy="46440"/>
          </a:xfrm>
          <a:custGeom>
            <a:avLst/>
            <a:gdLst/>
            <a:ahLst/>
            <a:rect l="0" t="0" r="r" b="b"/>
            <a:pathLst>
              <a:path w="130" h="129">
                <a:moveTo>
                  <a:pt x="0" y="64"/>
                </a:moveTo>
                <a:cubicBezTo>
                  <a:pt x="0" y="-21"/>
                  <a:pt x="130" y="-21"/>
                  <a:pt x="130" y="64"/>
                </a:cubicBezTo>
                <a:cubicBezTo>
                  <a:pt x="130" y="151"/>
                  <a:pt x="0" y="151"/>
                  <a:pt x="0" y="64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707400" y="4829040"/>
            <a:ext cx="46800" cy="46440"/>
          </a:xfrm>
          <a:custGeom>
            <a:avLst/>
            <a:gdLst/>
            <a:ahLst/>
            <a:rect l="0" t="0" r="r" b="b"/>
            <a:pathLst>
              <a:path fill="none" w="130" h="129">
                <a:moveTo>
                  <a:pt x="130" y="64"/>
                </a:moveTo>
                <a:cubicBezTo>
                  <a:pt x="130" y="151"/>
                  <a:pt x="0" y="151"/>
                  <a:pt x="0" y="64"/>
                </a:cubicBezTo>
                <a:cubicBezTo>
                  <a:pt x="0" y="-21"/>
                  <a:pt x="130" y="-21"/>
                  <a:pt x="130" y="64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072160" y="5252400"/>
            <a:ext cx="46440" cy="46080"/>
          </a:xfrm>
          <a:custGeom>
            <a:avLst/>
            <a:gdLst/>
            <a:ahLst/>
            <a:rect l="0" t="0" r="r" b="b"/>
            <a:pathLst>
              <a:path w="129" h="128">
                <a:moveTo>
                  <a:pt x="0" y="64"/>
                </a:moveTo>
                <a:cubicBezTo>
                  <a:pt x="0" y="-21"/>
                  <a:pt x="129" y="-21"/>
                  <a:pt x="129" y="64"/>
                </a:cubicBezTo>
                <a:cubicBezTo>
                  <a:pt x="129" y="150"/>
                  <a:pt x="0" y="150"/>
                  <a:pt x="0" y="64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072160" y="5252400"/>
            <a:ext cx="46440" cy="46080"/>
          </a:xfrm>
          <a:custGeom>
            <a:avLst/>
            <a:gdLst/>
            <a:ahLst/>
            <a:rect l="0" t="0" r="r" b="b"/>
            <a:pathLst>
              <a:path fill="none" w="129" h="128">
                <a:moveTo>
                  <a:pt x="129" y="64"/>
                </a:moveTo>
                <a:cubicBezTo>
                  <a:pt x="129" y="150"/>
                  <a:pt x="0" y="150"/>
                  <a:pt x="0" y="64"/>
                </a:cubicBezTo>
                <a:cubicBezTo>
                  <a:pt x="0" y="-21"/>
                  <a:pt x="129" y="-21"/>
                  <a:pt x="129" y="64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3436920" y="527616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436920" y="527616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4801680" y="541872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4801680" y="541872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707400" y="5259600"/>
            <a:ext cx="46800" cy="46440"/>
          </a:xfrm>
          <a:custGeom>
            <a:avLst/>
            <a:gdLst/>
            <a:ahLst/>
            <a:rect l="0" t="0" r="r" b="b"/>
            <a:pathLst>
              <a:path w="130" h="129">
                <a:moveTo>
                  <a:pt x="0" y="65"/>
                </a:moveTo>
                <a:cubicBezTo>
                  <a:pt x="0" y="-21"/>
                  <a:pt x="130" y="-21"/>
                  <a:pt x="130" y="65"/>
                </a:cubicBezTo>
                <a:cubicBezTo>
                  <a:pt x="130" y="151"/>
                  <a:pt x="0" y="151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707400" y="5259600"/>
            <a:ext cx="46800" cy="46440"/>
          </a:xfrm>
          <a:custGeom>
            <a:avLst/>
            <a:gdLst/>
            <a:ahLst/>
            <a:rect l="0" t="0" r="r" b="b"/>
            <a:pathLst>
              <a:path fill="none" w="130" h="129">
                <a:moveTo>
                  <a:pt x="130" y="65"/>
                </a:moveTo>
                <a:cubicBezTo>
                  <a:pt x="130" y="151"/>
                  <a:pt x="0" y="151"/>
                  <a:pt x="0" y="65"/>
                </a:cubicBezTo>
                <a:cubicBezTo>
                  <a:pt x="0" y="-21"/>
                  <a:pt x="130" y="-21"/>
                  <a:pt x="130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072160" y="5580000"/>
            <a:ext cx="46440" cy="46080"/>
          </a:xfrm>
          <a:custGeom>
            <a:avLst/>
            <a:gdLst/>
            <a:ahLst/>
            <a:rect l="0" t="0" r="r" b="b"/>
            <a:pathLst>
              <a:path w="129" h="128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0"/>
                  <a:pt x="0" y="150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072160" y="5580000"/>
            <a:ext cx="46440" cy="46080"/>
          </a:xfrm>
          <a:custGeom>
            <a:avLst/>
            <a:gdLst/>
            <a:ahLst/>
            <a:rect l="0" t="0" r="r" b="b"/>
            <a:pathLst>
              <a:path fill="none" w="129" h="128">
                <a:moveTo>
                  <a:pt x="129" y="65"/>
                </a:moveTo>
                <a:cubicBezTo>
                  <a:pt x="129" y="150"/>
                  <a:pt x="0" y="150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3436920" y="554472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3436920" y="554472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801680" y="568116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4801680" y="568116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 flipV="1">
            <a:off x="525960" y="4099680"/>
            <a:ext cx="0" cy="218124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5192640" y="1148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342000" y="57448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42000" y="5160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494280" y="57952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494280" y="52110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494280" y="46263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525960" y="6280920"/>
            <a:ext cx="450360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 flipV="1">
            <a:off x="730440" y="6280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 flipV="1">
            <a:off x="2095200" y="6280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 flipV="1">
            <a:off x="3459960" y="6280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 flipV="1">
            <a:off x="4824720" y="6280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342000" y="45756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05240" y="63252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2044800" y="63252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409200" y="63252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773960" y="63252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857240" y="6471360"/>
            <a:ext cx="1800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Accumulation window W (years)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 rot="16200000">
            <a:off x="-377640" y="5150160"/>
            <a:ext cx="12240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ratio per 1 SD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525960" y="3518280"/>
            <a:ext cx="35946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Warming x effort stays below 1 at every window, source and baseline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525960" y="3315240"/>
            <a:ext cx="25556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interaction is negative throughout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561640" y="4099680"/>
            <a:ext cx="4503960" cy="2181600"/>
          </a:xfrm>
          <a:custGeom>
            <a:avLst/>
            <a:gdLst/>
            <a:ahLst/>
            <a:rect l="0" t="0" r="r" b="b"/>
            <a:pathLst>
              <a:path w="12511" h="6060">
                <a:moveTo>
                  <a:pt x="0" y="0"/>
                </a:moveTo>
                <a:lnTo>
                  <a:pt x="12511" y="0"/>
                </a:lnTo>
                <a:lnTo>
                  <a:pt x="12511" y="6060"/>
                </a:lnTo>
                <a:lnTo>
                  <a:pt x="0" y="6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5561640" y="6181560"/>
            <a:ext cx="4503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5561640" y="5767560"/>
            <a:ext cx="4503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5561640" y="5353920"/>
            <a:ext cx="4503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5561640" y="4939920"/>
            <a:ext cx="4503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561640" y="4525920"/>
            <a:ext cx="4503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561640" y="4111920"/>
            <a:ext cx="4503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766480" y="4198680"/>
            <a:ext cx="4094280" cy="1983240"/>
          </a:xfrm>
          <a:custGeom>
            <a:avLst/>
            <a:gdLst/>
            <a:ahLst/>
            <a:rect l="0" t="0" r="r" b="b"/>
            <a:pathLst>
              <a:path fill="none" w="11373" h="5509">
                <a:moveTo>
                  <a:pt x="0" y="0"/>
                </a:moveTo>
                <a:lnTo>
                  <a:pt x="3792" y="1895"/>
                </a:lnTo>
                <a:lnTo>
                  <a:pt x="7583" y="5029"/>
                </a:lnTo>
                <a:lnTo>
                  <a:pt x="11373" y="5509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766480" y="4306320"/>
            <a:ext cx="4094280" cy="1875600"/>
          </a:xfrm>
          <a:custGeom>
            <a:avLst/>
            <a:gdLst/>
            <a:ahLst/>
            <a:rect l="0" t="0" r="r" b="b"/>
            <a:pathLst>
              <a:path fill="none" w="11373" h="5210">
                <a:moveTo>
                  <a:pt x="0" y="0"/>
                </a:moveTo>
                <a:lnTo>
                  <a:pt x="3792" y="1206"/>
                </a:lnTo>
                <a:lnTo>
                  <a:pt x="7583" y="3831"/>
                </a:lnTo>
                <a:lnTo>
                  <a:pt x="11373" y="5210"/>
                </a:lnTo>
              </a:path>
            </a:pathLst>
          </a:custGeom>
          <a:ln w="18720">
            <a:solidFill>
              <a:srgbClr val="999999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766480" y="4232880"/>
            <a:ext cx="4094280" cy="1949040"/>
          </a:xfrm>
          <a:custGeom>
            <a:avLst/>
            <a:gdLst/>
            <a:ahLst/>
            <a:rect l="0" t="0" r="r" b="b"/>
            <a:pathLst>
              <a:path fill="none" w="11373" h="5414">
                <a:moveTo>
                  <a:pt x="0" y="0"/>
                </a:moveTo>
                <a:lnTo>
                  <a:pt x="3792" y="1795"/>
                </a:lnTo>
                <a:lnTo>
                  <a:pt x="7583" y="4242"/>
                </a:lnTo>
                <a:lnTo>
                  <a:pt x="11373" y="5414"/>
                </a:lnTo>
              </a:path>
            </a:pathLst>
          </a:custGeom>
          <a:ln w="18720">
            <a:solidFill>
              <a:srgbClr val="009E73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743440" y="420984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743440" y="420984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7108200" y="485568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7108200" y="485568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8472600" y="573660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1"/>
                  <a:pt x="130" y="-21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8472600" y="573660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1"/>
                  <a:pt x="130" y="-21"/>
                  <a:pt x="130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9837360" y="615852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9837360" y="615852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743440" y="4283280"/>
            <a:ext cx="46440" cy="46080"/>
          </a:xfrm>
          <a:custGeom>
            <a:avLst/>
            <a:gdLst/>
            <a:ahLst/>
            <a:rect l="0" t="0" r="r" b="b"/>
            <a:pathLst>
              <a:path w="129" h="128">
                <a:moveTo>
                  <a:pt x="0" y="64"/>
                </a:moveTo>
                <a:cubicBezTo>
                  <a:pt x="0" y="-21"/>
                  <a:pt x="129" y="-21"/>
                  <a:pt x="129" y="64"/>
                </a:cubicBezTo>
                <a:cubicBezTo>
                  <a:pt x="129" y="150"/>
                  <a:pt x="0" y="150"/>
                  <a:pt x="0" y="64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743440" y="4283280"/>
            <a:ext cx="46440" cy="46080"/>
          </a:xfrm>
          <a:custGeom>
            <a:avLst/>
            <a:gdLst/>
            <a:ahLst/>
            <a:rect l="0" t="0" r="r" b="b"/>
            <a:pathLst>
              <a:path fill="none" w="129" h="128">
                <a:moveTo>
                  <a:pt x="129" y="64"/>
                </a:moveTo>
                <a:cubicBezTo>
                  <a:pt x="129" y="150"/>
                  <a:pt x="0" y="150"/>
                  <a:pt x="0" y="64"/>
                </a:cubicBezTo>
                <a:cubicBezTo>
                  <a:pt x="0" y="-21"/>
                  <a:pt x="129" y="-21"/>
                  <a:pt x="129" y="64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7108200" y="471708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7108200" y="471708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8472600" y="5662080"/>
            <a:ext cx="46800" cy="46440"/>
          </a:xfrm>
          <a:custGeom>
            <a:avLst/>
            <a:gdLst/>
            <a:ahLst/>
            <a:rect l="0" t="0" r="r" b="b"/>
            <a:pathLst>
              <a:path w="130" h="129">
                <a:moveTo>
                  <a:pt x="0" y="65"/>
                </a:moveTo>
                <a:cubicBezTo>
                  <a:pt x="0" y="-21"/>
                  <a:pt x="130" y="-21"/>
                  <a:pt x="130" y="65"/>
                </a:cubicBezTo>
                <a:cubicBezTo>
                  <a:pt x="130" y="151"/>
                  <a:pt x="0" y="151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8472600" y="5662080"/>
            <a:ext cx="46800" cy="46440"/>
          </a:xfrm>
          <a:custGeom>
            <a:avLst/>
            <a:gdLst/>
            <a:ahLst/>
            <a:rect l="0" t="0" r="r" b="b"/>
            <a:pathLst>
              <a:path fill="none" w="130" h="129">
                <a:moveTo>
                  <a:pt x="130" y="65"/>
                </a:moveTo>
                <a:cubicBezTo>
                  <a:pt x="130" y="151"/>
                  <a:pt x="0" y="151"/>
                  <a:pt x="0" y="65"/>
                </a:cubicBezTo>
                <a:cubicBezTo>
                  <a:pt x="0" y="-21"/>
                  <a:pt x="130" y="-21"/>
                  <a:pt x="130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9837360" y="615852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9837360" y="615852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5743440" y="417564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5743440" y="4175640"/>
            <a:ext cx="46440" cy="46440"/>
          </a:xfrm>
          <a:custGeom>
            <a:avLst/>
            <a:gdLst/>
            <a:ahLst/>
            <a:rect l="0" t="0" r="r" b="b"/>
            <a:pathLst>
              <a:path fill="none" w="129" h="129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7108200" y="485784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7108200" y="485784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8472600" y="5985720"/>
            <a:ext cx="46800" cy="46440"/>
          </a:xfrm>
          <a:custGeom>
            <a:avLst/>
            <a:gdLst/>
            <a:ahLst/>
            <a:rect l="0" t="0" r="r" b="b"/>
            <a:pathLst>
              <a:path w="130" h="129">
                <a:moveTo>
                  <a:pt x="0" y="64"/>
                </a:moveTo>
                <a:cubicBezTo>
                  <a:pt x="0" y="-21"/>
                  <a:pt x="130" y="-21"/>
                  <a:pt x="130" y="64"/>
                </a:cubicBezTo>
                <a:cubicBezTo>
                  <a:pt x="130" y="151"/>
                  <a:pt x="0" y="151"/>
                  <a:pt x="0" y="64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8472600" y="5985720"/>
            <a:ext cx="46800" cy="46440"/>
          </a:xfrm>
          <a:custGeom>
            <a:avLst/>
            <a:gdLst/>
            <a:ahLst/>
            <a:rect l="0" t="0" r="r" b="b"/>
            <a:pathLst>
              <a:path fill="none" w="130" h="129">
                <a:moveTo>
                  <a:pt x="130" y="64"/>
                </a:moveTo>
                <a:cubicBezTo>
                  <a:pt x="130" y="151"/>
                  <a:pt x="0" y="151"/>
                  <a:pt x="0" y="64"/>
                </a:cubicBezTo>
                <a:cubicBezTo>
                  <a:pt x="0" y="-21"/>
                  <a:pt x="130" y="-21"/>
                  <a:pt x="130" y="64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9837360" y="615852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9837360" y="615852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9807120" y="6128280"/>
            <a:ext cx="106920" cy="106920"/>
          </a:xfrm>
          <a:custGeom>
            <a:avLst/>
            <a:gdLst/>
            <a:ahLst/>
            <a:rect l="0" t="0" r="r" b="b"/>
            <a:pathLst>
              <a:path fill="none" w="297" h="297">
                <a:moveTo>
                  <a:pt x="297" y="148"/>
                </a:moveTo>
                <a:cubicBezTo>
                  <a:pt x="297" y="347"/>
                  <a:pt x="0" y="347"/>
                  <a:pt x="0" y="148"/>
                </a:cubicBezTo>
                <a:cubicBezTo>
                  <a:pt x="0" y="-49"/>
                  <a:pt x="297" y="-49"/>
                  <a:pt x="297" y="148"/>
                </a:cubicBezTo>
              </a:path>
            </a:pathLst>
          </a:custGeom>
          <a:ln cap="rnd" w="14040">
            <a:solidFill>
              <a:srgbClr val="009E73"/>
            </a:solidFill>
            <a:round/>
          </a:ln>
        </p:spPr>
        <p:txBody>
          <a:bodyPr lIns="6840" tIns="6840" rIns="6840" bIns="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9807120" y="6128280"/>
            <a:ext cx="106920" cy="106920"/>
          </a:xfrm>
          <a:custGeom>
            <a:avLst/>
            <a:gdLst/>
            <a:ahLst/>
            <a:rect l="0" t="0" r="r" b="b"/>
            <a:pathLst>
              <a:path fill="none" w="297" h="297">
                <a:moveTo>
                  <a:pt x="297" y="148"/>
                </a:moveTo>
                <a:cubicBezTo>
                  <a:pt x="297" y="347"/>
                  <a:pt x="0" y="347"/>
                  <a:pt x="0" y="148"/>
                </a:cubicBezTo>
                <a:cubicBezTo>
                  <a:pt x="0" y="-49"/>
                  <a:pt x="297" y="-49"/>
                  <a:pt x="297" y="148"/>
                </a:cubicBezTo>
              </a:path>
            </a:pathLst>
          </a:custGeom>
          <a:ln cap="rnd" w="14040">
            <a:solidFill>
              <a:srgbClr val="999999"/>
            </a:solidFill>
            <a:round/>
          </a:ln>
        </p:spPr>
        <p:txBody>
          <a:bodyPr lIns="6840" tIns="6840" rIns="6840" bIns="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9807120" y="6128280"/>
            <a:ext cx="106920" cy="106920"/>
          </a:xfrm>
          <a:custGeom>
            <a:avLst/>
            <a:gdLst/>
            <a:ahLst/>
            <a:rect l="0" t="0" r="r" b="b"/>
            <a:pathLst>
              <a:path fill="none" w="297" h="297">
                <a:moveTo>
                  <a:pt x="297" y="148"/>
                </a:moveTo>
                <a:cubicBezTo>
                  <a:pt x="297" y="347"/>
                  <a:pt x="0" y="347"/>
                  <a:pt x="0" y="148"/>
                </a:cubicBezTo>
                <a:cubicBezTo>
                  <a:pt x="0" y="-49"/>
                  <a:pt x="297" y="-49"/>
                  <a:pt x="297" y="148"/>
                </a:cubicBezTo>
              </a:path>
            </a:pathLst>
          </a:custGeom>
          <a:ln cap="rnd" w="14040">
            <a:solidFill>
              <a:srgbClr val="0072B2"/>
            </a:solidFill>
            <a:round/>
          </a:ln>
        </p:spPr>
        <p:txBody>
          <a:bodyPr lIns="6840" tIns="6840" rIns="6840" bIns="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 flipV="1">
            <a:off x="5561640" y="4099680"/>
            <a:ext cx="0" cy="218124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50840" y="33008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5454000" y="61311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5454000" y="57171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5403240" y="530316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5403240" y="488916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403240" y="447516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5529960" y="61815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5529960" y="57675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529960" y="53539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5529960" y="49399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5529960" y="45259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5529960" y="41119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5561640" y="6280920"/>
            <a:ext cx="450360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 flipV="1">
            <a:off x="5766480" y="6280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 flipV="1">
            <a:off x="7131240" y="6280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 flipV="1">
            <a:off x="8496000" y="6280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 flipV="1">
            <a:off x="9860400" y="6280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5403240" y="406116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5741280" y="63252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7080480" y="63252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8445240" y="63252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9810000" y="63252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6892920" y="6471360"/>
            <a:ext cx="1800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Accumulation window W (years)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 rot="16200000">
            <a:off x="4658760" y="5138280"/>
            <a:ext cx="12729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Delta AIC within series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5562000" y="3518280"/>
            <a:ext cx="42037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Circles mark the AIC optimum; W = 15 is within 2.1-6.0 units of it in every series.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5562000" y="3644280"/>
            <a:ext cx="39859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A ﬁner grid (3-23 yr, Extended Data Table 2) places the optimum at 18-20 yr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5562000" y="3770640"/>
            <a:ext cx="19378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and shows AIC rising again by 23 yr,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5562000" y="3896640"/>
            <a:ext cx="34318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so the optimum is interior rather than an artefact of stopping at 20.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562000" y="3315240"/>
            <a:ext cx="28375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All three series select a 15-20 year window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5205240" y="33008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Fig7_window_baseline_sensitivity_v2</dc:title>
</cp:coreProperties>
</file>