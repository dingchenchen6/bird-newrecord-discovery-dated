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6032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26080"/>
            <a:ext cx="7406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326960"/>
            <a:ext cx="7406280" cy="32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2939040"/>
            <a:ext cx="8090640" cy="3024000"/>
          </a:xfrm>
          <a:custGeom>
            <a:avLst/>
            <a:gdLst/>
            <a:ahLst/>
            <a:rect l="0" t="0" r="r" b="b"/>
            <a:pathLst>
              <a:path w="22474" h="8400">
                <a:moveTo>
                  <a:pt x="0" y="0"/>
                </a:moveTo>
                <a:lnTo>
                  <a:pt x="22474" y="0"/>
                </a:lnTo>
                <a:lnTo>
                  <a:pt x="22474" y="8400"/>
                </a:lnTo>
                <a:lnTo>
                  <a:pt x="0" y="8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3556440" cy="2869920"/>
          </a:xfrm>
          <a:custGeom>
            <a:avLst/>
            <a:gdLst/>
            <a:ahLst/>
            <a:rect l="0" t="0" r="r" b="b"/>
            <a:pathLst>
              <a:path w="9879" h="7972">
                <a:moveTo>
                  <a:pt x="0" y="0"/>
                </a:moveTo>
                <a:lnTo>
                  <a:pt x="9879" y="0"/>
                </a:lnTo>
                <a:lnTo>
                  <a:pt x="9879" y="7972"/>
                </a:lnTo>
                <a:lnTo>
                  <a:pt x="0" y="79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625560" y="69480"/>
            <a:ext cx="4534560" cy="2869920"/>
          </a:xfrm>
          <a:custGeom>
            <a:avLst/>
            <a:gdLst/>
            <a:ahLst/>
            <a:rect l="0" t="0" r="r" b="b"/>
            <a:pathLst>
              <a:path w="12596" h="7972">
                <a:moveTo>
                  <a:pt x="0" y="0"/>
                </a:moveTo>
                <a:lnTo>
                  <a:pt x="12596" y="0"/>
                </a:lnTo>
                <a:lnTo>
                  <a:pt x="12596" y="7972"/>
                </a:lnTo>
                <a:lnTo>
                  <a:pt x="0" y="79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205640" y="664560"/>
            <a:ext cx="1724040" cy="1869120"/>
          </a:xfrm>
          <a:custGeom>
            <a:avLst/>
            <a:gdLst/>
            <a:ahLst/>
            <a:rect l="0" t="0" r="r" b="b"/>
            <a:pathLst>
              <a:path w="4789" h="5192">
                <a:moveTo>
                  <a:pt x="0" y="0"/>
                </a:moveTo>
                <a:lnTo>
                  <a:pt x="4789" y="0"/>
                </a:lnTo>
                <a:lnTo>
                  <a:pt x="4789" y="5192"/>
                </a:lnTo>
                <a:lnTo>
                  <a:pt x="0" y="5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4778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067120" y="204372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DC6C22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067120" y="1599120"/>
            <a:ext cx="411120" cy="444960"/>
          </a:xfrm>
          <a:custGeom>
            <a:avLst/>
            <a:gdLst/>
            <a:ahLst/>
            <a:rect l="0" t="0" r="r" b="b"/>
            <a:pathLst>
              <a:path w="1142" h="1236">
                <a:moveTo>
                  <a:pt x="0" y="0"/>
                </a:moveTo>
                <a:lnTo>
                  <a:pt x="1142" y="0"/>
                </a:lnTo>
                <a:lnTo>
                  <a:pt x="1142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E8864A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4778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E9874C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6570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09B69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6570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5A87C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466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ABB98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466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BBF9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067120" y="115416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DFC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6570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AFC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4778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1E9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2466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4E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6570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EFF6F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4778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DF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67120" y="70920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3E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2466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AFC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51820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1.40***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10780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1.36***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10744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51820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69704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1.25***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69704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1.21***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305720" y="2215800"/>
            <a:ext cx="282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1.17**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305720" y="1770840"/>
            <a:ext cx="282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1.16**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1646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7542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5750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438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7542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5750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1646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 flipV="1">
            <a:off x="1205640" y="664560"/>
            <a:ext cx="0" cy="18687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3438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01120" y="2215800"/>
            <a:ext cx="693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0640" y="1770840"/>
            <a:ext cx="1010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59560" y="1325880"/>
            <a:ext cx="92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173960" y="2266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173960" y="1821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173960" y="137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173960" y="931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205640" y="2533320"/>
            <a:ext cx="17236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145152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18622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22726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 flipV="1">
            <a:off x="26830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01120" y="8809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426320" y="25776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8115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2219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6323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055680" y="1162440"/>
            <a:ext cx="469080" cy="873720"/>
          </a:xfrm>
          <a:custGeom>
            <a:avLst/>
            <a:gdLst/>
            <a:ahLst/>
            <a:rect l="0" t="0" r="r" b="b"/>
            <a:pathLst>
              <a:path w="1303" h="2427">
                <a:moveTo>
                  <a:pt x="0" y="0"/>
                </a:moveTo>
                <a:lnTo>
                  <a:pt x="1303" y="0"/>
                </a:lnTo>
                <a:lnTo>
                  <a:pt x="1303" y="2427"/>
                </a:lnTo>
                <a:lnTo>
                  <a:pt x="0" y="24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22920" y="2723760"/>
            <a:ext cx="1645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rcRect l="33338" r="33334" t="1291" b="1621"/>
          <a:stretch/>
        </p:blipFill>
        <p:spPr>
          <a:xfrm>
            <a:off x="3119145" y="1403248"/>
            <a:ext cx="113855" cy="56936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3210120" y="19152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210120" y="17863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210120" y="165744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210120" y="15282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H="1">
            <a:off x="3119040" y="19152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3119040" y="17863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H="1">
            <a:off x="3119040" y="165744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H="1">
            <a:off x="3119040" y="15282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119040" y="1238400"/>
            <a:ext cx="165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296160" y="187092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296160" y="174204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296160" y="161316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296160" y="148428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05640" y="335880"/>
            <a:ext cx="2016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Hazard ratio for accumulated warming;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205640" y="461880"/>
            <a:ext cx="1726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* P&lt;0.05, ** P&lt;0.01, *** P&lt;0.001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05640" y="145440"/>
            <a:ext cx="2158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Signal is conﬁned to annual mean 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761720" y="664560"/>
            <a:ext cx="1724040" cy="1869120"/>
          </a:xfrm>
          <a:custGeom>
            <a:avLst/>
            <a:gdLst/>
            <a:ahLst/>
            <a:rect l="0" t="0" r="r" b="b"/>
            <a:pathLst>
              <a:path w="4789" h="5192">
                <a:moveTo>
                  <a:pt x="0" y="0"/>
                </a:moveTo>
                <a:lnTo>
                  <a:pt x="4789" y="0"/>
                </a:lnTo>
                <a:lnTo>
                  <a:pt x="4789" y="5192"/>
                </a:lnTo>
                <a:lnTo>
                  <a:pt x="0" y="5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0339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56235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2BA47C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6235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65B897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0339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6CBC9B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2131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8DCAB0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2131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98CFB7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8027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C3E3D4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8027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C3E3D4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6235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EDF7F2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2131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EEF7F3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0339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2F9F6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8027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5FAF8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2131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6FBF9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0339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CFEF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6235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EFF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48027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43280" y="1101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207480" y="2215800"/>
            <a:ext cx="1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797080" y="2215800"/>
            <a:ext cx="1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797080" y="1770840"/>
            <a:ext cx="1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1758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3550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355000" y="221580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944600" y="221580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9446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7654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3550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1758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9446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3550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758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7654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 flipV="1">
            <a:off x="4761720" y="664560"/>
            <a:ext cx="0" cy="18687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9446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057200" y="2215800"/>
            <a:ext cx="693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727080" y="1770840"/>
            <a:ext cx="1010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816000" y="1325880"/>
            <a:ext cx="92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730040" y="2266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4730040" y="1821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730040" y="137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730040" y="931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761720" y="2533320"/>
            <a:ext cx="17236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50079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54183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 flipV="1">
            <a:off x="58287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62391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057200" y="8809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982760" y="25776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3676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7780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1884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011720" y="1162440"/>
            <a:ext cx="647640" cy="873720"/>
          </a:xfrm>
          <a:custGeom>
            <a:avLst/>
            <a:gdLst/>
            <a:ahLst/>
            <a:rect l="0" t="0" r="r" b="b"/>
            <a:pathLst>
              <a:path w="1799" h="2427">
                <a:moveTo>
                  <a:pt x="0" y="0"/>
                </a:moveTo>
                <a:lnTo>
                  <a:pt x="1799" y="0"/>
                </a:lnTo>
                <a:lnTo>
                  <a:pt x="1799" y="2427"/>
                </a:lnTo>
                <a:lnTo>
                  <a:pt x="0" y="24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779360" y="2723760"/>
            <a:ext cx="1645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"/>
          <p:cNvPicPr/>
          <p:nvPr/>
        </p:nvPicPr>
        <p:blipFill>
          <a:blip r:embed="rId2"/>
          <a:srcRect l="33329" r="33343" t="1291" b="1621"/>
          <a:stretch/>
        </p:blipFill>
        <p:spPr>
          <a:xfrm>
            <a:off x="7075094" y="1403248"/>
            <a:ext cx="113856" cy="56936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7166160" y="197136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166160" y="18028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166160" y="16344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166160" y="14659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 flipH="1">
            <a:off x="7075080" y="197136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 flipH="1">
            <a:off x="7075080" y="18028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 flipH="1">
            <a:off x="7075080" y="16344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 flipH="1">
            <a:off x="7075080" y="14659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075080" y="1238400"/>
            <a:ext cx="508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Delta AIC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252200" y="1927080"/>
            <a:ext cx="114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252200" y="175860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252200" y="159012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252200" y="142164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762080" y="335880"/>
            <a:ext cx="1735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Delta AIC relative to the best cell;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762080" y="461880"/>
            <a:ext cx="1396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all ﬁtted on the same rows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762080" y="145440"/>
            <a:ext cx="2193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support across speciﬁcations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205640" y="3408120"/>
            <a:ext cx="5280120" cy="2149200"/>
          </a:xfrm>
          <a:custGeom>
            <a:avLst/>
            <a:gdLst/>
            <a:ahLst/>
            <a:rect l="0" t="0" r="r" b="b"/>
            <a:pathLst>
              <a:path w="14667" h="5970">
                <a:moveTo>
                  <a:pt x="0" y="0"/>
                </a:moveTo>
                <a:lnTo>
                  <a:pt x="14667" y="0"/>
                </a:lnTo>
                <a:lnTo>
                  <a:pt x="14667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205640" y="524988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205640" y="473832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205640" y="422676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205640" y="371520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 flipV="1">
            <a:off x="1445400" y="3408120"/>
            <a:ext cx="0" cy="214884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076560" y="5339520"/>
            <a:ext cx="22424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340440" y="5100840"/>
            <a:ext cx="233892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237120" y="5220000"/>
            <a:ext cx="22852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285720" y="4827960"/>
            <a:ext cx="223200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524400" y="4589280"/>
            <a:ext cx="231804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440160" y="4708440"/>
            <a:ext cx="22712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399840" y="4316400"/>
            <a:ext cx="23990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708000" y="4077360"/>
            <a:ext cx="253728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597120" y="4196880"/>
            <a:ext cx="24624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181600" y="3804840"/>
            <a:ext cx="19742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523240" y="3565800"/>
            <a:ext cx="208800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320920" y="3685320"/>
            <a:ext cx="200556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883600" y="5399280"/>
            <a:ext cx="20487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924280" y="5160600"/>
            <a:ext cx="203976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905200" y="5279760"/>
            <a:ext cx="20286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820960" y="4887720"/>
            <a:ext cx="204660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851560" y="4648680"/>
            <a:ext cx="203292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834640" y="4768200"/>
            <a:ext cx="20239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935800" y="4375800"/>
            <a:ext cx="20991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985840" y="4137120"/>
            <a:ext cx="209916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958120" y="4256640"/>
            <a:ext cx="20851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712960" y="3864240"/>
            <a:ext cx="195552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755800" y="3625560"/>
            <a:ext cx="194220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724480" y="3745080"/>
            <a:ext cx="19249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092120" y="529524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8" y="0"/>
                </a:moveTo>
                <a:lnTo>
                  <a:pt x="214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401000" y="505656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8" y="0"/>
                </a:moveTo>
                <a:lnTo>
                  <a:pt x="214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4273200" y="517572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6" y="0"/>
                </a:moveTo>
                <a:lnTo>
                  <a:pt x="214" y="186"/>
                </a:lnTo>
                <a:lnTo>
                  <a:pt x="0" y="186"/>
                </a:lnTo>
                <a:lnTo>
                  <a:pt x="106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298400" y="478368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7" y="0"/>
                </a:moveTo>
                <a:lnTo>
                  <a:pt x="214" y="185"/>
                </a:lnTo>
                <a:lnTo>
                  <a:pt x="0" y="185"/>
                </a:lnTo>
                <a:lnTo>
                  <a:pt x="107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577040" y="454500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7" y="0"/>
                </a:moveTo>
                <a:lnTo>
                  <a:pt x="214" y="185"/>
                </a:lnTo>
                <a:lnTo>
                  <a:pt x="0" y="185"/>
                </a:lnTo>
                <a:lnTo>
                  <a:pt x="107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471200" y="466416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8" y="0"/>
                </a:moveTo>
                <a:lnTo>
                  <a:pt x="214" y="186"/>
                </a:lnTo>
                <a:lnTo>
                  <a:pt x="0" y="186"/>
                </a:lnTo>
                <a:lnTo>
                  <a:pt x="108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487400" y="427212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6" y="0"/>
                </a:moveTo>
                <a:lnTo>
                  <a:pt x="214" y="185"/>
                </a:lnTo>
                <a:lnTo>
                  <a:pt x="0" y="185"/>
                </a:lnTo>
                <a:lnTo>
                  <a:pt x="106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858920" y="4033440"/>
            <a:ext cx="77400" cy="66600"/>
          </a:xfrm>
          <a:custGeom>
            <a:avLst/>
            <a:gdLst/>
            <a:ahLst/>
            <a:rect l="0" t="0" r="r" b="b"/>
            <a:pathLst>
              <a:path w="215" h="185">
                <a:moveTo>
                  <a:pt x="108" y="0"/>
                </a:moveTo>
                <a:lnTo>
                  <a:pt x="215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714200" y="415260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8" y="0"/>
                </a:moveTo>
                <a:lnTo>
                  <a:pt x="214" y="186"/>
                </a:lnTo>
                <a:lnTo>
                  <a:pt x="0" y="186"/>
                </a:lnTo>
                <a:lnTo>
                  <a:pt x="108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071880" y="376020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8" y="0"/>
                </a:moveTo>
                <a:lnTo>
                  <a:pt x="214" y="186"/>
                </a:lnTo>
                <a:lnTo>
                  <a:pt x="0" y="186"/>
                </a:lnTo>
                <a:lnTo>
                  <a:pt x="108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466440" y="352152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8" y="0"/>
                </a:moveTo>
                <a:lnTo>
                  <a:pt x="214" y="186"/>
                </a:lnTo>
                <a:lnTo>
                  <a:pt x="0" y="186"/>
                </a:lnTo>
                <a:lnTo>
                  <a:pt x="108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225960" y="364104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8" y="0"/>
                </a:moveTo>
                <a:lnTo>
                  <a:pt x="214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821760" y="5370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858840" y="51318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5"/>
                  <a:pt x="0" y="185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834360" y="52513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757680" y="48592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782520" y="46202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761280" y="4739760"/>
            <a:ext cx="57240" cy="56880"/>
          </a:xfrm>
          <a:custGeom>
            <a:avLst/>
            <a:gdLst/>
            <a:ahLst/>
            <a:rect l="0" t="0" r="r" b="b"/>
            <a:pathLst>
              <a:path w="159" h="158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5"/>
                  <a:pt x="0" y="185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896640" y="4347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7"/>
                  <a:pt x="0" y="187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947040" y="41086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912840" y="4228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608280" y="3835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7"/>
                  <a:pt x="0" y="187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645360" y="35971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606120" y="3716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1205640" y="3408120"/>
            <a:ext cx="0" cy="214884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697920" y="1101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907560" y="5199480"/>
            <a:ext cx="24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Visits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91560" y="4687920"/>
            <a:ext cx="471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Observers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15240" y="4176000"/>
            <a:ext cx="5626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Birding days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173960" y="5249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173960" y="47383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173960" y="4226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173960" y="3715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205640" y="5556960"/>
            <a:ext cx="527976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144540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 flipV="1">
            <a:off x="2775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 flipV="1">
            <a:off x="41050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543492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80480" y="3664440"/>
            <a:ext cx="380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38204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71188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04172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37192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612120" y="3829320"/>
            <a:ext cx="1370520" cy="647280"/>
          </a:xfrm>
          <a:custGeom>
            <a:avLst/>
            <a:gdLst/>
            <a:ahLst/>
            <a:rect l="0" t="0" r="r" b="b"/>
            <a:pathLst>
              <a:path w="3807" h="1798">
                <a:moveTo>
                  <a:pt x="0" y="0"/>
                </a:moveTo>
                <a:lnTo>
                  <a:pt x="3807" y="0"/>
                </a:lnTo>
                <a:lnTo>
                  <a:pt x="3807" y="1798"/>
                </a:lnTo>
                <a:lnTo>
                  <a:pt x="0" y="17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937600" y="5747400"/>
            <a:ext cx="175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675120" y="40701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686640" y="4127400"/>
            <a:ext cx="910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6703560" y="4098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703560" y="409896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6"/>
                  <a:pt x="0" y="186"/>
                  <a:pt x="0" y="80"/>
                </a:cubicBezTo>
                <a:cubicBezTo>
                  <a:pt x="0" y="-26"/>
                  <a:pt x="160" y="-26"/>
                  <a:pt x="160" y="80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675120" y="418464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686640" y="4241880"/>
            <a:ext cx="910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703560" y="42134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5"/>
                  <a:pt x="0" y="185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703560" y="421344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5"/>
                  <a:pt x="0" y="185"/>
                  <a:pt x="0" y="80"/>
                </a:cubicBezTo>
                <a:cubicBezTo>
                  <a:pt x="0" y="-27"/>
                  <a:pt x="160" y="-27"/>
                  <a:pt x="160" y="80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675120" y="42987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686640" y="4356000"/>
            <a:ext cx="9108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703560" y="4327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703560" y="432756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6"/>
                  <a:pt x="0" y="186"/>
                  <a:pt x="0" y="80"/>
                </a:cubicBezTo>
                <a:cubicBezTo>
                  <a:pt x="0" y="-26"/>
                  <a:pt x="160" y="-26"/>
                  <a:pt x="160" y="80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675480" y="3905640"/>
            <a:ext cx="940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Missing-data rule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852600" y="4083120"/>
            <a:ext cx="1049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coverage gap (main)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852600" y="4197600"/>
            <a:ext cx="1004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bounded imputation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612120" y="4602960"/>
            <a:ext cx="1446840" cy="533160"/>
          </a:xfrm>
          <a:custGeom>
            <a:avLst/>
            <a:gdLst/>
            <a:ahLst/>
            <a:rect l="0" t="0" r="r" b="b"/>
            <a:pathLst>
              <a:path w="4019" h="1481">
                <a:moveTo>
                  <a:pt x="0" y="0"/>
                </a:moveTo>
                <a:lnTo>
                  <a:pt x="4019" y="0"/>
                </a:lnTo>
                <a:lnTo>
                  <a:pt x="4019" y="1481"/>
                </a:lnTo>
                <a:lnTo>
                  <a:pt x="0" y="14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852600" y="4311720"/>
            <a:ext cx="724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zero-ﬁlled (v1)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675120" y="48438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703560" y="4872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675120" y="49579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693840" y="497088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7" y="0"/>
                </a:moveTo>
                <a:lnTo>
                  <a:pt x="214" y="186"/>
                </a:lnTo>
                <a:lnTo>
                  <a:pt x="0" y="186"/>
                </a:lnTo>
                <a:lnTo>
                  <a:pt x="10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675480" y="4679280"/>
            <a:ext cx="591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Coefﬁcient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852600" y="4856760"/>
            <a:ext cx="1125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852600" y="4970880"/>
            <a:ext cx="648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205640" y="3205440"/>
            <a:ext cx="60472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AIC is not comparable across rules because the sample size changes; the coefﬁcients are what should be compared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205640" y="3015000"/>
            <a:ext cx="3486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Robust to the choice of effort proxy and missing-data rule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65960" y="2981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Figure3</dc:title>
</cp:coreProperties>
</file>