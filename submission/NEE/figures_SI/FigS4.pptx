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6032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11480" y="226080"/>
            <a:ext cx="7406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11480" y="1326960"/>
            <a:ext cx="7406280" cy="328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229960" cy="6032520"/>
          </a:xfrm>
          <a:custGeom>
            <a:avLst/>
            <a:gdLst/>
            <a:ahLst/>
            <a:rect l="0" t="0" r="r" b="b"/>
            <a:pathLst>
              <a:path w="22861" h="16757">
                <a:moveTo>
                  <a:pt x="0" y="0"/>
                </a:moveTo>
                <a:lnTo>
                  <a:pt x="22861" y="0"/>
                </a:lnTo>
                <a:lnTo>
                  <a:pt x="22861" y="16757"/>
                </a:lnTo>
                <a:lnTo>
                  <a:pt x="0" y="16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3252600" cy="2916000"/>
          </a:xfrm>
          <a:custGeom>
            <a:avLst/>
            <a:gdLst/>
            <a:ahLst/>
            <a:rect l="0" t="0" r="r" b="b"/>
            <a:pathLst>
              <a:path w="9035" h="8100">
                <a:moveTo>
                  <a:pt x="0" y="0"/>
                </a:moveTo>
                <a:lnTo>
                  <a:pt x="9035" y="0"/>
                </a:lnTo>
                <a:lnTo>
                  <a:pt x="9035" y="8100"/>
                </a:lnTo>
                <a:lnTo>
                  <a:pt x="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321720" y="69480"/>
            <a:ext cx="4838400" cy="2916000"/>
          </a:xfrm>
          <a:custGeom>
            <a:avLst/>
            <a:gdLst/>
            <a:ahLst/>
            <a:rect l="0" t="0" r="r" b="b"/>
            <a:pathLst>
              <a:path w="13440" h="8100">
                <a:moveTo>
                  <a:pt x="0" y="0"/>
                </a:moveTo>
                <a:lnTo>
                  <a:pt x="13440" y="0"/>
                </a:lnTo>
                <a:lnTo>
                  <a:pt x="13440" y="8100"/>
                </a:lnTo>
                <a:lnTo>
                  <a:pt x="0" y="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25960" y="664560"/>
            <a:ext cx="2694960" cy="1976760"/>
          </a:xfrm>
          <a:custGeom>
            <a:avLst/>
            <a:gdLst/>
            <a:ahLst/>
            <a:rect l="0" t="0" r="r" b="b"/>
            <a:pathLst>
              <a:path w="7486" h="5491">
                <a:moveTo>
                  <a:pt x="0" y="0"/>
                </a:moveTo>
                <a:lnTo>
                  <a:pt x="7486" y="0"/>
                </a:lnTo>
                <a:lnTo>
                  <a:pt x="7486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525960" y="226872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525960" y="169344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25960" y="1118160"/>
            <a:ext cx="269460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525960" y="2268720"/>
            <a:ext cx="2694600" cy="0"/>
          </a:xfrm>
          <a:prstGeom prst="line">
            <a:avLst/>
          </a:prstGeom>
          <a:ln w="7920">
            <a:solidFill>
              <a:srgbClr val="A6A6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648360" y="1201680"/>
            <a:ext cx="2227320" cy="1204920"/>
          </a:xfrm>
          <a:custGeom>
            <a:avLst/>
            <a:gdLst/>
            <a:ahLst/>
            <a:rect l="0" t="0" r="r" b="b"/>
            <a:pathLst>
              <a:path fill="none" w="6187" h="3347">
                <a:moveTo>
                  <a:pt x="0" y="3347"/>
                </a:moveTo>
                <a:lnTo>
                  <a:pt x="206" y="3324"/>
                </a:lnTo>
                <a:lnTo>
                  <a:pt x="412" y="3329"/>
                </a:lnTo>
                <a:lnTo>
                  <a:pt x="619" y="3278"/>
                </a:lnTo>
                <a:lnTo>
                  <a:pt x="825" y="2963"/>
                </a:lnTo>
                <a:lnTo>
                  <a:pt x="1031" y="2772"/>
                </a:lnTo>
                <a:lnTo>
                  <a:pt x="1237" y="2652"/>
                </a:lnTo>
                <a:lnTo>
                  <a:pt x="1444" y="2455"/>
                </a:lnTo>
                <a:lnTo>
                  <a:pt x="1651" y="2389"/>
                </a:lnTo>
                <a:lnTo>
                  <a:pt x="1857" y="2280"/>
                </a:lnTo>
                <a:lnTo>
                  <a:pt x="2063" y="2195"/>
                </a:lnTo>
                <a:lnTo>
                  <a:pt x="2269" y="1954"/>
                </a:lnTo>
                <a:lnTo>
                  <a:pt x="2475" y="1752"/>
                </a:lnTo>
                <a:lnTo>
                  <a:pt x="2682" y="1522"/>
                </a:lnTo>
                <a:lnTo>
                  <a:pt x="2888" y="1449"/>
                </a:lnTo>
                <a:lnTo>
                  <a:pt x="3094" y="1293"/>
                </a:lnTo>
                <a:lnTo>
                  <a:pt x="3300" y="1068"/>
                </a:lnTo>
                <a:lnTo>
                  <a:pt x="3506" y="1018"/>
                </a:lnTo>
                <a:lnTo>
                  <a:pt x="3713" y="791"/>
                </a:lnTo>
                <a:lnTo>
                  <a:pt x="3919" y="854"/>
                </a:lnTo>
                <a:lnTo>
                  <a:pt x="4125" y="808"/>
                </a:lnTo>
                <a:lnTo>
                  <a:pt x="4331" y="620"/>
                </a:lnTo>
                <a:lnTo>
                  <a:pt x="4537" y="587"/>
                </a:lnTo>
                <a:lnTo>
                  <a:pt x="4744" y="610"/>
                </a:lnTo>
                <a:lnTo>
                  <a:pt x="4950" y="696"/>
                </a:lnTo>
                <a:lnTo>
                  <a:pt x="5156" y="451"/>
                </a:lnTo>
                <a:lnTo>
                  <a:pt x="5362" y="466"/>
                </a:lnTo>
                <a:lnTo>
                  <a:pt x="5568" y="425"/>
                </a:lnTo>
                <a:lnTo>
                  <a:pt x="5775" y="387"/>
                </a:lnTo>
                <a:lnTo>
                  <a:pt x="5981" y="64"/>
                </a:lnTo>
                <a:lnTo>
                  <a:pt x="6187" y="0"/>
                </a:lnTo>
              </a:path>
            </a:pathLst>
          </a:custGeom>
          <a:ln w="20160">
            <a:solidFill>
              <a:srgbClr val="999999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48360" y="1559520"/>
            <a:ext cx="2227320" cy="835200"/>
          </a:xfrm>
          <a:custGeom>
            <a:avLst/>
            <a:gdLst/>
            <a:ahLst/>
            <a:rect l="0" t="0" r="r" b="b"/>
            <a:pathLst>
              <a:path fill="none" w="6187" h="2320">
                <a:moveTo>
                  <a:pt x="0" y="2125"/>
                </a:moveTo>
                <a:lnTo>
                  <a:pt x="206" y="2236"/>
                </a:lnTo>
                <a:lnTo>
                  <a:pt x="412" y="2320"/>
                </a:lnTo>
                <a:lnTo>
                  <a:pt x="619" y="2289"/>
                </a:lnTo>
                <a:lnTo>
                  <a:pt x="825" y="2016"/>
                </a:lnTo>
                <a:lnTo>
                  <a:pt x="1031" y="1720"/>
                </a:lnTo>
                <a:lnTo>
                  <a:pt x="1237" y="1565"/>
                </a:lnTo>
                <a:lnTo>
                  <a:pt x="1444" y="1469"/>
                </a:lnTo>
                <a:lnTo>
                  <a:pt x="1651" y="1484"/>
                </a:lnTo>
                <a:lnTo>
                  <a:pt x="1857" y="1240"/>
                </a:lnTo>
                <a:lnTo>
                  <a:pt x="2063" y="1161"/>
                </a:lnTo>
                <a:lnTo>
                  <a:pt x="2269" y="1188"/>
                </a:lnTo>
                <a:lnTo>
                  <a:pt x="2475" y="1129"/>
                </a:lnTo>
                <a:lnTo>
                  <a:pt x="2682" y="966"/>
                </a:lnTo>
                <a:lnTo>
                  <a:pt x="2888" y="1036"/>
                </a:lnTo>
                <a:lnTo>
                  <a:pt x="3094" y="1042"/>
                </a:lnTo>
                <a:lnTo>
                  <a:pt x="3300" y="936"/>
                </a:lnTo>
                <a:lnTo>
                  <a:pt x="3506" y="1028"/>
                </a:lnTo>
                <a:lnTo>
                  <a:pt x="3713" y="1051"/>
                </a:lnTo>
                <a:lnTo>
                  <a:pt x="3919" y="1268"/>
                </a:lnTo>
                <a:lnTo>
                  <a:pt x="4125" y="1267"/>
                </a:lnTo>
                <a:lnTo>
                  <a:pt x="4331" y="1068"/>
                </a:lnTo>
                <a:lnTo>
                  <a:pt x="4537" y="1026"/>
                </a:lnTo>
                <a:lnTo>
                  <a:pt x="4744" y="1051"/>
                </a:lnTo>
                <a:lnTo>
                  <a:pt x="4950" y="1137"/>
                </a:lnTo>
                <a:lnTo>
                  <a:pt x="5156" y="907"/>
                </a:lnTo>
                <a:lnTo>
                  <a:pt x="5362" y="706"/>
                </a:lnTo>
                <a:lnTo>
                  <a:pt x="5568" y="616"/>
                </a:lnTo>
                <a:lnTo>
                  <a:pt x="5775" y="607"/>
                </a:lnTo>
                <a:lnTo>
                  <a:pt x="5981" y="226"/>
                </a:lnTo>
                <a:lnTo>
                  <a:pt x="6187" y="0"/>
                </a:lnTo>
              </a:path>
            </a:pathLst>
          </a:custGeom>
          <a:ln w="20160">
            <a:solidFill>
              <a:srgbClr val="D55E00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48360" y="754560"/>
            <a:ext cx="2227320" cy="1797120"/>
          </a:xfrm>
          <a:custGeom>
            <a:avLst/>
            <a:gdLst/>
            <a:ahLst/>
            <a:rect l="0" t="0" r="r" b="b"/>
            <a:pathLst>
              <a:path fill="none" w="6187" h="4992">
                <a:moveTo>
                  <a:pt x="0" y="4862"/>
                </a:moveTo>
                <a:lnTo>
                  <a:pt x="206" y="4822"/>
                </a:lnTo>
                <a:lnTo>
                  <a:pt x="412" y="4992"/>
                </a:lnTo>
                <a:lnTo>
                  <a:pt x="619" y="4712"/>
                </a:lnTo>
                <a:lnTo>
                  <a:pt x="825" y="4881"/>
                </a:lnTo>
                <a:lnTo>
                  <a:pt x="1031" y="4173"/>
                </a:lnTo>
                <a:lnTo>
                  <a:pt x="1237" y="3853"/>
                </a:lnTo>
                <a:lnTo>
                  <a:pt x="1444" y="3588"/>
                </a:lnTo>
                <a:lnTo>
                  <a:pt x="1651" y="3247"/>
                </a:lnTo>
                <a:lnTo>
                  <a:pt x="1857" y="3214"/>
                </a:lnTo>
                <a:lnTo>
                  <a:pt x="2063" y="2883"/>
                </a:lnTo>
                <a:lnTo>
                  <a:pt x="2269" y="2843"/>
                </a:lnTo>
                <a:lnTo>
                  <a:pt x="2475" y="2604"/>
                </a:lnTo>
                <a:lnTo>
                  <a:pt x="2682" y="2253"/>
                </a:lnTo>
                <a:lnTo>
                  <a:pt x="2888" y="1682"/>
                </a:lnTo>
                <a:lnTo>
                  <a:pt x="3094" y="1451"/>
                </a:lnTo>
                <a:lnTo>
                  <a:pt x="3300" y="1413"/>
                </a:lnTo>
                <a:lnTo>
                  <a:pt x="3506" y="1183"/>
                </a:lnTo>
                <a:lnTo>
                  <a:pt x="3713" y="1519"/>
                </a:lnTo>
                <a:lnTo>
                  <a:pt x="3919" y="1209"/>
                </a:lnTo>
                <a:lnTo>
                  <a:pt x="4125" y="1454"/>
                </a:lnTo>
                <a:lnTo>
                  <a:pt x="4331" y="1109"/>
                </a:lnTo>
                <a:lnTo>
                  <a:pt x="4537" y="896"/>
                </a:lnTo>
                <a:lnTo>
                  <a:pt x="4744" y="923"/>
                </a:lnTo>
                <a:lnTo>
                  <a:pt x="4950" y="781"/>
                </a:lnTo>
                <a:lnTo>
                  <a:pt x="5156" y="713"/>
                </a:lnTo>
                <a:lnTo>
                  <a:pt x="5362" y="589"/>
                </a:lnTo>
                <a:lnTo>
                  <a:pt x="5568" y="540"/>
                </a:lnTo>
                <a:lnTo>
                  <a:pt x="5775" y="368"/>
                </a:lnTo>
                <a:lnTo>
                  <a:pt x="5981" y="168"/>
                </a:lnTo>
                <a:lnTo>
                  <a:pt x="6187" y="0"/>
                </a:lnTo>
              </a:path>
            </a:pathLst>
          </a:custGeom>
          <a:ln w="20160">
            <a:solidFill>
              <a:srgbClr val="0072B2"/>
            </a:solidFill>
            <a:round/>
          </a:ln>
        </p:spPr>
        <p:txBody>
          <a:bodyPr lIns="10080" tIns="10080" rIns="10080" bIns="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2578320" y="1369440"/>
            <a:ext cx="0" cy="44424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556360" y="1775160"/>
            <a:ext cx="44640" cy="38880"/>
          </a:xfrm>
          <a:custGeom>
            <a:avLst/>
            <a:gdLst/>
            <a:ahLst/>
            <a:rect l="0" t="0" r="r" b="b"/>
            <a:pathLst>
              <a:path fill="none" w="124" h="108">
                <a:moveTo>
                  <a:pt x="0" y="0"/>
                </a:moveTo>
                <a:lnTo>
                  <a:pt x="62" y="108"/>
                </a:lnTo>
                <a:lnTo>
                  <a:pt x="124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556360" y="1369440"/>
            <a:ext cx="44640" cy="38880"/>
          </a:xfrm>
          <a:custGeom>
            <a:avLst/>
            <a:gdLst/>
            <a:ahLst/>
            <a:rect l="0" t="0" r="r" b="b"/>
            <a:pathLst>
              <a:path fill="none" w="124" h="108">
                <a:moveTo>
                  <a:pt x="124" y="108"/>
                </a:moveTo>
                <a:lnTo>
                  <a:pt x="62" y="0"/>
                </a:lnTo>
                <a:lnTo>
                  <a:pt x="0" y="108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756520" y="966240"/>
            <a:ext cx="0" cy="40320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734560" y="966240"/>
            <a:ext cx="44280" cy="38880"/>
          </a:xfrm>
          <a:custGeom>
            <a:avLst/>
            <a:gdLst/>
            <a:ahLst/>
            <a:rect l="0" t="0" r="r" b="b"/>
            <a:pathLst>
              <a:path fill="none" w="123" h="108">
                <a:moveTo>
                  <a:pt x="123" y="108"/>
                </a:moveTo>
                <a:lnTo>
                  <a:pt x="62" y="0"/>
                </a:lnTo>
                <a:lnTo>
                  <a:pt x="0" y="108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734560" y="1331280"/>
            <a:ext cx="44280" cy="38520"/>
          </a:xfrm>
          <a:custGeom>
            <a:avLst/>
            <a:gdLst/>
            <a:ahLst/>
            <a:rect l="0" t="0" r="r" b="b"/>
            <a:pathLst>
              <a:path fill="none" w="123" h="107">
                <a:moveTo>
                  <a:pt x="0" y="0"/>
                </a:moveTo>
                <a:lnTo>
                  <a:pt x="62" y="107"/>
                </a:lnTo>
                <a:lnTo>
                  <a:pt x="123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949760" y="1258200"/>
            <a:ext cx="5778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x = +0.31 °C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 flipV="1">
            <a:off x="525960" y="664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815920" y="1117440"/>
            <a:ext cx="5518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0072B2"/>
                </a:solidFill>
                <a:effectLst/>
                <a:uFillTx/>
                <a:latin typeface="Arial"/>
                <a:ea typeface="Arial"/>
              </a:rPr>
              <a:t>x = -0.28 °C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42000" y="221796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42000" y="16426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94280" y="2268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94280" y="1693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94280" y="1118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25960" y="2640960"/>
            <a:ext cx="2694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72252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146484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220716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294948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42000" y="10674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2136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1995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36368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10564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2847960" y="268560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674280" y="607320"/>
            <a:ext cx="1535760" cy="431640"/>
          </a:xfrm>
          <a:custGeom>
            <a:avLst/>
            <a:gdLst/>
            <a:ahLst/>
            <a:rect l="0" t="0" r="r" b="b"/>
            <a:pathLst>
              <a:path w="4266" h="1199">
                <a:moveTo>
                  <a:pt x="0" y="0"/>
                </a:moveTo>
                <a:lnTo>
                  <a:pt x="4266" y="0"/>
                </a:lnTo>
                <a:lnTo>
                  <a:pt x="4266" y="1199"/>
                </a:lnTo>
                <a:lnTo>
                  <a:pt x="0" y="11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737640" y="670320"/>
            <a:ext cx="114120" cy="102240"/>
          </a:xfrm>
          <a:custGeom>
            <a:avLst/>
            <a:gdLst/>
            <a:ahLst/>
            <a:rect l="0" t="0" r="r" b="b"/>
            <a:pathLst>
              <a:path w="317" h="284">
                <a:moveTo>
                  <a:pt x="0" y="0"/>
                </a:moveTo>
                <a:lnTo>
                  <a:pt x="317" y="0"/>
                </a:lnTo>
                <a:lnTo>
                  <a:pt x="317" y="284"/>
                </a:lnTo>
                <a:lnTo>
                  <a:pt x="0" y="2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748800" y="721080"/>
            <a:ext cx="91080" cy="0"/>
          </a:xfrm>
          <a:prstGeom prst="line">
            <a:avLst/>
          </a:prstGeom>
          <a:ln w="201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37640" y="772200"/>
            <a:ext cx="114120" cy="101880"/>
          </a:xfrm>
          <a:custGeom>
            <a:avLst/>
            <a:gdLst/>
            <a:ahLst/>
            <a:rect l="0" t="0" r="r" b="b"/>
            <a:pathLst>
              <a:path w="317" h="283">
                <a:moveTo>
                  <a:pt x="0" y="0"/>
                </a:moveTo>
                <a:lnTo>
                  <a:pt x="317" y="0"/>
                </a:lnTo>
                <a:lnTo>
                  <a:pt x="317" y="283"/>
                </a:lnTo>
                <a:lnTo>
                  <a:pt x="0" y="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48800" y="822960"/>
            <a:ext cx="91080" cy="0"/>
          </a:xfrm>
          <a:prstGeom prst="line">
            <a:avLst/>
          </a:prstGeom>
          <a:ln w="201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37640" y="873720"/>
            <a:ext cx="114120" cy="101880"/>
          </a:xfrm>
          <a:custGeom>
            <a:avLst/>
            <a:gdLst/>
            <a:ahLst/>
            <a:rect l="0" t="0" r="r" b="b"/>
            <a:pathLst>
              <a:path w="317" h="283">
                <a:moveTo>
                  <a:pt x="0" y="0"/>
                </a:moveTo>
                <a:lnTo>
                  <a:pt x="317" y="0"/>
                </a:lnTo>
                <a:lnTo>
                  <a:pt x="317" y="283"/>
                </a:lnTo>
                <a:lnTo>
                  <a:pt x="0" y="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48800" y="924480"/>
            <a:ext cx="91080" cy="0"/>
          </a:xfrm>
          <a:prstGeom prst="line">
            <a:avLst/>
          </a:prstGeom>
          <a:ln w="2016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" tIns="-10080" rIns="10080" bIns="-10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 rot="16200000">
            <a:off x="-874080" y="1630800"/>
            <a:ext cx="2216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15-yr mean anomaly vs 1980-2000 (°C)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914760" y="670680"/>
            <a:ext cx="83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Yunnan (province)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14760" y="772200"/>
            <a:ext cx="1311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Aethopyga christinae (range)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14760" y="873720"/>
            <a:ext cx="11584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Coracias garrulus (range)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25960" y="335880"/>
            <a:ext cx="14292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Same province, same year,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25960" y="461880"/>
            <a:ext cx="1540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opposite sign for two species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525960" y="145440"/>
            <a:ext cx="2667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Climate is referenced to each species' range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3892320" y="664560"/>
            <a:ext cx="2694960" cy="1976760"/>
          </a:xfrm>
          <a:custGeom>
            <a:avLst/>
            <a:gdLst/>
            <a:ahLst/>
            <a:rect l="0" t="0" r="r" b="b"/>
            <a:pathLst>
              <a:path w="7486" h="5491">
                <a:moveTo>
                  <a:pt x="0" y="0"/>
                </a:moveTo>
                <a:lnTo>
                  <a:pt x="7486" y="0"/>
                </a:lnTo>
                <a:lnTo>
                  <a:pt x="7486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29120" y="703440"/>
            <a:ext cx="505800" cy="885240"/>
          </a:xfrm>
          <a:custGeom>
            <a:avLst/>
            <a:gdLst/>
            <a:ahLst/>
            <a:rect l="0" t="0" r="r" b="b"/>
            <a:pathLst>
              <a:path w="1405" h="2459">
                <a:moveTo>
                  <a:pt x="0" y="0"/>
                </a:moveTo>
                <a:lnTo>
                  <a:pt x="1405" y="0"/>
                </a:lnTo>
                <a:lnTo>
                  <a:pt x="1405" y="2459"/>
                </a:lnTo>
                <a:lnTo>
                  <a:pt x="0" y="24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829120" y="1588320"/>
            <a:ext cx="505800" cy="1053000"/>
          </a:xfrm>
          <a:custGeom>
            <a:avLst/>
            <a:gdLst/>
            <a:ahLst/>
            <a:rect l="0" t="0" r="r" b="b"/>
            <a:pathLst>
              <a:path w="1405" h="2925">
                <a:moveTo>
                  <a:pt x="0" y="0"/>
                </a:moveTo>
                <a:lnTo>
                  <a:pt x="1405" y="0"/>
                </a:lnTo>
                <a:lnTo>
                  <a:pt x="1405" y="2925"/>
                </a:lnTo>
                <a:lnTo>
                  <a:pt x="0" y="2925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145040" y="703440"/>
            <a:ext cx="505440" cy="1172880"/>
          </a:xfrm>
          <a:custGeom>
            <a:avLst/>
            <a:gdLst/>
            <a:ahLst/>
            <a:rect l="0" t="0" r="r" b="b"/>
            <a:pathLst>
              <a:path w="1404" h="3258">
                <a:moveTo>
                  <a:pt x="0" y="0"/>
                </a:moveTo>
                <a:lnTo>
                  <a:pt x="1404" y="0"/>
                </a:lnTo>
                <a:lnTo>
                  <a:pt x="1404" y="3258"/>
                </a:lnTo>
                <a:lnTo>
                  <a:pt x="0" y="3258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145040" y="1875960"/>
            <a:ext cx="505440" cy="765360"/>
          </a:xfrm>
          <a:custGeom>
            <a:avLst/>
            <a:gdLst/>
            <a:ahLst/>
            <a:rect l="0" t="0" r="r" b="b"/>
            <a:pathLst>
              <a:path w="1404" h="2126">
                <a:moveTo>
                  <a:pt x="0" y="0"/>
                </a:moveTo>
                <a:lnTo>
                  <a:pt x="1404" y="0"/>
                </a:lnTo>
                <a:lnTo>
                  <a:pt x="1404" y="2126"/>
                </a:lnTo>
                <a:lnTo>
                  <a:pt x="0" y="212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987080" y="703440"/>
            <a:ext cx="505800" cy="820080"/>
          </a:xfrm>
          <a:custGeom>
            <a:avLst/>
            <a:gdLst/>
            <a:ahLst/>
            <a:rect l="0" t="0" r="r" b="b"/>
            <a:pathLst>
              <a:path w="1405" h="2278">
                <a:moveTo>
                  <a:pt x="0" y="0"/>
                </a:moveTo>
                <a:lnTo>
                  <a:pt x="1405" y="0"/>
                </a:lnTo>
                <a:lnTo>
                  <a:pt x="1405" y="2278"/>
                </a:lnTo>
                <a:lnTo>
                  <a:pt x="0" y="2278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4987080" y="1523160"/>
            <a:ext cx="505800" cy="1118160"/>
          </a:xfrm>
          <a:custGeom>
            <a:avLst/>
            <a:gdLst/>
            <a:ahLst/>
            <a:rect l="0" t="0" r="r" b="b"/>
            <a:pathLst>
              <a:path w="1405" h="3106">
                <a:moveTo>
                  <a:pt x="0" y="0"/>
                </a:moveTo>
                <a:lnTo>
                  <a:pt x="1405" y="0"/>
                </a:lnTo>
                <a:lnTo>
                  <a:pt x="1405" y="3106"/>
                </a:lnTo>
                <a:lnTo>
                  <a:pt x="0" y="3106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41480" y="110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973840" y="10951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46%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973840" y="206424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54%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289760" y="12391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61%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289760" y="220788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39%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132160" y="106272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3892320" y="664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132160" y="2031480"/>
            <a:ext cx="2080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58%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696120" y="2590560"/>
            <a:ext cx="14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645360" y="210600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645360" y="162180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645360" y="113724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861000" y="26409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861000" y="2156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861000" y="16722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861000" y="11880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861000" y="703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892320" y="2640960"/>
            <a:ext cx="2694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 flipV="1">
            <a:off x="439776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523980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6081840" y="2640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3594240" y="653040"/>
            <a:ext cx="261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118400" y="2685600"/>
            <a:ext cx="591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207320" y="2795400"/>
            <a:ext cx="3866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5094000" y="2685600"/>
            <a:ext cx="318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030280" y="2795400"/>
            <a:ext cx="426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980320" y="2685600"/>
            <a:ext cx="2048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Raw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5872320" y="2795400"/>
            <a:ext cx="449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gradient 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713640" y="1378440"/>
            <a:ext cx="1345320" cy="549360"/>
          </a:xfrm>
          <a:custGeom>
            <a:avLst/>
            <a:gdLst/>
            <a:ahLst/>
            <a:rect l="0" t="0" r="r" b="b"/>
            <a:pathLst>
              <a:path w="3737" h="1526">
                <a:moveTo>
                  <a:pt x="0" y="0"/>
                </a:moveTo>
                <a:lnTo>
                  <a:pt x="3737" y="0"/>
                </a:lnTo>
                <a:lnTo>
                  <a:pt x="3737" y="1526"/>
                </a:lnTo>
                <a:lnTo>
                  <a:pt x="0" y="152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776640" y="1441440"/>
            <a:ext cx="114480" cy="211680"/>
          </a:xfrm>
          <a:custGeom>
            <a:avLst/>
            <a:gdLst/>
            <a:ahLst/>
            <a:rect l="0" t="0" r="r" b="b"/>
            <a:pathLst>
              <a:path w="318" h="588">
                <a:moveTo>
                  <a:pt x="0" y="0"/>
                </a:moveTo>
                <a:lnTo>
                  <a:pt x="318" y="0"/>
                </a:lnTo>
                <a:lnTo>
                  <a:pt x="318" y="588"/>
                </a:lnTo>
                <a:lnTo>
                  <a:pt x="0" y="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784920" y="1449720"/>
            <a:ext cx="97920" cy="195480"/>
          </a:xfrm>
          <a:custGeom>
            <a:avLst/>
            <a:gdLst/>
            <a:ahLst/>
            <a:rect l="0" t="0" r="r" b="b"/>
            <a:pathLst>
              <a:path w="272" h="543">
                <a:moveTo>
                  <a:pt x="0" y="0"/>
                </a:moveTo>
                <a:lnTo>
                  <a:pt x="272" y="0"/>
                </a:lnTo>
                <a:lnTo>
                  <a:pt x="272" y="543"/>
                </a:lnTo>
                <a:lnTo>
                  <a:pt x="0" y="543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6776640" y="1652760"/>
            <a:ext cx="114480" cy="211680"/>
          </a:xfrm>
          <a:custGeom>
            <a:avLst/>
            <a:gdLst/>
            <a:ahLst/>
            <a:rect l="0" t="0" r="r" b="b"/>
            <a:pathLst>
              <a:path w="318" h="588">
                <a:moveTo>
                  <a:pt x="0" y="0"/>
                </a:moveTo>
                <a:lnTo>
                  <a:pt x="318" y="0"/>
                </a:lnTo>
                <a:lnTo>
                  <a:pt x="318" y="588"/>
                </a:lnTo>
                <a:lnTo>
                  <a:pt x="0" y="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784920" y="1661040"/>
            <a:ext cx="97920" cy="195480"/>
          </a:xfrm>
          <a:custGeom>
            <a:avLst/>
            <a:gdLst/>
            <a:ahLst/>
            <a:rect l="0" t="0" r="r" b="b"/>
            <a:pathLst>
              <a:path w="272" h="543">
                <a:moveTo>
                  <a:pt x="0" y="0"/>
                </a:moveTo>
                <a:lnTo>
                  <a:pt x="272" y="0"/>
                </a:lnTo>
                <a:lnTo>
                  <a:pt x="272" y="543"/>
                </a:lnTo>
                <a:lnTo>
                  <a:pt x="0" y="543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 rot="16200000">
            <a:off x="2990520" y="1614240"/>
            <a:ext cx="9921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Share of variance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954120" y="1441800"/>
            <a:ext cx="1096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Between province-years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954120" y="1551600"/>
            <a:ext cx="783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(regional climate)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954120" y="1653120"/>
            <a:ext cx="931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Within province-year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954120" y="1762920"/>
            <a:ext cx="1062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(purely among species)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92680" y="335880"/>
            <a:ext cx="1324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A purely regional variable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892680" y="461880"/>
            <a:ext cx="1416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would have no green band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892680" y="145440"/>
            <a:ext cx="2053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identity carries much of 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9480" y="2985120"/>
            <a:ext cx="2823840" cy="2977920"/>
          </a:xfrm>
          <a:custGeom>
            <a:avLst/>
            <a:gdLst/>
            <a:ahLst/>
            <a:rect l="0" t="0" r="r" b="b"/>
            <a:pathLst>
              <a:path w="7844" h="8272">
                <a:moveTo>
                  <a:pt x="0" y="0"/>
                </a:moveTo>
                <a:lnTo>
                  <a:pt x="7844" y="0"/>
                </a:lnTo>
                <a:lnTo>
                  <a:pt x="7844" y="8272"/>
                </a:lnTo>
                <a:lnTo>
                  <a:pt x="0" y="82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892960" y="2985120"/>
            <a:ext cx="5267160" cy="2977920"/>
          </a:xfrm>
          <a:custGeom>
            <a:avLst/>
            <a:gdLst/>
            <a:ahLst/>
            <a:rect l="0" t="0" r="r" b="b"/>
            <a:pathLst>
              <a:path w="14631" h="8272">
                <a:moveTo>
                  <a:pt x="0" y="0"/>
                </a:moveTo>
                <a:lnTo>
                  <a:pt x="14631" y="0"/>
                </a:lnTo>
                <a:lnTo>
                  <a:pt x="14631" y="8272"/>
                </a:lnTo>
                <a:lnTo>
                  <a:pt x="0" y="82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25960" y="3580560"/>
            <a:ext cx="2266200" cy="1976760"/>
          </a:xfrm>
          <a:custGeom>
            <a:avLst/>
            <a:gdLst/>
            <a:ahLst/>
            <a:rect l="0" t="0" r="r" b="b"/>
            <a:pathLst>
              <a:path w="6295" h="5491">
                <a:moveTo>
                  <a:pt x="0" y="0"/>
                </a:moveTo>
                <a:lnTo>
                  <a:pt x="6295" y="0"/>
                </a:lnTo>
                <a:lnTo>
                  <a:pt x="6295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25960" y="554724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25960" y="499572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25960" y="444420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25960" y="3893040"/>
            <a:ext cx="226584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1663920" y="3593880"/>
            <a:ext cx="0" cy="1963080"/>
          </a:xfrm>
          <a:prstGeom prst="line">
            <a:avLst/>
          </a:prstGeom>
          <a:ln w="7920">
            <a:solidFill>
              <a:srgbClr val="A6A6A6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28920" y="3691080"/>
            <a:ext cx="2060280" cy="1776240"/>
          </a:xfrm>
          <a:custGeom>
            <a:avLst/>
            <a:gdLst/>
            <a:ahLst/>
            <a:rect l="0" t="0" r="r" b="b"/>
            <a:pathLst>
              <a:path w="5723" h="4934">
                <a:moveTo>
                  <a:pt x="0" y="4516"/>
                </a:moveTo>
                <a:lnTo>
                  <a:pt x="97" y="4500"/>
                </a:lnTo>
                <a:lnTo>
                  <a:pt x="194" y="4483"/>
                </a:lnTo>
                <a:lnTo>
                  <a:pt x="291" y="4465"/>
                </a:lnTo>
                <a:lnTo>
                  <a:pt x="388" y="4448"/>
                </a:lnTo>
                <a:lnTo>
                  <a:pt x="485" y="4429"/>
                </a:lnTo>
                <a:lnTo>
                  <a:pt x="582" y="4410"/>
                </a:lnTo>
                <a:lnTo>
                  <a:pt x="679" y="4391"/>
                </a:lnTo>
                <a:lnTo>
                  <a:pt x="776" y="4371"/>
                </a:lnTo>
                <a:lnTo>
                  <a:pt x="873" y="4350"/>
                </a:lnTo>
                <a:lnTo>
                  <a:pt x="970" y="4328"/>
                </a:lnTo>
                <a:lnTo>
                  <a:pt x="1067" y="4306"/>
                </a:lnTo>
                <a:lnTo>
                  <a:pt x="1165" y="4283"/>
                </a:lnTo>
                <a:lnTo>
                  <a:pt x="1262" y="4260"/>
                </a:lnTo>
                <a:lnTo>
                  <a:pt x="1359" y="4235"/>
                </a:lnTo>
                <a:lnTo>
                  <a:pt x="1456" y="4210"/>
                </a:lnTo>
                <a:lnTo>
                  <a:pt x="1553" y="4183"/>
                </a:lnTo>
                <a:lnTo>
                  <a:pt x="1650" y="4156"/>
                </a:lnTo>
                <a:lnTo>
                  <a:pt x="1747" y="4128"/>
                </a:lnTo>
                <a:lnTo>
                  <a:pt x="1844" y="4098"/>
                </a:lnTo>
                <a:lnTo>
                  <a:pt x="1941" y="4068"/>
                </a:lnTo>
                <a:lnTo>
                  <a:pt x="2038" y="4035"/>
                </a:lnTo>
                <a:lnTo>
                  <a:pt x="2134" y="4002"/>
                </a:lnTo>
                <a:lnTo>
                  <a:pt x="2231" y="3967"/>
                </a:lnTo>
                <a:lnTo>
                  <a:pt x="2329" y="3930"/>
                </a:lnTo>
                <a:lnTo>
                  <a:pt x="2426" y="3892"/>
                </a:lnTo>
                <a:lnTo>
                  <a:pt x="2522" y="3852"/>
                </a:lnTo>
                <a:lnTo>
                  <a:pt x="2619" y="3809"/>
                </a:lnTo>
                <a:lnTo>
                  <a:pt x="2716" y="3765"/>
                </a:lnTo>
                <a:lnTo>
                  <a:pt x="2813" y="3718"/>
                </a:lnTo>
                <a:lnTo>
                  <a:pt x="2910" y="3669"/>
                </a:lnTo>
                <a:lnTo>
                  <a:pt x="3007" y="3616"/>
                </a:lnTo>
                <a:lnTo>
                  <a:pt x="3104" y="3561"/>
                </a:lnTo>
                <a:lnTo>
                  <a:pt x="3201" y="3503"/>
                </a:lnTo>
                <a:lnTo>
                  <a:pt x="3298" y="3441"/>
                </a:lnTo>
                <a:lnTo>
                  <a:pt x="3395" y="3375"/>
                </a:lnTo>
                <a:lnTo>
                  <a:pt x="3492" y="3306"/>
                </a:lnTo>
                <a:lnTo>
                  <a:pt x="3589" y="3233"/>
                </a:lnTo>
                <a:lnTo>
                  <a:pt x="3686" y="3155"/>
                </a:lnTo>
                <a:lnTo>
                  <a:pt x="3783" y="3072"/>
                </a:lnTo>
                <a:lnTo>
                  <a:pt x="3880" y="2985"/>
                </a:lnTo>
                <a:lnTo>
                  <a:pt x="3977" y="2893"/>
                </a:lnTo>
                <a:lnTo>
                  <a:pt x="4074" y="2795"/>
                </a:lnTo>
                <a:lnTo>
                  <a:pt x="4171" y="2692"/>
                </a:lnTo>
                <a:lnTo>
                  <a:pt x="4268" y="2582"/>
                </a:lnTo>
                <a:lnTo>
                  <a:pt x="4365" y="2467"/>
                </a:lnTo>
                <a:lnTo>
                  <a:pt x="4462" y="2345"/>
                </a:lnTo>
                <a:lnTo>
                  <a:pt x="4559" y="2216"/>
                </a:lnTo>
                <a:lnTo>
                  <a:pt x="4656" y="2079"/>
                </a:lnTo>
                <a:lnTo>
                  <a:pt x="4753" y="1936"/>
                </a:lnTo>
                <a:lnTo>
                  <a:pt x="4850" y="1784"/>
                </a:lnTo>
                <a:lnTo>
                  <a:pt x="4947" y="1625"/>
                </a:lnTo>
                <a:lnTo>
                  <a:pt x="5044" y="1457"/>
                </a:lnTo>
                <a:lnTo>
                  <a:pt x="5141" y="1280"/>
                </a:lnTo>
                <a:lnTo>
                  <a:pt x="5238" y="1093"/>
                </a:lnTo>
                <a:lnTo>
                  <a:pt x="5335" y="896"/>
                </a:lnTo>
                <a:lnTo>
                  <a:pt x="5432" y="689"/>
                </a:lnTo>
                <a:lnTo>
                  <a:pt x="5529" y="471"/>
                </a:lnTo>
                <a:lnTo>
                  <a:pt x="5626" y="242"/>
                </a:lnTo>
                <a:lnTo>
                  <a:pt x="5723" y="0"/>
                </a:lnTo>
                <a:lnTo>
                  <a:pt x="5723" y="2934"/>
                </a:lnTo>
                <a:lnTo>
                  <a:pt x="5626" y="2991"/>
                </a:lnTo>
                <a:lnTo>
                  <a:pt x="5529" y="3048"/>
                </a:lnTo>
                <a:lnTo>
                  <a:pt x="5432" y="3103"/>
                </a:lnTo>
                <a:lnTo>
                  <a:pt x="5335" y="3157"/>
                </a:lnTo>
                <a:lnTo>
                  <a:pt x="5238" y="3211"/>
                </a:lnTo>
                <a:lnTo>
                  <a:pt x="5141" y="3263"/>
                </a:lnTo>
                <a:lnTo>
                  <a:pt x="5044" y="3314"/>
                </a:lnTo>
                <a:lnTo>
                  <a:pt x="4947" y="3365"/>
                </a:lnTo>
                <a:lnTo>
                  <a:pt x="4850" y="3414"/>
                </a:lnTo>
                <a:lnTo>
                  <a:pt x="4753" y="3463"/>
                </a:lnTo>
                <a:lnTo>
                  <a:pt x="4656" y="3511"/>
                </a:lnTo>
                <a:lnTo>
                  <a:pt x="4559" y="3558"/>
                </a:lnTo>
                <a:lnTo>
                  <a:pt x="4462" y="3605"/>
                </a:lnTo>
                <a:lnTo>
                  <a:pt x="4365" y="3651"/>
                </a:lnTo>
                <a:lnTo>
                  <a:pt x="4268" y="3696"/>
                </a:lnTo>
                <a:lnTo>
                  <a:pt x="4171" y="3740"/>
                </a:lnTo>
                <a:lnTo>
                  <a:pt x="4074" y="3784"/>
                </a:lnTo>
                <a:lnTo>
                  <a:pt x="3977" y="3827"/>
                </a:lnTo>
                <a:lnTo>
                  <a:pt x="3880" y="3870"/>
                </a:lnTo>
                <a:lnTo>
                  <a:pt x="3783" y="3912"/>
                </a:lnTo>
                <a:lnTo>
                  <a:pt x="3686" y="3954"/>
                </a:lnTo>
                <a:lnTo>
                  <a:pt x="3589" y="3995"/>
                </a:lnTo>
                <a:lnTo>
                  <a:pt x="3492" y="4035"/>
                </a:lnTo>
                <a:lnTo>
                  <a:pt x="3395" y="4075"/>
                </a:lnTo>
                <a:lnTo>
                  <a:pt x="3298" y="4115"/>
                </a:lnTo>
                <a:lnTo>
                  <a:pt x="3201" y="4153"/>
                </a:lnTo>
                <a:lnTo>
                  <a:pt x="3104" y="4191"/>
                </a:lnTo>
                <a:lnTo>
                  <a:pt x="3007" y="4228"/>
                </a:lnTo>
                <a:lnTo>
                  <a:pt x="2910" y="4264"/>
                </a:lnTo>
                <a:lnTo>
                  <a:pt x="2813" y="4300"/>
                </a:lnTo>
                <a:lnTo>
                  <a:pt x="2716" y="4334"/>
                </a:lnTo>
                <a:lnTo>
                  <a:pt x="2619" y="4368"/>
                </a:lnTo>
                <a:lnTo>
                  <a:pt x="2522" y="4401"/>
                </a:lnTo>
                <a:lnTo>
                  <a:pt x="2426" y="4433"/>
                </a:lnTo>
                <a:lnTo>
                  <a:pt x="2329" y="4464"/>
                </a:lnTo>
                <a:lnTo>
                  <a:pt x="2231" y="4493"/>
                </a:lnTo>
                <a:lnTo>
                  <a:pt x="2134" y="4522"/>
                </a:lnTo>
                <a:lnTo>
                  <a:pt x="2038" y="4550"/>
                </a:lnTo>
                <a:lnTo>
                  <a:pt x="1941" y="4577"/>
                </a:lnTo>
                <a:lnTo>
                  <a:pt x="1844" y="4603"/>
                </a:lnTo>
                <a:lnTo>
                  <a:pt x="1747" y="4628"/>
                </a:lnTo>
                <a:lnTo>
                  <a:pt x="1650" y="4652"/>
                </a:lnTo>
                <a:lnTo>
                  <a:pt x="1553" y="4675"/>
                </a:lnTo>
                <a:lnTo>
                  <a:pt x="1456" y="4697"/>
                </a:lnTo>
                <a:lnTo>
                  <a:pt x="1359" y="4718"/>
                </a:lnTo>
                <a:lnTo>
                  <a:pt x="1262" y="4739"/>
                </a:lnTo>
                <a:lnTo>
                  <a:pt x="1165" y="4758"/>
                </a:lnTo>
                <a:lnTo>
                  <a:pt x="1067" y="4777"/>
                </a:lnTo>
                <a:lnTo>
                  <a:pt x="970" y="4795"/>
                </a:lnTo>
                <a:lnTo>
                  <a:pt x="873" y="4812"/>
                </a:lnTo>
                <a:lnTo>
                  <a:pt x="776" y="4828"/>
                </a:lnTo>
                <a:lnTo>
                  <a:pt x="679" y="4843"/>
                </a:lnTo>
                <a:lnTo>
                  <a:pt x="582" y="4858"/>
                </a:lnTo>
                <a:lnTo>
                  <a:pt x="485" y="4873"/>
                </a:lnTo>
                <a:lnTo>
                  <a:pt x="388" y="4886"/>
                </a:lnTo>
                <a:lnTo>
                  <a:pt x="291" y="4899"/>
                </a:lnTo>
                <a:lnTo>
                  <a:pt x="194" y="4911"/>
                </a:lnTo>
                <a:lnTo>
                  <a:pt x="97" y="4923"/>
                </a:lnTo>
                <a:lnTo>
                  <a:pt x="0" y="4934"/>
                </a:lnTo>
                <a:lnTo>
                  <a:pt x="0" y="4516"/>
                </a:lnTo>
                <a:close/>
              </a:path>
            </a:pathLst>
          </a:custGeom>
          <a:solidFill>
            <a:srgbClr val="56B4E9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28920" y="3912120"/>
            <a:ext cx="2060280" cy="1388520"/>
          </a:xfrm>
          <a:custGeom>
            <a:avLst/>
            <a:gdLst/>
            <a:ahLst/>
            <a:rect l="0" t="0" r="r" b="b"/>
            <a:pathLst>
              <a:path w="5723" h="3857">
                <a:moveTo>
                  <a:pt x="0" y="3240"/>
                </a:moveTo>
                <a:lnTo>
                  <a:pt x="97" y="3219"/>
                </a:lnTo>
                <a:lnTo>
                  <a:pt x="194" y="3198"/>
                </a:lnTo>
                <a:lnTo>
                  <a:pt x="291" y="3177"/>
                </a:lnTo>
                <a:lnTo>
                  <a:pt x="388" y="3155"/>
                </a:lnTo>
                <a:lnTo>
                  <a:pt x="485" y="3133"/>
                </a:lnTo>
                <a:lnTo>
                  <a:pt x="582" y="3110"/>
                </a:lnTo>
                <a:lnTo>
                  <a:pt x="679" y="3087"/>
                </a:lnTo>
                <a:lnTo>
                  <a:pt x="776" y="3064"/>
                </a:lnTo>
                <a:lnTo>
                  <a:pt x="873" y="3039"/>
                </a:lnTo>
                <a:lnTo>
                  <a:pt x="970" y="3014"/>
                </a:lnTo>
                <a:lnTo>
                  <a:pt x="1067" y="2989"/>
                </a:lnTo>
                <a:lnTo>
                  <a:pt x="1165" y="2963"/>
                </a:lnTo>
                <a:lnTo>
                  <a:pt x="1262" y="2936"/>
                </a:lnTo>
                <a:lnTo>
                  <a:pt x="1359" y="2909"/>
                </a:lnTo>
                <a:lnTo>
                  <a:pt x="1456" y="2881"/>
                </a:lnTo>
                <a:lnTo>
                  <a:pt x="1553" y="2852"/>
                </a:lnTo>
                <a:lnTo>
                  <a:pt x="1650" y="2822"/>
                </a:lnTo>
                <a:lnTo>
                  <a:pt x="1747" y="2791"/>
                </a:lnTo>
                <a:lnTo>
                  <a:pt x="1844" y="2760"/>
                </a:lnTo>
                <a:lnTo>
                  <a:pt x="1941" y="2727"/>
                </a:lnTo>
                <a:lnTo>
                  <a:pt x="2038" y="2694"/>
                </a:lnTo>
                <a:lnTo>
                  <a:pt x="2134" y="2659"/>
                </a:lnTo>
                <a:lnTo>
                  <a:pt x="2231" y="2623"/>
                </a:lnTo>
                <a:lnTo>
                  <a:pt x="2329" y="2586"/>
                </a:lnTo>
                <a:lnTo>
                  <a:pt x="2426" y="2548"/>
                </a:lnTo>
                <a:lnTo>
                  <a:pt x="2522" y="2509"/>
                </a:lnTo>
                <a:lnTo>
                  <a:pt x="2619" y="2468"/>
                </a:lnTo>
                <a:lnTo>
                  <a:pt x="2716" y="2426"/>
                </a:lnTo>
                <a:lnTo>
                  <a:pt x="2813" y="2382"/>
                </a:lnTo>
                <a:lnTo>
                  <a:pt x="2910" y="2337"/>
                </a:lnTo>
                <a:lnTo>
                  <a:pt x="3007" y="2290"/>
                </a:lnTo>
                <a:lnTo>
                  <a:pt x="3104" y="2241"/>
                </a:lnTo>
                <a:lnTo>
                  <a:pt x="3201" y="2191"/>
                </a:lnTo>
                <a:lnTo>
                  <a:pt x="3298" y="2138"/>
                </a:lnTo>
                <a:lnTo>
                  <a:pt x="3395" y="2084"/>
                </a:lnTo>
                <a:lnTo>
                  <a:pt x="3492" y="2027"/>
                </a:lnTo>
                <a:lnTo>
                  <a:pt x="3589" y="1969"/>
                </a:lnTo>
                <a:lnTo>
                  <a:pt x="3686" y="1908"/>
                </a:lnTo>
                <a:lnTo>
                  <a:pt x="3783" y="1845"/>
                </a:lnTo>
                <a:lnTo>
                  <a:pt x="3880" y="1780"/>
                </a:lnTo>
                <a:lnTo>
                  <a:pt x="3977" y="1712"/>
                </a:lnTo>
                <a:lnTo>
                  <a:pt x="4074" y="1642"/>
                </a:lnTo>
                <a:lnTo>
                  <a:pt x="4171" y="1569"/>
                </a:lnTo>
                <a:lnTo>
                  <a:pt x="4268" y="1494"/>
                </a:lnTo>
                <a:lnTo>
                  <a:pt x="4365" y="1416"/>
                </a:lnTo>
                <a:lnTo>
                  <a:pt x="4462" y="1335"/>
                </a:lnTo>
                <a:lnTo>
                  <a:pt x="4559" y="1251"/>
                </a:lnTo>
                <a:lnTo>
                  <a:pt x="4656" y="1165"/>
                </a:lnTo>
                <a:lnTo>
                  <a:pt x="4753" y="1075"/>
                </a:lnTo>
                <a:lnTo>
                  <a:pt x="4850" y="983"/>
                </a:lnTo>
                <a:lnTo>
                  <a:pt x="4947" y="887"/>
                </a:lnTo>
                <a:lnTo>
                  <a:pt x="5044" y="788"/>
                </a:lnTo>
                <a:lnTo>
                  <a:pt x="5141" y="686"/>
                </a:lnTo>
                <a:lnTo>
                  <a:pt x="5238" y="581"/>
                </a:lnTo>
                <a:lnTo>
                  <a:pt x="5335" y="472"/>
                </a:lnTo>
                <a:lnTo>
                  <a:pt x="5432" y="359"/>
                </a:lnTo>
                <a:lnTo>
                  <a:pt x="5529" y="243"/>
                </a:lnTo>
                <a:lnTo>
                  <a:pt x="5626" y="123"/>
                </a:lnTo>
                <a:lnTo>
                  <a:pt x="5723" y="0"/>
                </a:lnTo>
                <a:lnTo>
                  <a:pt x="5723" y="1935"/>
                </a:lnTo>
                <a:lnTo>
                  <a:pt x="5626" y="1977"/>
                </a:lnTo>
                <a:lnTo>
                  <a:pt x="5529" y="2018"/>
                </a:lnTo>
                <a:lnTo>
                  <a:pt x="5432" y="2059"/>
                </a:lnTo>
                <a:lnTo>
                  <a:pt x="5335" y="2100"/>
                </a:lnTo>
                <a:lnTo>
                  <a:pt x="5238" y="2140"/>
                </a:lnTo>
                <a:lnTo>
                  <a:pt x="5141" y="2180"/>
                </a:lnTo>
                <a:lnTo>
                  <a:pt x="5044" y="2219"/>
                </a:lnTo>
                <a:lnTo>
                  <a:pt x="4947" y="2259"/>
                </a:lnTo>
                <a:lnTo>
                  <a:pt x="4850" y="2298"/>
                </a:lnTo>
                <a:lnTo>
                  <a:pt x="4753" y="2337"/>
                </a:lnTo>
                <a:lnTo>
                  <a:pt x="4656" y="2375"/>
                </a:lnTo>
                <a:lnTo>
                  <a:pt x="4559" y="2413"/>
                </a:lnTo>
                <a:lnTo>
                  <a:pt x="4462" y="2451"/>
                </a:lnTo>
                <a:lnTo>
                  <a:pt x="4365" y="2489"/>
                </a:lnTo>
                <a:lnTo>
                  <a:pt x="4268" y="2527"/>
                </a:lnTo>
                <a:lnTo>
                  <a:pt x="4171" y="2564"/>
                </a:lnTo>
                <a:lnTo>
                  <a:pt x="4074" y="2601"/>
                </a:lnTo>
                <a:lnTo>
                  <a:pt x="3880" y="2676"/>
                </a:lnTo>
                <a:lnTo>
                  <a:pt x="3783" y="2713"/>
                </a:lnTo>
                <a:lnTo>
                  <a:pt x="3686" y="2749"/>
                </a:lnTo>
                <a:lnTo>
                  <a:pt x="3589" y="2786"/>
                </a:lnTo>
                <a:lnTo>
                  <a:pt x="3492" y="2822"/>
                </a:lnTo>
                <a:lnTo>
                  <a:pt x="3395" y="2858"/>
                </a:lnTo>
                <a:lnTo>
                  <a:pt x="3298" y="2893"/>
                </a:lnTo>
                <a:lnTo>
                  <a:pt x="3201" y="2929"/>
                </a:lnTo>
                <a:lnTo>
                  <a:pt x="3104" y="2964"/>
                </a:lnTo>
                <a:lnTo>
                  <a:pt x="3007" y="2999"/>
                </a:lnTo>
                <a:lnTo>
                  <a:pt x="2910" y="3034"/>
                </a:lnTo>
                <a:lnTo>
                  <a:pt x="2813" y="3068"/>
                </a:lnTo>
                <a:lnTo>
                  <a:pt x="2716" y="3102"/>
                </a:lnTo>
                <a:lnTo>
                  <a:pt x="2619" y="3136"/>
                </a:lnTo>
                <a:lnTo>
                  <a:pt x="2522" y="3169"/>
                </a:lnTo>
                <a:lnTo>
                  <a:pt x="2426" y="3202"/>
                </a:lnTo>
                <a:lnTo>
                  <a:pt x="2329" y="3235"/>
                </a:lnTo>
                <a:lnTo>
                  <a:pt x="2231" y="3267"/>
                </a:lnTo>
                <a:lnTo>
                  <a:pt x="2134" y="3298"/>
                </a:lnTo>
                <a:lnTo>
                  <a:pt x="2038" y="3330"/>
                </a:lnTo>
                <a:lnTo>
                  <a:pt x="1941" y="3360"/>
                </a:lnTo>
                <a:lnTo>
                  <a:pt x="1844" y="3390"/>
                </a:lnTo>
                <a:lnTo>
                  <a:pt x="1747" y="3420"/>
                </a:lnTo>
                <a:lnTo>
                  <a:pt x="1650" y="3449"/>
                </a:lnTo>
                <a:lnTo>
                  <a:pt x="1553" y="3477"/>
                </a:lnTo>
                <a:lnTo>
                  <a:pt x="1456" y="3505"/>
                </a:lnTo>
                <a:lnTo>
                  <a:pt x="1359" y="3533"/>
                </a:lnTo>
                <a:lnTo>
                  <a:pt x="1262" y="3560"/>
                </a:lnTo>
                <a:lnTo>
                  <a:pt x="1165" y="3586"/>
                </a:lnTo>
                <a:lnTo>
                  <a:pt x="1067" y="3611"/>
                </a:lnTo>
                <a:lnTo>
                  <a:pt x="970" y="3637"/>
                </a:lnTo>
                <a:lnTo>
                  <a:pt x="873" y="3661"/>
                </a:lnTo>
                <a:lnTo>
                  <a:pt x="776" y="3685"/>
                </a:lnTo>
                <a:lnTo>
                  <a:pt x="679" y="3708"/>
                </a:lnTo>
                <a:lnTo>
                  <a:pt x="582" y="3731"/>
                </a:lnTo>
                <a:lnTo>
                  <a:pt x="485" y="3754"/>
                </a:lnTo>
                <a:lnTo>
                  <a:pt x="388" y="3775"/>
                </a:lnTo>
                <a:lnTo>
                  <a:pt x="291" y="3797"/>
                </a:lnTo>
                <a:lnTo>
                  <a:pt x="194" y="3817"/>
                </a:lnTo>
                <a:lnTo>
                  <a:pt x="97" y="3837"/>
                </a:lnTo>
                <a:lnTo>
                  <a:pt x="0" y="3857"/>
                </a:lnTo>
                <a:lnTo>
                  <a:pt x="0" y="3240"/>
                </a:lnTo>
                <a:close/>
              </a:path>
            </a:pathLst>
          </a:custGeom>
          <a:solidFill>
            <a:srgbClr val="0072B2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28920" y="3670560"/>
            <a:ext cx="2060280" cy="1265040"/>
          </a:xfrm>
          <a:custGeom>
            <a:avLst/>
            <a:gdLst/>
            <a:ahLst/>
            <a:rect l="0" t="0" r="r" b="b"/>
            <a:pathLst>
              <a:path w="5723" h="3514">
                <a:moveTo>
                  <a:pt x="0" y="994"/>
                </a:moveTo>
                <a:lnTo>
                  <a:pt x="97" y="1017"/>
                </a:lnTo>
                <a:lnTo>
                  <a:pt x="194" y="1039"/>
                </a:lnTo>
                <a:lnTo>
                  <a:pt x="291" y="1062"/>
                </a:lnTo>
                <a:lnTo>
                  <a:pt x="388" y="1083"/>
                </a:lnTo>
                <a:lnTo>
                  <a:pt x="485" y="1104"/>
                </a:lnTo>
                <a:lnTo>
                  <a:pt x="582" y="1124"/>
                </a:lnTo>
                <a:lnTo>
                  <a:pt x="679" y="1144"/>
                </a:lnTo>
                <a:lnTo>
                  <a:pt x="776" y="1163"/>
                </a:lnTo>
                <a:lnTo>
                  <a:pt x="873" y="1182"/>
                </a:lnTo>
                <a:lnTo>
                  <a:pt x="970" y="1199"/>
                </a:lnTo>
                <a:lnTo>
                  <a:pt x="1067" y="1216"/>
                </a:lnTo>
                <a:lnTo>
                  <a:pt x="1165" y="1232"/>
                </a:lnTo>
                <a:lnTo>
                  <a:pt x="1262" y="1247"/>
                </a:lnTo>
                <a:lnTo>
                  <a:pt x="1359" y="1261"/>
                </a:lnTo>
                <a:lnTo>
                  <a:pt x="1456" y="1274"/>
                </a:lnTo>
                <a:lnTo>
                  <a:pt x="1553" y="1287"/>
                </a:lnTo>
                <a:lnTo>
                  <a:pt x="1650" y="1298"/>
                </a:lnTo>
                <a:lnTo>
                  <a:pt x="1747" y="1308"/>
                </a:lnTo>
                <a:lnTo>
                  <a:pt x="1844" y="1316"/>
                </a:lnTo>
                <a:lnTo>
                  <a:pt x="1941" y="1323"/>
                </a:lnTo>
                <a:lnTo>
                  <a:pt x="2038" y="1329"/>
                </a:lnTo>
                <a:lnTo>
                  <a:pt x="2134" y="1334"/>
                </a:lnTo>
                <a:lnTo>
                  <a:pt x="2231" y="1336"/>
                </a:lnTo>
                <a:lnTo>
                  <a:pt x="2329" y="1337"/>
                </a:lnTo>
                <a:lnTo>
                  <a:pt x="2426" y="1336"/>
                </a:lnTo>
                <a:lnTo>
                  <a:pt x="2522" y="1334"/>
                </a:lnTo>
                <a:lnTo>
                  <a:pt x="2619" y="1329"/>
                </a:lnTo>
                <a:lnTo>
                  <a:pt x="2716" y="1322"/>
                </a:lnTo>
                <a:lnTo>
                  <a:pt x="2813" y="1313"/>
                </a:lnTo>
                <a:lnTo>
                  <a:pt x="2910" y="1302"/>
                </a:lnTo>
                <a:lnTo>
                  <a:pt x="3007" y="1289"/>
                </a:lnTo>
                <a:lnTo>
                  <a:pt x="3104" y="1273"/>
                </a:lnTo>
                <a:lnTo>
                  <a:pt x="3201" y="1255"/>
                </a:lnTo>
                <a:lnTo>
                  <a:pt x="3298" y="1234"/>
                </a:lnTo>
                <a:lnTo>
                  <a:pt x="3395" y="1211"/>
                </a:lnTo>
                <a:lnTo>
                  <a:pt x="3492" y="1185"/>
                </a:lnTo>
                <a:lnTo>
                  <a:pt x="3589" y="1157"/>
                </a:lnTo>
                <a:lnTo>
                  <a:pt x="3686" y="1127"/>
                </a:lnTo>
                <a:lnTo>
                  <a:pt x="3783" y="1094"/>
                </a:lnTo>
                <a:lnTo>
                  <a:pt x="3880" y="1059"/>
                </a:lnTo>
                <a:lnTo>
                  <a:pt x="3977" y="1022"/>
                </a:lnTo>
                <a:lnTo>
                  <a:pt x="4074" y="982"/>
                </a:lnTo>
                <a:lnTo>
                  <a:pt x="4171" y="940"/>
                </a:lnTo>
                <a:lnTo>
                  <a:pt x="4268" y="896"/>
                </a:lnTo>
                <a:lnTo>
                  <a:pt x="4365" y="849"/>
                </a:lnTo>
                <a:lnTo>
                  <a:pt x="4462" y="801"/>
                </a:lnTo>
                <a:lnTo>
                  <a:pt x="4559" y="751"/>
                </a:lnTo>
                <a:lnTo>
                  <a:pt x="4656" y="698"/>
                </a:lnTo>
                <a:lnTo>
                  <a:pt x="4753" y="644"/>
                </a:lnTo>
                <a:lnTo>
                  <a:pt x="4850" y="587"/>
                </a:lnTo>
                <a:lnTo>
                  <a:pt x="4947" y="529"/>
                </a:lnTo>
                <a:lnTo>
                  <a:pt x="5044" y="469"/>
                </a:lnTo>
                <a:lnTo>
                  <a:pt x="5141" y="407"/>
                </a:lnTo>
                <a:lnTo>
                  <a:pt x="5238" y="344"/>
                </a:lnTo>
                <a:lnTo>
                  <a:pt x="5335" y="278"/>
                </a:lnTo>
                <a:lnTo>
                  <a:pt x="5432" y="211"/>
                </a:lnTo>
                <a:lnTo>
                  <a:pt x="5529" y="142"/>
                </a:lnTo>
                <a:lnTo>
                  <a:pt x="5626" y="72"/>
                </a:lnTo>
                <a:lnTo>
                  <a:pt x="5723" y="0"/>
                </a:lnTo>
                <a:lnTo>
                  <a:pt x="5723" y="2858"/>
                </a:lnTo>
                <a:lnTo>
                  <a:pt x="5626" y="2846"/>
                </a:lnTo>
                <a:lnTo>
                  <a:pt x="5529" y="2835"/>
                </a:lnTo>
                <a:lnTo>
                  <a:pt x="5432" y="2824"/>
                </a:lnTo>
                <a:lnTo>
                  <a:pt x="5335" y="2813"/>
                </a:lnTo>
                <a:lnTo>
                  <a:pt x="5238" y="2803"/>
                </a:lnTo>
                <a:lnTo>
                  <a:pt x="5141" y="2793"/>
                </a:lnTo>
                <a:lnTo>
                  <a:pt x="5044" y="2784"/>
                </a:lnTo>
                <a:lnTo>
                  <a:pt x="4947" y="2775"/>
                </a:lnTo>
                <a:lnTo>
                  <a:pt x="4850" y="2767"/>
                </a:lnTo>
                <a:lnTo>
                  <a:pt x="4753" y="2759"/>
                </a:lnTo>
                <a:lnTo>
                  <a:pt x="4656" y="2752"/>
                </a:lnTo>
                <a:lnTo>
                  <a:pt x="4559" y="2746"/>
                </a:lnTo>
                <a:lnTo>
                  <a:pt x="4462" y="2740"/>
                </a:lnTo>
                <a:lnTo>
                  <a:pt x="4365" y="2736"/>
                </a:lnTo>
                <a:lnTo>
                  <a:pt x="4268" y="2732"/>
                </a:lnTo>
                <a:lnTo>
                  <a:pt x="4171" y="2729"/>
                </a:lnTo>
                <a:lnTo>
                  <a:pt x="4074" y="2727"/>
                </a:lnTo>
                <a:lnTo>
                  <a:pt x="3977" y="2726"/>
                </a:lnTo>
                <a:lnTo>
                  <a:pt x="3880" y="2726"/>
                </a:lnTo>
                <a:lnTo>
                  <a:pt x="3783" y="2728"/>
                </a:lnTo>
                <a:lnTo>
                  <a:pt x="3686" y="2731"/>
                </a:lnTo>
                <a:lnTo>
                  <a:pt x="3589" y="2735"/>
                </a:lnTo>
                <a:lnTo>
                  <a:pt x="3492" y="2740"/>
                </a:lnTo>
                <a:lnTo>
                  <a:pt x="3395" y="2747"/>
                </a:lnTo>
                <a:lnTo>
                  <a:pt x="3298" y="2755"/>
                </a:lnTo>
                <a:lnTo>
                  <a:pt x="3201" y="2765"/>
                </a:lnTo>
                <a:lnTo>
                  <a:pt x="3104" y="2776"/>
                </a:lnTo>
                <a:lnTo>
                  <a:pt x="3007" y="2788"/>
                </a:lnTo>
                <a:lnTo>
                  <a:pt x="2910" y="2802"/>
                </a:lnTo>
                <a:lnTo>
                  <a:pt x="2813" y="2817"/>
                </a:lnTo>
                <a:lnTo>
                  <a:pt x="2716" y="2833"/>
                </a:lnTo>
                <a:lnTo>
                  <a:pt x="2619" y="2851"/>
                </a:lnTo>
                <a:lnTo>
                  <a:pt x="2522" y="2869"/>
                </a:lnTo>
                <a:lnTo>
                  <a:pt x="2426" y="2889"/>
                </a:lnTo>
                <a:lnTo>
                  <a:pt x="2329" y="2910"/>
                </a:lnTo>
                <a:lnTo>
                  <a:pt x="2231" y="2931"/>
                </a:lnTo>
                <a:lnTo>
                  <a:pt x="2134" y="2953"/>
                </a:lnTo>
                <a:lnTo>
                  <a:pt x="2038" y="2976"/>
                </a:lnTo>
                <a:lnTo>
                  <a:pt x="1941" y="3000"/>
                </a:lnTo>
                <a:lnTo>
                  <a:pt x="1844" y="3024"/>
                </a:lnTo>
                <a:lnTo>
                  <a:pt x="1747" y="3049"/>
                </a:lnTo>
                <a:lnTo>
                  <a:pt x="1650" y="3074"/>
                </a:lnTo>
                <a:lnTo>
                  <a:pt x="1553" y="3099"/>
                </a:lnTo>
                <a:lnTo>
                  <a:pt x="1456" y="3125"/>
                </a:lnTo>
                <a:lnTo>
                  <a:pt x="1359" y="3151"/>
                </a:lnTo>
                <a:lnTo>
                  <a:pt x="1262" y="3177"/>
                </a:lnTo>
                <a:lnTo>
                  <a:pt x="1165" y="3203"/>
                </a:lnTo>
                <a:lnTo>
                  <a:pt x="1067" y="3229"/>
                </a:lnTo>
                <a:lnTo>
                  <a:pt x="873" y="3282"/>
                </a:lnTo>
                <a:lnTo>
                  <a:pt x="776" y="3308"/>
                </a:lnTo>
                <a:lnTo>
                  <a:pt x="679" y="3334"/>
                </a:lnTo>
                <a:lnTo>
                  <a:pt x="582" y="3360"/>
                </a:lnTo>
                <a:lnTo>
                  <a:pt x="485" y="3386"/>
                </a:lnTo>
                <a:lnTo>
                  <a:pt x="388" y="3412"/>
                </a:lnTo>
                <a:lnTo>
                  <a:pt x="291" y="3438"/>
                </a:lnTo>
                <a:lnTo>
                  <a:pt x="194" y="3463"/>
                </a:lnTo>
                <a:lnTo>
                  <a:pt x="97" y="3489"/>
                </a:lnTo>
                <a:lnTo>
                  <a:pt x="0" y="3514"/>
                </a:lnTo>
                <a:lnTo>
                  <a:pt x="0" y="994"/>
                </a:lnTo>
                <a:close/>
              </a:path>
            </a:pathLst>
          </a:custGeom>
          <a:solidFill>
            <a:srgbClr val="D55E00">
              <a:alpha val="1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28920" y="4328280"/>
            <a:ext cx="2060280" cy="1083240"/>
          </a:xfrm>
          <a:custGeom>
            <a:avLst/>
            <a:gdLst/>
            <a:ahLst/>
            <a:rect l="0" t="0" r="r" b="b"/>
            <a:pathLst>
              <a:path fill="none" w="5723" h="3009">
                <a:moveTo>
                  <a:pt x="0" y="3009"/>
                </a:moveTo>
                <a:lnTo>
                  <a:pt x="97" y="2995"/>
                </a:lnTo>
                <a:lnTo>
                  <a:pt x="194" y="2980"/>
                </a:lnTo>
                <a:lnTo>
                  <a:pt x="291" y="2965"/>
                </a:lnTo>
                <a:lnTo>
                  <a:pt x="388" y="2949"/>
                </a:lnTo>
                <a:lnTo>
                  <a:pt x="485" y="2932"/>
                </a:lnTo>
                <a:lnTo>
                  <a:pt x="582" y="2915"/>
                </a:lnTo>
                <a:lnTo>
                  <a:pt x="679" y="2897"/>
                </a:lnTo>
                <a:lnTo>
                  <a:pt x="776" y="2878"/>
                </a:lnTo>
                <a:lnTo>
                  <a:pt x="873" y="2859"/>
                </a:lnTo>
                <a:lnTo>
                  <a:pt x="970" y="2839"/>
                </a:lnTo>
                <a:lnTo>
                  <a:pt x="1067" y="2818"/>
                </a:lnTo>
                <a:lnTo>
                  <a:pt x="1165" y="2797"/>
                </a:lnTo>
                <a:lnTo>
                  <a:pt x="1262" y="2774"/>
                </a:lnTo>
                <a:lnTo>
                  <a:pt x="1359" y="2751"/>
                </a:lnTo>
                <a:lnTo>
                  <a:pt x="1456" y="2727"/>
                </a:lnTo>
                <a:lnTo>
                  <a:pt x="1553" y="2702"/>
                </a:lnTo>
                <a:lnTo>
                  <a:pt x="1650" y="2676"/>
                </a:lnTo>
                <a:lnTo>
                  <a:pt x="1747" y="2649"/>
                </a:lnTo>
                <a:lnTo>
                  <a:pt x="1844" y="2621"/>
                </a:lnTo>
                <a:lnTo>
                  <a:pt x="1941" y="2592"/>
                </a:lnTo>
                <a:lnTo>
                  <a:pt x="2038" y="2562"/>
                </a:lnTo>
                <a:lnTo>
                  <a:pt x="2134" y="2531"/>
                </a:lnTo>
                <a:lnTo>
                  <a:pt x="2231" y="2498"/>
                </a:lnTo>
                <a:lnTo>
                  <a:pt x="2329" y="2465"/>
                </a:lnTo>
                <a:lnTo>
                  <a:pt x="2426" y="2430"/>
                </a:lnTo>
                <a:lnTo>
                  <a:pt x="2522" y="2394"/>
                </a:lnTo>
                <a:lnTo>
                  <a:pt x="2619" y="2356"/>
                </a:lnTo>
                <a:lnTo>
                  <a:pt x="2716" y="2317"/>
                </a:lnTo>
                <a:lnTo>
                  <a:pt x="2813" y="2276"/>
                </a:lnTo>
                <a:lnTo>
                  <a:pt x="2910" y="2234"/>
                </a:lnTo>
                <a:lnTo>
                  <a:pt x="3007" y="2191"/>
                </a:lnTo>
                <a:lnTo>
                  <a:pt x="3104" y="2145"/>
                </a:lnTo>
                <a:lnTo>
                  <a:pt x="3201" y="2098"/>
                </a:lnTo>
                <a:lnTo>
                  <a:pt x="3298" y="2049"/>
                </a:lnTo>
                <a:lnTo>
                  <a:pt x="3395" y="1999"/>
                </a:lnTo>
                <a:lnTo>
                  <a:pt x="3492" y="1946"/>
                </a:lnTo>
                <a:lnTo>
                  <a:pt x="3589" y="1892"/>
                </a:lnTo>
                <a:lnTo>
                  <a:pt x="3686" y="1835"/>
                </a:lnTo>
                <a:lnTo>
                  <a:pt x="3783" y="1776"/>
                </a:lnTo>
                <a:lnTo>
                  <a:pt x="3880" y="1715"/>
                </a:lnTo>
                <a:lnTo>
                  <a:pt x="3977" y="1652"/>
                </a:lnTo>
                <a:lnTo>
                  <a:pt x="4074" y="1586"/>
                </a:lnTo>
                <a:lnTo>
                  <a:pt x="4171" y="1518"/>
                </a:lnTo>
                <a:lnTo>
                  <a:pt x="4268" y="1446"/>
                </a:lnTo>
                <a:lnTo>
                  <a:pt x="4365" y="1373"/>
                </a:lnTo>
                <a:lnTo>
                  <a:pt x="4462" y="1297"/>
                </a:lnTo>
                <a:lnTo>
                  <a:pt x="4559" y="1218"/>
                </a:lnTo>
                <a:lnTo>
                  <a:pt x="4656" y="1135"/>
                </a:lnTo>
                <a:lnTo>
                  <a:pt x="4753" y="1050"/>
                </a:lnTo>
                <a:lnTo>
                  <a:pt x="4850" y="962"/>
                </a:lnTo>
                <a:lnTo>
                  <a:pt x="4947" y="870"/>
                </a:lnTo>
                <a:lnTo>
                  <a:pt x="5044" y="775"/>
                </a:lnTo>
                <a:lnTo>
                  <a:pt x="5141" y="676"/>
                </a:lnTo>
                <a:lnTo>
                  <a:pt x="5238" y="573"/>
                </a:lnTo>
                <a:lnTo>
                  <a:pt x="5335" y="467"/>
                </a:lnTo>
                <a:lnTo>
                  <a:pt x="5432" y="357"/>
                </a:lnTo>
                <a:lnTo>
                  <a:pt x="5529" y="242"/>
                </a:lnTo>
                <a:lnTo>
                  <a:pt x="5626" y="123"/>
                </a:lnTo>
                <a:lnTo>
                  <a:pt x="5723" y="0"/>
                </a:lnTo>
              </a:path>
            </a:pathLst>
          </a:custGeom>
          <a:ln w="18720">
            <a:solidFill>
              <a:srgbClr val="56B4E9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28920" y="4308120"/>
            <a:ext cx="2060280" cy="898920"/>
          </a:xfrm>
          <a:custGeom>
            <a:avLst/>
            <a:gdLst/>
            <a:ahLst/>
            <a:rect l="0" t="0" r="r" b="b"/>
            <a:pathLst>
              <a:path fill="none" w="5723" h="2497">
                <a:moveTo>
                  <a:pt x="0" y="2497"/>
                </a:moveTo>
                <a:lnTo>
                  <a:pt x="97" y="2476"/>
                </a:lnTo>
                <a:lnTo>
                  <a:pt x="194" y="2455"/>
                </a:lnTo>
                <a:lnTo>
                  <a:pt x="291" y="2433"/>
                </a:lnTo>
                <a:lnTo>
                  <a:pt x="388" y="2411"/>
                </a:lnTo>
                <a:lnTo>
                  <a:pt x="485" y="2388"/>
                </a:lnTo>
                <a:lnTo>
                  <a:pt x="582" y="2365"/>
                </a:lnTo>
                <a:lnTo>
                  <a:pt x="679" y="2341"/>
                </a:lnTo>
                <a:lnTo>
                  <a:pt x="776" y="2316"/>
                </a:lnTo>
                <a:lnTo>
                  <a:pt x="873" y="2291"/>
                </a:lnTo>
                <a:lnTo>
                  <a:pt x="970" y="2266"/>
                </a:lnTo>
                <a:lnTo>
                  <a:pt x="1067" y="2240"/>
                </a:lnTo>
                <a:lnTo>
                  <a:pt x="1165" y="2213"/>
                </a:lnTo>
                <a:lnTo>
                  <a:pt x="1262" y="2186"/>
                </a:lnTo>
                <a:lnTo>
                  <a:pt x="1359" y="2158"/>
                </a:lnTo>
                <a:lnTo>
                  <a:pt x="1456" y="2130"/>
                </a:lnTo>
                <a:lnTo>
                  <a:pt x="1553" y="2101"/>
                </a:lnTo>
                <a:lnTo>
                  <a:pt x="1650" y="2071"/>
                </a:lnTo>
                <a:lnTo>
                  <a:pt x="1747" y="2040"/>
                </a:lnTo>
                <a:lnTo>
                  <a:pt x="1844" y="2009"/>
                </a:lnTo>
                <a:lnTo>
                  <a:pt x="1941" y="1978"/>
                </a:lnTo>
                <a:lnTo>
                  <a:pt x="2038" y="1945"/>
                </a:lnTo>
                <a:lnTo>
                  <a:pt x="2134" y="1912"/>
                </a:lnTo>
                <a:lnTo>
                  <a:pt x="2231" y="1878"/>
                </a:lnTo>
                <a:lnTo>
                  <a:pt x="2329" y="1843"/>
                </a:lnTo>
                <a:lnTo>
                  <a:pt x="2426" y="1808"/>
                </a:lnTo>
                <a:lnTo>
                  <a:pt x="2522" y="1772"/>
                </a:lnTo>
                <a:lnTo>
                  <a:pt x="2619" y="1734"/>
                </a:lnTo>
                <a:lnTo>
                  <a:pt x="2716" y="1696"/>
                </a:lnTo>
                <a:lnTo>
                  <a:pt x="2813" y="1657"/>
                </a:lnTo>
                <a:lnTo>
                  <a:pt x="2910" y="1618"/>
                </a:lnTo>
                <a:lnTo>
                  <a:pt x="3007" y="1577"/>
                </a:lnTo>
                <a:lnTo>
                  <a:pt x="3104" y="1536"/>
                </a:lnTo>
                <a:lnTo>
                  <a:pt x="3201" y="1494"/>
                </a:lnTo>
                <a:lnTo>
                  <a:pt x="3298" y="1451"/>
                </a:lnTo>
                <a:lnTo>
                  <a:pt x="3395" y="1407"/>
                </a:lnTo>
                <a:lnTo>
                  <a:pt x="3492" y="1362"/>
                </a:lnTo>
                <a:lnTo>
                  <a:pt x="3589" y="1316"/>
                </a:lnTo>
                <a:lnTo>
                  <a:pt x="3686" y="1268"/>
                </a:lnTo>
                <a:lnTo>
                  <a:pt x="3783" y="1220"/>
                </a:lnTo>
                <a:lnTo>
                  <a:pt x="3880" y="1171"/>
                </a:lnTo>
                <a:lnTo>
                  <a:pt x="3977" y="1121"/>
                </a:lnTo>
                <a:lnTo>
                  <a:pt x="4074" y="1070"/>
                </a:lnTo>
                <a:lnTo>
                  <a:pt x="4171" y="1017"/>
                </a:lnTo>
                <a:lnTo>
                  <a:pt x="4268" y="963"/>
                </a:lnTo>
                <a:lnTo>
                  <a:pt x="4365" y="908"/>
                </a:lnTo>
                <a:lnTo>
                  <a:pt x="4462" y="853"/>
                </a:lnTo>
                <a:lnTo>
                  <a:pt x="4559" y="795"/>
                </a:lnTo>
                <a:lnTo>
                  <a:pt x="4656" y="737"/>
                </a:lnTo>
                <a:lnTo>
                  <a:pt x="4753" y="677"/>
                </a:lnTo>
                <a:lnTo>
                  <a:pt x="4850" y="616"/>
                </a:lnTo>
                <a:lnTo>
                  <a:pt x="4947" y="553"/>
                </a:lnTo>
                <a:lnTo>
                  <a:pt x="5044" y="489"/>
                </a:lnTo>
                <a:lnTo>
                  <a:pt x="5141" y="424"/>
                </a:lnTo>
                <a:lnTo>
                  <a:pt x="5238" y="357"/>
                </a:lnTo>
                <a:lnTo>
                  <a:pt x="5335" y="289"/>
                </a:lnTo>
                <a:lnTo>
                  <a:pt x="5432" y="219"/>
                </a:lnTo>
                <a:lnTo>
                  <a:pt x="5529" y="148"/>
                </a:lnTo>
                <a:lnTo>
                  <a:pt x="5626" y="75"/>
                </a:lnTo>
                <a:lnTo>
                  <a:pt x="5723" y="0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20" y="4285080"/>
            <a:ext cx="2060280" cy="298080"/>
          </a:xfrm>
          <a:custGeom>
            <a:avLst/>
            <a:gdLst/>
            <a:ahLst/>
            <a:rect l="0" t="0" r="r" b="b"/>
            <a:pathLst>
              <a:path fill="none" w="5723" h="828">
                <a:moveTo>
                  <a:pt x="0" y="828"/>
                </a:moveTo>
                <a:lnTo>
                  <a:pt x="194" y="803"/>
                </a:lnTo>
                <a:lnTo>
                  <a:pt x="388" y="779"/>
                </a:lnTo>
                <a:lnTo>
                  <a:pt x="485" y="766"/>
                </a:lnTo>
                <a:lnTo>
                  <a:pt x="679" y="741"/>
                </a:lnTo>
                <a:lnTo>
                  <a:pt x="776" y="728"/>
                </a:lnTo>
                <a:lnTo>
                  <a:pt x="873" y="716"/>
                </a:lnTo>
                <a:lnTo>
                  <a:pt x="1165" y="677"/>
                </a:lnTo>
                <a:lnTo>
                  <a:pt x="1262" y="664"/>
                </a:lnTo>
                <a:lnTo>
                  <a:pt x="1359" y="651"/>
                </a:lnTo>
                <a:lnTo>
                  <a:pt x="1553" y="625"/>
                </a:lnTo>
                <a:lnTo>
                  <a:pt x="1650" y="612"/>
                </a:lnTo>
                <a:lnTo>
                  <a:pt x="1747" y="599"/>
                </a:lnTo>
                <a:lnTo>
                  <a:pt x="1844" y="586"/>
                </a:lnTo>
                <a:lnTo>
                  <a:pt x="1941" y="572"/>
                </a:lnTo>
                <a:lnTo>
                  <a:pt x="2038" y="559"/>
                </a:lnTo>
                <a:lnTo>
                  <a:pt x="2134" y="545"/>
                </a:lnTo>
                <a:lnTo>
                  <a:pt x="2329" y="518"/>
                </a:lnTo>
                <a:lnTo>
                  <a:pt x="2426" y="505"/>
                </a:lnTo>
                <a:lnTo>
                  <a:pt x="2522" y="491"/>
                </a:lnTo>
                <a:lnTo>
                  <a:pt x="2716" y="463"/>
                </a:lnTo>
                <a:lnTo>
                  <a:pt x="2813" y="449"/>
                </a:lnTo>
                <a:lnTo>
                  <a:pt x="2910" y="435"/>
                </a:lnTo>
                <a:lnTo>
                  <a:pt x="3007" y="421"/>
                </a:lnTo>
                <a:lnTo>
                  <a:pt x="3104" y="407"/>
                </a:lnTo>
                <a:lnTo>
                  <a:pt x="3201" y="393"/>
                </a:lnTo>
                <a:lnTo>
                  <a:pt x="3298" y="379"/>
                </a:lnTo>
                <a:lnTo>
                  <a:pt x="3395" y="365"/>
                </a:lnTo>
                <a:lnTo>
                  <a:pt x="3492" y="350"/>
                </a:lnTo>
                <a:lnTo>
                  <a:pt x="3686" y="321"/>
                </a:lnTo>
                <a:lnTo>
                  <a:pt x="3783" y="307"/>
                </a:lnTo>
                <a:lnTo>
                  <a:pt x="3977" y="278"/>
                </a:lnTo>
                <a:lnTo>
                  <a:pt x="4074" y="263"/>
                </a:lnTo>
                <a:lnTo>
                  <a:pt x="4171" y="248"/>
                </a:lnTo>
                <a:lnTo>
                  <a:pt x="4365" y="218"/>
                </a:lnTo>
                <a:lnTo>
                  <a:pt x="4462" y="203"/>
                </a:lnTo>
                <a:lnTo>
                  <a:pt x="4559" y="188"/>
                </a:lnTo>
                <a:lnTo>
                  <a:pt x="4753" y="158"/>
                </a:lnTo>
                <a:lnTo>
                  <a:pt x="4850" y="142"/>
                </a:lnTo>
                <a:lnTo>
                  <a:pt x="4947" y="127"/>
                </a:lnTo>
                <a:lnTo>
                  <a:pt x="5044" y="112"/>
                </a:lnTo>
                <a:lnTo>
                  <a:pt x="5335" y="64"/>
                </a:lnTo>
                <a:lnTo>
                  <a:pt x="5432" y="48"/>
                </a:lnTo>
                <a:lnTo>
                  <a:pt x="5626" y="16"/>
                </a:lnTo>
                <a:lnTo>
                  <a:pt x="5723" y="0"/>
                </a:lnTo>
              </a:path>
            </a:pathLst>
          </a:custGeom>
          <a:ln w="18720">
            <a:solidFill>
              <a:srgbClr val="D55E00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525960" y="3580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395520" y="1108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342000" y="54964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42000" y="49453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42000" y="43938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94280" y="5547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94280" y="4995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94280" y="44442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94280" y="3893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25960" y="5556960"/>
            <a:ext cx="2265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 flipV="1">
            <a:off x="53856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1101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166392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2226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278892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342000" y="38422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56120" y="560124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018800" y="560124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60056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16324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725560" y="560124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54080" y="5747400"/>
            <a:ext cx="2901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Province warmed more than the species' range (°C)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633960" y="3573360"/>
            <a:ext cx="1053360" cy="647280"/>
          </a:xfrm>
          <a:custGeom>
            <a:avLst/>
            <a:gdLst/>
            <a:ahLst/>
            <a:rect l="0" t="0" r="r" b="b"/>
            <a:pathLst>
              <a:path w="2926" h="1798">
                <a:moveTo>
                  <a:pt x="0" y="0"/>
                </a:moveTo>
                <a:lnTo>
                  <a:pt x="2926" y="0"/>
                </a:lnTo>
                <a:lnTo>
                  <a:pt x="2926" y="1798"/>
                </a:lnTo>
                <a:lnTo>
                  <a:pt x="0" y="17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 rot="16200000">
            <a:off x="-743400" y="4550040"/>
            <a:ext cx="19555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96960" y="38142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8480" y="3871440"/>
            <a:ext cx="91080" cy="0"/>
          </a:xfrm>
          <a:prstGeom prst="line">
            <a:avLst/>
          </a:prstGeom>
          <a:ln w="18720">
            <a:solidFill>
              <a:srgbClr val="56B4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96960" y="3928320"/>
            <a:ext cx="114480" cy="114840"/>
          </a:xfrm>
          <a:custGeom>
            <a:avLst/>
            <a:gdLst/>
            <a:ahLst/>
            <a:rect l="0" t="0" r="r" b="b"/>
            <a:pathLst>
              <a:path w="318" h="319">
                <a:moveTo>
                  <a:pt x="0" y="0"/>
                </a:moveTo>
                <a:lnTo>
                  <a:pt x="318" y="0"/>
                </a:lnTo>
                <a:lnTo>
                  <a:pt x="318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08480" y="3985560"/>
            <a:ext cx="91080" cy="0"/>
          </a:xfrm>
          <a:prstGeom prst="line">
            <a:avLst/>
          </a:prstGeom>
          <a:ln w="1872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96960" y="4042800"/>
            <a:ext cx="114480" cy="114480"/>
          </a:xfrm>
          <a:custGeom>
            <a:avLst/>
            <a:gdLst/>
            <a:ahLst/>
            <a:rect l="0" t="0" r="r" b="b"/>
            <a:pathLst>
              <a:path w="318" h="318">
                <a:moveTo>
                  <a:pt x="0" y="0"/>
                </a:moveTo>
                <a:lnTo>
                  <a:pt x="318" y="0"/>
                </a:lnTo>
                <a:lnTo>
                  <a:pt x="318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708480" y="4100040"/>
            <a:ext cx="91080" cy="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-9360" rIns="9360" bIns="-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697320" y="3649320"/>
            <a:ext cx="705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74440" y="3827160"/>
            <a:ext cx="604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 3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874440" y="3941280"/>
            <a:ext cx="635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60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874440" y="4055760"/>
            <a:ext cx="69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1,163 visits/yr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25960" y="3251520"/>
            <a:ext cx="2297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accumulated warming is 0.18 °C;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525960" y="3377880"/>
            <a:ext cx="2374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effort multiplies annual visits by 7.9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25960" y="3061440"/>
            <a:ext cx="16668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Effect sizes you can picture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321080" y="3580560"/>
            <a:ext cx="2266200" cy="1976760"/>
          </a:xfrm>
          <a:custGeom>
            <a:avLst/>
            <a:gdLst/>
            <a:ahLst/>
            <a:rect l="0" t="0" r="r" b="b"/>
            <a:pathLst>
              <a:path w="6295" h="5491">
                <a:moveTo>
                  <a:pt x="0" y="0"/>
                </a:moveTo>
                <a:lnTo>
                  <a:pt x="6295" y="0"/>
                </a:lnTo>
                <a:lnTo>
                  <a:pt x="6295" y="5491"/>
                </a:lnTo>
                <a:lnTo>
                  <a:pt x="0" y="54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 flipV="1">
            <a:off x="5187240" y="3606480"/>
            <a:ext cx="0" cy="1950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424040" y="3704040"/>
            <a:ext cx="1143360" cy="209520"/>
          </a:xfrm>
          <a:custGeom>
            <a:avLst/>
            <a:gdLst/>
            <a:ahLst/>
            <a:rect l="0" t="0" r="r" b="b"/>
            <a:pathLst>
              <a:path w="3176" h="582">
                <a:moveTo>
                  <a:pt x="0" y="0"/>
                </a:moveTo>
                <a:lnTo>
                  <a:pt x="3176" y="0"/>
                </a:lnTo>
                <a:lnTo>
                  <a:pt x="3176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424040" y="4084200"/>
            <a:ext cx="1063800" cy="209520"/>
          </a:xfrm>
          <a:custGeom>
            <a:avLst/>
            <a:gdLst/>
            <a:ahLst/>
            <a:rect l="0" t="0" r="r" b="b"/>
            <a:pathLst>
              <a:path w="2955" h="582">
                <a:moveTo>
                  <a:pt x="0" y="0"/>
                </a:moveTo>
                <a:lnTo>
                  <a:pt x="2955" y="0"/>
                </a:lnTo>
                <a:lnTo>
                  <a:pt x="2955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424040" y="4464360"/>
            <a:ext cx="1694880" cy="209160"/>
          </a:xfrm>
          <a:custGeom>
            <a:avLst/>
            <a:gdLst/>
            <a:ahLst/>
            <a:rect l="0" t="0" r="r" b="b"/>
            <a:pathLst>
              <a:path w="4708" h="581">
                <a:moveTo>
                  <a:pt x="0" y="0"/>
                </a:moveTo>
                <a:lnTo>
                  <a:pt x="4708" y="0"/>
                </a:lnTo>
                <a:lnTo>
                  <a:pt x="4708" y="581"/>
                </a:lnTo>
                <a:lnTo>
                  <a:pt x="0" y="58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4424040" y="4844160"/>
            <a:ext cx="1041480" cy="209520"/>
          </a:xfrm>
          <a:custGeom>
            <a:avLst/>
            <a:gdLst/>
            <a:ahLst/>
            <a:rect l="0" t="0" r="r" b="b"/>
            <a:pathLst>
              <a:path w="2893" h="582">
                <a:moveTo>
                  <a:pt x="0" y="0"/>
                </a:moveTo>
                <a:lnTo>
                  <a:pt x="2893" y="0"/>
                </a:lnTo>
                <a:lnTo>
                  <a:pt x="2893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424040" y="5224320"/>
            <a:ext cx="1090800" cy="209520"/>
          </a:xfrm>
          <a:custGeom>
            <a:avLst/>
            <a:gdLst/>
            <a:ahLst/>
            <a:rect l="0" t="0" r="r" b="b"/>
            <a:pathLst>
              <a:path w="3030" h="582">
                <a:moveTo>
                  <a:pt x="0" y="0"/>
                </a:moveTo>
                <a:lnTo>
                  <a:pt x="3030" y="0"/>
                </a:lnTo>
                <a:lnTo>
                  <a:pt x="3030" y="582"/>
                </a:lnTo>
                <a:lnTo>
                  <a:pt x="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39320" y="3027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615280" y="375804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x1.50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535720" y="413820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x1.39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166800" y="451800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x2.22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513400" y="489816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x1.36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4321080" y="3580560"/>
            <a:ext cx="0" cy="19764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562720" y="5278320"/>
            <a:ext cx="2541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x1.43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413520" y="5278320"/>
            <a:ext cx="891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 (ﬁxed)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994480" y="4898160"/>
            <a:ext cx="1317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 (ﬁxed)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3591360" y="4518000"/>
            <a:ext cx="7045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Province x year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883320" y="4138200"/>
            <a:ext cx="398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4289400" y="5329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289400" y="49489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289400" y="4568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289400" y="41886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289400" y="3808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321080" y="5556960"/>
            <a:ext cx="226584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 flipV="1">
            <a:off x="44240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V="1">
            <a:off x="518724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 flipV="1">
            <a:off x="5950080" y="555696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921480" y="3758040"/>
            <a:ext cx="3639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39884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16168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924880" y="5601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692240" y="5747400"/>
            <a:ext cx="14839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multiplier per 1 SD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321440" y="3251520"/>
            <a:ext cx="23158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One SD of province-by-year shock multiplies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321440" y="3377880"/>
            <a:ext cx="2257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the hazard by 2.22 - more than either driver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321440" y="3061440"/>
            <a:ext cx="24678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observation process outweighs both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968920" y="30276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Figure4</dc:title>
</cp:coreProperties>
</file>