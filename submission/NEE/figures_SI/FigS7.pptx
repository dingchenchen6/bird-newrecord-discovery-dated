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972800" cy="73152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48640" y="277200"/>
            <a:ext cx="9875160" cy="11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48640" y="1627200"/>
            <a:ext cx="9875160" cy="403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0973160" cy="7315560"/>
          </a:xfrm>
          <a:custGeom>
            <a:avLst/>
            <a:gdLst/>
            <a:ahLst/>
            <a:rect l="0" t="0" r="r" b="b"/>
            <a:pathLst>
              <a:path w="30481" h="20321">
                <a:moveTo>
                  <a:pt x="0" y="0"/>
                </a:moveTo>
                <a:lnTo>
                  <a:pt x="30481" y="0"/>
                </a:lnTo>
                <a:lnTo>
                  <a:pt x="30481" y="20321"/>
                </a:lnTo>
                <a:lnTo>
                  <a:pt x="0" y="20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0973160" cy="7315560"/>
          </a:xfrm>
          <a:custGeom>
            <a:avLst/>
            <a:gdLst/>
            <a:ahLst/>
            <a:rect l="0" t="0" r="r" b="b"/>
            <a:pathLst>
              <a:path w="30481" h="20321">
                <a:moveTo>
                  <a:pt x="0" y="0"/>
                </a:moveTo>
                <a:lnTo>
                  <a:pt x="30481" y="0"/>
                </a:lnTo>
                <a:lnTo>
                  <a:pt x="30481" y="20321"/>
                </a:lnTo>
                <a:lnTo>
                  <a:pt x="0" y="20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5416920" cy="4048920"/>
          </a:xfrm>
          <a:custGeom>
            <a:avLst/>
            <a:gdLst/>
            <a:ahLst/>
            <a:rect l="0" t="0" r="r" b="b"/>
            <a:pathLst>
              <a:path w="15047" h="11247">
                <a:moveTo>
                  <a:pt x="0" y="0"/>
                </a:moveTo>
                <a:lnTo>
                  <a:pt x="15047" y="0"/>
                </a:lnTo>
                <a:lnTo>
                  <a:pt x="15047" y="11247"/>
                </a:lnTo>
                <a:lnTo>
                  <a:pt x="0" y="112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5486400" y="69480"/>
            <a:ext cx="5417280" cy="4048920"/>
          </a:xfrm>
          <a:custGeom>
            <a:avLst/>
            <a:gdLst/>
            <a:ahLst/>
            <a:rect l="0" t="0" r="r" b="b"/>
            <a:pathLst>
              <a:path w="15048" h="11247">
                <a:moveTo>
                  <a:pt x="0" y="0"/>
                </a:moveTo>
                <a:lnTo>
                  <a:pt x="15048" y="0"/>
                </a:lnTo>
                <a:lnTo>
                  <a:pt x="15048" y="11247"/>
                </a:lnTo>
                <a:lnTo>
                  <a:pt x="0" y="112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1637280" y="1031760"/>
            <a:ext cx="1788840" cy="1851840"/>
          </a:xfrm>
          <a:custGeom>
            <a:avLst/>
            <a:gdLst/>
            <a:ahLst/>
            <a:rect l="0" t="0" r="r" b="b"/>
            <a:pathLst>
              <a:path w="4969" h="5144">
                <a:moveTo>
                  <a:pt x="0" y="0"/>
                </a:moveTo>
                <a:lnTo>
                  <a:pt x="4969" y="0"/>
                </a:lnTo>
                <a:lnTo>
                  <a:pt x="4969" y="5144"/>
                </a:lnTo>
                <a:lnTo>
                  <a:pt x="0" y="51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1637280" y="2364120"/>
            <a:ext cx="1788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1637280" y="1845000"/>
            <a:ext cx="1788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1637280" y="1325880"/>
            <a:ext cx="1788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1805040" y="1314360"/>
            <a:ext cx="335520" cy="1569240"/>
          </a:xfrm>
          <a:custGeom>
            <a:avLst/>
            <a:gdLst/>
            <a:ahLst/>
            <a:rect l="0" t="0" r="r" b="b"/>
            <a:pathLst>
              <a:path w="932" h="4359">
                <a:moveTo>
                  <a:pt x="0" y="0"/>
                </a:moveTo>
                <a:lnTo>
                  <a:pt x="932" y="0"/>
                </a:lnTo>
                <a:lnTo>
                  <a:pt x="932" y="4359"/>
                </a:lnTo>
                <a:lnTo>
                  <a:pt x="0" y="4359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2363760" y="1603440"/>
            <a:ext cx="335880" cy="1280160"/>
          </a:xfrm>
          <a:custGeom>
            <a:avLst/>
            <a:gdLst/>
            <a:ahLst/>
            <a:rect l="0" t="0" r="r" b="b"/>
            <a:pathLst>
              <a:path w="933" h="3556">
                <a:moveTo>
                  <a:pt x="0" y="0"/>
                </a:moveTo>
                <a:lnTo>
                  <a:pt x="933" y="0"/>
                </a:lnTo>
                <a:lnTo>
                  <a:pt x="933" y="3556"/>
                </a:lnTo>
                <a:lnTo>
                  <a:pt x="0" y="3556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2922840" y="1497960"/>
            <a:ext cx="335520" cy="1385640"/>
          </a:xfrm>
          <a:custGeom>
            <a:avLst/>
            <a:gdLst/>
            <a:ahLst/>
            <a:rect l="0" t="0" r="r" b="b"/>
            <a:pathLst>
              <a:path w="932" h="3849">
                <a:moveTo>
                  <a:pt x="0" y="0"/>
                </a:moveTo>
                <a:lnTo>
                  <a:pt x="932" y="0"/>
                </a:lnTo>
                <a:lnTo>
                  <a:pt x="932" y="3849"/>
                </a:lnTo>
                <a:lnTo>
                  <a:pt x="0" y="3849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833120" y="1211400"/>
            <a:ext cx="27576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302.21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391840" y="1500840"/>
            <a:ext cx="27576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246.52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3596760" y="1031760"/>
            <a:ext cx="1788480" cy="1851840"/>
          </a:xfrm>
          <a:custGeom>
            <a:avLst/>
            <a:gdLst/>
            <a:ahLst/>
            <a:rect l="0" t="0" r="r" b="b"/>
            <a:pathLst>
              <a:path w="4968" h="5144">
                <a:moveTo>
                  <a:pt x="0" y="0"/>
                </a:moveTo>
                <a:lnTo>
                  <a:pt x="4968" y="0"/>
                </a:lnTo>
                <a:lnTo>
                  <a:pt x="4968" y="5144"/>
                </a:lnTo>
                <a:lnTo>
                  <a:pt x="0" y="51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3596760" y="2323440"/>
            <a:ext cx="17881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3596760" y="1763640"/>
            <a:ext cx="17881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3596760" y="1203480"/>
            <a:ext cx="17881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3764160" y="1314360"/>
            <a:ext cx="335880" cy="1569240"/>
          </a:xfrm>
          <a:custGeom>
            <a:avLst/>
            <a:gdLst/>
            <a:ahLst/>
            <a:rect l="0" t="0" r="r" b="b"/>
            <a:pathLst>
              <a:path w="933" h="4359">
                <a:moveTo>
                  <a:pt x="0" y="0"/>
                </a:moveTo>
                <a:lnTo>
                  <a:pt x="933" y="0"/>
                </a:lnTo>
                <a:lnTo>
                  <a:pt x="933" y="4359"/>
                </a:lnTo>
                <a:lnTo>
                  <a:pt x="0" y="4359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4323240" y="2537280"/>
            <a:ext cx="335520" cy="346320"/>
          </a:xfrm>
          <a:custGeom>
            <a:avLst/>
            <a:gdLst/>
            <a:ahLst/>
            <a:rect l="0" t="0" r="r" b="b"/>
            <a:pathLst>
              <a:path w="932" h="962">
                <a:moveTo>
                  <a:pt x="0" y="0"/>
                </a:moveTo>
                <a:lnTo>
                  <a:pt x="932" y="0"/>
                </a:lnTo>
                <a:lnTo>
                  <a:pt x="932" y="962"/>
                </a:lnTo>
                <a:lnTo>
                  <a:pt x="0" y="962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4881960" y="2458440"/>
            <a:ext cx="335880" cy="425160"/>
          </a:xfrm>
          <a:custGeom>
            <a:avLst/>
            <a:gdLst/>
            <a:ahLst/>
            <a:rect l="0" t="0" r="r" b="b"/>
            <a:pathLst>
              <a:path w="933" h="1181">
                <a:moveTo>
                  <a:pt x="0" y="0"/>
                </a:moveTo>
                <a:lnTo>
                  <a:pt x="933" y="0"/>
                </a:lnTo>
                <a:lnTo>
                  <a:pt x="933" y="1181"/>
                </a:lnTo>
                <a:lnTo>
                  <a:pt x="0" y="1181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3596760" y="2603520"/>
            <a:ext cx="1788120" cy="0"/>
          </a:xfrm>
          <a:prstGeom prst="line">
            <a:avLst/>
          </a:prstGeom>
          <a:ln w="9360">
            <a:solidFill>
              <a:srgbClr val="737373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950920" y="1395360"/>
            <a:ext cx="27576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266.80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3843360" y="1211400"/>
            <a:ext cx="1756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5.60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402080" y="2434680"/>
            <a:ext cx="1756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1.24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 flipV="1">
            <a:off x="3596760" y="1031760"/>
            <a:ext cx="0" cy="185148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960800" y="2355840"/>
            <a:ext cx="1756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1.52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3489120" y="28328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489120" y="22726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3489120" y="17128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3565080" y="28832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3565080" y="23234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3565080" y="17636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3565080" y="12034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3489120" y="11530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688040" y="860760"/>
            <a:ext cx="12657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AICc (lower is better)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637280" y="2883240"/>
            <a:ext cx="17884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 flipV="1">
            <a:off x="197244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 flipV="1">
            <a:off x="253152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 flipV="1">
            <a:off x="309024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3647520" y="860760"/>
            <a:ext cx="13082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Dispersion (1 is ideal)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 rot="20640000">
            <a:off x="1375200" y="3028680"/>
            <a:ext cx="5900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Poisson (main)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 rot="20640000">
            <a:off x="1536120" y="3087000"/>
            <a:ext cx="978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Negative binomial (main)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3596760" y="2883240"/>
            <a:ext cx="17881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 flipV="1">
            <a:off x="393192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 flipV="1">
            <a:off x="449064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 flipV="1">
            <a:off x="504972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 rot="20640000">
            <a:off x="1447920" y="3181320"/>
            <a:ext cx="16171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Negative binomial (recent effort as offset)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 rot="20640000">
            <a:off x="3334680" y="3028680"/>
            <a:ext cx="5900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Poisson (main)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 rot="20640000">
            <a:off x="3495240" y="3087000"/>
            <a:ext cx="978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Negative binomial (main)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 flipV="1">
            <a:off x="1637280" y="1031760"/>
            <a:ext cx="0" cy="185148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 rot="20640000">
            <a:off x="3407040" y="3181320"/>
            <a:ext cx="16171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Negative binomial (recent effort as offset)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529640" y="28328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428120" y="231336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428120" y="179424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605600" y="28832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605600" y="23641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605600" y="18450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605600" y="13258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428120" y="127512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300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637280" y="588240"/>
            <a:ext cx="46256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Poisson dispersion 5.60 (P = 2.3e-17); the negative binomial reduces it to 1.24 (P = 0.20)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637280" y="132840"/>
            <a:ext cx="295380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Poisson is rejected, negative binomial is not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7054200" y="1031760"/>
            <a:ext cx="1842480" cy="1851840"/>
          </a:xfrm>
          <a:custGeom>
            <a:avLst/>
            <a:gdLst/>
            <a:ahLst/>
            <a:rect l="0" t="0" r="r" b="b"/>
            <a:pathLst>
              <a:path w="5118" h="5144">
                <a:moveTo>
                  <a:pt x="0" y="0"/>
                </a:moveTo>
                <a:lnTo>
                  <a:pt x="5118" y="0"/>
                </a:lnTo>
                <a:lnTo>
                  <a:pt x="5118" y="5144"/>
                </a:lnTo>
                <a:lnTo>
                  <a:pt x="0" y="51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 flipV="1">
            <a:off x="8174520" y="1031760"/>
            <a:ext cx="0" cy="185148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7747560" y="2703960"/>
            <a:ext cx="63180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7661520" y="2405520"/>
            <a:ext cx="83376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8194320" y="1211040"/>
            <a:ext cx="557640" cy="0"/>
          </a:xfrm>
          <a:prstGeom prst="line">
            <a:avLst/>
          </a:prstGeom>
          <a:ln w="1476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7907040" y="1808280"/>
            <a:ext cx="76680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8095680" y="1509480"/>
            <a:ext cx="56124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7946640" y="2106720"/>
            <a:ext cx="43596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8032320" y="267300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6"/>
                </a:moveTo>
                <a:cubicBezTo>
                  <a:pt x="0" y="-29"/>
                  <a:pt x="174" y="-29"/>
                  <a:pt x="174" y="86"/>
                </a:cubicBezTo>
                <a:cubicBezTo>
                  <a:pt x="174" y="203"/>
                  <a:pt x="0" y="203"/>
                  <a:pt x="0" y="86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8032320" y="26730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8047080" y="237420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8"/>
                </a:moveTo>
                <a:cubicBezTo>
                  <a:pt x="0" y="-29"/>
                  <a:pt x="175" y="-29"/>
                  <a:pt x="175" y="88"/>
                </a:cubicBezTo>
                <a:cubicBezTo>
                  <a:pt x="175" y="203"/>
                  <a:pt x="0" y="203"/>
                  <a:pt x="0" y="88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8047080" y="237420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8"/>
                </a:moveTo>
                <a:cubicBezTo>
                  <a:pt x="175" y="203"/>
                  <a:pt x="0" y="203"/>
                  <a:pt x="0" y="88"/>
                </a:cubicBezTo>
                <a:cubicBezTo>
                  <a:pt x="0" y="-29"/>
                  <a:pt x="175" y="-29"/>
                  <a:pt x="175" y="88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8442000" y="11797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8442000" y="11797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8259120" y="1776960"/>
            <a:ext cx="63000" cy="63000"/>
          </a:xfrm>
          <a:custGeom>
            <a:avLst/>
            <a:gdLst/>
            <a:ahLst/>
            <a:rect l="0" t="0" r="r" b="b"/>
            <a:pathLst>
              <a:path w="175" h="175">
                <a:moveTo>
                  <a:pt x="0" y="88"/>
                </a:moveTo>
                <a:cubicBezTo>
                  <a:pt x="0" y="-29"/>
                  <a:pt x="175" y="-29"/>
                  <a:pt x="175" y="88"/>
                </a:cubicBezTo>
                <a:cubicBezTo>
                  <a:pt x="175" y="204"/>
                  <a:pt x="0" y="204"/>
                  <a:pt x="0" y="88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8259120" y="1776960"/>
            <a:ext cx="63000" cy="63000"/>
          </a:xfrm>
          <a:custGeom>
            <a:avLst/>
            <a:gdLst/>
            <a:ahLst/>
            <a:rect l="0" t="0" r="r" b="b"/>
            <a:pathLst>
              <a:path fill="none" w="175" h="175">
                <a:moveTo>
                  <a:pt x="175" y="88"/>
                </a:moveTo>
                <a:cubicBezTo>
                  <a:pt x="175" y="204"/>
                  <a:pt x="0" y="204"/>
                  <a:pt x="0" y="88"/>
                </a:cubicBezTo>
                <a:cubicBezTo>
                  <a:pt x="0" y="-29"/>
                  <a:pt x="175" y="-29"/>
                  <a:pt x="175" y="88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8345160" y="14785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6"/>
                </a:moveTo>
                <a:cubicBezTo>
                  <a:pt x="0" y="-29"/>
                  <a:pt x="174" y="-29"/>
                  <a:pt x="174" y="86"/>
                </a:cubicBezTo>
                <a:cubicBezTo>
                  <a:pt x="174" y="203"/>
                  <a:pt x="0" y="203"/>
                  <a:pt x="0" y="86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8345160" y="14785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8133480" y="207576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8133480" y="207576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52280" y="12780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993800" y="258048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0.92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8008560" y="228204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0.93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403480" y="108756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1.27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220600" y="168480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1.10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306640" y="138600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1.17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8959680" y="1031760"/>
            <a:ext cx="1842480" cy="1851840"/>
          </a:xfrm>
          <a:custGeom>
            <a:avLst/>
            <a:gdLst/>
            <a:ahLst/>
            <a:rect l="0" t="0" r="r" b="b"/>
            <a:pathLst>
              <a:path w="5118" h="5144">
                <a:moveTo>
                  <a:pt x="0" y="0"/>
                </a:moveTo>
                <a:lnTo>
                  <a:pt x="5118" y="0"/>
                </a:lnTo>
                <a:lnTo>
                  <a:pt x="5118" y="5144"/>
                </a:lnTo>
                <a:lnTo>
                  <a:pt x="0" y="51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 flipV="1">
            <a:off x="10080000" y="1031760"/>
            <a:ext cx="0" cy="185148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9252360" y="2703960"/>
            <a:ext cx="780840" cy="0"/>
          </a:xfrm>
          <a:prstGeom prst="line">
            <a:avLst/>
          </a:prstGeom>
          <a:ln w="1476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9562320" y="1211040"/>
            <a:ext cx="74556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9043200" y="1808280"/>
            <a:ext cx="818640" cy="0"/>
          </a:xfrm>
          <a:prstGeom prst="line">
            <a:avLst/>
          </a:prstGeom>
          <a:ln w="1476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9910800" y="1509480"/>
            <a:ext cx="80712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9804240" y="2106720"/>
            <a:ext cx="63036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9611280" y="267300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6"/>
                </a:moveTo>
                <a:cubicBezTo>
                  <a:pt x="0" y="-29"/>
                  <a:pt x="175" y="-29"/>
                  <a:pt x="175" y="86"/>
                </a:cubicBezTo>
                <a:cubicBezTo>
                  <a:pt x="175" y="203"/>
                  <a:pt x="0" y="203"/>
                  <a:pt x="0" y="86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9611280" y="267300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6"/>
                </a:moveTo>
                <a:cubicBezTo>
                  <a:pt x="175" y="203"/>
                  <a:pt x="0" y="203"/>
                  <a:pt x="0" y="86"/>
                </a:cubicBezTo>
                <a:cubicBezTo>
                  <a:pt x="0" y="-29"/>
                  <a:pt x="175" y="-29"/>
                  <a:pt x="175" y="86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9903960" y="11797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9903960" y="11797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9421560" y="177696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9421560" y="177696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10283040" y="147852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6"/>
                </a:moveTo>
                <a:cubicBezTo>
                  <a:pt x="0" y="-29"/>
                  <a:pt x="175" y="-29"/>
                  <a:pt x="175" y="86"/>
                </a:cubicBezTo>
                <a:cubicBezTo>
                  <a:pt x="175" y="203"/>
                  <a:pt x="0" y="203"/>
                  <a:pt x="0" y="86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10283040" y="147852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6"/>
                </a:moveTo>
                <a:cubicBezTo>
                  <a:pt x="175" y="203"/>
                  <a:pt x="0" y="203"/>
                  <a:pt x="0" y="86"/>
                </a:cubicBezTo>
                <a:cubicBezTo>
                  <a:pt x="0" y="-29"/>
                  <a:pt x="175" y="-29"/>
                  <a:pt x="175" y="86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10088280" y="207576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10088280" y="207576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094960" y="198324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0.99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9573120" y="258048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0.71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9865440" y="108756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0.89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9383040" y="168480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0.61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0244880" y="138600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1.20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0049760" y="198324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1.03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7104960" y="860760"/>
            <a:ext cx="4363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Counts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054200" y="2883240"/>
            <a:ext cx="18421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 flipV="1">
            <a:off x="729900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 flipV="1">
            <a:off x="772380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 flipV="1">
            <a:off x="817452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9010440" y="860760"/>
            <a:ext cx="17013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Rate per unit of recent effort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235640" y="29275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7660440" y="29275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8959680" y="2883240"/>
            <a:ext cx="18421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 flipV="1">
            <a:off x="920448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 flipV="1">
            <a:off x="962928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 flipV="1">
            <a:off x="1008000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8111160" y="29275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9141120" y="29275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9565920" y="29275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 flipV="1">
            <a:off x="7054200" y="1031760"/>
            <a:ext cx="0" cy="185148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0016640" y="29275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5663880" y="2653560"/>
            <a:ext cx="1408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Early survey effort (2002-2008)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587560" y="2354760"/>
            <a:ext cx="1499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Recent survey effort (2009-2024)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095520" y="2056320"/>
            <a:ext cx="971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Habitat heterogeneity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337080" y="1757520"/>
            <a:ext cx="698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GDP per capita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159240" y="1459080"/>
            <a:ext cx="8748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Administrative area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7022520" y="27039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7022520" y="24055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7022520" y="21067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7022520" y="18082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7022520" y="15094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7022520" y="12110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866920" y="1160280"/>
            <a:ext cx="11869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Regional species richness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8338320" y="3801240"/>
            <a:ext cx="1179360" cy="241200"/>
          </a:xfrm>
          <a:custGeom>
            <a:avLst/>
            <a:gdLst/>
            <a:ahLst/>
            <a:rect l="0" t="0" r="r" b="b"/>
            <a:pathLst>
              <a:path w="3276" h="670">
                <a:moveTo>
                  <a:pt x="0" y="0"/>
                </a:moveTo>
                <a:lnTo>
                  <a:pt x="3276" y="0"/>
                </a:lnTo>
                <a:lnTo>
                  <a:pt x="3276" y="670"/>
                </a:lnTo>
                <a:lnTo>
                  <a:pt x="0" y="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8401680" y="386460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8413200" y="3921840"/>
            <a:ext cx="9108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8427240" y="3890520"/>
            <a:ext cx="63000" cy="63000"/>
          </a:xfrm>
          <a:custGeom>
            <a:avLst/>
            <a:gdLst/>
            <a:ahLst/>
            <a:rect l="0" t="0" r="r" b="b"/>
            <a:pathLst>
              <a:path w="175" h="175">
                <a:moveTo>
                  <a:pt x="0" y="88"/>
                </a:moveTo>
                <a:cubicBezTo>
                  <a:pt x="0" y="-29"/>
                  <a:pt x="175" y="-29"/>
                  <a:pt x="175" y="88"/>
                </a:cubicBezTo>
                <a:cubicBezTo>
                  <a:pt x="175" y="204"/>
                  <a:pt x="0" y="204"/>
                  <a:pt x="0" y="88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8427240" y="3890520"/>
            <a:ext cx="63000" cy="63000"/>
          </a:xfrm>
          <a:custGeom>
            <a:avLst/>
            <a:gdLst/>
            <a:ahLst/>
            <a:rect l="0" t="0" r="r" b="b"/>
            <a:pathLst>
              <a:path fill="none" w="175" h="175">
                <a:moveTo>
                  <a:pt x="175" y="88"/>
                </a:moveTo>
                <a:cubicBezTo>
                  <a:pt x="175" y="204"/>
                  <a:pt x="0" y="204"/>
                  <a:pt x="0" y="88"/>
                </a:cubicBezTo>
                <a:cubicBezTo>
                  <a:pt x="0" y="-29"/>
                  <a:pt x="175" y="-29"/>
                  <a:pt x="175" y="88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8845200" y="386460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8856720" y="3921840"/>
            <a:ext cx="91080" cy="0"/>
          </a:xfrm>
          <a:prstGeom prst="line">
            <a:avLst/>
          </a:prstGeom>
          <a:ln w="1476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8871120" y="389052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8871120" y="389052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810560" y="3535200"/>
            <a:ext cx="214488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Incidence rate ratio per 1 SD (95% CI)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8579160" y="3877560"/>
            <a:ext cx="1850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n.s.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9022680" y="3877560"/>
            <a:ext cx="4298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 &lt; 0.05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7054200" y="335880"/>
            <a:ext cx="32882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Left: both efforts as predictors. Right: recent effort as an offset,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7054200" y="461880"/>
            <a:ext cx="28314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so the response is the discovery rate per unit of effort.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054200" y="588240"/>
            <a:ext cx="36144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Provinces already well covered in 2002-2008 then yield fewer records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054200" y="132840"/>
            <a:ext cx="260244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Effort shows up as diminishing returns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69480" y="4118040"/>
            <a:ext cx="5416920" cy="3127680"/>
          </a:xfrm>
          <a:custGeom>
            <a:avLst/>
            <a:gdLst/>
            <a:ahLst/>
            <a:rect l="0" t="0" r="r" b="b"/>
            <a:pathLst>
              <a:path w="15047" h="8688">
                <a:moveTo>
                  <a:pt x="0" y="0"/>
                </a:moveTo>
                <a:lnTo>
                  <a:pt x="15047" y="0"/>
                </a:lnTo>
                <a:lnTo>
                  <a:pt x="15047" y="8688"/>
                </a:lnTo>
                <a:lnTo>
                  <a:pt x="0" y="86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486400" y="4118040"/>
            <a:ext cx="5417280" cy="3127680"/>
          </a:xfrm>
          <a:custGeom>
            <a:avLst/>
            <a:gdLst/>
            <a:ahLst/>
            <a:rect l="0" t="0" r="r" b="b"/>
            <a:pathLst>
              <a:path w="15048" h="8688">
                <a:moveTo>
                  <a:pt x="0" y="0"/>
                </a:moveTo>
                <a:lnTo>
                  <a:pt x="15048" y="0"/>
                </a:lnTo>
                <a:lnTo>
                  <a:pt x="15048" y="8688"/>
                </a:lnTo>
                <a:lnTo>
                  <a:pt x="0" y="86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1637280" y="4713480"/>
            <a:ext cx="3747960" cy="1759320"/>
          </a:xfrm>
          <a:custGeom>
            <a:avLst/>
            <a:gdLst/>
            <a:ahLst/>
            <a:rect l="0" t="0" r="r" b="b"/>
            <a:pathLst>
              <a:path w="10411" h="4887">
                <a:moveTo>
                  <a:pt x="0" y="0"/>
                </a:moveTo>
                <a:lnTo>
                  <a:pt x="10411" y="0"/>
                </a:lnTo>
                <a:lnTo>
                  <a:pt x="10411" y="4887"/>
                </a:lnTo>
                <a:lnTo>
                  <a:pt x="0" y="48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 flipV="1">
            <a:off x="2028240" y="4713480"/>
            <a:ext cx="0" cy="17589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 flipV="1">
            <a:off x="3175920" y="4713480"/>
            <a:ext cx="0" cy="17589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 flipV="1">
            <a:off x="4323960" y="4713480"/>
            <a:ext cx="0" cy="17589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 flipV="1">
            <a:off x="2028240" y="4713480"/>
            <a:ext cx="0" cy="1758960"/>
          </a:xfrm>
          <a:prstGeom prst="line">
            <a:avLst/>
          </a:prstGeom>
          <a:ln w="936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288160" y="4798440"/>
            <a:ext cx="2926800" cy="170640"/>
          </a:xfrm>
          <a:custGeom>
            <a:avLst/>
            <a:gdLst/>
            <a:ahLst/>
            <a:rect l="0" t="0" r="r" b="b"/>
            <a:pathLst>
              <a:path w="8130" h="474">
                <a:moveTo>
                  <a:pt x="0" y="0"/>
                </a:moveTo>
                <a:lnTo>
                  <a:pt x="8130" y="0"/>
                </a:lnTo>
                <a:lnTo>
                  <a:pt x="8130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3079440" y="5082120"/>
            <a:ext cx="1901880" cy="170640"/>
          </a:xfrm>
          <a:custGeom>
            <a:avLst/>
            <a:gdLst/>
            <a:ahLst/>
            <a:rect l="0" t="0" r="r" b="b"/>
            <a:pathLst>
              <a:path w="5283" h="474">
                <a:moveTo>
                  <a:pt x="0" y="0"/>
                </a:moveTo>
                <a:lnTo>
                  <a:pt x="5283" y="0"/>
                </a:lnTo>
                <a:lnTo>
                  <a:pt x="5283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550240" y="5365800"/>
            <a:ext cx="355320" cy="170640"/>
          </a:xfrm>
          <a:custGeom>
            <a:avLst/>
            <a:gdLst/>
            <a:ahLst/>
            <a:rect l="0" t="0" r="r" b="b"/>
            <a:pathLst>
              <a:path w="987" h="474">
                <a:moveTo>
                  <a:pt x="0" y="0"/>
                </a:moveTo>
                <a:lnTo>
                  <a:pt x="987" y="0"/>
                </a:lnTo>
                <a:lnTo>
                  <a:pt x="987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028240" y="5649480"/>
            <a:ext cx="265320" cy="170640"/>
          </a:xfrm>
          <a:custGeom>
            <a:avLst/>
            <a:gdLst/>
            <a:ahLst/>
            <a:rect l="0" t="0" r="r" b="b"/>
            <a:pathLst>
              <a:path w="737" h="474">
                <a:moveTo>
                  <a:pt x="0" y="0"/>
                </a:moveTo>
                <a:lnTo>
                  <a:pt x="737" y="0"/>
                </a:lnTo>
                <a:lnTo>
                  <a:pt x="737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028240" y="5933160"/>
            <a:ext cx="253080" cy="170640"/>
          </a:xfrm>
          <a:custGeom>
            <a:avLst/>
            <a:gdLst/>
            <a:ahLst/>
            <a:rect l="0" t="0" r="r" b="b"/>
            <a:pathLst>
              <a:path w="703" h="474">
                <a:moveTo>
                  <a:pt x="0" y="0"/>
                </a:moveTo>
                <a:lnTo>
                  <a:pt x="703" y="0"/>
                </a:lnTo>
                <a:lnTo>
                  <a:pt x="703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090520" y="6216840"/>
            <a:ext cx="14400" cy="170640"/>
          </a:xfrm>
          <a:custGeom>
            <a:avLst/>
            <a:gdLst/>
            <a:ahLst/>
            <a:rect l="0" t="0" r="r" b="b"/>
            <a:pathLst>
              <a:path w="40" h="474">
                <a:moveTo>
                  <a:pt x="0" y="0"/>
                </a:moveTo>
                <a:lnTo>
                  <a:pt x="40" y="0"/>
                </a:lnTo>
                <a:lnTo>
                  <a:pt x="40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028240" y="4798440"/>
            <a:ext cx="260280" cy="170640"/>
          </a:xfrm>
          <a:custGeom>
            <a:avLst/>
            <a:gdLst/>
            <a:ahLst/>
            <a:rect l="0" t="0" r="r" b="b"/>
            <a:pathLst>
              <a:path w="723" h="474">
                <a:moveTo>
                  <a:pt x="0" y="0"/>
                </a:moveTo>
                <a:lnTo>
                  <a:pt x="723" y="0"/>
                </a:lnTo>
                <a:lnTo>
                  <a:pt x="723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F0E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2028240" y="5082120"/>
            <a:ext cx="1051560" cy="170640"/>
          </a:xfrm>
          <a:custGeom>
            <a:avLst/>
            <a:gdLst/>
            <a:ahLst/>
            <a:rect l="0" t="0" r="r" b="b"/>
            <a:pathLst>
              <a:path w="2921" h="474">
                <a:moveTo>
                  <a:pt x="0" y="0"/>
                </a:moveTo>
                <a:lnTo>
                  <a:pt x="2921" y="0"/>
                </a:lnTo>
                <a:lnTo>
                  <a:pt x="2921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F0E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028240" y="5365800"/>
            <a:ext cx="522360" cy="170640"/>
          </a:xfrm>
          <a:custGeom>
            <a:avLst/>
            <a:gdLst/>
            <a:ahLst/>
            <a:rect l="0" t="0" r="r" b="b"/>
            <a:pathLst>
              <a:path w="1451" h="474">
                <a:moveTo>
                  <a:pt x="0" y="0"/>
                </a:moveTo>
                <a:lnTo>
                  <a:pt x="1451" y="0"/>
                </a:lnTo>
                <a:lnTo>
                  <a:pt x="1451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F0E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1807560" y="5649480"/>
            <a:ext cx="221040" cy="170640"/>
          </a:xfrm>
          <a:custGeom>
            <a:avLst/>
            <a:gdLst/>
            <a:ahLst/>
            <a:rect l="0" t="0" r="r" b="b"/>
            <a:pathLst>
              <a:path w="614" h="474">
                <a:moveTo>
                  <a:pt x="0" y="0"/>
                </a:moveTo>
                <a:lnTo>
                  <a:pt x="614" y="0"/>
                </a:lnTo>
                <a:lnTo>
                  <a:pt x="614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F0E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872360" y="5933160"/>
            <a:ext cx="156240" cy="170640"/>
          </a:xfrm>
          <a:custGeom>
            <a:avLst/>
            <a:gdLst/>
            <a:ahLst/>
            <a:rect l="0" t="0" r="r" b="b"/>
            <a:pathLst>
              <a:path w="434" h="474">
                <a:moveTo>
                  <a:pt x="0" y="0"/>
                </a:moveTo>
                <a:lnTo>
                  <a:pt x="434" y="0"/>
                </a:lnTo>
                <a:lnTo>
                  <a:pt x="434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F0E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028240" y="6216840"/>
            <a:ext cx="62640" cy="170640"/>
          </a:xfrm>
          <a:custGeom>
            <a:avLst/>
            <a:gdLst/>
            <a:ahLst/>
            <a:rect l="0" t="0" r="r" b="b"/>
            <a:pathLst>
              <a:path w="174" h="474">
                <a:moveTo>
                  <a:pt x="0" y="0"/>
                </a:moveTo>
                <a:lnTo>
                  <a:pt x="174" y="0"/>
                </a:lnTo>
                <a:lnTo>
                  <a:pt x="174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F0E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 flipV="1">
            <a:off x="1637280" y="4713480"/>
            <a:ext cx="0" cy="17589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562720" y="12780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678960" y="6251400"/>
            <a:ext cx="971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Habitat heterogeneity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246960" y="5967720"/>
            <a:ext cx="1408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Early survey effort (2002-2008)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70640" y="5684040"/>
            <a:ext cx="1499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Recent survey effort (2009-2024)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20160" y="5400360"/>
            <a:ext cx="698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GDP per capita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42320" y="5116680"/>
            <a:ext cx="8748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Administrative area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1605600" y="63021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1605600" y="60184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1605600" y="57348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1605600" y="54511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605600" y="51674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1605600" y="4883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1637280" y="6472440"/>
            <a:ext cx="374760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 flipV="1">
            <a:off x="2028240" y="647244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 flipV="1">
            <a:off x="3175920" y="647244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 flipV="1">
            <a:off x="4323960" y="647244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450360" y="4833000"/>
            <a:ext cx="11869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Regional species richness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2003040" y="651672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3150720" y="651672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298760" y="651672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2788200" y="6928560"/>
            <a:ext cx="1446120" cy="241200"/>
          </a:xfrm>
          <a:custGeom>
            <a:avLst/>
            <a:gdLst/>
            <a:ahLst/>
            <a:rect l="0" t="0" r="r" b="b"/>
            <a:pathLst>
              <a:path w="4017" h="670">
                <a:moveTo>
                  <a:pt x="0" y="0"/>
                </a:moveTo>
                <a:lnTo>
                  <a:pt x="4017" y="0"/>
                </a:lnTo>
                <a:lnTo>
                  <a:pt x="4017" y="670"/>
                </a:lnTo>
                <a:lnTo>
                  <a:pt x="0" y="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2851560" y="6991920"/>
            <a:ext cx="114120" cy="114840"/>
          </a:xfrm>
          <a:custGeom>
            <a:avLst/>
            <a:gdLst/>
            <a:ahLst/>
            <a:rect l="0" t="0" r="r" b="b"/>
            <a:pathLst>
              <a:path w="317" h="319">
                <a:moveTo>
                  <a:pt x="0" y="0"/>
                </a:moveTo>
                <a:lnTo>
                  <a:pt x="317" y="0"/>
                </a:lnTo>
                <a:lnTo>
                  <a:pt x="317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859840" y="700020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3739680" y="6991920"/>
            <a:ext cx="114120" cy="114840"/>
          </a:xfrm>
          <a:custGeom>
            <a:avLst/>
            <a:gdLst/>
            <a:ahLst/>
            <a:rect l="0" t="0" r="r" b="b"/>
            <a:pathLst>
              <a:path w="317" h="319">
                <a:moveTo>
                  <a:pt x="0" y="0"/>
                </a:moveTo>
                <a:lnTo>
                  <a:pt x="317" y="0"/>
                </a:lnTo>
                <a:lnTo>
                  <a:pt x="317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3747960" y="700020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F0E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2374560" y="6662520"/>
            <a:ext cx="21733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Contribution to explained deviance (%)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028680" y="7004880"/>
            <a:ext cx="636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Independent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916800" y="7004880"/>
            <a:ext cx="2422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Joint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637280" y="4384440"/>
            <a:ext cx="41626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Full model explains 20.5% of deviance; independent contributions sum to 19.9%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637280" y="4181400"/>
            <a:ext cx="16135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Hierarchical partitioning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7054200" y="4713480"/>
            <a:ext cx="3747960" cy="1759320"/>
          </a:xfrm>
          <a:custGeom>
            <a:avLst/>
            <a:gdLst/>
            <a:ahLst/>
            <a:rect l="0" t="0" r="r" b="b"/>
            <a:pathLst>
              <a:path w="10411" h="4887">
                <a:moveTo>
                  <a:pt x="0" y="0"/>
                </a:moveTo>
                <a:lnTo>
                  <a:pt x="10411" y="0"/>
                </a:lnTo>
                <a:lnTo>
                  <a:pt x="10411" y="4887"/>
                </a:lnTo>
                <a:lnTo>
                  <a:pt x="0" y="48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 flipV="1">
            <a:off x="7617600" y="4713480"/>
            <a:ext cx="0" cy="17589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 flipV="1">
            <a:off x="8665920" y="4713480"/>
            <a:ext cx="0" cy="17589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 flipV="1">
            <a:off x="9714240" y="4713480"/>
            <a:ext cx="0" cy="17589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 flipV="1">
            <a:off x="10762560" y="4713480"/>
            <a:ext cx="0" cy="17589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 flipV="1">
            <a:off x="8665920" y="4713480"/>
            <a:ext cx="0" cy="1758960"/>
          </a:xfrm>
          <a:prstGeom prst="line">
            <a:avLst/>
          </a:prstGeom>
          <a:ln w="936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8325000" y="6216840"/>
            <a:ext cx="341280" cy="170640"/>
          </a:xfrm>
          <a:custGeom>
            <a:avLst/>
            <a:gdLst/>
            <a:ahLst/>
            <a:rect l="0" t="0" r="r" b="b"/>
            <a:pathLst>
              <a:path w="948" h="474">
                <a:moveTo>
                  <a:pt x="0" y="0"/>
                </a:moveTo>
                <a:lnTo>
                  <a:pt x="948" y="0"/>
                </a:lnTo>
                <a:lnTo>
                  <a:pt x="948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8518680" y="5933160"/>
            <a:ext cx="147600" cy="170640"/>
          </a:xfrm>
          <a:custGeom>
            <a:avLst/>
            <a:gdLst/>
            <a:ahLst/>
            <a:rect l="0" t="0" r="r" b="b"/>
            <a:pathLst>
              <a:path w="410" h="474">
                <a:moveTo>
                  <a:pt x="0" y="0"/>
                </a:moveTo>
                <a:lnTo>
                  <a:pt x="410" y="0"/>
                </a:lnTo>
                <a:lnTo>
                  <a:pt x="410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8538120" y="5649480"/>
            <a:ext cx="128160" cy="170640"/>
          </a:xfrm>
          <a:custGeom>
            <a:avLst/>
            <a:gdLst/>
            <a:ahLst/>
            <a:rect l="0" t="0" r="r" b="b"/>
            <a:pathLst>
              <a:path w="356" h="474">
                <a:moveTo>
                  <a:pt x="0" y="0"/>
                </a:moveTo>
                <a:lnTo>
                  <a:pt x="356" y="0"/>
                </a:lnTo>
                <a:lnTo>
                  <a:pt x="356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8665920" y="5365800"/>
            <a:ext cx="199800" cy="170640"/>
          </a:xfrm>
          <a:custGeom>
            <a:avLst/>
            <a:gdLst/>
            <a:ahLst/>
            <a:rect l="0" t="0" r="r" b="b"/>
            <a:pathLst>
              <a:path w="555" h="474">
                <a:moveTo>
                  <a:pt x="0" y="0"/>
                </a:moveTo>
                <a:lnTo>
                  <a:pt x="555" y="0"/>
                </a:lnTo>
                <a:lnTo>
                  <a:pt x="555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8665920" y="5082120"/>
            <a:ext cx="620280" cy="170640"/>
          </a:xfrm>
          <a:custGeom>
            <a:avLst/>
            <a:gdLst/>
            <a:ahLst/>
            <a:rect l="0" t="0" r="r" b="b"/>
            <a:pathLst>
              <a:path w="1723" h="474">
                <a:moveTo>
                  <a:pt x="0" y="0"/>
                </a:moveTo>
                <a:lnTo>
                  <a:pt x="1723" y="0"/>
                </a:lnTo>
                <a:lnTo>
                  <a:pt x="1723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8665920" y="4798440"/>
            <a:ext cx="816120" cy="170640"/>
          </a:xfrm>
          <a:custGeom>
            <a:avLst/>
            <a:gdLst/>
            <a:ahLst/>
            <a:rect l="0" t="0" r="r" b="b"/>
            <a:pathLst>
              <a:path w="2267" h="474">
                <a:moveTo>
                  <a:pt x="0" y="0"/>
                </a:moveTo>
                <a:lnTo>
                  <a:pt x="2267" y="0"/>
                </a:lnTo>
                <a:lnTo>
                  <a:pt x="2267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52280" y="416268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7651800" y="6270480"/>
            <a:ext cx="6393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 = -0.13, P = 0.49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7845840" y="5986800"/>
            <a:ext cx="6393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 = -0.06, P = 0.76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7865280" y="5703120"/>
            <a:ext cx="6393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 = -0.05, P = 0.79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8902080" y="5419440"/>
            <a:ext cx="61308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 = 0.08, P = 0.68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9322560" y="5135760"/>
            <a:ext cx="61308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 = 0.24, P = 0.20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 flipV="1">
            <a:off x="7054200" y="4713480"/>
            <a:ext cx="0" cy="17589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9518040" y="4852080"/>
            <a:ext cx="61308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 = 0.31, P = 0.09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5663880" y="6251400"/>
            <a:ext cx="1408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Early survey effort (2002-2008)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5587560" y="5967720"/>
            <a:ext cx="1499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Recent survey effort (2009-2024)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6095520" y="5684040"/>
            <a:ext cx="971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Habitat heterogeneity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337080" y="5400360"/>
            <a:ext cx="698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GDP per capita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6159240" y="5116680"/>
            <a:ext cx="8748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Administrative area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7022520" y="63021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7022520" y="60184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7022520" y="57348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7022520" y="54511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7022520" y="51674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7022520" y="4883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7054200" y="6472440"/>
            <a:ext cx="374760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 flipV="1">
            <a:off x="7617600" y="647244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 flipV="1">
            <a:off x="8665920" y="647244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 flipV="1">
            <a:off x="9714240" y="647244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 flipV="1">
            <a:off x="10762560" y="647244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5866920" y="4833000"/>
            <a:ext cx="11869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Regional species richness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7535160" y="6516720"/>
            <a:ext cx="176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-0.4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8602560" y="65167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9650880" y="65167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0699200" y="65167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7759800" y="6662520"/>
            <a:ext cx="22575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Partial correlation with new-record count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7054200" y="4384440"/>
            <a:ext cx="24469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Each predictor against the residuals of a model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054200" y="4510800"/>
            <a:ext cx="15926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holding all the others constant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054200" y="4181400"/>
            <a:ext cx="11851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Partial regression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562720" y="416268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Fig10_province_level_v2</dc:title>
</cp:coreProperties>
</file>