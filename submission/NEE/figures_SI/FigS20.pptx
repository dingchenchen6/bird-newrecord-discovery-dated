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039100" cy="69469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01760" y="262800"/>
            <a:ext cx="7234560" cy="1099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01760" y="1541160"/>
            <a:ext cx="7234560" cy="381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039160" cy="6946920"/>
          </a:xfrm>
          <a:custGeom>
            <a:avLst/>
            <a:gdLst/>
            <a:ahLst/>
            <a:rect l="0" t="0" r="r" b="b"/>
            <a:pathLst>
              <a:path w="22331" h="19297">
                <a:moveTo>
                  <a:pt x="0" y="0"/>
                </a:moveTo>
                <a:lnTo>
                  <a:pt x="22331" y="0"/>
                </a:lnTo>
                <a:lnTo>
                  <a:pt x="22331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039160" cy="6946920"/>
          </a:xfrm>
          <a:custGeom>
            <a:avLst/>
            <a:gdLst/>
            <a:ahLst/>
            <a:rect l="0" t="0" r="r" b="b"/>
            <a:pathLst>
              <a:path w="22331" h="19297">
                <a:moveTo>
                  <a:pt x="0" y="0"/>
                </a:moveTo>
                <a:lnTo>
                  <a:pt x="22331" y="0"/>
                </a:lnTo>
                <a:lnTo>
                  <a:pt x="22331" y="19297"/>
                </a:lnTo>
                <a:lnTo>
                  <a:pt x="0" y="192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7900200" cy="3378240"/>
          </a:xfrm>
          <a:custGeom>
            <a:avLst/>
            <a:gdLst/>
            <a:ahLst/>
            <a:rect l="0" t="0" r="r" b="b"/>
            <a:pathLst>
              <a:path w="21945" h="9384">
                <a:moveTo>
                  <a:pt x="0" y="0"/>
                </a:moveTo>
                <a:lnTo>
                  <a:pt x="21945" y="0"/>
                </a:lnTo>
                <a:lnTo>
                  <a:pt x="21945" y="9384"/>
                </a:lnTo>
                <a:lnTo>
                  <a:pt x="0" y="938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480" y="3447360"/>
            <a:ext cx="7900200" cy="3430080"/>
          </a:xfrm>
          <a:custGeom>
            <a:avLst/>
            <a:gdLst/>
            <a:ahLst/>
            <a:rect l="0" t="0" r="r" b="b"/>
            <a:pathLst>
              <a:path w="21945" h="9528">
                <a:moveTo>
                  <a:pt x="0" y="0"/>
                </a:moveTo>
                <a:lnTo>
                  <a:pt x="21945" y="0"/>
                </a:lnTo>
                <a:lnTo>
                  <a:pt x="21945" y="9528"/>
                </a:lnTo>
                <a:lnTo>
                  <a:pt x="0" y="95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0800">
            <a:solidFill>
              <a:srgbClr val="FFFFFF"/>
            </a:solidFill>
            <a:round/>
          </a:ln>
        </p:spPr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549000" y="659880"/>
            <a:ext cx="7363800" cy="2478960"/>
          </a:xfrm>
          <a:custGeom>
            <a:avLst/>
            <a:gdLst/>
            <a:ahLst/>
            <a:rect l="0" t="0" r="r" b="b"/>
            <a:pathLst>
              <a:path w="20455" h="6886">
                <a:moveTo>
                  <a:pt x="0" y="0"/>
                </a:moveTo>
                <a:lnTo>
                  <a:pt x="20455" y="0"/>
                </a:lnTo>
                <a:lnTo>
                  <a:pt x="20455" y="6886"/>
                </a:lnTo>
                <a:lnTo>
                  <a:pt x="0" y="68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940680" y="1776960"/>
            <a:ext cx="409320" cy="1361880"/>
          </a:xfrm>
          <a:custGeom>
            <a:avLst/>
            <a:gdLst/>
            <a:ahLst/>
            <a:rect l="0" t="0" r="r" b="b"/>
            <a:pathLst>
              <a:path w="1137" h="3783">
                <a:moveTo>
                  <a:pt x="0" y="0"/>
                </a:moveTo>
                <a:lnTo>
                  <a:pt x="1137" y="0"/>
                </a:lnTo>
                <a:lnTo>
                  <a:pt x="1137" y="3783"/>
                </a:lnTo>
                <a:lnTo>
                  <a:pt x="0" y="378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2693880" y="2435760"/>
            <a:ext cx="409320" cy="703080"/>
          </a:xfrm>
          <a:custGeom>
            <a:avLst/>
            <a:gdLst/>
            <a:ahLst/>
            <a:rect l="0" t="0" r="r" b="b"/>
            <a:pathLst>
              <a:path w="1137" h="1953">
                <a:moveTo>
                  <a:pt x="0" y="0"/>
                </a:moveTo>
                <a:lnTo>
                  <a:pt x="1137" y="0"/>
                </a:lnTo>
                <a:lnTo>
                  <a:pt x="1137" y="1953"/>
                </a:lnTo>
                <a:lnTo>
                  <a:pt x="0" y="195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4447080" y="2453400"/>
            <a:ext cx="409320" cy="685440"/>
          </a:xfrm>
          <a:custGeom>
            <a:avLst/>
            <a:gdLst/>
            <a:ahLst/>
            <a:rect l="0" t="0" r="r" b="b"/>
            <a:pathLst>
              <a:path w="1137" h="1904">
                <a:moveTo>
                  <a:pt x="0" y="0"/>
                </a:moveTo>
                <a:lnTo>
                  <a:pt x="1137" y="0"/>
                </a:lnTo>
                <a:lnTo>
                  <a:pt x="1137" y="1904"/>
                </a:lnTo>
                <a:lnTo>
                  <a:pt x="0" y="190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6199920" y="1989360"/>
            <a:ext cx="409680" cy="1149480"/>
          </a:xfrm>
          <a:custGeom>
            <a:avLst/>
            <a:gdLst/>
            <a:ahLst/>
            <a:rect l="0" t="0" r="r" b="b"/>
            <a:pathLst>
              <a:path w="1138" h="3193">
                <a:moveTo>
                  <a:pt x="0" y="0"/>
                </a:moveTo>
                <a:lnTo>
                  <a:pt x="1138" y="0"/>
                </a:lnTo>
                <a:lnTo>
                  <a:pt x="1138" y="3193"/>
                </a:lnTo>
                <a:lnTo>
                  <a:pt x="0" y="3193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396440" y="1479240"/>
            <a:ext cx="409320" cy="1659600"/>
          </a:xfrm>
          <a:custGeom>
            <a:avLst/>
            <a:gdLst/>
            <a:ahLst/>
            <a:rect l="0" t="0" r="r" b="b"/>
            <a:pathLst>
              <a:path w="1137" h="4610">
                <a:moveTo>
                  <a:pt x="0" y="0"/>
                </a:moveTo>
                <a:lnTo>
                  <a:pt x="1137" y="0"/>
                </a:lnTo>
                <a:lnTo>
                  <a:pt x="1137" y="4610"/>
                </a:lnTo>
                <a:lnTo>
                  <a:pt x="0" y="461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149640" y="1803960"/>
            <a:ext cx="409320" cy="1334880"/>
          </a:xfrm>
          <a:custGeom>
            <a:avLst/>
            <a:gdLst/>
            <a:ahLst/>
            <a:rect l="0" t="0" r="r" b="b"/>
            <a:pathLst>
              <a:path w="1137" h="3708">
                <a:moveTo>
                  <a:pt x="0" y="0"/>
                </a:moveTo>
                <a:lnTo>
                  <a:pt x="1137" y="0"/>
                </a:lnTo>
                <a:lnTo>
                  <a:pt x="1137" y="3708"/>
                </a:lnTo>
                <a:lnTo>
                  <a:pt x="0" y="3708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4902840" y="2455560"/>
            <a:ext cx="409320" cy="683280"/>
          </a:xfrm>
          <a:custGeom>
            <a:avLst/>
            <a:gdLst/>
            <a:ahLst/>
            <a:rect l="0" t="0" r="r" b="b"/>
            <a:pathLst>
              <a:path w="1137" h="1898">
                <a:moveTo>
                  <a:pt x="0" y="0"/>
                </a:moveTo>
                <a:lnTo>
                  <a:pt x="1137" y="0"/>
                </a:lnTo>
                <a:lnTo>
                  <a:pt x="1137" y="1898"/>
                </a:lnTo>
                <a:lnTo>
                  <a:pt x="0" y="1898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6656040" y="2350440"/>
            <a:ext cx="409320" cy="788400"/>
          </a:xfrm>
          <a:custGeom>
            <a:avLst/>
            <a:gdLst/>
            <a:ahLst/>
            <a:rect l="0" t="0" r="r" b="b"/>
            <a:pathLst>
              <a:path w="1137" h="2190">
                <a:moveTo>
                  <a:pt x="0" y="0"/>
                </a:moveTo>
                <a:lnTo>
                  <a:pt x="1137" y="0"/>
                </a:lnTo>
                <a:lnTo>
                  <a:pt x="1137" y="2190"/>
                </a:lnTo>
                <a:lnTo>
                  <a:pt x="0" y="219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852200" y="1823760"/>
            <a:ext cx="409320" cy="1315080"/>
          </a:xfrm>
          <a:custGeom>
            <a:avLst/>
            <a:gdLst/>
            <a:ahLst/>
            <a:rect l="0" t="0" r="r" b="b"/>
            <a:pathLst>
              <a:path w="1137" h="3653">
                <a:moveTo>
                  <a:pt x="0" y="0"/>
                </a:moveTo>
                <a:lnTo>
                  <a:pt x="1137" y="0"/>
                </a:lnTo>
                <a:lnTo>
                  <a:pt x="1137" y="3653"/>
                </a:lnTo>
                <a:lnTo>
                  <a:pt x="0" y="3653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3605400" y="1926000"/>
            <a:ext cx="409320" cy="1212840"/>
          </a:xfrm>
          <a:custGeom>
            <a:avLst/>
            <a:gdLst/>
            <a:ahLst/>
            <a:rect l="0" t="0" r="r" b="b"/>
            <a:pathLst>
              <a:path w="1137" h="3369">
                <a:moveTo>
                  <a:pt x="0" y="0"/>
                </a:moveTo>
                <a:lnTo>
                  <a:pt x="1137" y="0"/>
                </a:lnTo>
                <a:lnTo>
                  <a:pt x="1137" y="3369"/>
                </a:lnTo>
                <a:lnTo>
                  <a:pt x="0" y="3369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5358600" y="2516400"/>
            <a:ext cx="409320" cy="622440"/>
          </a:xfrm>
          <a:custGeom>
            <a:avLst/>
            <a:gdLst/>
            <a:ahLst/>
            <a:rect l="0" t="0" r="r" b="b"/>
            <a:pathLst>
              <a:path w="1137" h="1729">
                <a:moveTo>
                  <a:pt x="0" y="0"/>
                </a:moveTo>
                <a:lnTo>
                  <a:pt x="1137" y="0"/>
                </a:lnTo>
                <a:lnTo>
                  <a:pt x="1137" y="1729"/>
                </a:lnTo>
                <a:lnTo>
                  <a:pt x="0" y="1729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7111800" y="2313000"/>
            <a:ext cx="409320" cy="825840"/>
          </a:xfrm>
          <a:custGeom>
            <a:avLst/>
            <a:gdLst/>
            <a:ahLst/>
            <a:rect l="0" t="0" r="r" b="b"/>
            <a:pathLst>
              <a:path w="1137" h="2294">
                <a:moveTo>
                  <a:pt x="0" y="0"/>
                </a:moveTo>
                <a:lnTo>
                  <a:pt x="1137" y="0"/>
                </a:lnTo>
                <a:lnTo>
                  <a:pt x="1137" y="2294"/>
                </a:lnTo>
                <a:lnTo>
                  <a:pt x="0" y="2294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092600" y="132444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145160" y="1324440"/>
            <a:ext cx="0" cy="9050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092600" y="22294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845800" y="22323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898360" y="2232360"/>
            <a:ext cx="0" cy="40680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845800" y="26391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4599000" y="21459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651560" y="2145960"/>
            <a:ext cx="0" cy="6152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599000" y="27612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548360" y="8002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600920" y="800280"/>
            <a:ext cx="0" cy="135792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548360" y="21582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301560" y="152604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354120" y="1526040"/>
            <a:ext cx="0" cy="5558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301560" y="20818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5054760" y="230976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5107320" y="2309760"/>
            <a:ext cx="0" cy="29196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5054760" y="26017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2004120" y="146844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2056680" y="1468440"/>
            <a:ext cx="0" cy="71028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004120" y="21787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3757320" y="157248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3809880" y="1572480"/>
            <a:ext cx="0" cy="70704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3757320" y="227952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5510520" y="22716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5563080" y="2271600"/>
            <a:ext cx="0" cy="48960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510520" y="2761200"/>
            <a:ext cx="105120" cy="0"/>
          </a:xfrm>
          <a:prstGeom prst="line">
            <a:avLst/>
          </a:prstGeom>
          <a:ln w="7920">
            <a:solidFill>
              <a:srgbClr val="4D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49000" y="2703960"/>
            <a:ext cx="7363440" cy="0"/>
          </a:xfrm>
          <a:prstGeom prst="line">
            <a:avLst/>
          </a:prstGeom>
          <a:ln w="10800">
            <a:solidFill>
              <a:srgbClr val="595959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549000" y="659880"/>
            <a:ext cx="0" cy="247860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6860520" y="2552400"/>
            <a:ext cx="7153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Event rate 0.369%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69280" y="310068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69280" y="251172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0.005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269280" y="192240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0.010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69280" y="133308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0.015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20560" y="3138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20560" y="25495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20560" y="19602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20560" y="137124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20560" y="78192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49000" y="3138480"/>
            <a:ext cx="736344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 flipV="1">
            <a:off x="16009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V="1">
            <a:off x="33541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51073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6860520" y="3138480"/>
            <a:ext cx="0" cy="2880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69280" y="744120"/>
            <a:ext cx="2296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0.020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302480" y="3189960"/>
            <a:ext cx="6004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Random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922480" y="3189960"/>
            <a:ext cx="844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Leave-species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4663080" y="3189960"/>
            <a:ext cx="8802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Leave-province 5-fold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6670080" y="3189960"/>
            <a:ext cx="3870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Temporal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6631920" y="3288960"/>
            <a:ext cx="45828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2019–2024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988360" y="481680"/>
            <a:ext cx="2485080" cy="64800"/>
          </a:xfrm>
          <a:custGeom>
            <a:avLst/>
            <a:gdLst/>
            <a:ahLst/>
            <a:rect l="0" t="0" r="r" b="b"/>
            <a:pathLst>
              <a:path w="6903" h="180">
                <a:moveTo>
                  <a:pt x="0" y="0"/>
                </a:moveTo>
                <a:lnTo>
                  <a:pt x="6903" y="0"/>
                </a:lnTo>
                <a:lnTo>
                  <a:pt x="6903" y="180"/>
                </a:lnTo>
                <a:lnTo>
                  <a:pt x="0" y="1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9883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2995920" y="48888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0557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062960" y="488880"/>
            <a:ext cx="100800" cy="100800"/>
          </a:xfrm>
          <a:custGeom>
            <a:avLst/>
            <a:gdLst/>
            <a:ahLst/>
            <a:rect l="0" t="0" r="r" b="b"/>
            <a:pathLst>
              <a:path w="280" h="280">
                <a:moveTo>
                  <a:pt x="0" y="0"/>
                </a:moveTo>
                <a:lnTo>
                  <a:pt x="280" y="0"/>
                </a:lnTo>
                <a:lnTo>
                  <a:pt x="280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4919760" y="481680"/>
            <a:ext cx="115560" cy="115560"/>
          </a:xfrm>
          <a:custGeom>
            <a:avLst/>
            <a:gdLst/>
            <a:ahLst/>
            <a:rect l="0" t="0" r="r" b="b"/>
            <a:pathLst>
              <a:path w="321" h="321">
                <a:moveTo>
                  <a:pt x="0" y="0"/>
                </a:moveTo>
                <a:lnTo>
                  <a:pt x="321" y="0"/>
                </a:lnTo>
                <a:lnTo>
                  <a:pt x="321" y="321"/>
                </a:lnTo>
                <a:lnTo>
                  <a:pt x="0" y="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926960" y="488880"/>
            <a:ext cx="101160" cy="100800"/>
          </a:xfrm>
          <a:custGeom>
            <a:avLst/>
            <a:gdLst/>
            <a:ahLst/>
            <a:rect l="0" t="0" r="r" b="b"/>
            <a:pathLst>
              <a:path w="281" h="280">
                <a:moveTo>
                  <a:pt x="0" y="0"/>
                </a:moveTo>
                <a:lnTo>
                  <a:pt x="281" y="0"/>
                </a:lnTo>
                <a:lnTo>
                  <a:pt x="281" y="280"/>
                </a:lnTo>
                <a:lnTo>
                  <a:pt x="0" y="280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 rot="16200000">
            <a:off x="-35280" y="1851120"/>
            <a:ext cx="43884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PR-AUC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160800" y="488520"/>
            <a:ext cx="880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Mechanistic hazard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227840" y="488520"/>
            <a:ext cx="670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Random forest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5092200" y="488520"/>
            <a:ext cx="40932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XGBoost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549000" y="310320"/>
            <a:ext cx="578376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Mechanistic: conditional prediction on random folds, marginal elsewhere. RF and XGBoost class-balanced. Error bars: fold SD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49000" y="4064760"/>
            <a:ext cx="3653640" cy="2602800"/>
          </a:xfrm>
          <a:custGeom>
            <a:avLst/>
            <a:gdLst/>
            <a:ahLst/>
            <a:rect l="0" t="0" r="r" b="b"/>
            <a:pathLst>
              <a:path w="10149" h="7230">
                <a:moveTo>
                  <a:pt x="0" y="0"/>
                </a:moveTo>
                <a:lnTo>
                  <a:pt x="10149" y="0"/>
                </a:lnTo>
                <a:lnTo>
                  <a:pt x="10149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919800" y="5261400"/>
            <a:ext cx="387720" cy="1406160"/>
          </a:xfrm>
          <a:custGeom>
            <a:avLst/>
            <a:gdLst/>
            <a:ahLst/>
            <a:rect l="0" t="0" r="r" b="b"/>
            <a:pathLst>
              <a:path w="1077" h="3906">
                <a:moveTo>
                  <a:pt x="0" y="0"/>
                </a:moveTo>
                <a:lnTo>
                  <a:pt x="1077" y="0"/>
                </a:lnTo>
                <a:lnTo>
                  <a:pt x="1077" y="3906"/>
                </a:lnTo>
                <a:lnTo>
                  <a:pt x="0" y="3906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2580480" y="5744520"/>
            <a:ext cx="387720" cy="923040"/>
          </a:xfrm>
          <a:custGeom>
            <a:avLst/>
            <a:gdLst/>
            <a:ahLst/>
            <a:rect l="0" t="0" r="r" b="b"/>
            <a:pathLst>
              <a:path w="1077" h="2564">
                <a:moveTo>
                  <a:pt x="0" y="0"/>
                </a:moveTo>
                <a:lnTo>
                  <a:pt x="1077" y="0"/>
                </a:lnTo>
                <a:lnTo>
                  <a:pt x="1077" y="2564"/>
                </a:lnTo>
                <a:lnTo>
                  <a:pt x="0" y="2564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351440" y="5264280"/>
            <a:ext cx="388080" cy="1403280"/>
          </a:xfrm>
          <a:custGeom>
            <a:avLst/>
            <a:gdLst/>
            <a:ahLst/>
            <a:rect l="0" t="0" r="r" b="b"/>
            <a:pathLst>
              <a:path w="1078" h="3898">
                <a:moveTo>
                  <a:pt x="0" y="0"/>
                </a:moveTo>
                <a:lnTo>
                  <a:pt x="1078" y="0"/>
                </a:lnTo>
                <a:lnTo>
                  <a:pt x="1078" y="3898"/>
                </a:lnTo>
                <a:lnTo>
                  <a:pt x="0" y="3898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012120" y="5816160"/>
            <a:ext cx="387720" cy="851400"/>
          </a:xfrm>
          <a:custGeom>
            <a:avLst/>
            <a:gdLst/>
            <a:ahLst/>
            <a:rect l="0" t="0" r="r" b="b"/>
            <a:pathLst>
              <a:path w="1077" h="2365">
                <a:moveTo>
                  <a:pt x="0" y="0"/>
                </a:moveTo>
                <a:lnTo>
                  <a:pt x="1077" y="0"/>
                </a:lnTo>
                <a:lnTo>
                  <a:pt x="1077" y="2365"/>
                </a:lnTo>
                <a:lnTo>
                  <a:pt x="0" y="2365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783440" y="5245200"/>
            <a:ext cx="387720" cy="1422360"/>
          </a:xfrm>
          <a:custGeom>
            <a:avLst/>
            <a:gdLst/>
            <a:ahLst/>
            <a:rect l="0" t="0" r="r" b="b"/>
            <a:pathLst>
              <a:path w="1077" h="3951">
                <a:moveTo>
                  <a:pt x="0" y="0"/>
                </a:moveTo>
                <a:lnTo>
                  <a:pt x="1077" y="0"/>
                </a:lnTo>
                <a:lnTo>
                  <a:pt x="1077" y="3951"/>
                </a:lnTo>
                <a:lnTo>
                  <a:pt x="0" y="3951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3443760" y="5582520"/>
            <a:ext cx="388080" cy="1085040"/>
          </a:xfrm>
          <a:custGeom>
            <a:avLst/>
            <a:gdLst/>
            <a:ahLst/>
            <a:rect l="0" t="0" r="r" b="b"/>
            <a:pathLst>
              <a:path w="1078" h="3014">
                <a:moveTo>
                  <a:pt x="0" y="0"/>
                </a:moveTo>
                <a:lnTo>
                  <a:pt x="1078" y="0"/>
                </a:lnTo>
                <a:lnTo>
                  <a:pt x="1078" y="3014"/>
                </a:lnTo>
                <a:lnTo>
                  <a:pt x="0" y="3014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49000" y="4649040"/>
            <a:ext cx="3653280" cy="0"/>
          </a:xfrm>
          <a:prstGeom prst="line">
            <a:avLst/>
          </a:prstGeom>
          <a:ln w="10800">
            <a:solidFill>
              <a:srgbClr val="666666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49000" y="126360"/>
            <a:ext cx="51530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  Tree ensembles lead on interpolation; the mechanistic model wins on extrapolation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798120" y="4503960"/>
            <a:ext cx="5486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Random = 0.5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24920" y="5159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685240" y="5643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0.23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456560" y="516276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3117240" y="5715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888200" y="51436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259160" y="4064760"/>
            <a:ext cx="3653640" cy="2602800"/>
          </a:xfrm>
          <a:custGeom>
            <a:avLst/>
            <a:gdLst/>
            <a:ahLst/>
            <a:rect l="0" t="0" r="r" b="b"/>
            <a:pathLst>
              <a:path w="10149" h="7230">
                <a:moveTo>
                  <a:pt x="0" y="0"/>
                </a:moveTo>
                <a:lnTo>
                  <a:pt x="10149" y="0"/>
                </a:lnTo>
                <a:lnTo>
                  <a:pt x="10149" y="7230"/>
                </a:lnTo>
                <a:lnTo>
                  <a:pt x="0" y="72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4629960" y="5360400"/>
            <a:ext cx="387720" cy="1307160"/>
          </a:xfrm>
          <a:custGeom>
            <a:avLst/>
            <a:gdLst/>
            <a:ahLst/>
            <a:rect l="0" t="0" r="r" b="b"/>
            <a:pathLst>
              <a:path w="1077" h="3631">
                <a:moveTo>
                  <a:pt x="0" y="0"/>
                </a:moveTo>
                <a:lnTo>
                  <a:pt x="1077" y="0"/>
                </a:lnTo>
                <a:lnTo>
                  <a:pt x="1077" y="3631"/>
                </a:lnTo>
                <a:lnTo>
                  <a:pt x="0" y="3631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290640" y="5543640"/>
            <a:ext cx="387720" cy="1123920"/>
          </a:xfrm>
          <a:custGeom>
            <a:avLst/>
            <a:gdLst/>
            <a:ahLst/>
            <a:rect l="0" t="0" r="r" b="b"/>
            <a:pathLst>
              <a:path w="1077" h="3122">
                <a:moveTo>
                  <a:pt x="0" y="0"/>
                </a:moveTo>
                <a:lnTo>
                  <a:pt x="1077" y="0"/>
                </a:lnTo>
                <a:lnTo>
                  <a:pt x="1077" y="3122"/>
                </a:lnTo>
                <a:lnTo>
                  <a:pt x="0" y="3122"/>
                </a:lnTo>
                <a:lnTo>
                  <a:pt x="0" y="0"/>
                </a:lnTo>
                <a:close/>
              </a:path>
            </a:pathLst>
          </a:custGeom>
          <a:solidFill>
            <a:srgbClr val="0072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5061600" y="5162040"/>
            <a:ext cx="388080" cy="1505520"/>
          </a:xfrm>
          <a:custGeom>
            <a:avLst/>
            <a:gdLst/>
            <a:ahLst/>
            <a:rect l="0" t="0" r="r" b="b"/>
            <a:pathLst>
              <a:path w="1078" h="4182">
                <a:moveTo>
                  <a:pt x="0" y="0"/>
                </a:moveTo>
                <a:lnTo>
                  <a:pt x="1078" y="0"/>
                </a:lnTo>
                <a:lnTo>
                  <a:pt x="1078" y="4182"/>
                </a:lnTo>
                <a:lnTo>
                  <a:pt x="0" y="418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722280" y="5435640"/>
            <a:ext cx="387720" cy="1231920"/>
          </a:xfrm>
          <a:custGeom>
            <a:avLst/>
            <a:gdLst/>
            <a:ahLst/>
            <a:rect l="0" t="0" r="r" b="b"/>
            <a:pathLst>
              <a:path w="1077" h="3422">
                <a:moveTo>
                  <a:pt x="0" y="0"/>
                </a:moveTo>
                <a:lnTo>
                  <a:pt x="1077" y="0"/>
                </a:lnTo>
                <a:lnTo>
                  <a:pt x="1077" y="3422"/>
                </a:lnTo>
                <a:lnTo>
                  <a:pt x="0" y="3422"/>
                </a:lnTo>
                <a:lnTo>
                  <a:pt x="0" y="0"/>
                </a:lnTo>
                <a:close/>
              </a:path>
            </a:pathLst>
          </a:custGeom>
          <a:solidFill>
            <a:srgbClr val="D55E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493600" y="5043600"/>
            <a:ext cx="387720" cy="1623960"/>
          </a:xfrm>
          <a:custGeom>
            <a:avLst/>
            <a:gdLst/>
            <a:ahLst/>
            <a:rect l="0" t="0" r="r" b="b"/>
            <a:pathLst>
              <a:path w="1077" h="4511">
                <a:moveTo>
                  <a:pt x="0" y="0"/>
                </a:moveTo>
                <a:lnTo>
                  <a:pt x="1077" y="0"/>
                </a:lnTo>
                <a:lnTo>
                  <a:pt x="1077" y="4511"/>
                </a:lnTo>
                <a:lnTo>
                  <a:pt x="0" y="4511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7153920" y="5249160"/>
            <a:ext cx="388080" cy="1418400"/>
          </a:xfrm>
          <a:custGeom>
            <a:avLst/>
            <a:gdLst/>
            <a:ahLst/>
            <a:rect l="0" t="0" r="r" b="b"/>
            <a:pathLst>
              <a:path w="1078" h="3940">
                <a:moveTo>
                  <a:pt x="0" y="0"/>
                </a:moveTo>
                <a:lnTo>
                  <a:pt x="1078" y="0"/>
                </a:lnTo>
                <a:lnTo>
                  <a:pt x="1078" y="3940"/>
                </a:lnTo>
                <a:lnTo>
                  <a:pt x="0" y="3940"/>
                </a:lnTo>
                <a:lnTo>
                  <a:pt x="0" y="0"/>
                </a:lnTo>
                <a:close/>
              </a:path>
            </a:pathLst>
          </a:custGeom>
          <a:solidFill>
            <a:srgbClr val="B4530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259160" y="4649040"/>
            <a:ext cx="3652920" cy="0"/>
          </a:xfrm>
          <a:prstGeom prst="line">
            <a:avLst/>
          </a:prstGeom>
          <a:ln w="10800">
            <a:solidFill>
              <a:srgbClr val="666666"/>
            </a:solidFill>
            <a:custDash>
              <a:ds d="100000" sp="306667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548880" y="5481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508280" y="4503960"/>
            <a:ext cx="54864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9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Random = 0.5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735080" y="5258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0.32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6395760" y="544212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0.28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5166720" y="50608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0.37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827400" y="53344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0.31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598360" y="494208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0.40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7259040" y="5148000"/>
            <a:ext cx="16380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50" b="0" u="none" strike="noStrik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0.35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94720" y="3917880"/>
            <a:ext cx="11188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Temporal 2019–2024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49000" y="6667200"/>
            <a:ext cx="36532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154512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320580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4304880" y="3917880"/>
            <a:ext cx="10807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Leave-one-province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335960" y="6718680"/>
            <a:ext cx="4226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Prefecture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4259160" y="6667200"/>
            <a:ext cx="3653280" cy="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 flipV="1">
            <a:off x="525564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6915960" y="6667200"/>
            <a:ext cx="0" cy="2844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060000" y="6718680"/>
            <a:ext cx="2905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5046120" y="6718680"/>
            <a:ext cx="4226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Prefecture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 flipV="1">
            <a:off x="549000" y="4064760"/>
            <a:ext cx="0" cy="2602440"/>
          </a:xfrm>
          <a:prstGeom prst="line">
            <a:avLst/>
          </a:prstGeom>
          <a:ln cap="sq"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5400" rIns="5400" bIns="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6770160" y="6718680"/>
            <a:ext cx="29052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County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370800" y="66294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70800" y="58222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0.2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70800" y="501480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0.4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520560" y="666720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520560" y="58600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520560" y="505296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520560" y="4245480"/>
            <a:ext cx="28440" cy="0"/>
          </a:xfrm>
          <a:prstGeom prst="line">
            <a:avLst/>
          </a:prstGeom>
          <a:ln w="108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400" tIns="-5400" rIns="5400" bIns="-54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70800" y="4207680"/>
            <a:ext cx="1278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 rot="16200000">
            <a:off x="-1325160" y="5380560"/>
            <a:ext cx="301860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Predicted rank percentile of the chosen unit (lower is better)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9000" y="3688200"/>
            <a:ext cx="4926240" cy="104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Same 2019-2024 events and feature set; leave-one-province holds a whole province out before predicting it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9000" y="3504240"/>
            <a:ext cx="5862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  Allocation: families tie on temporal splits; the mechanistic model gains most on new provinces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FigMS2_multiscale_model_skill</dc:title>
</cp:coreProperties>
</file>