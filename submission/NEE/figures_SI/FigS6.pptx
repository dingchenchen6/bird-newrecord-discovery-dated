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1328400" cy="76708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66280" y="291600"/>
            <a:ext cx="10194840" cy="122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66280" y="1710360"/>
            <a:ext cx="10194840" cy="42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1328480" cy="7670880"/>
          </a:xfrm>
          <a:custGeom>
            <a:avLst/>
            <a:gdLst/>
            <a:ahLst/>
            <a:rect l="0" t="0" r="r" b="b"/>
            <a:pathLst>
              <a:path w="31468" h="21308">
                <a:moveTo>
                  <a:pt x="0" y="0"/>
                </a:moveTo>
                <a:lnTo>
                  <a:pt x="31468" y="0"/>
                </a:lnTo>
                <a:lnTo>
                  <a:pt x="31468" y="21308"/>
                </a:lnTo>
                <a:lnTo>
                  <a:pt x="0" y="21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1328480" cy="7670880"/>
          </a:xfrm>
          <a:custGeom>
            <a:avLst/>
            <a:gdLst/>
            <a:ahLst/>
            <a:rect l="0" t="0" r="r" b="b"/>
            <a:pathLst>
              <a:path w="31468" h="21308">
                <a:moveTo>
                  <a:pt x="0" y="0"/>
                </a:moveTo>
                <a:lnTo>
                  <a:pt x="31468" y="0"/>
                </a:lnTo>
                <a:lnTo>
                  <a:pt x="31468" y="21308"/>
                </a:lnTo>
                <a:lnTo>
                  <a:pt x="0" y="21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5505840" cy="3591720"/>
          </a:xfrm>
          <a:custGeom>
            <a:avLst/>
            <a:gdLst/>
            <a:ahLst/>
            <a:rect l="0" t="0" r="r" b="b"/>
            <a:pathLst>
              <a:path w="15294" h="9977">
                <a:moveTo>
                  <a:pt x="0" y="0"/>
                </a:moveTo>
                <a:lnTo>
                  <a:pt x="15294" y="0"/>
                </a:lnTo>
                <a:lnTo>
                  <a:pt x="15294" y="9977"/>
                </a:lnTo>
                <a:lnTo>
                  <a:pt x="0" y="99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5574960" y="69480"/>
            <a:ext cx="5684040" cy="3591720"/>
          </a:xfrm>
          <a:custGeom>
            <a:avLst/>
            <a:gdLst/>
            <a:ahLst/>
            <a:rect l="0" t="0" r="r" b="b"/>
            <a:pathLst>
              <a:path w="15789" h="9977">
                <a:moveTo>
                  <a:pt x="0" y="0"/>
                </a:moveTo>
                <a:lnTo>
                  <a:pt x="15789" y="0"/>
                </a:lnTo>
                <a:lnTo>
                  <a:pt x="15789" y="9977"/>
                </a:lnTo>
                <a:lnTo>
                  <a:pt x="0" y="99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1637280" y="664560"/>
            <a:ext cx="3836880" cy="2223720"/>
          </a:xfrm>
          <a:custGeom>
            <a:avLst/>
            <a:gdLst/>
            <a:ahLst/>
            <a:rect l="0" t="0" r="r" b="b"/>
            <a:pathLst>
              <a:path w="10658" h="6177">
                <a:moveTo>
                  <a:pt x="0" y="0"/>
                </a:moveTo>
                <a:lnTo>
                  <a:pt x="10658" y="0"/>
                </a:lnTo>
                <a:lnTo>
                  <a:pt x="10658" y="6177"/>
                </a:lnTo>
                <a:lnTo>
                  <a:pt x="0" y="61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 flipV="1">
            <a:off x="3144600" y="664560"/>
            <a:ext cx="0" cy="222336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085120" y="2148840"/>
            <a:ext cx="18777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1811520" y="1839960"/>
            <a:ext cx="20991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3306600" y="913680"/>
            <a:ext cx="14709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760480" y="1222560"/>
            <a:ext cx="124740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2370960" y="1531440"/>
            <a:ext cx="115344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154240" y="2766240"/>
            <a:ext cx="113832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2189880" y="2457720"/>
            <a:ext cx="12459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887840" y="2085120"/>
            <a:ext cx="201024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180880" y="1776240"/>
            <a:ext cx="165312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3228120" y="849960"/>
            <a:ext cx="143424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977200" y="1158840"/>
            <a:ext cx="121248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419920" y="1467360"/>
            <a:ext cx="110196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245320" y="2702520"/>
            <a:ext cx="112212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178000" y="2394000"/>
            <a:ext cx="121644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209320" y="2021400"/>
            <a:ext cx="15688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332080" y="1712520"/>
            <a:ext cx="148212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850560" y="786240"/>
            <a:ext cx="144900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939400" y="1095120"/>
            <a:ext cx="108684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782440" y="1403640"/>
            <a:ext cx="10882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115000" y="2638800"/>
            <a:ext cx="10738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117880" y="2329920"/>
            <a:ext cx="116172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992680" y="211752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7"/>
                </a:moveTo>
                <a:cubicBezTo>
                  <a:pt x="175" y="203"/>
                  <a:pt x="0" y="203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829960" y="18090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4010760" y="88272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7"/>
                </a:moveTo>
                <a:cubicBezTo>
                  <a:pt x="0" y="-29"/>
                  <a:pt x="175" y="-29"/>
                  <a:pt x="175" y="87"/>
                </a:cubicBezTo>
                <a:cubicBezTo>
                  <a:pt x="175" y="203"/>
                  <a:pt x="0" y="203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353040" y="119124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916360" y="15001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692080" y="273528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6"/>
                </a:moveTo>
                <a:cubicBezTo>
                  <a:pt x="175" y="203"/>
                  <a:pt x="0" y="203"/>
                  <a:pt x="0" y="86"/>
                </a:cubicBezTo>
                <a:cubicBezTo>
                  <a:pt x="0" y="-29"/>
                  <a:pt x="175" y="-29"/>
                  <a:pt x="175" y="8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781720" y="24264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861640" y="20538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976120" y="174492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7"/>
                </a:moveTo>
                <a:cubicBezTo>
                  <a:pt x="175" y="203"/>
                  <a:pt x="0" y="203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3914280" y="8186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3552120" y="11275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939760" y="14364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775240" y="26712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2755080" y="23626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962440" y="19900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3042000" y="16812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4543920" y="7549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3451680" y="10638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3295440" y="13726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2620800" y="26074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667600" y="22989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 flipV="1">
            <a:off x="1637280" y="664560"/>
            <a:ext cx="0" cy="22233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70640" y="2652120"/>
            <a:ext cx="1481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breadth (BIRDBASE HB)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97720" y="2343240"/>
            <a:ext cx="13399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Diet breadth (BIRDBASE DB)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098000" y="2034360"/>
            <a:ext cx="505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Body mass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61440" y="1725840"/>
            <a:ext cx="12664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Hand-wing index (dispersal)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53400" y="1416960"/>
            <a:ext cx="982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Number of congeners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098000" y="1108080"/>
            <a:ext cx="500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Clutch size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605600" y="27025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605600" y="23940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605600" y="2085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605600" y="17762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605600" y="14673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605600" y="11588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605600" y="8499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637280" y="2887920"/>
            <a:ext cx="38365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1787400" y="2887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V="1">
            <a:off x="2295360" y="2887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V="1">
            <a:off x="3144600" y="2887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31240" y="799200"/>
            <a:ext cx="795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Global range size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724040" y="2932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232000" y="2932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081240" y="2932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1486800" y="3344400"/>
            <a:ext cx="4137840" cy="240840"/>
          </a:xfrm>
          <a:custGeom>
            <a:avLst/>
            <a:gdLst/>
            <a:ahLst/>
            <a:rect l="0" t="0" r="r" b="b"/>
            <a:pathLst>
              <a:path w="11494" h="669">
                <a:moveTo>
                  <a:pt x="0" y="0"/>
                </a:moveTo>
                <a:lnTo>
                  <a:pt x="11494" y="0"/>
                </a:lnTo>
                <a:lnTo>
                  <a:pt x="11494" y="669"/>
                </a:lnTo>
                <a:lnTo>
                  <a:pt x="0" y="6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550160" y="340740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561680" y="3464640"/>
            <a:ext cx="9108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576080" y="3433320"/>
            <a:ext cx="62640" cy="62280"/>
          </a:xfrm>
          <a:custGeom>
            <a:avLst/>
            <a:gdLst/>
            <a:ahLst/>
            <a:rect l="0" t="0" r="r" b="b"/>
            <a:pathLst>
              <a:path w="174" h="173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2"/>
                  <a:pt x="0" y="202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576080" y="3433320"/>
            <a:ext cx="62640" cy="62280"/>
          </a:xfrm>
          <a:custGeom>
            <a:avLst/>
            <a:gdLst/>
            <a:ahLst/>
            <a:rect l="0" t="0" r="r" b="b"/>
            <a:pathLst>
              <a:path fill="none" w="174" h="173">
                <a:moveTo>
                  <a:pt x="174" y="87"/>
                </a:moveTo>
                <a:cubicBezTo>
                  <a:pt x="174" y="202"/>
                  <a:pt x="0" y="202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933640" y="340740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2944800" y="3464640"/>
            <a:ext cx="9144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2959200" y="3433320"/>
            <a:ext cx="63000" cy="62280"/>
          </a:xfrm>
          <a:custGeom>
            <a:avLst/>
            <a:gdLst/>
            <a:ahLst/>
            <a:rect l="0" t="0" r="r" b="b"/>
            <a:pathLst>
              <a:path w="175" h="173">
                <a:moveTo>
                  <a:pt x="0" y="87"/>
                </a:moveTo>
                <a:cubicBezTo>
                  <a:pt x="0" y="-29"/>
                  <a:pt x="175" y="-29"/>
                  <a:pt x="175" y="87"/>
                </a:cubicBezTo>
                <a:cubicBezTo>
                  <a:pt x="175" y="202"/>
                  <a:pt x="0" y="202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2959200" y="3433320"/>
            <a:ext cx="63000" cy="62280"/>
          </a:xfrm>
          <a:custGeom>
            <a:avLst/>
            <a:gdLst/>
            <a:ahLst/>
            <a:rect l="0" t="0" r="r" b="b"/>
            <a:pathLst>
              <a:path fill="none" w="175" h="173">
                <a:moveTo>
                  <a:pt x="175" y="87"/>
                </a:moveTo>
                <a:cubicBezTo>
                  <a:pt x="175" y="202"/>
                  <a:pt x="0" y="202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4736160" y="340740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4747320" y="3464640"/>
            <a:ext cx="9144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4761720" y="3433320"/>
            <a:ext cx="63000" cy="62280"/>
          </a:xfrm>
          <a:custGeom>
            <a:avLst/>
            <a:gdLst/>
            <a:ahLst/>
            <a:rect l="0" t="0" r="r" b="b"/>
            <a:pathLst>
              <a:path w="175" h="173">
                <a:moveTo>
                  <a:pt x="0" y="87"/>
                </a:moveTo>
                <a:cubicBezTo>
                  <a:pt x="0" y="-29"/>
                  <a:pt x="175" y="-29"/>
                  <a:pt x="175" y="87"/>
                </a:cubicBezTo>
                <a:cubicBezTo>
                  <a:pt x="175" y="202"/>
                  <a:pt x="0" y="202"/>
                  <a:pt x="0" y="8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761720" y="3433320"/>
            <a:ext cx="63000" cy="62280"/>
          </a:xfrm>
          <a:custGeom>
            <a:avLst/>
            <a:gdLst/>
            <a:ahLst/>
            <a:rect l="0" t="0" r="r" b="b"/>
            <a:pathLst>
              <a:path fill="none" w="175" h="173">
                <a:moveTo>
                  <a:pt x="175" y="87"/>
                </a:moveTo>
                <a:cubicBezTo>
                  <a:pt x="175" y="202"/>
                  <a:pt x="0" y="202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698560" y="3078000"/>
            <a:ext cx="16527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Odds ratio per 1 SD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727640" y="3420360"/>
            <a:ext cx="11124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M1 taxonomic nesting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110760" y="3420360"/>
            <a:ext cx="1513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M2 phylogenetic eigenvectors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913280" y="3420360"/>
            <a:ext cx="648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M3 phyloglm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637280" y="335880"/>
            <a:ext cx="46576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Filled points are signiﬁcant. M3 uses the dated phylogeny directly (Ives &amp; Garland logistic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637280" y="461880"/>
            <a:ext cx="4348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regression, alpha = 0.60); M1 and M2 are coarser treatments shown for robustness.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637280" y="132840"/>
            <a:ext cx="33199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Only range size survives among continuous traits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320600" y="664560"/>
            <a:ext cx="3837240" cy="2223720"/>
          </a:xfrm>
          <a:custGeom>
            <a:avLst/>
            <a:gdLst/>
            <a:ahLst/>
            <a:rect l="0" t="0" r="r" b="b"/>
            <a:pathLst>
              <a:path w="10659" h="6177">
                <a:moveTo>
                  <a:pt x="0" y="0"/>
                </a:moveTo>
                <a:lnTo>
                  <a:pt x="10659" y="0"/>
                </a:lnTo>
                <a:lnTo>
                  <a:pt x="10659" y="6177"/>
                </a:lnTo>
                <a:lnTo>
                  <a:pt x="0" y="61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 flipV="1">
            <a:off x="9165240" y="664560"/>
            <a:ext cx="0" cy="222336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9867600" y="800640"/>
            <a:ext cx="111528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9095040" y="1137240"/>
            <a:ext cx="113148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8463240" y="2316240"/>
            <a:ext cx="125748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8230320" y="2147760"/>
            <a:ext cx="167724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813800" y="1979640"/>
            <a:ext cx="176040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8204760" y="1811160"/>
            <a:ext cx="231804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7760520" y="2653200"/>
            <a:ext cx="21099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7982280" y="2484720"/>
            <a:ext cx="251748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8853120" y="1642680"/>
            <a:ext cx="93420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8269560" y="2821680"/>
            <a:ext cx="11541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8347320" y="969120"/>
            <a:ext cx="173952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8703360" y="1305720"/>
            <a:ext cx="153432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8237880" y="1474200"/>
            <a:ext cx="18867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9883080" y="765720"/>
            <a:ext cx="109512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9178560" y="1102680"/>
            <a:ext cx="108864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8596440" y="2281680"/>
            <a:ext cx="121392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8628480" y="2113200"/>
            <a:ext cx="180036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7890840" y="1944720"/>
            <a:ext cx="163476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495200" y="1776240"/>
            <a:ext cx="267984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929720" y="2618280"/>
            <a:ext cx="207432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8097480" y="2450160"/>
            <a:ext cx="281700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8871840" y="1607760"/>
            <a:ext cx="91080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8266680" y="2786760"/>
            <a:ext cx="113760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8408520" y="934200"/>
            <a:ext cx="171540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709480" y="1271160"/>
            <a:ext cx="153108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8225640" y="1439280"/>
            <a:ext cx="1869480" cy="0"/>
          </a:xfrm>
          <a:prstGeom prst="line">
            <a:avLst/>
          </a:prstGeom>
          <a:ln w="1332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9522000" y="730800"/>
            <a:ext cx="104364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8949960" y="1067760"/>
            <a:ext cx="102240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213040" y="2246760"/>
            <a:ext cx="117396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8165880" y="2078280"/>
            <a:ext cx="140544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8112960" y="1909800"/>
            <a:ext cx="156672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8134200" y="1741320"/>
            <a:ext cx="19324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7770960" y="2583720"/>
            <a:ext cx="188964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7530480" y="2415240"/>
            <a:ext cx="239616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8714880" y="1573200"/>
            <a:ext cx="87300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775280" y="2751840"/>
            <a:ext cx="108216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8681400" y="899280"/>
            <a:ext cx="157500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8595720" y="1236240"/>
            <a:ext cx="149292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8305920" y="1404720"/>
            <a:ext cx="176580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0393920" y="769320"/>
            <a:ext cx="63000" cy="63000"/>
          </a:xfrm>
          <a:custGeom>
            <a:avLst/>
            <a:gdLst/>
            <a:ahLst/>
            <a:rect l="0" t="0" r="r" b="b"/>
            <a:pathLst>
              <a:path w="175" h="175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4"/>
                  <a:pt x="0" y="204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9629640" y="11062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9060840" y="22852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9037800" y="21168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8663040" y="19483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9332640" y="177984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8784360" y="26218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9209880" y="245340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9289080" y="1611360"/>
            <a:ext cx="62640" cy="62280"/>
          </a:xfrm>
          <a:custGeom>
            <a:avLst/>
            <a:gdLst/>
            <a:ahLst/>
            <a:rect l="0" t="0" r="r" b="b"/>
            <a:pathLst>
              <a:path fill="none" w="174" h="173">
                <a:moveTo>
                  <a:pt x="174" y="86"/>
                </a:moveTo>
                <a:cubicBezTo>
                  <a:pt x="174" y="202"/>
                  <a:pt x="0" y="202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8815320" y="279036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7"/>
                </a:moveTo>
                <a:cubicBezTo>
                  <a:pt x="175" y="203"/>
                  <a:pt x="0" y="203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9185760" y="93780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8"/>
                </a:moveTo>
                <a:cubicBezTo>
                  <a:pt x="175" y="203"/>
                  <a:pt x="0" y="203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9439200" y="127476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9150120" y="14432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0399320" y="73476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6"/>
                </a:moveTo>
                <a:cubicBezTo>
                  <a:pt x="0" y="-29"/>
                  <a:pt x="175" y="-29"/>
                  <a:pt x="175" y="86"/>
                </a:cubicBezTo>
                <a:cubicBezTo>
                  <a:pt x="175" y="203"/>
                  <a:pt x="0" y="203"/>
                  <a:pt x="0" y="86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9691920" y="103680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9172440" y="22503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9497520" y="208188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8677080" y="19134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8804160" y="17449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8935920" y="25873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9474840" y="24188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9296280" y="15768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8804520" y="27554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9235080" y="902880"/>
            <a:ext cx="62640" cy="63360"/>
          </a:xfrm>
          <a:custGeom>
            <a:avLst/>
            <a:gdLst/>
            <a:ahLst/>
            <a:rect l="0" t="0" r="r" b="b"/>
            <a:pathLst>
              <a:path fill="none" w="174" h="176">
                <a:moveTo>
                  <a:pt x="174" y="88"/>
                </a:moveTo>
                <a:cubicBezTo>
                  <a:pt x="174" y="205"/>
                  <a:pt x="0" y="205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9443880" y="12398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9129240" y="14083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0012680" y="6998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9429840" y="10713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8768880" y="221544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8837280" y="20469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8865000" y="187884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7"/>
                </a:moveTo>
                <a:cubicBezTo>
                  <a:pt x="175" y="203"/>
                  <a:pt x="0" y="203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9069120" y="1710360"/>
            <a:ext cx="63000" cy="63000"/>
          </a:xfrm>
          <a:custGeom>
            <a:avLst/>
            <a:gdLst/>
            <a:ahLst/>
            <a:rect l="0" t="0" r="r" b="b"/>
            <a:pathLst>
              <a:path fill="none" w="175" h="175">
                <a:moveTo>
                  <a:pt x="175" y="87"/>
                </a:moveTo>
                <a:cubicBezTo>
                  <a:pt x="175" y="204"/>
                  <a:pt x="0" y="204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8684640" y="25524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8697600" y="23839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9120240" y="15418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8285400" y="272088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9437760" y="8683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9311040" y="12049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9157680" y="13734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 flipV="1">
            <a:off x="7320600" y="664560"/>
            <a:ext cx="0" cy="22233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53000" y="1209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349680" y="2736000"/>
            <a:ext cx="982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density: Open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676480" y="2567880"/>
            <a:ext cx="1652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Frugivore/Nectarivore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197040" y="2399400"/>
            <a:ext cx="1113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Herbivore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197040" y="2230920"/>
            <a:ext cx="1113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Omnivore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930640" y="2062440"/>
            <a:ext cx="14198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Aquatic predator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197040" y="1893960"/>
            <a:ext cx="1118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Granivore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752800" y="1725840"/>
            <a:ext cx="1595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Vertivore/Scavenger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6108480" y="1557360"/>
            <a:ext cx="1226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density: Semi-open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362280" y="1388880"/>
            <a:ext cx="9370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Endemism: Endemic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6197040" y="1220400"/>
            <a:ext cx="1130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IUCN status: Threatened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387840" y="1051920"/>
            <a:ext cx="902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Migration: Migratory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955840" y="883440"/>
            <a:ext cx="1379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IUCN status: Near Threatened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7289280" y="27867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289280" y="26182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7289280" y="24501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7289280" y="22816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7289280" y="21132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289280" y="19447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289280" y="17762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289280" y="16077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7289280" y="14392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7289280" y="12711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7289280" y="11026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7289280" y="9342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7289280" y="7657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7320600" y="2887920"/>
            <a:ext cx="38368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 flipV="1">
            <a:off x="7501680" y="2887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 flipV="1">
            <a:off x="9165240" y="2887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 flipV="1">
            <a:off x="10683360" y="2887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6171840" y="715320"/>
            <a:ext cx="1135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Migration: Partial migrant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7438320" y="2932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9101880" y="2932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0620000" y="2932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8128080" y="3078000"/>
            <a:ext cx="21448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Odds ratio vs reference level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320960" y="335880"/>
            <a:ext cx="17226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References: resident, invertivore,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7320960" y="461880"/>
            <a:ext cx="23101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dense habitat, Least Concern, non-endemic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7320960" y="132840"/>
            <a:ext cx="173016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Partial migrants stand out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69480" y="3660840"/>
            <a:ext cx="5613840" cy="3940560"/>
          </a:xfrm>
          <a:custGeom>
            <a:avLst/>
            <a:gdLst/>
            <a:ahLst/>
            <a:rect l="0" t="0" r="r" b="b"/>
            <a:pathLst>
              <a:path w="15594" h="10946">
                <a:moveTo>
                  <a:pt x="0" y="0"/>
                </a:moveTo>
                <a:lnTo>
                  <a:pt x="15594" y="0"/>
                </a:lnTo>
                <a:lnTo>
                  <a:pt x="15594" y="10946"/>
                </a:lnTo>
                <a:lnTo>
                  <a:pt x="0" y="109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682960" y="3660840"/>
            <a:ext cx="5576040" cy="3940560"/>
          </a:xfrm>
          <a:custGeom>
            <a:avLst/>
            <a:gdLst/>
            <a:ahLst/>
            <a:rect l="0" t="0" r="r" b="b"/>
            <a:pathLst>
              <a:path w="15489" h="10946">
                <a:moveTo>
                  <a:pt x="0" y="0"/>
                </a:moveTo>
                <a:lnTo>
                  <a:pt x="15489" y="0"/>
                </a:lnTo>
                <a:lnTo>
                  <a:pt x="15489" y="10946"/>
                </a:lnTo>
                <a:lnTo>
                  <a:pt x="0" y="109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637280" y="4382640"/>
            <a:ext cx="3944880" cy="2445480"/>
          </a:xfrm>
          <a:custGeom>
            <a:avLst/>
            <a:gdLst/>
            <a:ahLst/>
            <a:rect l="0" t="0" r="r" b="b"/>
            <a:pathLst>
              <a:path w="10958" h="6793">
                <a:moveTo>
                  <a:pt x="0" y="0"/>
                </a:moveTo>
                <a:lnTo>
                  <a:pt x="10958" y="0"/>
                </a:lnTo>
                <a:lnTo>
                  <a:pt x="10958" y="6793"/>
                </a:lnTo>
                <a:lnTo>
                  <a:pt x="0" y="67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 flipV="1">
            <a:off x="2937240" y="4382640"/>
            <a:ext cx="0" cy="244512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816560" y="4771440"/>
            <a:ext cx="1077840" cy="556200"/>
          </a:xfrm>
          <a:custGeom>
            <a:avLst/>
            <a:gdLst/>
            <a:ahLst/>
            <a:rect l="0" t="0" r="r" b="b"/>
            <a:pathLst>
              <a:path w="2994" h="1545">
                <a:moveTo>
                  <a:pt x="0" y="0"/>
                </a:moveTo>
                <a:lnTo>
                  <a:pt x="2994" y="0"/>
                </a:lnTo>
                <a:lnTo>
                  <a:pt x="2994" y="1545"/>
                </a:lnTo>
                <a:lnTo>
                  <a:pt x="0" y="1545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816560" y="5883120"/>
            <a:ext cx="2337840" cy="556200"/>
          </a:xfrm>
          <a:custGeom>
            <a:avLst/>
            <a:gdLst/>
            <a:ahLst/>
            <a:rect l="0" t="0" r="r" b="b"/>
            <a:pathLst>
              <a:path w="6494" h="1545">
                <a:moveTo>
                  <a:pt x="0" y="0"/>
                </a:moveTo>
                <a:lnTo>
                  <a:pt x="6494" y="0"/>
                </a:lnTo>
                <a:lnTo>
                  <a:pt x="6494" y="1545"/>
                </a:lnTo>
                <a:lnTo>
                  <a:pt x="0" y="1545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653080" y="1209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939760" y="5011560"/>
            <a:ext cx="7506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OR = 0.96, P = 0.7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 flipV="1">
            <a:off x="1637280" y="4382640"/>
            <a:ext cx="0" cy="244512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205880" y="6122880"/>
            <a:ext cx="85536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OR = 2.09, P = 5e-15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374040" y="6055560"/>
            <a:ext cx="1277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Chinese provinces occupied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77080" y="6165360"/>
            <a:ext cx="1067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(contains the response)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831240" y="4943880"/>
            <a:ext cx="795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Global range size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605600" y="61610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605600" y="50493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637280" y="6827760"/>
            <a:ext cx="39445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 flipV="1">
            <a:off x="1816560" y="68277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 flipV="1">
            <a:off x="2937240" y="68277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 flipV="1">
            <a:off x="4057920" y="68277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 flipV="1">
            <a:off x="5178600" y="68277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323280" y="5053680"/>
            <a:ext cx="1362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(independent of the response)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791360" y="6872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912040" y="6872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032720" y="6872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5153400" y="6872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025440" y="7018200"/>
            <a:ext cx="11185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Odds ratio per 1 SD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637280" y="3927240"/>
            <a:ext cx="44431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The trait database was published in 2022, so its provincial counts already contain the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637280" y="4053600"/>
            <a:ext cx="48150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2002-2021 records used as the response. Entered together, the global measure is absorbed.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637280" y="3724560"/>
            <a:ext cx="28681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Why range size must be measured globally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7212960" y="4382640"/>
            <a:ext cx="3944880" cy="2445480"/>
          </a:xfrm>
          <a:custGeom>
            <a:avLst/>
            <a:gdLst/>
            <a:ahLst/>
            <a:rect l="0" t="0" r="r" b="b"/>
            <a:pathLst>
              <a:path w="10958" h="6793">
                <a:moveTo>
                  <a:pt x="0" y="0"/>
                </a:moveTo>
                <a:lnTo>
                  <a:pt x="10958" y="0"/>
                </a:lnTo>
                <a:lnTo>
                  <a:pt x="10958" y="6793"/>
                </a:lnTo>
                <a:lnTo>
                  <a:pt x="0" y="67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7392240" y="4417560"/>
            <a:ext cx="2338920" cy="75600"/>
          </a:xfrm>
          <a:custGeom>
            <a:avLst/>
            <a:gdLst/>
            <a:ahLst/>
            <a:rect l="0" t="0" r="r" b="b"/>
            <a:pathLst>
              <a:path w="6497" h="210">
                <a:moveTo>
                  <a:pt x="0" y="0"/>
                </a:moveTo>
                <a:lnTo>
                  <a:pt x="6497" y="0"/>
                </a:lnTo>
                <a:lnTo>
                  <a:pt x="6497" y="210"/>
                </a:lnTo>
                <a:lnTo>
                  <a:pt x="0" y="210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7392240" y="4538520"/>
            <a:ext cx="2338920" cy="75600"/>
          </a:xfrm>
          <a:custGeom>
            <a:avLst/>
            <a:gdLst/>
            <a:ahLst/>
            <a:rect l="0" t="0" r="r" b="b"/>
            <a:pathLst>
              <a:path w="6497" h="210">
                <a:moveTo>
                  <a:pt x="0" y="0"/>
                </a:moveTo>
                <a:lnTo>
                  <a:pt x="6497" y="0"/>
                </a:lnTo>
                <a:lnTo>
                  <a:pt x="6497" y="210"/>
                </a:lnTo>
                <a:lnTo>
                  <a:pt x="0" y="210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7392240" y="4659840"/>
            <a:ext cx="779760" cy="75240"/>
          </a:xfrm>
          <a:custGeom>
            <a:avLst/>
            <a:gdLst/>
            <a:ahLst/>
            <a:rect l="0" t="0" r="r" b="b"/>
            <a:pathLst>
              <a:path w="2166" h="209">
                <a:moveTo>
                  <a:pt x="0" y="0"/>
                </a:moveTo>
                <a:lnTo>
                  <a:pt x="2166" y="0"/>
                </a:lnTo>
                <a:lnTo>
                  <a:pt x="2166" y="209"/>
                </a:lnTo>
                <a:lnTo>
                  <a:pt x="0" y="209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7392240" y="4780800"/>
            <a:ext cx="779760" cy="75240"/>
          </a:xfrm>
          <a:custGeom>
            <a:avLst/>
            <a:gdLst/>
            <a:ahLst/>
            <a:rect l="0" t="0" r="r" b="b"/>
            <a:pathLst>
              <a:path w="2166" h="209">
                <a:moveTo>
                  <a:pt x="0" y="0"/>
                </a:moveTo>
                <a:lnTo>
                  <a:pt x="2166" y="0"/>
                </a:lnTo>
                <a:lnTo>
                  <a:pt x="2166" y="209"/>
                </a:lnTo>
                <a:lnTo>
                  <a:pt x="0" y="209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53360" y="371772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9761400" y="442368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1.89-2.50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9761400" y="454464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1.23-1.46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8202240" y="466560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0.54-0.79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8202240" y="478656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1.24-1.50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422840" y="490788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1.04-1.25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422840" y="502884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1.14-1.25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422840" y="514980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0.72-0.87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422840" y="527112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0.71-0.82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422840" y="539208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1.06-1.12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422840" y="551304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0.89-0.92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422840" y="563400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0.88-0.91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422840" y="575532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0.93-0.98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7422840" y="587628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0.94-0.97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422840" y="599724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1.00-1.02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7422840" y="611820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0.99-1.12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422840" y="623952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0.81-1.30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422840" y="636048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0.73-1.28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422840" y="648144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0.77-1.03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422840" y="660276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0.79-1.15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 flipV="1">
            <a:off x="7212960" y="4382640"/>
            <a:ext cx="0" cy="244512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7422840" y="6723720"/>
            <a:ext cx="335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0.95-1.05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318000" y="6723720"/>
            <a:ext cx="77760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Number of congeners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5847840" y="6602760"/>
            <a:ext cx="126216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Vertivore/Scavenger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241680" y="6481440"/>
            <a:ext cx="88056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Omnivore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229080" y="6360480"/>
            <a:ext cx="88056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Herbivore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5962320" y="6239520"/>
            <a:ext cx="112320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Aquatic predator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6127200" y="6118200"/>
            <a:ext cx="97056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density: Semi-open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406920" y="5997240"/>
            <a:ext cx="74124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Endemism: Endemic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749640" y="5876280"/>
            <a:ext cx="40032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Body mass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102000" y="5755320"/>
            <a:ext cx="100188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Hand-wing index (dispersal)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924160" y="5634000"/>
            <a:ext cx="117252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breadth (BIRDBASE HB)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6051240" y="5513040"/>
            <a:ext cx="106020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Diet breadth (BIRDBASE DB)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6749640" y="5392080"/>
            <a:ext cx="39564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Clutch size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6229080" y="5271120"/>
            <a:ext cx="88524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Granivore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784480" y="5149800"/>
            <a:ext cx="130716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Trophic niche: Frugivore/Nectarivore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6178320" y="5028840"/>
            <a:ext cx="89424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IUCN status: Threatened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962320" y="4907880"/>
            <a:ext cx="109152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IUCN status: Near Threatened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6419520" y="4786560"/>
            <a:ext cx="71424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Migration: Migratory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318000" y="4665600"/>
            <a:ext cx="77760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density: Open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495480" y="4544640"/>
            <a:ext cx="62928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Global range size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7181280" y="67554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7181280" y="66340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7181280" y="6513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7181280" y="6392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7181280" y="6271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7181280" y="6149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7181280" y="60289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7181280" y="59079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7181280" y="5786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7181280" y="56656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7181280" y="5544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7181280" y="5423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7181280" y="5302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7181280" y="5181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7181280" y="50605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7181280" y="4939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7181280" y="48182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7181280" y="4697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7181280" y="45763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7181280" y="44550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7212960" y="6827760"/>
            <a:ext cx="39445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 flipV="1">
            <a:off x="7392240" y="68277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 flipV="1">
            <a:off x="8171640" y="68277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 flipV="1">
            <a:off x="8951400" y="68277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 flipV="1">
            <a:off x="9730800" y="68277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6229080" y="4423680"/>
            <a:ext cx="898560" cy="81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4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Migration: Partial migrant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7367040" y="6872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8146440" y="6872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8925840" y="6872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9705600" y="6872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7376760" y="7284240"/>
            <a:ext cx="3616920" cy="241200"/>
          </a:xfrm>
          <a:custGeom>
            <a:avLst/>
            <a:gdLst/>
            <a:ahLst/>
            <a:rect l="0" t="0" r="r" b="b"/>
            <a:pathLst>
              <a:path w="10047" h="670">
                <a:moveTo>
                  <a:pt x="0" y="0"/>
                </a:moveTo>
                <a:lnTo>
                  <a:pt x="10047" y="0"/>
                </a:lnTo>
                <a:lnTo>
                  <a:pt x="10047" y="670"/>
                </a:lnTo>
                <a:lnTo>
                  <a:pt x="0" y="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7440120" y="734760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7448400" y="735588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8798040" y="734760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8806320" y="735588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0016280" y="73476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10024560" y="735588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267680" y="7018200"/>
            <a:ext cx="3684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Number of phylogenetic treatments in which the term is signiﬁcant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617600" y="7360560"/>
            <a:ext cx="10681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signiﬁcant in all three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8975520" y="7360560"/>
            <a:ext cx="941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signiﬁcant in some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0193760" y="7360560"/>
            <a:ext cx="69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 signiﬁcant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7212960" y="3927240"/>
            <a:ext cx="24404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Taxonomic nesting, phylogenetic eigenvectors,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7212960" y="4053600"/>
            <a:ext cx="27532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phylogenetic logistic regression; text gives the range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7212960" y="4179600"/>
            <a:ext cx="16117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of odds ratios across the three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7212960" y="3724560"/>
            <a:ext cx="27662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Robustness to how phylogeny is handled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5760720" y="371772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Fig9_species_level_v2</dc:title>
</cp:coreProperties>
</file>