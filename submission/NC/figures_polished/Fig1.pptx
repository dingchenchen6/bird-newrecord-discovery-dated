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6578600" cy="4127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28680" y="150120"/>
            <a:ext cx="5919840" cy="62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28680" y="881280"/>
            <a:ext cx="5919840" cy="218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6578640" cy="4127760"/>
          </a:xfrm>
          <a:custGeom>
            <a:avLst/>
            <a:gdLst/>
            <a:ahLst/>
            <a:rect l="0" t="0" r="r" b="b"/>
            <a:pathLst>
              <a:path w="18274" h="11466">
                <a:moveTo>
                  <a:pt x="0" y="0"/>
                </a:moveTo>
                <a:lnTo>
                  <a:pt x="18274" y="0"/>
                </a:lnTo>
                <a:lnTo>
                  <a:pt x="18274" y="11466"/>
                </a:lnTo>
                <a:lnTo>
                  <a:pt x="0" y="114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6578640" cy="4127760"/>
          </a:xfrm>
          <a:custGeom>
            <a:avLst/>
            <a:gdLst/>
            <a:ahLst/>
            <a:rect l="0" t="0" r="r" b="b"/>
            <a:pathLst>
              <a:path w="18274" h="11466">
                <a:moveTo>
                  <a:pt x="0" y="0"/>
                </a:moveTo>
                <a:lnTo>
                  <a:pt x="18274" y="0"/>
                </a:lnTo>
                <a:lnTo>
                  <a:pt x="18274" y="11466"/>
                </a:lnTo>
                <a:lnTo>
                  <a:pt x="0" y="114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25200" y="2070000"/>
            <a:ext cx="6528240" cy="2032200"/>
          </a:xfrm>
          <a:custGeom>
            <a:avLst/>
            <a:gdLst/>
            <a:ahLst/>
            <a:rect l="0" t="0" r="r" b="b"/>
            <a:pathLst>
              <a:path w="18134" h="5645">
                <a:moveTo>
                  <a:pt x="0" y="0"/>
                </a:moveTo>
                <a:lnTo>
                  <a:pt x="18134" y="0"/>
                </a:lnTo>
                <a:lnTo>
                  <a:pt x="18134" y="5645"/>
                </a:lnTo>
                <a:lnTo>
                  <a:pt x="0" y="56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25200" y="25200"/>
            <a:ext cx="3283200" cy="2045160"/>
          </a:xfrm>
          <a:custGeom>
            <a:avLst/>
            <a:gdLst/>
            <a:ahLst/>
            <a:rect l="0" t="0" r="r" b="b"/>
            <a:pathLst>
              <a:path w="9120" h="5681">
                <a:moveTo>
                  <a:pt x="0" y="0"/>
                </a:moveTo>
                <a:lnTo>
                  <a:pt x="9120" y="0"/>
                </a:lnTo>
                <a:lnTo>
                  <a:pt x="9120" y="5681"/>
                </a:lnTo>
                <a:lnTo>
                  <a:pt x="0" y="56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3308040" y="25200"/>
            <a:ext cx="3245400" cy="2045160"/>
          </a:xfrm>
          <a:custGeom>
            <a:avLst/>
            <a:gdLst/>
            <a:ahLst/>
            <a:rect l="0" t="0" r="r" b="b"/>
            <a:pathLst>
              <a:path w="9015" h="5681">
                <a:moveTo>
                  <a:pt x="0" y="0"/>
                </a:moveTo>
                <a:lnTo>
                  <a:pt x="9015" y="0"/>
                </a:lnTo>
                <a:lnTo>
                  <a:pt x="9015" y="5681"/>
                </a:lnTo>
                <a:lnTo>
                  <a:pt x="0" y="56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372600" y="227880"/>
            <a:ext cx="2872800" cy="1520640"/>
          </a:xfrm>
          <a:custGeom>
            <a:avLst/>
            <a:gdLst/>
            <a:ahLst/>
            <a:rect l="0" t="0" r="r" b="b"/>
            <a:pathLst>
              <a:path w="7980" h="4224">
                <a:moveTo>
                  <a:pt x="0" y="0"/>
                </a:moveTo>
                <a:lnTo>
                  <a:pt x="7980" y="0"/>
                </a:lnTo>
                <a:lnTo>
                  <a:pt x="7980" y="4224"/>
                </a:lnTo>
                <a:lnTo>
                  <a:pt x="0" y="42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453600" y="1493640"/>
            <a:ext cx="87480" cy="254880"/>
          </a:xfrm>
          <a:custGeom>
            <a:avLst/>
            <a:gdLst/>
            <a:ahLst/>
            <a:rect l="0" t="0" r="r" b="b"/>
            <a:pathLst>
              <a:path w="243" h="708">
                <a:moveTo>
                  <a:pt x="0" y="0"/>
                </a:moveTo>
                <a:lnTo>
                  <a:pt x="243" y="0"/>
                </a:lnTo>
                <a:lnTo>
                  <a:pt x="243" y="708"/>
                </a:lnTo>
                <a:lnTo>
                  <a:pt x="0" y="708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569520" y="1180800"/>
            <a:ext cx="87480" cy="567720"/>
          </a:xfrm>
          <a:custGeom>
            <a:avLst/>
            <a:gdLst/>
            <a:ahLst/>
            <a:rect l="0" t="0" r="r" b="b"/>
            <a:pathLst>
              <a:path w="243" h="1577">
                <a:moveTo>
                  <a:pt x="0" y="0"/>
                </a:moveTo>
                <a:lnTo>
                  <a:pt x="243" y="0"/>
                </a:lnTo>
                <a:lnTo>
                  <a:pt x="243" y="1577"/>
                </a:lnTo>
                <a:lnTo>
                  <a:pt x="0" y="1577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685800" y="1509120"/>
            <a:ext cx="87480" cy="239400"/>
          </a:xfrm>
          <a:custGeom>
            <a:avLst/>
            <a:gdLst/>
            <a:ahLst/>
            <a:rect l="0" t="0" r="r" b="b"/>
            <a:pathLst>
              <a:path w="243" h="665">
                <a:moveTo>
                  <a:pt x="0" y="0"/>
                </a:moveTo>
                <a:lnTo>
                  <a:pt x="243" y="0"/>
                </a:lnTo>
                <a:lnTo>
                  <a:pt x="243" y="665"/>
                </a:lnTo>
                <a:lnTo>
                  <a:pt x="0" y="665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801720" y="1600200"/>
            <a:ext cx="87120" cy="148320"/>
          </a:xfrm>
          <a:custGeom>
            <a:avLst/>
            <a:gdLst/>
            <a:ahLst/>
            <a:rect l="0" t="0" r="r" b="b"/>
            <a:pathLst>
              <a:path w="242" h="412">
                <a:moveTo>
                  <a:pt x="0" y="0"/>
                </a:moveTo>
                <a:lnTo>
                  <a:pt x="242" y="0"/>
                </a:lnTo>
                <a:lnTo>
                  <a:pt x="242" y="412"/>
                </a:lnTo>
                <a:lnTo>
                  <a:pt x="0" y="412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917640" y="1659960"/>
            <a:ext cx="87120" cy="88560"/>
          </a:xfrm>
          <a:custGeom>
            <a:avLst/>
            <a:gdLst/>
            <a:ahLst/>
            <a:rect l="0" t="0" r="r" b="b"/>
            <a:pathLst>
              <a:path w="242" h="246">
                <a:moveTo>
                  <a:pt x="0" y="0"/>
                </a:moveTo>
                <a:lnTo>
                  <a:pt x="242" y="0"/>
                </a:lnTo>
                <a:lnTo>
                  <a:pt x="242" y="246"/>
                </a:lnTo>
                <a:lnTo>
                  <a:pt x="0" y="246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1033560" y="1706760"/>
            <a:ext cx="87120" cy="41760"/>
          </a:xfrm>
          <a:custGeom>
            <a:avLst/>
            <a:gdLst/>
            <a:ahLst/>
            <a:rect l="0" t="0" r="r" b="b"/>
            <a:pathLst>
              <a:path w="242" h="116">
                <a:moveTo>
                  <a:pt x="0" y="0"/>
                </a:moveTo>
                <a:lnTo>
                  <a:pt x="242" y="0"/>
                </a:lnTo>
                <a:lnTo>
                  <a:pt x="242" y="116"/>
                </a:ln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1149480" y="1724040"/>
            <a:ext cx="87120" cy="24480"/>
          </a:xfrm>
          <a:custGeom>
            <a:avLst/>
            <a:gdLst/>
            <a:ahLst/>
            <a:rect l="0" t="0" r="r" b="b"/>
            <a:pathLst>
              <a:path w="242" h="68">
                <a:moveTo>
                  <a:pt x="0" y="0"/>
                </a:moveTo>
                <a:lnTo>
                  <a:pt x="242" y="0"/>
                </a:lnTo>
                <a:lnTo>
                  <a:pt x="242" y="68"/>
                </a:lnTo>
                <a:lnTo>
                  <a:pt x="0" y="68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265400" y="1728000"/>
            <a:ext cx="87120" cy="20520"/>
          </a:xfrm>
          <a:custGeom>
            <a:avLst/>
            <a:gdLst/>
            <a:ahLst/>
            <a:rect l="0" t="0" r="r" b="b"/>
            <a:pathLst>
              <a:path w="242" h="57">
                <a:moveTo>
                  <a:pt x="0" y="0"/>
                </a:moveTo>
                <a:lnTo>
                  <a:pt x="242" y="0"/>
                </a:lnTo>
                <a:lnTo>
                  <a:pt x="242" y="57"/>
                </a:lnTo>
                <a:lnTo>
                  <a:pt x="0" y="57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1381320" y="1730880"/>
            <a:ext cx="87120" cy="17640"/>
          </a:xfrm>
          <a:custGeom>
            <a:avLst/>
            <a:gdLst/>
            <a:ahLst/>
            <a:rect l="0" t="0" r="r" b="b"/>
            <a:pathLst>
              <a:path w="242" h="49">
                <a:moveTo>
                  <a:pt x="0" y="0"/>
                </a:moveTo>
                <a:lnTo>
                  <a:pt x="242" y="0"/>
                </a:lnTo>
                <a:lnTo>
                  <a:pt x="242" y="49"/>
                </a:lnTo>
                <a:lnTo>
                  <a:pt x="0" y="49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1497240" y="1739520"/>
            <a:ext cx="87120" cy="9000"/>
          </a:xfrm>
          <a:custGeom>
            <a:avLst/>
            <a:gdLst/>
            <a:ahLst/>
            <a:rect l="0" t="0" r="r" b="b"/>
            <a:pathLst>
              <a:path w="242" h="25">
                <a:moveTo>
                  <a:pt x="0" y="0"/>
                </a:moveTo>
                <a:lnTo>
                  <a:pt x="242" y="0"/>
                </a:lnTo>
                <a:lnTo>
                  <a:pt x="242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1613160" y="1733760"/>
            <a:ext cx="87120" cy="15120"/>
          </a:xfrm>
          <a:custGeom>
            <a:avLst/>
            <a:gdLst/>
            <a:ahLst/>
            <a:rect l="0" t="0" r="r" b="b"/>
            <a:pathLst>
              <a:path w="242" h="42">
                <a:moveTo>
                  <a:pt x="0" y="0"/>
                </a:moveTo>
                <a:lnTo>
                  <a:pt x="242" y="0"/>
                </a:lnTo>
                <a:lnTo>
                  <a:pt x="242" y="42"/>
                </a:lnTo>
                <a:lnTo>
                  <a:pt x="0" y="42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729080" y="1738080"/>
            <a:ext cx="87480" cy="10440"/>
          </a:xfrm>
          <a:custGeom>
            <a:avLst/>
            <a:gdLst/>
            <a:ahLst/>
            <a:rect l="0" t="0" r="r" b="b"/>
            <a:pathLst>
              <a:path w="243" h="29">
                <a:moveTo>
                  <a:pt x="0" y="0"/>
                </a:moveTo>
                <a:lnTo>
                  <a:pt x="243" y="0"/>
                </a:lnTo>
                <a:lnTo>
                  <a:pt x="24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845000" y="1746720"/>
            <a:ext cx="87480" cy="2160"/>
          </a:xfrm>
          <a:custGeom>
            <a:avLst/>
            <a:gdLst/>
            <a:ahLst/>
            <a:rect l="0" t="0" r="r" b="b"/>
            <a:pathLst>
              <a:path w="243" h="6">
                <a:moveTo>
                  <a:pt x="0" y="0"/>
                </a:moveTo>
                <a:lnTo>
                  <a:pt x="243" y="0"/>
                </a:lnTo>
                <a:lnTo>
                  <a:pt x="243" y="6"/>
                </a:ln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613080" y="290520"/>
            <a:ext cx="2550960" cy="628920"/>
          </a:xfrm>
          <a:custGeom>
            <a:avLst/>
            <a:gdLst/>
            <a:ahLst/>
            <a:rect l="0" t="0" r="r" b="b"/>
            <a:pathLst>
              <a:path fill="none" w="7086" h="1747">
                <a:moveTo>
                  <a:pt x="0" y="1747"/>
                </a:moveTo>
                <a:lnTo>
                  <a:pt x="322" y="1077"/>
                </a:lnTo>
                <a:lnTo>
                  <a:pt x="644" y="663"/>
                </a:lnTo>
                <a:lnTo>
                  <a:pt x="966" y="416"/>
                </a:lnTo>
                <a:lnTo>
                  <a:pt x="1288" y="300"/>
                </a:lnTo>
                <a:lnTo>
                  <a:pt x="1611" y="233"/>
                </a:lnTo>
                <a:lnTo>
                  <a:pt x="1934" y="177"/>
                </a:lnTo>
                <a:lnTo>
                  <a:pt x="2255" y="129"/>
                </a:lnTo>
                <a:lnTo>
                  <a:pt x="2578" y="105"/>
                </a:lnTo>
                <a:lnTo>
                  <a:pt x="2900" y="64"/>
                </a:lnTo>
                <a:lnTo>
                  <a:pt x="3222" y="37"/>
                </a:lnTo>
                <a:lnTo>
                  <a:pt x="3544" y="32"/>
                </a:lnTo>
                <a:lnTo>
                  <a:pt x="3866" y="21"/>
                </a:lnTo>
                <a:lnTo>
                  <a:pt x="4188" y="4"/>
                </a:lnTo>
                <a:lnTo>
                  <a:pt x="6442" y="4"/>
                </a:lnTo>
                <a:lnTo>
                  <a:pt x="6764" y="0"/>
                </a:lnTo>
                <a:lnTo>
                  <a:pt x="7086" y="0"/>
                </a:lnTo>
              </a:path>
            </a:pathLst>
          </a:custGeom>
          <a:ln w="13320">
            <a:solidFill>
              <a:srgbClr val="2A9D8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3146040" y="27288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49"/>
                </a:moveTo>
                <a:cubicBezTo>
                  <a:pt x="0" y="-16"/>
                  <a:pt x="100" y="-16"/>
                  <a:pt x="100" y="49"/>
                </a:cubicBezTo>
                <a:cubicBezTo>
                  <a:pt x="100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3146040" y="27288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49"/>
                </a:moveTo>
                <a:cubicBezTo>
                  <a:pt x="100" y="116"/>
                  <a:pt x="0" y="116"/>
                  <a:pt x="0" y="49"/>
                </a:cubicBezTo>
                <a:cubicBezTo>
                  <a:pt x="0" y="-16"/>
                  <a:pt x="100" y="-16"/>
                  <a:pt x="100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030120" y="272880"/>
            <a:ext cx="35640" cy="35640"/>
          </a:xfrm>
          <a:custGeom>
            <a:avLst/>
            <a:gdLst/>
            <a:ahLst/>
            <a:rect l="0" t="0" r="r" b="b"/>
            <a:pathLst>
              <a:path w="99" h="99">
                <a:moveTo>
                  <a:pt x="0" y="49"/>
                </a:moveTo>
                <a:cubicBezTo>
                  <a:pt x="0" y="-16"/>
                  <a:pt x="99" y="-16"/>
                  <a:pt x="99" y="49"/>
                </a:cubicBezTo>
                <a:cubicBezTo>
                  <a:pt x="99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030120" y="272880"/>
            <a:ext cx="35640" cy="35640"/>
          </a:xfrm>
          <a:custGeom>
            <a:avLst/>
            <a:gdLst/>
            <a:ahLst/>
            <a:rect l="0" t="0" r="r" b="b"/>
            <a:pathLst>
              <a:path fill="none" w="99" h="99">
                <a:moveTo>
                  <a:pt x="99" y="49"/>
                </a:moveTo>
                <a:cubicBezTo>
                  <a:pt x="99" y="116"/>
                  <a:pt x="0" y="116"/>
                  <a:pt x="0" y="49"/>
                </a:cubicBezTo>
                <a:cubicBezTo>
                  <a:pt x="0" y="-16"/>
                  <a:pt x="99" y="-16"/>
                  <a:pt x="99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2914200" y="274320"/>
            <a:ext cx="35640" cy="35640"/>
          </a:xfrm>
          <a:custGeom>
            <a:avLst/>
            <a:gdLst/>
            <a:ahLst/>
            <a:rect l="0" t="0" r="r" b="b"/>
            <a:pathLst>
              <a:path w="99" h="99">
                <a:moveTo>
                  <a:pt x="0" y="49"/>
                </a:moveTo>
                <a:cubicBezTo>
                  <a:pt x="0" y="-16"/>
                  <a:pt x="99" y="-16"/>
                  <a:pt x="99" y="49"/>
                </a:cubicBezTo>
                <a:cubicBezTo>
                  <a:pt x="99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2914200" y="274320"/>
            <a:ext cx="35640" cy="35640"/>
          </a:xfrm>
          <a:custGeom>
            <a:avLst/>
            <a:gdLst/>
            <a:ahLst/>
            <a:rect l="0" t="0" r="r" b="b"/>
            <a:pathLst>
              <a:path fill="none" w="99" h="99">
                <a:moveTo>
                  <a:pt x="99" y="49"/>
                </a:moveTo>
                <a:cubicBezTo>
                  <a:pt x="99" y="116"/>
                  <a:pt x="0" y="116"/>
                  <a:pt x="0" y="49"/>
                </a:cubicBezTo>
                <a:cubicBezTo>
                  <a:pt x="0" y="-16"/>
                  <a:pt x="99" y="-16"/>
                  <a:pt x="99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2798280" y="274320"/>
            <a:ext cx="35640" cy="35640"/>
          </a:xfrm>
          <a:custGeom>
            <a:avLst/>
            <a:gdLst/>
            <a:ahLst/>
            <a:rect l="0" t="0" r="r" b="b"/>
            <a:pathLst>
              <a:path w="99" h="99">
                <a:moveTo>
                  <a:pt x="0" y="49"/>
                </a:moveTo>
                <a:cubicBezTo>
                  <a:pt x="0" y="-16"/>
                  <a:pt x="99" y="-16"/>
                  <a:pt x="99" y="49"/>
                </a:cubicBezTo>
                <a:cubicBezTo>
                  <a:pt x="99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2798280" y="274320"/>
            <a:ext cx="35640" cy="35640"/>
          </a:xfrm>
          <a:custGeom>
            <a:avLst/>
            <a:gdLst/>
            <a:ahLst/>
            <a:rect l="0" t="0" r="r" b="b"/>
            <a:pathLst>
              <a:path fill="none" w="99" h="99">
                <a:moveTo>
                  <a:pt x="99" y="49"/>
                </a:moveTo>
                <a:cubicBezTo>
                  <a:pt x="99" y="116"/>
                  <a:pt x="0" y="116"/>
                  <a:pt x="0" y="49"/>
                </a:cubicBezTo>
                <a:cubicBezTo>
                  <a:pt x="0" y="-16"/>
                  <a:pt x="99" y="-16"/>
                  <a:pt x="99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2682360" y="274320"/>
            <a:ext cx="35640" cy="35640"/>
          </a:xfrm>
          <a:custGeom>
            <a:avLst/>
            <a:gdLst/>
            <a:ahLst/>
            <a:rect l="0" t="0" r="r" b="b"/>
            <a:pathLst>
              <a:path w="99" h="99">
                <a:moveTo>
                  <a:pt x="0" y="49"/>
                </a:moveTo>
                <a:cubicBezTo>
                  <a:pt x="0" y="-16"/>
                  <a:pt x="99" y="-16"/>
                  <a:pt x="99" y="49"/>
                </a:cubicBezTo>
                <a:cubicBezTo>
                  <a:pt x="99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2682360" y="274320"/>
            <a:ext cx="35640" cy="35640"/>
          </a:xfrm>
          <a:custGeom>
            <a:avLst/>
            <a:gdLst/>
            <a:ahLst/>
            <a:rect l="0" t="0" r="r" b="b"/>
            <a:pathLst>
              <a:path fill="none" w="99" h="99">
                <a:moveTo>
                  <a:pt x="99" y="49"/>
                </a:moveTo>
                <a:cubicBezTo>
                  <a:pt x="99" y="116"/>
                  <a:pt x="0" y="116"/>
                  <a:pt x="0" y="49"/>
                </a:cubicBezTo>
                <a:cubicBezTo>
                  <a:pt x="0" y="-16"/>
                  <a:pt x="99" y="-16"/>
                  <a:pt x="99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2566440" y="274320"/>
            <a:ext cx="35640" cy="35640"/>
          </a:xfrm>
          <a:custGeom>
            <a:avLst/>
            <a:gdLst/>
            <a:ahLst/>
            <a:rect l="0" t="0" r="r" b="b"/>
            <a:pathLst>
              <a:path w="99" h="99">
                <a:moveTo>
                  <a:pt x="0" y="49"/>
                </a:moveTo>
                <a:cubicBezTo>
                  <a:pt x="0" y="-16"/>
                  <a:pt x="99" y="-16"/>
                  <a:pt x="99" y="49"/>
                </a:cubicBezTo>
                <a:cubicBezTo>
                  <a:pt x="99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2566440" y="274320"/>
            <a:ext cx="35640" cy="35640"/>
          </a:xfrm>
          <a:custGeom>
            <a:avLst/>
            <a:gdLst/>
            <a:ahLst/>
            <a:rect l="0" t="0" r="r" b="b"/>
            <a:pathLst>
              <a:path fill="none" w="99" h="99">
                <a:moveTo>
                  <a:pt x="99" y="49"/>
                </a:moveTo>
                <a:cubicBezTo>
                  <a:pt x="99" y="116"/>
                  <a:pt x="0" y="116"/>
                  <a:pt x="0" y="49"/>
                </a:cubicBezTo>
                <a:cubicBezTo>
                  <a:pt x="0" y="-16"/>
                  <a:pt x="99" y="-16"/>
                  <a:pt x="99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2450520" y="274320"/>
            <a:ext cx="35640" cy="35640"/>
          </a:xfrm>
          <a:custGeom>
            <a:avLst/>
            <a:gdLst/>
            <a:ahLst/>
            <a:rect l="0" t="0" r="r" b="b"/>
            <a:pathLst>
              <a:path w="99" h="99">
                <a:moveTo>
                  <a:pt x="0" y="49"/>
                </a:moveTo>
                <a:cubicBezTo>
                  <a:pt x="0" y="-16"/>
                  <a:pt x="99" y="-16"/>
                  <a:pt x="99" y="49"/>
                </a:cubicBezTo>
                <a:cubicBezTo>
                  <a:pt x="99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2450520" y="274320"/>
            <a:ext cx="35640" cy="35640"/>
          </a:xfrm>
          <a:custGeom>
            <a:avLst/>
            <a:gdLst/>
            <a:ahLst/>
            <a:rect l="0" t="0" r="r" b="b"/>
            <a:pathLst>
              <a:path fill="none" w="99" h="99">
                <a:moveTo>
                  <a:pt x="99" y="49"/>
                </a:moveTo>
                <a:cubicBezTo>
                  <a:pt x="99" y="116"/>
                  <a:pt x="0" y="116"/>
                  <a:pt x="0" y="49"/>
                </a:cubicBezTo>
                <a:cubicBezTo>
                  <a:pt x="0" y="-16"/>
                  <a:pt x="99" y="-16"/>
                  <a:pt x="99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2334600" y="274320"/>
            <a:ext cx="35640" cy="35640"/>
          </a:xfrm>
          <a:custGeom>
            <a:avLst/>
            <a:gdLst/>
            <a:ahLst/>
            <a:rect l="0" t="0" r="r" b="b"/>
            <a:pathLst>
              <a:path w="99" h="99">
                <a:moveTo>
                  <a:pt x="0" y="49"/>
                </a:moveTo>
                <a:cubicBezTo>
                  <a:pt x="0" y="-16"/>
                  <a:pt x="99" y="-16"/>
                  <a:pt x="99" y="49"/>
                </a:cubicBezTo>
                <a:cubicBezTo>
                  <a:pt x="99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2334600" y="274320"/>
            <a:ext cx="35640" cy="35640"/>
          </a:xfrm>
          <a:custGeom>
            <a:avLst/>
            <a:gdLst/>
            <a:ahLst/>
            <a:rect l="0" t="0" r="r" b="b"/>
            <a:pathLst>
              <a:path fill="none" w="99" h="99">
                <a:moveTo>
                  <a:pt x="99" y="49"/>
                </a:moveTo>
                <a:cubicBezTo>
                  <a:pt x="99" y="116"/>
                  <a:pt x="0" y="116"/>
                  <a:pt x="0" y="49"/>
                </a:cubicBezTo>
                <a:cubicBezTo>
                  <a:pt x="0" y="-16"/>
                  <a:pt x="99" y="-16"/>
                  <a:pt x="99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2218320" y="27432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49"/>
                </a:moveTo>
                <a:cubicBezTo>
                  <a:pt x="0" y="-16"/>
                  <a:pt x="100" y="-16"/>
                  <a:pt x="100" y="49"/>
                </a:cubicBezTo>
                <a:cubicBezTo>
                  <a:pt x="100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2218320" y="27432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49"/>
                </a:moveTo>
                <a:cubicBezTo>
                  <a:pt x="100" y="116"/>
                  <a:pt x="0" y="116"/>
                  <a:pt x="0" y="49"/>
                </a:cubicBezTo>
                <a:cubicBezTo>
                  <a:pt x="0" y="-16"/>
                  <a:pt x="100" y="-16"/>
                  <a:pt x="100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2102400" y="27432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49"/>
                </a:moveTo>
                <a:cubicBezTo>
                  <a:pt x="0" y="-16"/>
                  <a:pt x="100" y="-16"/>
                  <a:pt x="100" y="49"/>
                </a:cubicBezTo>
                <a:cubicBezTo>
                  <a:pt x="100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2102400" y="27432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49"/>
                </a:moveTo>
                <a:cubicBezTo>
                  <a:pt x="100" y="116"/>
                  <a:pt x="0" y="116"/>
                  <a:pt x="0" y="49"/>
                </a:cubicBezTo>
                <a:cubicBezTo>
                  <a:pt x="0" y="-16"/>
                  <a:pt x="100" y="-16"/>
                  <a:pt x="100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986480" y="28008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1986480" y="28008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870560" y="28440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870560" y="28440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754640" y="28584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5"/>
                  <a:pt x="0" y="115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1754640" y="28584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50"/>
                </a:moveTo>
                <a:cubicBezTo>
                  <a:pt x="100" y="115"/>
                  <a:pt x="0" y="115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638720" y="29592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1638720" y="29592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522800" y="31032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1522800" y="31032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406880" y="31896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406880" y="31896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1290960" y="33588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1290960" y="33588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1175040" y="35604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1175040" y="35604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059120" y="38052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1059120" y="38052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943200" y="42228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943200" y="42228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827280" y="51084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827280" y="51084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711360" y="66024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49"/>
                </a:moveTo>
                <a:cubicBezTo>
                  <a:pt x="0" y="-16"/>
                  <a:pt x="100" y="-16"/>
                  <a:pt x="100" y="49"/>
                </a:cubicBezTo>
                <a:cubicBezTo>
                  <a:pt x="100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711360" y="66024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49"/>
                </a:moveTo>
                <a:cubicBezTo>
                  <a:pt x="100" y="116"/>
                  <a:pt x="0" y="116"/>
                  <a:pt x="0" y="49"/>
                </a:cubicBezTo>
                <a:cubicBezTo>
                  <a:pt x="0" y="-16"/>
                  <a:pt x="100" y="-16"/>
                  <a:pt x="100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595440" y="90108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595440" y="90108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262520" y="446760"/>
            <a:ext cx="9536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Reporting completeness c(t)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88680" y="1136520"/>
            <a:ext cx="4964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717171"/>
                </a:solidFill>
                <a:effectLst/>
                <a:uFillTx/>
                <a:latin typeface="Arial"/>
                <a:ea typeface="Arial"/>
              </a:rPr>
              <a:t>Publication lag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88680" y="1234080"/>
            <a:ext cx="88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Median 1 yr; mean 2.09 yr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 flipV="1">
            <a:off x="372600" y="227880"/>
            <a:ext cx="0" cy="152028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88680" y="1325520"/>
            <a:ext cx="677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81.7% lagged ≥ 1 yr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291600" y="17038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53440" y="13384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53440" y="9730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50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53440" y="6076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75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347400" y="174816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347400" y="138276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347400" y="101736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347400" y="65196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347400" y="28656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372600" y="1748160"/>
            <a:ext cx="287244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 flipV="1">
            <a:off x="497160" y="17481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 flipV="1">
            <a:off x="1076760" y="17481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 flipV="1">
            <a:off x="1656720" y="17481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 flipV="1">
            <a:off x="2236320" y="17481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 flipV="1">
            <a:off x="2815920" y="17481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215280" y="242280"/>
            <a:ext cx="1278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100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478440" y="17784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058040" y="17784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618560" y="177840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2198160" y="177840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2778120" y="177840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964440" y="1905480"/>
            <a:ext cx="16074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Years between discovery and publication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 rot="16200000">
            <a:off x="-51480" y="945000"/>
            <a:ext cx="3297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Per cent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89720" y="63360"/>
            <a:ext cx="17449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Records reach print years after discovery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3617640" y="227880"/>
            <a:ext cx="2872440" cy="1520640"/>
          </a:xfrm>
          <a:custGeom>
            <a:avLst/>
            <a:gdLst/>
            <a:ahLst/>
            <a:rect l="0" t="0" r="r" b="b"/>
            <a:pathLst>
              <a:path w="7979" h="4224">
                <a:moveTo>
                  <a:pt x="0" y="0"/>
                </a:moveTo>
                <a:lnTo>
                  <a:pt x="7979" y="0"/>
                </a:lnTo>
                <a:lnTo>
                  <a:pt x="7979" y="4224"/>
                </a:lnTo>
                <a:lnTo>
                  <a:pt x="0" y="42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6060960" y="227880"/>
            <a:ext cx="357840" cy="1520640"/>
          </a:xfrm>
          <a:custGeom>
            <a:avLst/>
            <a:gdLst/>
            <a:ahLst/>
            <a:rect l="0" t="0" r="r" b="b"/>
            <a:pathLst>
              <a:path w="994" h="4224">
                <a:moveTo>
                  <a:pt x="0" y="0"/>
                </a:moveTo>
                <a:lnTo>
                  <a:pt x="994" y="0"/>
                </a:lnTo>
                <a:lnTo>
                  <a:pt x="994" y="4224"/>
                </a:lnTo>
                <a:lnTo>
                  <a:pt x="0" y="4224"/>
                </a:lnTo>
                <a:lnTo>
                  <a:pt x="0" y="0"/>
                </a:lnTo>
                <a:close/>
              </a:path>
            </a:pathLst>
          </a:custGeom>
          <a:solidFill>
            <a:srgbClr val="F4F1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5040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6144480" y="1559880"/>
            <a:ext cx="204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Right-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3736800" y="615600"/>
            <a:ext cx="2622240" cy="1033560"/>
          </a:xfrm>
          <a:custGeom>
            <a:avLst/>
            <a:gdLst/>
            <a:ahLst/>
            <a:rect l="0" t="0" r="r" b="b"/>
            <a:pathLst>
              <a:path fill="none" w="7284" h="2871">
                <a:moveTo>
                  <a:pt x="0" y="2650"/>
                </a:moveTo>
                <a:lnTo>
                  <a:pt x="331" y="2871"/>
                </a:lnTo>
                <a:lnTo>
                  <a:pt x="663" y="2097"/>
                </a:lnTo>
                <a:lnTo>
                  <a:pt x="994" y="2428"/>
                </a:lnTo>
                <a:lnTo>
                  <a:pt x="1325" y="1766"/>
                </a:lnTo>
                <a:lnTo>
                  <a:pt x="1656" y="1987"/>
                </a:lnTo>
                <a:lnTo>
                  <a:pt x="1987" y="2705"/>
                </a:lnTo>
                <a:lnTo>
                  <a:pt x="2318" y="1931"/>
                </a:lnTo>
                <a:lnTo>
                  <a:pt x="2649" y="1545"/>
                </a:lnTo>
                <a:lnTo>
                  <a:pt x="2980" y="1490"/>
                </a:lnTo>
                <a:lnTo>
                  <a:pt x="3311" y="1876"/>
                </a:lnTo>
                <a:lnTo>
                  <a:pt x="3642" y="1214"/>
                </a:lnTo>
                <a:lnTo>
                  <a:pt x="3974" y="1159"/>
                </a:lnTo>
                <a:lnTo>
                  <a:pt x="4305" y="1269"/>
                </a:lnTo>
                <a:lnTo>
                  <a:pt x="4636" y="662"/>
                </a:lnTo>
                <a:lnTo>
                  <a:pt x="4967" y="662"/>
                </a:lnTo>
                <a:lnTo>
                  <a:pt x="5298" y="1545"/>
                </a:lnTo>
                <a:lnTo>
                  <a:pt x="5629" y="0"/>
                </a:lnTo>
                <a:lnTo>
                  <a:pt x="5960" y="662"/>
                </a:lnTo>
                <a:lnTo>
                  <a:pt x="6291" y="938"/>
                </a:lnTo>
                <a:lnTo>
                  <a:pt x="6622" y="1269"/>
                </a:lnTo>
                <a:lnTo>
                  <a:pt x="6953" y="993"/>
                </a:lnTo>
                <a:lnTo>
                  <a:pt x="7284" y="2373"/>
                </a:lnTo>
              </a:path>
            </a:pathLst>
          </a:custGeom>
          <a:ln w="13320">
            <a:solidFill>
              <a:srgbClr val="1A1A1A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3736800" y="416880"/>
            <a:ext cx="2622240" cy="1252080"/>
          </a:xfrm>
          <a:custGeom>
            <a:avLst/>
            <a:gdLst/>
            <a:ahLst/>
            <a:rect l="0" t="0" r="r" b="b"/>
            <a:pathLst>
              <a:path fill="none" w="7284" h="3478">
                <a:moveTo>
                  <a:pt x="0" y="3423"/>
                </a:moveTo>
                <a:lnTo>
                  <a:pt x="331" y="3202"/>
                </a:lnTo>
                <a:lnTo>
                  <a:pt x="663" y="3478"/>
                </a:lnTo>
                <a:lnTo>
                  <a:pt x="994" y="3423"/>
                </a:lnTo>
                <a:lnTo>
                  <a:pt x="1325" y="1877"/>
                </a:lnTo>
                <a:lnTo>
                  <a:pt x="1656" y="2760"/>
                </a:lnTo>
                <a:lnTo>
                  <a:pt x="1987" y="3147"/>
                </a:lnTo>
                <a:lnTo>
                  <a:pt x="2318" y="2816"/>
                </a:lnTo>
                <a:lnTo>
                  <a:pt x="2649" y="1767"/>
                </a:lnTo>
                <a:lnTo>
                  <a:pt x="2980" y="2264"/>
                </a:lnTo>
                <a:lnTo>
                  <a:pt x="3311" y="2871"/>
                </a:lnTo>
                <a:lnTo>
                  <a:pt x="3642" y="2208"/>
                </a:lnTo>
                <a:lnTo>
                  <a:pt x="3974" y="1932"/>
                </a:lnTo>
                <a:lnTo>
                  <a:pt x="4305" y="2374"/>
                </a:lnTo>
                <a:lnTo>
                  <a:pt x="4636" y="2208"/>
                </a:lnTo>
                <a:lnTo>
                  <a:pt x="4967" y="1215"/>
                </a:lnTo>
                <a:lnTo>
                  <a:pt x="5298" y="1436"/>
                </a:lnTo>
                <a:lnTo>
                  <a:pt x="5629" y="1160"/>
                </a:lnTo>
                <a:lnTo>
                  <a:pt x="5960" y="1822"/>
                </a:lnTo>
                <a:lnTo>
                  <a:pt x="6291" y="1877"/>
                </a:lnTo>
                <a:lnTo>
                  <a:pt x="6622" y="1270"/>
                </a:lnTo>
                <a:lnTo>
                  <a:pt x="6953" y="386"/>
                </a:lnTo>
                <a:lnTo>
                  <a:pt x="7284" y="0"/>
                </a:lnTo>
              </a:path>
            </a:pathLst>
          </a:custGeom>
          <a:ln w="13320">
            <a:solidFill>
              <a:srgbClr val="9A9A9A"/>
            </a:solidFill>
            <a:custDash>
              <a:ds d="202703" sp="202703"/>
            </a:custDash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6341040" y="145224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6341040" y="145224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5506560" y="83628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5506560" y="83628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5983560" y="935640"/>
            <a:ext cx="35640" cy="36360"/>
          </a:xfrm>
          <a:custGeom>
            <a:avLst/>
            <a:gdLst/>
            <a:ahLst/>
            <a:rect l="0" t="0" r="r" b="b"/>
            <a:pathLst>
              <a:path w="99" h="101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5983560" y="935640"/>
            <a:ext cx="35640" cy="36360"/>
          </a:xfrm>
          <a:custGeom>
            <a:avLst/>
            <a:gdLst/>
            <a:ahLst/>
            <a:rect l="0" t="0" r="r" b="b"/>
            <a:pathLst>
              <a:path fill="none" w="99" h="101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5029920" y="103464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5029920" y="103464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5387400" y="83628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387400" y="83628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4672440" y="115416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4672440" y="115416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4910760" y="127332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4910760" y="127332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5625720" y="115416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5625720" y="115416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5864400" y="83628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5864400" y="83628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4195800" y="123336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4195800" y="123336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4434120" y="157140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4434120" y="157140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4791600" y="113400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4791600" y="113400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5745240" y="597600"/>
            <a:ext cx="35640" cy="35640"/>
          </a:xfrm>
          <a:custGeom>
            <a:avLst/>
            <a:gdLst/>
            <a:ahLst/>
            <a:rect l="0" t="0" r="r" b="b"/>
            <a:pathLst>
              <a:path w="99" h="99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6"/>
                  <a:pt x="0" y="116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5745240" y="597600"/>
            <a:ext cx="35640" cy="35640"/>
          </a:xfrm>
          <a:custGeom>
            <a:avLst/>
            <a:gdLst/>
            <a:ahLst/>
            <a:rect l="0" t="0" r="r" b="b"/>
            <a:pathLst>
              <a:path fill="none" w="99" h="99">
                <a:moveTo>
                  <a:pt x="99" y="50"/>
                </a:moveTo>
                <a:cubicBezTo>
                  <a:pt x="99" y="116"/>
                  <a:pt x="0" y="116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6102720" y="105480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102720" y="105480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5268240" y="105480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5268240" y="105480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6221880" y="95544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6221880" y="95544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4076640" y="147204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4076640" y="147204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4553280" y="129312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4553280" y="129312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3838320" y="163080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6"/>
                  <a:pt x="0" y="116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3838320" y="163080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6"/>
                  <a:pt x="0" y="116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4314960" y="1312920"/>
            <a:ext cx="35640" cy="35640"/>
          </a:xfrm>
          <a:custGeom>
            <a:avLst/>
            <a:gdLst/>
            <a:ahLst/>
            <a:rect l="0" t="0" r="r" b="b"/>
            <a:pathLst>
              <a:path w="99" h="99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5"/>
                  <a:pt x="0" y="115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4314960" y="1312920"/>
            <a:ext cx="35640" cy="35640"/>
          </a:xfrm>
          <a:custGeom>
            <a:avLst/>
            <a:gdLst/>
            <a:ahLst/>
            <a:rect l="0" t="0" r="r" b="b"/>
            <a:pathLst>
              <a:path fill="none" w="99" h="99">
                <a:moveTo>
                  <a:pt x="99" y="50"/>
                </a:moveTo>
                <a:cubicBezTo>
                  <a:pt x="99" y="115"/>
                  <a:pt x="0" y="115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149080" y="101484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5149080" y="101484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3957480" y="1352880"/>
            <a:ext cx="35640" cy="36360"/>
          </a:xfrm>
          <a:custGeom>
            <a:avLst/>
            <a:gdLst/>
            <a:ahLst/>
            <a:rect l="0" t="0" r="r" b="b"/>
            <a:pathLst>
              <a:path w="99" h="101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3957480" y="1352880"/>
            <a:ext cx="35640" cy="36360"/>
          </a:xfrm>
          <a:custGeom>
            <a:avLst/>
            <a:gdLst/>
            <a:ahLst/>
            <a:rect l="0" t="0" r="r" b="b"/>
            <a:pathLst>
              <a:path fill="none" w="99" h="101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3719160" y="155160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3719160" y="155160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6341040" y="39888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5"/>
                  <a:pt x="0" y="115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6341040" y="39888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50"/>
                </a:moveTo>
                <a:cubicBezTo>
                  <a:pt x="100" y="115"/>
                  <a:pt x="0" y="115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5745240" y="81612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6"/>
                  <a:pt x="0" y="116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5745240" y="81612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6"/>
                  <a:pt x="0" y="116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5625720" y="91548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5625720" y="91548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5506560" y="83628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5506560" y="83628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5029920" y="119376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49"/>
                </a:moveTo>
                <a:cubicBezTo>
                  <a:pt x="0" y="-16"/>
                  <a:pt x="100" y="-16"/>
                  <a:pt x="100" y="49"/>
                </a:cubicBezTo>
                <a:cubicBezTo>
                  <a:pt x="100" y="116"/>
                  <a:pt x="0" y="116"/>
                  <a:pt x="0" y="49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5029920" y="119376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49"/>
                </a:moveTo>
                <a:cubicBezTo>
                  <a:pt x="100" y="116"/>
                  <a:pt x="0" y="116"/>
                  <a:pt x="0" y="49"/>
                </a:cubicBezTo>
                <a:cubicBezTo>
                  <a:pt x="0" y="-16"/>
                  <a:pt x="100" y="-16"/>
                  <a:pt x="100" y="49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5268240" y="125352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5268240" y="125352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5864400" y="105480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5864400" y="105480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6221880" y="53820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6221880" y="53820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4672440" y="103464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4672440" y="103464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6102720" y="85608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6"/>
                  <a:pt x="0" y="116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6102720" y="85608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6"/>
                  <a:pt x="0" y="116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4434120" y="153144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4434120" y="153144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5983560" y="1074600"/>
            <a:ext cx="35640" cy="36360"/>
          </a:xfrm>
          <a:custGeom>
            <a:avLst/>
            <a:gdLst/>
            <a:ahLst/>
            <a:rect l="0" t="0" r="r" b="b"/>
            <a:pathLst>
              <a:path w="99" h="101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5983560" y="1074600"/>
            <a:ext cx="35640" cy="36360"/>
          </a:xfrm>
          <a:custGeom>
            <a:avLst/>
            <a:gdLst/>
            <a:ahLst/>
            <a:rect l="0" t="0" r="r" b="b"/>
            <a:pathLst>
              <a:path fill="none" w="99" h="101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4314960" y="139248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4314960" y="139248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4910760" y="143208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4910760" y="143208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4195800" y="1074600"/>
            <a:ext cx="35640" cy="36360"/>
          </a:xfrm>
          <a:custGeom>
            <a:avLst/>
            <a:gdLst/>
            <a:ahLst/>
            <a:rect l="0" t="0" r="r" b="b"/>
            <a:pathLst>
              <a:path w="99" h="101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4195800" y="1074600"/>
            <a:ext cx="35640" cy="36360"/>
          </a:xfrm>
          <a:custGeom>
            <a:avLst/>
            <a:gdLst/>
            <a:ahLst/>
            <a:rect l="0" t="0" r="r" b="b"/>
            <a:pathLst>
              <a:path fill="none" w="99" h="101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5387400" y="119376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49"/>
                </a:moveTo>
                <a:cubicBezTo>
                  <a:pt x="0" y="-16"/>
                  <a:pt x="100" y="-16"/>
                  <a:pt x="100" y="49"/>
                </a:cubicBezTo>
                <a:cubicBezTo>
                  <a:pt x="100" y="116"/>
                  <a:pt x="0" y="116"/>
                  <a:pt x="0" y="49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5387400" y="119376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49"/>
                </a:moveTo>
                <a:cubicBezTo>
                  <a:pt x="100" y="116"/>
                  <a:pt x="0" y="116"/>
                  <a:pt x="0" y="49"/>
                </a:cubicBezTo>
                <a:cubicBezTo>
                  <a:pt x="0" y="-16"/>
                  <a:pt x="100" y="-16"/>
                  <a:pt x="100" y="49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3957480" y="165096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3957480" y="165096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3719160" y="163080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6"/>
                  <a:pt x="0" y="116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3719160" y="163080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6"/>
                  <a:pt x="0" y="116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4553280" y="141228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5"/>
                  <a:pt x="0" y="115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4553280" y="141228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50"/>
                </a:moveTo>
                <a:cubicBezTo>
                  <a:pt x="100" y="115"/>
                  <a:pt x="0" y="115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4076640" y="163080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6"/>
                  <a:pt x="0" y="116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4076640" y="163080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6"/>
                  <a:pt x="0" y="116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5149080" y="109440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5149080" y="109440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3838320" y="155160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3838320" y="155160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4791600" y="121356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4791600" y="121356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6093720" y="1642320"/>
            <a:ext cx="314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censored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5226840" y="571320"/>
            <a:ext cx="504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Discovery year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5797440" y="312840"/>
            <a:ext cx="542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717171"/>
                </a:solidFill>
                <a:effectLst/>
                <a:uFillTx/>
                <a:latin typeface="Arial"/>
                <a:ea typeface="Arial"/>
              </a:rPr>
              <a:t>Publication year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3689280" y="264960"/>
            <a:ext cx="576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83.1% of records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 flipV="1">
            <a:off x="3617640" y="227880"/>
            <a:ext cx="0" cy="152028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3689280" y="356400"/>
            <a:ext cx="420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change year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3536640" y="17038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3498480" y="130644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3498480" y="90900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40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3592080" y="174816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3592080" y="135072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3592080" y="95328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3592080" y="55584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3617640" y="1748160"/>
            <a:ext cx="287208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 flipV="1">
            <a:off x="4094280" y="17481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 flipV="1">
            <a:off x="4690080" y="17481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 flipV="1">
            <a:off x="5286240" y="17481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 flipV="1">
            <a:off x="5882040" y="17481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3498480" y="5115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60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4018320" y="17784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2005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4614120" y="17784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5209920" y="17784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2015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5806080" y="17784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2020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4965120" y="1905480"/>
            <a:ext cx="1875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Year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 rot="16200000">
            <a:off x="2948400" y="960840"/>
            <a:ext cx="8949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New provincial records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3472920" y="63360"/>
            <a:ext cx="19360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Publication-year dating fakes a terminal surge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372600" y="2273040"/>
            <a:ext cx="6117480" cy="1550880"/>
          </a:xfrm>
          <a:custGeom>
            <a:avLst/>
            <a:gdLst/>
            <a:ahLst/>
            <a:rect l="0" t="0" r="r" b="b"/>
            <a:pathLst>
              <a:path w="16993" h="4308">
                <a:moveTo>
                  <a:pt x="0" y="0"/>
                </a:moveTo>
                <a:lnTo>
                  <a:pt x="16993" y="0"/>
                </a:lnTo>
                <a:lnTo>
                  <a:pt x="16993" y="4308"/>
                </a:lnTo>
                <a:lnTo>
                  <a:pt x="0" y="43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729720" y="2273040"/>
            <a:ext cx="893520" cy="1550880"/>
          </a:xfrm>
          <a:custGeom>
            <a:avLst/>
            <a:gdLst/>
            <a:ahLst/>
            <a:rect l="0" t="0" r="r" b="b"/>
            <a:pathLst>
              <a:path w="2482" h="4308">
                <a:moveTo>
                  <a:pt x="0" y="0"/>
                </a:moveTo>
                <a:lnTo>
                  <a:pt x="2482" y="0"/>
                </a:lnTo>
                <a:lnTo>
                  <a:pt x="2482" y="4308"/>
                </a:lnTo>
                <a:lnTo>
                  <a:pt x="0" y="4308"/>
                </a:lnTo>
                <a:lnTo>
                  <a:pt x="0" y="0"/>
                </a:lnTo>
                <a:close/>
              </a:path>
            </a:pathLst>
          </a:custGeom>
          <a:solidFill>
            <a:srgbClr val="F4F1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332712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506520" y="3565080"/>
            <a:ext cx="4732920" cy="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729720" y="2934000"/>
            <a:ext cx="4465440" cy="107640"/>
          </a:xfrm>
          <a:custGeom>
            <a:avLst/>
            <a:gdLst/>
            <a:ahLst/>
            <a:rect l="0" t="0" r="r" b="b"/>
            <a:pathLst>
              <a:path fill="none" w="12404" h="299">
                <a:moveTo>
                  <a:pt x="0" y="183"/>
                </a:moveTo>
                <a:lnTo>
                  <a:pt x="2481" y="0"/>
                </a:lnTo>
                <a:lnTo>
                  <a:pt x="4962" y="19"/>
                </a:lnTo>
                <a:lnTo>
                  <a:pt x="7443" y="22"/>
                </a:lnTo>
                <a:lnTo>
                  <a:pt x="9924" y="36"/>
                </a:lnTo>
                <a:lnTo>
                  <a:pt x="12404" y="299"/>
                </a:lnTo>
              </a:path>
            </a:pathLst>
          </a:custGeom>
          <a:ln w="13320">
            <a:solidFill>
              <a:srgbClr val="D1552C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729720" y="3573000"/>
            <a:ext cx="4465440" cy="207360"/>
          </a:xfrm>
          <a:custGeom>
            <a:avLst/>
            <a:gdLst/>
            <a:ahLst/>
            <a:rect l="0" t="0" r="r" b="b"/>
            <a:pathLst>
              <a:path fill="none" w="12404" h="576">
                <a:moveTo>
                  <a:pt x="0" y="576"/>
                </a:moveTo>
                <a:lnTo>
                  <a:pt x="2481" y="94"/>
                </a:lnTo>
                <a:lnTo>
                  <a:pt x="4962" y="146"/>
                </a:lnTo>
                <a:lnTo>
                  <a:pt x="7443" y="147"/>
                </a:lnTo>
                <a:lnTo>
                  <a:pt x="9924" y="134"/>
                </a:lnTo>
                <a:lnTo>
                  <a:pt x="12404" y="0"/>
                </a:lnTo>
              </a:path>
            </a:pathLst>
          </a:custGeom>
          <a:ln w="13320">
            <a:solidFill>
              <a:srgbClr val="9A9A9A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729720" y="2434320"/>
            <a:ext cx="4465440" cy="741960"/>
          </a:xfrm>
          <a:custGeom>
            <a:avLst/>
            <a:gdLst/>
            <a:ahLst/>
            <a:rect l="0" t="0" r="r" b="b"/>
            <a:pathLst>
              <a:path fill="none" w="12404" h="2061">
                <a:moveTo>
                  <a:pt x="0" y="0"/>
                </a:moveTo>
                <a:lnTo>
                  <a:pt x="2481" y="1909"/>
                </a:lnTo>
                <a:lnTo>
                  <a:pt x="4962" y="2061"/>
                </a:lnTo>
                <a:lnTo>
                  <a:pt x="7443" y="1945"/>
                </a:lnTo>
                <a:lnTo>
                  <a:pt x="9924" y="1278"/>
                </a:lnTo>
                <a:lnTo>
                  <a:pt x="12404" y="1430"/>
                </a:lnTo>
              </a:path>
            </a:pathLst>
          </a:custGeom>
          <a:ln w="13320">
            <a:solidFill>
              <a:srgbClr val="1F5F9E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729720" y="3743280"/>
            <a:ext cx="4465440" cy="53280"/>
          </a:xfrm>
          <a:custGeom>
            <a:avLst/>
            <a:gdLst/>
            <a:ahLst/>
            <a:rect l="0" t="0" r="r" b="b"/>
            <a:pathLst>
              <a:path fill="none" w="12404" h="148">
                <a:moveTo>
                  <a:pt x="0" y="0"/>
                </a:moveTo>
                <a:lnTo>
                  <a:pt x="2481" y="96"/>
                </a:lnTo>
                <a:lnTo>
                  <a:pt x="4962" y="80"/>
                </a:lnTo>
                <a:lnTo>
                  <a:pt x="7443" y="81"/>
                </a:lnTo>
                <a:lnTo>
                  <a:pt x="9924" y="86"/>
                </a:lnTo>
                <a:lnTo>
                  <a:pt x="12404" y="148"/>
                </a:lnTo>
              </a:path>
            </a:pathLst>
          </a:custGeom>
          <a:ln w="13320">
            <a:solidFill>
              <a:srgbClr val="3B3B3B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708120" y="2412360"/>
            <a:ext cx="43920" cy="44280"/>
          </a:xfrm>
          <a:custGeom>
            <a:avLst/>
            <a:gdLst/>
            <a:ahLst/>
            <a:rect l="0" t="0" r="r" b="b"/>
            <a:pathLst>
              <a:path w="122" h="123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4"/>
                  <a:pt x="0" y="144"/>
                  <a:pt x="0" y="62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708120" y="2412360"/>
            <a:ext cx="43920" cy="44280"/>
          </a:xfrm>
          <a:custGeom>
            <a:avLst/>
            <a:gdLst/>
            <a:ahLst/>
            <a:rect l="0" t="0" r="r" b="b"/>
            <a:pathLst>
              <a:path fill="none" w="122" h="123">
                <a:moveTo>
                  <a:pt x="122" y="62"/>
                </a:moveTo>
                <a:cubicBezTo>
                  <a:pt x="122" y="144"/>
                  <a:pt x="0" y="144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1600920" y="309924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2"/>
                </a:moveTo>
                <a:cubicBezTo>
                  <a:pt x="0" y="-20"/>
                  <a:pt x="123" y="-20"/>
                  <a:pt x="123" y="62"/>
                </a:cubicBezTo>
                <a:cubicBezTo>
                  <a:pt x="123" y="143"/>
                  <a:pt x="0" y="143"/>
                  <a:pt x="0" y="62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1600920" y="309924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2"/>
                </a:moveTo>
                <a:cubicBezTo>
                  <a:pt x="123" y="143"/>
                  <a:pt x="0" y="143"/>
                  <a:pt x="0" y="62"/>
                </a:cubicBezTo>
                <a:cubicBezTo>
                  <a:pt x="0" y="-20"/>
                  <a:pt x="123" y="-20"/>
                  <a:pt x="123" y="62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2494080" y="315432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1"/>
                </a:moveTo>
                <a:cubicBezTo>
                  <a:pt x="0" y="-20"/>
                  <a:pt x="122" y="-20"/>
                  <a:pt x="122" y="61"/>
                </a:cubicBezTo>
                <a:cubicBezTo>
                  <a:pt x="122" y="143"/>
                  <a:pt x="0" y="143"/>
                  <a:pt x="0" y="61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2494080" y="315432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1"/>
                </a:moveTo>
                <a:cubicBezTo>
                  <a:pt x="122" y="143"/>
                  <a:pt x="0" y="143"/>
                  <a:pt x="0" y="61"/>
                </a:cubicBezTo>
                <a:cubicBezTo>
                  <a:pt x="0" y="-20"/>
                  <a:pt x="122" y="-20"/>
                  <a:pt x="122" y="61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3386880" y="3112560"/>
            <a:ext cx="44280" cy="44280"/>
          </a:xfrm>
          <a:custGeom>
            <a:avLst/>
            <a:gdLst/>
            <a:ahLst/>
            <a:rect l="0" t="0" r="r" b="b"/>
            <a:pathLst>
              <a:path w="123" h="123">
                <a:moveTo>
                  <a:pt x="0" y="62"/>
                </a:moveTo>
                <a:cubicBezTo>
                  <a:pt x="0" y="-20"/>
                  <a:pt x="123" y="-20"/>
                  <a:pt x="123" y="62"/>
                </a:cubicBezTo>
                <a:cubicBezTo>
                  <a:pt x="123" y="144"/>
                  <a:pt x="0" y="144"/>
                  <a:pt x="0" y="62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3386880" y="3112560"/>
            <a:ext cx="44280" cy="44280"/>
          </a:xfrm>
          <a:custGeom>
            <a:avLst/>
            <a:gdLst/>
            <a:ahLst/>
            <a:rect l="0" t="0" r="r" b="b"/>
            <a:pathLst>
              <a:path fill="none" w="123" h="123">
                <a:moveTo>
                  <a:pt x="123" y="62"/>
                </a:moveTo>
                <a:cubicBezTo>
                  <a:pt x="123" y="144"/>
                  <a:pt x="0" y="144"/>
                  <a:pt x="0" y="62"/>
                </a:cubicBezTo>
                <a:cubicBezTo>
                  <a:pt x="0" y="-20"/>
                  <a:pt x="123" y="-20"/>
                  <a:pt x="123" y="62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4280040" y="287208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1"/>
                </a:moveTo>
                <a:cubicBezTo>
                  <a:pt x="0" y="-20"/>
                  <a:pt x="122" y="-20"/>
                  <a:pt x="122" y="61"/>
                </a:cubicBezTo>
                <a:cubicBezTo>
                  <a:pt x="122" y="143"/>
                  <a:pt x="0" y="143"/>
                  <a:pt x="0" y="61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4280040" y="287208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1"/>
                </a:moveTo>
                <a:cubicBezTo>
                  <a:pt x="122" y="143"/>
                  <a:pt x="0" y="143"/>
                  <a:pt x="0" y="61"/>
                </a:cubicBezTo>
                <a:cubicBezTo>
                  <a:pt x="0" y="-20"/>
                  <a:pt x="122" y="-20"/>
                  <a:pt x="122" y="61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5173200" y="292680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3"/>
                  <a:pt x="0" y="143"/>
                  <a:pt x="0" y="62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5173200" y="292680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2"/>
                </a:moveTo>
                <a:cubicBezTo>
                  <a:pt x="122" y="143"/>
                  <a:pt x="0" y="143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708120" y="2977560"/>
            <a:ext cx="43920" cy="44280"/>
          </a:xfrm>
          <a:custGeom>
            <a:avLst/>
            <a:gdLst/>
            <a:ahLst/>
            <a:rect l="0" t="0" r="r" b="b"/>
            <a:pathLst>
              <a:path w="122" h="123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4"/>
                  <a:pt x="0" y="144"/>
                  <a:pt x="0" y="62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708120" y="2977560"/>
            <a:ext cx="43920" cy="44280"/>
          </a:xfrm>
          <a:custGeom>
            <a:avLst/>
            <a:gdLst/>
            <a:ahLst/>
            <a:rect l="0" t="0" r="r" b="b"/>
            <a:pathLst>
              <a:path fill="none" w="122" h="123">
                <a:moveTo>
                  <a:pt x="122" y="62"/>
                </a:moveTo>
                <a:cubicBezTo>
                  <a:pt x="122" y="144"/>
                  <a:pt x="0" y="144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1600920" y="291204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1"/>
                </a:moveTo>
                <a:cubicBezTo>
                  <a:pt x="0" y="-20"/>
                  <a:pt x="123" y="-20"/>
                  <a:pt x="123" y="61"/>
                </a:cubicBezTo>
                <a:cubicBezTo>
                  <a:pt x="123" y="143"/>
                  <a:pt x="0" y="143"/>
                  <a:pt x="0" y="61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1600920" y="291204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1"/>
                </a:moveTo>
                <a:cubicBezTo>
                  <a:pt x="123" y="143"/>
                  <a:pt x="0" y="143"/>
                  <a:pt x="0" y="61"/>
                </a:cubicBezTo>
                <a:cubicBezTo>
                  <a:pt x="0" y="-20"/>
                  <a:pt x="123" y="-20"/>
                  <a:pt x="123" y="61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2494080" y="291924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3"/>
                  <a:pt x="0" y="143"/>
                  <a:pt x="0" y="62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2494080" y="291924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2"/>
                </a:moveTo>
                <a:cubicBezTo>
                  <a:pt x="122" y="143"/>
                  <a:pt x="0" y="143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3386880" y="291996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2"/>
                </a:moveTo>
                <a:cubicBezTo>
                  <a:pt x="0" y="-20"/>
                  <a:pt x="123" y="-20"/>
                  <a:pt x="123" y="62"/>
                </a:cubicBezTo>
                <a:cubicBezTo>
                  <a:pt x="123" y="143"/>
                  <a:pt x="0" y="143"/>
                  <a:pt x="0" y="62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3386880" y="291996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2"/>
                </a:moveTo>
                <a:cubicBezTo>
                  <a:pt x="123" y="143"/>
                  <a:pt x="0" y="143"/>
                  <a:pt x="0" y="62"/>
                </a:cubicBezTo>
                <a:cubicBezTo>
                  <a:pt x="0" y="-20"/>
                  <a:pt x="123" y="-20"/>
                  <a:pt x="123" y="62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4280040" y="292536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3"/>
                  <a:pt x="0" y="143"/>
                  <a:pt x="0" y="62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4280040" y="292536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2"/>
                </a:moveTo>
                <a:cubicBezTo>
                  <a:pt x="122" y="143"/>
                  <a:pt x="0" y="143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5173200" y="301968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3"/>
                  <a:pt x="0" y="143"/>
                  <a:pt x="0" y="62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5173200" y="301968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2"/>
                </a:moveTo>
                <a:cubicBezTo>
                  <a:pt x="122" y="143"/>
                  <a:pt x="0" y="143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708120" y="375804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3"/>
                  <a:pt x="0" y="143"/>
                  <a:pt x="0" y="62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708120" y="375804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2"/>
                </a:moveTo>
                <a:cubicBezTo>
                  <a:pt x="122" y="143"/>
                  <a:pt x="0" y="143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1600920" y="358488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2"/>
                </a:moveTo>
                <a:cubicBezTo>
                  <a:pt x="0" y="-20"/>
                  <a:pt x="123" y="-20"/>
                  <a:pt x="123" y="62"/>
                </a:cubicBezTo>
                <a:cubicBezTo>
                  <a:pt x="123" y="143"/>
                  <a:pt x="0" y="143"/>
                  <a:pt x="0" y="62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1600920" y="358488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2"/>
                </a:moveTo>
                <a:cubicBezTo>
                  <a:pt x="123" y="143"/>
                  <a:pt x="0" y="143"/>
                  <a:pt x="0" y="62"/>
                </a:cubicBezTo>
                <a:cubicBezTo>
                  <a:pt x="0" y="-20"/>
                  <a:pt x="123" y="-20"/>
                  <a:pt x="123" y="62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2494080" y="360324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1"/>
                </a:moveTo>
                <a:cubicBezTo>
                  <a:pt x="0" y="-20"/>
                  <a:pt x="122" y="-20"/>
                  <a:pt x="122" y="61"/>
                </a:cubicBezTo>
                <a:cubicBezTo>
                  <a:pt x="122" y="143"/>
                  <a:pt x="0" y="143"/>
                  <a:pt x="0" y="61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2494080" y="360324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1"/>
                </a:moveTo>
                <a:cubicBezTo>
                  <a:pt x="122" y="143"/>
                  <a:pt x="0" y="143"/>
                  <a:pt x="0" y="61"/>
                </a:cubicBezTo>
                <a:cubicBezTo>
                  <a:pt x="0" y="-20"/>
                  <a:pt x="122" y="-20"/>
                  <a:pt x="122" y="61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3386880" y="360360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1"/>
                </a:moveTo>
                <a:cubicBezTo>
                  <a:pt x="0" y="-20"/>
                  <a:pt x="123" y="-20"/>
                  <a:pt x="123" y="61"/>
                </a:cubicBezTo>
                <a:cubicBezTo>
                  <a:pt x="123" y="143"/>
                  <a:pt x="0" y="143"/>
                  <a:pt x="0" y="61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3386880" y="360360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1"/>
                </a:moveTo>
                <a:cubicBezTo>
                  <a:pt x="123" y="143"/>
                  <a:pt x="0" y="143"/>
                  <a:pt x="0" y="61"/>
                </a:cubicBezTo>
                <a:cubicBezTo>
                  <a:pt x="0" y="-20"/>
                  <a:pt x="123" y="-20"/>
                  <a:pt x="123" y="61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4280040" y="3599280"/>
            <a:ext cx="43920" cy="44280"/>
          </a:xfrm>
          <a:custGeom>
            <a:avLst/>
            <a:gdLst/>
            <a:ahLst/>
            <a:rect l="0" t="0" r="r" b="b"/>
            <a:pathLst>
              <a:path w="122" h="123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4"/>
                  <a:pt x="0" y="144"/>
                  <a:pt x="0" y="62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4280040" y="3599280"/>
            <a:ext cx="43920" cy="44280"/>
          </a:xfrm>
          <a:custGeom>
            <a:avLst/>
            <a:gdLst/>
            <a:ahLst/>
            <a:rect l="0" t="0" r="r" b="b"/>
            <a:pathLst>
              <a:path fill="none" w="122" h="123">
                <a:moveTo>
                  <a:pt x="122" y="62"/>
                </a:moveTo>
                <a:cubicBezTo>
                  <a:pt x="122" y="144"/>
                  <a:pt x="0" y="144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5173200" y="3551040"/>
            <a:ext cx="43920" cy="44280"/>
          </a:xfrm>
          <a:custGeom>
            <a:avLst/>
            <a:gdLst/>
            <a:ahLst/>
            <a:rect l="0" t="0" r="r" b="b"/>
            <a:pathLst>
              <a:path w="122" h="123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4"/>
                  <a:pt x="0" y="144"/>
                  <a:pt x="0" y="62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5173200" y="3551040"/>
            <a:ext cx="43920" cy="44280"/>
          </a:xfrm>
          <a:custGeom>
            <a:avLst/>
            <a:gdLst/>
            <a:ahLst/>
            <a:rect l="0" t="0" r="r" b="b"/>
            <a:pathLst>
              <a:path fill="none" w="122" h="123">
                <a:moveTo>
                  <a:pt x="122" y="62"/>
                </a:moveTo>
                <a:cubicBezTo>
                  <a:pt x="122" y="144"/>
                  <a:pt x="0" y="144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708120" y="3721320"/>
            <a:ext cx="43920" cy="44280"/>
          </a:xfrm>
          <a:custGeom>
            <a:avLst/>
            <a:gdLst/>
            <a:ahLst/>
            <a:rect l="0" t="0" r="r" b="b"/>
            <a:pathLst>
              <a:path w="122" h="123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4"/>
                  <a:pt x="0" y="144"/>
                  <a:pt x="0" y="62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708120" y="3721320"/>
            <a:ext cx="43920" cy="44280"/>
          </a:xfrm>
          <a:custGeom>
            <a:avLst/>
            <a:gdLst/>
            <a:ahLst/>
            <a:rect l="0" t="0" r="r" b="b"/>
            <a:pathLst>
              <a:path fill="none" w="122" h="123">
                <a:moveTo>
                  <a:pt x="122" y="62"/>
                </a:moveTo>
                <a:cubicBezTo>
                  <a:pt x="122" y="144"/>
                  <a:pt x="0" y="144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1600920" y="375624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1"/>
                </a:moveTo>
                <a:cubicBezTo>
                  <a:pt x="0" y="-20"/>
                  <a:pt x="123" y="-20"/>
                  <a:pt x="123" y="61"/>
                </a:cubicBezTo>
                <a:cubicBezTo>
                  <a:pt x="123" y="142"/>
                  <a:pt x="0" y="142"/>
                  <a:pt x="0" y="61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1600920" y="375624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1"/>
                </a:moveTo>
                <a:cubicBezTo>
                  <a:pt x="123" y="142"/>
                  <a:pt x="0" y="142"/>
                  <a:pt x="0" y="61"/>
                </a:cubicBezTo>
                <a:cubicBezTo>
                  <a:pt x="0" y="-20"/>
                  <a:pt x="123" y="-20"/>
                  <a:pt x="123" y="61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2494080" y="375012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3"/>
                  <a:pt x="0" y="143"/>
                  <a:pt x="0" y="62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2494080" y="375012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2"/>
                </a:moveTo>
                <a:cubicBezTo>
                  <a:pt x="122" y="143"/>
                  <a:pt x="0" y="143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3386880" y="375048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2"/>
                </a:moveTo>
                <a:cubicBezTo>
                  <a:pt x="0" y="-20"/>
                  <a:pt x="123" y="-20"/>
                  <a:pt x="123" y="62"/>
                </a:cubicBezTo>
                <a:cubicBezTo>
                  <a:pt x="123" y="142"/>
                  <a:pt x="0" y="142"/>
                  <a:pt x="0" y="62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3386880" y="375048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2"/>
                </a:moveTo>
                <a:cubicBezTo>
                  <a:pt x="123" y="142"/>
                  <a:pt x="0" y="142"/>
                  <a:pt x="0" y="62"/>
                </a:cubicBezTo>
                <a:cubicBezTo>
                  <a:pt x="0" y="-20"/>
                  <a:pt x="123" y="-20"/>
                  <a:pt x="123" y="62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4280040" y="375228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3"/>
                  <a:pt x="0" y="143"/>
                  <a:pt x="0" y="62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4280040" y="375228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2"/>
                </a:moveTo>
                <a:cubicBezTo>
                  <a:pt x="122" y="143"/>
                  <a:pt x="0" y="143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5173200" y="3774600"/>
            <a:ext cx="43920" cy="44280"/>
          </a:xfrm>
          <a:custGeom>
            <a:avLst/>
            <a:gdLst/>
            <a:ahLst/>
            <a:rect l="0" t="0" r="r" b="b"/>
            <a:pathLst>
              <a:path w="122" h="123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4"/>
                  <a:pt x="0" y="144"/>
                  <a:pt x="0" y="62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5173200" y="3774600"/>
            <a:ext cx="43920" cy="44280"/>
          </a:xfrm>
          <a:custGeom>
            <a:avLst/>
            <a:gdLst/>
            <a:ahLst/>
            <a:rect l="0" t="0" r="r" b="b"/>
            <a:pathLst>
              <a:path fill="none" w="122" h="123">
                <a:moveTo>
                  <a:pt x="122" y="62"/>
                </a:moveTo>
                <a:cubicBezTo>
                  <a:pt x="122" y="144"/>
                  <a:pt x="0" y="144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024200" y="2286000"/>
            <a:ext cx="3312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Re-dating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5338080" y="2896920"/>
            <a:ext cx="432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5338080" y="3004560"/>
            <a:ext cx="750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D1552C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5338080" y="3528720"/>
            <a:ext cx="8391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717171"/>
                </a:solidFill>
                <a:effectLst/>
                <a:uFillTx/>
                <a:latin typeface="Arial"/>
                <a:ea typeface="Arial"/>
              </a:rPr>
              <a:t>Annual climate variability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5338080" y="3751920"/>
            <a:ext cx="5659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3B3B3B"/>
                </a:solidFill>
                <a:effectLst/>
                <a:uFillTx/>
                <a:latin typeface="Arial"/>
                <a:ea typeface="Arial"/>
              </a:rPr>
              <a:t>Warming ×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509760" y="239004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1.79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 flipV="1">
            <a:off x="372600" y="2273040"/>
            <a:ext cx="0" cy="155052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393920" y="314172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1.31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228240" y="352080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228240" y="323352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228240" y="294660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228240" y="265932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347400" y="356508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347400" y="327780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347400" y="299088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347400" y="270360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347400" y="241668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729720" y="3823560"/>
            <a:ext cx="446508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 flipV="1">
            <a:off x="729720" y="38235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 flipV="1">
            <a:off x="1622880" y="38235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 flipV="1">
            <a:off x="2515680" y="38235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 flipV="1">
            <a:off x="3408840" y="38235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 flipV="1">
            <a:off x="4302000" y="38235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 flipV="1">
            <a:off x="5194800" y="38235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228240" y="237240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685440" y="3853800"/>
            <a:ext cx="93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533160" y="3949920"/>
            <a:ext cx="4287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as published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1578600" y="3853800"/>
            <a:ext cx="93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388160" y="3949920"/>
            <a:ext cx="492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discovery year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2471760" y="3853800"/>
            <a:ext cx="93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2338200" y="3949920"/>
            <a:ext cx="360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effort gaps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3364560" y="3853800"/>
            <a:ext cx="93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3205800" y="3949920"/>
            <a:ext cx="432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area weights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4257720" y="3853800"/>
            <a:ext cx="93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4206960" y="3949920"/>
            <a:ext cx="1872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offset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5150520" y="3853800"/>
            <a:ext cx="93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4941000" y="3949920"/>
            <a:ext cx="5238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province × year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 rot="16200000">
            <a:off x="-314640" y="3008880"/>
            <a:ext cx="8557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Hazard ratio per 1 SD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189720" y="2108160"/>
            <a:ext cx="17740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Re-dating is the single decisive correction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50400" y="20574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TJ_Fig_dating_correction</dc:title>
</cp:coreProperties>
</file>