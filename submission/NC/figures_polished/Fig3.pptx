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749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74960"/>
            <a:ext cx="5919840" cy="73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1027080"/>
            <a:ext cx="5919840" cy="254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749840"/>
          </a:xfrm>
          <a:custGeom>
            <a:avLst/>
            <a:gdLst/>
            <a:ahLst/>
            <a:rect l="0" t="0" r="r" b="b"/>
            <a:pathLst>
              <a:path w="18274" h="13194">
                <a:moveTo>
                  <a:pt x="0" y="0"/>
                </a:moveTo>
                <a:lnTo>
                  <a:pt x="18274" y="0"/>
                </a:lnTo>
                <a:lnTo>
                  <a:pt x="18274" y="13194"/>
                </a:lnTo>
                <a:lnTo>
                  <a:pt x="0" y="131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749840"/>
          </a:xfrm>
          <a:custGeom>
            <a:avLst/>
            <a:gdLst/>
            <a:ahLst/>
            <a:rect l="0" t="0" r="r" b="b"/>
            <a:pathLst>
              <a:path w="18274" h="13194">
                <a:moveTo>
                  <a:pt x="0" y="0"/>
                </a:moveTo>
                <a:lnTo>
                  <a:pt x="18274" y="0"/>
                </a:lnTo>
                <a:lnTo>
                  <a:pt x="18274" y="13194"/>
                </a:lnTo>
                <a:lnTo>
                  <a:pt x="0" y="131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5200"/>
            <a:ext cx="3285360" cy="2286360"/>
          </a:xfrm>
          <a:custGeom>
            <a:avLst/>
            <a:gdLst/>
            <a:ahLst/>
            <a:rect l="0" t="0" r="r" b="b"/>
            <a:pathLst>
              <a:path w="9126" h="6351">
                <a:moveTo>
                  <a:pt x="0" y="0"/>
                </a:moveTo>
                <a:lnTo>
                  <a:pt x="9126" y="0"/>
                </a:lnTo>
                <a:lnTo>
                  <a:pt x="9126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310200" y="25200"/>
            <a:ext cx="3243240" cy="2286360"/>
          </a:xfrm>
          <a:custGeom>
            <a:avLst/>
            <a:gdLst/>
            <a:ahLst/>
            <a:rect l="0" t="0" r="r" b="b"/>
            <a:pathLst>
              <a:path w="9009" h="6351">
                <a:moveTo>
                  <a:pt x="0" y="0"/>
                </a:moveTo>
                <a:lnTo>
                  <a:pt x="9009" y="0"/>
                </a:lnTo>
                <a:lnTo>
                  <a:pt x="9009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5200" y="2311200"/>
            <a:ext cx="3285360" cy="2413440"/>
          </a:xfrm>
          <a:custGeom>
            <a:avLst/>
            <a:gdLst/>
            <a:ahLst/>
            <a:rect l="0" t="0" r="r" b="b"/>
            <a:pathLst>
              <a:path w="9126" h="6704">
                <a:moveTo>
                  <a:pt x="0" y="0"/>
                </a:moveTo>
                <a:lnTo>
                  <a:pt x="9126" y="0"/>
                </a:lnTo>
                <a:lnTo>
                  <a:pt x="9126" y="6704"/>
                </a:lnTo>
                <a:lnTo>
                  <a:pt x="0" y="6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310200" y="2311200"/>
            <a:ext cx="3243240" cy="2413440"/>
          </a:xfrm>
          <a:custGeom>
            <a:avLst/>
            <a:gdLst/>
            <a:ahLst/>
            <a:rect l="0" t="0" r="r" b="b"/>
            <a:pathLst>
              <a:path w="9009" h="6704">
                <a:moveTo>
                  <a:pt x="0" y="0"/>
                </a:moveTo>
                <a:lnTo>
                  <a:pt x="9009" y="0"/>
                </a:lnTo>
                <a:lnTo>
                  <a:pt x="9009" y="6704"/>
                </a:lnTo>
                <a:lnTo>
                  <a:pt x="0" y="67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360000" y="227880"/>
            <a:ext cx="2887200" cy="1761840"/>
          </a:xfrm>
          <a:custGeom>
            <a:avLst/>
            <a:gdLst/>
            <a:ahLst/>
            <a:rect l="0" t="0" r="r" b="b"/>
            <a:pathLst>
              <a:path w="8020" h="4894">
                <a:moveTo>
                  <a:pt x="0" y="0"/>
                </a:moveTo>
                <a:lnTo>
                  <a:pt x="8020" y="0"/>
                </a:lnTo>
                <a:lnTo>
                  <a:pt x="8020" y="4894"/>
                </a:lnTo>
                <a:lnTo>
                  <a:pt x="0" y="48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360000" y="1657080"/>
            <a:ext cx="208980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399960" y="706320"/>
            <a:ext cx="2009880" cy="1073880"/>
          </a:xfrm>
          <a:custGeom>
            <a:avLst/>
            <a:gdLst/>
            <a:ahLst/>
            <a:rect l="0" t="0" r="r" b="b"/>
            <a:pathLst>
              <a:path fill="none" w="5583" h="2983">
                <a:moveTo>
                  <a:pt x="0" y="2983"/>
                </a:moveTo>
                <a:lnTo>
                  <a:pt x="186" y="2963"/>
                </a:lnTo>
                <a:lnTo>
                  <a:pt x="372" y="2967"/>
                </a:lnTo>
                <a:lnTo>
                  <a:pt x="559" y="2922"/>
                </a:lnTo>
                <a:lnTo>
                  <a:pt x="745" y="2641"/>
                </a:lnTo>
                <a:lnTo>
                  <a:pt x="931" y="2470"/>
                </a:lnTo>
                <a:lnTo>
                  <a:pt x="1117" y="2363"/>
                </a:lnTo>
                <a:lnTo>
                  <a:pt x="1303" y="2188"/>
                </a:lnTo>
                <a:lnTo>
                  <a:pt x="1489" y="2129"/>
                </a:lnTo>
                <a:lnTo>
                  <a:pt x="1675" y="2032"/>
                </a:lnTo>
                <a:lnTo>
                  <a:pt x="1862" y="1956"/>
                </a:lnTo>
                <a:lnTo>
                  <a:pt x="2048" y="1740"/>
                </a:lnTo>
                <a:lnTo>
                  <a:pt x="2234" y="1561"/>
                </a:lnTo>
                <a:lnTo>
                  <a:pt x="2420" y="1357"/>
                </a:lnTo>
                <a:lnTo>
                  <a:pt x="2606" y="1291"/>
                </a:lnTo>
                <a:lnTo>
                  <a:pt x="2792" y="1153"/>
                </a:lnTo>
                <a:lnTo>
                  <a:pt x="2979" y="952"/>
                </a:lnTo>
                <a:lnTo>
                  <a:pt x="3165" y="908"/>
                </a:lnTo>
                <a:lnTo>
                  <a:pt x="3351" y="705"/>
                </a:lnTo>
                <a:lnTo>
                  <a:pt x="3537" y="761"/>
                </a:lnTo>
                <a:lnTo>
                  <a:pt x="3723" y="720"/>
                </a:lnTo>
                <a:lnTo>
                  <a:pt x="3909" y="553"/>
                </a:lnTo>
                <a:lnTo>
                  <a:pt x="4095" y="524"/>
                </a:lnTo>
                <a:lnTo>
                  <a:pt x="4281" y="544"/>
                </a:lnTo>
                <a:lnTo>
                  <a:pt x="4467" y="621"/>
                </a:lnTo>
                <a:lnTo>
                  <a:pt x="4653" y="403"/>
                </a:lnTo>
                <a:lnTo>
                  <a:pt x="4839" y="416"/>
                </a:lnTo>
                <a:lnTo>
                  <a:pt x="5025" y="379"/>
                </a:lnTo>
                <a:lnTo>
                  <a:pt x="5211" y="345"/>
                </a:lnTo>
                <a:lnTo>
                  <a:pt x="5397" y="58"/>
                </a:lnTo>
                <a:lnTo>
                  <a:pt x="5583" y="0"/>
                </a:lnTo>
              </a:path>
            </a:pathLst>
          </a:custGeom>
          <a:ln w="13320">
            <a:solidFill>
              <a:srgbClr val="1A1A1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399960" y="1025640"/>
            <a:ext cx="2009880" cy="743760"/>
          </a:xfrm>
          <a:custGeom>
            <a:avLst/>
            <a:gdLst/>
            <a:ahLst/>
            <a:rect l="0" t="0" r="r" b="b"/>
            <a:pathLst>
              <a:path fill="none" w="5583" h="2066">
                <a:moveTo>
                  <a:pt x="0" y="1893"/>
                </a:moveTo>
                <a:lnTo>
                  <a:pt x="186" y="1992"/>
                </a:lnTo>
                <a:lnTo>
                  <a:pt x="372" y="2066"/>
                </a:lnTo>
                <a:lnTo>
                  <a:pt x="559" y="2039"/>
                </a:lnTo>
                <a:lnTo>
                  <a:pt x="745" y="1796"/>
                </a:lnTo>
                <a:lnTo>
                  <a:pt x="931" y="1532"/>
                </a:lnTo>
                <a:lnTo>
                  <a:pt x="1117" y="1394"/>
                </a:lnTo>
                <a:lnTo>
                  <a:pt x="1303" y="1308"/>
                </a:lnTo>
                <a:lnTo>
                  <a:pt x="1489" y="1322"/>
                </a:lnTo>
                <a:lnTo>
                  <a:pt x="1675" y="1105"/>
                </a:lnTo>
                <a:lnTo>
                  <a:pt x="1862" y="1035"/>
                </a:lnTo>
                <a:lnTo>
                  <a:pt x="2048" y="1059"/>
                </a:lnTo>
                <a:lnTo>
                  <a:pt x="2234" y="1006"/>
                </a:lnTo>
                <a:lnTo>
                  <a:pt x="2420" y="861"/>
                </a:lnTo>
                <a:lnTo>
                  <a:pt x="2606" y="923"/>
                </a:lnTo>
                <a:lnTo>
                  <a:pt x="2792" y="929"/>
                </a:lnTo>
                <a:lnTo>
                  <a:pt x="2979" y="834"/>
                </a:lnTo>
                <a:lnTo>
                  <a:pt x="3165" y="916"/>
                </a:lnTo>
                <a:lnTo>
                  <a:pt x="3351" y="937"/>
                </a:lnTo>
                <a:lnTo>
                  <a:pt x="3537" y="1130"/>
                </a:lnTo>
                <a:lnTo>
                  <a:pt x="3723" y="1130"/>
                </a:lnTo>
                <a:lnTo>
                  <a:pt x="3909" y="952"/>
                </a:lnTo>
                <a:lnTo>
                  <a:pt x="4095" y="915"/>
                </a:lnTo>
                <a:lnTo>
                  <a:pt x="4281" y="937"/>
                </a:lnTo>
                <a:lnTo>
                  <a:pt x="4467" y="1014"/>
                </a:lnTo>
                <a:lnTo>
                  <a:pt x="4653" y="808"/>
                </a:lnTo>
                <a:lnTo>
                  <a:pt x="4839" y="629"/>
                </a:lnTo>
                <a:lnTo>
                  <a:pt x="5025" y="549"/>
                </a:lnTo>
                <a:lnTo>
                  <a:pt x="5211" y="541"/>
                </a:lnTo>
                <a:lnTo>
                  <a:pt x="5397" y="201"/>
                </a:lnTo>
                <a:lnTo>
                  <a:pt x="5583" y="0"/>
                </a:lnTo>
              </a:path>
            </a:pathLst>
          </a:custGeom>
          <a:ln w="13320">
            <a:solidFill>
              <a:srgbClr val="D1552C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99960" y="308160"/>
            <a:ext cx="2009880" cy="1601280"/>
          </a:xfrm>
          <a:custGeom>
            <a:avLst/>
            <a:gdLst/>
            <a:ahLst/>
            <a:rect l="0" t="0" r="r" b="b"/>
            <a:pathLst>
              <a:path fill="none" w="5583" h="4448">
                <a:moveTo>
                  <a:pt x="0" y="4332"/>
                </a:moveTo>
                <a:lnTo>
                  <a:pt x="186" y="4297"/>
                </a:lnTo>
                <a:lnTo>
                  <a:pt x="372" y="4448"/>
                </a:lnTo>
                <a:lnTo>
                  <a:pt x="559" y="4198"/>
                </a:lnTo>
                <a:lnTo>
                  <a:pt x="745" y="4349"/>
                </a:lnTo>
                <a:lnTo>
                  <a:pt x="931" y="3718"/>
                </a:lnTo>
                <a:lnTo>
                  <a:pt x="1117" y="3433"/>
                </a:lnTo>
                <a:lnTo>
                  <a:pt x="1303" y="3197"/>
                </a:lnTo>
                <a:lnTo>
                  <a:pt x="1489" y="2894"/>
                </a:lnTo>
                <a:lnTo>
                  <a:pt x="1675" y="2863"/>
                </a:lnTo>
                <a:lnTo>
                  <a:pt x="1862" y="2569"/>
                </a:lnTo>
                <a:lnTo>
                  <a:pt x="2048" y="2533"/>
                </a:lnTo>
                <a:lnTo>
                  <a:pt x="2234" y="2320"/>
                </a:lnTo>
                <a:lnTo>
                  <a:pt x="2420" y="2007"/>
                </a:lnTo>
                <a:lnTo>
                  <a:pt x="2606" y="1498"/>
                </a:lnTo>
                <a:lnTo>
                  <a:pt x="2792" y="1292"/>
                </a:lnTo>
                <a:lnTo>
                  <a:pt x="2979" y="1258"/>
                </a:lnTo>
                <a:lnTo>
                  <a:pt x="3165" y="1053"/>
                </a:lnTo>
                <a:lnTo>
                  <a:pt x="3351" y="1352"/>
                </a:lnTo>
                <a:lnTo>
                  <a:pt x="3537" y="1076"/>
                </a:lnTo>
                <a:lnTo>
                  <a:pt x="3723" y="1294"/>
                </a:lnTo>
                <a:lnTo>
                  <a:pt x="3909" y="986"/>
                </a:lnTo>
                <a:lnTo>
                  <a:pt x="4095" y="797"/>
                </a:lnTo>
                <a:lnTo>
                  <a:pt x="4281" y="821"/>
                </a:lnTo>
                <a:lnTo>
                  <a:pt x="4467" y="695"/>
                </a:lnTo>
                <a:lnTo>
                  <a:pt x="4653" y="634"/>
                </a:lnTo>
                <a:lnTo>
                  <a:pt x="4839" y="524"/>
                </a:lnTo>
                <a:lnTo>
                  <a:pt x="5025" y="480"/>
                </a:lnTo>
                <a:lnTo>
                  <a:pt x="5211" y="327"/>
                </a:lnTo>
                <a:lnTo>
                  <a:pt x="5397" y="150"/>
                </a:lnTo>
                <a:lnTo>
                  <a:pt x="5583" y="0"/>
                </a:lnTo>
              </a:path>
            </a:pathLst>
          </a:custGeom>
          <a:ln w="13320">
            <a:solidFill>
              <a:srgbClr val="8E2F13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141640" y="871560"/>
            <a:ext cx="0" cy="380160"/>
          </a:xfrm>
          <a:prstGeom prst="line">
            <a:avLst/>
          </a:prstGeom>
          <a:ln w="79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2129040" y="87156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71" y="62"/>
                </a:moveTo>
                <a:lnTo>
                  <a:pt x="36" y="0"/>
                </a:lnTo>
                <a:lnTo>
                  <a:pt x="0" y="62"/>
                </a:lnTo>
                <a:lnTo>
                  <a:pt x="71" y="62"/>
                </a:lnTo>
                <a:close/>
              </a:path>
            </a:pathLst>
          </a:custGeom>
          <a:solidFill>
            <a:srgbClr val="D1552C"/>
          </a:solidFill>
          <a:ln w="7920">
            <a:solidFill>
              <a:srgbClr val="D1552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2129040" y="122976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0" y="0"/>
                </a:moveTo>
                <a:lnTo>
                  <a:pt x="36" y="62"/>
                </a:lnTo>
                <a:lnTo>
                  <a:pt x="71" y="0"/>
                </a:lnTo>
                <a:lnTo>
                  <a:pt x="0" y="0"/>
                </a:lnTo>
                <a:close/>
              </a:path>
            </a:pathLst>
          </a:custGeom>
          <a:solidFill>
            <a:srgbClr val="D1552C"/>
          </a:solidFill>
          <a:ln w="7920">
            <a:solidFill>
              <a:srgbClr val="D1552C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 flipV="1">
            <a:off x="2141640" y="496800"/>
            <a:ext cx="0" cy="343800"/>
          </a:xfrm>
          <a:prstGeom prst="line">
            <a:avLst/>
          </a:prstGeom>
          <a:ln w="7920">
            <a:solidFill>
              <a:srgbClr val="8E2F1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129040" y="81864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0" y="0"/>
                </a:moveTo>
                <a:lnTo>
                  <a:pt x="36" y="62"/>
                </a:lnTo>
                <a:lnTo>
                  <a:pt x="71" y="0"/>
                </a:lnTo>
                <a:lnTo>
                  <a:pt x="0" y="0"/>
                </a:lnTo>
                <a:close/>
              </a:path>
            </a:pathLst>
          </a:custGeom>
          <a:solidFill>
            <a:srgbClr val="8E2F13"/>
          </a:solidFill>
          <a:ln w="7920">
            <a:solidFill>
              <a:srgbClr val="8E2F1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129040" y="496800"/>
            <a:ext cx="25560" cy="22320"/>
          </a:xfrm>
          <a:custGeom>
            <a:avLst/>
            <a:gdLst/>
            <a:ahLst/>
            <a:rect l="0" t="0" r="r" b="b"/>
            <a:pathLst>
              <a:path w="71" h="62">
                <a:moveTo>
                  <a:pt x="71" y="62"/>
                </a:moveTo>
                <a:lnTo>
                  <a:pt x="36" y="0"/>
                </a:lnTo>
                <a:lnTo>
                  <a:pt x="0" y="62"/>
                </a:lnTo>
                <a:lnTo>
                  <a:pt x="71" y="62"/>
                </a:lnTo>
                <a:close/>
              </a:path>
            </a:pathLst>
          </a:custGeom>
          <a:solidFill>
            <a:srgbClr val="8E2F13"/>
          </a:solidFill>
          <a:ln w="7920">
            <a:solidFill>
              <a:srgbClr val="8E2F13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876680" y="1004400"/>
            <a:ext cx="450000" cy="114840"/>
          </a:xfrm>
          <a:custGeom>
            <a:avLst/>
            <a:gdLst/>
            <a:ahLst/>
            <a:rect l="0" t="0" r="r" b="b"/>
            <a:pathLst>
              <a:path w="1250" h="319">
                <a:moveTo>
                  <a:pt x="0" y="0"/>
                </a:moveTo>
                <a:lnTo>
                  <a:pt x="1250" y="0"/>
                </a:lnTo>
                <a:lnTo>
                  <a:pt x="1250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876680" y="611640"/>
            <a:ext cx="450000" cy="114480"/>
          </a:xfrm>
          <a:custGeom>
            <a:avLst/>
            <a:gdLst/>
            <a:ahLst/>
            <a:rect l="0" t="0" r="r" b="b"/>
            <a:pathLst>
              <a:path w="1250" h="318">
                <a:moveTo>
                  <a:pt x="0" y="0"/>
                </a:moveTo>
                <a:lnTo>
                  <a:pt x="1250" y="0"/>
                </a:lnTo>
                <a:lnTo>
                  <a:pt x="1250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885680" y="1017360"/>
            <a:ext cx="42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x = +0.31 °C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885680" y="624600"/>
            <a:ext cx="42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E2F13"/>
                </a:solidFill>
                <a:effectLst/>
                <a:uFillTx/>
                <a:latin typeface="Arial"/>
                <a:ea typeface="Arial"/>
              </a:rPr>
              <a:t>x = −0.28 °C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463480" y="622800"/>
            <a:ext cx="263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Yunnan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463480" y="941760"/>
            <a:ext cx="712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i="1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Aethopyga christinae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463480" y="224280"/>
            <a:ext cx="59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i="1" u="none" strike="noStrike">
                <a:solidFill>
                  <a:srgbClr val="8E2F13"/>
                </a:solidFill>
                <a:effectLst/>
                <a:uFillTx/>
                <a:latin typeface="Arial"/>
                <a:ea typeface="Arial"/>
              </a:rPr>
              <a:t>Coracias garrulus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463480" y="70164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463480" y="1020600"/>
            <a:ext cx="195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range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360000" y="1989360"/>
            <a:ext cx="20898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360000" y="227880"/>
            <a:ext cx="0" cy="17614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463480" y="303120"/>
            <a:ext cx="195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E2F13"/>
                </a:solidFill>
                <a:effectLst/>
                <a:uFillTx/>
                <a:latin typeface="Arial"/>
                <a:ea typeface="Arial"/>
              </a:rPr>
              <a:t>range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215280" y="16128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15280" y="1100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34440" y="16570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334440" y="114444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334440" y="63180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 flipV="1">
            <a:off x="80208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 flipV="1">
            <a:off x="147204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V="1">
            <a:off x="214164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15280" y="587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26120" y="20196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395720" y="20196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065680" y="20196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2020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 rot="16200000">
            <a:off x="-671040" y="1087560"/>
            <a:ext cx="1568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15-yr mean anomaly vs 1980–2000 (°C)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89720" y="63360"/>
            <a:ext cx="1864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Climate is referenced to each species' range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4089600" y="227880"/>
            <a:ext cx="2362680" cy="1761840"/>
          </a:xfrm>
          <a:custGeom>
            <a:avLst/>
            <a:gdLst/>
            <a:ahLst/>
            <a:rect l="0" t="0" r="r" b="b"/>
            <a:pathLst>
              <a:path w="6563" h="4894">
                <a:moveTo>
                  <a:pt x="0" y="0"/>
                </a:moveTo>
                <a:lnTo>
                  <a:pt x="6563" y="0"/>
                </a:lnTo>
                <a:lnTo>
                  <a:pt x="6563" y="4894"/>
                </a:lnTo>
                <a:lnTo>
                  <a:pt x="0" y="48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373000" y="1585080"/>
            <a:ext cx="1079280" cy="323640"/>
          </a:xfrm>
          <a:custGeom>
            <a:avLst/>
            <a:gdLst/>
            <a:ahLst/>
            <a:rect l="0" t="0" r="r" b="b"/>
            <a:pathLst>
              <a:path w="2998" h="899">
                <a:moveTo>
                  <a:pt x="0" y="0"/>
                </a:moveTo>
                <a:lnTo>
                  <a:pt x="2998" y="0"/>
                </a:lnTo>
                <a:lnTo>
                  <a:pt x="2998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4089600" y="1585080"/>
            <a:ext cx="1284120" cy="323640"/>
          </a:xfrm>
          <a:custGeom>
            <a:avLst/>
            <a:gdLst/>
            <a:ahLst/>
            <a:rect l="0" t="0" r="r" b="b"/>
            <a:pathLst>
              <a:path w="3567" h="899">
                <a:moveTo>
                  <a:pt x="0" y="0"/>
                </a:moveTo>
                <a:lnTo>
                  <a:pt x="3567" y="0"/>
                </a:lnTo>
                <a:lnTo>
                  <a:pt x="3567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022720" y="507960"/>
            <a:ext cx="1429560" cy="323640"/>
          </a:xfrm>
          <a:custGeom>
            <a:avLst/>
            <a:gdLst/>
            <a:ahLst/>
            <a:rect l="0" t="0" r="r" b="b"/>
            <a:pathLst>
              <a:path w="3971" h="899">
                <a:moveTo>
                  <a:pt x="0" y="0"/>
                </a:moveTo>
                <a:lnTo>
                  <a:pt x="3971" y="0"/>
                </a:lnTo>
                <a:lnTo>
                  <a:pt x="3971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4089600" y="507960"/>
            <a:ext cx="933480" cy="323640"/>
          </a:xfrm>
          <a:custGeom>
            <a:avLst/>
            <a:gdLst/>
            <a:ahLst/>
            <a:rect l="0" t="0" r="r" b="b"/>
            <a:pathLst>
              <a:path w="2593" h="899">
                <a:moveTo>
                  <a:pt x="0" y="0"/>
                </a:moveTo>
                <a:lnTo>
                  <a:pt x="2593" y="0"/>
                </a:lnTo>
                <a:lnTo>
                  <a:pt x="2593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452560" y="1046520"/>
            <a:ext cx="999720" cy="323640"/>
          </a:xfrm>
          <a:custGeom>
            <a:avLst/>
            <a:gdLst/>
            <a:ahLst/>
            <a:rect l="0" t="0" r="r" b="b"/>
            <a:pathLst>
              <a:path w="2777" h="899">
                <a:moveTo>
                  <a:pt x="0" y="0"/>
                </a:moveTo>
                <a:lnTo>
                  <a:pt x="2777" y="0"/>
                </a:lnTo>
                <a:lnTo>
                  <a:pt x="2777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9A9A9A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089600" y="1046520"/>
            <a:ext cx="1363320" cy="323640"/>
          </a:xfrm>
          <a:custGeom>
            <a:avLst/>
            <a:gdLst/>
            <a:ahLst/>
            <a:rect l="0" t="0" r="r" b="b"/>
            <a:pathLst>
              <a:path w="3787" h="899">
                <a:moveTo>
                  <a:pt x="0" y="0"/>
                </a:moveTo>
                <a:lnTo>
                  <a:pt x="3787" y="0"/>
                </a:lnTo>
                <a:lnTo>
                  <a:pt x="3787" y="899"/>
                </a:lnTo>
                <a:lnTo>
                  <a:pt x="0" y="899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 w="7920">
            <a:solidFill>
              <a:srgbClr val="FFFFFF"/>
            </a:solidFill>
            <a:miter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842800" y="170244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46%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661640" y="170244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54%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667480" y="62532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61%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486680" y="62532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39%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882760" y="116388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42%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701600" y="116388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58%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089960" y="312840"/>
            <a:ext cx="69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Within province-year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4089960" y="399600"/>
            <a:ext cx="79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(purely among species)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677560" y="312840"/>
            <a:ext cx="818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Between province-years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906160" y="399600"/>
            <a:ext cx="5850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(regional climate)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932640" y="1659240"/>
            <a:ext cx="1530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Raw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754800" y="1746000"/>
            <a:ext cx="335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gradient x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856320" y="1120680"/>
            <a:ext cx="237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780000" y="120744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653280" y="581760"/>
            <a:ext cx="441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4089600" y="1989360"/>
            <a:ext cx="236232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408960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 flipV="1">
            <a:off x="468036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 flipV="1">
            <a:off x="527076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586152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 flipV="1">
            <a:off x="6451920" y="19893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805560" y="66888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070880" y="2019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642200" y="20196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5232960" y="20196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5823360" y="201960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395040" y="2019600"/>
            <a:ext cx="127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833000" y="2146680"/>
            <a:ext cx="855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Share of variance (%)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474720" y="63360"/>
            <a:ext cx="18968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Species identity carries much of the variance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60000" y="2640960"/>
            <a:ext cx="2887200" cy="1761480"/>
          </a:xfrm>
          <a:custGeom>
            <a:avLst/>
            <a:gdLst/>
            <a:ahLst/>
            <a:rect l="0" t="0" r="r" b="b"/>
            <a:pathLst>
              <a:path w="8020" h="4893">
                <a:moveTo>
                  <a:pt x="0" y="0"/>
                </a:moveTo>
                <a:lnTo>
                  <a:pt x="8020" y="0"/>
                </a:lnTo>
                <a:lnTo>
                  <a:pt x="8020" y="4893"/>
                </a:lnTo>
                <a:lnTo>
                  <a:pt x="0" y="48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1809720" y="2640960"/>
            <a:ext cx="0" cy="176112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91040" y="2711160"/>
            <a:ext cx="2625120" cy="1618560"/>
          </a:xfrm>
          <a:custGeom>
            <a:avLst/>
            <a:gdLst/>
            <a:ahLst/>
            <a:rect l="0" t="0" r="r" b="b"/>
            <a:pathLst>
              <a:path w="7292" h="4496">
                <a:moveTo>
                  <a:pt x="0" y="4114"/>
                </a:moveTo>
                <a:lnTo>
                  <a:pt x="124" y="4099"/>
                </a:lnTo>
                <a:lnTo>
                  <a:pt x="247" y="4084"/>
                </a:lnTo>
                <a:lnTo>
                  <a:pt x="371" y="4068"/>
                </a:lnTo>
                <a:lnTo>
                  <a:pt x="495" y="4052"/>
                </a:lnTo>
                <a:lnTo>
                  <a:pt x="618" y="4035"/>
                </a:lnTo>
                <a:lnTo>
                  <a:pt x="742" y="4018"/>
                </a:lnTo>
                <a:lnTo>
                  <a:pt x="865" y="4000"/>
                </a:lnTo>
                <a:lnTo>
                  <a:pt x="989" y="3982"/>
                </a:lnTo>
                <a:lnTo>
                  <a:pt x="1112" y="3963"/>
                </a:lnTo>
                <a:lnTo>
                  <a:pt x="1236" y="3944"/>
                </a:lnTo>
                <a:lnTo>
                  <a:pt x="1360" y="3923"/>
                </a:lnTo>
                <a:lnTo>
                  <a:pt x="1483" y="3903"/>
                </a:lnTo>
                <a:lnTo>
                  <a:pt x="1607" y="3881"/>
                </a:lnTo>
                <a:lnTo>
                  <a:pt x="1730" y="3859"/>
                </a:lnTo>
                <a:lnTo>
                  <a:pt x="1854" y="3835"/>
                </a:lnTo>
                <a:lnTo>
                  <a:pt x="1977" y="3811"/>
                </a:lnTo>
                <a:lnTo>
                  <a:pt x="2101" y="3787"/>
                </a:lnTo>
                <a:lnTo>
                  <a:pt x="2224" y="3761"/>
                </a:lnTo>
                <a:lnTo>
                  <a:pt x="2349" y="3734"/>
                </a:lnTo>
                <a:lnTo>
                  <a:pt x="2473" y="3706"/>
                </a:lnTo>
                <a:lnTo>
                  <a:pt x="2596" y="3676"/>
                </a:lnTo>
                <a:lnTo>
                  <a:pt x="2720" y="3645"/>
                </a:lnTo>
                <a:lnTo>
                  <a:pt x="2843" y="3613"/>
                </a:lnTo>
                <a:lnTo>
                  <a:pt x="2967" y="3580"/>
                </a:lnTo>
                <a:lnTo>
                  <a:pt x="3090" y="3545"/>
                </a:lnTo>
                <a:lnTo>
                  <a:pt x="3214" y="3508"/>
                </a:lnTo>
                <a:lnTo>
                  <a:pt x="3338" y="3470"/>
                </a:lnTo>
                <a:lnTo>
                  <a:pt x="3461" y="3429"/>
                </a:lnTo>
                <a:lnTo>
                  <a:pt x="3585" y="3386"/>
                </a:lnTo>
                <a:lnTo>
                  <a:pt x="3708" y="3341"/>
                </a:lnTo>
                <a:lnTo>
                  <a:pt x="3832" y="3294"/>
                </a:lnTo>
                <a:lnTo>
                  <a:pt x="3955" y="3243"/>
                </a:lnTo>
                <a:lnTo>
                  <a:pt x="4079" y="3190"/>
                </a:lnTo>
                <a:lnTo>
                  <a:pt x="4203" y="3134"/>
                </a:lnTo>
                <a:lnTo>
                  <a:pt x="4326" y="3074"/>
                </a:lnTo>
                <a:lnTo>
                  <a:pt x="4450" y="3011"/>
                </a:lnTo>
                <a:lnTo>
                  <a:pt x="4573" y="2944"/>
                </a:lnTo>
                <a:lnTo>
                  <a:pt x="4697" y="2873"/>
                </a:lnTo>
                <a:lnTo>
                  <a:pt x="4820" y="2798"/>
                </a:lnTo>
                <a:lnTo>
                  <a:pt x="4944" y="2719"/>
                </a:lnTo>
                <a:lnTo>
                  <a:pt x="5068" y="2635"/>
                </a:lnTo>
                <a:lnTo>
                  <a:pt x="5191" y="2546"/>
                </a:lnTo>
                <a:lnTo>
                  <a:pt x="5315" y="2451"/>
                </a:lnTo>
                <a:lnTo>
                  <a:pt x="5438" y="2352"/>
                </a:lnTo>
                <a:lnTo>
                  <a:pt x="5562" y="2247"/>
                </a:lnTo>
                <a:lnTo>
                  <a:pt x="5685" y="2135"/>
                </a:lnTo>
                <a:lnTo>
                  <a:pt x="5809" y="2018"/>
                </a:lnTo>
                <a:lnTo>
                  <a:pt x="5933" y="1894"/>
                </a:lnTo>
                <a:lnTo>
                  <a:pt x="6056" y="1763"/>
                </a:lnTo>
                <a:lnTo>
                  <a:pt x="6180" y="1626"/>
                </a:lnTo>
                <a:lnTo>
                  <a:pt x="6303" y="1480"/>
                </a:lnTo>
                <a:lnTo>
                  <a:pt x="6427" y="1327"/>
                </a:lnTo>
                <a:lnTo>
                  <a:pt x="6550" y="1166"/>
                </a:lnTo>
                <a:lnTo>
                  <a:pt x="6674" y="996"/>
                </a:lnTo>
                <a:lnTo>
                  <a:pt x="6798" y="817"/>
                </a:lnTo>
                <a:lnTo>
                  <a:pt x="6921" y="628"/>
                </a:lnTo>
                <a:lnTo>
                  <a:pt x="7045" y="429"/>
                </a:lnTo>
                <a:lnTo>
                  <a:pt x="7168" y="220"/>
                </a:lnTo>
                <a:lnTo>
                  <a:pt x="7292" y="0"/>
                </a:lnTo>
                <a:lnTo>
                  <a:pt x="7292" y="2672"/>
                </a:lnTo>
                <a:lnTo>
                  <a:pt x="7168" y="2724"/>
                </a:lnTo>
                <a:lnTo>
                  <a:pt x="7045" y="2776"/>
                </a:lnTo>
                <a:lnTo>
                  <a:pt x="6921" y="2826"/>
                </a:lnTo>
                <a:lnTo>
                  <a:pt x="6798" y="2876"/>
                </a:lnTo>
                <a:lnTo>
                  <a:pt x="6674" y="2924"/>
                </a:lnTo>
                <a:lnTo>
                  <a:pt x="6550" y="2972"/>
                </a:lnTo>
                <a:lnTo>
                  <a:pt x="6427" y="3018"/>
                </a:lnTo>
                <a:lnTo>
                  <a:pt x="6303" y="3064"/>
                </a:lnTo>
                <a:lnTo>
                  <a:pt x="6180" y="3110"/>
                </a:lnTo>
                <a:lnTo>
                  <a:pt x="6056" y="3154"/>
                </a:lnTo>
                <a:lnTo>
                  <a:pt x="5933" y="3198"/>
                </a:lnTo>
                <a:lnTo>
                  <a:pt x="5809" y="3241"/>
                </a:lnTo>
                <a:lnTo>
                  <a:pt x="5685" y="3283"/>
                </a:lnTo>
                <a:lnTo>
                  <a:pt x="5562" y="3325"/>
                </a:lnTo>
                <a:lnTo>
                  <a:pt x="5438" y="3366"/>
                </a:lnTo>
                <a:lnTo>
                  <a:pt x="5315" y="3407"/>
                </a:lnTo>
                <a:lnTo>
                  <a:pt x="5191" y="3447"/>
                </a:lnTo>
                <a:lnTo>
                  <a:pt x="5068" y="3486"/>
                </a:lnTo>
                <a:lnTo>
                  <a:pt x="4944" y="3525"/>
                </a:lnTo>
                <a:lnTo>
                  <a:pt x="4820" y="3564"/>
                </a:lnTo>
                <a:lnTo>
                  <a:pt x="4697" y="3601"/>
                </a:lnTo>
                <a:lnTo>
                  <a:pt x="4573" y="3639"/>
                </a:lnTo>
                <a:lnTo>
                  <a:pt x="4450" y="3676"/>
                </a:lnTo>
                <a:lnTo>
                  <a:pt x="4326" y="3713"/>
                </a:lnTo>
                <a:lnTo>
                  <a:pt x="4203" y="3749"/>
                </a:lnTo>
                <a:lnTo>
                  <a:pt x="4079" y="3784"/>
                </a:lnTo>
                <a:lnTo>
                  <a:pt x="3955" y="3818"/>
                </a:lnTo>
                <a:lnTo>
                  <a:pt x="3832" y="3852"/>
                </a:lnTo>
                <a:lnTo>
                  <a:pt x="3708" y="3885"/>
                </a:lnTo>
                <a:lnTo>
                  <a:pt x="3585" y="3917"/>
                </a:lnTo>
                <a:lnTo>
                  <a:pt x="3461" y="3949"/>
                </a:lnTo>
                <a:lnTo>
                  <a:pt x="3338" y="3980"/>
                </a:lnTo>
                <a:lnTo>
                  <a:pt x="3214" y="4010"/>
                </a:lnTo>
                <a:lnTo>
                  <a:pt x="3090" y="4039"/>
                </a:lnTo>
                <a:lnTo>
                  <a:pt x="2967" y="4067"/>
                </a:lnTo>
                <a:lnTo>
                  <a:pt x="2843" y="4094"/>
                </a:lnTo>
                <a:lnTo>
                  <a:pt x="2720" y="4120"/>
                </a:lnTo>
                <a:lnTo>
                  <a:pt x="2596" y="4146"/>
                </a:lnTo>
                <a:lnTo>
                  <a:pt x="2473" y="4170"/>
                </a:lnTo>
                <a:lnTo>
                  <a:pt x="2349" y="4194"/>
                </a:lnTo>
                <a:lnTo>
                  <a:pt x="2224" y="4217"/>
                </a:lnTo>
                <a:lnTo>
                  <a:pt x="2101" y="4238"/>
                </a:lnTo>
                <a:lnTo>
                  <a:pt x="1977" y="4259"/>
                </a:lnTo>
                <a:lnTo>
                  <a:pt x="1854" y="4280"/>
                </a:lnTo>
                <a:lnTo>
                  <a:pt x="1730" y="4299"/>
                </a:lnTo>
                <a:lnTo>
                  <a:pt x="1607" y="4317"/>
                </a:lnTo>
                <a:lnTo>
                  <a:pt x="1483" y="4335"/>
                </a:lnTo>
                <a:lnTo>
                  <a:pt x="1360" y="4352"/>
                </a:lnTo>
                <a:lnTo>
                  <a:pt x="1236" y="4368"/>
                </a:lnTo>
                <a:lnTo>
                  <a:pt x="1112" y="4384"/>
                </a:lnTo>
                <a:lnTo>
                  <a:pt x="989" y="4399"/>
                </a:lnTo>
                <a:lnTo>
                  <a:pt x="865" y="4413"/>
                </a:lnTo>
                <a:lnTo>
                  <a:pt x="742" y="4426"/>
                </a:lnTo>
                <a:lnTo>
                  <a:pt x="618" y="4439"/>
                </a:lnTo>
                <a:lnTo>
                  <a:pt x="495" y="4452"/>
                </a:lnTo>
                <a:lnTo>
                  <a:pt x="371" y="4464"/>
                </a:lnTo>
                <a:lnTo>
                  <a:pt x="247" y="4475"/>
                </a:lnTo>
                <a:lnTo>
                  <a:pt x="124" y="4485"/>
                </a:lnTo>
                <a:lnTo>
                  <a:pt x="0" y="4496"/>
                </a:lnTo>
                <a:lnTo>
                  <a:pt x="0" y="4114"/>
                </a:lnTo>
                <a:close/>
              </a:path>
            </a:pathLst>
          </a:custGeom>
          <a:solidFill>
            <a:srgbClr val="6D97C0">
              <a:alpha val="1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91040" y="2912400"/>
            <a:ext cx="2625120" cy="1265400"/>
          </a:xfrm>
          <a:custGeom>
            <a:avLst/>
            <a:gdLst/>
            <a:ahLst/>
            <a:rect l="0" t="0" r="r" b="b"/>
            <a:pathLst>
              <a:path w="7292" h="3515">
                <a:moveTo>
                  <a:pt x="0" y="2952"/>
                </a:moveTo>
                <a:lnTo>
                  <a:pt x="124" y="2933"/>
                </a:lnTo>
                <a:lnTo>
                  <a:pt x="247" y="2914"/>
                </a:lnTo>
                <a:lnTo>
                  <a:pt x="371" y="2895"/>
                </a:lnTo>
                <a:lnTo>
                  <a:pt x="495" y="2875"/>
                </a:lnTo>
                <a:lnTo>
                  <a:pt x="618" y="2855"/>
                </a:lnTo>
                <a:lnTo>
                  <a:pt x="742" y="2834"/>
                </a:lnTo>
                <a:lnTo>
                  <a:pt x="865" y="2813"/>
                </a:lnTo>
                <a:lnTo>
                  <a:pt x="989" y="2792"/>
                </a:lnTo>
                <a:lnTo>
                  <a:pt x="1112" y="2769"/>
                </a:lnTo>
                <a:lnTo>
                  <a:pt x="1236" y="2747"/>
                </a:lnTo>
                <a:lnTo>
                  <a:pt x="1360" y="2724"/>
                </a:lnTo>
                <a:lnTo>
                  <a:pt x="1483" y="2700"/>
                </a:lnTo>
                <a:lnTo>
                  <a:pt x="1607" y="2675"/>
                </a:lnTo>
                <a:lnTo>
                  <a:pt x="1730" y="2651"/>
                </a:lnTo>
                <a:lnTo>
                  <a:pt x="1854" y="2625"/>
                </a:lnTo>
                <a:lnTo>
                  <a:pt x="1977" y="2598"/>
                </a:lnTo>
                <a:lnTo>
                  <a:pt x="2101" y="2571"/>
                </a:lnTo>
                <a:lnTo>
                  <a:pt x="2224" y="2543"/>
                </a:lnTo>
                <a:lnTo>
                  <a:pt x="2349" y="2515"/>
                </a:lnTo>
                <a:lnTo>
                  <a:pt x="2473" y="2485"/>
                </a:lnTo>
                <a:lnTo>
                  <a:pt x="2596" y="2455"/>
                </a:lnTo>
                <a:lnTo>
                  <a:pt x="2720" y="2423"/>
                </a:lnTo>
                <a:lnTo>
                  <a:pt x="2843" y="2391"/>
                </a:lnTo>
                <a:lnTo>
                  <a:pt x="2967" y="2357"/>
                </a:lnTo>
                <a:lnTo>
                  <a:pt x="3090" y="2323"/>
                </a:lnTo>
                <a:lnTo>
                  <a:pt x="3214" y="2287"/>
                </a:lnTo>
                <a:lnTo>
                  <a:pt x="3338" y="2250"/>
                </a:lnTo>
                <a:lnTo>
                  <a:pt x="3461" y="2211"/>
                </a:lnTo>
                <a:lnTo>
                  <a:pt x="3585" y="2172"/>
                </a:lnTo>
                <a:lnTo>
                  <a:pt x="3708" y="2130"/>
                </a:lnTo>
                <a:lnTo>
                  <a:pt x="3832" y="2088"/>
                </a:lnTo>
                <a:lnTo>
                  <a:pt x="3955" y="2043"/>
                </a:lnTo>
                <a:lnTo>
                  <a:pt x="4079" y="1997"/>
                </a:lnTo>
                <a:lnTo>
                  <a:pt x="4203" y="1949"/>
                </a:lnTo>
                <a:lnTo>
                  <a:pt x="4326" y="1900"/>
                </a:lnTo>
                <a:lnTo>
                  <a:pt x="4450" y="1848"/>
                </a:lnTo>
                <a:lnTo>
                  <a:pt x="4573" y="1795"/>
                </a:lnTo>
                <a:lnTo>
                  <a:pt x="4697" y="1740"/>
                </a:lnTo>
                <a:lnTo>
                  <a:pt x="4820" y="1682"/>
                </a:lnTo>
                <a:lnTo>
                  <a:pt x="4944" y="1623"/>
                </a:lnTo>
                <a:lnTo>
                  <a:pt x="5068" y="1561"/>
                </a:lnTo>
                <a:lnTo>
                  <a:pt x="5191" y="1497"/>
                </a:lnTo>
                <a:lnTo>
                  <a:pt x="5315" y="1431"/>
                </a:lnTo>
                <a:lnTo>
                  <a:pt x="5438" y="1362"/>
                </a:lnTo>
                <a:lnTo>
                  <a:pt x="5562" y="1291"/>
                </a:lnTo>
                <a:lnTo>
                  <a:pt x="5685" y="1217"/>
                </a:lnTo>
                <a:lnTo>
                  <a:pt x="5809" y="1141"/>
                </a:lnTo>
                <a:lnTo>
                  <a:pt x="5933" y="1062"/>
                </a:lnTo>
                <a:lnTo>
                  <a:pt x="6056" y="981"/>
                </a:lnTo>
                <a:lnTo>
                  <a:pt x="6180" y="897"/>
                </a:lnTo>
                <a:lnTo>
                  <a:pt x="6303" y="809"/>
                </a:lnTo>
                <a:lnTo>
                  <a:pt x="6427" y="719"/>
                </a:lnTo>
                <a:lnTo>
                  <a:pt x="6550" y="625"/>
                </a:lnTo>
                <a:lnTo>
                  <a:pt x="6674" y="529"/>
                </a:lnTo>
                <a:lnTo>
                  <a:pt x="6798" y="430"/>
                </a:lnTo>
                <a:lnTo>
                  <a:pt x="6921" y="328"/>
                </a:lnTo>
                <a:lnTo>
                  <a:pt x="7045" y="222"/>
                </a:lnTo>
                <a:lnTo>
                  <a:pt x="7168" y="113"/>
                </a:lnTo>
                <a:lnTo>
                  <a:pt x="7292" y="0"/>
                </a:lnTo>
                <a:lnTo>
                  <a:pt x="7292" y="1764"/>
                </a:lnTo>
                <a:lnTo>
                  <a:pt x="7168" y="1802"/>
                </a:lnTo>
                <a:lnTo>
                  <a:pt x="7045" y="1840"/>
                </a:lnTo>
                <a:lnTo>
                  <a:pt x="6921" y="1877"/>
                </a:lnTo>
                <a:lnTo>
                  <a:pt x="6798" y="1914"/>
                </a:lnTo>
                <a:lnTo>
                  <a:pt x="6674" y="1951"/>
                </a:lnTo>
                <a:lnTo>
                  <a:pt x="6550" y="1987"/>
                </a:lnTo>
                <a:lnTo>
                  <a:pt x="6427" y="2023"/>
                </a:lnTo>
                <a:lnTo>
                  <a:pt x="6303" y="2059"/>
                </a:lnTo>
                <a:lnTo>
                  <a:pt x="6180" y="2095"/>
                </a:lnTo>
                <a:lnTo>
                  <a:pt x="6056" y="2130"/>
                </a:lnTo>
                <a:lnTo>
                  <a:pt x="5933" y="2165"/>
                </a:lnTo>
                <a:lnTo>
                  <a:pt x="5809" y="2200"/>
                </a:lnTo>
                <a:lnTo>
                  <a:pt x="5685" y="2235"/>
                </a:lnTo>
                <a:lnTo>
                  <a:pt x="5562" y="2269"/>
                </a:lnTo>
                <a:lnTo>
                  <a:pt x="5438" y="2303"/>
                </a:lnTo>
                <a:lnTo>
                  <a:pt x="5315" y="2337"/>
                </a:lnTo>
                <a:lnTo>
                  <a:pt x="5191" y="2371"/>
                </a:lnTo>
                <a:lnTo>
                  <a:pt x="5068" y="2405"/>
                </a:lnTo>
                <a:lnTo>
                  <a:pt x="4944" y="2439"/>
                </a:lnTo>
                <a:lnTo>
                  <a:pt x="4697" y="2505"/>
                </a:lnTo>
                <a:lnTo>
                  <a:pt x="4573" y="2538"/>
                </a:lnTo>
                <a:lnTo>
                  <a:pt x="4326" y="2604"/>
                </a:lnTo>
                <a:lnTo>
                  <a:pt x="4203" y="2637"/>
                </a:lnTo>
                <a:lnTo>
                  <a:pt x="4079" y="2669"/>
                </a:lnTo>
                <a:lnTo>
                  <a:pt x="3955" y="2701"/>
                </a:lnTo>
                <a:lnTo>
                  <a:pt x="3832" y="2733"/>
                </a:lnTo>
                <a:lnTo>
                  <a:pt x="3708" y="2764"/>
                </a:lnTo>
                <a:lnTo>
                  <a:pt x="3585" y="2796"/>
                </a:lnTo>
                <a:lnTo>
                  <a:pt x="3461" y="2827"/>
                </a:lnTo>
                <a:lnTo>
                  <a:pt x="3338" y="2858"/>
                </a:lnTo>
                <a:lnTo>
                  <a:pt x="3214" y="2888"/>
                </a:lnTo>
                <a:lnTo>
                  <a:pt x="3090" y="2918"/>
                </a:lnTo>
                <a:lnTo>
                  <a:pt x="2967" y="2948"/>
                </a:lnTo>
                <a:lnTo>
                  <a:pt x="2843" y="2977"/>
                </a:lnTo>
                <a:lnTo>
                  <a:pt x="2720" y="3006"/>
                </a:lnTo>
                <a:lnTo>
                  <a:pt x="2596" y="3034"/>
                </a:lnTo>
                <a:lnTo>
                  <a:pt x="2473" y="3062"/>
                </a:lnTo>
                <a:lnTo>
                  <a:pt x="2349" y="3089"/>
                </a:lnTo>
                <a:lnTo>
                  <a:pt x="2224" y="3116"/>
                </a:lnTo>
                <a:lnTo>
                  <a:pt x="2101" y="3143"/>
                </a:lnTo>
                <a:lnTo>
                  <a:pt x="1977" y="3169"/>
                </a:lnTo>
                <a:lnTo>
                  <a:pt x="1854" y="3194"/>
                </a:lnTo>
                <a:lnTo>
                  <a:pt x="1730" y="3219"/>
                </a:lnTo>
                <a:lnTo>
                  <a:pt x="1607" y="3243"/>
                </a:lnTo>
                <a:lnTo>
                  <a:pt x="1483" y="3267"/>
                </a:lnTo>
                <a:lnTo>
                  <a:pt x="1360" y="3291"/>
                </a:lnTo>
                <a:lnTo>
                  <a:pt x="1236" y="3314"/>
                </a:lnTo>
                <a:lnTo>
                  <a:pt x="1112" y="3336"/>
                </a:lnTo>
                <a:lnTo>
                  <a:pt x="989" y="3358"/>
                </a:lnTo>
                <a:lnTo>
                  <a:pt x="865" y="3379"/>
                </a:lnTo>
                <a:lnTo>
                  <a:pt x="742" y="3400"/>
                </a:lnTo>
                <a:lnTo>
                  <a:pt x="618" y="3420"/>
                </a:lnTo>
                <a:lnTo>
                  <a:pt x="495" y="3440"/>
                </a:lnTo>
                <a:lnTo>
                  <a:pt x="371" y="3459"/>
                </a:lnTo>
                <a:lnTo>
                  <a:pt x="247" y="3478"/>
                </a:lnTo>
                <a:lnTo>
                  <a:pt x="124" y="3497"/>
                </a:lnTo>
                <a:lnTo>
                  <a:pt x="0" y="3515"/>
                </a:lnTo>
                <a:lnTo>
                  <a:pt x="0" y="2952"/>
                </a:lnTo>
                <a:close/>
              </a:path>
            </a:pathLst>
          </a:custGeom>
          <a:solidFill>
            <a:srgbClr val="1F5F9E">
              <a:alpha val="1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491040" y="2692440"/>
            <a:ext cx="2625120" cy="1152360"/>
          </a:xfrm>
          <a:custGeom>
            <a:avLst/>
            <a:gdLst/>
            <a:ahLst/>
            <a:rect l="0" t="0" r="r" b="b"/>
            <a:pathLst>
              <a:path w="7292" h="3201">
                <a:moveTo>
                  <a:pt x="0" y="906"/>
                </a:moveTo>
                <a:lnTo>
                  <a:pt x="124" y="927"/>
                </a:lnTo>
                <a:lnTo>
                  <a:pt x="247" y="948"/>
                </a:lnTo>
                <a:lnTo>
                  <a:pt x="371" y="968"/>
                </a:lnTo>
                <a:lnTo>
                  <a:pt x="495" y="988"/>
                </a:lnTo>
                <a:lnTo>
                  <a:pt x="618" y="1007"/>
                </a:lnTo>
                <a:lnTo>
                  <a:pt x="742" y="1025"/>
                </a:lnTo>
                <a:lnTo>
                  <a:pt x="865" y="1043"/>
                </a:lnTo>
                <a:lnTo>
                  <a:pt x="989" y="1061"/>
                </a:lnTo>
                <a:lnTo>
                  <a:pt x="1112" y="1077"/>
                </a:lnTo>
                <a:lnTo>
                  <a:pt x="1236" y="1093"/>
                </a:lnTo>
                <a:lnTo>
                  <a:pt x="1360" y="1109"/>
                </a:lnTo>
                <a:lnTo>
                  <a:pt x="1483" y="1123"/>
                </a:lnTo>
                <a:lnTo>
                  <a:pt x="1607" y="1137"/>
                </a:lnTo>
                <a:lnTo>
                  <a:pt x="1730" y="1150"/>
                </a:lnTo>
                <a:lnTo>
                  <a:pt x="1854" y="1162"/>
                </a:lnTo>
                <a:lnTo>
                  <a:pt x="1977" y="1173"/>
                </a:lnTo>
                <a:lnTo>
                  <a:pt x="2101" y="1183"/>
                </a:lnTo>
                <a:lnTo>
                  <a:pt x="2224" y="1192"/>
                </a:lnTo>
                <a:lnTo>
                  <a:pt x="2349" y="1200"/>
                </a:lnTo>
                <a:lnTo>
                  <a:pt x="2473" y="1207"/>
                </a:lnTo>
                <a:lnTo>
                  <a:pt x="2596" y="1212"/>
                </a:lnTo>
                <a:lnTo>
                  <a:pt x="2720" y="1216"/>
                </a:lnTo>
                <a:lnTo>
                  <a:pt x="2843" y="1218"/>
                </a:lnTo>
                <a:lnTo>
                  <a:pt x="2967" y="1219"/>
                </a:lnTo>
                <a:lnTo>
                  <a:pt x="3090" y="1218"/>
                </a:lnTo>
                <a:lnTo>
                  <a:pt x="3214" y="1216"/>
                </a:lnTo>
                <a:lnTo>
                  <a:pt x="3338" y="1212"/>
                </a:lnTo>
                <a:lnTo>
                  <a:pt x="3461" y="1205"/>
                </a:lnTo>
                <a:lnTo>
                  <a:pt x="3585" y="1197"/>
                </a:lnTo>
                <a:lnTo>
                  <a:pt x="3708" y="1187"/>
                </a:lnTo>
                <a:lnTo>
                  <a:pt x="3832" y="1175"/>
                </a:lnTo>
                <a:lnTo>
                  <a:pt x="3955" y="1161"/>
                </a:lnTo>
                <a:lnTo>
                  <a:pt x="4079" y="1144"/>
                </a:lnTo>
                <a:lnTo>
                  <a:pt x="4203" y="1125"/>
                </a:lnTo>
                <a:lnTo>
                  <a:pt x="4326" y="1104"/>
                </a:lnTo>
                <a:lnTo>
                  <a:pt x="4450" y="1081"/>
                </a:lnTo>
                <a:lnTo>
                  <a:pt x="4573" y="1055"/>
                </a:lnTo>
                <a:lnTo>
                  <a:pt x="4697" y="1028"/>
                </a:lnTo>
                <a:lnTo>
                  <a:pt x="4820" y="998"/>
                </a:lnTo>
                <a:lnTo>
                  <a:pt x="4944" y="966"/>
                </a:lnTo>
                <a:lnTo>
                  <a:pt x="5068" y="932"/>
                </a:lnTo>
                <a:lnTo>
                  <a:pt x="5191" y="895"/>
                </a:lnTo>
                <a:lnTo>
                  <a:pt x="5315" y="857"/>
                </a:lnTo>
                <a:lnTo>
                  <a:pt x="5438" y="817"/>
                </a:lnTo>
                <a:lnTo>
                  <a:pt x="5562" y="775"/>
                </a:lnTo>
                <a:lnTo>
                  <a:pt x="5685" y="731"/>
                </a:lnTo>
                <a:lnTo>
                  <a:pt x="5809" y="685"/>
                </a:lnTo>
                <a:lnTo>
                  <a:pt x="5933" y="637"/>
                </a:lnTo>
                <a:lnTo>
                  <a:pt x="6056" y="587"/>
                </a:lnTo>
                <a:lnTo>
                  <a:pt x="6180" y="536"/>
                </a:lnTo>
                <a:lnTo>
                  <a:pt x="6303" y="482"/>
                </a:lnTo>
                <a:lnTo>
                  <a:pt x="6427" y="427"/>
                </a:lnTo>
                <a:lnTo>
                  <a:pt x="6550" y="371"/>
                </a:lnTo>
                <a:lnTo>
                  <a:pt x="6674" y="313"/>
                </a:lnTo>
                <a:lnTo>
                  <a:pt x="6798" y="253"/>
                </a:lnTo>
                <a:lnTo>
                  <a:pt x="6921" y="192"/>
                </a:lnTo>
                <a:lnTo>
                  <a:pt x="7045" y="130"/>
                </a:lnTo>
                <a:lnTo>
                  <a:pt x="7168" y="65"/>
                </a:lnTo>
                <a:lnTo>
                  <a:pt x="7292" y="0"/>
                </a:lnTo>
                <a:lnTo>
                  <a:pt x="7292" y="2604"/>
                </a:lnTo>
                <a:lnTo>
                  <a:pt x="7168" y="2593"/>
                </a:lnTo>
                <a:lnTo>
                  <a:pt x="7045" y="2583"/>
                </a:lnTo>
                <a:lnTo>
                  <a:pt x="6921" y="2573"/>
                </a:lnTo>
                <a:lnTo>
                  <a:pt x="6798" y="2563"/>
                </a:lnTo>
                <a:lnTo>
                  <a:pt x="6674" y="2554"/>
                </a:lnTo>
                <a:lnTo>
                  <a:pt x="6550" y="2545"/>
                </a:lnTo>
                <a:lnTo>
                  <a:pt x="6427" y="2537"/>
                </a:lnTo>
                <a:lnTo>
                  <a:pt x="6303" y="2529"/>
                </a:lnTo>
                <a:lnTo>
                  <a:pt x="6180" y="2521"/>
                </a:lnTo>
                <a:lnTo>
                  <a:pt x="6056" y="2514"/>
                </a:lnTo>
                <a:lnTo>
                  <a:pt x="5933" y="2508"/>
                </a:lnTo>
                <a:lnTo>
                  <a:pt x="5809" y="2502"/>
                </a:lnTo>
                <a:lnTo>
                  <a:pt x="5685" y="2497"/>
                </a:lnTo>
                <a:lnTo>
                  <a:pt x="5562" y="2492"/>
                </a:lnTo>
                <a:lnTo>
                  <a:pt x="5438" y="2489"/>
                </a:lnTo>
                <a:lnTo>
                  <a:pt x="5315" y="2486"/>
                </a:lnTo>
                <a:lnTo>
                  <a:pt x="5191" y="2484"/>
                </a:lnTo>
                <a:lnTo>
                  <a:pt x="5068" y="2484"/>
                </a:lnTo>
                <a:lnTo>
                  <a:pt x="4944" y="2484"/>
                </a:lnTo>
                <a:lnTo>
                  <a:pt x="4820" y="2485"/>
                </a:lnTo>
                <a:lnTo>
                  <a:pt x="4697" y="2488"/>
                </a:lnTo>
                <a:lnTo>
                  <a:pt x="4573" y="2491"/>
                </a:lnTo>
                <a:lnTo>
                  <a:pt x="4450" y="2496"/>
                </a:lnTo>
                <a:lnTo>
                  <a:pt x="4326" y="2503"/>
                </a:lnTo>
                <a:lnTo>
                  <a:pt x="4203" y="2510"/>
                </a:lnTo>
                <a:lnTo>
                  <a:pt x="4079" y="2519"/>
                </a:lnTo>
                <a:lnTo>
                  <a:pt x="3955" y="2529"/>
                </a:lnTo>
                <a:lnTo>
                  <a:pt x="3832" y="2540"/>
                </a:lnTo>
                <a:lnTo>
                  <a:pt x="3708" y="2553"/>
                </a:lnTo>
                <a:lnTo>
                  <a:pt x="3585" y="2566"/>
                </a:lnTo>
                <a:lnTo>
                  <a:pt x="3461" y="2581"/>
                </a:lnTo>
                <a:lnTo>
                  <a:pt x="3338" y="2597"/>
                </a:lnTo>
                <a:lnTo>
                  <a:pt x="3214" y="2614"/>
                </a:lnTo>
                <a:lnTo>
                  <a:pt x="3090" y="2632"/>
                </a:lnTo>
                <a:lnTo>
                  <a:pt x="2967" y="2651"/>
                </a:lnTo>
                <a:lnTo>
                  <a:pt x="2843" y="2670"/>
                </a:lnTo>
                <a:lnTo>
                  <a:pt x="2720" y="2691"/>
                </a:lnTo>
                <a:lnTo>
                  <a:pt x="2596" y="2712"/>
                </a:lnTo>
                <a:lnTo>
                  <a:pt x="2473" y="2733"/>
                </a:lnTo>
                <a:lnTo>
                  <a:pt x="2349" y="2755"/>
                </a:lnTo>
                <a:lnTo>
                  <a:pt x="2224" y="2778"/>
                </a:lnTo>
                <a:lnTo>
                  <a:pt x="2101" y="2801"/>
                </a:lnTo>
                <a:lnTo>
                  <a:pt x="1977" y="2824"/>
                </a:lnTo>
                <a:lnTo>
                  <a:pt x="1854" y="2847"/>
                </a:lnTo>
                <a:lnTo>
                  <a:pt x="1730" y="2871"/>
                </a:lnTo>
                <a:lnTo>
                  <a:pt x="1607" y="2895"/>
                </a:lnTo>
                <a:lnTo>
                  <a:pt x="1483" y="2918"/>
                </a:lnTo>
                <a:lnTo>
                  <a:pt x="1360" y="2942"/>
                </a:lnTo>
                <a:lnTo>
                  <a:pt x="1236" y="2966"/>
                </a:lnTo>
                <a:lnTo>
                  <a:pt x="1112" y="2990"/>
                </a:lnTo>
                <a:lnTo>
                  <a:pt x="989" y="3014"/>
                </a:lnTo>
                <a:lnTo>
                  <a:pt x="865" y="3038"/>
                </a:lnTo>
                <a:lnTo>
                  <a:pt x="742" y="3062"/>
                </a:lnTo>
                <a:lnTo>
                  <a:pt x="618" y="3085"/>
                </a:lnTo>
                <a:lnTo>
                  <a:pt x="495" y="3109"/>
                </a:lnTo>
                <a:lnTo>
                  <a:pt x="247" y="3155"/>
                </a:lnTo>
                <a:lnTo>
                  <a:pt x="124" y="3178"/>
                </a:lnTo>
                <a:lnTo>
                  <a:pt x="0" y="3201"/>
                </a:lnTo>
                <a:lnTo>
                  <a:pt x="0" y="906"/>
                </a:lnTo>
                <a:close/>
              </a:path>
            </a:pathLst>
          </a:custGeom>
          <a:solidFill>
            <a:srgbClr val="053E6E">
              <a:alpha val="1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91040" y="3291480"/>
            <a:ext cx="2625120" cy="987120"/>
          </a:xfrm>
          <a:custGeom>
            <a:avLst/>
            <a:gdLst/>
            <a:ahLst/>
            <a:rect l="0" t="0" r="r" b="b"/>
            <a:pathLst>
              <a:path fill="none" w="7292" h="2742">
                <a:moveTo>
                  <a:pt x="0" y="2742"/>
                </a:moveTo>
                <a:lnTo>
                  <a:pt x="124" y="2729"/>
                </a:lnTo>
                <a:lnTo>
                  <a:pt x="247" y="2716"/>
                </a:lnTo>
                <a:lnTo>
                  <a:pt x="371" y="2702"/>
                </a:lnTo>
                <a:lnTo>
                  <a:pt x="495" y="2687"/>
                </a:lnTo>
                <a:lnTo>
                  <a:pt x="618" y="2672"/>
                </a:lnTo>
                <a:lnTo>
                  <a:pt x="742" y="2656"/>
                </a:lnTo>
                <a:lnTo>
                  <a:pt x="865" y="2640"/>
                </a:lnTo>
                <a:lnTo>
                  <a:pt x="989" y="2623"/>
                </a:lnTo>
                <a:lnTo>
                  <a:pt x="1112" y="2605"/>
                </a:lnTo>
                <a:lnTo>
                  <a:pt x="1236" y="2587"/>
                </a:lnTo>
                <a:lnTo>
                  <a:pt x="1360" y="2568"/>
                </a:lnTo>
                <a:lnTo>
                  <a:pt x="1483" y="2549"/>
                </a:lnTo>
                <a:lnTo>
                  <a:pt x="1607" y="2528"/>
                </a:lnTo>
                <a:lnTo>
                  <a:pt x="1730" y="2507"/>
                </a:lnTo>
                <a:lnTo>
                  <a:pt x="1854" y="2485"/>
                </a:lnTo>
                <a:lnTo>
                  <a:pt x="1977" y="2462"/>
                </a:lnTo>
                <a:lnTo>
                  <a:pt x="2101" y="2439"/>
                </a:lnTo>
                <a:lnTo>
                  <a:pt x="2224" y="2414"/>
                </a:lnTo>
                <a:lnTo>
                  <a:pt x="2349" y="2389"/>
                </a:lnTo>
                <a:lnTo>
                  <a:pt x="2473" y="2362"/>
                </a:lnTo>
                <a:lnTo>
                  <a:pt x="2596" y="2335"/>
                </a:lnTo>
                <a:lnTo>
                  <a:pt x="2720" y="2306"/>
                </a:lnTo>
                <a:lnTo>
                  <a:pt x="2843" y="2277"/>
                </a:lnTo>
                <a:lnTo>
                  <a:pt x="2967" y="2246"/>
                </a:lnTo>
                <a:lnTo>
                  <a:pt x="3090" y="2214"/>
                </a:lnTo>
                <a:lnTo>
                  <a:pt x="3214" y="2181"/>
                </a:lnTo>
                <a:lnTo>
                  <a:pt x="3338" y="2147"/>
                </a:lnTo>
                <a:lnTo>
                  <a:pt x="3461" y="2111"/>
                </a:lnTo>
                <a:lnTo>
                  <a:pt x="3585" y="2074"/>
                </a:lnTo>
                <a:lnTo>
                  <a:pt x="3708" y="2036"/>
                </a:lnTo>
                <a:lnTo>
                  <a:pt x="3832" y="1996"/>
                </a:lnTo>
                <a:lnTo>
                  <a:pt x="3955" y="1955"/>
                </a:lnTo>
                <a:lnTo>
                  <a:pt x="4079" y="1912"/>
                </a:lnTo>
                <a:lnTo>
                  <a:pt x="4203" y="1868"/>
                </a:lnTo>
                <a:lnTo>
                  <a:pt x="4326" y="1822"/>
                </a:lnTo>
                <a:lnTo>
                  <a:pt x="4450" y="1774"/>
                </a:lnTo>
                <a:lnTo>
                  <a:pt x="4573" y="1724"/>
                </a:lnTo>
                <a:lnTo>
                  <a:pt x="4697" y="1672"/>
                </a:lnTo>
                <a:lnTo>
                  <a:pt x="4820" y="1619"/>
                </a:lnTo>
                <a:lnTo>
                  <a:pt x="4944" y="1563"/>
                </a:lnTo>
                <a:lnTo>
                  <a:pt x="5068" y="1506"/>
                </a:lnTo>
                <a:lnTo>
                  <a:pt x="5191" y="1446"/>
                </a:lnTo>
                <a:lnTo>
                  <a:pt x="5315" y="1384"/>
                </a:lnTo>
                <a:lnTo>
                  <a:pt x="5438" y="1319"/>
                </a:lnTo>
                <a:lnTo>
                  <a:pt x="5562" y="1252"/>
                </a:lnTo>
                <a:lnTo>
                  <a:pt x="5685" y="1183"/>
                </a:lnTo>
                <a:lnTo>
                  <a:pt x="5809" y="1111"/>
                </a:lnTo>
                <a:lnTo>
                  <a:pt x="5933" y="1036"/>
                </a:lnTo>
                <a:lnTo>
                  <a:pt x="6056" y="958"/>
                </a:lnTo>
                <a:lnTo>
                  <a:pt x="6180" y="878"/>
                </a:lnTo>
                <a:lnTo>
                  <a:pt x="6303" y="794"/>
                </a:lnTo>
                <a:lnTo>
                  <a:pt x="6427" y="707"/>
                </a:lnTo>
                <a:lnTo>
                  <a:pt x="6550" y="617"/>
                </a:lnTo>
                <a:lnTo>
                  <a:pt x="6674" y="524"/>
                </a:lnTo>
                <a:lnTo>
                  <a:pt x="6798" y="426"/>
                </a:lnTo>
                <a:lnTo>
                  <a:pt x="6921" y="325"/>
                </a:lnTo>
                <a:lnTo>
                  <a:pt x="7045" y="221"/>
                </a:lnTo>
                <a:lnTo>
                  <a:pt x="7168" y="113"/>
                </a:lnTo>
                <a:lnTo>
                  <a:pt x="7292" y="0"/>
                </a:lnTo>
              </a:path>
            </a:pathLst>
          </a:custGeom>
          <a:ln w="13320">
            <a:solidFill>
              <a:srgbClr val="6D97C0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91040" y="3273480"/>
            <a:ext cx="2625120" cy="819000"/>
          </a:xfrm>
          <a:custGeom>
            <a:avLst/>
            <a:gdLst/>
            <a:ahLst/>
            <a:rect l="0" t="0" r="r" b="b"/>
            <a:pathLst>
              <a:path fill="none" w="7292" h="2275">
                <a:moveTo>
                  <a:pt x="0" y="2275"/>
                </a:moveTo>
                <a:lnTo>
                  <a:pt x="124" y="2256"/>
                </a:lnTo>
                <a:lnTo>
                  <a:pt x="247" y="2236"/>
                </a:lnTo>
                <a:lnTo>
                  <a:pt x="371" y="2216"/>
                </a:lnTo>
                <a:lnTo>
                  <a:pt x="495" y="2196"/>
                </a:lnTo>
                <a:lnTo>
                  <a:pt x="618" y="2175"/>
                </a:lnTo>
                <a:lnTo>
                  <a:pt x="742" y="2154"/>
                </a:lnTo>
                <a:lnTo>
                  <a:pt x="865" y="2132"/>
                </a:lnTo>
                <a:lnTo>
                  <a:pt x="989" y="2110"/>
                </a:lnTo>
                <a:lnTo>
                  <a:pt x="1112" y="2087"/>
                </a:lnTo>
                <a:lnTo>
                  <a:pt x="1236" y="2064"/>
                </a:lnTo>
                <a:lnTo>
                  <a:pt x="1360" y="2040"/>
                </a:lnTo>
                <a:lnTo>
                  <a:pt x="1483" y="2016"/>
                </a:lnTo>
                <a:lnTo>
                  <a:pt x="1607" y="1991"/>
                </a:lnTo>
                <a:lnTo>
                  <a:pt x="1730" y="1966"/>
                </a:lnTo>
                <a:lnTo>
                  <a:pt x="1854" y="1940"/>
                </a:lnTo>
                <a:lnTo>
                  <a:pt x="1977" y="1913"/>
                </a:lnTo>
                <a:lnTo>
                  <a:pt x="2101" y="1886"/>
                </a:lnTo>
                <a:lnTo>
                  <a:pt x="2224" y="1858"/>
                </a:lnTo>
                <a:lnTo>
                  <a:pt x="2349" y="1830"/>
                </a:lnTo>
                <a:lnTo>
                  <a:pt x="2473" y="1801"/>
                </a:lnTo>
                <a:lnTo>
                  <a:pt x="2596" y="1772"/>
                </a:lnTo>
                <a:lnTo>
                  <a:pt x="2720" y="1741"/>
                </a:lnTo>
                <a:lnTo>
                  <a:pt x="2843" y="1711"/>
                </a:lnTo>
                <a:lnTo>
                  <a:pt x="2967" y="1679"/>
                </a:lnTo>
                <a:lnTo>
                  <a:pt x="3090" y="1647"/>
                </a:lnTo>
                <a:lnTo>
                  <a:pt x="3214" y="1614"/>
                </a:lnTo>
                <a:lnTo>
                  <a:pt x="3338" y="1580"/>
                </a:lnTo>
                <a:lnTo>
                  <a:pt x="3461" y="1546"/>
                </a:lnTo>
                <a:lnTo>
                  <a:pt x="3585" y="1510"/>
                </a:lnTo>
                <a:lnTo>
                  <a:pt x="3708" y="1474"/>
                </a:lnTo>
                <a:lnTo>
                  <a:pt x="3832" y="1438"/>
                </a:lnTo>
                <a:lnTo>
                  <a:pt x="3955" y="1400"/>
                </a:lnTo>
                <a:lnTo>
                  <a:pt x="4079" y="1362"/>
                </a:lnTo>
                <a:lnTo>
                  <a:pt x="4203" y="1322"/>
                </a:lnTo>
                <a:lnTo>
                  <a:pt x="4326" y="1282"/>
                </a:lnTo>
                <a:lnTo>
                  <a:pt x="4450" y="1241"/>
                </a:lnTo>
                <a:lnTo>
                  <a:pt x="4573" y="1199"/>
                </a:lnTo>
                <a:lnTo>
                  <a:pt x="4697" y="1156"/>
                </a:lnTo>
                <a:lnTo>
                  <a:pt x="4820" y="1111"/>
                </a:lnTo>
                <a:lnTo>
                  <a:pt x="4944" y="1066"/>
                </a:lnTo>
                <a:lnTo>
                  <a:pt x="5068" y="1021"/>
                </a:lnTo>
                <a:lnTo>
                  <a:pt x="5191" y="974"/>
                </a:lnTo>
                <a:lnTo>
                  <a:pt x="5315" y="926"/>
                </a:lnTo>
                <a:lnTo>
                  <a:pt x="5438" y="877"/>
                </a:lnTo>
                <a:lnTo>
                  <a:pt x="5562" y="827"/>
                </a:lnTo>
                <a:lnTo>
                  <a:pt x="5685" y="776"/>
                </a:lnTo>
                <a:lnTo>
                  <a:pt x="5809" y="724"/>
                </a:lnTo>
                <a:lnTo>
                  <a:pt x="5933" y="671"/>
                </a:lnTo>
                <a:lnTo>
                  <a:pt x="6056" y="616"/>
                </a:lnTo>
                <a:lnTo>
                  <a:pt x="6180" y="560"/>
                </a:lnTo>
                <a:lnTo>
                  <a:pt x="6303" y="503"/>
                </a:lnTo>
                <a:lnTo>
                  <a:pt x="6427" y="445"/>
                </a:lnTo>
                <a:lnTo>
                  <a:pt x="6550" y="385"/>
                </a:lnTo>
                <a:lnTo>
                  <a:pt x="6674" y="325"/>
                </a:lnTo>
                <a:lnTo>
                  <a:pt x="6798" y="263"/>
                </a:lnTo>
                <a:lnTo>
                  <a:pt x="6921" y="199"/>
                </a:lnTo>
                <a:lnTo>
                  <a:pt x="7045" y="134"/>
                </a:lnTo>
                <a:lnTo>
                  <a:pt x="7168" y="68"/>
                </a:lnTo>
                <a:lnTo>
                  <a:pt x="7292" y="0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91040" y="3252600"/>
            <a:ext cx="2625120" cy="271440"/>
          </a:xfrm>
          <a:custGeom>
            <a:avLst/>
            <a:gdLst/>
            <a:ahLst/>
            <a:rect l="0" t="0" r="r" b="b"/>
            <a:pathLst>
              <a:path fill="none" w="7292" h="754">
                <a:moveTo>
                  <a:pt x="0" y="754"/>
                </a:moveTo>
                <a:lnTo>
                  <a:pt x="124" y="742"/>
                </a:lnTo>
                <a:lnTo>
                  <a:pt x="247" y="731"/>
                </a:lnTo>
                <a:lnTo>
                  <a:pt x="495" y="709"/>
                </a:lnTo>
                <a:lnTo>
                  <a:pt x="618" y="697"/>
                </a:lnTo>
                <a:lnTo>
                  <a:pt x="865" y="674"/>
                </a:lnTo>
                <a:lnTo>
                  <a:pt x="989" y="663"/>
                </a:lnTo>
                <a:lnTo>
                  <a:pt x="1236" y="640"/>
                </a:lnTo>
                <a:lnTo>
                  <a:pt x="1360" y="628"/>
                </a:lnTo>
                <a:lnTo>
                  <a:pt x="1483" y="616"/>
                </a:lnTo>
                <a:lnTo>
                  <a:pt x="1607" y="605"/>
                </a:lnTo>
                <a:lnTo>
                  <a:pt x="1730" y="593"/>
                </a:lnTo>
                <a:lnTo>
                  <a:pt x="1854" y="581"/>
                </a:lnTo>
                <a:lnTo>
                  <a:pt x="2101" y="557"/>
                </a:lnTo>
                <a:lnTo>
                  <a:pt x="2224" y="545"/>
                </a:lnTo>
                <a:lnTo>
                  <a:pt x="2349" y="533"/>
                </a:lnTo>
                <a:lnTo>
                  <a:pt x="2473" y="521"/>
                </a:lnTo>
                <a:lnTo>
                  <a:pt x="2596" y="508"/>
                </a:lnTo>
                <a:lnTo>
                  <a:pt x="2720" y="496"/>
                </a:lnTo>
                <a:lnTo>
                  <a:pt x="2967" y="471"/>
                </a:lnTo>
                <a:lnTo>
                  <a:pt x="3090" y="459"/>
                </a:lnTo>
                <a:lnTo>
                  <a:pt x="3214" y="447"/>
                </a:lnTo>
                <a:lnTo>
                  <a:pt x="3338" y="434"/>
                </a:lnTo>
                <a:lnTo>
                  <a:pt x="3461" y="421"/>
                </a:lnTo>
                <a:lnTo>
                  <a:pt x="3708" y="396"/>
                </a:lnTo>
                <a:lnTo>
                  <a:pt x="3832" y="383"/>
                </a:lnTo>
                <a:lnTo>
                  <a:pt x="3955" y="370"/>
                </a:lnTo>
                <a:lnTo>
                  <a:pt x="4203" y="343"/>
                </a:lnTo>
                <a:lnTo>
                  <a:pt x="4326" y="330"/>
                </a:lnTo>
                <a:lnTo>
                  <a:pt x="4450" y="317"/>
                </a:lnTo>
                <a:lnTo>
                  <a:pt x="4573" y="304"/>
                </a:lnTo>
                <a:lnTo>
                  <a:pt x="4697" y="291"/>
                </a:lnTo>
                <a:lnTo>
                  <a:pt x="4820" y="278"/>
                </a:lnTo>
                <a:lnTo>
                  <a:pt x="4944" y="264"/>
                </a:lnTo>
                <a:lnTo>
                  <a:pt x="5068" y="251"/>
                </a:lnTo>
                <a:lnTo>
                  <a:pt x="5438" y="211"/>
                </a:lnTo>
                <a:lnTo>
                  <a:pt x="5562" y="197"/>
                </a:lnTo>
                <a:lnTo>
                  <a:pt x="5685" y="183"/>
                </a:lnTo>
                <a:lnTo>
                  <a:pt x="5809" y="170"/>
                </a:lnTo>
                <a:lnTo>
                  <a:pt x="5933" y="156"/>
                </a:lnTo>
                <a:lnTo>
                  <a:pt x="6180" y="128"/>
                </a:lnTo>
                <a:lnTo>
                  <a:pt x="6303" y="114"/>
                </a:lnTo>
                <a:lnTo>
                  <a:pt x="6550" y="86"/>
                </a:lnTo>
                <a:lnTo>
                  <a:pt x="6674" y="72"/>
                </a:lnTo>
                <a:lnTo>
                  <a:pt x="6798" y="57"/>
                </a:lnTo>
                <a:lnTo>
                  <a:pt x="7045" y="29"/>
                </a:lnTo>
                <a:lnTo>
                  <a:pt x="7168" y="14"/>
                </a:lnTo>
                <a:lnTo>
                  <a:pt x="7292" y="0"/>
                </a:lnTo>
              </a:path>
            </a:pathLst>
          </a:custGeom>
          <a:ln w="13320">
            <a:solidFill>
              <a:srgbClr val="053E6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32928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19840" y="428940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6D97C0"/>
                </a:solidFill>
                <a:effectLst/>
                <a:uFillTx/>
                <a:latin typeface="Arial"/>
                <a:ea typeface="Arial"/>
              </a:rPr>
              <a:t>3 visits/yr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19840" y="3879000"/>
            <a:ext cx="360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60 visits/yr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19840" y="3416760"/>
            <a:ext cx="46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053E6E"/>
                </a:solidFill>
                <a:effectLst/>
                <a:uFillTx/>
                <a:latin typeface="Arial"/>
                <a:ea typeface="Arial"/>
              </a:rPr>
              <a:t>1,163 visits/yr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226960" y="4229280"/>
            <a:ext cx="9057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 SD of warming = 0.18 °C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 flipV="1">
            <a:off x="360000" y="2640960"/>
            <a:ext cx="0" cy="176112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985760" y="4316040"/>
            <a:ext cx="1127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 SD of effort = ×7.9 annual visits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15280" y="43578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15280" y="38556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15280" y="33530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34440" y="44020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34440" y="389988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34440" y="339732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34440" y="2895120"/>
            <a:ext cx="2556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60000" y="4402080"/>
            <a:ext cx="28868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 flipV="1">
            <a:off x="37584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 flipV="1">
            <a:off x="109296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180972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 flipV="1">
            <a:off x="252648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324360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15280" y="28508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99880" y="4432680"/>
            <a:ext cx="151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16640" y="4432680"/>
            <a:ext cx="1512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75896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47608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19284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56000" y="4559760"/>
            <a:ext cx="2027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 warmed more than the species' range (°C)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 rot="16200000">
            <a:off x="-569880" y="3487320"/>
            <a:ext cx="1366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Annual hazard of a new record (%)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89720" y="2349360"/>
            <a:ext cx="1729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Warming raises hazard most at low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089600" y="2640960"/>
            <a:ext cx="2362680" cy="946440"/>
          </a:xfrm>
          <a:custGeom>
            <a:avLst/>
            <a:gdLst/>
            <a:ahLst/>
            <a:rect l="0" t="0" r="r" b="b"/>
            <a:pathLst>
              <a:path w="6563" h="2629">
                <a:moveTo>
                  <a:pt x="0" y="0"/>
                </a:moveTo>
                <a:lnTo>
                  <a:pt x="6563" y="0"/>
                </a:lnTo>
                <a:lnTo>
                  <a:pt x="6563" y="2629"/>
                </a:lnTo>
                <a:lnTo>
                  <a:pt x="0" y="26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4203720" y="2640960"/>
            <a:ext cx="0" cy="9460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203720" y="3114000"/>
            <a:ext cx="898200" cy="0"/>
          </a:xfrm>
          <a:prstGeom prst="line">
            <a:avLst/>
          </a:prstGeom>
          <a:ln w="162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203720" y="3409560"/>
            <a:ext cx="737640" cy="0"/>
          </a:xfrm>
          <a:prstGeom prst="line">
            <a:avLst/>
          </a:prstGeom>
          <a:ln w="162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203720" y="2818440"/>
            <a:ext cx="1773360" cy="0"/>
          </a:xfrm>
          <a:prstGeom prst="line">
            <a:avLst/>
          </a:prstGeom>
          <a:ln w="1620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077440" y="308952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9"/>
                </a:moveTo>
                <a:cubicBezTo>
                  <a:pt x="0" y="-23"/>
                  <a:pt x="137" y="-23"/>
                  <a:pt x="137" y="69"/>
                </a:cubicBezTo>
                <a:cubicBezTo>
                  <a:pt x="137" y="160"/>
                  <a:pt x="0" y="160"/>
                  <a:pt x="0" y="6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077440" y="308952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9"/>
                </a:moveTo>
                <a:cubicBezTo>
                  <a:pt x="137" y="160"/>
                  <a:pt x="0" y="160"/>
                  <a:pt x="0" y="69"/>
                </a:cubicBezTo>
                <a:cubicBezTo>
                  <a:pt x="0" y="-23"/>
                  <a:pt x="137" y="-23"/>
                  <a:pt x="137" y="6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916880" y="338508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9"/>
                </a:moveTo>
                <a:cubicBezTo>
                  <a:pt x="0" y="-23"/>
                  <a:pt x="137" y="-23"/>
                  <a:pt x="137" y="69"/>
                </a:cubicBezTo>
                <a:cubicBezTo>
                  <a:pt x="137" y="160"/>
                  <a:pt x="0" y="160"/>
                  <a:pt x="0" y="6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4916880" y="338508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9"/>
                </a:moveTo>
                <a:cubicBezTo>
                  <a:pt x="137" y="160"/>
                  <a:pt x="0" y="160"/>
                  <a:pt x="0" y="69"/>
                </a:cubicBezTo>
                <a:cubicBezTo>
                  <a:pt x="0" y="-23"/>
                  <a:pt x="137" y="-23"/>
                  <a:pt x="137" y="6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952600" y="279396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9"/>
                </a:moveTo>
                <a:cubicBezTo>
                  <a:pt x="0" y="-23"/>
                  <a:pt x="137" y="-23"/>
                  <a:pt x="137" y="69"/>
                </a:cubicBezTo>
                <a:cubicBezTo>
                  <a:pt x="137" y="160"/>
                  <a:pt x="0" y="160"/>
                  <a:pt x="0" y="69"/>
                </a:cubicBezTo>
                <a:close/>
              </a:path>
            </a:pathLst>
          </a:custGeom>
          <a:solidFill>
            <a:srgbClr val="2A9D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952600" y="279396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9"/>
                </a:moveTo>
                <a:cubicBezTo>
                  <a:pt x="137" y="160"/>
                  <a:pt x="0" y="160"/>
                  <a:pt x="0" y="69"/>
                </a:cubicBezTo>
                <a:cubicBezTo>
                  <a:pt x="0" y="-23"/>
                  <a:pt x="137" y="-23"/>
                  <a:pt x="137" y="69"/>
                </a:cubicBezTo>
              </a:path>
            </a:pathLst>
          </a:custGeom>
          <a:ln cap="rnd" w="5400">
            <a:solidFill>
              <a:srgbClr val="2A9D8F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0400" y="229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159160" y="306972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×1.50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4998960" y="336528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×1.39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4089600" y="3751920"/>
            <a:ext cx="2362680" cy="650520"/>
          </a:xfrm>
          <a:custGeom>
            <a:avLst/>
            <a:gdLst/>
            <a:ahLst/>
            <a:rect l="0" t="0" r="r" b="b"/>
            <a:pathLst>
              <a:path w="6563" h="1807">
                <a:moveTo>
                  <a:pt x="0" y="0"/>
                </a:moveTo>
                <a:lnTo>
                  <a:pt x="6563" y="0"/>
                </a:lnTo>
                <a:lnTo>
                  <a:pt x="6563" y="1807"/>
                </a:lnTo>
                <a:lnTo>
                  <a:pt x="0" y="18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 flipV="1">
            <a:off x="4203720" y="3751920"/>
            <a:ext cx="0" cy="65016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4203720" y="4224960"/>
            <a:ext cx="691200" cy="0"/>
          </a:xfrm>
          <a:prstGeom prst="line">
            <a:avLst/>
          </a:prstGeom>
          <a:ln w="162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203720" y="3929400"/>
            <a:ext cx="793800" cy="0"/>
          </a:xfrm>
          <a:prstGeom prst="line">
            <a:avLst/>
          </a:prstGeom>
          <a:ln w="162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920" tIns="-7920" rIns="7920" bIns="-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4870440" y="420048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8"/>
                </a:moveTo>
                <a:cubicBezTo>
                  <a:pt x="0" y="-23"/>
                  <a:pt x="137" y="-23"/>
                  <a:pt x="137" y="68"/>
                </a:cubicBezTo>
                <a:cubicBezTo>
                  <a:pt x="137" y="160"/>
                  <a:pt x="0" y="160"/>
                  <a:pt x="0" y="68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4870440" y="420048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8"/>
                </a:moveTo>
                <a:cubicBezTo>
                  <a:pt x="137" y="160"/>
                  <a:pt x="0" y="160"/>
                  <a:pt x="0" y="68"/>
                </a:cubicBezTo>
                <a:cubicBezTo>
                  <a:pt x="0" y="-23"/>
                  <a:pt x="137" y="-23"/>
                  <a:pt x="137" y="68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4973040" y="390456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8"/>
                </a:moveTo>
                <a:cubicBezTo>
                  <a:pt x="0" y="-23"/>
                  <a:pt x="137" y="-23"/>
                  <a:pt x="137" y="68"/>
                </a:cubicBezTo>
                <a:cubicBezTo>
                  <a:pt x="137" y="159"/>
                  <a:pt x="0" y="159"/>
                  <a:pt x="0" y="68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4973040" y="390456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8"/>
                </a:moveTo>
                <a:cubicBezTo>
                  <a:pt x="137" y="159"/>
                  <a:pt x="0" y="159"/>
                  <a:pt x="0" y="68"/>
                </a:cubicBezTo>
                <a:cubicBezTo>
                  <a:pt x="0" y="-23"/>
                  <a:pt x="137" y="-23"/>
                  <a:pt x="137" y="68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034320" y="277416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2A9D8F"/>
                </a:solidFill>
                <a:effectLst/>
                <a:uFillTx/>
                <a:latin typeface="Arial"/>
                <a:ea typeface="Arial"/>
              </a:rPr>
              <a:t>×2.22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952160" y="418068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×1.36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055120" y="3885120"/>
            <a:ext cx="1936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×1.43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089960" y="365040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Fixed effects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4089600" y="4402080"/>
            <a:ext cx="236232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420372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V="1">
            <a:off x="510480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574416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 flipV="1">
            <a:off x="6240240" y="440208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089960" y="2539800"/>
            <a:ext cx="640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Random intercepts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185000" y="44326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05404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725440" y="44326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189480" y="44326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792960" y="3365280"/>
            <a:ext cx="297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818160" y="3069720"/>
            <a:ext cx="271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Species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551400" y="2774160"/>
            <a:ext cx="5320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Province × year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3360960" y="418068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640320" y="388512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731120" y="4559760"/>
            <a:ext cx="10371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multiplier per 1 SD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474720" y="2349360"/>
            <a:ext cx="18622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Province-year shocks outweigh both drivers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329280" y="2298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TJ_Fig_model_anatomy</dc:title>
</cp:coreProperties>
</file>