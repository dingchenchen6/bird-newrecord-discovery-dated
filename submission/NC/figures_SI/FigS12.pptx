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321800" cy="64008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5840" y="240840"/>
            <a:ext cx="8388720" cy="100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5840" y="1413360"/>
            <a:ext cx="8388720" cy="350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9321840" cy="6401160"/>
          </a:xfrm>
          <a:custGeom>
            <a:avLst/>
            <a:gdLst/>
            <a:ahLst/>
            <a:rect l="0" t="0" r="r" b="b"/>
            <a:pathLst>
              <a:path w="25894" h="17781">
                <a:moveTo>
                  <a:pt x="0" y="0"/>
                </a:moveTo>
                <a:lnTo>
                  <a:pt x="25894" y="0"/>
                </a:lnTo>
                <a:lnTo>
                  <a:pt x="25894" y="17781"/>
                </a:lnTo>
                <a:lnTo>
                  <a:pt x="0" y="177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9321840" cy="6401160"/>
          </a:xfrm>
          <a:custGeom>
            <a:avLst/>
            <a:gdLst/>
            <a:ahLst/>
            <a:rect l="0" t="0" r="r" b="b"/>
            <a:pathLst>
              <a:path w="25894" h="17781">
                <a:moveTo>
                  <a:pt x="0" y="0"/>
                </a:moveTo>
                <a:lnTo>
                  <a:pt x="25894" y="0"/>
                </a:lnTo>
                <a:lnTo>
                  <a:pt x="25894" y="17781"/>
                </a:lnTo>
                <a:lnTo>
                  <a:pt x="0" y="177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5113800" cy="3327480"/>
          </a:xfrm>
          <a:custGeom>
            <a:avLst/>
            <a:gdLst/>
            <a:ahLst/>
            <a:rect l="0" t="0" r="r" b="b"/>
            <a:pathLst>
              <a:path w="14205" h="9243">
                <a:moveTo>
                  <a:pt x="0" y="0"/>
                </a:moveTo>
                <a:lnTo>
                  <a:pt x="14205" y="0"/>
                </a:lnTo>
                <a:lnTo>
                  <a:pt x="14205" y="9243"/>
                </a:lnTo>
                <a:lnTo>
                  <a:pt x="0" y="92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5182920" y="69480"/>
            <a:ext cx="4069440" cy="3327480"/>
          </a:xfrm>
          <a:custGeom>
            <a:avLst/>
            <a:gdLst/>
            <a:ahLst/>
            <a:rect l="0" t="0" r="r" b="b"/>
            <a:pathLst>
              <a:path w="11304" h="9243">
                <a:moveTo>
                  <a:pt x="0" y="0"/>
                </a:moveTo>
                <a:lnTo>
                  <a:pt x="11304" y="0"/>
                </a:lnTo>
                <a:lnTo>
                  <a:pt x="11304" y="9243"/>
                </a:lnTo>
                <a:lnTo>
                  <a:pt x="0" y="92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072880" y="481680"/>
            <a:ext cx="3053520" cy="2170080"/>
          </a:xfrm>
          <a:custGeom>
            <a:avLst/>
            <a:gdLst/>
            <a:ahLst/>
            <a:rect l="0" t="0" r="r" b="b"/>
            <a:pathLst>
              <a:path w="8482" h="6028">
                <a:moveTo>
                  <a:pt x="0" y="0"/>
                </a:moveTo>
                <a:lnTo>
                  <a:pt x="8482" y="0"/>
                </a:lnTo>
                <a:lnTo>
                  <a:pt x="8482" y="6028"/>
                </a:lnTo>
                <a:lnTo>
                  <a:pt x="0" y="60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2283840" y="944640"/>
            <a:ext cx="451080" cy="1707120"/>
          </a:xfrm>
          <a:custGeom>
            <a:avLst/>
            <a:gdLst/>
            <a:ahLst/>
            <a:rect l="0" t="0" r="r" b="b"/>
            <a:pathLst>
              <a:path w="1253" h="4742">
                <a:moveTo>
                  <a:pt x="0" y="0"/>
                </a:moveTo>
                <a:lnTo>
                  <a:pt x="1253" y="0"/>
                </a:lnTo>
                <a:lnTo>
                  <a:pt x="1253" y="4742"/>
                </a:lnTo>
                <a:lnTo>
                  <a:pt x="0" y="4742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3010680" y="1946520"/>
            <a:ext cx="451080" cy="705240"/>
          </a:xfrm>
          <a:custGeom>
            <a:avLst/>
            <a:gdLst/>
            <a:ahLst/>
            <a:rect l="0" t="0" r="r" b="b"/>
            <a:pathLst>
              <a:path w="1253" h="1959">
                <a:moveTo>
                  <a:pt x="0" y="0"/>
                </a:moveTo>
                <a:lnTo>
                  <a:pt x="1253" y="0"/>
                </a:lnTo>
                <a:lnTo>
                  <a:pt x="1253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3737520" y="1990440"/>
            <a:ext cx="451080" cy="661320"/>
          </a:xfrm>
          <a:custGeom>
            <a:avLst/>
            <a:gdLst/>
            <a:ahLst/>
            <a:rect l="0" t="0" r="r" b="b"/>
            <a:pathLst>
              <a:path w="1253" h="1837">
                <a:moveTo>
                  <a:pt x="0" y="0"/>
                </a:moveTo>
                <a:lnTo>
                  <a:pt x="1253" y="0"/>
                </a:lnTo>
                <a:lnTo>
                  <a:pt x="1253" y="1837"/>
                </a:lnTo>
                <a:lnTo>
                  <a:pt x="0" y="1837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4464360" y="1975320"/>
            <a:ext cx="451080" cy="676440"/>
          </a:xfrm>
          <a:custGeom>
            <a:avLst/>
            <a:gdLst/>
            <a:ahLst/>
            <a:rect l="0" t="0" r="r" b="b"/>
            <a:pathLst>
              <a:path w="1253" h="1879">
                <a:moveTo>
                  <a:pt x="0" y="0"/>
                </a:moveTo>
                <a:lnTo>
                  <a:pt x="1253" y="0"/>
                </a:lnTo>
                <a:lnTo>
                  <a:pt x="1253" y="1879"/>
                </a:lnTo>
                <a:lnTo>
                  <a:pt x="0" y="1879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356920" y="817560"/>
            <a:ext cx="29880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26.2%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083760" y="1819800"/>
            <a:ext cx="29880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10.8%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810600" y="1863360"/>
            <a:ext cx="29880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10.1%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 flipV="1">
            <a:off x="2072880" y="481680"/>
            <a:ext cx="0" cy="216972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537800" y="1848600"/>
            <a:ext cx="29880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10.4%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971000" y="2613600"/>
            <a:ext cx="9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920240" y="196164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920240" y="130932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044440" y="26514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044440" y="199944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044440" y="13474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44440" y="6955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072880" y="2651400"/>
            <a:ext cx="305316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 flipV="1">
            <a:off x="2509200" y="26514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 flipV="1">
            <a:off x="3236040" y="26514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 flipV="1">
            <a:off x="3962880" y="26514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 flipV="1">
            <a:off x="4689720" y="26514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920240" y="65736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255400" y="2702880"/>
            <a:ext cx="514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New records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861640" y="2702880"/>
            <a:ext cx="7070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Birding checklists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2912400" y="2801520"/>
            <a:ext cx="6663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(effort-weighted)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3614040" y="2702880"/>
            <a:ext cx="6717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Birding locations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677400" y="2801520"/>
            <a:ext cx="5749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(equal weight)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487040" y="2702880"/>
            <a:ext cx="412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Land area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 rot="16200000">
            <a:off x="-816840" y="1543320"/>
            <a:ext cx="20019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Share falling inside nature reserves (%)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073240" y="310320"/>
            <a:ext cx="27482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New records concentrate in reserves; birding effort does not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6141960" y="481680"/>
            <a:ext cx="3053520" cy="2170080"/>
          </a:xfrm>
          <a:custGeom>
            <a:avLst/>
            <a:gdLst/>
            <a:ahLst/>
            <a:rect l="0" t="0" r="r" b="b"/>
            <a:pathLst>
              <a:path w="8482" h="6028">
                <a:moveTo>
                  <a:pt x="0" y="0"/>
                </a:moveTo>
                <a:lnTo>
                  <a:pt x="8482" y="0"/>
                </a:lnTo>
                <a:lnTo>
                  <a:pt x="8482" y="6028"/>
                </a:lnTo>
                <a:lnTo>
                  <a:pt x="0" y="60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 flipV="1">
            <a:off x="6401160" y="481680"/>
            <a:ext cx="0" cy="2169720"/>
          </a:xfrm>
          <a:prstGeom prst="line">
            <a:avLst/>
          </a:prstGeom>
          <a:ln w="10800">
            <a:solidFill>
              <a:srgbClr val="999999"/>
            </a:solidFill>
            <a:custDash>
              <a:ds d="410000" sp="41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7166520" y="964800"/>
            <a:ext cx="982440" cy="0"/>
          </a:xfrm>
          <a:prstGeom prst="line">
            <a:avLst/>
          </a:prstGeom>
          <a:ln w="108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6935400" y="1642680"/>
            <a:ext cx="1042920" cy="0"/>
          </a:xfrm>
          <a:prstGeom prst="line">
            <a:avLst/>
          </a:prstGeom>
          <a:ln w="108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7068600" y="2320920"/>
            <a:ext cx="1044720" cy="0"/>
          </a:xfrm>
          <a:prstGeom prst="line">
            <a:avLst/>
          </a:prstGeom>
          <a:ln w="108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7812000" y="812160"/>
            <a:ext cx="951840" cy="0"/>
          </a:xfrm>
          <a:prstGeom prst="line">
            <a:avLst/>
          </a:prstGeom>
          <a:ln w="108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7563960" y="1490040"/>
            <a:ext cx="1008720" cy="0"/>
          </a:xfrm>
          <a:prstGeom prst="line">
            <a:avLst/>
          </a:prstGeom>
          <a:ln w="108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7783200" y="2168280"/>
            <a:ext cx="1005840" cy="0"/>
          </a:xfrm>
          <a:prstGeom prst="line">
            <a:avLst/>
          </a:prstGeom>
          <a:ln w="108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7638120" y="945000"/>
            <a:ext cx="39600" cy="39600"/>
          </a:xfrm>
          <a:custGeom>
            <a:avLst/>
            <a:gdLst/>
            <a:ahLst/>
            <a:rect l="0" t="0" r="r" b="b"/>
            <a:pathLst>
              <a:path w="110" h="110">
                <a:moveTo>
                  <a:pt x="0" y="56"/>
                </a:moveTo>
                <a:cubicBezTo>
                  <a:pt x="0" y="-18"/>
                  <a:pt x="110" y="-18"/>
                  <a:pt x="110" y="56"/>
                </a:cubicBezTo>
                <a:cubicBezTo>
                  <a:pt x="110" y="129"/>
                  <a:pt x="0" y="129"/>
                  <a:pt x="0" y="5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7638120" y="945000"/>
            <a:ext cx="39600" cy="39600"/>
          </a:xfrm>
          <a:custGeom>
            <a:avLst/>
            <a:gdLst/>
            <a:ahLst/>
            <a:rect l="0" t="0" r="r" b="b"/>
            <a:pathLst>
              <a:path fill="none" w="110" h="110">
                <a:moveTo>
                  <a:pt x="110" y="56"/>
                </a:moveTo>
                <a:cubicBezTo>
                  <a:pt x="110" y="129"/>
                  <a:pt x="0" y="129"/>
                  <a:pt x="0" y="56"/>
                </a:cubicBezTo>
                <a:cubicBezTo>
                  <a:pt x="0" y="-18"/>
                  <a:pt x="110" y="-18"/>
                  <a:pt x="110" y="56"/>
                </a:cubicBezTo>
              </a:path>
            </a:pathLst>
          </a:custGeom>
          <a:ln cap="rnd" w="14400">
            <a:solidFill>
              <a:srgbClr val="0072B2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7437240" y="1623240"/>
            <a:ext cx="39600" cy="39960"/>
          </a:xfrm>
          <a:custGeom>
            <a:avLst/>
            <a:gdLst/>
            <a:ahLst/>
            <a:rect l="0" t="0" r="r" b="b"/>
            <a:pathLst>
              <a:path w="110" h="111">
                <a:moveTo>
                  <a:pt x="0" y="56"/>
                </a:moveTo>
                <a:cubicBezTo>
                  <a:pt x="0" y="-18"/>
                  <a:pt x="110" y="-18"/>
                  <a:pt x="110" y="56"/>
                </a:cubicBezTo>
                <a:cubicBezTo>
                  <a:pt x="110" y="130"/>
                  <a:pt x="0" y="130"/>
                  <a:pt x="0" y="5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7437240" y="1623240"/>
            <a:ext cx="39600" cy="39960"/>
          </a:xfrm>
          <a:custGeom>
            <a:avLst/>
            <a:gdLst/>
            <a:ahLst/>
            <a:rect l="0" t="0" r="r" b="b"/>
            <a:pathLst>
              <a:path fill="none" w="110" h="111">
                <a:moveTo>
                  <a:pt x="110" y="56"/>
                </a:moveTo>
                <a:cubicBezTo>
                  <a:pt x="110" y="130"/>
                  <a:pt x="0" y="130"/>
                  <a:pt x="0" y="56"/>
                </a:cubicBezTo>
                <a:cubicBezTo>
                  <a:pt x="0" y="-18"/>
                  <a:pt x="110" y="-18"/>
                  <a:pt x="110" y="56"/>
                </a:cubicBezTo>
              </a:path>
            </a:pathLst>
          </a:custGeom>
          <a:ln cap="rnd" w="14400">
            <a:solidFill>
              <a:srgbClr val="0072B2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7571160" y="2301120"/>
            <a:ext cx="39960" cy="39960"/>
          </a:xfrm>
          <a:custGeom>
            <a:avLst/>
            <a:gdLst/>
            <a:ahLst/>
            <a:rect l="0" t="0" r="r" b="b"/>
            <a:pathLst>
              <a:path w="111" h="111">
                <a:moveTo>
                  <a:pt x="0" y="56"/>
                </a:moveTo>
                <a:cubicBezTo>
                  <a:pt x="0" y="-18"/>
                  <a:pt x="111" y="-18"/>
                  <a:pt x="111" y="56"/>
                </a:cubicBezTo>
                <a:cubicBezTo>
                  <a:pt x="111" y="130"/>
                  <a:pt x="0" y="130"/>
                  <a:pt x="0" y="5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7571160" y="2301120"/>
            <a:ext cx="39960" cy="39960"/>
          </a:xfrm>
          <a:custGeom>
            <a:avLst/>
            <a:gdLst/>
            <a:ahLst/>
            <a:rect l="0" t="0" r="r" b="b"/>
            <a:pathLst>
              <a:path fill="none" w="111" h="111">
                <a:moveTo>
                  <a:pt x="111" y="56"/>
                </a:moveTo>
                <a:cubicBezTo>
                  <a:pt x="111" y="130"/>
                  <a:pt x="0" y="130"/>
                  <a:pt x="0" y="56"/>
                </a:cubicBezTo>
                <a:cubicBezTo>
                  <a:pt x="0" y="-18"/>
                  <a:pt x="111" y="-18"/>
                  <a:pt x="111" y="56"/>
                </a:cubicBezTo>
              </a:path>
            </a:pathLst>
          </a:custGeom>
          <a:ln cap="rnd" w="14400">
            <a:solidFill>
              <a:srgbClr val="0072B2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8268120" y="79236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6"/>
                </a:moveTo>
                <a:cubicBezTo>
                  <a:pt x="0" y="-18"/>
                  <a:pt x="111" y="-18"/>
                  <a:pt x="111" y="56"/>
                </a:cubicBezTo>
                <a:cubicBezTo>
                  <a:pt x="111" y="129"/>
                  <a:pt x="0" y="129"/>
                  <a:pt x="0" y="56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8268120" y="792360"/>
            <a:ext cx="39960" cy="39600"/>
          </a:xfrm>
          <a:custGeom>
            <a:avLst/>
            <a:gdLst/>
            <a:ahLst/>
            <a:rect l="0" t="0" r="r" b="b"/>
            <a:pathLst>
              <a:path fill="none" w="111" h="110">
                <a:moveTo>
                  <a:pt x="111" y="56"/>
                </a:moveTo>
                <a:cubicBezTo>
                  <a:pt x="111" y="129"/>
                  <a:pt x="0" y="129"/>
                  <a:pt x="0" y="56"/>
                </a:cubicBezTo>
                <a:cubicBezTo>
                  <a:pt x="0" y="-18"/>
                  <a:pt x="111" y="-18"/>
                  <a:pt x="111" y="56"/>
                </a:cubicBezTo>
              </a:path>
            </a:pathLst>
          </a:custGeom>
          <a:ln cap="rnd" w="1440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8048520" y="1470600"/>
            <a:ext cx="39960" cy="39960"/>
          </a:xfrm>
          <a:custGeom>
            <a:avLst/>
            <a:gdLst/>
            <a:ahLst/>
            <a:rect l="0" t="0" r="r" b="b"/>
            <a:pathLst>
              <a:path w="111" h="111">
                <a:moveTo>
                  <a:pt x="0" y="56"/>
                </a:moveTo>
                <a:cubicBezTo>
                  <a:pt x="0" y="-18"/>
                  <a:pt x="111" y="-18"/>
                  <a:pt x="111" y="56"/>
                </a:cubicBezTo>
                <a:cubicBezTo>
                  <a:pt x="111" y="130"/>
                  <a:pt x="0" y="130"/>
                  <a:pt x="0" y="56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8048520" y="1470600"/>
            <a:ext cx="39960" cy="39960"/>
          </a:xfrm>
          <a:custGeom>
            <a:avLst/>
            <a:gdLst/>
            <a:ahLst/>
            <a:rect l="0" t="0" r="r" b="b"/>
            <a:pathLst>
              <a:path fill="none" w="111" h="111">
                <a:moveTo>
                  <a:pt x="111" y="56"/>
                </a:moveTo>
                <a:cubicBezTo>
                  <a:pt x="111" y="130"/>
                  <a:pt x="0" y="130"/>
                  <a:pt x="0" y="56"/>
                </a:cubicBezTo>
                <a:cubicBezTo>
                  <a:pt x="0" y="-18"/>
                  <a:pt x="111" y="-18"/>
                  <a:pt x="111" y="56"/>
                </a:cubicBezTo>
              </a:path>
            </a:pathLst>
          </a:custGeom>
          <a:ln cap="rnd" w="1440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8266320" y="2148480"/>
            <a:ext cx="39600" cy="39600"/>
          </a:xfrm>
          <a:custGeom>
            <a:avLst/>
            <a:gdLst/>
            <a:ahLst/>
            <a:rect l="0" t="0" r="r" b="b"/>
            <a:pathLst>
              <a:path w="110" h="110">
                <a:moveTo>
                  <a:pt x="0" y="55"/>
                </a:moveTo>
                <a:cubicBezTo>
                  <a:pt x="0" y="-18"/>
                  <a:pt x="110" y="-18"/>
                  <a:pt x="110" y="55"/>
                </a:cubicBezTo>
                <a:cubicBezTo>
                  <a:pt x="110" y="129"/>
                  <a:pt x="0" y="129"/>
                  <a:pt x="0" y="55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8266320" y="2148480"/>
            <a:ext cx="39600" cy="39600"/>
          </a:xfrm>
          <a:custGeom>
            <a:avLst/>
            <a:gdLst/>
            <a:ahLst/>
            <a:rect l="0" t="0" r="r" b="b"/>
            <a:pathLst>
              <a:path fill="none" w="110" h="110">
                <a:moveTo>
                  <a:pt x="110" y="55"/>
                </a:moveTo>
                <a:cubicBezTo>
                  <a:pt x="110" y="129"/>
                  <a:pt x="0" y="129"/>
                  <a:pt x="0" y="55"/>
                </a:cubicBezTo>
                <a:cubicBezTo>
                  <a:pt x="0" y="-18"/>
                  <a:pt x="110" y="-18"/>
                  <a:pt x="110" y="55"/>
                </a:cubicBezTo>
              </a:path>
            </a:pathLst>
          </a:custGeom>
          <a:ln cap="rnd" w="1440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 flipV="1">
            <a:off x="6141960" y="481680"/>
            <a:ext cx="0" cy="216972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073240" y="126360"/>
            <a:ext cx="2145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 Baseline: events vs effort vs area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456160" y="2206800"/>
            <a:ext cx="6159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 national-level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240160" y="1528560"/>
            <a:ext cx="8366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A1 + siting geometry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113520" y="22446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6113520" y="156636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113520" y="8884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141960" y="2651400"/>
            <a:ext cx="305316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6401160" y="26514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 flipV="1">
            <a:off x="7352640" y="26514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 flipV="1">
            <a:off x="8028000" y="26514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 flipV="1">
            <a:off x="8551440" y="26514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 flipV="1">
            <a:off x="8979480" y="26514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367240" y="850320"/>
            <a:ext cx="7074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A0 exposure only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337800" y="270288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289280" y="270288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964640" y="270288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2.0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488080" y="270288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2.5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916120" y="270288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3.0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7074360" y="3159720"/>
            <a:ext cx="1188720" cy="180000"/>
          </a:xfrm>
          <a:custGeom>
            <a:avLst/>
            <a:gdLst/>
            <a:ahLst/>
            <a:rect l="0" t="0" r="r" b="b"/>
            <a:pathLst>
              <a:path w="3302" h="500">
                <a:moveTo>
                  <a:pt x="0" y="0"/>
                </a:moveTo>
                <a:lnTo>
                  <a:pt x="3302" y="0"/>
                </a:lnTo>
                <a:lnTo>
                  <a:pt x="3302" y="500"/>
                </a:lnTo>
                <a:lnTo>
                  <a:pt x="0" y="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7074360" y="310896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7085880" y="3166560"/>
            <a:ext cx="92160" cy="0"/>
          </a:xfrm>
          <a:prstGeom prst="line">
            <a:avLst/>
          </a:prstGeom>
          <a:ln w="108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7105680" y="3140280"/>
            <a:ext cx="53280" cy="52920"/>
          </a:xfrm>
          <a:custGeom>
            <a:avLst/>
            <a:gdLst/>
            <a:ahLst/>
            <a:rect l="0" t="0" r="r" b="b"/>
            <a:pathLst>
              <a:path w="148" h="147">
                <a:moveTo>
                  <a:pt x="0" y="73"/>
                </a:moveTo>
                <a:cubicBezTo>
                  <a:pt x="0" y="-24"/>
                  <a:pt x="148" y="-24"/>
                  <a:pt x="148" y="73"/>
                </a:cubicBezTo>
                <a:cubicBezTo>
                  <a:pt x="148" y="172"/>
                  <a:pt x="0" y="172"/>
                  <a:pt x="0" y="73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7105680" y="3140280"/>
            <a:ext cx="53280" cy="52920"/>
          </a:xfrm>
          <a:custGeom>
            <a:avLst/>
            <a:gdLst/>
            <a:ahLst/>
            <a:rect l="0" t="0" r="r" b="b"/>
            <a:pathLst>
              <a:path fill="none" w="148" h="147">
                <a:moveTo>
                  <a:pt x="148" y="73"/>
                </a:moveTo>
                <a:cubicBezTo>
                  <a:pt x="148" y="172"/>
                  <a:pt x="0" y="172"/>
                  <a:pt x="0" y="73"/>
                </a:cubicBezTo>
                <a:cubicBezTo>
                  <a:pt x="0" y="-24"/>
                  <a:pt x="148" y="-24"/>
                  <a:pt x="148" y="73"/>
                </a:cubicBezTo>
              </a:path>
            </a:pathLst>
          </a:custGeom>
          <a:ln cap="rnd" w="14400">
            <a:solidFill>
              <a:srgbClr val="0072B2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7074360" y="322416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7085880" y="3281760"/>
            <a:ext cx="92160" cy="0"/>
          </a:xfrm>
          <a:prstGeom prst="line">
            <a:avLst/>
          </a:prstGeom>
          <a:ln w="108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7105680" y="3255480"/>
            <a:ext cx="53280" cy="52920"/>
          </a:xfrm>
          <a:custGeom>
            <a:avLst/>
            <a:gdLst/>
            <a:ahLst/>
            <a:rect l="0" t="0" r="r" b="b"/>
            <a:pathLst>
              <a:path w="148" h="147">
                <a:moveTo>
                  <a:pt x="0" y="73"/>
                </a:moveTo>
                <a:cubicBezTo>
                  <a:pt x="0" y="-24"/>
                  <a:pt x="148" y="-24"/>
                  <a:pt x="148" y="73"/>
                </a:cubicBezTo>
                <a:cubicBezTo>
                  <a:pt x="148" y="172"/>
                  <a:pt x="0" y="172"/>
                  <a:pt x="0" y="73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7105680" y="3255480"/>
            <a:ext cx="53280" cy="52920"/>
          </a:xfrm>
          <a:custGeom>
            <a:avLst/>
            <a:gdLst/>
            <a:ahLst/>
            <a:rect l="0" t="0" r="r" b="b"/>
            <a:pathLst>
              <a:path fill="none" w="148" h="147">
                <a:moveTo>
                  <a:pt x="148" y="73"/>
                </a:moveTo>
                <a:cubicBezTo>
                  <a:pt x="148" y="172"/>
                  <a:pt x="0" y="172"/>
                  <a:pt x="0" y="73"/>
                </a:cubicBezTo>
                <a:cubicBezTo>
                  <a:pt x="0" y="-24"/>
                  <a:pt x="148" y="-24"/>
                  <a:pt x="148" y="73"/>
                </a:cubicBezTo>
              </a:path>
            </a:pathLst>
          </a:custGeom>
          <a:ln cap="rnd" w="14400">
            <a:solidFill>
              <a:srgbClr val="009E73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843240" y="2931840"/>
            <a:ext cx="15890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Conditional odds ratio (95% CI)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246800" y="3116160"/>
            <a:ext cx="1073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Effort-weighted controls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7246800" y="3231360"/>
            <a:ext cx="1056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Location-equal controls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6142320" y="310320"/>
            <a:ext cx="24890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Controls: locations birders visited in that province-year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9480" y="3396600"/>
            <a:ext cx="5391720" cy="2934720"/>
          </a:xfrm>
          <a:custGeom>
            <a:avLst/>
            <a:gdLst/>
            <a:ahLst/>
            <a:rect l="0" t="0" r="r" b="b"/>
            <a:pathLst>
              <a:path w="14977" h="8152">
                <a:moveTo>
                  <a:pt x="0" y="0"/>
                </a:moveTo>
                <a:lnTo>
                  <a:pt x="14977" y="0"/>
                </a:lnTo>
                <a:lnTo>
                  <a:pt x="14977" y="8152"/>
                </a:lnTo>
                <a:lnTo>
                  <a:pt x="0" y="81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460840" y="3396600"/>
            <a:ext cx="3791520" cy="2934720"/>
          </a:xfrm>
          <a:custGeom>
            <a:avLst/>
            <a:gdLst/>
            <a:ahLst/>
            <a:rect l="0" t="0" r="r" b="b"/>
            <a:pathLst>
              <a:path w="10532" h="8152">
                <a:moveTo>
                  <a:pt x="0" y="0"/>
                </a:moveTo>
                <a:lnTo>
                  <a:pt x="10532" y="0"/>
                </a:lnTo>
                <a:lnTo>
                  <a:pt x="10532" y="8152"/>
                </a:lnTo>
                <a:lnTo>
                  <a:pt x="0" y="81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072880" y="3808440"/>
            <a:ext cx="3331440" cy="2170440"/>
          </a:xfrm>
          <a:custGeom>
            <a:avLst/>
            <a:gdLst/>
            <a:ahLst/>
            <a:rect l="0" t="0" r="r" b="b"/>
            <a:pathLst>
              <a:path w="9254" h="6029">
                <a:moveTo>
                  <a:pt x="0" y="0"/>
                </a:moveTo>
                <a:lnTo>
                  <a:pt x="9254" y="0"/>
                </a:lnTo>
                <a:lnTo>
                  <a:pt x="9254" y="6029"/>
                </a:lnTo>
                <a:lnTo>
                  <a:pt x="0" y="60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 flipV="1">
            <a:off x="2980800" y="3808440"/>
            <a:ext cx="0" cy="2170080"/>
          </a:xfrm>
          <a:prstGeom prst="line">
            <a:avLst/>
          </a:prstGeom>
          <a:ln w="10800">
            <a:solidFill>
              <a:srgbClr val="999999"/>
            </a:solidFill>
            <a:custDash>
              <a:ds d="410000" sp="41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3289680" y="3989520"/>
            <a:ext cx="396720" cy="0"/>
          </a:xfrm>
          <a:prstGeom prst="line">
            <a:avLst/>
          </a:prstGeom>
          <a:ln w="108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098160" y="4290840"/>
            <a:ext cx="430560" cy="0"/>
          </a:xfrm>
          <a:prstGeom prst="line">
            <a:avLst/>
          </a:prstGeom>
          <a:ln w="108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2899440" y="4592160"/>
            <a:ext cx="446400" cy="0"/>
          </a:xfrm>
          <a:prstGeom prst="line">
            <a:avLst/>
          </a:prstGeom>
          <a:ln w="1080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3434400" y="4893480"/>
            <a:ext cx="448920" cy="0"/>
          </a:xfrm>
          <a:prstGeom prst="line">
            <a:avLst/>
          </a:prstGeom>
          <a:ln w="108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531520" y="5194800"/>
            <a:ext cx="836280" cy="0"/>
          </a:xfrm>
          <a:prstGeom prst="line">
            <a:avLst/>
          </a:prstGeom>
          <a:ln w="1080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3592800" y="5496120"/>
            <a:ext cx="692280" cy="0"/>
          </a:xfrm>
          <a:prstGeom prst="line">
            <a:avLst/>
          </a:prstGeom>
          <a:ln w="108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3137400" y="5797800"/>
            <a:ext cx="1668960" cy="0"/>
          </a:xfrm>
          <a:prstGeom prst="line">
            <a:avLst/>
          </a:prstGeom>
          <a:ln w="108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468240" y="396972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6"/>
                </a:moveTo>
                <a:cubicBezTo>
                  <a:pt x="0" y="-18"/>
                  <a:pt x="111" y="-18"/>
                  <a:pt x="111" y="56"/>
                </a:cubicBezTo>
                <a:cubicBezTo>
                  <a:pt x="111" y="129"/>
                  <a:pt x="0" y="129"/>
                  <a:pt x="0" y="56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468240" y="3969720"/>
            <a:ext cx="39960" cy="39600"/>
          </a:xfrm>
          <a:custGeom>
            <a:avLst/>
            <a:gdLst/>
            <a:ahLst/>
            <a:rect l="0" t="0" r="r" b="b"/>
            <a:pathLst>
              <a:path fill="none" w="111" h="110">
                <a:moveTo>
                  <a:pt x="111" y="56"/>
                </a:moveTo>
                <a:cubicBezTo>
                  <a:pt x="111" y="129"/>
                  <a:pt x="0" y="129"/>
                  <a:pt x="0" y="56"/>
                </a:cubicBezTo>
                <a:cubicBezTo>
                  <a:pt x="0" y="-18"/>
                  <a:pt x="111" y="-18"/>
                  <a:pt x="111" y="56"/>
                </a:cubicBezTo>
              </a:path>
            </a:pathLst>
          </a:custGeom>
          <a:ln cap="rnd" w="14400">
            <a:solidFill>
              <a:srgbClr val="D55E00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293640" y="427104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5"/>
                </a:moveTo>
                <a:cubicBezTo>
                  <a:pt x="0" y="-18"/>
                  <a:pt x="111" y="-18"/>
                  <a:pt x="111" y="55"/>
                </a:cubicBezTo>
                <a:cubicBezTo>
                  <a:pt x="111" y="129"/>
                  <a:pt x="0" y="129"/>
                  <a:pt x="0" y="55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3293640" y="4271040"/>
            <a:ext cx="39960" cy="39600"/>
          </a:xfrm>
          <a:custGeom>
            <a:avLst/>
            <a:gdLst/>
            <a:ahLst/>
            <a:rect l="0" t="0" r="r" b="b"/>
            <a:pathLst>
              <a:path fill="none" w="111" h="110">
                <a:moveTo>
                  <a:pt x="111" y="55"/>
                </a:moveTo>
                <a:cubicBezTo>
                  <a:pt x="111" y="129"/>
                  <a:pt x="0" y="129"/>
                  <a:pt x="0" y="55"/>
                </a:cubicBezTo>
                <a:cubicBezTo>
                  <a:pt x="0" y="-18"/>
                  <a:pt x="111" y="-18"/>
                  <a:pt x="111" y="55"/>
                </a:cubicBezTo>
              </a:path>
            </a:pathLst>
          </a:custGeom>
          <a:ln cap="rnd" w="14400">
            <a:solidFill>
              <a:srgbClr val="D55E00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103200" y="4572360"/>
            <a:ext cx="39600" cy="39960"/>
          </a:xfrm>
          <a:custGeom>
            <a:avLst/>
            <a:gdLst/>
            <a:ahLst/>
            <a:rect l="0" t="0" r="r" b="b"/>
            <a:pathLst>
              <a:path w="110" h="111">
                <a:moveTo>
                  <a:pt x="0" y="56"/>
                </a:moveTo>
                <a:cubicBezTo>
                  <a:pt x="0" y="-18"/>
                  <a:pt x="110" y="-18"/>
                  <a:pt x="110" y="56"/>
                </a:cubicBezTo>
                <a:cubicBezTo>
                  <a:pt x="110" y="130"/>
                  <a:pt x="0" y="130"/>
                  <a:pt x="0" y="56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103200" y="4572360"/>
            <a:ext cx="39600" cy="39960"/>
          </a:xfrm>
          <a:custGeom>
            <a:avLst/>
            <a:gdLst/>
            <a:ahLst/>
            <a:rect l="0" t="0" r="r" b="b"/>
            <a:pathLst>
              <a:path fill="none" w="110" h="111">
                <a:moveTo>
                  <a:pt x="110" y="56"/>
                </a:moveTo>
                <a:cubicBezTo>
                  <a:pt x="110" y="130"/>
                  <a:pt x="0" y="130"/>
                  <a:pt x="0" y="56"/>
                </a:cubicBezTo>
                <a:cubicBezTo>
                  <a:pt x="0" y="-18"/>
                  <a:pt x="110" y="-18"/>
                  <a:pt x="110" y="56"/>
                </a:cubicBezTo>
              </a:path>
            </a:pathLst>
          </a:custGeom>
          <a:ln cap="rnd" w="14400">
            <a:solidFill>
              <a:srgbClr val="8C8C8C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3639240" y="4873680"/>
            <a:ext cx="39600" cy="39600"/>
          </a:xfrm>
          <a:custGeom>
            <a:avLst/>
            <a:gdLst/>
            <a:ahLst/>
            <a:rect l="0" t="0" r="r" b="b"/>
            <a:pathLst>
              <a:path w="110" h="110">
                <a:moveTo>
                  <a:pt x="0" y="56"/>
                </a:moveTo>
                <a:cubicBezTo>
                  <a:pt x="0" y="-18"/>
                  <a:pt x="110" y="-18"/>
                  <a:pt x="110" y="56"/>
                </a:cubicBezTo>
                <a:cubicBezTo>
                  <a:pt x="110" y="129"/>
                  <a:pt x="0" y="129"/>
                  <a:pt x="0" y="56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3639240" y="4873680"/>
            <a:ext cx="39600" cy="39600"/>
          </a:xfrm>
          <a:custGeom>
            <a:avLst/>
            <a:gdLst/>
            <a:ahLst/>
            <a:rect l="0" t="0" r="r" b="b"/>
            <a:pathLst>
              <a:path fill="none" w="110" h="110">
                <a:moveTo>
                  <a:pt x="110" y="56"/>
                </a:moveTo>
                <a:cubicBezTo>
                  <a:pt x="110" y="129"/>
                  <a:pt x="0" y="129"/>
                  <a:pt x="0" y="56"/>
                </a:cubicBezTo>
                <a:cubicBezTo>
                  <a:pt x="0" y="-18"/>
                  <a:pt x="110" y="-18"/>
                  <a:pt x="110" y="56"/>
                </a:cubicBezTo>
              </a:path>
            </a:pathLst>
          </a:custGeom>
          <a:ln cap="rnd" w="14400">
            <a:solidFill>
              <a:srgbClr val="D55E00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2930040" y="5175360"/>
            <a:ext cx="39600" cy="39600"/>
          </a:xfrm>
          <a:custGeom>
            <a:avLst/>
            <a:gdLst/>
            <a:ahLst/>
            <a:rect l="0" t="0" r="r" b="b"/>
            <a:pathLst>
              <a:path w="110" h="110">
                <a:moveTo>
                  <a:pt x="0" y="55"/>
                </a:moveTo>
                <a:cubicBezTo>
                  <a:pt x="0" y="-18"/>
                  <a:pt x="110" y="-18"/>
                  <a:pt x="110" y="55"/>
                </a:cubicBezTo>
                <a:cubicBezTo>
                  <a:pt x="110" y="129"/>
                  <a:pt x="0" y="129"/>
                  <a:pt x="0" y="55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2930040" y="5175360"/>
            <a:ext cx="39600" cy="39600"/>
          </a:xfrm>
          <a:custGeom>
            <a:avLst/>
            <a:gdLst/>
            <a:ahLst/>
            <a:rect l="0" t="0" r="r" b="b"/>
            <a:pathLst>
              <a:path fill="none" w="110" h="110">
                <a:moveTo>
                  <a:pt x="110" y="55"/>
                </a:moveTo>
                <a:cubicBezTo>
                  <a:pt x="110" y="129"/>
                  <a:pt x="0" y="129"/>
                  <a:pt x="0" y="55"/>
                </a:cubicBezTo>
                <a:cubicBezTo>
                  <a:pt x="0" y="-18"/>
                  <a:pt x="110" y="-18"/>
                  <a:pt x="110" y="55"/>
                </a:cubicBezTo>
              </a:path>
            </a:pathLst>
          </a:custGeom>
          <a:ln cap="rnd" w="14400">
            <a:solidFill>
              <a:srgbClr val="8C8C8C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3919320" y="5476680"/>
            <a:ext cx="39600" cy="39960"/>
          </a:xfrm>
          <a:custGeom>
            <a:avLst/>
            <a:gdLst/>
            <a:ahLst/>
            <a:rect l="0" t="0" r="r" b="b"/>
            <a:pathLst>
              <a:path w="110" h="111">
                <a:moveTo>
                  <a:pt x="0" y="56"/>
                </a:moveTo>
                <a:cubicBezTo>
                  <a:pt x="0" y="-18"/>
                  <a:pt x="110" y="-18"/>
                  <a:pt x="110" y="56"/>
                </a:cubicBezTo>
                <a:cubicBezTo>
                  <a:pt x="110" y="130"/>
                  <a:pt x="0" y="130"/>
                  <a:pt x="0" y="56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3919320" y="5476680"/>
            <a:ext cx="39600" cy="39960"/>
          </a:xfrm>
          <a:custGeom>
            <a:avLst/>
            <a:gdLst/>
            <a:ahLst/>
            <a:rect l="0" t="0" r="r" b="b"/>
            <a:pathLst>
              <a:path fill="none" w="110" h="111">
                <a:moveTo>
                  <a:pt x="110" y="56"/>
                </a:moveTo>
                <a:cubicBezTo>
                  <a:pt x="110" y="130"/>
                  <a:pt x="0" y="130"/>
                  <a:pt x="0" y="56"/>
                </a:cubicBezTo>
                <a:cubicBezTo>
                  <a:pt x="0" y="-18"/>
                  <a:pt x="110" y="-18"/>
                  <a:pt x="110" y="56"/>
                </a:cubicBezTo>
              </a:path>
            </a:pathLst>
          </a:custGeom>
          <a:ln cap="rnd" w="14400">
            <a:solidFill>
              <a:srgbClr val="D55E00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3952080" y="5778000"/>
            <a:ext cx="39960" cy="39600"/>
          </a:xfrm>
          <a:custGeom>
            <a:avLst/>
            <a:gdLst/>
            <a:ahLst/>
            <a:rect l="0" t="0" r="r" b="b"/>
            <a:pathLst>
              <a:path w="111" h="110">
                <a:moveTo>
                  <a:pt x="0" y="56"/>
                </a:moveTo>
                <a:cubicBezTo>
                  <a:pt x="0" y="-18"/>
                  <a:pt x="111" y="-18"/>
                  <a:pt x="111" y="56"/>
                </a:cubicBezTo>
                <a:cubicBezTo>
                  <a:pt x="111" y="129"/>
                  <a:pt x="0" y="129"/>
                  <a:pt x="0" y="56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3952080" y="5778000"/>
            <a:ext cx="39960" cy="39600"/>
          </a:xfrm>
          <a:custGeom>
            <a:avLst/>
            <a:gdLst/>
            <a:ahLst/>
            <a:rect l="0" t="0" r="r" b="b"/>
            <a:pathLst>
              <a:path fill="none" w="111" h="110">
                <a:moveTo>
                  <a:pt x="111" y="56"/>
                </a:moveTo>
                <a:cubicBezTo>
                  <a:pt x="111" y="129"/>
                  <a:pt x="0" y="129"/>
                  <a:pt x="0" y="56"/>
                </a:cubicBezTo>
                <a:cubicBezTo>
                  <a:pt x="0" y="-18"/>
                  <a:pt x="111" y="-18"/>
                  <a:pt x="111" y="56"/>
                </a:cubicBezTo>
              </a:path>
            </a:pathLst>
          </a:custGeom>
          <a:ln cap="rnd" w="14400">
            <a:solidFill>
              <a:srgbClr val="D55E00"/>
            </a:solidFill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142320" y="126360"/>
            <a:ext cx="28119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  Conditional logistic: 1:200 matched controls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686400" y="3945240"/>
            <a:ext cx="2930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n=643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528720" y="4246560"/>
            <a:ext cx="2930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n=595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346200" y="4547880"/>
            <a:ext cx="2930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n=596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883320" y="4849200"/>
            <a:ext cx="2930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n=439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367800" y="5150520"/>
            <a:ext cx="2930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n=204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4285440" y="5452200"/>
            <a:ext cx="2930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n=197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 flipV="1">
            <a:off x="2072880" y="3808440"/>
            <a:ext cx="0" cy="217008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806360" y="5753520"/>
            <a:ext cx="24480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n=37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85280" y="5759640"/>
            <a:ext cx="1479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Professional-survey discoveries only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574200" y="5458320"/>
            <a:ext cx="14032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Birdwatching-type discoveries only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386720" y="5157000"/>
            <a:ext cx="63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2002-2012 only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83400" y="4855680"/>
            <a:ext cx="16473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2013-2023 only (reserve network frozen)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96360" y="4554360"/>
            <a:ext cx="1591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Excluding the two largest host reserves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386720" y="4252680"/>
            <a:ext cx="6260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Excluding Tibet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2044440" y="57978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2044440" y="54961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2044440" y="51948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2044440" y="48934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2044440" y="459216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2044440" y="429084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2044440" y="39895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072880" y="5978520"/>
            <a:ext cx="333108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 flipV="1">
            <a:off x="232416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 flipV="1">
            <a:off x="298080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 flipV="1">
            <a:off x="363744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 flipV="1">
            <a:off x="429408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 flipV="1">
            <a:off x="482436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269280" y="3951360"/>
            <a:ext cx="17362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Main speciﬁcation (effort-weighted, K=200)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260800" y="603000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2917440" y="603000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574080" y="603000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2.0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230720" y="603000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4.0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761000" y="603000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7.0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2913120" y="6159960"/>
            <a:ext cx="15890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Conditional odds ratio (95% CI)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073240" y="3637440"/>
            <a:ext cx="34167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Dropping the two largest hosts brings the CI over unity; none in 2002-2012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864040" y="3808440"/>
            <a:ext cx="3331440" cy="2170440"/>
          </a:xfrm>
          <a:custGeom>
            <a:avLst/>
            <a:gdLst/>
            <a:ahLst/>
            <a:rect l="0" t="0" r="r" b="b"/>
            <a:pathLst>
              <a:path w="9254" h="6029">
                <a:moveTo>
                  <a:pt x="0" y="0"/>
                </a:moveTo>
                <a:lnTo>
                  <a:pt x="9254" y="0"/>
                </a:lnTo>
                <a:lnTo>
                  <a:pt x="9254" y="6029"/>
                </a:lnTo>
                <a:lnTo>
                  <a:pt x="0" y="60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6015600" y="3907080"/>
            <a:ext cx="3028320" cy="1973160"/>
          </a:xfrm>
          <a:custGeom>
            <a:avLst/>
            <a:gdLst/>
            <a:ahLst/>
            <a:rect l="0" t="0" r="r" b="b"/>
            <a:pathLst>
              <a:path w="8412" h="5481">
                <a:moveTo>
                  <a:pt x="0" y="4653"/>
                </a:moveTo>
                <a:lnTo>
                  <a:pt x="125" y="3985"/>
                </a:lnTo>
                <a:lnTo>
                  <a:pt x="251" y="3760"/>
                </a:lnTo>
                <a:lnTo>
                  <a:pt x="377" y="3536"/>
                </a:lnTo>
                <a:lnTo>
                  <a:pt x="502" y="3344"/>
                </a:lnTo>
                <a:lnTo>
                  <a:pt x="628" y="3185"/>
                </a:lnTo>
                <a:lnTo>
                  <a:pt x="879" y="2867"/>
                </a:lnTo>
                <a:lnTo>
                  <a:pt x="1004" y="2740"/>
                </a:lnTo>
                <a:lnTo>
                  <a:pt x="1130" y="2647"/>
                </a:lnTo>
                <a:lnTo>
                  <a:pt x="1255" y="2548"/>
                </a:lnTo>
                <a:lnTo>
                  <a:pt x="1381" y="2455"/>
                </a:lnTo>
                <a:lnTo>
                  <a:pt x="1506" y="2357"/>
                </a:lnTo>
                <a:lnTo>
                  <a:pt x="1632" y="2263"/>
                </a:lnTo>
                <a:lnTo>
                  <a:pt x="1758" y="2198"/>
                </a:lnTo>
                <a:lnTo>
                  <a:pt x="1883" y="2137"/>
                </a:lnTo>
                <a:lnTo>
                  <a:pt x="2134" y="2006"/>
                </a:lnTo>
                <a:lnTo>
                  <a:pt x="2260" y="1946"/>
                </a:lnTo>
                <a:lnTo>
                  <a:pt x="2385" y="1880"/>
                </a:lnTo>
                <a:lnTo>
                  <a:pt x="2511" y="1814"/>
                </a:lnTo>
                <a:lnTo>
                  <a:pt x="2636" y="1754"/>
                </a:lnTo>
                <a:lnTo>
                  <a:pt x="2762" y="1688"/>
                </a:lnTo>
                <a:lnTo>
                  <a:pt x="2887" y="1628"/>
                </a:lnTo>
                <a:lnTo>
                  <a:pt x="3138" y="1496"/>
                </a:lnTo>
                <a:lnTo>
                  <a:pt x="3264" y="1436"/>
                </a:lnTo>
                <a:lnTo>
                  <a:pt x="3390" y="1370"/>
                </a:lnTo>
                <a:lnTo>
                  <a:pt x="3515" y="1304"/>
                </a:lnTo>
                <a:lnTo>
                  <a:pt x="3641" y="1244"/>
                </a:lnTo>
                <a:lnTo>
                  <a:pt x="3766" y="1178"/>
                </a:lnTo>
                <a:lnTo>
                  <a:pt x="3892" y="1145"/>
                </a:lnTo>
                <a:lnTo>
                  <a:pt x="4017" y="1113"/>
                </a:lnTo>
                <a:lnTo>
                  <a:pt x="4143" y="1085"/>
                </a:lnTo>
                <a:lnTo>
                  <a:pt x="4268" y="1052"/>
                </a:lnTo>
                <a:lnTo>
                  <a:pt x="4395" y="1020"/>
                </a:lnTo>
                <a:lnTo>
                  <a:pt x="4646" y="954"/>
                </a:lnTo>
                <a:lnTo>
                  <a:pt x="4772" y="926"/>
                </a:lnTo>
                <a:lnTo>
                  <a:pt x="5023" y="861"/>
                </a:lnTo>
                <a:lnTo>
                  <a:pt x="5148" y="828"/>
                </a:lnTo>
                <a:lnTo>
                  <a:pt x="5274" y="795"/>
                </a:lnTo>
                <a:lnTo>
                  <a:pt x="5399" y="767"/>
                </a:lnTo>
                <a:lnTo>
                  <a:pt x="5525" y="735"/>
                </a:lnTo>
                <a:lnTo>
                  <a:pt x="5650" y="702"/>
                </a:lnTo>
                <a:lnTo>
                  <a:pt x="5776" y="669"/>
                </a:lnTo>
                <a:lnTo>
                  <a:pt x="6027" y="603"/>
                </a:lnTo>
                <a:lnTo>
                  <a:pt x="6153" y="576"/>
                </a:lnTo>
                <a:lnTo>
                  <a:pt x="6404" y="510"/>
                </a:lnTo>
                <a:lnTo>
                  <a:pt x="6529" y="477"/>
                </a:lnTo>
                <a:lnTo>
                  <a:pt x="6655" y="444"/>
                </a:lnTo>
                <a:lnTo>
                  <a:pt x="6780" y="417"/>
                </a:lnTo>
                <a:lnTo>
                  <a:pt x="6906" y="384"/>
                </a:lnTo>
                <a:lnTo>
                  <a:pt x="7031" y="351"/>
                </a:lnTo>
                <a:lnTo>
                  <a:pt x="7157" y="318"/>
                </a:lnTo>
                <a:lnTo>
                  <a:pt x="7282" y="285"/>
                </a:lnTo>
                <a:lnTo>
                  <a:pt x="7408" y="258"/>
                </a:lnTo>
                <a:lnTo>
                  <a:pt x="7533" y="225"/>
                </a:lnTo>
                <a:lnTo>
                  <a:pt x="7659" y="192"/>
                </a:lnTo>
                <a:lnTo>
                  <a:pt x="7785" y="159"/>
                </a:lnTo>
                <a:lnTo>
                  <a:pt x="7910" y="126"/>
                </a:lnTo>
                <a:lnTo>
                  <a:pt x="8036" y="93"/>
                </a:lnTo>
                <a:lnTo>
                  <a:pt x="8161" y="66"/>
                </a:lnTo>
                <a:lnTo>
                  <a:pt x="8412" y="0"/>
                </a:lnTo>
                <a:lnTo>
                  <a:pt x="8412" y="5481"/>
                </a:lnTo>
                <a:lnTo>
                  <a:pt x="0" y="5481"/>
                </a:lnTo>
                <a:lnTo>
                  <a:pt x="0" y="4653"/>
                </a:lnTo>
                <a:close/>
              </a:path>
            </a:pathLst>
          </a:custGeom>
          <a:solidFill>
            <a:srgbClr val="D55E0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015600" y="3907080"/>
            <a:ext cx="3028320" cy="1675080"/>
          </a:xfrm>
          <a:custGeom>
            <a:avLst/>
            <a:gdLst/>
            <a:ahLst/>
            <a:rect l="0" t="0" r="r" b="b"/>
            <a:pathLst>
              <a:path fill="none" w="8412" h="4653">
                <a:moveTo>
                  <a:pt x="0" y="4653"/>
                </a:moveTo>
                <a:lnTo>
                  <a:pt x="125" y="3985"/>
                </a:lnTo>
                <a:lnTo>
                  <a:pt x="251" y="3760"/>
                </a:lnTo>
                <a:lnTo>
                  <a:pt x="377" y="3536"/>
                </a:lnTo>
                <a:lnTo>
                  <a:pt x="502" y="3344"/>
                </a:lnTo>
                <a:lnTo>
                  <a:pt x="628" y="3185"/>
                </a:lnTo>
                <a:lnTo>
                  <a:pt x="879" y="2867"/>
                </a:lnTo>
                <a:lnTo>
                  <a:pt x="1004" y="2741"/>
                </a:lnTo>
                <a:lnTo>
                  <a:pt x="1130" y="2648"/>
                </a:lnTo>
                <a:lnTo>
                  <a:pt x="1255" y="2549"/>
                </a:lnTo>
                <a:lnTo>
                  <a:pt x="1381" y="2456"/>
                </a:lnTo>
                <a:lnTo>
                  <a:pt x="1506" y="2358"/>
                </a:lnTo>
                <a:lnTo>
                  <a:pt x="1632" y="2264"/>
                </a:lnTo>
                <a:lnTo>
                  <a:pt x="1758" y="2199"/>
                </a:lnTo>
                <a:lnTo>
                  <a:pt x="1883" y="2138"/>
                </a:lnTo>
                <a:lnTo>
                  <a:pt x="2134" y="2007"/>
                </a:lnTo>
                <a:lnTo>
                  <a:pt x="2260" y="1947"/>
                </a:lnTo>
                <a:lnTo>
                  <a:pt x="2385" y="1881"/>
                </a:lnTo>
                <a:lnTo>
                  <a:pt x="2511" y="1815"/>
                </a:lnTo>
                <a:lnTo>
                  <a:pt x="2636" y="1755"/>
                </a:lnTo>
                <a:lnTo>
                  <a:pt x="2762" y="1689"/>
                </a:lnTo>
                <a:lnTo>
                  <a:pt x="2887" y="1629"/>
                </a:lnTo>
                <a:lnTo>
                  <a:pt x="3138" y="1497"/>
                </a:lnTo>
                <a:lnTo>
                  <a:pt x="3264" y="1437"/>
                </a:lnTo>
                <a:lnTo>
                  <a:pt x="3390" y="1371"/>
                </a:lnTo>
                <a:lnTo>
                  <a:pt x="3515" y="1305"/>
                </a:lnTo>
                <a:lnTo>
                  <a:pt x="3641" y="1245"/>
                </a:lnTo>
                <a:lnTo>
                  <a:pt x="3766" y="1179"/>
                </a:lnTo>
                <a:lnTo>
                  <a:pt x="3892" y="1146"/>
                </a:lnTo>
                <a:lnTo>
                  <a:pt x="4017" y="1114"/>
                </a:lnTo>
                <a:lnTo>
                  <a:pt x="4143" y="1086"/>
                </a:lnTo>
                <a:lnTo>
                  <a:pt x="4268" y="1053"/>
                </a:lnTo>
                <a:lnTo>
                  <a:pt x="4395" y="1021"/>
                </a:lnTo>
                <a:lnTo>
                  <a:pt x="4646" y="955"/>
                </a:lnTo>
                <a:lnTo>
                  <a:pt x="4772" y="927"/>
                </a:lnTo>
                <a:lnTo>
                  <a:pt x="5023" y="862"/>
                </a:lnTo>
                <a:lnTo>
                  <a:pt x="5148" y="829"/>
                </a:lnTo>
                <a:lnTo>
                  <a:pt x="5274" y="796"/>
                </a:lnTo>
                <a:lnTo>
                  <a:pt x="5399" y="767"/>
                </a:lnTo>
                <a:lnTo>
                  <a:pt x="5525" y="735"/>
                </a:lnTo>
                <a:lnTo>
                  <a:pt x="5650" y="702"/>
                </a:lnTo>
                <a:lnTo>
                  <a:pt x="5776" y="669"/>
                </a:lnTo>
                <a:lnTo>
                  <a:pt x="6027" y="603"/>
                </a:lnTo>
                <a:lnTo>
                  <a:pt x="6153" y="576"/>
                </a:lnTo>
                <a:lnTo>
                  <a:pt x="6404" y="510"/>
                </a:lnTo>
                <a:lnTo>
                  <a:pt x="6529" y="477"/>
                </a:lnTo>
                <a:lnTo>
                  <a:pt x="6655" y="444"/>
                </a:lnTo>
                <a:lnTo>
                  <a:pt x="6780" y="417"/>
                </a:lnTo>
                <a:lnTo>
                  <a:pt x="6906" y="384"/>
                </a:lnTo>
                <a:lnTo>
                  <a:pt x="7031" y="351"/>
                </a:lnTo>
                <a:lnTo>
                  <a:pt x="7157" y="318"/>
                </a:lnTo>
                <a:lnTo>
                  <a:pt x="7282" y="285"/>
                </a:lnTo>
                <a:lnTo>
                  <a:pt x="7408" y="258"/>
                </a:lnTo>
                <a:lnTo>
                  <a:pt x="7533" y="225"/>
                </a:lnTo>
                <a:lnTo>
                  <a:pt x="7659" y="192"/>
                </a:lnTo>
                <a:lnTo>
                  <a:pt x="7785" y="159"/>
                </a:lnTo>
                <a:lnTo>
                  <a:pt x="7910" y="126"/>
                </a:lnTo>
                <a:lnTo>
                  <a:pt x="8036" y="93"/>
                </a:lnTo>
                <a:lnTo>
                  <a:pt x="8161" y="66"/>
                </a:lnTo>
                <a:lnTo>
                  <a:pt x="8412" y="0"/>
                </a:lnTo>
              </a:path>
            </a:pathLst>
          </a:custGeom>
          <a:ln w="16200">
            <a:solidFill>
              <a:srgbClr val="D55E00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864040" y="4893480"/>
            <a:ext cx="3331080" cy="0"/>
          </a:xfrm>
          <a:prstGeom prst="line">
            <a:avLst/>
          </a:prstGeom>
          <a:ln w="10800">
            <a:solidFill>
              <a:srgbClr val="7F7F7F"/>
            </a:solidFill>
            <a:custDash>
              <a:ds d="100000" sp="30666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2073240" y="3453480"/>
            <a:ext cx="8654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  Robustness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660800" y="4689360"/>
            <a:ext cx="78840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The top 9 reserves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 flipV="1">
            <a:off x="5864040" y="3808440"/>
            <a:ext cx="0" cy="217008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660800" y="4824720"/>
            <a:ext cx="109332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hold half the inside events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762160" y="5842080"/>
            <a:ext cx="9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711400" y="534888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711400" y="485568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711400" y="436248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75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835600" y="58798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835600" y="53866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835600" y="48934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835600" y="44002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835600" y="39070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864040" y="5978520"/>
            <a:ext cx="333108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 flipV="1">
            <a:off x="597024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 flipV="1">
            <a:off x="687420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 flipV="1">
            <a:off x="777816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 flipV="1">
            <a:off x="8682120" y="5978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660640" y="3869280"/>
            <a:ext cx="1533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945040" y="6030000"/>
            <a:ext cx="9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6823800" y="603000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7727760" y="603000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8631360" y="603000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253560" y="6159960"/>
            <a:ext cx="24336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Host reserves (ranked by inside-reserve events)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 rot="16200000">
            <a:off x="5025600" y="4851360"/>
            <a:ext cx="1099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Cumulative share (%)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864400" y="3637440"/>
            <a:ext cx="21438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172 events in only 68 reserves (6.6% of 1,028)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864400" y="3453480"/>
            <a:ext cx="24966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  Inside-reserve events are concentrated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FigP1_pa_enrichment</dc:title>
</cp:coreProperties>
</file>