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0391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01760" y="262800"/>
            <a:ext cx="723456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01760" y="1541160"/>
            <a:ext cx="723456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039160" cy="6946920"/>
          </a:xfrm>
          <a:custGeom>
            <a:avLst/>
            <a:gdLst/>
            <a:ahLst/>
            <a:rect l="0" t="0" r="r" b="b"/>
            <a:pathLst>
              <a:path w="22331" h="19297">
                <a:moveTo>
                  <a:pt x="0" y="0"/>
                </a:moveTo>
                <a:lnTo>
                  <a:pt x="22331" y="0"/>
                </a:lnTo>
                <a:lnTo>
                  <a:pt x="22331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039160" cy="6946920"/>
          </a:xfrm>
          <a:custGeom>
            <a:avLst/>
            <a:gdLst/>
            <a:ahLst/>
            <a:rect l="0" t="0" r="r" b="b"/>
            <a:pathLst>
              <a:path w="22331" h="19297">
                <a:moveTo>
                  <a:pt x="0" y="0"/>
                </a:moveTo>
                <a:lnTo>
                  <a:pt x="22331" y="0"/>
                </a:lnTo>
                <a:lnTo>
                  <a:pt x="22331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7900200" cy="3378240"/>
          </a:xfrm>
          <a:custGeom>
            <a:avLst/>
            <a:gdLst/>
            <a:ahLst/>
            <a:rect l="0" t="0" r="r" b="b"/>
            <a:pathLst>
              <a:path w="21945" h="9384">
                <a:moveTo>
                  <a:pt x="0" y="0"/>
                </a:moveTo>
                <a:lnTo>
                  <a:pt x="21945" y="0"/>
                </a:lnTo>
                <a:lnTo>
                  <a:pt x="21945" y="9384"/>
                </a:lnTo>
                <a:lnTo>
                  <a:pt x="0" y="93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3447360"/>
            <a:ext cx="7900200" cy="3430080"/>
          </a:xfrm>
          <a:custGeom>
            <a:avLst/>
            <a:gdLst/>
            <a:ahLst/>
            <a:rect l="0" t="0" r="r" b="b"/>
            <a:pathLst>
              <a:path w="21945" h="9528">
                <a:moveTo>
                  <a:pt x="0" y="0"/>
                </a:moveTo>
                <a:lnTo>
                  <a:pt x="21945" y="0"/>
                </a:lnTo>
                <a:lnTo>
                  <a:pt x="21945" y="9528"/>
                </a:lnTo>
                <a:lnTo>
                  <a:pt x="0" y="95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49000" y="659880"/>
            <a:ext cx="7363800" cy="2478960"/>
          </a:xfrm>
          <a:custGeom>
            <a:avLst/>
            <a:gdLst/>
            <a:ahLst/>
            <a:rect l="0" t="0" r="r" b="b"/>
            <a:pathLst>
              <a:path w="20455" h="6886">
                <a:moveTo>
                  <a:pt x="0" y="0"/>
                </a:moveTo>
                <a:lnTo>
                  <a:pt x="20455" y="0"/>
                </a:lnTo>
                <a:lnTo>
                  <a:pt x="20455" y="6886"/>
                </a:lnTo>
                <a:lnTo>
                  <a:pt x="0" y="68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940680" y="1873800"/>
            <a:ext cx="409320" cy="1265040"/>
          </a:xfrm>
          <a:custGeom>
            <a:avLst/>
            <a:gdLst/>
            <a:ahLst/>
            <a:rect l="0" t="0" r="r" b="b"/>
            <a:pathLst>
              <a:path w="1137" h="3514">
                <a:moveTo>
                  <a:pt x="0" y="0"/>
                </a:moveTo>
                <a:lnTo>
                  <a:pt x="1137" y="0"/>
                </a:lnTo>
                <a:lnTo>
                  <a:pt x="1137" y="3514"/>
                </a:lnTo>
                <a:lnTo>
                  <a:pt x="0" y="351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693880" y="2516400"/>
            <a:ext cx="409320" cy="622440"/>
          </a:xfrm>
          <a:custGeom>
            <a:avLst/>
            <a:gdLst/>
            <a:ahLst/>
            <a:rect l="0" t="0" r="r" b="b"/>
            <a:pathLst>
              <a:path w="1137" h="1729">
                <a:moveTo>
                  <a:pt x="0" y="0"/>
                </a:moveTo>
                <a:lnTo>
                  <a:pt x="1137" y="0"/>
                </a:lnTo>
                <a:lnTo>
                  <a:pt x="1137" y="1729"/>
                </a:lnTo>
                <a:lnTo>
                  <a:pt x="0" y="1729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4447080" y="2494440"/>
            <a:ext cx="409320" cy="644400"/>
          </a:xfrm>
          <a:custGeom>
            <a:avLst/>
            <a:gdLst/>
            <a:ahLst/>
            <a:rect l="0" t="0" r="r" b="b"/>
            <a:pathLst>
              <a:path w="1137" h="1790">
                <a:moveTo>
                  <a:pt x="0" y="0"/>
                </a:moveTo>
                <a:lnTo>
                  <a:pt x="1137" y="0"/>
                </a:lnTo>
                <a:lnTo>
                  <a:pt x="1137" y="1790"/>
                </a:lnTo>
                <a:lnTo>
                  <a:pt x="0" y="179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199920" y="2005920"/>
            <a:ext cx="409680" cy="1132920"/>
          </a:xfrm>
          <a:custGeom>
            <a:avLst/>
            <a:gdLst/>
            <a:ahLst/>
            <a:rect l="0" t="0" r="r" b="b"/>
            <a:pathLst>
              <a:path w="1138" h="3147">
                <a:moveTo>
                  <a:pt x="0" y="0"/>
                </a:moveTo>
                <a:lnTo>
                  <a:pt x="1138" y="0"/>
                </a:lnTo>
                <a:lnTo>
                  <a:pt x="1138" y="3147"/>
                </a:lnTo>
                <a:lnTo>
                  <a:pt x="0" y="3147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396440" y="1560600"/>
            <a:ext cx="409320" cy="1578240"/>
          </a:xfrm>
          <a:custGeom>
            <a:avLst/>
            <a:gdLst/>
            <a:ahLst/>
            <a:rect l="0" t="0" r="r" b="b"/>
            <a:pathLst>
              <a:path w="1137" h="4384">
                <a:moveTo>
                  <a:pt x="0" y="0"/>
                </a:moveTo>
                <a:lnTo>
                  <a:pt x="1137" y="0"/>
                </a:lnTo>
                <a:lnTo>
                  <a:pt x="1137" y="4384"/>
                </a:lnTo>
                <a:lnTo>
                  <a:pt x="0" y="4384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149640" y="1747800"/>
            <a:ext cx="409320" cy="1391040"/>
          </a:xfrm>
          <a:custGeom>
            <a:avLst/>
            <a:gdLst/>
            <a:ahLst/>
            <a:rect l="0" t="0" r="r" b="b"/>
            <a:pathLst>
              <a:path w="1137" h="3864">
                <a:moveTo>
                  <a:pt x="0" y="0"/>
                </a:moveTo>
                <a:lnTo>
                  <a:pt x="1137" y="0"/>
                </a:lnTo>
                <a:lnTo>
                  <a:pt x="1137" y="3864"/>
                </a:lnTo>
                <a:lnTo>
                  <a:pt x="0" y="3864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4902840" y="2530440"/>
            <a:ext cx="409320" cy="608400"/>
          </a:xfrm>
          <a:custGeom>
            <a:avLst/>
            <a:gdLst/>
            <a:ahLst/>
            <a:rect l="0" t="0" r="r" b="b"/>
            <a:pathLst>
              <a:path w="1137" h="1690">
                <a:moveTo>
                  <a:pt x="0" y="0"/>
                </a:moveTo>
                <a:lnTo>
                  <a:pt x="1137" y="0"/>
                </a:lnTo>
                <a:lnTo>
                  <a:pt x="1137" y="1690"/>
                </a:lnTo>
                <a:lnTo>
                  <a:pt x="0" y="169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656040" y="2362320"/>
            <a:ext cx="409320" cy="776520"/>
          </a:xfrm>
          <a:custGeom>
            <a:avLst/>
            <a:gdLst/>
            <a:ahLst/>
            <a:rect l="0" t="0" r="r" b="b"/>
            <a:pathLst>
              <a:path w="1137" h="2157">
                <a:moveTo>
                  <a:pt x="0" y="0"/>
                </a:moveTo>
                <a:lnTo>
                  <a:pt x="1137" y="0"/>
                </a:lnTo>
                <a:lnTo>
                  <a:pt x="1137" y="2157"/>
                </a:lnTo>
                <a:lnTo>
                  <a:pt x="0" y="2157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852200" y="2019960"/>
            <a:ext cx="409320" cy="1118880"/>
          </a:xfrm>
          <a:custGeom>
            <a:avLst/>
            <a:gdLst/>
            <a:ahLst/>
            <a:rect l="0" t="0" r="r" b="b"/>
            <a:pathLst>
              <a:path w="1137" h="3108">
                <a:moveTo>
                  <a:pt x="0" y="0"/>
                </a:moveTo>
                <a:lnTo>
                  <a:pt x="1137" y="0"/>
                </a:lnTo>
                <a:lnTo>
                  <a:pt x="1137" y="3108"/>
                </a:lnTo>
                <a:lnTo>
                  <a:pt x="0" y="3108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605400" y="1775520"/>
            <a:ext cx="409320" cy="1363320"/>
          </a:xfrm>
          <a:custGeom>
            <a:avLst/>
            <a:gdLst/>
            <a:ahLst/>
            <a:rect l="0" t="0" r="r" b="b"/>
            <a:pathLst>
              <a:path w="1137" h="3787">
                <a:moveTo>
                  <a:pt x="0" y="0"/>
                </a:moveTo>
                <a:lnTo>
                  <a:pt x="1137" y="0"/>
                </a:lnTo>
                <a:lnTo>
                  <a:pt x="1137" y="3787"/>
                </a:lnTo>
                <a:lnTo>
                  <a:pt x="0" y="3787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5358600" y="2471400"/>
            <a:ext cx="409320" cy="667440"/>
          </a:xfrm>
          <a:custGeom>
            <a:avLst/>
            <a:gdLst/>
            <a:ahLst/>
            <a:rect l="0" t="0" r="r" b="b"/>
            <a:pathLst>
              <a:path w="1137" h="1854">
                <a:moveTo>
                  <a:pt x="0" y="0"/>
                </a:moveTo>
                <a:lnTo>
                  <a:pt x="1137" y="0"/>
                </a:lnTo>
                <a:lnTo>
                  <a:pt x="1137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111800" y="2303280"/>
            <a:ext cx="409320" cy="835560"/>
          </a:xfrm>
          <a:custGeom>
            <a:avLst/>
            <a:gdLst/>
            <a:ahLst/>
            <a:rect l="0" t="0" r="r" b="b"/>
            <a:pathLst>
              <a:path w="1137" h="2321">
                <a:moveTo>
                  <a:pt x="0" y="0"/>
                </a:moveTo>
                <a:lnTo>
                  <a:pt x="1137" y="0"/>
                </a:lnTo>
                <a:lnTo>
                  <a:pt x="1137" y="2321"/>
                </a:lnTo>
                <a:lnTo>
                  <a:pt x="0" y="2321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092600" y="14677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145160" y="1467720"/>
            <a:ext cx="0" cy="81216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092600" y="22798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845800" y="24253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898360" y="2425320"/>
            <a:ext cx="0" cy="18180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845800" y="26071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599000" y="22485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651560" y="2248560"/>
            <a:ext cx="0" cy="49212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599000" y="27406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548360" y="8002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600920" y="800280"/>
            <a:ext cx="0" cy="15206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548360" y="23209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301560" y="12301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354120" y="1230120"/>
            <a:ext cx="0" cy="103500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301560" y="22651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5054760" y="23040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107320" y="2304000"/>
            <a:ext cx="0" cy="45288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5054760" y="27568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04120" y="16974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056680" y="1697400"/>
            <a:ext cx="0" cy="64476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004120" y="23421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3757320" y="12754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3809880" y="1275480"/>
            <a:ext cx="0" cy="10004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757320" y="22759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5510520" y="22510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563080" y="2251080"/>
            <a:ext cx="0" cy="4406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510520" y="26917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49000" y="2712600"/>
            <a:ext cx="7363440" cy="0"/>
          </a:xfrm>
          <a:prstGeom prst="line">
            <a:avLst/>
          </a:prstGeom>
          <a:ln w="10800">
            <a:solidFill>
              <a:srgbClr val="595959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549000" y="659880"/>
            <a:ext cx="0" cy="2478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60520" y="2563560"/>
            <a:ext cx="7153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Event rate 0.369%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69280" y="310068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69280" y="252360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69280" y="194652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0.010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69280" y="136944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0.015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20560" y="3138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20560" y="25614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20560" y="19843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20560" y="14072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20560" y="8301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49000" y="3138480"/>
            <a:ext cx="73634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 flipV="1">
            <a:off x="16009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V="1">
            <a:off x="33541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51073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68605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69280" y="79236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302480" y="3189960"/>
            <a:ext cx="6004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Random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922480" y="3189960"/>
            <a:ext cx="844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Leave-species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663080" y="3189960"/>
            <a:ext cx="8802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Leave-province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670080" y="3189960"/>
            <a:ext cx="3870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Temporal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631920" y="3288960"/>
            <a:ext cx="458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2019–2024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988360" y="481680"/>
            <a:ext cx="2485080" cy="64800"/>
          </a:xfrm>
          <a:custGeom>
            <a:avLst/>
            <a:gdLst/>
            <a:ahLst/>
            <a:rect l="0" t="0" r="r" b="b"/>
            <a:pathLst>
              <a:path w="6903" h="180">
                <a:moveTo>
                  <a:pt x="0" y="0"/>
                </a:moveTo>
                <a:lnTo>
                  <a:pt x="6903" y="0"/>
                </a:lnTo>
                <a:lnTo>
                  <a:pt x="6903" y="180"/>
                </a:lnTo>
                <a:lnTo>
                  <a:pt x="0" y="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9883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995920" y="48888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0557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062960" y="48888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49197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926960" y="488880"/>
            <a:ext cx="101160" cy="100800"/>
          </a:xfrm>
          <a:custGeom>
            <a:avLst/>
            <a:gdLst/>
            <a:ahLst/>
            <a:rect l="0" t="0" r="r" b="b"/>
            <a:pathLst>
              <a:path w="281" h="280">
                <a:moveTo>
                  <a:pt x="0" y="0"/>
                </a:moveTo>
                <a:lnTo>
                  <a:pt x="281" y="0"/>
                </a:lnTo>
                <a:lnTo>
                  <a:pt x="281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 rot="16200000">
            <a:off x="-35280" y="1851120"/>
            <a:ext cx="438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PR-AUC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160800" y="488520"/>
            <a:ext cx="880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Mechanistic hazard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227840" y="4885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092200" y="488520"/>
            <a:ext cx="409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XGBoost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49000" y="310320"/>
            <a:ext cx="57837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Mechanistic: conditional prediction on random folds, marginal elsewhere. RF and XGBoost class-balanced. Error bars: fold SD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49000" y="4064760"/>
            <a:ext cx="3653640" cy="2602800"/>
          </a:xfrm>
          <a:custGeom>
            <a:avLst/>
            <a:gdLst/>
            <a:ahLst/>
            <a:rect l="0" t="0" r="r" b="b"/>
            <a:pathLst>
              <a:path w="10149" h="7230">
                <a:moveTo>
                  <a:pt x="0" y="0"/>
                </a:moveTo>
                <a:lnTo>
                  <a:pt x="10149" y="0"/>
                </a:lnTo>
                <a:lnTo>
                  <a:pt x="10149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919800" y="5261400"/>
            <a:ext cx="387720" cy="1406160"/>
          </a:xfrm>
          <a:custGeom>
            <a:avLst/>
            <a:gdLst/>
            <a:ahLst/>
            <a:rect l="0" t="0" r="r" b="b"/>
            <a:pathLst>
              <a:path w="1077" h="3906">
                <a:moveTo>
                  <a:pt x="0" y="0"/>
                </a:moveTo>
                <a:lnTo>
                  <a:pt x="1077" y="0"/>
                </a:lnTo>
                <a:lnTo>
                  <a:pt x="1077" y="3906"/>
                </a:lnTo>
                <a:lnTo>
                  <a:pt x="0" y="39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580480" y="5744520"/>
            <a:ext cx="387720" cy="923040"/>
          </a:xfrm>
          <a:custGeom>
            <a:avLst/>
            <a:gdLst/>
            <a:ahLst/>
            <a:rect l="0" t="0" r="r" b="b"/>
            <a:pathLst>
              <a:path w="1077" h="2564">
                <a:moveTo>
                  <a:pt x="0" y="0"/>
                </a:moveTo>
                <a:lnTo>
                  <a:pt x="1077" y="0"/>
                </a:lnTo>
                <a:lnTo>
                  <a:pt x="1077" y="2564"/>
                </a:lnTo>
                <a:lnTo>
                  <a:pt x="0" y="256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351440" y="5264280"/>
            <a:ext cx="388080" cy="1403280"/>
          </a:xfrm>
          <a:custGeom>
            <a:avLst/>
            <a:gdLst/>
            <a:ahLst/>
            <a:rect l="0" t="0" r="r" b="b"/>
            <a:pathLst>
              <a:path w="1078" h="3898">
                <a:moveTo>
                  <a:pt x="0" y="0"/>
                </a:moveTo>
                <a:lnTo>
                  <a:pt x="1078" y="0"/>
                </a:lnTo>
                <a:lnTo>
                  <a:pt x="1078" y="3898"/>
                </a:lnTo>
                <a:lnTo>
                  <a:pt x="0" y="3898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012120" y="5816160"/>
            <a:ext cx="387720" cy="851400"/>
          </a:xfrm>
          <a:custGeom>
            <a:avLst/>
            <a:gdLst/>
            <a:ahLst/>
            <a:rect l="0" t="0" r="r" b="b"/>
            <a:pathLst>
              <a:path w="1077" h="2365">
                <a:moveTo>
                  <a:pt x="0" y="0"/>
                </a:moveTo>
                <a:lnTo>
                  <a:pt x="1077" y="0"/>
                </a:lnTo>
                <a:lnTo>
                  <a:pt x="1077" y="2365"/>
                </a:lnTo>
                <a:lnTo>
                  <a:pt x="0" y="2365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783440" y="5245200"/>
            <a:ext cx="387720" cy="1422360"/>
          </a:xfrm>
          <a:custGeom>
            <a:avLst/>
            <a:gdLst/>
            <a:ahLst/>
            <a:rect l="0" t="0" r="r" b="b"/>
            <a:pathLst>
              <a:path w="1077" h="3951">
                <a:moveTo>
                  <a:pt x="0" y="0"/>
                </a:moveTo>
                <a:lnTo>
                  <a:pt x="1077" y="0"/>
                </a:lnTo>
                <a:lnTo>
                  <a:pt x="1077" y="3951"/>
                </a:lnTo>
                <a:lnTo>
                  <a:pt x="0" y="3951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443760" y="5582520"/>
            <a:ext cx="388080" cy="1085040"/>
          </a:xfrm>
          <a:custGeom>
            <a:avLst/>
            <a:gdLst/>
            <a:ahLst/>
            <a:rect l="0" t="0" r="r" b="b"/>
            <a:pathLst>
              <a:path w="1078" h="3014">
                <a:moveTo>
                  <a:pt x="0" y="0"/>
                </a:moveTo>
                <a:lnTo>
                  <a:pt x="1078" y="0"/>
                </a:lnTo>
                <a:lnTo>
                  <a:pt x="1078" y="3014"/>
                </a:lnTo>
                <a:lnTo>
                  <a:pt x="0" y="3014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49000" y="4649040"/>
            <a:ext cx="3653280" cy="0"/>
          </a:xfrm>
          <a:prstGeom prst="line">
            <a:avLst/>
          </a:prstGeom>
          <a:ln w="10800">
            <a:solidFill>
              <a:srgbClr val="666666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49000" y="126360"/>
            <a:ext cx="51530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Tree ensembles lead on interpolation; the mechanistic model wins on extrapolation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98120" y="4503960"/>
            <a:ext cx="5486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Random = 0.5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24920" y="5159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685240" y="5643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0.23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456560" y="516276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117240" y="5715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888200" y="51436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259160" y="4064760"/>
            <a:ext cx="3653640" cy="2602800"/>
          </a:xfrm>
          <a:custGeom>
            <a:avLst/>
            <a:gdLst/>
            <a:ahLst/>
            <a:rect l="0" t="0" r="r" b="b"/>
            <a:pathLst>
              <a:path w="10149" h="7230">
                <a:moveTo>
                  <a:pt x="0" y="0"/>
                </a:moveTo>
                <a:lnTo>
                  <a:pt x="10149" y="0"/>
                </a:lnTo>
                <a:lnTo>
                  <a:pt x="10149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629960" y="5360400"/>
            <a:ext cx="387720" cy="1307160"/>
          </a:xfrm>
          <a:custGeom>
            <a:avLst/>
            <a:gdLst/>
            <a:ahLst/>
            <a:rect l="0" t="0" r="r" b="b"/>
            <a:pathLst>
              <a:path w="1077" h="3631">
                <a:moveTo>
                  <a:pt x="0" y="0"/>
                </a:moveTo>
                <a:lnTo>
                  <a:pt x="1077" y="0"/>
                </a:lnTo>
                <a:lnTo>
                  <a:pt x="1077" y="3631"/>
                </a:lnTo>
                <a:lnTo>
                  <a:pt x="0" y="363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290640" y="5543640"/>
            <a:ext cx="387720" cy="1123920"/>
          </a:xfrm>
          <a:custGeom>
            <a:avLst/>
            <a:gdLst/>
            <a:ahLst/>
            <a:rect l="0" t="0" r="r" b="b"/>
            <a:pathLst>
              <a:path w="1077" h="3122">
                <a:moveTo>
                  <a:pt x="0" y="0"/>
                </a:moveTo>
                <a:lnTo>
                  <a:pt x="1077" y="0"/>
                </a:lnTo>
                <a:lnTo>
                  <a:pt x="1077" y="3122"/>
                </a:lnTo>
                <a:lnTo>
                  <a:pt x="0" y="312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061600" y="5162040"/>
            <a:ext cx="388080" cy="1505520"/>
          </a:xfrm>
          <a:custGeom>
            <a:avLst/>
            <a:gdLst/>
            <a:ahLst/>
            <a:rect l="0" t="0" r="r" b="b"/>
            <a:pathLst>
              <a:path w="1078" h="4182">
                <a:moveTo>
                  <a:pt x="0" y="0"/>
                </a:moveTo>
                <a:lnTo>
                  <a:pt x="1078" y="0"/>
                </a:lnTo>
                <a:lnTo>
                  <a:pt x="1078" y="4182"/>
                </a:lnTo>
                <a:lnTo>
                  <a:pt x="0" y="418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722280" y="5435640"/>
            <a:ext cx="387720" cy="1231920"/>
          </a:xfrm>
          <a:custGeom>
            <a:avLst/>
            <a:gdLst/>
            <a:ahLst/>
            <a:rect l="0" t="0" r="r" b="b"/>
            <a:pathLst>
              <a:path w="1077" h="3422">
                <a:moveTo>
                  <a:pt x="0" y="0"/>
                </a:moveTo>
                <a:lnTo>
                  <a:pt x="1077" y="0"/>
                </a:lnTo>
                <a:lnTo>
                  <a:pt x="1077" y="3422"/>
                </a:lnTo>
                <a:lnTo>
                  <a:pt x="0" y="342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493600" y="5043600"/>
            <a:ext cx="387720" cy="1623960"/>
          </a:xfrm>
          <a:custGeom>
            <a:avLst/>
            <a:gdLst/>
            <a:ahLst/>
            <a:rect l="0" t="0" r="r" b="b"/>
            <a:pathLst>
              <a:path w="1077" h="4511">
                <a:moveTo>
                  <a:pt x="0" y="0"/>
                </a:moveTo>
                <a:lnTo>
                  <a:pt x="1077" y="0"/>
                </a:lnTo>
                <a:lnTo>
                  <a:pt x="1077" y="4511"/>
                </a:lnTo>
                <a:lnTo>
                  <a:pt x="0" y="4511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153920" y="5249160"/>
            <a:ext cx="388080" cy="1418400"/>
          </a:xfrm>
          <a:custGeom>
            <a:avLst/>
            <a:gdLst/>
            <a:ahLst/>
            <a:rect l="0" t="0" r="r" b="b"/>
            <a:pathLst>
              <a:path w="1078" h="3940">
                <a:moveTo>
                  <a:pt x="0" y="0"/>
                </a:moveTo>
                <a:lnTo>
                  <a:pt x="1078" y="0"/>
                </a:lnTo>
                <a:lnTo>
                  <a:pt x="1078" y="3940"/>
                </a:lnTo>
                <a:lnTo>
                  <a:pt x="0" y="3940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259160" y="4649040"/>
            <a:ext cx="3652920" cy="0"/>
          </a:xfrm>
          <a:prstGeom prst="line">
            <a:avLst/>
          </a:prstGeom>
          <a:ln w="10800">
            <a:solidFill>
              <a:srgbClr val="666666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548880" y="5481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508280" y="4503960"/>
            <a:ext cx="5486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Random = 0.5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35080" y="5258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0.32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395760" y="544212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0.28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166720" y="5060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827400" y="53344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598360" y="49420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0.40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259040" y="5148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94720" y="3917880"/>
            <a:ext cx="1118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Temporal 2019–2024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49000" y="6667200"/>
            <a:ext cx="36532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154512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320580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304880" y="3917880"/>
            <a:ext cx="1080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Leave-one-province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335960" y="6718680"/>
            <a:ext cx="4226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Prefecture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259160" y="6667200"/>
            <a:ext cx="36532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 flipV="1">
            <a:off x="525564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691596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060000" y="6718680"/>
            <a:ext cx="2905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046120" y="6718680"/>
            <a:ext cx="4226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Prefecture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549000" y="4064760"/>
            <a:ext cx="0" cy="260244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770160" y="6718680"/>
            <a:ext cx="2905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70800" y="66294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70800" y="58222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70800" y="50148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20560" y="66672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20560" y="5860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20560" y="50529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20560" y="4245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70800" y="42076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 rot="16200000">
            <a:off x="-1325160" y="5380560"/>
            <a:ext cx="3018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Predicted rank percentile of the chosen unit (lower is better)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9000" y="3688200"/>
            <a:ext cx="49262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Same 2019-2024 events and feature set; leave-one-province holds a whole province out before predicting it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9000" y="3504240"/>
            <a:ext cx="5862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Allocation: families tie on temporal splits; the mechanistic model gains most on new provinces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FigMS2_multiscale_model_skill</dc:title>
</cp:coreProperties>
</file>