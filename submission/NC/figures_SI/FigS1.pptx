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3556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81360"/>
            <a:ext cx="822924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747720"/>
            <a:ext cx="8229240" cy="185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9144360" cy="3556080"/>
          </a:xfrm>
          <a:custGeom>
            <a:avLst/>
            <a:gdLst/>
            <a:ahLst/>
            <a:rect l="0" t="0" r="r" b="b"/>
            <a:pathLst>
              <a:path w="25401" h="9878">
                <a:moveTo>
                  <a:pt x="0" y="0"/>
                </a:moveTo>
                <a:lnTo>
                  <a:pt x="25401" y="0"/>
                </a:lnTo>
                <a:lnTo>
                  <a:pt x="25401" y="9878"/>
                </a:lnTo>
                <a:lnTo>
                  <a:pt x="0" y="98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9144360" cy="3556080"/>
          </a:xfrm>
          <a:custGeom>
            <a:avLst/>
            <a:gdLst/>
            <a:ahLst/>
            <a:rect l="0" t="0" r="r" b="b"/>
            <a:pathLst>
              <a:path w="25401" h="9878">
                <a:moveTo>
                  <a:pt x="0" y="0"/>
                </a:moveTo>
                <a:lnTo>
                  <a:pt x="25401" y="0"/>
                </a:lnTo>
                <a:lnTo>
                  <a:pt x="25401" y="9878"/>
                </a:lnTo>
                <a:lnTo>
                  <a:pt x="0" y="98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2435040" cy="3417120"/>
          </a:xfrm>
          <a:custGeom>
            <a:avLst/>
            <a:gdLst/>
            <a:ahLst/>
            <a:rect l="0" t="0" r="r" b="b"/>
            <a:pathLst>
              <a:path w="6764" h="9492">
                <a:moveTo>
                  <a:pt x="0" y="0"/>
                </a:moveTo>
                <a:lnTo>
                  <a:pt x="6764" y="0"/>
                </a:lnTo>
                <a:lnTo>
                  <a:pt x="6764" y="9492"/>
                </a:lnTo>
                <a:lnTo>
                  <a:pt x="0" y="94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2504160" y="69480"/>
            <a:ext cx="2409840" cy="3417120"/>
          </a:xfrm>
          <a:custGeom>
            <a:avLst/>
            <a:gdLst/>
            <a:ahLst/>
            <a:rect l="0" t="0" r="r" b="b"/>
            <a:pathLst>
              <a:path w="6694" h="9492">
                <a:moveTo>
                  <a:pt x="0" y="0"/>
                </a:moveTo>
                <a:lnTo>
                  <a:pt x="6694" y="0"/>
                </a:lnTo>
                <a:lnTo>
                  <a:pt x="6694" y="9492"/>
                </a:lnTo>
                <a:lnTo>
                  <a:pt x="0" y="94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4913640" y="69480"/>
            <a:ext cx="4160880" cy="3417120"/>
          </a:xfrm>
          <a:custGeom>
            <a:avLst/>
            <a:gdLst/>
            <a:ahLst/>
            <a:rect l="0" t="0" r="r" b="b"/>
            <a:pathLst>
              <a:path w="11558" h="9492">
                <a:moveTo>
                  <a:pt x="0" y="0"/>
                </a:moveTo>
                <a:lnTo>
                  <a:pt x="11558" y="0"/>
                </a:lnTo>
                <a:lnTo>
                  <a:pt x="11558" y="9492"/>
                </a:lnTo>
                <a:lnTo>
                  <a:pt x="0" y="94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551160" y="538560"/>
            <a:ext cx="1852200" cy="2266920"/>
          </a:xfrm>
          <a:custGeom>
            <a:avLst/>
            <a:gdLst/>
            <a:ahLst/>
            <a:rect l="0" t="0" r="r" b="b"/>
            <a:pathLst>
              <a:path w="5145" h="6297">
                <a:moveTo>
                  <a:pt x="0" y="0"/>
                </a:moveTo>
                <a:lnTo>
                  <a:pt x="5145" y="0"/>
                </a:lnTo>
                <a:lnTo>
                  <a:pt x="5145" y="6297"/>
                </a:lnTo>
                <a:lnTo>
                  <a:pt x="0" y="6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551160" y="270216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551160" y="206028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551160" y="141876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551160" y="77724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633600" y="641520"/>
            <a:ext cx="194400" cy="2061000"/>
          </a:xfrm>
          <a:custGeom>
            <a:avLst/>
            <a:gdLst/>
            <a:ahLst/>
            <a:rect l="0" t="0" r="r" b="b"/>
            <a:pathLst>
              <a:path w="540" h="5725">
                <a:moveTo>
                  <a:pt x="0" y="0"/>
                </a:moveTo>
                <a:lnTo>
                  <a:pt x="540" y="0"/>
                </a:lnTo>
                <a:lnTo>
                  <a:pt x="540" y="5725"/>
                </a:lnTo>
                <a:lnTo>
                  <a:pt x="0" y="5725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932040" y="1477080"/>
            <a:ext cx="194400" cy="1225440"/>
          </a:xfrm>
          <a:custGeom>
            <a:avLst/>
            <a:gdLst/>
            <a:ahLst/>
            <a:rect l="0" t="0" r="r" b="b"/>
            <a:pathLst>
              <a:path w="540" h="3404">
                <a:moveTo>
                  <a:pt x="0" y="0"/>
                </a:moveTo>
                <a:lnTo>
                  <a:pt x="540" y="0"/>
                </a:lnTo>
                <a:lnTo>
                  <a:pt x="540" y="3404"/>
                </a:lnTo>
                <a:lnTo>
                  <a:pt x="0" y="3404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230840" y="1764360"/>
            <a:ext cx="194400" cy="938160"/>
          </a:xfrm>
          <a:custGeom>
            <a:avLst/>
            <a:gdLst/>
            <a:ahLst/>
            <a:rect l="0" t="0" r="r" b="b"/>
            <a:pathLst>
              <a:path w="540" h="2606">
                <a:moveTo>
                  <a:pt x="0" y="0"/>
                </a:moveTo>
                <a:lnTo>
                  <a:pt x="540" y="0"/>
                </a:lnTo>
                <a:lnTo>
                  <a:pt x="540" y="2606"/>
                </a:lnTo>
                <a:lnTo>
                  <a:pt x="0" y="2606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529280" y="2659320"/>
            <a:ext cx="194760" cy="43200"/>
          </a:xfrm>
          <a:custGeom>
            <a:avLst/>
            <a:gdLst/>
            <a:ahLst/>
            <a:rect l="0" t="0" r="r" b="b"/>
            <a:pathLst>
              <a:path w="541" h="120">
                <a:moveTo>
                  <a:pt x="0" y="0"/>
                </a:moveTo>
                <a:lnTo>
                  <a:pt x="541" y="0"/>
                </a:lnTo>
                <a:lnTo>
                  <a:pt x="541" y="120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828080" y="2668680"/>
            <a:ext cx="194400" cy="33840"/>
          </a:xfrm>
          <a:custGeom>
            <a:avLst/>
            <a:gdLst/>
            <a:ahLst/>
            <a:rect l="0" t="0" r="r" b="b"/>
            <a:pathLst>
              <a:path w="540" h="94">
                <a:moveTo>
                  <a:pt x="0" y="0"/>
                </a:moveTo>
                <a:lnTo>
                  <a:pt x="540" y="0"/>
                </a:lnTo>
                <a:lnTo>
                  <a:pt x="540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91120" y="514800"/>
            <a:ext cx="259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160.6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921240" y="135000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95.5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220040" y="163764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73.1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550520" y="2532600"/>
            <a:ext cx="1447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3.3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849320" y="2541960"/>
            <a:ext cx="1447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2.6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 flipV="1">
            <a:off x="551160" y="538560"/>
            <a:ext cx="0" cy="22665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147760" y="2575080"/>
            <a:ext cx="1447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443880" y="26514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393120" y="200988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342000" y="136800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19840" y="27021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19840" y="20602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19840" y="14187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519840" y="7772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551160" y="2805120"/>
            <a:ext cx="18518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 flipV="1">
            <a:off x="73044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 flipV="1">
            <a:off x="102924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 flipV="1">
            <a:off x="132768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 flipV="1">
            <a:off x="162648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 flipV="1">
            <a:off x="192528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 flipV="1">
            <a:off x="222372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42000" y="72648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 rot="20100000">
            <a:off x="431280" y="2911680"/>
            <a:ext cx="3470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species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 rot="20100000">
            <a:off x="268920" y="3009960"/>
            <a:ext cx="849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species + province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 rot="20100000">
            <a:off x="922680" y="2983320"/>
            <a:ext cx="1764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(v1)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 rot="20100000">
            <a:off x="1077480" y="2903400"/>
            <a:ext cx="287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 rot="20100000">
            <a:off x="927000" y="2997360"/>
            <a:ext cx="781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province x 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 rot="20100000">
            <a:off x="1374840" y="3016080"/>
            <a:ext cx="324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(MAIN)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 rot="20100000">
            <a:off x="910800" y="3065040"/>
            <a:ext cx="1121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species warming slope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 rot="20100000">
            <a:off x="1329840" y="3035160"/>
            <a:ext cx="10083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province effort slope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 rot="16200000">
            <a:off x="-36720" y="1610640"/>
            <a:ext cx="5421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Delta AIC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551520" y="335880"/>
            <a:ext cx="7704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Lower is better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51520" y="145440"/>
            <a:ext cx="1551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2960640" y="538560"/>
            <a:ext cx="1852200" cy="2266920"/>
          </a:xfrm>
          <a:custGeom>
            <a:avLst/>
            <a:gdLst/>
            <a:ahLst/>
            <a:rect l="0" t="0" r="r" b="b"/>
            <a:pathLst>
              <a:path w="5145" h="6297">
                <a:moveTo>
                  <a:pt x="0" y="0"/>
                </a:moveTo>
                <a:lnTo>
                  <a:pt x="5145" y="0"/>
                </a:lnTo>
                <a:lnTo>
                  <a:pt x="5145" y="6297"/>
                </a:lnTo>
                <a:lnTo>
                  <a:pt x="0" y="6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2960640" y="235872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2960640" y="174960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960640" y="114084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3139920" y="2014920"/>
            <a:ext cx="1493640" cy="687600"/>
          </a:xfrm>
          <a:custGeom>
            <a:avLst/>
            <a:gdLst/>
            <a:ahLst/>
            <a:rect l="0" t="0" r="r" b="b"/>
            <a:pathLst>
              <a:path fill="none" w="4149" h="1910">
                <a:moveTo>
                  <a:pt x="0" y="1910"/>
                </a:moveTo>
                <a:lnTo>
                  <a:pt x="830" y="1134"/>
                </a:lnTo>
                <a:lnTo>
                  <a:pt x="1661" y="1106"/>
                </a:lnTo>
                <a:lnTo>
                  <a:pt x="2490" y="0"/>
                </a:lnTo>
                <a:lnTo>
                  <a:pt x="3320" y="68"/>
                </a:lnTo>
                <a:lnTo>
                  <a:pt x="4149" y="105"/>
                </a:lnTo>
              </a:path>
            </a:pathLst>
          </a:custGeom>
          <a:ln w="16200">
            <a:solidFill>
              <a:srgbClr val="009E73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3139920" y="641520"/>
            <a:ext cx="1493640" cy="534960"/>
          </a:xfrm>
          <a:custGeom>
            <a:avLst/>
            <a:gdLst/>
            <a:ahLst/>
            <a:rect l="0" t="0" r="r" b="b"/>
            <a:pathLst>
              <a:path fill="none" w="4149" h="1486">
                <a:moveTo>
                  <a:pt x="0" y="1486"/>
                </a:moveTo>
                <a:lnTo>
                  <a:pt x="830" y="1206"/>
                </a:lnTo>
                <a:lnTo>
                  <a:pt x="1661" y="1076"/>
                </a:lnTo>
                <a:lnTo>
                  <a:pt x="2490" y="91"/>
                </a:lnTo>
                <a:lnTo>
                  <a:pt x="3320" y="0"/>
                </a:lnTo>
                <a:lnTo>
                  <a:pt x="4149" y="106"/>
                </a:lnTo>
              </a:path>
            </a:pathLst>
          </a:custGeom>
          <a:ln w="16200">
            <a:solidFill>
              <a:srgbClr val="0072B2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3139920" y="1402200"/>
            <a:ext cx="1493640" cy="8640"/>
          </a:xfrm>
          <a:custGeom>
            <a:avLst/>
            <a:gdLst/>
            <a:ahLst/>
            <a:rect l="0" t="0" r="r" b="b"/>
            <a:pathLst>
              <a:path fill="none" w="4149" h="24">
                <a:moveTo>
                  <a:pt x="0" y="0"/>
                </a:moveTo>
                <a:lnTo>
                  <a:pt x="830" y="15"/>
                </a:lnTo>
                <a:lnTo>
                  <a:pt x="1661" y="13"/>
                </a:lnTo>
                <a:lnTo>
                  <a:pt x="2490" y="21"/>
                </a:lnTo>
                <a:lnTo>
                  <a:pt x="3320" y="21"/>
                </a:lnTo>
                <a:lnTo>
                  <a:pt x="4149" y="24"/>
                </a:lnTo>
              </a:path>
            </a:pathLst>
          </a:custGeom>
          <a:ln w="16200">
            <a:solidFill>
              <a:srgbClr val="E69F00"/>
            </a:solidFill>
            <a:round/>
          </a:ln>
        </p:spPr>
        <p:txBody>
          <a:bodyPr lIns="7920" tIns="720" rIns="792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3108960" y="267084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3108960" y="26708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3407400" y="239148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3407400" y="239148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3706200" y="2381400"/>
            <a:ext cx="62640" cy="62280"/>
          </a:xfrm>
          <a:custGeom>
            <a:avLst/>
            <a:gdLst/>
            <a:ahLst/>
            <a:rect l="0" t="0" r="r" b="b"/>
            <a:pathLst>
              <a:path w="174" h="173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2"/>
                  <a:pt x="0" y="202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3706200" y="2381400"/>
            <a:ext cx="62640" cy="62280"/>
          </a:xfrm>
          <a:custGeom>
            <a:avLst/>
            <a:gdLst/>
            <a:ahLst/>
            <a:rect l="0" t="0" r="r" b="b"/>
            <a:pathLst>
              <a:path fill="none" w="174" h="173">
                <a:moveTo>
                  <a:pt x="174" y="87"/>
                </a:moveTo>
                <a:cubicBezTo>
                  <a:pt x="174" y="202"/>
                  <a:pt x="0" y="202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4004640" y="1983600"/>
            <a:ext cx="63000" cy="62640"/>
          </a:xfrm>
          <a:custGeom>
            <a:avLst/>
            <a:gdLst/>
            <a:ahLst/>
            <a:rect l="0" t="0" r="r" b="b"/>
            <a:pathLst>
              <a:path w="175" h="174">
                <a:moveTo>
                  <a:pt x="0" y="87"/>
                </a:moveTo>
                <a:cubicBezTo>
                  <a:pt x="0" y="-29"/>
                  <a:pt x="175" y="-29"/>
                  <a:pt x="175" y="87"/>
                </a:cubicBezTo>
                <a:cubicBezTo>
                  <a:pt x="175" y="203"/>
                  <a:pt x="0" y="203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4004640" y="198360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7"/>
                </a:moveTo>
                <a:cubicBezTo>
                  <a:pt x="175" y="203"/>
                  <a:pt x="0" y="203"/>
                  <a:pt x="0" y="87"/>
                </a:cubicBezTo>
                <a:cubicBezTo>
                  <a:pt x="0" y="-29"/>
                  <a:pt x="175" y="-29"/>
                  <a:pt x="175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4303440" y="200844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4303440" y="20084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4602240" y="202176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4602240" y="202176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3108960" y="114480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3108960" y="114480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3407400" y="104400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3407400" y="10440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3706200" y="99720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3706200" y="9972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4004640" y="642960"/>
            <a:ext cx="63000" cy="62640"/>
          </a:xfrm>
          <a:custGeom>
            <a:avLst/>
            <a:gdLst/>
            <a:ahLst/>
            <a:rect l="0" t="0" r="r" b="b"/>
            <a:pathLst>
              <a:path w="175" h="174">
                <a:moveTo>
                  <a:pt x="0" y="88"/>
                </a:moveTo>
                <a:cubicBezTo>
                  <a:pt x="0" y="-29"/>
                  <a:pt x="175" y="-29"/>
                  <a:pt x="175" y="88"/>
                </a:cubicBezTo>
                <a:cubicBezTo>
                  <a:pt x="175" y="203"/>
                  <a:pt x="0" y="203"/>
                  <a:pt x="0" y="8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4004640" y="64296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8"/>
                </a:moveTo>
                <a:cubicBezTo>
                  <a:pt x="175" y="203"/>
                  <a:pt x="0" y="203"/>
                  <a:pt x="0" y="88"/>
                </a:cubicBezTo>
                <a:cubicBezTo>
                  <a:pt x="0" y="-29"/>
                  <a:pt x="175" y="-29"/>
                  <a:pt x="175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4303440" y="61056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6"/>
                </a:moveTo>
                <a:cubicBezTo>
                  <a:pt x="0" y="-29"/>
                  <a:pt x="174" y="-29"/>
                  <a:pt x="174" y="86"/>
                </a:cubicBezTo>
                <a:cubicBezTo>
                  <a:pt x="174" y="203"/>
                  <a:pt x="0" y="203"/>
                  <a:pt x="0" y="86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4303440" y="61056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4602240" y="64836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4602240" y="64836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3108960" y="137088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3108960" y="137088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3407400" y="13759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3407400" y="13759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3706200" y="137556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3706200" y="137556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4004640" y="1378080"/>
            <a:ext cx="63000" cy="62640"/>
          </a:xfrm>
          <a:custGeom>
            <a:avLst/>
            <a:gdLst/>
            <a:ahLst/>
            <a:rect l="0" t="0" r="r" b="b"/>
            <a:pathLst>
              <a:path w="175" h="174">
                <a:moveTo>
                  <a:pt x="0" y="88"/>
                </a:moveTo>
                <a:cubicBezTo>
                  <a:pt x="0" y="-29"/>
                  <a:pt x="175" y="-29"/>
                  <a:pt x="175" y="88"/>
                </a:cubicBezTo>
                <a:cubicBezTo>
                  <a:pt x="175" y="203"/>
                  <a:pt x="0" y="203"/>
                  <a:pt x="0" y="8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4004640" y="137808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8"/>
                </a:moveTo>
                <a:cubicBezTo>
                  <a:pt x="175" y="203"/>
                  <a:pt x="0" y="203"/>
                  <a:pt x="0" y="88"/>
                </a:cubicBezTo>
                <a:cubicBezTo>
                  <a:pt x="0" y="-29"/>
                  <a:pt x="175" y="-29"/>
                  <a:pt x="175" y="8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4303440" y="137844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4303440" y="13784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4602240" y="13795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4602240" y="13795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 flipV="1">
            <a:off x="2960640" y="538560"/>
            <a:ext cx="0" cy="22665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37520" y="1184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777040" y="23079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777040" y="16992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2929320" y="23587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2929320" y="17496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2929320" y="11408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2960640" y="2805120"/>
            <a:ext cx="18518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 flipV="1">
            <a:off x="313992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 flipV="1">
            <a:off x="343872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 flipV="1">
            <a:off x="373752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 flipV="1">
            <a:off x="403596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 flipV="1">
            <a:off x="433476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 flipV="1">
            <a:off x="463320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777040" y="109008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 rot="20100000">
            <a:off x="2840760" y="2911680"/>
            <a:ext cx="3470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species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 rot="20100000">
            <a:off x="2678400" y="3009960"/>
            <a:ext cx="849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species + province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 rot="20100000">
            <a:off x="3332160" y="2983320"/>
            <a:ext cx="1764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(v1)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 rot="20100000">
            <a:off x="3486960" y="2903400"/>
            <a:ext cx="287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 rot="20100000">
            <a:off x="3336480" y="2997360"/>
            <a:ext cx="781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province x 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 rot="20100000">
            <a:off x="3784320" y="3016080"/>
            <a:ext cx="324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(MAIN)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 rot="20100000">
            <a:off x="3320280" y="3065040"/>
            <a:ext cx="1121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species warming slope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 rot="20100000">
            <a:off x="3739320" y="3035160"/>
            <a:ext cx="10083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province effort slope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2895480" y="1437120"/>
            <a:ext cx="1167840" cy="469800"/>
          </a:xfrm>
          <a:custGeom>
            <a:avLst/>
            <a:gdLst/>
            <a:ahLst/>
            <a:rect l="0" t="0" r="r" b="b"/>
            <a:pathLst>
              <a:path w="3244" h="1305">
                <a:moveTo>
                  <a:pt x="0" y="0"/>
                </a:moveTo>
                <a:lnTo>
                  <a:pt x="3244" y="0"/>
                </a:lnTo>
                <a:lnTo>
                  <a:pt x="3244" y="1305"/>
                </a:lnTo>
                <a:lnTo>
                  <a:pt x="0" y="13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958840" y="1500480"/>
            <a:ext cx="114120" cy="114480"/>
          </a:xfrm>
          <a:custGeom>
            <a:avLst/>
            <a:gdLst/>
            <a:ahLst/>
            <a:rect l="0" t="0" r="r" b="b"/>
            <a:pathLst>
              <a:path w="317" h="318">
                <a:moveTo>
                  <a:pt x="0" y="0"/>
                </a:moveTo>
                <a:lnTo>
                  <a:pt x="317" y="0"/>
                </a:lnTo>
                <a:lnTo>
                  <a:pt x="317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970360" y="1557360"/>
            <a:ext cx="91080" cy="0"/>
          </a:xfrm>
          <a:prstGeom prst="line">
            <a:avLst/>
          </a:prstGeom>
          <a:ln w="162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984760" y="152640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984760" y="152640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958840" y="1614600"/>
            <a:ext cx="114120" cy="114840"/>
          </a:xfrm>
          <a:custGeom>
            <a:avLst/>
            <a:gdLst/>
            <a:ahLst/>
            <a:rect l="0" t="0" r="r" b="b"/>
            <a:pathLst>
              <a:path w="317" h="319">
                <a:moveTo>
                  <a:pt x="0" y="0"/>
                </a:moveTo>
                <a:lnTo>
                  <a:pt x="317" y="0"/>
                </a:lnTo>
                <a:lnTo>
                  <a:pt x="317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2970360" y="1671840"/>
            <a:ext cx="91080" cy="0"/>
          </a:xfrm>
          <a:prstGeom prst="line">
            <a:avLst/>
          </a:prstGeom>
          <a:ln w="1620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984760" y="1640520"/>
            <a:ext cx="62640" cy="63360"/>
          </a:xfrm>
          <a:custGeom>
            <a:avLst/>
            <a:gdLst/>
            <a:ahLst/>
            <a:rect l="0" t="0" r="r" b="b"/>
            <a:pathLst>
              <a:path w="174" h="176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5"/>
                  <a:pt x="0" y="205"/>
                  <a:pt x="0" y="8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2984760" y="1640520"/>
            <a:ext cx="62640" cy="63360"/>
          </a:xfrm>
          <a:custGeom>
            <a:avLst/>
            <a:gdLst/>
            <a:ahLst/>
            <a:rect l="0" t="0" r="r" b="b"/>
            <a:pathLst>
              <a:path fill="none" w="174" h="176">
                <a:moveTo>
                  <a:pt x="174" y="88"/>
                </a:moveTo>
                <a:cubicBezTo>
                  <a:pt x="174" y="205"/>
                  <a:pt x="0" y="205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2958840" y="1729080"/>
            <a:ext cx="114120" cy="114480"/>
          </a:xfrm>
          <a:custGeom>
            <a:avLst/>
            <a:gdLst/>
            <a:ahLst/>
            <a:rect l="0" t="0" r="r" b="b"/>
            <a:pathLst>
              <a:path w="317" h="318">
                <a:moveTo>
                  <a:pt x="0" y="0"/>
                </a:moveTo>
                <a:lnTo>
                  <a:pt x="317" y="0"/>
                </a:lnTo>
                <a:lnTo>
                  <a:pt x="317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2970360" y="1785960"/>
            <a:ext cx="91080" cy="0"/>
          </a:xfrm>
          <a:prstGeom prst="line">
            <a:avLst/>
          </a:prstGeom>
          <a:ln w="1620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984760" y="175500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2984760" y="17550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 rot="16200000">
            <a:off x="1694880" y="1644120"/>
            <a:ext cx="19483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Explained variation / discrimination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136320" y="1513080"/>
            <a:ext cx="7506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Conditional R2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3136320" y="1627560"/>
            <a:ext cx="8456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Conditional AUC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3136320" y="1741680"/>
            <a:ext cx="7120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Marginal AUC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961000" y="335880"/>
            <a:ext cx="19634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Marginal AUC is ﬂat across structures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961000" y="145440"/>
            <a:ext cx="11325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Explanatory power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5370120" y="538560"/>
            <a:ext cx="1852200" cy="2266920"/>
          </a:xfrm>
          <a:custGeom>
            <a:avLst/>
            <a:gdLst/>
            <a:ahLst/>
            <a:rect l="0" t="0" r="r" b="b"/>
            <a:pathLst>
              <a:path w="5145" h="6297">
                <a:moveTo>
                  <a:pt x="0" y="0"/>
                </a:moveTo>
                <a:lnTo>
                  <a:pt x="5145" y="0"/>
                </a:lnTo>
                <a:lnTo>
                  <a:pt x="5145" y="6297"/>
                </a:lnTo>
                <a:lnTo>
                  <a:pt x="0" y="6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5370120" y="270216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5370120" y="212040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5370120" y="153864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5370120" y="95688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5452560" y="2249280"/>
            <a:ext cx="194400" cy="453240"/>
          </a:xfrm>
          <a:custGeom>
            <a:avLst/>
            <a:gdLst/>
            <a:ahLst/>
            <a:rect l="0" t="0" r="r" b="b"/>
            <a:pathLst>
              <a:path w="540" h="1259">
                <a:moveTo>
                  <a:pt x="0" y="0"/>
                </a:moveTo>
                <a:lnTo>
                  <a:pt x="540" y="0"/>
                </a:lnTo>
                <a:lnTo>
                  <a:pt x="540" y="1259"/>
                </a:lnTo>
                <a:lnTo>
                  <a:pt x="0" y="1259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5751000" y="1744560"/>
            <a:ext cx="194400" cy="434160"/>
          </a:xfrm>
          <a:custGeom>
            <a:avLst/>
            <a:gdLst/>
            <a:ahLst/>
            <a:rect l="0" t="0" r="r" b="b"/>
            <a:pathLst>
              <a:path w="540" h="1206">
                <a:moveTo>
                  <a:pt x="0" y="0"/>
                </a:moveTo>
                <a:lnTo>
                  <a:pt x="540" y="0"/>
                </a:lnTo>
                <a:lnTo>
                  <a:pt x="540" y="1206"/>
                </a:lnTo>
                <a:lnTo>
                  <a:pt x="0" y="1206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751000" y="2178360"/>
            <a:ext cx="194400" cy="524160"/>
          </a:xfrm>
          <a:custGeom>
            <a:avLst/>
            <a:gdLst/>
            <a:ahLst/>
            <a:rect l="0" t="0" r="r" b="b"/>
            <a:pathLst>
              <a:path w="540" h="1456">
                <a:moveTo>
                  <a:pt x="0" y="0"/>
                </a:moveTo>
                <a:lnTo>
                  <a:pt x="540" y="0"/>
                </a:lnTo>
                <a:lnTo>
                  <a:pt x="540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6049800" y="1351440"/>
            <a:ext cx="194400" cy="438840"/>
          </a:xfrm>
          <a:custGeom>
            <a:avLst/>
            <a:gdLst/>
            <a:ahLst/>
            <a:rect l="0" t="0" r="r" b="b"/>
            <a:pathLst>
              <a:path w="540" h="1219">
                <a:moveTo>
                  <a:pt x="0" y="0"/>
                </a:moveTo>
                <a:lnTo>
                  <a:pt x="540" y="0"/>
                </a:lnTo>
                <a:lnTo>
                  <a:pt x="540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6049800" y="1789920"/>
            <a:ext cx="194400" cy="500760"/>
          </a:xfrm>
          <a:custGeom>
            <a:avLst/>
            <a:gdLst/>
            <a:ahLst/>
            <a:rect l="0" t="0" r="r" b="b"/>
            <a:pathLst>
              <a:path w="540" h="1391">
                <a:moveTo>
                  <a:pt x="0" y="0"/>
                </a:moveTo>
                <a:lnTo>
                  <a:pt x="540" y="0"/>
                </a:lnTo>
                <a:lnTo>
                  <a:pt x="540" y="1391"/>
                </a:lnTo>
                <a:lnTo>
                  <a:pt x="0" y="1391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049800" y="2290320"/>
            <a:ext cx="194400" cy="412200"/>
          </a:xfrm>
          <a:custGeom>
            <a:avLst/>
            <a:gdLst/>
            <a:ahLst/>
            <a:rect l="0" t="0" r="r" b="b"/>
            <a:pathLst>
              <a:path w="540" h="1145">
                <a:moveTo>
                  <a:pt x="0" y="0"/>
                </a:moveTo>
                <a:lnTo>
                  <a:pt x="540" y="0"/>
                </a:lnTo>
                <a:lnTo>
                  <a:pt x="540" y="1145"/>
                </a:lnTo>
                <a:lnTo>
                  <a:pt x="0" y="1145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6348600" y="917280"/>
            <a:ext cx="194400" cy="470520"/>
          </a:xfrm>
          <a:custGeom>
            <a:avLst/>
            <a:gdLst/>
            <a:ahLst/>
            <a:rect l="0" t="0" r="r" b="b"/>
            <a:pathLst>
              <a:path w="540" h="1307">
                <a:moveTo>
                  <a:pt x="0" y="0"/>
                </a:moveTo>
                <a:lnTo>
                  <a:pt x="540" y="0"/>
                </a:lnTo>
                <a:lnTo>
                  <a:pt x="540" y="1307"/>
                </a:lnTo>
                <a:lnTo>
                  <a:pt x="0" y="1307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6348600" y="1387440"/>
            <a:ext cx="194400" cy="386640"/>
          </a:xfrm>
          <a:custGeom>
            <a:avLst/>
            <a:gdLst/>
            <a:ahLst/>
            <a:rect l="0" t="0" r="r" b="b"/>
            <a:pathLst>
              <a:path w="540" h="1074">
                <a:moveTo>
                  <a:pt x="0" y="0"/>
                </a:moveTo>
                <a:lnTo>
                  <a:pt x="540" y="0"/>
                </a:lnTo>
                <a:lnTo>
                  <a:pt x="540" y="1074"/>
                </a:lnTo>
                <a:lnTo>
                  <a:pt x="0" y="1074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6348600" y="1773720"/>
            <a:ext cx="194400" cy="928800"/>
          </a:xfrm>
          <a:custGeom>
            <a:avLst/>
            <a:gdLst/>
            <a:ahLst/>
            <a:rect l="0" t="0" r="r" b="b"/>
            <a:pathLst>
              <a:path w="540" h="2580">
                <a:moveTo>
                  <a:pt x="0" y="0"/>
                </a:moveTo>
                <a:lnTo>
                  <a:pt x="540" y="0"/>
                </a:lnTo>
                <a:lnTo>
                  <a:pt x="540" y="2580"/>
                </a:lnTo>
                <a:lnTo>
                  <a:pt x="0" y="2580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6647040" y="651960"/>
            <a:ext cx="194400" cy="436680"/>
          </a:xfrm>
          <a:custGeom>
            <a:avLst/>
            <a:gdLst/>
            <a:ahLst/>
            <a:rect l="0" t="0" r="r" b="b"/>
            <a:pathLst>
              <a:path w="540" h="1213">
                <a:moveTo>
                  <a:pt x="0" y="0"/>
                </a:moveTo>
                <a:lnTo>
                  <a:pt x="540" y="0"/>
                </a:lnTo>
                <a:lnTo>
                  <a:pt x="540" y="1213"/>
                </a:lnTo>
                <a:lnTo>
                  <a:pt x="0" y="1213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647040" y="1088280"/>
            <a:ext cx="194400" cy="362160"/>
          </a:xfrm>
          <a:custGeom>
            <a:avLst/>
            <a:gdLst/>
            <a:ahLst/>
            <a:rect l="0" t="0" r="r" b="b"/>
            <a:pathLst>
              <a:path w="540" h="1006">
                <a:moveTo>
                  <a:pt x="0" y="0"/>
                </a:moveTo>
                <a:lnTo>
                  <a:pt x="540" y="0"/>
                </a:lnTo>
                <a:lnTo>
                  <a:pt x="540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6647040" y="1450080"/>
            <a:ext cx="194400" cy="936000"/>
          </a:xfrm>
          <a:custGeom>
            <a:avLst/>
            <a:gdLst/>
            <a:ahLst/>
            <a:rect l="0" t="0" r="r" b="b"/>
            <a:pathLst>
              <a:path w="540" h="2600">
                <a:moveTo>
                  <a:pt x="0" y="0"/>
                </a:moveTo>
                <a:lnTo>
                  <a:pt x="540" y="0"/>
                </a:lnTo>
                <a:lnTo>
                  <a:pt x="540" y="2600"/>
                </a:lnTo>
                <a:lnTo>
                  <a:pt x="0" y="2600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6647040" y="2385720"/>
            <a:ext cx="194400" cy="316800"/>
          </a:xfrm>
          <a:custGeom>
            <a:avLst/>
            <a:gdLst/>
            <a:ahLst/>
            <a:rect l="0" t="0" r="r" b="b"/>
            <a:pathLst>
              <a:path w="540" h="880">
                <a:moveTo>
                  <a:pt x="0" y="0"/>
                </a:moveTo>
                <a:lnTo>
                  <a:pt x="540" y="0"/>
                </a:lnTo>
                <a:lnTo>
                  <a:pt x="540" y="880"/>
                </a:lnTo>
                <a:lnTo>
                  <a:pt x="0" y="880"/>
                </a:lnTo>
                <a:lnTo>
                  <a:pt x="0" y="0"/>
                </a:lnTo>
                <a:close/>
              </a:path>
            </a:pathLst>
          </a:custGeom>
          <a:solidFill>
            <a:srgbClr val="CC7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6945840" y="641520"/>
            <a:ext cx="194400" cy="466920"/>
          </a:xfrm>
          <a:custGeom>
            <a:avLst/>
            <a:gdLst/>
            <a:ahLst/>
            <a:rect l="0" t="0" r="r" b="b"/>
            <a:pathLst>
              <a:path w="540" h="1297">
                <a:moveTo>
                  <a:pt x="0" y="0"/>
                </a:moveTo>
                <a:lnTo>
                  <a:pt x="540" y="0"/>
                </a:lnTo>
                <a:lnTo>
                  <a:pt x="540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6945840" y="1108080"/>
            <a:ext cx="194400" cy="387720"/>
          </a:xfrm>
          <a:custGeom>
            <a:avLst/>
            <a:gdLst/>
            <a:ahLst/>
            <a:rect l="0" t="0" r="r" b="b"/>
            <a:pathLst>
              <a:path w="540" h="1077">
                <a:moveTo>
                  <a:pt x="0" y="0"/>
                </a:moveTo>
                <a:lnTo>
                  <a:pt x="540" y="0"/>
                </a:lnTo>
                <a:lnTo>
                  <a:pt x="540" y="1077"/>
                </a:lnTo>
                <a:lnTo>
                  <a:pt x="0" y="1077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6945840" y="1495440"/>
            <a:ext cx="194400" cy="890640"/>
          </a:xfrm>
          <a:custGeom>
            <a:avLst/>
            <a:gdLst/>
            <a:ahLst/>
            <a:rect l="0" t="0" r="r" b="b"/>
            <a:pathLst>
              <a:path w="540" h="2474">
                <a:moveTo>
                  <a:pt x="0" y="0"/>
                </a:moveTo>
                <a:lnTo>
                  <a:pt x="540" y="0"/>
                </a:lnTo>
                <a:lnTo>
                  <a:pt x="540" y="2474"/>
                </a:lnTo>
                <a:lnTo>
                  <a:pt x="0" y="2474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6945840" y="2385720"/>
            <a:ext cx="194400" cy="316800"/>
          </a:xfrm>
          <a:custGeom>
            <a:avLst/>
            <a:gdLst/>
            <a:ahLst/>
            <a:rect l="0" t="0" r="r" b="b"/>
            <a:pathLst>
              <a:path w="540" h="880">
                <a:moveTo>
                  <a:pt x="0" y="0"/>
                </a:moveTo>
                <a:lnTo>
                  <a:pt x="540" y="0"/>
                </a:lnTo>
                <a:lnTo>
                  <a:pt x="540" y="880"/>
                </a:lnTo>
                <a:lnTo>
                  <a:pt x="0" y="880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 flipV="1">
            <a:off x="5370120" y="538560"/>
            <a:ext cx="0" cy="22665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2566080" y="1184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5186520" y="26514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186520" y="20696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5186520" y="148788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5338800" y="27021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338800" y="21204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5338800" y="15386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5338800" y="9568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5370120" y="2805120"/>
            <a:ext cx="18518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 flipV="1">
            <a:off x="554940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 flipV="1">
            <a:off x="584820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 flipV="1">
            <a:off x="614700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 flipV="1">
            <a:off x="644544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 flipV="1">
            <a:off x="674424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 flipV="1">
            <a:off x="704268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5186520" y="906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 rot="20100000">
            <a:off x="5250240" y="2911680"/>
            <a:ext cx="3470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species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 rot="20100000">
            <a:off x="5087880" y="3009960"/>
            <a:ext cx="849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species + province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 rot="20100000">
            <a:off x="5741640" y="2983320"/>
            <a:ext cx="1764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(v1)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 rot="20100000">
            <a:off x="5896440" y="2903400"/>
            <a:ext cx="287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 rot="20100000">
            <a:off x="5745960" y="2997360"/>
            <a:ext cx="781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province x 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 rot="20100000">
            <a:off x="6193800" y="3016080"/>
            <a:ext cx="324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(MAIN)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 rot="20100000">
            <a:off x="5729760" y="3065040"/>
            <a:ext cx="1121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species warming slope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 rot="20100000">
            <a:off x="6148800" y="3035160"/>
            <a:ext cx="10083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province effort slope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7348680" y="1176840"/>
            <a:ext cx="1624680" cy="990360"/>
          </a:xfrm>
          <a:custGeom>
            <a:avLst/>
            <a:gdLst/>
            <a:ahLst/>
            <a:rect l="0" t="0" r="r" b="b"/>
            <a:pathLst>
              <a:path w="4513" h="2751">
                <a:moveTo>
                  <a:pt x="0" y="0"/>
                </a:moveTo>
                <a:lnTo>
                  <a:pt x="4513" y="0"/>
                </a:lnTo>
                <a:lnTo>
                  <a:pt x="4513" y="2751"/>
                </a:lnTo>
                <a:lnTo>
                  <a:pt x="0" y="27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 rot="16200000">
            <a:off x="4178160" y="1641600"/>
            <a:ext cx="18003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Random-effect SD (latent scale)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7411680" y="141768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7419960" y="142596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7411680" y="153216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7419960" y="154008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7411680" y="164628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7419960" y="165456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7411680" y="176076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7419960" y="176868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7411680" y="187488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7419960" y="188316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CC7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7411680" y="198936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7419960" y="199728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7412040" y="1253160"/>
            <a:ext cx="7372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Random term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589160" y="1430640"/>
            <a:ext cx="8776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Species intercept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7589160" y="1544760"/>
            <a:ext cx="915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Province intercept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7589160" y="1659240"/>
            <a:ext cx="7124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Year intercept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7589160" y="1773360"/>
            <a:ext cx="12585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Province x year intercept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7589160" y="1887840"/>
            <a:ext cx="12520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Species slope (warming)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7589160" y="2001960"/>
            <a:ext cx="1118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Province slope (effort)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370480" y="335880"/>
            <a:ext cx="16772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No component collapses to zero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5370480" y="145440"/>
            <a:ext cx="111168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Variance structure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4990680" y="1184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Fig4_random_structure_v2</dc:title>
</cp:coreProperties>
</file>