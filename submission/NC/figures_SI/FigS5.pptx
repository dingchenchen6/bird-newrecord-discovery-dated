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972800" cy="73152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277200"/>
            <a:ext cx="9875160" cy="11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48640" y="1627200"/>
            <a:ext cx="9875160" cy="40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0973160" cy="7315560"/>
          </a:xfrm>
          <a:custGeom>
            <a:avLst/>
            <a:gdLst/>
            <a:ahLst/>
            <a:rect l="0" t="0" r="r" b="b"/>
            <a:pathLst>
              <a:path w="30481" h="20321">
                <a:moveTo>
                  <a:pt x="0" y="0"/>
                </a:moveTo>
                <a:lnTo>
                  <a:pt x="30481" y="0"/>
                </a:lnTo>
                <a:lnTo>
                  <a:pt x="30481" y="20321"/>
                </a:lnTo>
                <a:lnTo>
                  <a:pt x="0" y="20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0973160" cy="7315560"/>
          </a:xfrm>
          <a:custGeom>
            <a:avLst/>
            <a:gdLst/>
            <a:ahLst/>
            <a:rect l="0" t="0" r="r" b="b"/>
            <a:pathLst>
              <a:path w="30481" h="20321">
                <a:moveTo>
                  <a:pt x="0" y="0"/>
                </a:moveTo>
                <a:lnTo>
                  <a:pt x="30481" y="0"/>
                </a:lnTo>
                <a:lnTo>
                  <a:pt x="30481" y="20321"/>
                </a:lnTo>
                <a:lnTo>
                  <a:pt x="0" y="20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5416920" cy="4048920"/>
          </a:xfrm>
          <a:custGeom>
            <a:avLst/>
            <a:gdLst/>
            <a:ahLst/>
            <a:rect l="0" t="0" r="r" b="b"/>
            <a:pathLst>
              <a:path w="15047" h="11247">
                <a:moveTo>
                  <a:pt x="0" y="0"/>
                </a:moveTo>
                <a:lnTo>
                  <a:pt x="15047" y="0"/>
                </a:lnTo>
                <a:lnTo>
                  <a:pt x="15047" y="11247"/>
                </a:lnTo>
                <a:lnTo>
                  <a:pt x="0" y="112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5486400" y="69480"/>
            <a:ext cx="5417280" cy="4048920"/>
          </a:xfrm>
          <a:custGeom>
            <a:avLst/>
            <a:gdLst/>
            <a:ahLst/>
            <a:rect l="0" t="0" r="r" b="b"/>
            <a:pathLst>
              <a:path w="15048" h="11247">
                <a:moveTo>
                  <a:pt x="0" y="0"/>
                </a:moveTo>
                <a:lnTo>
                  <a:pt x="15048" y="0"/>
                </a:lnTo>
                <a:lnTo>
                  <a:pt x="15048" y="11247"/>
                </a:lnTo>
                <a:lnTo>
                  <a:pt x="0" y="112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637280" y="1031760"/>
            <a:ext cx="1788840" cy="1851840"/>
          </a:xfrm>
          <a:custGeom>
            <a:avLst/>
            <a:gdLst/>
            <a:ahLst/>
            <a:rect l="0" t="0" r="r" b="b"/>
            <a:pathLst>
              <a:path w="4969" h="5144">
                <a:moveTo>
                  <a:pt x="0" y="0"/>
                </a:moveTo>
                <a:lnTo>
                  <a:pt x="4969" y="0"/>
                </a:lnTo>
                <a:lnTo>
                  <a:pt x="4969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637280" y="2363760"/>
            <a:ext cx="1788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637280" y="1844280"/>
            <a:ext cx="1788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637280" y="1325160"/>
            <a:ext cx="1788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805040" y="1314360"/>
            <a:ext cx="335520" cy="1569240"/>
          </a:xfrm>
          <a:custGeom>
            <a:avLst/>
            <a:gdLst/>
            <a:ahLst/>
            <a:rect l="0" t="0" r="r" b="b"/>
            <a:pathLst>
              <a:path w="932" h="4359">
                <a:moveTo>
                  <a:pt x="0" y="0"/>
                </a:moveTo>
                <a:lnTo>
                  <a:pt x="932" y="0"/>
                </a:lnTo>
                <a:lnTo>
                  <a:pt x="932" y="4359"/>
                </a:lnTo>
                <a:lnTo>
                  <a:pt x="0" y="4359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363760" y="1603080"/>
            <a:ext cx="335880" cy="1280520"/>
          </a:xfrm>
          <a:custGeom>
            <a:avLst/>
            <a:gdLst/>
            <a:ahLst/>
            <a:rect l="0" t="0" r="r" b="b"/>
            <a:pathLst>
              <a:path w="933" h="3557">
                <a:moveTo>
                  <a:pt x="0" y="0"/>
                </a:moveTo>
                <a:lnTo>
                  <a:pt x="933" y="0"/>
                </a:lnTo>
                <a:lnTo>
                  <a:pt x="933" y="3557"/>
                </a:lnTo>
                <a:lnTo>
                  <a:pt x="0" y="3557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2922840" y="1499400"/>
            <a:ext cx="335520" cy="1384200"/>
          </a:xfrm>
          <a:custGeom>
            <a:avLst/>
            <a:gdLst/>
            <a:ahLst/>
            <a:rect l="0" t="0" r="r" b="b"/>
            <a:pathLst>
              <a:path w="932" h="3845">
                <a:moveTo>
                  <a:pt x="0" y="0"/>
                </a:moveTo>
                <a:lnTo>
                  <a:pt x="932" y="0"/>
                </a:lnTo>
                <a:lnTo>
                  <a:pt x="932" y="3845"/>
                </a:lnTo>
                <a:lnTo>
                  <a:pt x="0" y="3845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833120" y="1211400"/>
            <a:ext cx="2757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302.06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391840" y="1500480"/>
            <a:ext cx="2757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246.48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596760" y="1031760"/>
            <a:ext cx="1788480" cy="1851840"/>
          </a:xfrm>
          <a:custGeom>
            <a:avLst/>
            <a:gdLst/>
            <a:ahLst/>
            <a:rect l="0" t="0" r="r" b="b"/>
            <a:pathLst>
              <a:path w="4968" h="5144">
                <a:moveTo>
                  <a:pt x="0" y="0"/>
                </a:moveTo>
                <a:lnTo>
                  <a:pt x="4968" y="0"/>
                </a:lnTo>
                <a:lnTo>
                  <a:pt x="4968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3596760" y="2321640"/>
            <a:ext cx="1788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596760" y="1759680"/>
            <a:ext cx="1788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596760" y="1198080"/>
            <a:ext cx="1788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764160" y="1314360"/>
            <a:ext cx="335880" cy="1569240"/>
          </a:xfrm>
          <a:custGeom>
            <a:avLst/>
            <a:gdLst/>
            <a:ahLst/>
            <a:rect l="0" t="0" r="r" b="b"/>
            <a:pathLst>
              <a:path w="933" h="4359">
                <a:moveTo>
                  <a:pt x="0" y="0"/>
                </a:moveTo>
                <a:lnTo>
                  <a:pt x="933" y="0"/>
                </a:lnTo>
                <a:lnTo>
                  <a:pt x="933" y="4359"/>
                </a:lnTo>
                <a:lnTo>
                  <a:pt x="0" y="4359"/>
                </a:lnTo>
                <a:lnTo>
                  <a:pt x="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4323240" y="2537640"/>
            <a:ext cx="335520" cy="345960"/>
          </a:xfrm>
          <a:custGeom>
            <a:avLst/>
            <a:gdLst/>
            <a:ahLst/>
            <a:rect l="0" t="0" r="r" b="b"/>
            <a:pathLst>
              <a:path w="932" h="961">
                <a:moveTo>
                  <a:pt x="0" y="0"/>
                </a:moveTo>
                <a:lnTo>
                  <a:pt x="932" y="0"/>
                </a:lnTo>
                <a:lnTo>
                  <a:pt x="932" y="961"/>
                </a:lnTo>
                <a:lnTo>
                  <a:pt x="0" y="96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4881960" y="2446200"/>
            <a:ext cx="335880" cy="437400"/>
          </a:xfrm>
          <a:custGeom>
            <a:avLst/>
            <a:gdLst/>
            <a:ahLst/>
            <a:rect l="0" t="0" r="r" b="b"/>
            <a:pathLst>
              <a:path w="933" h="1215">
                <a:moveTo>
                  <a:pt x="0" y="0"/>
                </a:moveTo>
                <a:lnTo>
                  <a:pt x="933" y="0"/>
                </a:lnTo>
                <a:lnTo>
                  <a:pt x="933" y="1215"/>
                </a:lnTo>
                <a:lnTo>
                  <a:pt x="0" y="1215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596760" y="2602440"/>
            <a:ext cx="1788120" cy="0"/>
          </a:xfrm>
          <a:prstGeom prst="line">
            <a:avLst/>
          </a:prstGeom>
          <a:ln w="9360">
            <a:solidFill>
              <a:srgbClr val="737373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950920" y="1396800"/>
            <a:ext cx="2757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266.42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843360" y="1211400"/>
            <a:ext cx="17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5.59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402080" y="2435040"/>
            <a:ext cx="17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1.23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 flipV="1">
            <a:off x="3596760" y="1031760"/>
            <a:ext cx="0" cy="18514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960800" y="2343240"/>
            <a:ext cx="1756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1.56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489120" y="28328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489120" y="22708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489120" y="170928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565080" y="2883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565080" y="23216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565080" y="17596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3565080" y="11980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489120" y="11473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688040" y="860760"/>
            <a:ext cx="12657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AICc (lower is better)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637280" y="2883240"/>
            <a:ext cx="17884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V="1">
            <a:off x="197244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 flipV="1">
            <a:off x="25315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 flipV="1">
            <a:off x="309024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3647520" y="860760"/>
            <a:ext cx="1308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Dispersion (1 is ideal)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 rot="20640000">
            <a:off x="1375200" y="3028680"/>
            <a:ext cx="590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Poisson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 rot="20640000">
            <a:off x="1536120" y="3087000"/>
            <a:ext cx="9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3596760" y="2883240"/>
            <a:ext cx="1788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 flipV="1">
            <a:off x="39319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 flipV="1">
            <a:off x="449064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50497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 rot="20640000">
            <a:off x="1447920" y="3181320"/>
            <a:ext cx="1617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(recent effort as offset)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 rot="20640000">
            <a:off x="3334680" y="3028680"/>
            <a:ext cx="59004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Poisson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 rot="20640000">
            <a:off x="3495240" y="3087000"/>
            <a:ext cx="978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(main)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1637280" y="1031760"/>
            <a:ext cx="0" cy="18514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 rot="20640000">
            <a:off x="3407040" y="3181320"/>
            <a:ext cx="161712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Negative binomial (recent effort as offset)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529640" y="283284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428120" y="231336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428120" y="179388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1605600" y="28832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1605600" y="2363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605600" y="1844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1605600" y="1325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428120" y="1274400"/>
            <a:ext cx="171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637280" y="588240"/>
            <a:ext cx="4625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Poisson dispersion 5.60 (P = 2.3e-17); the negative binomial reduces it to 1.24 (P = 0.20)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1637280" y="132840"/>
            <a:ext cx="295380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Poisson is rejected, negative binomial is not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7054200" y="1031760"/>
            <a:ext cx="1842480" cy="1851840"/>
          </a:xfrm>
          <a:custGeom>
            <a:avLst/>
            <a:gdLst/>
            <a:ahLst/>
            <a:rect l="0" t="0" r="r" b="b"/>
            <a:pathLst>
              <a:path w="5118" h="5144">
                <a:moveTo>
                  <a:pt x="0" y="0"/>
                </a:moveTo>
                <a:lnTo>
                  <a:pt x="5118" y="0"/>
                </a:lnTo>
                <a:lnTo>
                  <a:pt x="5118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8163000" y="1031760"/>
            <a:ext cx="0" cy="18514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7739280" y="2405520"/>
            <a:ext cx="63540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7627320" y="2703960"/>
            <a:ext cx="85680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8183880" y="1211040"/>
            <a:ext cx="56412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7902000" y="1808280"/>
            <a:ext cx="76536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8083440" y="1509480"/>
            <a:ext cx="55764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7936560" y="2106720"/>
            <a:ext cx="43344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8025840" y="23742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025840" y="23742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8024760" y="26730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8024760" y="26730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434800" y="11797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8434800" y="11797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8253360" y="1776960"/>
            <a:ext cx="63000" cy="63000"/>
          </a:xfrm>
          <a:custGeom>
            <a:avLst/>
            <a:gdLst/>
            <a:ahLst/>
            <a:rect l="0" t="0" r="r" b="b"/>
            <a:pathLst>
              <a:path w="175" h="175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4"/>
                  <a:pt x="0" y="204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8253360" y="1776960"/>
            <a:ext cx="63000" cy="63000"/>
          </a:xfrm>
          <a:custGeom>
            <a:avLst/>
            <a:gdLst/>
            <a:ahLst/>
            <a:rect l="0" t="0" r="r" b="b"/>
            <a:pathLst>
              <a:path fill="none" w="175" h="175">
                <a:moveTo>
                  <a:pt x="175" y="88"/>
                </a:moveTo>
                <a:cubicBezTo>
                  <a:pt x="175" y="204"/>
                  <a:pt x="0" y="204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8331120" y="1478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8331120" y="1478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8121960" y="207576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7"/>
                </a:moveTo>
                <a:cubicBezTo>
                  <a:pt x="0" y="-29"/>
                  <a:pt x="175" y="-29"/>
                  <a:pt x="175" y="87"/>
                </a:cubicBezTo>
                <a:cubicBezTo>
                  <a:pt x="175" y="203"/>
                  <a:pt x="0" y="203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8121960" y="207576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7"/>
                </a:moveTo>
                <a:cubicBezTo>
                  <a:pt x="175" y="203"/>
                  <a:pt x="0" y="203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52280" y="1278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7987320" y="228204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7986240" y="258048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396280" y="108756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1.27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215200" y="16848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1.10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292600" y="13860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1.17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8959680" y="1031760"/>
            <a:ext cx="1842480" cy="1851840"/>
          </a:xfrm>
          <a:custGeom>
            <a:avLst/>
            <a:gdLst/>
            <a:ahLst/>
            <a:rect l="0" t="0" r="r" b="b"/>
            <a:pathLst>
              <a:path w="5118" h="5144">
                <a:moveTo>
                  <a:pt x="0" y="0"/>
                </a:moveTo>
                <a:lnTo>
                  <a:pt x="5118" y="0"/>
                </a:lnTo>
                <a:lnTo>
                  <a:pt x="5118" y="5144"/>
                </a:lnTo>
                <a:lnTo>
                  <a:pt x="0" y="51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10068480" y="1031760"/>
            <a:ext cx="0" cy="185148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9236160" y="2405520"/>
            <a:ext cx="77076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9533160" y="1211040"/>
            <a:ext cx="73620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9043200" y="1808280"/>
            <a:ext cx="80892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921240" y="1509480"/>
            <a:ext cx="79668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9797040" y="2106720"/>
            <a:ext cx="62280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9590400" y="237420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3"/>
                  <a:pt x="0" y="203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9590400" y="237420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8"/>
                </a:moveTo>
                <a:cubicBezTo>
                  <a:pt x="174" y="203"/>
                  <a:pt x="0" y="203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9870120" y="11797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7"/>
                </a:moveTo>
                <a:cubicBezTo>
                  <a:pt x="0" y="-29"/>
                  <a:pt x="174" y="-29"/>
                  <a:pt x="174" y="87"/>
                </a:cubicBezTo>
                <a:cubicBezTo>
                  <a:pt x="174" y="203"/>
                  <a:pt x="0" y="203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9870120" y="11797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7"/>
                </a:moveTo>
                <a:cubicBezTo>
                  <a:pt x="174" y="203"/>
                  <a:pt x="0" y="203"/>
                  <a:pt x="0" y="87"/>
                </a:cubicBezTo>
                <a:cubicBezTo>
                  <a:pt x="0" y="-29"/>
                  <a:pt x="174" y="-29"/>
                  <a:pt x="174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9416520" y="177696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9416520" y="177696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0288440" y="1478520"/>
            <a:ext cx="62640" cy="62640"/>
          </a:xfrm>
          <a:custGeom>
            <a:avLst/>
            <a:gdLst/>
            <a:ahLst/>
            <a:rect l="0" t="0" r="r" b="b"/>
            <a:pathLst>
              <a:path w="174" h="174">
                <a:moveTo>
                  <a:pt x="0" y="86"/>
                </a:moveTo>
                <a:cubicBezTo>
                  <a:pt x="0" y="-29"/>
                  <a:pt x="174" y="-29"/>
                  <a:pt x="174" y="86"/>
                </a:cubicBezTo>
                <a:cubicBezTo>
                  <a:pt x="174" y="203"/>
                  <a:pt x="0" y="203"/>
                  <a:pt x="0" y="86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0288440" y="1478520"/>
            <a:ext cx="62640" cy="62640"/>
          </a:xfrm>
          <a:custGeom>
            <a:avLst/>
            <a:gdLst/>
            <a:ahLst/>
            <a:rect l="0" t="0" r="r" b="b"/>
            <a:pathLst>
              <a:path fill="none" w="174" h="174">
                <a:moveTo>
                  <a:pt x="174" y="86"/>
                </a:moveTo>
                <a:cubicBezTo>
                  <a:pt x="174" y="203"/>
                  <a:pt x="0" y="203"/>
                  <a:pt x="0" y="86"/>
                </a:cubicBezTo>
                <a:cubicBezTo>
                  <a:pt x="0" y="-29"/>
                  <a:pt x="174" y="-29"/>
                  <a:pt x="174" y="86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0077120" y="2075760"/>
            <a:ext cx="63000" cy="62640"/>
          </a:xfrm>
          <a:custGeom>
            <a:avLst/>
            <a:gdLst/>
            <a:ahLst/>
            <a:rect l="0" t="0" r="r" b="b"/>
            <a:pathLst>
              <a:path w="175" h="174">
                <a:moveTo>
                  <a:pt x="0" y="87"/>
                </a:moveTo>
                <a:cubicBezTo>
                  <a:pt x="0" y="-29"/>
                  <a:pt x="175" y="-29"/>
                  <a:pt x="175" y="87"/>
                </a:cubicBezTo>
                <a:cubicBezTo>
                  <a:pt x="175" y="203"/>
                  <a:pt x="0" y="203"/>
                  <a:pt x="0" y="87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0077120" y="2075760"/>
            <a:ext cx="63000" cy="62640"/>
          </a:xfrm>
          <a:custGeom>
            <a:avLst/>
            <a:gdLst/>
            <a:ahLst/>
            <a:rect l="0" t="0" r="r" b="b"/>
            <a:pathLst>
              <a:path fill="none" w="175" h="174">
                <a:moveTo>
                  <a:pt x="175" y="87"/>
                </a:moveTo>
                <a:cubicBezTo>
                  <a:pt x="175" y="203"/>
                  <a:pt x="0" y="203"/>
                  <a:pt x="0" y="87"/>
                </a:cubicBezTo>
                <a:cubicBezTo>
                  <a:pt x="0" y="-29"/>
                  <a:pt x="175" y="-29"/>
                  <a:pt x="175" y="87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8083800" y="198324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0.99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551880" y="228204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0.70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831600" y="108756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0.88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9378000" y="16848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0.61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0249920" y="138600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1.22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0038600" y="1983240"/>
            <a:ext cx="15480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1.03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7104960" y="860760"/>
            <a:ext cx="436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Counts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054200" y="2883240"/>
            <a:ext cx="1842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729288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 flipV="1">
            <a:off x="771552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 flipV="1">
            <a:off x="816300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010440" y="860760"/>
            <a:ext cx="17013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Rate per unit of recent effort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722952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765216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959680" y="2883240"/>
            <a:ext cx="184212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919836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 flipV="1">
            <a:off x="962100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V="1">
            <a:off x="10068480" y="288324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809964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913500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955764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7054200" y="1031760"/>
            <a:ext cx="0" cy="185148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0005120" y="29275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5587560" y="2653560"/>
            <a:ext cx="1499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Recent survey effort (2009-2024)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663880" y="2354760"/>
            <a:ext cx="140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Early survey effort (2002-2008)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6095520" y="2056320"/>
            <a:ext cx="971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heterogeneity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337080" y="1757520"/>
            <a:ext cx="698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GDP per capita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159240" y="1459080"/>
            <a:ext cx="87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Administrative area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022520" y="27039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7022520" y="24055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7022520" y="2106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022520" y="1808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7022520" y="1509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7022520" y="12110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866920" y="1160280"/>
            <a:ext cx="11869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Regional species richness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338320" y="3801240"/>
            <a:ext cx="1179360" cy="241200"/>
          </a:xfrm>
          <a:custGeom>
            <a:avLst/>
            <a:gdLst/>
            <a:ahLst/>
            <a:rect l="0" t="0" r="r" b="b"/>
            <a:pathLst>
              <a:path w="3276" h="670">
                <a:moveTo>
                  <a:pt x="0" y="0"/>
                </a:moveTo>
                <a:lnTo>
                  <a:pt x="3276" y="0"/>
                </a:lnTo>
                <a:lnTo>
                  <a:pt x="3276" y="670"/>
                </a:lnTo>
                <a:lnTo>
                  <a:pt x="0" y="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401680" y="38646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8413200" y="3921840"/>
            <a:ext cx="91080" cy="0"/>
          </a:xfrm>
          <a:prstGeom prst="line">
            <a:avLst/>
          </a:prstGeom>
          <a:ln w="14760">
            <a:solidFill>
              <a:srgbClr val="9999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8427240" y="3890520"/>
            <a:ext cx="63000" cy="63000"/>
          </a:xfrm>
          <a:custGeom>
            <a:avLst/>
            <a:gdLst/>
            <a:ahLst/>
            <a:rect l="0" t="0" r="r" b="b"/>
            <a:pathLst>
              <a:path w="175" h="175">
                <a:moveTo>
                  <a:pt x="0" y="88"/>
                </a:moveTo>
                <a:cubicBezTo>
                  <a:pt x="0" y="-29"/>
                  <a:pt x="175" y="-29"/>
                  <a:pt x="175" y="88"/>
                </a:cubicBezTo>
                <a:cubicBezTo>
                  <a:pt x="175" y="204"/>
                  <a:pt x="0" y="204"/>
                  <a:pt x="0" y="88"/>
                </a:cubicBez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427240" y="3890520"/>
            <a:ext cx="63000" cy="63000"/>
          </a:xfrm>
          <a:custGeom>
            <a:avLst/>
            <a:gdLst/>
            <a:ahLst/>
            <a:rect l="0" t="0" r="r" b="b"/>
            <a:pathLst>
              <a:path fill="none" w="175" h="175">
                <a:moveTo>
                  <a:pt x="175" y="88"/>
                </a:moveTo>
                <a:cubicBezTo>
                  <a:pt x="175" y="204"/>
                  <a:pt x="0" y="204"/>
                  <a:pt x="0" y="88"/>
                </a:cubicBezTo>
                <a:cubicBezTo>
                  <a:pt x="0" y="-29"/>
                  <a:pt x="175" y="-29"/>
                  <a:pt x="175" y="88"/>
                </a:cubicBezTo>
              </a:path>
            </a:pathLst>
          </a:custGeom>
          <a:ln cap="rnd" w="7920">
            <a:solidFill>
              <a:srgbClr val="999999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8845200" y="3864600"/>
            <a:ext cx="114120" cy="114480"/>
          </a:xfrm>
          <a:custGeom>
            <a:avLst/>
            <a:gdLst/>
            <a:ahLst/>
            <a:rect l="0" t="0" r="r" b="b"/>
            <a:pathLst>
              <a:path w="317" h="318">
                <a:moveTo>
                  <a:pt x="0" y="0"/>
                </a:moveTo>
                <a:lnTo>
                  <a:pt x="317" y="0"/>
                </a:lnTo>
                <a:lnTo>
                  <a:pt x="317" y="318"/>
                </a:lnTo>
                <a:lnTo>
                  <a:pt x="0" y="31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8856720" y="3921840"/>
            <a:ext cx="91080" cy="0"/>
          </a:xfrm>
          <a:prstGeom prst="line">
            <a:avLst/>
          </a:prstGeom>
          <a:ln w="1476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871120" y="3890520"/>
            <a:ext cx="62640" cy="63000"/>
          </a:xfrm>
          <a:custGeom>
            <a:avLst/>
            <a:gdLst/>
            <a:ahLst/>
            <a:rect l="0" t="0" r="r" b="b"/>
            <a:pathLst>
              <a:path w="174" h="175">
                <a:moveTo>
                  <a:pt x="0" y="88"/>
                </a:moveTo>
                <a:cubicBezTo>
                  <a:pt x="0" y="-29"/>
                  <a:pt x="174" y="-29"/>
                  <a:pt x="174" y="88"/>
                </a:cubicBezTo>
                <a:cubicBezTo>
                  <a:pt x="174" y="204"/>
                  <a:pt x="0" y="204"/>
                  <a:pt x="0" y="88"/>
                </a:cubicBez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8871120" y="3890520"/>
            <a:ext cx="62640" cy="63000"/>
          </a:xfrm>
          <a:custGeom>
            <a:avLst/>
            <a:gdLst/>
            <a:ahLst/>
            <a:rect l="0" t="0" r="r" b="b"/>
            <a:pathLst>
              <a:path fill="none" w="174" h="175">
                <a:moveTo>
                  <a:pt x="174" y="88"/>
                </a:moveTo>
                <a:cubicBezTo>
                  <a:pt x="174" y="204"/>
                  <a:pt x="0" y="204"/>
                  <a:pt x="0" y="88"/>
                </a:cubicBezTo>
                <a:cubicBezTo>
                  <a:pt x="0" y="-29"/>
                  <a:pt x="174" y="-29"/>
                  <a:pt x="174" y="88"/>
                </a:cubicBezTo>
              </a:path>
            </a:pathLst>
          </a:custGeom>
          <a:ln cap="rnd" w="7920">
            <a:solidFill>
              <a:srgbClr val="D55E00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810560" y="3535200"/>
            <a:ext cx="2144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Incidence rate ratio per 1 SD (95% CI)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8579160" y="3877560"/>
            <a:ext cx="1850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n.s.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9022680" y="3877560"/>
            <a:ext cx="4298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 &lt; 0.05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7054200" y="335880"/>
            <a:ext cx="32882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Left: both efforts as predictors. Right: recent effort as an offset,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7054200" y="461880"/>
            <a:ext cx="2831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so the response is the discovery rate per unit of effort. 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054200" y="588240"/>
            <a:ext cx="36144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Provinces already well covered in 2002-2008 then yield fewer records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054200" y="132840"/>
            <a:ext cx="260244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Effort shows up as diminishing returns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9480" y="4118040"/>
            <a:ext cx="5416920" cy="3127680"/>
          </a:xfrm>
          <a:custGeom>
            <a:avLst/>
            <a:gdLst/>
            <a:ahLst/>
            <a:rect l="0" t="0" r="r" b="b"/>
            <a:pathLst>
              <a:path w="15047" h="8688">
                <a:moveTo>
                  <a:pt x="0" y="0"/>
                </a:moveTo>
                <a:lnTo>
                  <a:pt x="15047" y="0"/>
                </a:lnTo>
                <a:lnTo>
                  <a:pt x="15047" y="8688"/>
                </a:lnTo>
                <a:lnTo>
                  <a:pt x="0" y="8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5486400" y="4118040"/>
            <a:ext cx="5417280" cy="3127680"/>
          </a:xfrm>
          <a:custGeom>
            <a:avLst/>
            <a:gdLst/>
            <a:ahLst/>
            <a:rect l="0" t="0" r="r" b="b"/>
            <a:pathLst>
              <a:path w="15048" h="8688">
                <a:moveTo>
                  <a:pt x="0" y="0"/>
                </a:moveTo>
                <a:lnTo>
                  <a:pt x="15048" y="0"/>
                </a:lnTo>
                <a:lnTo>
                  <a:pt x="15048" y="8688"/>
                </a:lnTo>
                <a:lnTo>
                  <a:pt x="0" y="8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637280" y="4713480"/>
            <a:ext cx="3747960" cy="1759320"/>
          </a:xfrm>
          <a:custGeom>
            <a:avLst/>
            <a:gdLst/>
            <a:ahLst/>
            <a:rect l="0" t="0" r="r" b="b"/>
            <a:pathLst>
              <a:path w="10411" h="4887">
                <a:moveTo>
                  <a:pt x="0" y="0"/>
                </a:moveTo>
                <a:lnTo>
                  <a:pt x="10411" y="0"/>
                </a:lnTo>
                <a:lnTo>
                  <a:pt x="10411" y="4887"/>
                </a:lnTo>
                <a:lnTo>
                  <a:pt x="0" y="48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 flipV="1">
            <a:off x="206028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 flipV="1">
            <a:off x="319680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 flipV="1">
            <a:off x="433296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 flipV="1">
            <a:off x="2060280" y="4713480"/>
            <a:ext cx="0" cy="1758960"/>
          </a:xfrm>
          <a:prstGeom prst="line">
            <a:avLst/>
          </a:prstGeom>
          <a:ln w="936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299320" y="4798440"/>
            <a:ext cx="2915640" cy="170640"/>
          </a:xfrm>
          <a:custGeom>
            <a:avLst/>
            <a:gdLst/>
            <a:ahLst/>
            <a:rect l="0" t="0" r="r" b="b"/>
            <a:pathLst>
              <a:path w="8099" h="474">
                <a:moveTo>
                  <a:pt x="0" y="0"/>
                </a:moveTo>
                <a:lnTo>
                  <a:pt x="8099" y="0"/>
                </a:lnTo>
                <a:lnTo>
                  <a:pt x="8099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107160" y="5082120"/>
            <a:ext cx="1876680" cy="170640"/>
          </a:xfrm>
          <a:custGeom>
            <a:avLst/>
            <a:gdLst/>
            <a:ahLst/>
            <a:rect l="0" t="0" r="r" b="b"/>
            <a:pathLst>
              <a:path w="5213" h="474">
                <a:moveTo>
                  <a:pt x="0" y="0"/>
                </a:moveTo>
                <a:lnTo>
                  <a:pt x="5213" y="0"/>
                </a:lnTo>
                <a:lnTo>
                  <a:pt x="5213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571840" y="5365800"/>
            <a:ext cx="357120" cy="170640"/>
          </a:xfrm>
          <a:custGeom>
            <a:avLst/>
            <a:gdLst/>
            <a:ahLst/>
            <a:rect l="0" t="0" r="r" b="b"/>
            <a:pathLst>
              <a:path w="992" h="474">
                <a:moveTo>
                  <a:pt x="0" y="0"/>
                </a:moveTo>
                <a:lnTo>
                  <a:pt x="992" y="0"/>
                </a:lnTo>
                <a:lnTo>
                  <a:pt x="992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060280" y="5649480"/>
            <a:ext cx="292320" cy="170640"/>
          </a:xfrm>
          <a:custGeom>
            <a:avLst/>
            <a:gdLst/>
            <a:ahLst/>
            <a:rect l="0" t="0" r="r" b="b"/>
            <a:pathLst>
              <a:path w="812" h="474">
                <a:moveTo>
                  <a:pt x="0" y="0"/>
                </a:moveTo>
                <a:lnTo>
                  <a:pt x="812" y="0"/>
                </a:lnTo>
                <a:lnTo>
                  <a:pt x="812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060280" y="5933160"/>
            <a:ext cx="244800" cy="170640"/>
          </a:xfrm>
          <a:custGeom>
            <a:avLst/>
            <a:gdLst/>
            <a:ahLst/>
            <a:rect l="0" t="0" r="r" b="b"/>
            <a:pathLst>
              <a:path w="680" h="474">
                <a:moveTo>
                  <a:pt x="0" y="0"/>
                </a:moveTo>
                <a:lnTo>
                  <a:pt x="680" y="0"/>
                </a:lnTo>
                <a:lnTo>
                  <a:pt x="680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121840" y="6216840"/>
            <a:ext cx="14400" cy="170640"/>
          </a:xfrm>
          <a:custGeom>
            <a:avLst/>
            <a:gdLst/>
            <a:ahLst/>
            <a:rect l="0" t="0" r="r" b="b"/>
            <a:pathLst>
              <a:path w="40" h="474">
                <a:moveTo>
                  <a:pt x="0" y="0"/>
                </a:moveTo>
                <a:lnTo>
                  <a:pt x="40" y="0"/>
                </a:lnTo>
                <a:lnTo>
                  <a:pt x="40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060280" y="4798440"/>
            <a:ext cx="239400" cy="170640"/>
          </a:xfrm>
          <a:custGeom>
            <a:avLst/>
            <a:gdLst/>
            <a:ahLst/>
            <a:rect l="0" t="0" r="r" b="b"/>
            <a:pathLst>
              <a:path w="665" h="474">
                <a:moveTo>
                  <a:pt x="0" y="0"/>
                </a:moveTo>
                <a:lnTo>
                  <a:pt x="665" y="0"/>
                </a:lnTo>
                <a:lnTo>
                  <a:pt x="665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060280" y="5082120"/>
            <a:ext cx="1046880" cy="170640"/>
          </a:xfrm>
          <a:custGeom>
            <a:avLst/>
            <a:gdLst/>
            <a:ahLst/>
            <a:rect l="0" t="0" r="r" b="b"/>
            <a:pathLst>
              <a:path w="2908" h="474">
                <a:moveTo>
                  <a:pt x="0" y="0"/>
                </a:moveTo>
                <a:lnTo>
                  <a:pt x="2908" y="0"/>
                </a:lnTo>
                <a:lnTo>
                  <a:pt x="2908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060280" y="5365800"/>
            <a:ext cx="511920" cy="170640"/>
          </a:xfrm>
          <a:custGeom>
            <a:avLst/>
            <a:gdLst/>
            <a:ahLst/>
            <a:rect l="0" t="0" r="r" b="b"/>
            <a:pathLst>
              <a:path w="1422" h="474">
                <a:moveTo>
                  <a:pt x="0" y="0"/>
                </a:moveTo>
                <a:lnTo>
                  <a:pt x="1422" y="0"/>
                </a:lnTo>
                <a:lnTo>
                  <a:pt x="1422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807560" y="5649480"/>
            <a:ext cx="253080" cy="170640"/>
          </a:xfrm>
          <a:custGeom>
            <a:avLst/>
            <a:gdLst/>
            <a:ahLst/>
            <a:rect l="0" t="0" r="r" b="b"/>
            <a:pathLst>
              <a:path w="703" h="474">
                <a:moveTo>
                  <a:pt x="0" y="0"/>
                </a:moveTo>
                <a:lnTo>
                  <a:pt x="703" y="0"/>
                </a:lnTo>
                <a:lnTo>
                  <a:pt x="703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911960" y="5933160"/>
            <a:ext cx="148680" cy="170640"/>
          </a:xfrm>
          <a:custGeom>
            <a:avLst/>
            <a:gdLst/>
            <a:ahLst/>
            <a:rect l="0" t="0" r="r" b="b"/>
            <a:pathLst>
              <a:path w="413" h="474">
                <a:moveTo>
                  <a:pt x="0" y="0"/>
                </a:moveTo>
                <a:lnTo>
                  <a:pt x="413" y="0"/>
                </a:lnTo>
                <a:lnTo>
                  <a:pt x="413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060280" y="6216840"/>
            <a:ext cx="61920" cy="170640"/>
          </a:xfrm>
          <a:custGeom>
            <a:avLst/>
            <a:gdLst/>
            <a:ahLst/>
            <a:rect l="0" t="0" r="r" b="b"/>
            <a:pathLst>
              <a:path w="172" h="474">
                <a:moveTo>
                  <a:pt x="0" y="0"/>
                </a:moveTo>
                <a:lnTo>
                  <a:pt x="172" y="0"/>
                </a:lnTo>
                <a:lnTo>
                  <a:pt x="172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 flipV="1">
            <a:off x="1637280" y="4713480"/>
            <a:ext cx="0" cy="17589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562720" y="12780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678960" y="6251400"/>
            <a:ext cx="971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heterogeneity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46960" y="5967720"/>
            <a:ext cx="140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Early survey effort (2002-2008)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70640" y="5684040"/>
            <a:ext cx="1499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Recent survey effort (2009-2024)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20160" y="5400360"/>
            <a:ext cx="698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GDP per capita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742320" y="5116680"/>
            <a:ext cx="87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Administrative area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605600" y="6302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605600" y="6018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605600" y="5734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605600" y="5451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605600" y="5167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605600" y="4883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637280" y="6472440"/>
            <a:ext cx="3747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 flipV="1">
            <a:off x="206028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 flipV="1">
            <a:off x="319680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 flipV="1">
            <a:off x="433296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50360" y="4833000"/>
            <a:ext cx="11869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Regional species richness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035080" y="65167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171600" y="65167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307760" y="6516720"/>
            <a:ext cx="101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2788200" y="6928560"/>
            <a:ext cx="1446120" cy="241200"/>
          </a:xfrm>
          <a:custGeom>
            <a:avLst/>
            <a:gdLst/>
            <a:ahLst/>
            <a:rect l="0" t="0" r="r" b="b"/>
            <a:pathLst>
              <a:path w="4017" h="670">
                <a:moveTo>
                  <a:pt x="0" y="0"/>
                </a:moveTo>
                <a:lnTo>
                  <a:pt x="4017" y="0"/>
                </a:lnTo>
                <a:lnTo>
                  <a:pt x="4017" y="670"/>
                </a:lnTo>
                <a:lnTo>
                  <a:pt x="0" y="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851560" y="699192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859840" y="700020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739680" y="6991920"/>
            <a:ext cx="114120" cy="114840"/>
          </a:xfrm>
          <a:custGeom>
            <a:avLst/>
            <a:gdLst/>
            <a:ahLst/>
            <a:rect l="0" t="0" r="r" b="b"/>
            <a:pathLst>
              <a:path w="317" h="319">
                <a:moveTo>
                  <a:pt x="0" y="0"/>
                </a:moveTo>
                <a:lnTo>
                  <a:pt x="317" y="0"/>
                </a:lnTo>
                <a:lnTo>
                  <a:pt x="317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747960" y="7000200"/>
            <a:ext cx="97920" cy="98280"/>
          </a:xfrm>
          <a:custGeom>
            <a:avLst/>
            <a:gdLst/>
            <a:ahLst/>
            <a:rect l="0" t="0" r="r" b="b"/>
            <a:pathLst>
              <a:path w="272" h="273">
                <a:moveTo>
                  <a:pt x="0" y="0"/>
                </a:moveTo>
                <a:lnTo>
                  <a:pt x="272" y="0"/>
                </a:lnTo>
                <a:lnTo>
                  <a:pt x="272" y="273"/>
                </a:lnTo>
                <a:lnTo>
                  <a:pt x="0" y="273"/>
                </a:lnTo>
                <a:lnTo>
                  <a:pt x="0" y="0"/>
                </a:lnTo>
                <a:close/>
              </a:path>
            </a:pathLst>
          </a:custGeom>
          <a:solidFill>
            <a:srgbClr val="F0E44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374560" y="6662520"/>
            <a:ext cx="2173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Contribution to explained deviance (%)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3028680" y="7004880"/>
            <a:ext cx="636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Independent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916800" y="7004880"/>
            <a:ext cx="242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Joint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637280" y="4384440"/>
            <a:ext cx="41626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Full model explains 20.5% of deviance; independent contributions sum to 19.9%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637280" y="4181400"/>
            <a:ext cx="16135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Hierarchical partitioning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054200" y="4713480"/>
            <a:ext cx="3747960" cy="1759320"/>
          </a:xfrm>
          <a:custGeom>
            <a:avLst/>
            <a:gdLst/>
            <a:ahLst/>
            <a:rect l="0" t="0" r="r" b="b"/>
            <a:pathLst>
              <a:path w="10411" h="4887">
                <a:moveTo>
                  <a:pt x="0" y="0"/>
                </a:moveTo>
                <a:lnTo>
                  <a:pt x="10411" y="0"/>
                </a:lnTo>
                <a:lnTo>
                  <a:pt x="10411" y="4887"/>
                </a:lnTo>
                <a:lnTo>
                  <a:pt x="0" y="48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 flipV="1">
            <a:off x="761760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 flipV="1">
            <a:off x="866592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 flipV="1">
            <a:off x="971424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 flipV="1">
            <a:off x="10762560" y="4713480"/>
            <a:ext cx="0" cy="175896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V="1">
            <a:off x="8665920" y="4713480"/>
            <a:ext cx="0" cy="1758960"/>
          </a:xfrm>
          <a:prstGeom prst="line">
            <a:avLst/>
          </a:prstGeom>
          <a:ln w="9360">
            <a:solidFill>
              <a:srgbClr val="8C8C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8330040" y="6216840"/>
            <a:ext cx="336240" cy="170640"/>
          </a:xfrm>
          <a:custGeom>
            <a:avLst/>
            <a:gdLst/>
            <a:ahLst/>
            <a:rect l="0" t="0" r="r" b="b"/>
            <a:pathLst>
              <a:path w="934" h="474">
                <a:moveTo>
                  <a:pt x="0" y="0"/>
                </a:moveTo>
                <a:lnTo>
                  <a:pt x="934" y="0"/>
                </a:lnTo>
                <a:lnTo>
                  <a:pt x="934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8519760" y="5933160"/>
            <a:ext cx="146520" cy="170640"/>
          </a:xfrm>
          <a:custGeom>
            <a:avLst/>
            <a:gdLst/>
            <a:ahLst/>
            <a:rect l="0" t="0" r="r" b="b"/>
            <a:pathLst>
              <a:path w="407" h="474">
                <a:moveTo>
                  <a:pt x="0" y="0"/>
                </a:moveTo>
                <a:lnTo>
                  <a:pt x="407" y="0"/>
                </a:lnTo>
                <a:lnTo>
                  <a:pt x="407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8538120" y="5649480"/>
            <a:ext cx="128160" cy="170640"/>
          </a:xfrm>
          <a:custGeom>
            <a:avLst/>
            <a:gdLst/>
            <a:ahLst/>
            <a:rect l="0" t="0" r="r" b="b"/>
            <a:pathLst>
              <a:path w="356" h="474">
                <a:moveTo>
                  <a:pt x="0" y="0"/>
                </a:moveTo>
                <a:lnTo>
                  <a:pt x="356" y="0"/>
                </a:lnTo>
                <a:lnTo>
                  <a:pt x="356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8665920" y="5365800"/>
            <a:ext cx="198720" cy="170640"/>
          </a:xfrm>
          <a:custGeom>
            <a:avLst/>
            <a:gdLst/>
            <a:ahLst/>
            <a:rect l="0" t="0" r="r" b="b"/>
            <a:pathLst>
              <a:path w="552" h="474">
                <a:moveTo>
                  <a:pt x="0" y="0"/>
                </a:moveTo>
                <a:lnTo>
                  <a:pt x="552" y="0"/>
                </a:lnTo>
                <a:lnTo>
                  <a:pt x="552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8665920" y="5082120"/>
            <a:ext cx="617040" cy="170640"/>
          </a:xfrm>
          <a:custGeom>
            <a:avLst/>
            <a:gdLst/>
            <a:ahLst/>
            <a:rect l="0" t="0" r="r" b="b"/>
            <a:pathLst>
              <a:path w="1714" h="474">
                <a:moveTo>
                  <a:pt x="0" y="0"/>
                </a:moveTo>
                <a:lnTo>
                  <a:pt x="1714" y="0"/>
                </a:lnTo>
                <a:lnTo>
                  <a:pt x="1714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8665920" y="4798440"/>
            <a:ext cx="806400" cy="170640"/>
          </a:xfrm>
          <a:custGeom>
            <a:avLst/>
            <a:gdLst/>
            <a:ahLst/>
            <a:rect l="0" t="0" r="r" b="b"/>
            <a:pathLst>
              <a:path w="2240" h="474">
                <a:moveTo>
                  <a:pt x="0" y="0"/>
                </a:moveTo>
                <a:lnTo>
                  <a:pt x="2240" y="0"/>
                </a:lnTo>
                <a:lnTo>
                  <a:pt x="2240" y="474"/>
                </a:lnTo>
                <a:lnTo>
                  <a:pt x="0" y="474"/>
                </a:lnTo>
                <a:lnTo>
                  <a:pt x="0" y="0"/>
                </a:lnTo>
                <a:close/>
              </a:path>
            </a:pathLst>
          </a:custGeom>
          <a:solidFill>
            <a:srgbClr val="56B4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152280" y="41626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7656840" y="6270480"/>
            <a:ext cx="6393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-0.13, P = 0.49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7846560" y="5986800"/>
            <a:ext cx="6393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-0.06, P = 0.77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7864920" y="5703120"/>
            <a:ext cx="63936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-0.05, P = 0.79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8901000" y="5419440"/>
            <a:ext cx="6130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0.08, P = 0.69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9319320" y="5135760"/>
            <a:ext cx="6130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0.24, P = 0.20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 flipV="1">
            <a:off x="7054200" y="4713480"/>
            <a:ext cx="0" cy="17589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9509040" y="4852080"/>
            <a:ext cx="61308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20" b="0" u="none" strike="noStrike">
                <a:solidFill>
                  <a:srgbClr val="404040"/>
                </a:solidFill>
                <a:effectLst/>
                <a:uFillTx/>
                <a:latin typeface="Arial"/>
                <a:ea typeface="Arial"/>
              </a:rPr>
              <a:t>r = 0.31, P = 0.09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663880" y="6251400"/>
            <a:ext cx="1408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Early survey effort (2002-2008)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587560" y="5967720"/>
            <a:ext cx="14990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Recent survey effort (2009-2024)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095520" y="5684040"/>
            <a:ext cx="9712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Habitat heterogeneity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337080" y="5400360"/>
            <a:ext cx="698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GDP per capita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159240" y="5116680"/>
            <a:ext cx="8748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Administrative area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022520" y="63021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7022520" y="6018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7022520" y="573480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7022520" y="54511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7022520" y="516744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7022520" y="488376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7054200" y="6472440"/>
            <a:ext cx="374760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 flipV="1">
            <a:off x="761760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866592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971424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10762560" y="647244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866920" y="4833000"/>
            <a:ext cx="11869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Regional species richness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7535160" y="6516720"/>
            <a:ext cx="1767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8602560" y="6516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9650880" y="6516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10699200" y="6516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759800" y="6662520"/>
            <a:ext cx="2257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Partial correlation with new-record count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054200" y="4384440"/>
            <a:ext cx="24469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Each predictor against the residuals of a model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054200" y="4510800"/>
            <a:ext cx="15926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holding all the others constant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054200" y="4181400"/>
            <a:ext cx="1185120" cy="140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Partial regression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562720" y="416268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Fig10_province_level_v2</dc:title>
</cp:coreProperties>
</file>