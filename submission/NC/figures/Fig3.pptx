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8229600" cy="6032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11480" y="226080"/>
            <a:ext cx="7406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11480" y="1326960"/>
            <a:ext cx="7406280" cy="328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8229960" cy="6032520"/>
          </a:xfrm>
          <a:custGeom>
            <a:avLst/>
            <a:gdLst/>
            <a:ahLst/>
            <a:rect l="0" t="0" r="r" b="b"/>
            <a:pathLst>
              <a:path w="22861" h="16757">
                <a:moveTo>
                  <a:pt x="0" y="0"/>
                </a:moveTo>
                <a:lnTo>
                  <a:pt x="22861" y="0"/>
                </a:lnTo>
                <a:lnTo>
                  <a:pt x="22861" y="16757"/>
                </a:lnTo>
                <a:lnTo>
                  <a:pt x="0" y="167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8229960" cy="6032520"/>
          </a:xfrm>
          <a:custGeom>
            <a:avLst/>
            <a:gdLst/>
            <a:ahLst/>
            <a:rect l="0" t="0" r="r" b="b"/>
            <a:pathLst>
              <a:path w="22861" h="16757">
                <a:moveTo>
                  <a:pt x="0" y="0"/>
                </a:moveTo>
                <a:lnTo>
                  <a:pt x="22861" y="0"/>
                </a:lnTo>
                <a:lnTo>
                  <a:pt x="22861" y="16757"/>
                </a:lnTo>
                <a:lnTo>
                  <a:pt x="0" y="167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3252600" cy="2916000"/>
          </a:xfrm>
          <a:custGeom>
            <a:avLst/>
            <a:gdLst/>
            <a:ahLst/>
            <a:rect l="0" t="0" r="r" b="b"/>
            <a:pathLst>
              <a:path w="9035" h="8100">
                <a:moveTo>
                  <a:pt x="0" y="0"/>
                </a:moveTo>
                <a:lnTo>
                  <a:pt x="9035" y="0"/>
                </a:lnTo>
                <a:lnTo>
                  <a:pt x="9035" y="8100"/>
                </a:lnTo>
                <a:lnTo>
                  <a:pt x="0" y="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3321720" y="69480"/>
            <a:ext cx="4838400" cy="2916000"/>
          </a:xfrm>
          <a:custGeom>
            <a:avLst/>
            <a:gdLst/>
            <a:ahLst/>
            <a:rect l="0" t="0" r="r" b="b"/>
            <a:pathLst>
              <a:path w="13440" h="8100">
                <a:moveTo>
                  <a:pt x="0" y="0"/>
                </a:moveTo>
                <a:lnTo>
                  <a:pt x="13440" y="0"/>
                </a:lnTo>
                <a:lnTo>
                  <a:pt x="13440" y="8100"/>
                </a:lnTo>
                <a:lnTo>
                  <a:pt x="0" y="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525960" y="664560"/>
            <a:ext cx="2694960" cy="1976760"/>
          </a:xfrm>
          <a:custGeom>
            <a:avLst/>
            <a:gdLst/>
            <a:ahLst/>
            <a:rect l="0" t="0" r="r" b="b"/>
            <a:pathLst>
              <a:path w="7486" h="5491">
                <a:moveTo>
                  <a:pt x="0" y="0"/>
                </a:moveTo>
                <a:lnTo>
                  <a:pt x="7486" y="0"/>
                </a:lnTo>
                <a:lnTo>
                  <a:pt x="7486" y="5491"/>
                </a:lnTo>
                <a:lnTo>
                  <a:pt x="0" y="54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525960" y="2268720"/>
            <a:ext cx="269460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525960" y="1693440"/>
            <a:ext cx="269460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525960" y="1118160"/>
            <a:ext cx="269460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525960" y="2268720"/>
            <a:ext cx="2694600" cy="0"/>
          </a:xfrm>
          <a:prstGeom prst="line">
            <a:avLst/>
          </a:prstGeom>
          <a:ln w="7920">
            <a:solidFill>
              <a:srgbClr val="A6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648360" y="1201680"/>
            <a:ext cx="2227320" cy="1204920"/>
          </a:xfrm>
          <a:custGeom>
            <a:avLst/>
            <a:gdLst/>
            <a:ahLst/>
            <a:rect l="0" t="0" r="r" b="b"/>
            <a:pathLst>
              <a:path fill="none" w="6187" h="3347">
                <a:moveTo>
                  <a:pt x="0" y="3347"/>
                </a:moveTo>
                <a:lnTo>
                  <a:pt x="206" y="3324"/>
                </a:lnTo>
                <a:lnTo>
                  <a:pt x="412" y="3329"/>
                </a:lnTo>
                <a:lnTo>
                  <a:pt x="619" y="3278"/>
                </a:lnTo>
                <a:lnTo>
                  <a:pt x="825" y="2963"/>
                </a:lnTo>
                <a:lnTo>
                  <a:pt x="1031" y="2772"/>
                </a:lnTo>
                <a:lnTo>
                  <a:pt x="1237" y="2652"/>
                </a:lnTo>
                <a:lnTo>
                  <a:pt x="1444" y="2455"/>
                </a:lnTo>
                <a:lnTo>
                  <a:pt x="1651" y="2389"/>
                </a:lnTo>
                <a:lnTo>
                  <a:pt x="1857" y="2280"/>
                </a:lnTo>
                <a:lnTo>
                  <a:pt x="2063" y="2195"/>
                </a:lnTo>
                <a:lnTo>
                  <a:pt x="2269" y="1954"/>
                </a:lnTo>
                <a:lnTo>
                  <a:pt x="2475" y="1752"/>
                </a:lnTo>
                <a:lnTo>
                  <a:pt x="2682" y="1522"/>
                </a:lnTo>
                <a:lnTo>
                  <a:pt x="2888" y="1449"/>
                </a:lnTo>
                <a:lnTo>
                  <a:pt x="3094" y="1293"/>
                </a:lnTo>
                <a:lnTo>
                  <a:pt x="3300" y="1068"/>
                </a:lnTo>
                <a:lnTo>
                  <a:pt x="3506" y="1018"/>
                </a:lnTo>
                <a:lnTo>
                  <a:pt x="3713" y="791"/>
                </a:lnTo>
                <a:lnTo>
                  <a:pt x="3919" y="854"/>
                </a:lnTo>
                <a:lnTo>
                  <a:pt x="4125" y="808"/>
                </a:lnTo>
                <a:lnTo>
                  <a:pt x="4331" y="620"/>
                </a:lnTo>
                <a:lnTo>
                  <a:pt x="4537" y="587"/>
                </a:lnTo>
                <a:lnTo>
                  <a:pt x="4744" y="610"/>
                </a:lnTo>
                <a:lnTo>
                  <a:pt x="4950" y="696"/>
                </a:lnTo>
                <a:lnTo>
                  <a:pt x="5156" y="451"/>
                </a:lnTo>
                <a:lnTo>
                  <a:pt x="5362" y="466"/>
                </a:lnTo>
                <a:lnTo>
                  <a:pt x="5568" y="425"/>
                </a:lnTo>
                <a:lnTo>
                  <a:pt x="5775" y="387"/>
                </a:lnTo>
                <a:lnTo>
                  <a:pt x="5981" y="64"/>
                </a:lnTo>
                <a:lnTo>
                  <a:pt x="6187" y="0"/>
                </a:lnTo>
              </a:path>
            </a:pathLst>
          </a:custGeom>
          <a:ln w="20160">
            <a:solidFill>
              <a:srgbClr val="999999"/>
            </a:solidFill>
            <a:round/>
          </a:ln>
        </p:spPr>
        <p:txBody>
          <a:bodyPr lIns="10080" tIns="10080" rIns="10080" bIns="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648360" y="1559520"/>
            <a:ext cx="2227320" cy="835200"/>
          </a:xfrm>
          <a:custGeom>
            <a:avLst/>
            <a:gdLst/>
            <a:ahLst/>
            <a:rect l="0" t="0" r="r" b="b"/>
            <a:pathLst>
              <a:path fill="none" w="6187" h="2320">
                <a:moveTo>
                  <a:pt x="0" y="2125"/>
                </a:moveTo>
                <a:lnTo>
                  <a:pt x="206" y="2236"/>
                </a:lnTo>
                <a:lnTo>
                  <a:pt x="412" y="2320"/>
                </a:lnTo>
                <a:lnTo>
                  <a:pt x="619" y="2289"/>
                </a:lnTo>
                <a:lnTo>
                  <a:pt x="825" y="2016"/>
                </a:lnTo>
                <a:lnTo>
                  <a:pt x="1031" y="1720"/>
                </a:lnTo>
                <a:lnTo>
                  <a:pt x="1237" y="1565"/>
                </a:lnTo>
                <a:lnTo>
                  <a:pt x="1444" y="1469"/>
                </a:lnTo>
                <a:lnTo>
                  <a:pt x="1651" y="1484"/>
                </a:lnTo>
                <a:lnTo>
                  <a:pt x="1857" y="1240"/>
                </a:lnTo>
                <a:lnTo>
                  <a:pt x="2063" y="1161"/>
                </a:lnTo>
                <a:lnTo>
                  <a:pt x="2269" y="1188"/>
                </a:lnTo>
                <a:lnTo>
                  <a:pt x="2475" y="1129"/>
                </a:lnTo>
                <a:lnTo>
                  <a:pt x="2682" y="966"/>
                </a:lnTo>
                <a:lnTo>
                  <a:pt x="2888" y="1036"/>
                </a:lnTo>
                <a:lnTo>
                  <a:pt x="3094" y="1042"/>
                </a:lnTo>
                <a:lnTo>
                  <a:pt x="3300" y="936"/>
                </a:lnTo>
                <a:lnTo>
                  <a:pt x="3506" y="1028"/>
                </a:lnTo>
                <a:lnTo>
                  <a:pt x="3713" y="1051"/>
                </a:lnTo>
                <a:lnTo>
                  <a:pt x="3919" y="1268"/>
                </a:lnTo>
                <a:lnTo>
                  <a:pt x="4125" y="1267"/>
                </a:lnTo>
                <a:lnTo>
                  <a:pt x="4331" y="1068"/>
                </a:lnTo>
                <a:lnTo>
                  <a:pt x="4537" y="1026"/>
                </a:lnTo>
                <a:lnTo>
                  <a:pt x="4744" y="1051"/>
                </a:lnTo>
                <a:lnTo>
                  <a:pt x="4950" y="1137"/>
                </a:lnTo>
                <a:lnTo>
                  <a:pt x="5156" y="907"/>
                </a:lnTo>
                <a:lnTo>
                  <a:pt x="5362" y="706"/>
                </a:lnTo>
                <a:lnTo>
                  <a:pt x="5568" y="616"/>
                </a:lnTo>
                <a:lnTo>
                  <a:pt x="5775" y="607"/>
                </a:lnTo>
                <a:lnTo>
                  <a:pt x="5981" y="226"/>
                </a:lnTo>
                <a:lnTo>
                  <a:pt x="6187" y="0"/>
                </a:lnTo>
              </a:path>
            </a:pathLst>
          </a:custGeom>
          <a:ln w="20160">
            <a:solidFill>
              <a:srgbClr val="D55E00"/>
            </a:solidFill>
            <a:round/>
          </a:ln>
        </p:spPr>
        <p:txBody>
          <a:bodyPr lIns="10080" tIns="10080" rIns="10080" bIns="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648360" y="754560"/>
            <a:ext cx="2227320" cy="1797120"/>
          </a:xfrm>
          <a:custGeom>
            <a:avLst/>
            <a:gdLst/>
            <a:ahLst/>
            <a:rect l="0" t="0" r="r" b="b"/>
            <a:pathLst>
              <a:path fill="none" w="6187" h="4992">
                <a:moveTo>
                  <a:pt x="0" y="4862"/>
                </a:moveTo>
                <a:lnTo>
                  <a:pt x="206" y="4822"/>
                </a:lnTo>
                <a:lnTo>
                  <a:pt x="412" y="4992"/>
                </a:lnTo>
                <a:lnTo>
                  <a:pt x="619" y="4712"/>
                </a:lnTo>
                <a:lnTo>
                  <a:pt x="825" y="4881"/>
                </a:lnTo>
                <a:lnTo>
                  <a:pt x="1031" y="4173"/>
                </a:lnTo>
                <a:lnTo>
                  <a:pt x="1237" y="3853"/>
                </a:lnTo>
                <a:lnTo>
                  <a:pt x="1444" y="3588"/>
                </a:lnTo>
                <a:lnTo>
                  <a:pt x="1651" y="3247"/>
                </a:lnTo>
                <a:lnTo>
                  <a:pt x="1857" y="3214"/>
                </a:lnTo>
                <a:lnTo>
                  <a:pt x="2063" y="2883"/>
                </a:lnTo>
                <a:lnTo>
                  <a:pt x="2269" y="2843"/>
                </a:lnTo>
                <a:lnTo>
                  <a:pt x="2475" y="2604"/>
                </a:lnTo>
                <a:lnTo>
                  <a:pt x="2682" y="2253"/>
                </a:lnTo>
                <a:lnTo>
                  <a:pt x="2888" y="1682"/>
                </a:lnTo>
                <a:lnTo>
                  <a:pt x="3094" y="1451"/>
                </a:lnTo>
                <a:lnTo>
                  <a:pt x="3300" y="1413"/>
                </a:lnTo>
                <a:lnTo>
                  <a:pt x="3506" y="1183"/>
                </a:lnTo>
                <a:lnTo>
                  <a:pt x="3713" y="1519"/>
                </a:lnTo>
                <a:lnTo>
                  <a:pt x="3919" y="1209"/>
                </a:lnTo>
                <a:lnTo>
                  <a:pt x="4125" y="1454"/>
                </a:lnTo>
                <a:lnTo>
                  <a:pt x="4331" y="1109"/>
                </a:lnTo>
                <a:lnTo>
                  <a:pt x="4537" y="896"/>
                </a:lnTo>
                <a:lnTo>
                  <a:pt x="4744" y="923"/>
                </a:lnTo>
                <a:lnTo>
                  <a:pt x="4950" y="781"/>
                </a:lnTo>
                <a:lnTo>
                  <a:pt x="5156" y="713"/>
                </a:lnTo>
                <a:lnTo>
                  <a:pt x="5362" y="589"/>
                </a:lnTo>
                <a:lnTo>
                  <a:pt x="5568" y="540"/>
                </a:lnTo>
                <a:lnTo>
                  <a:pt x="5775" y="368"/>
                </a:lnTo>
                <a:lnTo>
                  <a:pt x="5981" y="168"/>
                </a:lnTo>
                <a:lnTo>
                  <a:pt x="6187" y="0"/>
                </a:lnTo>
              </a:path>
            </a:pathLst>
          </a:custGeom>
          <a:ln w="20160">
            <a:solidFill>
              <a:srgbClr val="0072B2"/>
            </a:solidFill>
            <a:round/>
          </a:ln>
        </p:spPr>
        <p:txBody>
          <a:bodyPr lIns="10080" tIns="10080" rIns="10080" bIns="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 flipV="1">
            <a:off x="2578320" y="1369440"/>
            <a:ext cx="0" cy="444240"/>
          </a:xfrm>
          <a:prstGeom prst="line">
            <a:avLst/>
          </a:prstGeom>
          <a:ln w="1872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2556360" y="1775160"/>
            <a:ext cx="44640" cy="38880"/>
          </a:xfrm>
          <a:custGeom>
            <a:avLst/>
            <a:gdLst/>
            <a:ahLst/>
            <a:rect l="0" t="0" r="r" b="b"/>
            <a:pathLst>
              <a:path fill="none" w="124" h="108">
                <a:moveTo>
                  <a:pt x="0" y="0"/>
                </a:moveTo>
                <a:lnTo>
                  <a:pt x="62" y="108"/>
                </a:lnTo>
                <a:lnTo>
                  <a:pt x="124" y="0"/>
                </a:lnTo>
              </a:path>
            </a:pathLst>
          </a:custGeom>
          <a:ln w="18720">
            <a:solidFill>
              <a:srgbClr val="D55E00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2556360" y="1369440"/>
            <a:ext cx="44640" cy="38880"/>
          </a:xfrm>
          <a:custGeom>
            <a:avLst/>
            <a:gdLst/>
            <a:ahLst/>
            <a:rect l="0" t="0" r="r" b="b"/>
            <a:pathLst>
              <a:path fill="none" w="124" h="108">
                <a:moveTo>
                  <a:pt x="124" y="108"/>
                </a:moveTo>
                <a:lnTo>
                  <a:pt x="62" y="0"/>
                </a:lnTo>
                <a:lnTo>
                  <a:pt x="0" y="108"/>
                </a:lnTo>
              </a:path>
            </a:pathLst>
          </a:custGeom>
          <a:ln w="18720">
            <a:solidFill>
              <a:srgbClr val="D55E00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2756520" y="966240"/>
            <a:ext cx="0" cy="403200"/>
          </a:xfrm>
          <a:prstGeom prst="line">
            <a:avLst/>
          </a:prstGeom>
          <a:ln w="187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2734560" y="966240"/>
            <a:ext cx="44280" cy="38880"/>
          </a:xfrm>
          <a:custGeom>
            <a:avLst/>
            <a:gdLst/>
            <a:ahLst/>
            <a:rect l="0" t="0" r="r" b="b"/>
            <a:pathLst>
              <a:path fill="none" w="123" h="108">
                <a:moveTo>
                  <a:pt x="123" y="108"/>
                </a:moveTo>
                <a:lnTo>
                  <a:pt x="62" y="0"/>
                </a:lnTo>
                <a:lnTo>
                  <a:pt x="0" y="108"/>
                </a:lnTo>
              </a:path>
            </a:pathLst>
          </a:custGeom>
          <a:ln w="18720">
            <a:solidFill>
              <a:srgbClr val="0072B2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734560" y="1331280"/>
            <a:ext cx="44280" cy="38520"/>
          </a:xfrm>
          <a:custGeom>
            <a:avLst/>
            <a:gdLst/>
            <a:ahLst/>
            <a:rect l="0" t="0" r="r" b="b"/>
            <a:pathLst>
              <a:path fill="none" w="123" h="107">
                <a:moveTo>
                  <a:pt x="0" y="0"/>
                </a:moveTo>
                <a:lnTo>
                  <a:pt x="62" y="107"/>
                </a:lnTo>
                <a:lnTo>
                  <a:pt x="123" y="0"/>
                </a:lnTo>
              </a:path>
            </a:pathLst>
          </a:custGeom>
          <a:ln w="18720">
            <a:solidFill>
              <a:srgbClr val="0072B2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949760" y="1258200"/>
            <a:ext cx="5778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D55E00"/>
                </a:solidFill>
                <a:effectLst/>
                <a:uFillTx/>
                <a:latin typeface="Arial"/>
                <a:ea typeface="Arial"/>
              </a:rPr>
              <a:t>x = +0.31 °C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 flipV="1">
            <a:off x="525960" y="664560"/>
            <a:ext cx="0" cy="19764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2815920" y="1117440"/>
            <a:ext cx="5518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0072B2"/>
                </a:solidFill>
                <a:effectLst/>
                <a:uFillTx/>
                <a:latin typeface="Arial"/>
                <a:ea typeface="Arial"/>
              </a:rPr>
              <a:t>x = -0.28 °C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42000" y="22179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342000" y="164268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494280" y="22687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94280" y="16934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494280" y="11181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25960" y="2640960"/>
            <a:ext cx="269460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 flipV="1">
            <a:off x="722520" y="2640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 flipV="1">
            <a:off x="1464840" y="2640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 flipV="1">
            <a:off x="2207160" y="2640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 flipV="1">
            <a:off x="2949480" y="2640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342000" y="10674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21360" y="268560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1995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363680" y="268560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2005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2105640" y="268560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847960" y="268560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2025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674280" y="607320"/>
            <a:ext cx="1535760" cy="431640"/>
          </a:xfrm>
          <a:custGeom>
            <a:avLst/>
            <a:gdLst/>
            <a:ahLst/>
            <a:rect l="0" t="0" r="r" b="b"/>
            <a:pathLst>
              <a:path w="4266" h="1199">
                <a:moveTo>
                  <a:pt x="0" y="0"/>
                </a:moveTo>
                <a:lnTo>
                  <a:pt x="4266" y="0"/>
                </a:lnTo>
                <a:lnTo>
                  <a:pt x="4266" y="1199"/>
                </a:lnTo>
                <a:lnTo>
                  <a:pt x="0" y="11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737640" y="670320"/>
            <a:ext cx="114120" cy="102240"/>
          </a:xfrm>
          <a:custGeom>
            <a:avLst/>
            <a:gdLst/>
            <a:ahLst/>
            <a:rect l="0" t="0" r="r" b="b"/>
            <a:pathLst>
              <a:path w="317" h="284">
                <a:moveTo>
                  <a:pt x="0" y="0"/>
                </a:moveTo>
                <a:lnTo>
                  <a:pt x="317" y="0"/>
                </a:lnTo>
                <a:lnTo>
                  <a:pt x="317" y="284"/>
                </a:lnTo>
                <a:lnTo>
                  <a:pt x="0" y="2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748800" y="721080"/>
            <a:ext cx="91080" cy="0"/>
          </a:xfrm>
          <a:prstGeom prst="line">
            <a:avLst/>
          </a:prstGeom>
          <a:ln w="201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080" tIns="-10080" rIns="10080" bIns="-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737640" y="772200"/>
            <a:ext cx="114120" cy="101880"/>
          </a:xfrm>
          <a:custGeom>
            <a:avLst/>
            <a:gdLst/>
            <a:ahLst/>
            <a:rect l="0" t="0" r="r" b="b"/>
            <a:pathLst>
              <a:path w="317" h="283">
                <a:moveTo>
                  <a:pt x="0" y="0"/>
                </a:moveTo>
                <a:lnTo>
                  <a:pt x="317" y="0"/>
                </a:lnTo>
                <a:lnTo>
                  <a:pt x="317" y="283"/>
                </a:lnTo>
                <a:lnTo>
                  <a:pt x="0" y="2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748800" y="822960"/>
            <a:ext cx="91080" cy="0"/>
          </a:xfrm>
          <a:prstGeom prst="line">
            <a:avLst/>
          </a:prstGeom>
          <a:ln w="2016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080" tIns="-10080" rIns="10080" bIns="-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737640" y="873720"/>
            <a:ext cx="114120" cy="101880"/>
          </a:xfrm>
          <a:custGeom>
            <a:avLst/>
            <a:gdLst/>
            <a:ahLst/>
            <a:rect l="0" t="0" r="r" b="b"/>
            <a:pathLst>
              <a:path w="317" h="283">
                <a:moveTo>
                  <a:pt x="0" y="0"/>
                </a:moveTo>
                <a:lnTo>
                  <a:pt x="317" y="0"/>
                </a:lnTo>
                <a:lnTo>
                  <a:pt x="317" y="283"/>
                </a:lnTo>
                <a:lnTo>
                  <a:pt x="0" y="2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748800" y="924480"/>
            <a:ext cx="91080" cy="0"/>
          </a:xfrm>
          <a:prstGeom prst="line">
            <a:avLst/>
          </a:prstGeom>
          <a:ln w="2016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080" tIns="-10080" rIns="10080" bIns="-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 rot="16200000">
            <a:off x="-874080" y="1630800"/>
            <a:ext cx="221688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15-yr mean anomaly vs 1980-2000 (°C)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914760" y="670680"/>
            <a:ext cx="835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Yunnan (province)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14760" y="772200"/>
            <a:ext cx="13118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Aethopyga christinae (range)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914760" y="873720"/>
            <a:ext cx="11584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Coracias garrulus (range)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25960" y="335880"/>
            <a:ext cx="14292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Same province, same year,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25960" y="461880"/>
            <a:ext cx="15400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opposite sign for two species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25960" y="145440"/>
            <a:ext cx="26672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Climate is referenced to each species' range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3892320" y="664560"/>
            <a:ext cx="2694960" cy="1976760"/>
          </a:xfrm>
          <a:custGeom>
            <a:avLst/>
            <a:gdLst/>
            <a:ahLst/>
            <a:rect l="0" t="0" r="r" b="b"/>
            <a:pathLst>
              <a:path w="7486" h="5491">
                <a:moveTo>
                  <a:pt x="0" y="0"/>
                </a:moveTo>
                <a:lnTo>
                  <a:pt x="7486" y="0"/>
                </a:lnTo>
                <a:lnTo>
                  <a:pt x="7486" y="5491"/>
                </a:lnTo>
                <a:lnTo>
                  <a:pt x="0" y="54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5829120" y="703440"/>
            <a:ext cx="505800" cy="884880"/>
          </a:xfrm>
          <a:custGeom>
            <a:avLst/>
            <a:gdLst/>
            <a:ahLst/>
            <a:rect l="0" t="0" r="r" b="b"/>
            <a:pathLst>
              <a:path w="1405" h="2458">
                <a:moveTo>
                  <a:pt x="0" y="0"/>
                </a:moveTo>
                <a:lnTo>
                  <a:pt x="1405" y="0"/>
                </a:lnTo>
                <a:lnTo>
                  <a:pt x="1405" y="2458"/>
                </a:lnTo>
                <a:lnTo>
                  <a:pt x="0" y="2458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5829120" y="1587960"/>
            <a:ext cx="505800" cy="1053360"/>
          </a:xfrm>
          <a:custGeom>
            <a:avLst/>
            <a:gdLst/>
            <a:ahLst/>
            <a:rect l="0" t="0" r="r" b="b"/>
            <a:pathLst>
              <a:path w="1405" h="2926">
                <a:moveTo>
                  <a:pt x="0" y="0"/>
                </a:moveTo>
                <a:lnTo>
                  <a:pt x="1405" y="0"/>
                </a:lnTo>
                <a:lnTo>
                  <a:pt x="1405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4145040" y="703440"/>
            <a:ext cx="505440" cy="1172520"/>
          </a:xfrm>
          <a:custGeom>
            <a:avLst/>
            <a:gdLst/>
            <a:ahLst/>
            <a:rect l="0" t="0" r="r" b="b"/>
            <a:pathLst>
              <a:path w="1404" h="3257">
                <a:moveTo>
                  <a:pt x="0" y="0"/>
                </a:moveTo>
                <a:lnTo>
                  <a:pt x="1404" y="0"/>
                </a:lnTo>
                <a:lnTo>
                  <a:pt x="1404" y="3257"/>
                </a:lnTo>
                <a:lnTo>
                  <a:pt x="0" y="3257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4145040" y="1875600"/>
            <a:ext cx="505440" cy="765720"/>
          </a:xfrm>
          <a:custGeom>
            <a:avLst/>
            <a:gdLst/>
            <a:ahLst/>
            <a:rect l="0" t="0" r="r" b="b"/>
            <a:pathLst>
              <a:path w="1404" h="2127">
                <a:moveTo>
                  <a:pt x="0" y="0"/>
                </a:moveTo>
                <a:lnTo>
                  <a:pt x="1404" y="0"/>
                </a:lnTo>
                <a:lnTo>
                  <a:pt x="1404" y="2127"/>
                </a:lnTo>
                <a:lnTo>
                  <a:pt x="0" y="2127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4987080" y="703440"/>
            <a:ext cx="505800" cy="820080"/>
          </a:xfrm>
          <a:custGeom>
            <a:avLst/>
            <a:gdLst/>
            <a:ahLst/>
            <a:rect l="0" t="0" r="r" b="b"/>
            <a:pathLst>
              <a:path w="1405" h="2278">
                <a:moveTo>
                  <a:pt x="0" y="0"/>
                </a:moveTo>
                <a:lnTo>
                  <a:pt x="1405" y="0"/>
                </a:lnTo>
                <a:lnTo>
                  <a:pt x="1405" y="2278"/>
                </a:lnTo>
                <a:lnTo>
                  <a:pt x="0" y="2278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4987080" y="1523160"/>
            <a:ext cx="505800" cy="1118160"/>
          </a:xfrm>
          <a:custGeom>
            <a:avLst/>
            <a:gdLst/>
            <a:ahLst/>
            <a:rect l="0" t="0" r="r" b="b"/>
            <a:pathLst>
              <a:path w="1405" h="3106">
                <a:moveTo>
                  <a:pt x="0" y="0"/>
                </a:moveTo>
                <a:lnTo>
                  <a:pt x="1405" y="0"/>
                </a:lnTo>
                <a:lnTo>
                  <a:pt x="1405" y="3106"/>
                </a:lnTo>
                <a:lnTo>
                  <a:pt x="0" y="3106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41480" y="11088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973840" y="1095120"/>
            <a:ext cx="208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46%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973840" y="2063880"/>
            <a:ext cx="208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54%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289760" y="1239120"/>
            <a:ext cx="208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60%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4289760" y="2207880"/>
            <a:ext cx="208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40%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132160" y="1062720"/>
            <a:ext cx="208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 flipV="1">
            <a:off x="3892320" y="664560"/>
            <a:ext cx="0" cy="19764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5132160" y="2031480"/>
            <a:ext cx="208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58%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696120" y="2590560"/>
            <a:ext cx="148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3645360" y="2106000"/>
            <a:ext cx="205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25%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645360" y="1621800"/>
            <a:ext cx="205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3645360" y="1137240"/>
            <a:ext cx="205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75%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3861000" y="26409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3861000" y="21567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3861000" y="16722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3861000" y="11880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3861000" y="7034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3892320" y="2640960"/>
            <a:ext cx="269460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 flipV="1">
            <a:off x="4397760" y="2640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 flipV="1">
            <a:off x="5239800" y="2640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 flipV="1">
            <a:off x="6081840" y="2640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3594240" y="653040"/>
            <a:ext cx="2617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4118400" y="2685600"/>
            <a:ext cx="591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Accumulated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207320" y="2795400"/>
            <a:ext cx="3866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warming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5094000" y="2685600"/>
            <a:ext cx="3186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Annual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030280" y="2795400"/>
            <a:ext cx="426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variability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5980320" y="2685600"/>
            <a:ext cx="2048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Raw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5872320" y="2795400"/>
            <a:ext cx="449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gradient x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713640" y="1378440"/>
            <a:ext cx="1345320" cy="549360"/>
          </a:xfrm>
          <a:custGeom>
            <a:avLst/>
            <a:gdLst/>
            <a:ahLst/>
            <a:rect l="0" t="0" r="r" b="b"/>
            <a:pathLst>
              <a:path w="3737" h="1526">
                <a:moveTo>
                  <a:pt x="0" y="0"/>
                </a:moveTo>
                <a:lnTo>
                  <a:pt x="3737" y="0"/>
                </a:lnTo>
                <a:lnTo>
                  <a:pt x="3737" y="1526"/>
                </a:lnTo>
                <a:lnTo>
                  <a:pt x="0" y="15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6776640" y="1441440"/>
            <a:ext cx="114480" cy="211680"/>
          </a:xfrm>
          <a:custGeom>
            <a:avLst/>
            <a:gdLst/>
            <a:ahLst/>
            <a:rect l="0" t="0" r="r" b="b"/>
            <a:pathLst>
              <a:path w="318" h="588">
                <a:moveTo>
                  <a:pt x="0" y="0"/>
                </a:moveTo>
                <a:lnTo>
                  <a:pt x="318" y="0"/>
                </a:lnTo>
                <a:lnTo>
                  <a:pt x="318" y="588"/>
                </a:lnTo>
                <a:lnTo>
                  <a:pt x="0" y="5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784920" y="1449720"/>
            <a:ext cx="97920" cy="195480"/>
          </a:xfrm>
          <a:custGeom>
            <a:avLst/>
            <a:gdLst/>
            <a:ahLst/>
            <a:rect l="0" t="0" r="r" b="b"/>
            <a:pathLst>
              <a:path w="272" h="543">
                <a:moveTo>
                  <a:pt x="0" y="0"/>
                </a:moveTo>
                <a:lnTo>
                  <a:pt x="272" y="0"/>
                </a:lnTo>
                <a:lnTo>
                  <a:pt x="272" y="543"/>
                </a:lnTo>
                <a:lnTo>
                  <a:pt x="0" y="543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6776640" y="1652760"/>
            <a:ext cx="114480" cy="211680"/>
          </a:xfrm>
          <a:custGeom>
            <a:avLst/>
            <a:gdLst/>
            <a:ahLst/>
            <a:rect l="0" t="0" r="r" b="b"/>
            <a:pathLst>
              <a:path w="318" h="588">
                <a:moveTo>
                  <a:pt x="0" y="0"/>
                </a:moveTo>
                <a:lnTo>
                  <a:pt x="318" y="0"/>
                </a:lnTo>
                <a:lnTo>
                  <a:pt x="318" y="588"/>
                </a:lnTo>
                <a:lnTo>
                  <a:pt x="0" y="5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6784920" y="1661040"/>
            <a:ext cx="97920" cy="195480"/>
          </a:xfrm>
          <a:custGeom>
            <a:avLst/>
            <a:gdLst/>
            <a:ahLst/>
            <a:rect l="0" t="0" r="r" b="b"/>
            <a:pathLst>
              <a:path w="272" h="543">
                <a:moveTo>
                  <a:pt x="0" y="0"/>
                </a:moveTo>
                <a:lnTo>
                  <a:pt x="272" y="0"/>
                </a:lnTo>
                <a:lnTo>
                  <a:pt x="272" y="543"/>
                </a:lnTo>
                <a:lnTo>
                  <a:pt x="0" y="543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 rot="16200000">
            <a:off x="2990520" y="1614240"/>
            <a:ext cx="9921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Share of variance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954120" y="1441800"/>
            <a:ext cx="1096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Between province-years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954120" y="1551600"/>
            <a:ext cx="7837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(regional climate)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954120" y="1653120"/>
            <a:ext cx="931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Within province-year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954120" y="1762920"/>
            <a:ext cx="1062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(purely among species)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892680" y="335880"/>
            <a:ext cx="13248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A purely regional variable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892680" y="461880"/>
            <a:ext cx="14166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would have no green band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3892680" y="145440"/>
            <a:ext cx="20534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Species identity carries much of 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9480" y="2985120"/>
            <a:ext cx="2823840" cy="2977920"/>
          </a:xfrm>
          <a:custGeom>
            <a:avLst/>
            <a:gdLst/>
            <a:ahLst/>
            <a:rect l="0" t="0" r="r" b="b"/>
            <a:pathLst>
              <a:path w="7844" h="8272">
                <a:moveTo>
                  <a:pt x="0" y="0"/>
                </a:moveTo>
                <a:lnTo>
                  <a:pt x="7844" y="0"/>
                </a:lnTo>
                <a:lnTo>
                  <a:pt x="7844" y="8272"/>
                </a:lnTo>
                <a:lnTo>
                  <a:pt x="0" y="82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2892960" y="2985120"/>
            <a:ext cx="5267160" cy="2977920"/>
          </a:xfrm>
          <a:custGeom>
            <a:avLst/>
            <a:gdLst/>
            <a:ahLst/>
            <a:rect l="0" t="0" r="r" b="b"/>
            <a:pathLst>
              <a:path w="14631" h="8272">
                <a:moveTo>
                  <a:pt x="0" y="0"/>
                </a:moveTo>
                <a:lnTo>
                  <a:pt x="14631" y="0"/>
                </a:lnTo>
                <a:lnTo>
                  <a:pt x="14631" y="8272"/>
                </a:lnTo>
                <a:lnTo>
                  <a:pt x="0" y="82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525960" y="3580560"/>
            <a:ext cx="2266200" cy="1976760"/>
          </a:xfrm>
          <a:custGeom>
            <a:avLst/>
            <a:gdLst/>
            <a:ahLst/>
            <a:rect l="0" t="0" r="r" b="b"/>
            <a:pathLst>
              <a:path w="6295" h="5491">
                <a:moveTo>
                  <a:pt x="0" y="0"/>
                </a:moveTo>
                <a:lnTo>
                  <a:pt x="6295" y="0"/>
                </a:lnTo>
                <a:lnTo>
                  <a:pt x="6295" y="5491"/>
                </a:lnTo>
                <a:lnTo>
                  <a:pt x="0" y="54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525960" y="5552280"/>
            <a:ext cx="2265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525960" y="4997880"/>
            <a:ext cx="2265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525960" y="4443120"/>
            <a:ext cx="2265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525960" y="3888720"/>
            <a:ext cx="2265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 flipV="1">
            <a:off x="1663920" y="3593880"/>
            <a:ext cx="0" cy="1963080"/>
          </a:xfrm>
          <a:prstGeom prst="line">
            <a:avLst/>
          </a:prstGeom>
          <a:ln w="7920">
            <a:solidFill>
              <a:srgbClr val="A6A6A6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28920" y="3709800"/>
            <a:ext cx="2060280" cy="1757520"/>
          </a:xfrm>
          <a:custGeom>
            <a:avLst/>
            <a:gdLst/>
            <a:ahLst/>
            <a:rect l="0" t="0" r="r" b="b"/>
            <a:pathLst>
              <a:path w="5723" h="4882">
                <a:moveTo>
                  <a:pt x="0" y="4437"/>
                </a:moveTo>
                <a:lnTo>
                  <a:pt x="97" y="4421"/>
                </a:lnTo>
                <a:lnTo>
                  <a:pt x="194" y="4404"/>
                </a:lnTo>
                <a:lnTo>
                  <a:pt x="291" y="4386"/>
                </a:lnTo>
                <a:lnTo>
                  <a:pt x="388" y="4368"/>
                </a:lnTo>
                <a:lnTo>
                  <a:pt x="485" y="4350"/>
                </a:lnTo>
                <a:lnTo>
                  <a:pt x="582" y="4331"/>
                </a:lnTo>
                <a:lnTo>
                  <a:pt x="679" y="4311"/>
                </a:lnTo>
                <a:lnTo>
                  <a:pt x="776" y="4291"/>
                </a:lnTo>
                <a:lnTo>
                  <a:pt x="873" y="4270"/>
                </a:lnTo>
                <a:lnTo>
                  <a:pt x="970" y="4249"/>
                </a:lnTo>
                <a:lnTo>
                  <a:pt x="1067" y="4226"/>
                </a:lnTo>
                <a:lnTo>
                  <a:pt x="1165" y="4204"/>
                </a:lnTo>
                <a:lnTo>
                  <a:pt x="1262" y="4180"/>
                </a:lnTo>
                <a:lnTo>
                  <a:pt x="1359" y="4155"/>
                </a:lnTo>
                <a:lnTo>
                  <a:pt x="1456" y="4130"/>
                </a:lnTo>
                <a:lnTo>
                  <a:pt x="1553" y="4104"/>
                </a:lnTo>
                <a:lnTo>
                  <a:pt x="1650" y="4077"/>
                </a:lnTo>
                <a:lnTo>
                  <a:pt x="1747" y="4048"/>
                </a:lnTo>
                <a:lnTo>
                  <a:pt x="1844" y="4019"/>
                </a:lnTo>
                <a:lnTo>
                  <a:pt x="1941" y="3988"/>
                </a:lnTo>
                <a:lnTo>
                  <a:pt x="2038" y="3956"/>
                </a:lnTo>
                <a:lnTo>
                  <a:pt x="2134" y="3923"/>
                </a:lnTo>
                <a:lnTo>
                  <a:pt x="2231" y="3888"/>
                </a:lnTo>
                <a:lnTo>
                  <a:pt x="2329" y="3852"/>
                </a:lnTo>
                <a:lnTo>
                  <a:pt x="2426" y="3814"/>
                </a:lnTo>
                <a:lnTo>
                  <a:pt x="2522" y="3774"/>
                </a:lnTo>
                <a:lnTo>
                  <a:pt x="2619" y="3732"/>
                </a:lnTo>
                <a:lnTo>
                  <a:pt x="2716" y="3688"/>
                </a:lnTo>
                <a:lnTo>
                  <a:pt x="2813" y="3641"/>
                </a:lnTo>
                <a:lnTo>
                  <a:pt x="2910" y="3592"/>
                </a:lnTo>
                <a:lnTo>
                  <a:pt x="3007" y="3541"/>
                </a:lnTo>
                <a:lnTo>
                  <a:pt x="3104" y="3486"/>
                </a:lnTo>
                <a:lnTo>
                  <a:pt x="3201" y="3428"/>
                </a:lnTo>
                <a:lnTo>
                  <a:pt x="3298" y="3367"/>
                </a:lnTo>
                <a:lnTo>
                  <a:pt x="3395" y="3302"/>
                </a:lnTo>
                <a:lnTo>
                  <a:pt x="3492" y="3233"/>
                </a:lnTo>
                <a:lnTo>
                  <a:pt x="3589" y="3161"/>
                </a:lnTo>
                <a:lnTo>
                  <a:pt x="3686" y="3084"/>
                </a:lnTo>
                <a:lnTo>
                  <a:pt x="3783" y="3003"/>
                </a:lnTo>
                <a:lnTo>
                  <a:pt x="3880" y="2916"/>
                </a:lnTo>
                <a:lnTo>
                  <a:pt x="3977" y="2825"/>
                </a:lnTo>
                <a:lnTo>
                  <a:pt x="4074" y="2729"/>
                </a:lnTo>
                <a:lnTo>
                  <a:pt x="4171" y="2627"/>
                </a:lnTo>
                <a:lnTo>
                  <a:pt x="4268" y="2520"/>
                </a:lnTo>
                <a:lnTo>
                  <a:pt x="4365" y="2406"/>
                </a:lnTo>
                <a:lnTo>
                  <a:pt x="4462" y="2286"/>
                </a:lnTo>
                <a:lnTo>
                  <a:pt x="4559" y="2160"/>
                </a:lnTo>
                <a:lnTo>
                  <a:pt x="4656" y="2026"/>
                </a:lnTo>
                <a:lnTo>
                  <a:pt x="4753" y="1885"/>
                </a:lnTo>
                <a:lnTo>
                  <a:pt x="4850" y="1737"/>
                </a:lnTo>
                <a:lnTo>
                  <a:pt x="4947" y="1581"/>
                </a:lnTo>
                <a:lnTo>
                  <a:pt x="5044" y="1416"/>
                </a:lnTo>
                <a:lnTo>
                  <a:pt x="5141" y="1244"/>
                </a:lnTo>
                <a:lnTo>
                  <a:pt x="5238" y="1062"/>
                </a:lnTo>
                <a:lnTo>
                  <a:pt x="5335" y="870"/>
                </a:lnTo>
                <a:lnTo>
                  <a:pt x="5432" y="668"/>
                </a:lnTo>
                <a:lnTo>
                  <a:pt x="5529" y="457"/>
                </a:lnTo>
                <a:lnTo>
                  <a:pt x="5626" y="234"/>
                </a:lnTo>
                <a:lnTo>
                  <a:pt x="5723" y="0"/>
                </a:lnTo>
                <a:lnTo>
                  <a:pt x="5723" y="2914"/>
                </a:lnTo>
                <a:lnTo>
                  <a:pt x="5626" y="2969"/>
                </a:lnTo>
                <a:lnTo>
                  <a:pt x="5529" y="3022"/>
                </a:lnTo>
                <a:lnTo>
                  <a:pt x="5432" y="3075"/>
                </a:lnTo>
                <a:lnTo>
                  <a:pt x="5335" y="3126"/>
                </a:lnTo>
                <a:lnTo>
                  <a:pt x="5238" y="3177"/>
                </a:lnTo>
                <a:lnTo>
                  <a:pt x="5141" y="3227"/>
                </a:lnTo>
                <a:lnTo>
                  <a:pt x="5044" y="3276"/>
                </a:lnTo>
                <a:lnTo>
                  <a:pt x="4947" y="3324"/>
                </a:lnTo>
                <a:lnTo>
                  <a:pt x="4850" y="3372"/>
                </a:lnTo>
                <a:lnTo>
                  <a:pt x="4753" y="3418"/>
                </a:lnTo>
                <a:lnTo>
                  <a:pt x="4656" y="3464"/>
                </a:lnTo>
                <a:lnTo>
                  <a:pt x="4559" y="3510"/>
                </a:lnTo>
                <a:lnTo>
                  <a:pt x="4462" y="3555"/>
                </a:lnTo>
                <a:lnTo>
                  <a:pt x="4365" y="3599"/>
                </a:lnTo>
                <a:lnTo>
                  <a:pt x="4268" y="3643"/>
                </a:lnTo>
                <a:lnTo>
                  <a:pt x="4171" y="3686"/>
                </a:lnTo>
                <a:lnTo>
                  <a:pt x="4074" y="3729"/>
                </a:lnTo>
                <a:lnTo>
                  <a:pt x="3977" y="3771"/>
                </a:lnTo>
                <a:lnTo>
                  <a:pt x="3880" y="3813"/>
                </a:lnTo>
                <a:lnTo>
                  <a:pt x="3783" y="3854"/>
                </a:lnTo>
                <a:lnTo>
                  <a:pt x="3686" y="3895"/>
                </a:lnTo>
                <a:lnTo>
                  <a:pt x="3589" y="3935"/>
                </a:lnTo>
                <a:lnTo>
                  <a:pt x="3492" y="3975"/>
                </a:lnTo>
                <a:lnTo>
                  <a:pt x="3395" y="4014"/>
                </a:lnTo>
                <a:lnTo>
                  <a:pt x="3298" y="4053"/>
                </a:lnTo>
                <a:lnTo>
                  <a:pt x="3201" y="4091"/>
                </a:lnTo>
                <a:lnTo>
                  <a:pt x="3104" y="4129"/>
                </a:lnTo>
                <a:lnTo>
                  <a:pt x="3007" y="4165"/>
                </a:lnTo>
                <a:lnTo>
                  <a:pt x="2910" y="4202"/>
                </a:lnTo>
                <a:lnTo>
                  <a:pt x="2813" y="4237"/>
                </a:lnTo>
                <a:lnTo>
                  <a:pt x="2716" y="4272"/>
                </a:lnTo>
                <a:lnTo>
                  <a:pt x="2619" y="4305"/>
                </a:lnTo>
                <a:lnTo>
                  <a:pt x="2522" y="4338"/>
                </a:lnTo>
                <a:lnTo>
                  <a:pt x="2426" y="4370"/>
                </a:lnTo>
                <a:lnTo>
                  <a:pt x="2329" y="4401"/>
                </a:lnTo>
                <a:lnTo>
                  <a:pt x="2231" y="4432"/>
                </a:lnTo>
                <a:lnTo>
                  <a:pt x="2134" y="4461"/>
                </a:lnTo>
                <a:lnTo>
                  <a:pt x="2038" y="4489"/>
                </a:lnTo>
                <a:lnTo>
                  <a:pt x="1941" y="4516"/>
                </a:lnTo>
                <a:lnTo>
                  <a:pt x="1844" y="4542"/>
                </a:lnTo>
                <a:lnTo>
                  <a:pt x="1747" y="4568"/>
                </a:lnTo>
                <a:lnTo>
                  <a:pt x="1650" y="4592"/>
                </a:lnTo>
                <a:lnTo>
                  <a:pt x="1553" y="4616"/>
                </a:lnTo>
                <a:lnTo>
                  <a:pt x="1456" y="4638"/>
                </a:lnTo>
                <a:lnTo>
                  <a:pt x="1359" y="4660"/>
                </a:lnTo>
                <a:lnTo>
                  <a:pt x="1262" y="4681"/>
                </a:lnTo>
                <a:lnTo>
                  <a:pt x="1165" y="4701"/>
                </a:lnTo>
                <a:lnTo>
                  <a:pt x="1067" y="4720"/>
                </a:lnTo>
                <a:lnTo>
                  <a:pt x="970" y="4738"/>
                </a:lnTo>
                <a:lnTo>
                  <a:pt x="873" y="4756"/>
                </a:lnTo>
                <a:lnTo>
                  <a:pt x="776" y="4772"/>
                </a:lnTo>
                <a:lnTo>
                  <a:pt x="679" y="4788"/>
                </a:lnTo>
                <a:lnTo>
                  <a:pt x="582" y="4804"/>
                </a:lnTo>
                <a:lnTo>
                  <a:pt x="485" y="4818"/>
                </a:lnTo>
                <a:lnTo>
                  <a:pt x="388" y="4832"/>
                </a:lnTo>
                <a:lnTo>
                  <a:pt x="291" y="4846"/>
                </a:lnTo>
                <a:lnTo>
                  <a:pt x="194" y="4859"/>
                </a:lnTo>
                <a:lnTo>
                  <a:pt x="97" y="4871"/>
                </a:lnTo>
                <a:lnTo>
                  <a:pt x="0" y="4882"/>
                </a:lnTo>
                <a:lnTo>
                  <a:pt x="0" y="4437"/>
                </a:lnTo>
                <a:close/>
              </a:path>
            </a:pathLst>
          </a:custGeom>
          <a:solidFill>
            <a:srgbClr val="56B4E9">
              <a:alpha val="1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628920" y="3918960"/>
            <a:ext cx="2060280" cy="1382760"/>
          </a:xfrm>
          <a:custGeom>
            <a:avLst/>
            <a:gdLst/>
            <a:ahLst/>
            <a:rect l="0" t="0" r="r" b="b"/>
            <a:pathLst>
              <a:path w="5723" h="3841">
                <a:moveTo>
                  <a:pt x="0" y="3217"/>
                </a:moveTo>
                <a:lnTo>
                  <a:pt x="97" y="3197"/>
                </a:lnTo>
                <a:lnTo>
                  <a:pt x="194" y="3176"/>
                </a:lnTo>
                <a:lnTo>
                  <a:pt x="291" y="3155"/>
                </a:lnTo>
                <a:lnTo>
                  <a:pt x="388" y="3133"/>
                </a:lnTo>
                <a:lnTo>
                  <a:pt x="485" y="3111"/>
                </a:lnTo>
                <a:lnTo>
                  <a:pt x="582" y="3089"/>
                </a:lnTo>
                <a:lnTo>
                  <a:pt x="679" y="3065"/>
                </a:lnTo>
                <a:lnTo>
                  <a:pt x="776" y="3042"/>
                </a:lnTo>
                <a:lnTo>
                  <a:pt x="873" y="3018"/>
                </a:lnTo>
                <a:lnTo>
                  <a:pt x="970" y="2993"/>
                </a:lnTo>
                <a:lnTo>
                  <a:pt x="1067" y="2968"/>
                </a:lnTo>
                <a:lnTo>
                  <a:pt x="1165" y="2942"/>
                </a:lnTo>
                <a:lnTo>
                  <a:pt x="1262" y="2915"/>
                </a:lnTo>
                <a:lnTo>
                  <a:pt x="1359" y="2888"/>
                </a:lnTo>
                <a:lnTo>
                  <a:pt x="1456" y="2860"/>
                </a:lnTo>
                <a:lnTo>
                  <a:pt x="1553" y="2831"/>
                </a:lnTo>
                <a:lnTo>
                  <a:pt x="1650" y="2801"/>
                </a:lnTo>
                <a:lnTo>
                  <a:pt x="1747" y="2771"/>
                </a:lnTo>
                <a:lnTo>
                  <a:pt x="1844" y="2739"/>
                </a:lnTo>
                <a:lnTo>
                  <a:pt x="1941" y="2707"/>
                </a:lnTo>
                <a:lnTo>
                  <a:pt x="2038" y="2674"/>
                </a:lnTo>
                <a:lnTo>
                  <a:pt x="2134" y="2640"/>
                </a:lnTo>
                <a:lnTo>
                  <a:pt x="2231" y="2604"/>
                </a:lnTo>
                <a:lnTo>
                  <a:pt x="2329" y="2568"/>
                </a:lnTo>
                <a:lnTo>
                  <a:pt x="2426" y="2529"/>
                </a:lnTo>
                <a:lnTo>
                  <a:pt x="2522" y="2490"/>
                </a:lnTo>
                <a:lnTo>
                  <a:pt x="2619" y="2449"/>
                </a:lnTo>
                <a:lnTo>
                  <a:pt x="2716" y="2407"/>
                </a:lnTo>
                <a:lnTo>
                  <a:pt x="2813" y="2364"/>
                </a:lnTo>
                <a:lnTo>
                  <a:pt x="2910" y="2319"/>
                </a:lnTo>
                <a:lnTo>
                  <a:pt x="3007" y="2272"/>
                </a:lnTo>
                <a:lnTo>
                  <a:pt x="3104" y="2224"/>
                </a:lnTo>
                <a:lnTo>
                  <a:pt x="3201" y="2173"/>
                </a:lnTo>
                <a:lnTo>
                  <a:pt x="3298" y="2121"/>
                </a:lnTo>
                <a:lnTo>
                  <a:pt x="3395" y="2067"/>
                </a:lnTo>
                <a:lnTo>
                  <a:pt x="3492" y="2011"/>
                </a:lnTo>
                <a:lnTo>
                  <a:pt x="3589" y="1953"/>
                </a:lnTo>
                <a:lnTo>
                  <a:pt x="3686" y="1892"/>
                </a:lnTo>
                <a:lnTo>
                  <a:pt x="3783" y="1830"/>
                </a:lnTo>
                <a:lnTo>
                  <a:pt x="3880" y="1765"/>
                </a:lnTo>
                <a:lnTo>
                  <a:pt x="3977" y="1697"/>
                </a:lnTo>
                <a:lnTo>
                  <a:pt x="4074" y="1628"/>
                </a:lnTo>
                <a:lnTo>
                  <a:pt x="4171" y="1556"/>
                </a:lnTo>
                <a:lnTo>
                  <a:pt x="4268" y="1481"/>
                </a:lnTo>
                <a:lnTo>
                  <a:pt x="4365" y="1403"/>
                </a:lnTo>
                <a:lnTo>
                  <a:pt x="4462" y="1323"/>
                </a:lnTo>
                <a:lnTo>
                  <a:pt x="4559" y="1240"/>
                </a:lnTo>
                <a:lnTo>
                  <a:pt x="4656" y="1154"/>
                </a:lnTo>
                <a:lnTo>
                  <a:pt x="4753" y="1066"/>
                </a:lnTo>
                <a:lnTo>
                  <a:pt x="4850" y="974"/>
                </a:lnTo>
                <a:lnTo>
                  <a:pt x="4947" y="879"/>
                </a:lnTo>
                <a:lnTo>
                  <a:pt x="5044" y="781"/>
                </a:lnTo>
                <a:lnTo>
                  <a:pt x="5141" y="680"/>
                </a:lnTo>
                <a:lnTo>
                  <a:pt x="5238" y="575"/>
                </a:lnTo>
                <a:lnTo>
                  <a:pt x="5335" y="467"/>
                </a:lnTo>
                <a:lnTo>
                  <a:pt x="5432" y="356"/>
                </a:lnTo>
                <a:lnTo>
                  <a:pt x="5529" y="241"/>
                </a:lnTo>
                <a:lnTo>
                  <a:pt x="5626" y="123"/>
                </a:lnTo>
                <a:lnTo>
                  <a:pt x="5723" y="0"/>
                </a:lnTo>
                <a:lnTo>
                  <a:pt x="5723" y="1928"/>
                </a:lnTo>
                <a:lnTo>
                  <a:pt x="5626" y="1969"/>
                </a:lnTo>
                <a:lnTo>
                  <a:pt x="5529" y="2010"/>
                </a:lnTo>
                <a:lnTo>
                  <a:pt x="5432" y="2051"/>
                </a:lnTo>
                <a:lnTo>
                  <a:pt x="5335" y="2091"/>
                </a:lnTo>
                <a:lnTo>
                  <a:pt x="5238" y="2130"/>
                </a:lnTo>
                <a:lnTo>
                  <a:pt x="5141" y="2170"/>
                </a:lnTo>
                <a:lnTo>
                  <a:pt x="5044" y="2209"/>
                </a:lnTo>
                <a:lnTo>
                  <a:pt x="4947" y="2248"/>
                </a:lnTo>
                <a:lnTo>
                  <a:pt x="4850" y="2286"/>
                </a:lnTo>
                <a:lnTo>
                  <a:pt x="4753" y="2325"/>
                </a:lnTo>
                <a:lnTo>
                  <a:pt x="4656" y="2363"/>
                </a:lnTo>
                <a:lnTo>
                  <a:pt x="4559" y="2401"/>
                </a:lnTo>
                <a:lnTo>
                  <a:pt x="4462" y="2438"/>
                </a:lnTo>
                <a:lnTo>
                  <a:pt x="4268" y="2513"/>
                </a:lnTo>
                <a:lnTo>
                  <a:pt x="4171" y="2550"/>
                </a:lnTo>
                <a:lnTo>
                  <a:pt x="4074" y="2588"/>
                </a:lnTo>
                <a:lnTo>
                  <a:pt x="3880" y="2661"/>
                </a:lnTo>
                <a:lnTo>
                  <a:pt x="3783" y="2698"/>
                </a:lnTo>
                <a:lnTo>
                  <a:pt x="3686" y="2734"/>
                </a:lnTo>
                <a:lnTo>
                  <a:pt x="3589" y="2770"/>
                </a:lnTo>
                <a:lnTo>
                  <a:pt x="3492" y="2806"/>
                </a:lnTo>
                <a:lnTo>
                  <a:pt x="3395" y="2841"/>
                </a:lnTo>
                <a:lnTo>
                  <a:pt x="3298" y="2877"/>
                </a:lnTo>
                <a:lnTo>
                  <a:pt x="3201" y="2912"/>
                </a:lnTo>
                <a:lnTo>
                  <a:pt x="3104" y="2947"/>
                </a:lnTo>
                <a:lnTo>
                  <a:pt x="3007" y="2982"/>
                </a:lnTo>
                <a:lnTo>
                  <a:pt x="2910" y="3017"/>
                </a:lnTo>
                <a:lnTo>
                  <a:pt x="2813" y="3051"/>
                </a:lnTo>
                <a:lnTo>
                  <a:pt x="2716" y="3085"/>
                </a:lnTo>
                <a:lnTo>
                  <a:pt x="2619" y="3118"/>
                </a:lnTo>
                <a:lnTo>
                  <a:pt x="2522" y="3152"/>
                </a:lnTo>
                <a:lnTo>
                  <a:pt x="2426" y="3185"/>
                </a:lnTo>
                <a:lnTo>
                  <a:pt x="2329" y="3217"/>
                </a:lnTo>
                <a:lnTo>
                  <a:pt x="2231" y="3249"/>
                </a:lnTo>
                <a:lnTo>
                  <a:pt x="2134" y="3281"/>
                </a:lnTo>
                <a:lnTo>
                  <a:pt x="2038" y="3312"/>
                </a:lnTo>
                <a:lnTo>
                  <a:pt x="1941" y="3342"/>
                </a:lnTo>
                <a:lnTo>
                  <a:pt x="1844" y="3373"/>
                </a:lnTo>
                <a:lnTo>
                  <a:pt x="1747" y="3402"/>
                </a:lnTo>
                <a:lnTo>
                  <a:pt x="1650" y="3431"/>
                </a:lnTo>
                <a:lnTo>
                  <a:pt x="1553" y="3460"/>
                </a:lnTo>
                <a:lnTo>
                  <a:pt x="1456" y="3488"/>
                </a:lnTo>
                <a:lnTo>
                  <a:pt x="1359" y="3515"/>
                </a:lnTo>
                <a:lnTo>
                  <a:pt x="1262" y="3542"/>
                </a:lnTo>
                <a:lnTo>
                  <a:pt x="1165" y="3568"/>
                </a:lnTo>
                <a:lnTo>
                  <a:pt x="1067" y="3594"/>
                </a:lnTo>
                <a:lnTo>
                  <a:pt x="970" y="3619"/>
                </a:lnTo>
                <a:lnTo>
                  <a:pt x="873" y="3644"/>
                </a:lnTo>
                <a:lnTo>
                  <a:pt x="776" y="3668"/>
                </a:lnTo>
                <a:lnTo>
                  <a:pt x="679" y="3691"/>
                </a:lnTo>
                <a:lnTo>
                  <a:pt x="582" y="3714"/>
                </a:lnTo>
                <a:lnTo>
                  <a:pt x="485" y="3737"/>
                </a:lnTo>
                <a:lnTo>
                  <a:pt x="388" y="3759"/>
                </a:lnTo>
                <a:lnTo>
                  <a:pt x="291" y="3780"/>
                </a:lnTo>
                <a:lnTo>
                  <a:pt x="194" y="3801"/>
                </a:lnTo>
                <a:lnTo>
                  <a:pt x="97" y="3821"/>
                </a:lnTo>
                <a:lnTo>
                  <a:pt x="0" y="3841"/>
                </a:lnTo>
                <a:lnTo>
                  <a:pt x="0" y="3217"/>
                </a:lnTo>
                <a:close/>
              </a:path>
            </a:pathLst>
          </a:custGeom>
          <a:solidFill>
            <a:srgbClr val="0072B2">
              <a:alpha val="1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628920" y="3670560"/>
            <a:ext cx="2060280" cy="1310040"/>
          </a:xfrm>
          <a:custGeom>
            <a:avLst/>
            <a:gdLst/>
            <a:ahLst/>
            <a:rect l="0" t="0" r="r" b="b"/>
            <a:pathLst>
              <a:path w="5723" h="3639">
                <a:moveTo>
                  <a:pt x="0" y="1300"/>
                </a:moveTo>
                <a:lnTo>
                  <a:pt x="97" y="1316"/>
                </a:lnTo>
                <a:lnTo>
                  <a:pt x="194" y="1332"/>
                </a:lnTo>
                <a:lnTo>
                  <a:pt x="291" y="1347"/>
                </a:lnTo>
                <a:lnTo>
                  <a:pt x="388" y="1362"/>
                </a:lnTo>
                <a:lnTo>
                  <a:pt x="485" y="1377"/>
                </a:lnTo>
                <a:lnTo>
                  <a:pt x="582" y="1390"/>
                </a:lnTo>
                <a:lnTo>
                  <a:pt x="679" y="1404"/>
                </a:lnTo>
                <a:lnTo>
                  <a:pt x="776" y="1416"/>
                </a:lnTo>
                <a:lnTo>
                  <a:pt x="873" y="1428"/>
                </a:lnTo>
                <a:lnTo>
                  <a:pt x="970" y="1440"/>
                </a:lnTo>
                <a:lnTo>
                  <a:pt x="1067" y="1451"/>
                </a:lnTo>
                <a:lnTo>
                  <a:pt x="1165" y="1461"/>
                </a:lnTo>
                <a:lnTo>
                  <a:pt x="1262" y="1470"/>
                </a:lnTo>
                <a:lnTo>
                  <a:pt x="1359" y="1478"/>
                </a:lnTo>
                <a:lnTo>
                  <a:pt x="1456" y="1486"/>
                </a:lnTo>
                <a:lnTo>
                  <a:pt x="1553" y="1492"/>
                </a:lnTo>
                <a:lnTo>
                  <a:pt x="1650" y="1498"/>
                </a:lnTo>
                <a:lnTo>
                  <a:pt x="1747" y="1502"/>
                </a:lnTo>
                <a:lnTo>
                  <a:pt x="1844" y="1506"/>
                </a:lnTo>
                <a:lnTo>
                  <a:pt x="1941" y="1508"/>
                </a:lnTo>
                <a:lnTo>
                  <a:pt x="2038" y="1508"/>
                </a:lnTo>
                <a:lnTo>
                  <a:pt x="2134" y="1508"/>
                </a:lnTo>
                <a:lnTo>
                  <a:pt x="2231" y="1505"/>
                </a:lnTo>
                <a:lnTo>
                  <a:pt x="2329" y="1502"/>
                </a:lnTo>
                <a:lnTo>
                  <a:pt x="2426" y="1496"/>
                </a:lnTo>
                <a:lnTo>
                  <a:pt x="2522" y="1489"/>
                </a:lnTo>
                <a:lnTo>
                  <a:pt x="2619" y="1479"/>
                </a:lnTo>
                <a:lnTo>
                  <a:pt x="2716" y="1468"/>
                </a:lnTo>
                <a:lnTo>
                  <a:pt x="2813" y="1455"/>
                </a:lnTo>
                <a:lnTo>
                  <a:pt x="2910" y="1439"/>
                </a:lnTo>
                <a:lnTo>
                  <a:pt x="3007" y="1422"/>
                </a:lnTo>
                <a:lnTo>
                  <a:pt x="3104" y="1402"/>
                </a:lnTo>
                <a:lnTo>
                  <a:pt x="3201" y="1379"/>
                </a:lnTo>
                <a:lnTo>
                  <a:pt x="3298" y="1355"/>
                </a:lnTo>
                <a:lnTo>
                  <a:pt x="3395" y="1327"/>
                </a:lnTo>
                <a:lnTo>
                  <a:pt x="3492" y="1298"/>
                </a:lnTo>
                <a:lnTo>
                  <a:pt x="3589" y="1266"/>
                </a:lnTo>
                <a:lnTo>
                  <a:pt x="3686" y="1231"/>
                </a:lnTo>
                <a:lnTo>
                  <a:pt x="3783" y="1194"/>
                </a:lnTo>
                <a:lnTo>
                  <a:pt x="3880" y="1155"/>
                </a:lnTo>
                <a:lnTo>
                  <a:pt x="3977" y="1113"/>
                </a:lnTo>
                <a:lnTo>
                  <a:pt x="4074" y="1070"/>
                </a:lnTo>
                <a:lnTo>
                  <a:pt x="4171" y="1023"/>
                </a:lnTo>
                <a:lnTo>
                  <a:pt x="4268" y="975"/>
                </a:lnTo>
                <a:lnTo>
                  <a:pt x="4365" y="924"/>
                </a:lnTo>
                <a:lnTo>
                  <a:pt x="4462" y="871"/>
                </a:lnTo>
                <a:lnTo>
                  <a:pt x="4559" y="816"/>
                </a:lnTo>
                <a:lnTo>
                  <a:pt x="4656" y="759"/>
                </a:lnTo>
                <a:lnTo>
                  <a:pt x="4753" y="700"/>
                </a:lnTo>
                <a:lnTo>
                  <a:pt x="4850" y="638"/>
                </a:lnTo>
                <a:lnTo>
                  <a:pt x="4947" y="575"/>
                </a:lnTo>
                <a:lnTo>
                  <a:pt x="5044" y="510"/>
                </a:lnTo>
                <a:lnTo>
                  <a:pt x="5141" y="443"/>
                </a:lnTo>
                <a:lnTo>
                  <a:pt x="5238" y="374"/>
                </a:lnTo>
                <a:lnTo>
                  <a:pt x="5335" y="303"/>
                </a:lnTo>
                <a:lnTo>
                  <a:pt x="5432" y="230"/>
                </a:lnTo>
                <a:lnTo>
                  <a:pt x="5529" y="155"/>
                </a:lnTo>
                <a:lnTo>
                  <a:pt x="5626" y="78"/>
                </a:lnTo>
                <a:lnTo>
                  <a:pt x="5723" y="0"/>
                </a:lnTo>
                <a:lnTo>
                  <a:pt x="5723" y="2843"/>
                </a:lnTo>
                <a:lnTo>
                  <a:pt x="5626" y="2835"/>
                </a:lnTo>
                <a:lnTo>
                  <a:pt x="5529" y="2827"/>
                </a:lnTo>
                <a:lnTo>
                  <a:pt x="5432" y="2820"/>
                </a:lnTo>
                <a:lnTo>
                  <a:pt x="5335" y="2812"/>
                </a:lnTo>
                <a:lnTo>
                  <a:pt x="5238" y="2805"/>
                </a:lnTo>
                <a:lnTo>
                  <a:pt x="5141" y="2799"/>
                </a:lnTo>
                <a:lnTo>
                  <a:pt x="5044" y="2793"/>
                </a:lnTo>
                <a:lnTo>
                  <a:pt x="4947" y="2788"/>
                </a:lnTo>
                <a:lnTo>
                  <a:pt x="4850" y="2783"/>
                </a:lnTo>
                <a:lnTo>
                  <a:pt x="4753" y="2779"/>
                </a:lnTo>
                <a:lnTo>
                  <a:pt x="4656" y="2775"/>
                </a:lnTo>
                <a:lnTo>
                  <a:pt x="4559" y="2772"/>
                </a:lnTo>
                <a:lnTo>
                  <a:pt x="4462" y="2770"/>
                </a:lnTo>
                <a:lnTo>
                  <a:pt x="4365" y="2769"/>
                </a:lnTo>
                <a:lnTo>
                  <a:pt x="4268" y="2769"/>
                </a:lnTo>
                <a:lnTo>
                  <a:pt x="4171" y="2769"/>
                </a:lnTo>
                <a:lnTo>
                  <a:pt x="4074" y="2771"/>
                </a:lnTo>
                <a:lnTo>
                  <a:pt x="3977" y="2773"/>
                </a:lnTo>
                <a:lnTo>
                  <a:pt x="3880" y="2777"/>
                </a:lnTo>
                <a:lnTo>
                  <a:pt x="3783" y="2782"/>
                </a:lnTo>
                <a:lnTo>
                  <a:pt x="3686" y="2788"/>
                </a:lnTo>
                <a:lnTo>
                  <a:pt x="3589" y="2796"/>
                </a:lnTo>
                <a:lnTo>
                  <a:pt x="3492" y="2805"/>
                </a:lnTo>
                <a:lnTo>
                  <a:pt x="3395" y="2815"/>
                </a:lnTo>
                <a:lnTo>
                  <a:pt x="3298" y="2826"/>
                </a:lnTo>
                <a:lnTo>
                  <a:pt x="3201" y="2839"/>
                </a:lnTo>
                <a:lnTo>
                  <a:pt x="3104" y="2853"/>
                </a:lnTo>
                <a:lnTo>
                  <a:pt x="3007" y="2868"/>
                </a:lnTo>
                <a:lnTo>
                  <a:pt x="2910" y="2885"/>
                </a:lnTo>
                <a:lnTo>
                  <a:pt x="2813" y="2903"/>
                </a:lnTo>
                <a:lnTo>
                  <a:pt x="2716" y="2921"/>
                </a:lnTo>
                <a:lnTo>
                  <a:pt x="2619" y="2942"/>
                </a:lnTo>
                <a:lnTo>
                  <a:pt x="2522" y="2963"/>
                </a:lnTo>
                <a:lnTo>
                  <a:pt x="2426" y="2985"/>
                </a:lnTo>
                <a:lnTo>
                  <a:pt x="2329" y="3007"/>
                </a:lnTo>
                <a:lnTo>
                  <a:pt x="2231" y="3031"/>
                </a:lnTo>
                <a:lnTo>
                  <a:pt x="2134" y="3055"/>
                </a:lnTo>
                <a:lnTo>
                  <a:pt x="2038" y="3080"/>
                </a:lnTo>
                <a:lnTo>
                  <a:pt x="1941" y="3106"/>
                </a:lnTo>
                <a:lnTo>
                  <a:pt x="1844" y="3132"/>
                </a:lnTo>
                <a:lnTo>
                  <a:pt x="1747" y="3158"/>
                </a:lnTo>
                <a:lnTo>
                  <a:pt x="1650" y="3185"/>
                </a:lnTo>
                <a:lnTo>
                  <a:pt x="1553" y="3211"/>
                </a:lnTo>
                <a:lnTo>
                  <a:pt x="1456" y="3238"/>
                </a:lnTo>
                <a:lnTo>
                  <a:pt x="1359" y="3266"/>
                </a:lnTo>
                <a:lnTo>
                  <a:pt x="1262" y="3293"/>
                </a:lnTo>
                <a:lnTo>
                  <a:pt x="1165" y="3320"/>
                </a:lnTo>
                <a:lnTo>
                  <a:pt x="1067" y="3347"/>
                </a:lnTo>
                <a:lnTo>
                  <a:pt x="873" y="3402"/>
                </a:lnTo>
                <a:lnTo>
                  <a:pt x="776" y="3429"/>
                </a:lnTo>
                <a:lnTo>
                  <a:pt x="582" y="3483"/>
                </a:lnTo>
                <a:lnTo>
                  <a:pt x="485" y="3509"/>
                </a:lnTo>
                <a:lnTo>
                  <a:pt x="388" y="3535"/>
                </a:lnTo>
                <a:lnTo>
                  <a:pt x="291" y="3561"/>
                </a:lnTo>
                <a:lnTo>
                  <a:pt x="194" y="3587"/>
                </a:lnTo>
                <a:lnTo>
                  <a:pt x="97" y="3613"/>
                </a:lnTo>
                <a:lnTo>
                  <a:pt x="0" y="3639"/>
                </a:lnTo>
                <a:lnTo>
                  <a:pt x="0" y="1300"/>
                </a:lnTo>
                <a:close/>
              </a:path>
            </a:pathLst>
          </a:custGeom>
          <a:solidFill>
            <a:srgbClr val="D55E00">
              <a:alpha val="1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28920" y="4342680"/>
            <a:ext cx="2060280" cy="1065240"/>
          </a:xfrm>
          <a:custGeom>
            <a:avLst/>
            <a:gdLst/>
            <a:ahLst/>
            <a:rect l="0" t="0" r="r" b="b"/>
            <a:pathLst>
              <a:path fill="none" w="5723" h="2959">
                <a:moveTo>
                  <a:pt x="0" y="2959"/>
                </a:moveTo>
                <a:lnTo>
                  <a:pt x="97" y="2945"/>
                </a:lnTo>
                <a:lnTo>
                  <a:pt x="194" y="2929"/>
                </a:lnTo>
                <a:lnTo>
                  <a:pt x="291" y="2913"/>
                </a:lnTo>
                <a:lnTo>
                  <a:pt x="388" y="2897"/>
                </a:lnTo>
                <a:lnTo>
                  <a:pt x="485" y="2880"/>
                </a:lnTo>
                <a:lnTo>
                  <a:pt x="582" y="2862"/>
                </a:lnTo>
                <a:lnTo>
                  <a:pt x="679" y="2844"/>
                </a:lnTo>
                <a:lnTo>
                  <a:pt x="776" y="2825"/>
                </a:lnTo>
                <a:lnTo>
                  <a:pt x="873" y="2805"/>
                </a:lnTo>
                <a:lnTo>
                  <a:pt x="970" y="2785"/>
                </a:lnTo>
                <a:lnTo>
                  <a:pt x="1067" y="2764"/>
                </a:lnTo>
                <a:lnTo>
                  <a:pt x="1165" y="2742"/>
                </a:lnTo>
                <a:lnTo>
                  <a:pt x="1262" y="2719"/>
                </a:lnTo>
                <a:lnTo>
                  <a:pt x="1359" y="2696"/>
                </a:lnTo>
                <a:lnTo>
                  <a:pt x="1456" y="2671"/>
                </a:lnTo>
                <a:lnTo>
                  <a:pt x="1553" y="2646"/>
                </a:lnTo>
                <a:lnTo>
                  <a:pt x="1650" y="2620"/>
                </a:lnTo>
                <a:lnTo>
                  <a:pt x="1747" y="2593"/>
                </a:lnTo>
                <a:lnTo>
                  <a:pt x="1844" y="2565"/>
                </a:lnTo>
                <a:lnTo>
                  <a:pt x="1941" y="2535"/>
                </a:lnTo>
                <a:lnTo>
                  <a:pt x="2038" y="2505"/>
                </a:lnTo>
                <a:lnTo>
                  <a:pt x="2134" y="2474"/>
                </a:lnTo>
                <a:lnTo>
                  <a:pt x="2231" y="2441"/>
                </a:lnTo>
                <a:lnTo>
                  <a:pt x="2329" y="2407"/>
                </a:lnTo>
                <a:lnTo>
                  <a:pt x="2426" y="2372"/>
                </a:lnTo>
                <a:lnTo>
                  <a:pt x="2522" y="2336"/>
                </a:lnTo>
                <a:lnTo>
                  <a:pt x="2619" y="2299"/>
                </a:lnTo>
                <a:lnTo>
                  <a:pt x="2716" y="2260"/>
                </a:lnTo>
                <a:lnTo>
                  <a:pt x="2813" y="2219"/>
                </a:lnTo>
                <a:lnTo>
                  <a:pt x="2910" y="2177"/>
                </a:lnTo>
                <a:lnTo>
                  <a:pt x="3007" y="2134"/>
                </a:lnTo>
                <a:lnTo>
                  <a:pt x="3104" y="2089"/>
                </a:lnTo>
                <a:lnTo>
                  <a:pt x="3201" y="2042"/>
                </a:lnTo>
                <a:lnTo>
                  <a:pt x="3298" y="1994"/>
                </a:lnTo>
                <a:lnTo>
                  <a:pt x="3395" y="1944"/>
                </a:lnTo>
                <a:lnTo>
                  <a:pt x="3492" y="1892"/>
                </a:lnTo>
                <a:lnTo>
                  <a:pt x="3589" y="1838"/>
                </a:lnTo>
                <a:lnTo>
                  <a:pt x="3686" y="1782"/>
                </a:lnTo>
                <a:lnTo>
                  <a:pt x="3783" y="1724"/>
                </a:lnTo>
                <a:lnTo>
                  <a:pt x="3880" y="1665"/>
                </a:lnTo>
                <a:lnTo>
                  <a:pt x="3977" y="1602"/>
                </a:lnTo>
                <a:lnTo>
                  <a:pt x="4074" y="1538"/>
                </a:lnTo>
                <a:lnTo>
                  <a:pt x="4171" y="1471"/>
                </a:lnTo>
                <a:lnTo>
                  <a:pt x="4268" y="1402"/>
                </a:lnTo>
                <a:lnTo>
                  <a:pt x="4365" y="1330"/>
                </a:lnTo>
                <a:lnTo>
                  <a:pt x="4462" y="1256"/>
                </a:lnTo>
                <a:lnTo>
                  <a:pt x="4559" y="1178"/>
                </a:lnTo>
                <a:lnTo>
                  <a:pt x="4656" y="1098"/>
                </a:lnTo>
                <a:lnTo>
                  <a:pt x="4753" y="1015"/>
                </a:lnTo>
                <a:lnTo>
                  <a:pt x="4850" y="929"/>
                </a:lnTo>
                <a:lnTo>
                  <a:pt x="4947" y="840"/>
                </a:lnTo>
                <a:lnTo>
                  <a:pt x="5044" y="748"/>
                </a:lnTo>
                <a:lnTo>
                  <a:pt x="5141" y="652"/>
                </a:lnTo>
                <a:lnTo>
                  <a:pt x="5238" y="553"/>
                </a:lnTo>
                <a:lnTo>
                  <a:pt x="5335" y="450"/>
                </a:lnTo>
                <a:lnTo>
                  <a:pt x="5432" y="344"/>
                </a:lnTo>
                <a:lnTo>
                  <a:pt x="5529" y="233"/>
                </a:lnTo>
                <a:lnTo>
                  <a:pt x="5626" y="119"/>
                </a:lnTo>
                <a:lnTo>
                  <a:pt x="5723" y="0"/>
                </a:lnTo>
              </a:path>
            </a:pathLst>
          </a:custGeom>
          <a:ln w="18720">
            <a:solidFill>
              <a:srgbClr val="56B4E9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628920" y="4313880"/>
            <a:ext cx="2060280" cy="893520"/>
          </a:xfrm>
          <a:custGeom>
            <a:avLst/>
            <a:gdLst/>
            <a:ahLst/>
            <a:rect l="0" t="0" r="r" b="b"/>
            <a:pathLst>
              <a:path fill="none" w="5723" h="2482">
                <a:moveTo>
                  <a:pt x="0" y="2482"/>
                </a:moveTo>
                <a:lnTo>
                  <a:pt x="97" y="2461"/>
                </a:lnTo>
                <a:lnTo>
                  <a:pt x="194" y="2439"/>
                </a:lnTo>
                <a:lnTo>
                  <a:pt x="291" y="2417"/>
                </a:lnTo>
                <a:lnTo>
                  <a:pt x="388" y="2395"/>
                </a:lnTo>
                <a:lnTo>
                  <a:pt x="485" y="2372"/>
                </a:lnTo>
                <a:lnTo>
                  <a:pt x="582" y="2348"/>
                </a:lnTo>
                <a:lnTo>
                  <a:pt x="679" y="2324"/>
                </a:lnTo>
                <a:lnTo>
                  <a:pt x="776" y="2300"/>
                </a:lnTo>
                <a:lnTo>
                  <a:pt x="873" y="2275"/>
                </a:lnTo>
                <a:lnTo>
                  <a:pt x="970" y="2249"/>
                </a:lnTo>
                <a:lnTo>
                  <a:pt x="1067" y="2223"/>
                </a:lnTo>
                <a:lnTo>
                  <a:pt x="1165" y="2197"/>
                </a:lnTo>
                <a:lnTo>
                  <a:pt x="1262" y="2170"/>
                </a:lnTo>
                <a:lnTo>
                  <a:pt x="1359" y="2142"/>
                </a:lnTo>
                <a:lnTo>
                  <a:pt x="1456" y="2113"/>
                </a:lnTo>
                <a:lnTo>
                  <a:pt x="1553" y="2084"/>
                </a:lnTo>
                <a:lnTo>
                  <a:pt x="1650" y="2054"/>
                </a:lnTo>
                <a:lnTo>
                  <a:pt x="1747" y="2024"/>
                </a:lnTo>
                <a:lnTo>
                  <a:pt x="1844" y="1993"/>
                </a:lnTo>
                <a:lnTo>
                  <a:pt x="1941" y="1961"/>
                </a:lnTo>
                <a:lnTo>
                  <a:pt x="2038" y="1929"/>
                </a:lnTo>
                <a:lnTo>
                  <a:pt x="2134" y="1896"/>
                </a:lnTo>
                <a:lnTo>
                  <a:pt x="2231" y="1862"/>
                </a:lnTo>
                <a:lnTo>
                  <a:pt x="2329" y="1828"/>
                </a:lnTo>
                <a:lnTo>
                  <a:pt x="2426" y="1792"/>
                </a:lnTo>
                <a:lnTo>
                  <a:pt x="2522" y="1756"/>
                </a:lnTo>
                <a:lnTo>
                  <a:pt x="2619" y="1719"/>
                </a:lnTo>
                <a:lnTo>
                  <a:pt x="2716" y="1682"/>
                </a:lnTo>
                <a:lnTo>
                  <a:pt x="2813" y="1642"/>
                </a:lnTo>
                <a:lnTo>
                  <a:pt x="2910" y="1603"/>
                </a:lnTo>
                <a:lnTo>
                  <a:pt x="3007" y="1563"/>
                </a:lnTo>
                <a:lnTo>
                  <a:pt x="3104" y="1522"/>
                </a:lnTo>
                <a:lnTo>
                  <a:pt x="3201" y="1480"/>
                </a:lnTo>
                <a:lnTo>
                  <a:pt x="3298" y="1437"/>
                </a:lnTo>
                <a:lnTo>
                  <a:pt x="3395" y="1393"/>
                </a:lnTo>
                <a:lnTo>
                  <a:pt x="3492" y="1348"/>
                </a:lnTo>
                <a:lnTo>
                  <a:pt x="3589" y="1302"/>
                </a:lnTo>
                <a:lnTo>
                  <a:pt x="3686" y="1256"/>
                </a:lnTo>
                <a:lnTo>
                  <a:pt x="3783" y="1208"/>
                </a:lnTo>
                <a:lnTo>
                  <a:pt x="3880" y="1159"/>
                </a:lnTo>
                <a:lnTo>
                  <a:pt x="3977" y="1109"/>
                </a:lnTo>
                <a:lnTo>
                  <a:pt x="4074" y="1058"/>
                </a:lnTo>
                <a:lnTo>
                  <a:pt x="4171" y="1006"/>
                </a:lnTo>
                <a:lnTo>
                  <a:pt x="4268" y="953"/>
                </a:lnTo>
                <a:lnTo>
                  <a:pt x="4365" y="898"/>
                </a:lnTo>
                <a:lnTo>
                  <a:pt x="4462" y="843"/>
                </a:lnTo>
                <a:lnTo>
                  <a:pt x="4559" y="786"/>
                </a:lnTo>
                <a:lnTo>
                  <a:pt x="4656" y="728"/>
                </a:lnTo>
                <a:lnTo>
                  <a:pt x="4753" y="669"/>
                </a:lnTo>
                <a:lnTo>
                  <a:pt x="4850" y="608"/>
                </a:lnTo>
                <a:lnTo>
                  <a:pt x="4947" y="546"/>
                </a:lnTo>
                <a:lnTo>
                  <a:pt x="5044" y="483"/>
                </a:lnTo>
                <a:lnTo>
                  <a:pt x="5141" y="418"/>
                </a:lnTo>
                <a:lnTo>
                  <a:pt x="5238" y="352"/>
                </a:lnTo>
                <a:lnTo>
                  <a:pt x="5335" y="285"/>
                </a:lnTo>
                <a:lnTo>
                  <a:pt x="5432" y="216"/>
                </a:lnTo>
                <a:lnTo>
                  <a:pt x="5529" y="145"/>
                </a:lnTo>
                <a:lnTo>
                  <a:pt x="5626" y="73"/>
                </a:lnTo>
                <a:lnTo>
                  <a:pt x="5723" y="0"/>
                </a:lnTo>
              </a:path>
            </a:pathLst>
          </a:custGeom>
          <a:ln w="18720">
            <a:solidFill>
              <a:srgbClr val="0072B2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8920" y="4281120"/>
            <a:ext cx="2060280" cy="371880"/>
          </a:xfrm>
          <a:custGeom>
            <a:avLst/>
            <a:gdLst/>
            <a:ahLst/>
            <a:rect l="0" t="0" r="r" b="b"/>
            <a:pathLst>
              <a:path fill="none" w="5723" h="1033">
                <a:moveTo>
                  <a:pt x="0" y="1033"/>
                </a:moveTo>
                <a:lnTo>
                  <a:pt x="194" y="1003"/>
                </a:lnTo>
                <a:lnTo>
                  <a:pt x="291" y="988"/>
                </a:lnTo>
                <a:lnTo>
                  <a:pt x="388" y="973"/>
                </a:lnTo>
                <a:lnTo>
                  <a:pt x="485" y="958"/>
                </a:lnTo>
                <a:lnTo>
                  <a:pt x="679" y="928"/>
                </a:lnTo>
                <a:lnTo>
                  <a:pt x="776" y="912"/>
                </a:lnTo>
                <a:lnTo>
                  <a:pt x="873" y="897"/>
                </a:lnTo>
                <a:lnTo>
                  <a:pt x="970" y="881"/>
                </a:lnTo>
                <a:lnTo>
                  <a:pt x="1067" y="866"/>
                </a:lnTo>
                <a:lnTo>
                  <a:pt x="1165" y="850"/>
                </a:lnTo>
                <a:lnTo>
                  <a:pt x="1262" y="834"/>
                </a:lnTo>
                <a:lnTo>
                  <a:pt x="1359" y="818"/>
                </a:lnTo>
                <a:lnTo>
                  <a:pt x="1553" y="786"/>
                </a:lnTo>
                <a:lnTo>
                  <a:pt x="1650" y="770"/>
                </a:lnTo>
                <a:lnTo>
                  <a:pt x="1844" y="738"/>
                </a:lnTo>
                <a:lnTo>
                  <a:pt x="1941" y="721"/>
                </a:lnTo>
                <a:lnTo>
                  <a:pt x="2038" y="705"/>
                </a:lnTo>
                <a:lnTo>
                  <a:pt x="2134" y="688"/>
                </a:lnTo>
                <a:lnTo>
                  <a:pt x="2231" y="672"/>
                </a:lnTo>
                <a:lnTo>
                  <a:pt x="2329" y="655"/>
                </a:lnTo>
                <a:lnTo>
                  <a:pt x="2426" y="638"/>
                </a:lnTo>
                <a:lnTo>
                  <a:pt x="2522" y="621"/>
                </a:lnTo>
                <a:lnTo>
                  <a:pt x="2619" y="604"/>
                </a:lnTo>
                <a:lnTo>
                  <a:pt x="2813" y="569"/>
                </a:lnTo>
                <a:lnTo>
                  <a:pt x="2910" y="552"/>
                </a:lnTo>
                <a:lnTo>
                  <a:pt x="3007" y="534"/>
                </a:lnTo>
                <a:lnTo>
                  <a:pt x="3201" y="499"/>
                </a:lnTo>
                <a:lnTo>
                  <a:pt x="3298" y="481"/>
                </a:lnTo>
                <a:lnTo>
                  <a:pt x="3395" y="463"/>
                </a:lnTo>
                <a:lnTo>
                  <a:pt x="3589" y="427"/>
                </a:lnTo>
                <a:lnTo>
                  <a:pt x="3686" y="409"/>
                </a:lnTo>
                <a:lnTo>
                  <a:pt x="3783" y="390"/>
                </a:lnTo>
                <a:lnTo>
                  <a:pt x="3880" y="372"/>
                </a:lnTo>
                <a:lnTo>
                  <a:pt x="4074" y="335"/>
                </a:lnTo>
                <a:lnTo>
                  <a:pt x="4171" y="316"/>
                </a:lnTo>
                <a:lnTo>
                  <a:pt x="4268" y="297"/>
                </a:lnTo>
                <a:lnTo>
                  <a:pt x="4462" y="259"/>
                </a:lnTo>
                <a:lnTo>
                  <a:pt x="4559" y="239"/>
                </a:lnTo>
                <a:lnTo>
                  <a:pt x="4656" y="220"/>
                </a:lnTo>
                <a:lnTo>
                  <a:pt x="4850" y="181"/>
                </a:lnTo>
                <a:lnTo>
                  <a:pt x="4947" y="161"/>
                </a:lnTo>
                <a:lnTo>
                  <a:pt x="5044" y="142"/>
                </a:lnTo>
                <a:lnTo>
                  <a:pt x="5238" y="102"/>
                </a:lnTo>
                <a:lnTo>
                  <a:pt x="5335" y="81"/>
                </a:lnTo>
                <a:lnTo>
                  <a:pt x="5432" y="61"/>
                </a:lnTo>
                <a:lnTo>
                  <a:pt x="5529" y="41"/>
                </a:lnTo>
                <a:lnTo>
                  <a:pt x="5723" y="0"/>
                </a:lnTo>
              </a:path>
            </a:pathLst>
          </a:custGeom>
          <a:ln w="18720">
            <a:solidFill>
              <a:srgbClr val="D55E00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 flipV="1">
            <a:off x="525960" y="3580560"/>
            <a:ext cx="0" cy="19764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3395520" y="11088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42000" y="550188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342000" y="4947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342000" y="43927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94280" y="55522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494280" y="49978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494280" y="44431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494280" y="38887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525960" y="5556960"/>
            <a:ext cx="22658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 flipV="1">
            <a:off x="53856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 flipV="1">
            <a:off x="110124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 flipV="1">
            <a:off x="166392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 flipV="1">
            <a:off x="222660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 flipV="1">
            <a:off x="278928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342000" y="38379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456120" y="5601240"/>
            <a:ext cx="176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-0.4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018800" y="5601240"/>
            <a:ext cx="176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-0.2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600560" y="5601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163240" y="5601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725920" y="5601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54080" y="5747400"/>
            <a:ext cx="29016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Province warmed more than the species' range (°C)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633960" y="3573360"/>
            <a:ext cx="1053360" cy="647280"/>
          </a:xfrm>
          <a:custGeom>
            <a:avLst/>
            <a:gdLst/>
            <a:ahLst/>
            <a:rect l="0" t="0" r="r" b="b"/>
            <a:pathLst>
              <a:path w="2926" h="1798">
                <a:moveTo>
                  <a:pt x="0" y="0"/>
                </a:moveTo>
                <a:lnTo>
                  <a:pt x="2926" y="0"/>
                </a:lnTo>
                <a:lnTo>
                  <a:pt x="2926" y="1798"/>
                </a:lnTo>
                <a:lnTo>
                  <a:pt x="0" y="17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 rot="16200000">
            <a:off x="-743400" y="4550040"/>
            <a:ext cx="19555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Annual hazard of a new record (%)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696960" y="381420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708480" y="3871440"/>
            <a:ext cx="91080" cy="0"/>
          </a:xfrm>
          <a:prstGeom prst="line">
            <a:avLst/>
          </a:prstGeom>
          <a:ln w="18720">
            <a:solidFill>
              <a:srgbClr val="56B4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696960" y="392832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708480" y="3985560"/>
            <a:ext cx="91080" cy="0"/>
          </a:xfrm>
          <a:prstGeom prst="line">
            <a:avLst/>
          </a:prstGeom>
          <a:ln w="187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696960" y="404280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708480" y="4100040"/>
            <a:ext cx="91080" cy="0"/>
          </a:xfrm>
          <a:prstGeom prst="line">
            <a:avLst/>
          </a:prstGeom>
          <a:ln w="1872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697320" y="3649320"/>
            <a:ext cx="7056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874440" y="3827160"/>
            <a:ext cx="6040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3 visits/yr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874440" y="3941280"/>
            <a:ext cx="635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60 visits/yr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874440" y="4055760"/>
            <a:ext cx="69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1,114 visits/yr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525960" y="3251520"/>
            <a:ext cx="22978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One SD of accumulated warming is 0.18 °C;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525960" y="3377880"/>
            <a:ext cx="237492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one SD of effort multiplies annual visits by 7.7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525960" y="3061440"/>
            <a:ext cx="16668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Effect sizes you can picture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4321080" y="3580560"/>
            <a:ext cx="2266200" cy="1976760"/>
          </a:xfrm>
          <a:custGeom>
            <a:avLst/>
            <a:gdLst/>
            <a:ahLst/>
            <a:rect l="0" t="0" r="r" b="b"/>
            <a:pathLst>
              <a:path w="6295" h="5491">
                <a:moveTo>
                  <a:pt x="0" y="0"/>
                </a:moveTo>
                <a:lnTo>
                  <a:pt x="6295" y="0"/>
                </a:lnTo>
                <a:lnTo>
                  <a:pt x="6295" y="5491"/>
                </a:lnTo>
                <a:lnTo>
                  <a:pt x="0" y="54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 flipV="1">
            <a:off x="5187240" y="3606480"/>
            <a:ext cx="0" cy="195048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4424040" y="3704040"/>
            <a:ext cx="1144440" cy="209520"/>
          </a:xfrm>
          <a:custGeom>
            <a:avLst/>
            <a:gdLst/>
            <a:ahLst/>
            <a:rect l="0" t="0" r="r" b="b"/>
            <a:pathLst>
              <a:path w="3179" h="582">
                <a:moveTo>
                  <a:pt x="0" y="0"/>
                </a:moveTo>
                <a:lnTo>
                  <a:pt x="3179" y="0"/>
                </a:lnTo>
                <a:lnTo>
                  <a:pt x="3179" y="582"/>
                </a:lnTo>
                <a:lnTo>
                  <a:pt x="0" y="582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4424040" y="4084200"/>
            <a:ext cx="1057680" cy="209520"/>
          </a:xfrm>
          <a:custGeom>
            <a:avLst/>
            <a:gdLst/>
            <a:ahLst/>
            <a:rect l="0" t="0" r="r" b="b"/>
            <a:pathLst>
              <a:path w="2938" h="582">
                <a:moveTo>
                  <a:pt x="0" y="0"/>
                </a:moveTo>
                <a:lnTo>
                  <a:pt x="2938" y="0"/>
                </a:lnTo>
                <a:lnTo>
                  <a:pt x="2938" y="582"/>
                </a:lnTo>
                <a:lnTo>
                  <a:pt x="0" y="582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4424040" y="4464360"/>
            <a:ext cx="1705320" cy="209160"/>
          </a:xfrm>
          <a:custGeom>
            <a:avLst/>
            <a:gdLst/>
            <a:ahLst/>
            <a:rect l="0" t="0" r="r" b="b"/>
            <a:pathLst>
              <a:path w="4737" h="581">
                <a:moveTo>
                  <a:pt x="0" y="0"/>
                </a:moveTo>
                <a:lnTo>
                  <a:pt x="4737" y="0"/>
                </a:lnTo>
                <a:lnTo>
                  <a:pt x="4737" y="581"/>
                </a:lnTo>
                <a:lnTo>
                  <a:pt x="0" y="581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4424040" y="4844160"/>
            <a:ext cx="1039320" cy="209520"/>
          </a:xfrm>
          <a:custGeom>
            <a:avLst/>
            <a:gdLst/>
            <a:ahLst/>
            <a:rect l="0" t="0" r="r" b="b"/>
            <a:pathLst>
              <a:path w="2887" h="582">
                <a:moveTo>
                  <a:pt x="0" y="0"/>
                </a:moveTo>
                <a:lnTo>
                  <a:pt x="2887" y="0"/>
                </a:lnTo>
                <a:lnTo>
                  <a:pt x="2887" y="582"/>
                </a:lnTo>
                <a:lnTo>
                  <a:pt x="0" y="582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4424040" y="5224320"/>
            <a:ext cx="1071360" cy="209520"/>
          </a:xfrm>
          <a:custGeom>
            <a:avLst/>
            <a:gdLst/>
            <a:ahLst/>
            <a:rect l="0" t="0" r="r" b="b"/>
            <a:pathLst>
              <a:path w="2976" h="582">
                <a:moveTo>
                  <a:pt x="0" y="0"/>
                </a:moveTo>
                <a:lnTo>
                  <a:pt x="2976" y="0"/>
                </a:lnTo>
                <a:lnTo>
                  <a:pt x="2976" y="582"/>
                </a:lnTo>
                <a:lnTo>
                  <a:pt x="0" y="582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39320" y="302760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5616360" y="3758040"/>
            <a:ext cx="254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x1.50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529600" y="4138200"/>
            <a:ext cx="254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x1.39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6177240" y="4518000"/>
            <a:ext cx="254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x2.23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511240" y="4898160"/>
            <a:ext cx="254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x1.36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 flipV="1">
            <a:off x="4321080" y="3580560"/>
            <a:ext cx="0" cy="19764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5543280" y="5278320"/>
            <a:ext cx="254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x1.40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3413520" y="5278320"/>
            <a:ext cx="8917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Survey effort (ﬁxed)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2994480" y="4898160"/>
            <a:ext cx="1317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Accumulated warming (ﬁxed)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3591360" y="4518000"/>
            <a:ext cx="7045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Province x 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3883320" y="4138200"/>
            <a:ext cx="398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Province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4289400" y="53290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4289400" y="49489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4289400" y="45687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4289400" y="41886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4289400" y="38088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4321080" y="5556960"/>
            <a:ext cx="22658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 flipV="1">
            <a:off x="442404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 flipV="1">
            <a:off x="518724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 flipV="1">
            <a:off x="595008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3921480" y="3758040"/>
            <a:ext cx="363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Species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4398840" y="56012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5161680" y="56012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5924880" y="56012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4692240" y="5747400"/>
            <a:ext cx="14839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Hazard multiplier per 1 SD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4321440" y="3251520"/>
            <a:ext cx="23158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One SD of province-by-year shock multiplies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321440" y="3377880"/>
            <a:ext cx="229032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the hazard by 2.23 - more than either driver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4321440" y="3061440"/>
            <a:ext cx="24678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observation process outweighs both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2968920" y="302760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Figure4</dc:title>
</cp:coreProperties>
</file>