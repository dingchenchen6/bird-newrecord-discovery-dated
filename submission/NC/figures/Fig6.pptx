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6032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26080"/>
            <a:ext cx="7406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326960"/>
            <a:ext cx="7406280" cy="32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2939040"/>
            <a:ext cx="8090640" cy="3024000"/>
          </a:xfrm>
          <a:custGeom>
            <a:avLst/>
            <a:gdLst/>
            <a:ahLst/>
            <a:rect l="0" t="0" r="r" b="b"/>
            <a:pathLst>
              <a:path w="22474" h="8400">
                <a:moveTo>
                  <a:pt x="0" y="0"/>
                </a:moveTo>
                <a:lnTo>
                  <a:pt x="22474" y="0"/>
                </a:lnTo>
                <a:lnTo>
                  <a:pt x="22474" y="8400"/>
                </a:lnTo>
                <a:lnTo>
                  <a:pt x="0" y="8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3556440" cy="2869920"/>
          </a:xfrm>
          <a:custGeom>
            <a:avLst/>
            <a:gdLst/>
            <a:ahLst/>
            <a:rect l="0" t="0" r="r" b="b"/>
            <a:pathLst>
              <a:path w="9879" h="7972">
                <a:moveTo>
                  <a:pt x="0" y="0"/>
                </a:moveTo>
                <a:lnTo>
                  <a:pt x="9879" y="0"/>
                </a:lnTo>
                <a:lnTo>
                  <a:pt x="9879" y="7972"/>
                </a:lnTo>
                <a:lnTo>
                  <a:pt x="0" y="79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625560" y="69480"/>
            <a:ext cx="4534560" cy="2869920"/>
          </a:xfrm>
          <a:custGeom>
            <a:avLst/>
            <a:gdLst/>
            <a:ahLst/>
            <a:rect l="0" t="0" r="r" b="b"/>
            <a:pathLst>
              <a:path w="12596" h="7972">
                <a:moveTo>
                  <a:pt x="0" y="0"/>
                </a:moveTo>
                <a:lnTo>
                  <a:pt x="12596" y="0"/>
                </a:lnTo>
                <a:lnTo>
                  <a:pt x="12596" y="7972"/>
                </a:lnTo>
                <a:lnTo>
                  <a:pt x="0" y="79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205640" y="664560"/>
            <a:ext cx="1724040" cy="1869120"/>
          </a:xfrm>
          <a:custGeom>
            <a:avLst/>
            <a:gdLst/>
            <a:ahLst/>
            <a:rect l="0" t="0" r="r" b="b"/>
            <a:pathLst>
              <a:path w="4789" h="5192">
                <a:moveTo>
                  <a:pt x="0" y="0"/>
                </a:moveTo>
                <a:lnTo>
                  <a:pt x="4789" y="0"/>
                </a:lnTo>
                <a:lnTo>
                  <a:pt x="4789" y="5192"/>
                </a:lnTo>
                <a:lnTo>
                  <a:pt x="0" y="5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4778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067120" y="204372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DC6C22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067120" y="1599120"/>
            <a:ext cx="411120" cy="444960"/>
          </a:xfrm>
          <a:custGeom>
            <a:avLst/>
            <a:gdLst/>
            <a:ahLst/>
            <a:rect l="0" t="0" r="r" b="b"/>
            <a:pathLst>
              <a:path w="1142" h="1236">
                <a:moveTo>
                  <a:pt x="0" y="0"/>
                </a:moveTo>
                <a:lnTo>
                  <a:pt x="1142" y="0"/>
                </a:lnTo>
                <a:lnTo>
                  <a:pt x="1142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E9884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4778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E9894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6570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4A679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6570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09C6A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4668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9BA96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4668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FBC09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067120" y="115416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DFC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6570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BFD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4778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0E9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24668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5E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6570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0F7F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4778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CFA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67120" y="709200"/>
            <a:ext cx="411120" cy="445320"/>
          </a:xfrm>
          <a:custGeom>
            <a:avLst/>
            <a:gdLst/>
            <a:ahLst/>
            <a:rect l="0" t="0" r="r" b="b"/>
            <a:pathLst>
              <a:path w="1142" h="1237">
                <a:moveTo>
                  <a:pt x="0" y="0"/>
                </a:moveTo>
                <a:lnTo>
                  <a:pt x="1142" y="0"/>
                </a:lnTo>
                <a:lnTo>
                  <a:pt x="1142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2EB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24668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9FC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51820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1.40***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10780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1.36***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10744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1.30***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51820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1.29***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697040" y="221580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1.22***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697040" y="1770840"/>
            <a:ext cx="32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1.25***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305720" y="2215800"/>
            <a:ext cx="282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1.17**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305720" y="1770840"/>
            <a:ext cx="282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1.16**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1646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7542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5750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43880" y="13258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7542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5750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1646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 flipV="1">
            <a:off x="1205640" y="664560"/>
            <a:ext cx="0" cy="18687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343880" y="88092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0.98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01120" y="2215800"/>
            <a:ext cx="693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0640" y="1770840"/>
            <a:ext cx="1010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59560" y="1325880"/>
            <a:ext cx="92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173960" y="2266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173960" y="1821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173960" y="137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173960" y="931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205640" y="2533320"/>
            <a:ext cx="17236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145152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18622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22726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 flipV="1">
            <a:off x="268308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01120" y="8809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426320" y="25776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8115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2219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63232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055680" y="1162440"/>
            <a:ext cx="469080" cy="873720"/>
          </a:xfrm>
          <a:custGeom>
            <a:avLst/>
            <a:gdLst/>
            <a:ahLst/>
            <a:rect l="0" t="0" r="r" b="b"/>
            <a:pathLst>
              <a:path w="1303" h="2427">
                <a:moveTo>
                  <a:pt x="0" y="0"/>
                </a:moveTo>
                <a:lnTo>
                  <a:pt x="1303" y="0"/>
                </a:lnTo>
                <a:lnTo>
                  <a:pt x="1303" y="2427"/>
                </a:lnTo>
                <a:lnTo>
                  <a:pt x="0" y="24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22920" y="2723760"/>
            <a:ext cx="1645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rcRect l="33338" r="33334" t="1291" b="1621"/>
          <a:stretch/>
        </p:blipFill>
        <p:spPr>
          <a:xfrm>
            <a:off x="3119145" y="1403248"/>
            <a:ext cx="113855" cy="56936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3210120" y="19188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210120" y="17902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210120" y="16614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210120" y="15328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210120" y="14040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3119040" y="19188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H="1">
            <a:off x="3119040" y="17902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H="1">
            <a:off x="3119040" y="16614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H="1">
            <a:off x="3119040" y="15328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 flipH="1">
            <a:off x="3119040" y="140400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119040" y="1238400"/>
            <a:ext cx="165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296160" y="187452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296160" y="174600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296160" y="161712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296160" y="148860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296160" y="135972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205640" y="335880"/>
            <a:ext cx="2016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Hazard ratio for accumulated warming;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205640" y="461880"/>
            <a:ext cx="1726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* P&lt;0.05, ** P&lt;0.01, *** P&lt;0.001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205640" y="145440"/>
            <a:ext cx="2158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Signal is conﬁned to annual mean 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761720" y="664560"/>
            <a:ext cx="1724040" cy="1869120"/>
          </a:xfrm>
          <a:custGeom>
            <a:avLst/>
            <a:gdLst/>
            <a:ahLst/>
            <a:rect l="0" t="0" r="r" b="b"/>
            <a:pathLst>
              <a:path w="4789" h="5192">
                <a:moveTo>
                  <a:pt x="0" y="0"/>
                </a:moveTo>
                <a:lnTo>
                  <a:pt x="4789" y="0"/>
                </a:lnTo>
                <a:lnTo>
                  <a:pt x="4789" y="5192"/>
                </a:lnTo>
                <a:lnTo>
                  <a:pt x="0" y="5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0339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6235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29A47B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6235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6BBB9A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0339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72BE9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2131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8DCAA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2131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91CCB2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802760" y="204372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BEE1D1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802760" y="1599120"/>
            <a:ext cx="410760" cy="444960"/>
          </a:xfrm>
          <a:custGeom>
            <a:avLst/>
            <a:gdLst/>
            <a:ahLst/>
            <a:rect l="0" t="0" r="r" b="b"/>
            <a:pathLst>
              <a:path w="1141" h="1236">
                <a:moveTo>
                  <a:pt x="0" y="0"/>
                </a:moveTo>
                <a:lnTo>
                  <a:pt x="1141" y="0"/>
                </a:lnTo>
                <a:lnTo>
                  <a:pt x="1141" y="1236"/>
                </a:lnTo>
                <a:lnTo>
                  <a:pt x="0" y="1236"/>
                </a:lnTo>
                <a:lnTo>
                  <a:pt x="0" y="0"/>
                </a:lnTo>
                <a:close/>
              </a:path>
            </a:pathLst>
          </a:custGeom>
          <a:solidFill>
            <a:srgbClr val="C3E3D4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6235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EDF7F2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2131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0F8F4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0339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2F9F6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802760" y="115416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6FBF8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2131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8FCFA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0339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CFEFD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6235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EFFFE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802760" y="709200"/>
            <a:ext cx="410760" cy="445320"/>
          </a:xfrm>
          <a:custGeom>
            <a:avLst/>
            <a:gdLst/>
            <a:ahLst/>
            <a:rect l="0" t="0" r="r" b="b"/>
            <a:pathLst>
              <a:path w="1141" h="1237">
                <a:moveTo>
                  <a:pt x="0" y="0"/>
                </a:moveTo>
                <a:lnTo>
                  <a:pt x="1141" y="0"/>
                </a:lnTo>
                <a:lnTo>
                  <a:pt x="1141" y="1237"/>
                </a:lnTo>
                <a:lnTo>
                  <a:pt x="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FFFF"/>
            </a:solidFill>
            <a:miter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43280" y="1101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207480" y="2215800"/>
            <a:ext cx="1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97080" y="2215800"/>
            <a:ext cx="102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7654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18876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355000" y="221580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3550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944600" y="221580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944600" y="177084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7654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3550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758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944600" y="132588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3550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1758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7654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 flipV="1">
            <a:off x="4761720" y="664560"/>
            <a:ext cx="0" cy="18687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944600" y="880920"/>
            <a:ext cx="115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057200" y="2215800"/>
            <a:ext cx="693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727080" y="1770840"/>
            <a:ext cx="1010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Warmest-month Tmax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816000" y="1325880"/>
            <a:ext cx="92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Coldest-month Tmin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730040" y="2266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730040" y="1821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730040" y="1376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730040" y="931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761720" y="2533320"/>
            <a:ext cx="17236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50079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 flipV="1">
            <a:off x="54183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58287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6239160" y="25333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057200" y="8809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Winter mean 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4982760" y="25776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3676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7780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188400" y="257760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7011720" y="1162440"/>
            <a:ext cx="647640" cy="873720"/>
          </a:xfrm>
          <a:custGeom>
            <a:avLst/>
            <a:gdLst/>
            <a:ahLst/>
            <a:rect l="0" t="0" r="r" b="b"/>
            <a:pathLst>
              <a:path w="1799" h="2427">
                <a:moveTo>
                  <a:pt x="0" y="0"/>
                </a:moveTo>
                <a:lnTo>
                  <a:pt x="1799" y="0"/>
                </a:lnTo>
                <a:lnTo>
                  <a:pt x="1799" y="2427"/>
                </a:lnTo>
                <a:lnTo>
                  <a:pt x="0" y="24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779360" y="2723760"/>
            <a:ext cx="1645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Accumulation window (years)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"/>
          <p:cNvPicPr/>
          <p:nvPr/>
        </p:nvPicPr>
        <p:blipFill>
          <a:blip r:embed="rId2"/>
          <a:srcRect l="33329" r="33343" t="1291" b="1621"/>
          <a:stretch/>
        </p:blipFill>
        <p:spPr>
          <a:xfrm>
            <a:off x="7075094" y="1403248"/>
            <a:ext cx="113856" cy="56936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"/>
          <p:cNvSpPr/>
          <p:nvPr/>
        </p:nvSpPr>
        <p:spPr>
          <a:xfrm>
            <a:off x="7166160" y="197136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166160" y="18097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166160" y="16477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166160" y="14860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 flipH="1">
            <a:off x="7075080" y="197136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 flipH="1">
            <a:off x="7075080" y="18097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 flipH="1">
            <a:off x="7075080" y="164772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 flipH="1">
            <a:off x="7075080" y="1486080"/>
            <a:ext cx="2268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075080" y="1238400"/>
            <a:ext cx="508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Delta AIC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252200" y="1927080"/>
            <a:ext cx="114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252200" y="176544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252200" y="160380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252200" y="1441800"/>
            <a:ext cx="127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762080" y="335880"/>
            <a:ext cx="1735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Delta AIC relative to the best cell;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762080" y="461880"/>
            <a:ext cx="1396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all ﬁtted on the same rows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762080" y="145440"/>
            <a:ext cx="21938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 support across speciﬁcations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205640" y="3408120"/>
            <a:ext cx="5280120" cy="2149200"/>
          </a:xfrm>
          <a:custGeom>
            <a:avLst/>
            <a:gdLst/>
            <a:ahLst/>
            <a:rect l="0" t="0" r="r" b="b"/>
            <a:pathLst>
              <a:path w="14667" h="5970">
                <a:moveTo>
                  <a:pt x="0" y="0"/>
                </a:moveTo>
                <a:lnTo>
                  <a:pt x="14667" y="0"/>
                </a:lnTo>
                <a:lnTo>
                  <a:pt x="14667" y="5970"/>
                </a:lnTo>
                <a:lnTo>
                  <a:pt x="0" y="59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205640" y="524988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205640" y="473832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205640" y="422676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205640" y="3715200"/>
            <a:ext cx="5279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 flipV="1">
            <a:off x="1445400" y="3408120"/>
            <a:ext cx="0" cy="214884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145320" y="5339520"/>
            <a:ext cx="21747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397680" y="5100840"/>
            <a:ext cx="226692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279240" y="5220000"/>
            <a:ext cx="22168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305880" y="4827960"/>
            <a:ext cx="21412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532680" y="4589280"/>
            <a:ext cx="222300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432960" y="4708440"/>
            <a:ext cx="21808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466440" y="4316400"/>
            <a:ext cx="23475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762360" y="4077360"/>
            <a:ext cx="248292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648240" y="4196880"/>
            <a:ext cx="24102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166480" y="3804840"/>
            <a:ext cx="18784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493000" y="3565800"/>
            <a:ext cx="198828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279880" y="3685320"/>
            <a:ext cx="19126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832840" y="5399280"/>
            <a:ext cx="19623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874960" y="5160600"/>
            <a:ext cx="195480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849040" y="5279760"/>
            <a:ext cx="194400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772000" y="4887720"/>
            <a:ext cx="195696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803680" y="4648680"/>
            <a:ext cx="194436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781360" y="4768200"/>
            <a:ext cx="193572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886120" y="4375800"/>
            <a:ext cx="201492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937240" y="4137120"/>
            <a:ext cx="201636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905920" y="4256640"/>
            <a:ext cx="20030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658240" y="3864240"/>
            <a:ext cx="186264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699640" y="3625560"/>
            <a:ext cx="185004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665080" y="3745080"/>
            <a:ext cx="183564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4129560" y="529524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6" y="0"/>
                </a:moveTo>
                <a:lnTo>
                  <a:pt x="214" y="185"/>
                </a:lnTo>
                <a:lnTo>
                  <a:pt x="0" y="185"/>
                </a:lnTo>
                <a:lnTo>
                  <a:pt x="106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424400" y="505656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6" y="0"/>
                </a:moveTo>
                <a:lnTo>
                  <a:pt x="214" y="185"/>
                </a:lnTo>
                <a:lnTo>
                  <a:pt x="0" y="185"/>
                </a:lnTo>
                <a:lnTo>
                  <a:pt x="106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282920" y="517572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6" y="0"/>
                </a:moveTo>
                <a:lnTo>
                  <a:pt x="214" y="186"/>
                </a:lnTo>
                <a:lnTo>
                  <a:pt x="0" y="186"/>
                </a:lnTo>
                <a:lnTo>
                  <a:pt x="106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276080" y="478368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7" y="0"/>
                </a:moveTo>
                <a:lnTo>
                  <a:pt x="214" y="185"/>
                </a:lnTo>
                <a:lnTo>
                  <a:pt x="0" y="185"/>
                </a:lnTo>
                <a:lnTo>
                  <a:pt x="107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540680" y="4545000"/>
            <a:ext cx="77400" cy="66600"/>
          </a:xfrm>
          <a:custGeom>
            <a:avLst/>
            <a:gdLst/>
            <a:ahLst/>
            <a:rect l="0" t="0" r="r" b="b"/>
            <a:pathLst>
              <a:path w="215" h="185">
                <a:moveTo>
                  <a:pt x="108" y="0"/>
                </a:moveTo>
                <a:lnTo>
                  <a:pt x="215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4421880" y="466416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6" y="0"/>
                </a:moveTo>
                <a:lnTo>
                  <a:pt x="214" y="186"/>
                </a:lnTo>
                <a:lnTo>
                  <a:pt x="0" y="186"/>
                </a:lnTo>
                <a:lnTo>
                  <a:pt x="106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529160" y="427212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8" y="0"/>
                </a:moveTo>
                <a:lnTo>
                  <a:pt x="214" y="185"/>
                </a:lnTo>
                <a:lnTo>
                  <a:pt x="0" y="185"/>
                </a:lnTo>
                <a:lnTo>
                  <a:pt x="108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887360" y="4033440"/>
            <a:ext cx="77040" cy="66600"/>
          </a:xfrm>
          <a:custGeom>
            <a:avLst/>
            <a:gdLst/>
            <a:ahLst/>
            <a:rect l="0" t="0" r="r" b="b"/>
            <a:pathLst>
              <a:path w="214" h="185">
                <a:moveTo>
                  <a:pt x="107" y="0"/>
                </a:moveTo>
                <a:lnTo>
                  <a:pt x="214" y="185"/>
                </a:lnTo>
                <a:lnTo>
                  <a:pt x="0" y="185"/>
                </a:lnTo>
                <a:lnTo>
                  <a:pt x="107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4740480" y="415260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6" y="0"/>
                </a:moveTo>
                <a:lnTo>
                  <a:pt x="214" y="186"/>
                </a:lnTo>
                <a:lnTo>
                  <a:pt x="0" y="186"/>
                </a:lnTo>
                <a:lnTo>
                  <a:pt x="106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012120" y="376020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7" y="0"/>
                </a:moveTo>
                <a:lnTo>
                  <a:pt x="214" y="186"/>
                </a:lnTo>
                <a:lnTo>
                  <a:pt x="0" y="186"/>
                </a:lnTo>
                <a:lnTo>
                  <a:pt x="107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389400" y="352152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8" y="0"/>
                </a:moveTo>
                <a:lnTo>
                  <a:pt x="214" y="186"/>
                </a:lnTo>
                <a:lnTo>
                  <a:pt x="0" y="186"/>
                </a:lnTo>
                <a:lnTo>
                  <a:pt x="108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141360" y="3641040"/>
            <a:ext cx="77400" cy="66600"/>
          </a:xfrm>
          <a:custGeom>
            <a:avLst/>
            <a:gdLst/>
            <a:ahLst/>
            <a:rect l="0" t="0" r="r" b="b"/>
            <a:pathLst>
              <a:path w="215" h="185">
                <a:moveTo>
                  <a:pt x="107" y="0"/>
                </a:moveTo>
                <a:lnTo>
                  <a:pt x="215" y="185"/>
                </a:lnTo>
                <a:lnTo>
                  <a:pt x="0" y="185"/>
                </a:lnTo>
                <a:lnTo>
                  <a:pt x="107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729960" y="5370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768840" y="5131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5"/>
                  <a:pt x="0" y="185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738240" y="52513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666600" y="48592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692520" y="46202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666240" y="4739760"/>
            <a:ext cx="57600" cy="56880"/>
          </a:xfrm>
          <a:custGeom>
            <a:avLst/>
            <a:gdLst/>
            <a:ahLst/>
            <a:rect l="0" t="0" r="r" b="b"/>
            <a:pathLst>
              <a:path w="160" h="158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5"/>
                  <a:pt x="0" y="185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807000" y="4347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7"/>
                  <a:pt x="0" y="187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859200" y="41086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821760" y="42282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0" y="80"/>
                </a:moveTo>
                <a:cubicBezTo>
                  <a:pt x="0" y="-27"/>
                  <a:pt x="159" y="-27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509640" y="3835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7"/>
                  <a:pt x="0" y="187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545640" y="35971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0" y="80"/>
                </a:moveTo>
                <a:cubicBezTo>
                  <a:pt x="0" y="-26"/>
                  <a:pt x="159" y="-26"/>
                  <a:pt x="159" y="80"/>
                </a:cubicBezTo>
                <a:cubicBezTo>
                  <a:pt x="159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504600" y="3716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 flipV="1">
            <a:off x="1205640" y="3408120"/>
            <a:ext cx="0" cy="214884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697920" y="1101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907560" y="5199480"/>
            <a:ext cx="24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Visits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91560" y="4687920"/>
            <a:ext cx="471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Observers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15240" y="4176000"/>
            <a:ext cx="5626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Birding days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173960" y="5249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173960" y="47383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173960" y="4226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73960" y="3715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205640" y="5556960"/>
            <a:ext cx="527976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144540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 flipV="1">
            <a:off x="27136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 flipV="1">
            <a:off x="398196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 flipV="1">
            <a:off x="52498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80480" y="3664440"/>
            <a:ext cx="380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Records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38204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65032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91860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18652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612120" y="3829320"/>
            <a:ext cx="1370520" cy="647280"/>
          </a:xfrm>
          <a:custGeom>
            <a:avLst/>
            <a:gdLst/>
            <a:ahLst/>
            <a:rect l="0" t="0" r="r" b="b"/>
            <a:pathLst>
              <a:path w="3807" h="1798">
                <a:moveTo>
                  <a:pt x="0" y="0"/>
                </a:moveTo>
                <a:lnTo>
                  <a:pt x="3807" y="0"/>
                </a:lnTo>
                <a:lnTo>
                  <a:pt x="3807" y="1798"/>
                </a:lnTo>
                <a:lnTo>
                  <a:pt x="0" y="17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937600" y="5747400"/>
            <a:ext cx="175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675120" y="40701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686640" y="4127400"/>
            <a:ext cx="91080" cy="0"/>
          </a:xfrm>
          <a:prstGeom prst="line">
            <a:avLst/>
          </a:prstGeom>
          <a:ln w="133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703560" y="4098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703560" y="409896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6"/>
                  <a:pt x="0" y="186"/>
                  <a:pt x="0" y="80"/>
                </a:cubicBezTo>
                <a:cubicBezTo>
                  <a:pt x="0" y="-26"/>
                  <a:pt x="160" y="-26"/>
                  <a:pt x="160" y="80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675120" y="418464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686640" y="4241880"/>
            <a:ext cx="91080" cy="0"/>
          </a:xfrm>
          <a:prstGeom prst="line">
            <a:avLst/>
          </a:prstGeom>
          <a:ln w="1332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703560" y="42134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5"/>
                  <a:pt x="0" y="185"/>
                  <a:pt x="0" y="80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703560" y="421344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5"/>
                  <a:pt x="0" y="185"/>
                  <a:pt x="0" y="80"/>
                </a:cubicBezTo>
                <a:cubicBezTo>
                  <a:pt x="0" y="-27"/>
                  <a:pt x="160" y="-27"/>
                  <a:pt x="160" y="80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675120" y="42987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6686640" y="4356000"/>
            <a:ext cx="91080" cy="0"/>
          </a:xfrm>
          <a:prstGeom prst="line">
            <a:avLst/>
          </a:prstGeom>
          <a:ln w="133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703560" y="4327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80"/>
                </a:moveTo>
                <a:cubicBezTo>
                  <a:pt x="0" y="-26"/>
                  <a:pt x="160" y="-26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703560" y="432756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80"/>
                </a:moveTo>
                <a:cubicBezTo>
                  <a:pt x="160" y="186"/>
                  <a:pt x="0" y="186"/>
                  <a:pt x="0" y="80"/>
                </a:cubicBezTo>
                <a:cubicBezTo>
                  <a:pt x="0" y="-26"/>
                  <a:pt x="160" y="-26"/>
                  <a:pt x="160" y="80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675480" y="3905640"/>
            <a:ext cx="940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Missing-data rule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852600" y="4083120"/>
            <a:ext cx="1049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coverage gap (main)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852600" y="4197600"/>
            <a:ext cx="1004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bounded imputation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612120" y="4602960"/>
            <a:ext cx="1446840" cy="533160"/>
          </a:xfrm>
          <a:custGeom>
            <a:avLst/>
            <a:gdLst/>
            <a:ahLst/>
            <a:rect l="0" t="0" r="r" b="b"/>
            <a:pathLst>
              <a:path w="4019" h="1481">
                <a:moveTo>
                  <a:pt x="0" y="0"/>
                </a:moveTo>
                <a:lnTo>
                  <a:pt x="4019" y="0"/>
                </a:lnTo>
                <a:lnTo>
                  <a:pt x="4019" y="1481"/>
                </a:lnTo>
                <a:lnTo>
                  <a:pt x="0" y="14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852600" y="4311720"/>
            <a:ext cx="724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zero-ﬁlled (v1)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675120" y="48438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703560" y="4872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80"/>
                </a:moveTo>
                <a:cubicBezTo>
                  <a:pt x="0" y="-27"/>
                  <a:pt x="160" y="-27"/>
                  <a:pt x="160" y="80"/>
                </a:cubicBezTo>
                <a:cubicBezTo>
                  <a:pt x="160" y="186"/>
                  <a:pt x="0" y="186"/>
                  <a:pt x="0" y="8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675120" y="49579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693840" y="4970880"/>
            <a:ext cx="77040" cy="66960"/>
          </a:xfrm>
          <a:custGeom>
            <a:avLst/>
            <a:gdLst/>
            <a:ahLst/>
            <a:rect l="0" t="0" r="r" b="b"/>
            <a:pathLst>
              <a:path w="214" h="186">
                <a:moveTo>
                  <a:pt x="107" y="0"/>
                </a:moveTo>
                <a:lnTo>
                  <a:pt x="214" y="186"/>
                </a:lnTo>
                <a:lnTo>
                  <a:pt x="0" y="186"/>
                </a:lnTo>
                <a:lnTo>
                  <a:pt x="10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675480" y="4679280"/>
            <a:ext cx="591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Coefﬁcient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852600" y="4856760"/>
            <a:ext cx="1125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852600" y="4970880"/>
            <a:ext cx="648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205640" y="3205440"/>
            <a:ext cx="60472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AIC is not comparable across rules because the sample size changes; the coefﬁcients are what should be compared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205640" y="3015000"/>
            <a:ext cx="3486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Robust to the choice of effort proxy and missing-data rule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65960" y="2981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Figure3</dc:title>
</cp:coreProperties>
</file>