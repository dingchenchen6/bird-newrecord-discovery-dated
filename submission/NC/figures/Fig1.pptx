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5842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18520"/>
            <a:ext cx="7406280" cy="91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282680"/>
            <a:ext cx="7406280" cy="317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5842080"/>
          </a:xfrm>
          <a:custGeom>
            <a:avLst/>
            <a:gdLst/>
            <a:ahLst/>
            <a:rect l="0" t="0" r="r" b="b"/>
            <a:pathLst>
              <a:path w="22861" h="16228">
                <a:moveTo>
                  <a:pt x="0" y="0"/>
                </a:moveTo>
                <a:lnTo>
                  <a:pt x="22861" y="0"/>
                </a:lnTo>
                <a:lnTo>
                  <a:pt x="22861" y="16228"/>
                </a:lnTo>
                <a:lnTo>
                  <a:pt x="0" y="162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5842080"/>
          </a:xfrm>
          <a:custGeom>
            <a:avLst/>
            <a:gdLst/>
            <a:ahLst/>
            <a:rect l="0" t="0" r="r" b="b"/>
            <a:pathLst>
              <a:path w="22861" h="16228">
                <a:moveTo>
                  <a:pt x="0" y="0"/>
                </a:moveTo>
                <a:lnTo>
                  <a:pt x="22861" y="0"/>
                </a:lnTo>
                <a:lnTo>
                  <a:pt x="22861" y="16228"/>
                </a:lnTo>
                <a:lnTo>
                  <a:pt x="0" y="162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3120840"/>
            <a:ext cx="8090640" cy="2651760"/>
          </a:xfrm>
          <a:custGeom>
            <a:avLst/>
            <a:gdLst/>
            <a:ahLst/>
            <a:rect l="0" t="0" r="r" b="b"/>
            <a:pathLst>
              <a:path w="22474" h="7366">
                <a:moveTo>
                  <a:pt x="0" y="0"/>
                </a:moveTo>
                <a:lnTo>
                  <a:pt x="22474" y="0"/>
                </a:lnTo>
                <a:lnTo>
                  <a:pt x="22474" y="7366"/>
                </a:lnTo>
                <a:lnTo>
                  <a:pt x="0" y="73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69480"/>
            <a:ext cx="3284280" cy="3051720"/>
          </a:xfrm>
          <a:custGeom>
            <a:avLst/>
            <a:gdLst/>
            <a:ahLst/>
            <a:rect l="0" t="0" r="r" b="b"/>
            <a:pathLst>
              <a:path w="9123" h="8477">
                <a:moveTo>
                  <a:pt x="0" y="0"/>
                </a:moveTo>
                <a:lnTo>
                  <a:pt x="9123" y="0"/>
                </a:lnTo>
                <a:lnTo>
                  <a:pt x="9123" y="8477"/>
                </a:lnTo>
                <a:lnTo>
                  <a:pt x="0" y="84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353400" y="69480"/>
            <a:ext cx="4806720" cy="3051720"/>
          </a:xfrm>
          <a:custGeom>
            <a:avLst/>
            <a:gdLst/>
            <a:ahLst/>
            <a:rect l="0" t="0" r="r" b="b"/>
            <a:pathLst>
              <a:path w="13352" h="8477">
                <a:moveTo>
                  <a:pt x="0" y="0"/>
                </a:moveTo>
                <a:lnTo>
                  <a:pt x="13352" y="0"/>
                </a:lnTo>
                <a:lnTo>
                  <a:pt x="13352" y="8477"/>
                </a:lnTo>
                <a:lnTo>
                  <a:pt x="0" y="84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51160" y="664560"/>
            <a:ext cx="2701440" cy="2050920"/>
          </a:xfrm>
          <a:custGeom>
            <a:avLst/>
            <a:gdLst/>
            <a:ahLst/>
            <a:rect l="0" t="0" r="r" b="b"/>
            <a:pathLst>
              <a:path w="7504" h="5697">
                <a:moveTo>
                  <a:pt x="0" y="0"/>
                </a:moveTo>
                <a:lnTo>
                  <a:pt x="7504" y="0"/>
                </a:lnTo>
                <a:lnTo>
                  <a:pt x="7504" y="5697"/>
                </a:lnTo>
                <a:lnTo>
                  <a:pt x="0" y="56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51160" y="2621880"/>
            <a:ext cx="2701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51160" y="2154600"/>
            <a:ext cx="2701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51160" y="1687320"/>
            <a:ext cx="2701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551160" y="1219680"/>
            <a:ext cx="2701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551160" y="752400"/>
            <a:ext cx="2701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73920" y="2296440"/>
            <a:ext cx="79200" cy="325800"/>
          </a:xfrm>
          <a:custGeom>
            <a:avLst/>
            <a:gdLst/>
            <a:ahLst/>
            <a:rect l="0" t="0" r="r" b="b"/>
            <a:pathLst>
              <a:path w="220" h="905">
                <a:moveTo>
                  <a:pt x="0" y="0"/>
                </a:moveTo>
                <a:lnTo>
                  <a:pt x="220" y="0"/>
                </a:lnTo>
                <a:lnTo>
                  <a:pt x="220" y="905"/>
                </a:lnTo>
                <a:lnTo>
                  <a:pt x="0" y="905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79040" y="1896480"/>
            <a:ext cx="79200" cy="725760"/>
          </a:xfrm>
          <a:custGeom>
            <a:avLst/>
            <a:gdLst/>
            <a:ahLst/>
            <a:rect l="0" t="0" r="r" b="b"/>
            <a:pathLst>
              <a:path w="220" h="2016">
                <a:moveTo>
                  <a:pt x="0" y="0"/>
                </a:moveTo>
                <a:lnTo>
                  <a:pt x="220" y="0"/>
                </a:lnTo>
                <a:lnTo>
                  <a:pt x="220" y="2016"/>
                </a:lnTo>
                <a:lnTo>
                  <a:pt x="0" y="2016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884160" y="2316600"/>
            <a:ext cx="79200" cy="305640"/>
          </a:xfrm>
          <a:custGeom>
            <a:avLst/>
            <a:gdLst/>
            <a:ahLst/>
            <a:rect l="0" t="0" r="r" b="b"/>
            <a:pathLst>
              <a:path w="220" h="849">
                <a:moveTo>
                  <a:pt x="0" y="0"/>
                </a:moveTo>
                <a:lnTo>
                  <a:pt x="220" y="0"/>
                </a:lnTo>
                <a:lnTo>
                  <a:pt x="220" y="849"/>
                </a:lnTo>
                <a:lnTo>
                  <a:pt x="0" y="849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989280" y="2432880"/>
            <a:ext cx="79200" cy="189360"/>
          </a:xfrm>
          <a:custGeom>
            <a:avLst/>
            <a:gdLst/>
            <a:ahLst/>
            <a:rect l="0" t="0" r="r" b="b"/>
            <a:pathLst>
              <a:path w="220" h="526">
                <a:moveTo>
                  <a:pt x="0" y="0"/>
                </a:moveTo>
                <a:lnTo>
                  <a:pt x="220" y="0"/>
                </a:lnTo>
                <a:lnTo>
                  <a:pt x="220" y="526"/>
                </a:lnTo>
                <a:lnTo>
                  <a:pt x="0" y="526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094400" y="2509200"/>
            <a:ext cx="78840" cy="113040"/>
          </a:xfrm>
          <a:custGeom>
            <a:avLst/>
            <a:gdLst/>
            <a:ahLst/>
            <a:rect l="0" t="0" r="r" b="b"/>
            <a:pathLst>
              <a:path w="219" h="314">
                <a:moveTo>
                  <a:pt x="0" y="0"/>
                </a:moveTo>
                <a:lnTo>
                  <a:pt x="219" y="0"/>
                </a:lnTo>
                <a:lnTo>
                  <a:pt x="219" y="314"/>
                </a:lnTo>
                <a:lnTo>
                  <a:pt x="0" y="314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199160" y="2569320"/>
            <a:ext cx="79200" cy="52920"/>
          </a:xfrm>
          <a:custGeom>
            <a:avLst/>
            <a:gdLst/>
            <a:ahLst/>
            <a:rect l="0" t="0" r="r" b="b"/>
            <a:pathLst>
              <a:path w="220" h="147">
                <a:moveTo>
                  <a:pt x="0" y="0"/>
                </a:moveTo>
                <a:lnTo>
                  <a:pt x="220" y="0"/>
                </a:lnTo>
                <a:lnTo>
                  <a:pt x="220" y="147"/>
                </a:lnTo>
                <a:lnTo>
                  <a:pt x="0" y="147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304280" y="2590920"/>
            <a:ext cx="79200" cy="31320"/>
          </a:xfrm>
          <a:custGeom>
            <a:avLst/>
            <a:gdLst/>
            <a:ahLst/>
            <a:rect l="0" t="0" r="r" b="b"/>
            <a:pathLst>
              <a:path w="220" h="87">
                <a:moveTo>
                  <a:pt x="0" y="0"/>
                </a:moveTo>
                <a:lnTo>
                  <a:pt x="220" y="0"/>
                </a:lnTo>
                <a:lnTo>
                  <a:pt x="220" y="87"/>
                </a:lnTo>
                <a:lnTo>
                  <a:pt x="0" y="87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409400" y="2596320"/>
            <a:ext cx="79200" cy="25920"/>
          </a:xfrm>
          <a:custGeom>
            <a:avLst/>
            <a:gdLst/>
            <a:ahLst/>
            <a:rect l="0" t="0" r="r" b="b"/>
            <a:pathLst>
              <a:path w="220" h="72">
                <a:moveTo>
                  <a:pt x="0" y="0"/>
                </a:moveTo>
                <a:lnTo>
                  <a:pt x="220" y="0"/>
                </a:lnTo>
                <a:lnTo>
                  <a:pt x="220" y="72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514520" y="2599920"/>
            <a:ext cx="78840" cy="22320"/>
          </a:xfrm>
          <a:custGeom>
            <a:avLst/>
            <a:gdLst/>
            <a:ahLst/>
            <a:rect l="0" t="0" r="r" b="b"/>
            <a:pathLst>
              <a:path w="219" h="62">
                <a:moveTo>
                  <a:pt x="0" y="0"/>
                </a:moveTo>
                <a:lnTo>
                  <a:pt x="219" y="0"/>
                </a:lnTo>
                <a:lnTo>
                  <a:pt x="219" y="62"/>
                </a:lnTo>
                <a:lnTo>
                  <a:pt x="0" y="62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619640" y="2611080"/>
            <a:ext cx="78840" cy="11160"/>
          </a:xfrm>
          <a:custGeom>
            <a:avLst/>
            <a:gdLst/>
            <a:ahLst/>
            <a:rect l="0" t="0" r="r" b="b"/>
            <a:pathLst>
              <a:path w="219" h="31">
                <a:moveTo>
                  <a:pt x="0" y="0"/>
                </a:moveTo>
                <a:lnTo>
                  <a:pt x="219" y="0"/>
                </a:lnTo>
                <a:lnTo>
                  <a:pt x="219" y="31"/>
                </a:lnTo>
                <a:lnTo>
                  <a:pt x="0" y="31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724400" y="2603880"/>
            <a:ext cx="79200" cy="18360"/>
          </a:xfrm>
          <a:custGeom>
            <a:avLst/>
            <a:gdLst/>
            <a:ahLst/>
            <a:rect l="0" t="0" r="r" b="b"/>
            <a:pathLst>
              <a:path w="220" h="51">
                <a:moveTo>
                  <a:pt x="0" y="0"/>
                </a:moveTo>
                <a:lnTo>
                  <a:pt x="220" y="0"/>
                </a:lnTo>
                <a:lnTo>
                  <a:pt x="220" y="51"/>
                </a:lnTo>
                <a:lnTo>
                  <a:pt x="0" y="51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829520" y="2609280"/>
            <a:ext cx="79200" cy="12960"/>
          </a:xfrm>
          <a:custGeom>
            <a:avLst/>
            <a:gdLst/>
            <a:ahLst/>
            <a:rect l="0" t="0" r="r" b="b"/>
            <a:pathLst>
              <a:path w="220" h="36">
                <a:moveTo>
                  <a:pt x="0" y="0"/>
                </a:moveTo>
                <a:lnTo>
                  <a:pt x="220" y="0"/>
                </a:lnTo>
                <a:lnTo>
                  <a:pt x="220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934640" y="2620080"/>
            <a:ext cx="79200" cy="2160"/>
          </a:xfrm>
          <a:custGeom>
            <a:avLst/>
            <a:gdLst/>
            <a:ahLst/>
            <a:rect l="0" t="0" r="r" b="b"/>
            <a:pathLst>
              <a:path w="220" h="6">
                <a:moveTo>
                  <a:pt x="0" y="0"/>
                </a:moveTo>
                <a:lnTo>
                  <a:pt x="220" y="0"/>
                </a:lnTo>
                <a:lnTo>
                  <a:pt x="220" y="6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18640" y="757800"/>
            <a:ext cx="2311200" cy="804240"/>
          </a:xfrm>
          <a:custGeom>
            <a:avLst/>
            <a:gdLst/>
            <a:ahLst/>
            <a:rect l="0" t="0" r="r" b="b"/>
            <a:pathLst>
              <a:path fill="none" w="6420" h="2234">
                <a:moveTo>
                  <a:pt x="0" y="2234"/>
                </a:moveTo>
                <a:lnTo>
                  <a:pt x="291" y="1377"/>
                </a:lnTo>
                <a:lnTo>
                  <a:pt x="583" y="846"/>
                </a:lnTo>
                <a:lnTo>
                  <a:pt x="875" y="531"/>
                </a:lnTo>
                <a:lnTo>
                  <a:pt x="1168" y="383"/>
                </a:lnTo>
                <a:lnTo>
                  <a:pt x="1459" y="296"/>
                </a:lnTo>
                <a:lnTo>
                  <a:pt x="1751" y="225"/>
                </a:lnTo>
                <a:lnTo>
                  <a:pt x="2043" y="163"/>
                </a:lnTo>
                <a:lnTo>
                  <a:pt x="2335" y="133"/>
                </a:lnTo>
                <a:lnTo>
                  <a:pt x="2627" y="82"/>
                </a:lnTo>
                <a:lnTo>
                  <a:pt x="2918" y="47"/>
                </a:lnTo>
                <a:lnTo>
                  <a:pt x="3210" y="41"/>
                </a:lnTo>
                <a:lnTo>
                  <a:pt x="3502" y="26"/>
                </a:lnTo>
                <a:lnTo>
                  <a:pt x="3794" y="6"/>
                </a:lnTo>
                <a:lnTo>
                  <a:pt x="5836" y="6"/>
                </a:lnTo>
                <a:lnTo>
                  <a:pt x="6128" y="0"/>
                </a:lnTo>
                <a:lnTo>
                  <a:pt x="6420" y="0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3110400" y="7390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-18"/>
                  <a:pt x="107" y="-18"/>
                  <a:pt x="107" y="53"/>
                </a:cubicBezTo>
                <a:cubicBezTo>
                  <a:pt x="107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3110400" y="7390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3005280" y="7390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-18"/>
                  <a:pt x="107" y="-18"/>
                  <a:pt x="107" y="53"/>
                </a:cubicBezTo>
                <a:cubicBezTo>
                  <a:pt x="107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005280" y="7390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900160" y="7408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900160" y="7408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5"/>
                  <a:pt x="0" y="125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795400" y="74088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4"/>
                </a:moveTo>
                <a:cubicBezTo>
                  <a:pt x="0" y="-18"/>
                  <a:pt x="106" y="-18"/>
                  <a:pt x="106" y="54"/>
                </a:cubicBezTo>
                <a:cubicBezTo>
                  <a:pt x="106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795400" y="74088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4"/>
                </a:moveTo>
                <a:cubicBezTo>
                  <a:pt x="106" y="125"/>
                  <a:pt x="0" y="125"/>
                  <a:pt x="0" y="54"/>
                </a:cubicBezTo>
                <a:cubicBezTo>
                  <a:pt x="0" y="-18"/>
                  <a:pt x="106" y="-18"/>
                  <a:pt x="106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690280" y="7408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690280" y="7408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5"/>
                  <a:pt x="0" y="125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585160" y="7408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585160" y="7408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5"/>
                  <a:pt x="0" y="125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480040" y="7408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480040" y="7408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5"/>
                  <a:pt x="0" y="125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375280" y="74088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4"/>
                </a:moveTo>
                <a:cubicBezTo>
                  <a:pt x="0" y="-18"/>
                  <a:pt x="106" y="-18"/>
                  <a:pt x="106" y="54"/>
                </a:cubicBezTo>
                <a:cubicBezTo>
                  <a:pt x="106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2375280" y="74088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4"/>
                </a:moveTo>
                <a:cubicBezTo>
                  <a:pt x="106" y="125"/>
                  <a:pt x="0" y="125"/>
                  <a:pt x="0" y="54"/>
                </a:cubicBezTo>
                <a:cubicBezTo>
                  <a:pt x="0" y="-18"/>
                  <a:pt x="106" y="-18"/>
                  <a:pt x="106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270160" y="74088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4"/>
                </a:moveTo>
                <a:cubicBezTo>
                  <a:pt x="0" y="-18"/>
                  <a:pt x="106" y="-18"/>
                  <a:pt x="106" y="54"/>
                </a:cubicBezTo>
                <a:cubicBezTo>
                  <a:pt x="106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270160" y="74088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4"/>
                </a:moveTo>
                <a:cubicBezTo>
                  <a:pt x="106" y="125"/>
                  <a:pt x="0" y="125"/>
                  <a:pt x="0" y="54"/>
                </a:cubicBezTo>
                <a:cubicBezTo>
                  <a:pt x="0" y="-18"/>
                  <a:pt x="106" y="-18"/>
                  <a:pt x="106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165040" y="7408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165040" y="7408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5"/>
                  <a:pt x="0" y="125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059920" y="748440"/>
            <a:ext cx="38880" cy="38520"/>
          </a:xfrm>
          <a:custGeom>
            <a:avLst/>
            <a:gdLst/>
            <a:ahLst/>
            <a:rect l="0" t="0" r="r" b="b"/>
            <a:pathLst>
              <a:path w="108" h="107">
                <a:moveTo>
                  <a:pt x="0" y="53"/>
                </a:moveTo>
                <a:cubicBezTo>
                  <a:pt x="0" y="-17"/>
                  <a:pt x="108" y="-17"/>
                  <a:pt x="108" y="53"/>
                </a:cubicBezTo>
                <a:cubicBezTo>
                  <a:pt x="108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059920" y="748440"/>
            <a:ext cx="38880" cy="38520"/>
          </a:xfrm>
          <a:custGeom>
            <a:avLst/>
            <a:gdLst/>
            <a:ahLst/>
            <a:rect l="0" t="0" r="r" b="b"/>
            <a:pathLst>
              <a:path fill="none" w="108" h="107">
                <a:moveTo>
                  <a:pt x="108" y="53"/>
                </a:moveTo>
                <a:cubicBezTo>
                  <a:pt x="108" y="125"/>
                  <a:pt x="0" y="125"/>
                  <a:pt x="0" y="53"/>
                </a:cubicBezTo>
                <a:cubicBezTo>
                  <a:pt x="0" y="-17"/>
                  <a:pt x="108" y="-17"/>
                  <a:pt x="108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954800" y="75384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-17"/>
                  <a:pt x="107" y="-17"/>
                  <a:pt x="107" y="53"/>
                </a:cubicBezTo>
                <a:cubicBezTo>
                  <a:pt x="107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954800" y="75384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7"/>
                  <a:pt x="107" y="-17"/>
                  <a:pt x="107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850040" y="75564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3"/>
                </a:moveTo>
                <a:cubicBezTo>
                  <a:pt x="0" y="-18"/>
                  <a:pt x="106" y="-18"/>
                  <a:pt x="106" y="53"/>
                </a:cubicBezTo>
                <a:cubicBezTo>
                  <a:pt x="106" y="124"/>
                  <a:pt x="0" y="124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850040" y="75564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3"/>
                </a:moveTo>
                <a:cubicBezTo>
                  <a:pt x="106" y="124"/>
                  <a:pt x="0" y="124"/>
                  <a:pt x="0" y="53"/>
                </a:cubicBezTo>
                <a:cubicBezTo>
                  <a:pt x="0" y="-18"/>
                  <a:pt x="106" y="-18"/>
                  <a:pt x="106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744920" y="768240"/>
            <a:ext cx="38160" cy="38160"/>
          </a:xfrm>
          <a:custGeom>
            <a:avLst/>
            <a:gdLst/>
            <a:ahLst/>
            <a:rect l="0" t="0" r="r" b="b"/>
            <a:pathLst>
              <a:path w="106" h="106">
                <a:moveTo>
                  <a:pt x="0" y="53"/>
                </a:moveTo>
                <a:cubicBezTo>
                  <a:pt x="0" y="-18"/>
                  <a:pt x="106" y="-18"/>
                  <a:pt x="106" y="53"/>
                </a:cubicBezTo>
                <a:cubicBezTo>
                  <a:pt x="106" y="123"/>
                  <a:pt x="0" y="123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744920" y="768240"/>
            <a:ext cx="38160" cy="38160"/>
          </a:xfrm>
          <a:custGeom>
            <a:avLst/>
            <a:gdLst/>
            <a:ahLst/>
            <a:rect l="0" t="0" r="r" b="b"/>
            <a:pathLst>
              <a:path fill="none" w="106" h="106">
                <a:moveTo>
                  <a:pt x="106" y="53"/>
                </a:moveTo>
                <a:cubicBezTo>
                  <a:pt x="106" y="123"/>
                  <a:pt x="0" y="123"/>
                  <a:pt x="0" y="53"/>
                </a:cubicBezTo>
                <a:cubicBezTo>
                  <a:pt x="0" y="-18"/>
                  <a:pt x="106" y="-18"/>
                  <a:pt x="106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639800" y="7869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-17"/>
                  <a:pt x="107" y="-17"/>
                  <a:pt x="107" y="53"/>
                </a:cubicBezTo>
                <a:cubicBezTo>
                  <a:pt x="107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639800" y="78696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7"/>
                  <a:pt x="107" y="-17"/>
                  <a:pt x="107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534680" y="7977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-18"/>
                  <a:pt x="107" y="-18"/>
                  <a:pt x="107" y="53"/>
                </a:cubicBezTo>
                <a:cubicBezTo>
                  <a:pt x="107" y="124"/>
                  <a:pt x="0" y="124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534680" y="79776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4"/>
                  <a:pt x="0" y="124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429920" y="81972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3"/>
                </a:moveTo>
                <a:cubicBezTo>
                  <a:pt x="0" y="-18"/>
                  <a:pt x="106" y="-18"/>
                  <a:pt x="106" y="53"/>
                </a:cubicBezTo>
                <a:cubicBezTo>
                  <a:pt x="106" y="124"/>
                  <a:pt x="0" y="124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429920" y="81972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3"/>
                </a:moveTo>
                <a:cubicBezTo>
                  <a:pt x="106" y="124"/>
                  <a:pt x="0" y="124"/>
                  <a:pt x="0" y="53"/>
                </a:cubicBezTo>
                <a:cubicBezTo>
                  <a:pt x="0" y="-18"/>
                  <a:pt x="106" y="-18"/>
                  <a:pt x="106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324800" y="84564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3"/>
                </a:moveTo>
                <a:cubicBezTo>
                  <a:pt x="0" y="-18"/>
                  <a:pt x="106" y="-18"/>
                  <a:pt x="106" y="53"/>
                </a:cubicBezTo>
                <a:cubicBezTo>
                  <a:pt x="106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324800" y="84564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3"/>
                </a:moveTo>
                <a:cubicBezTo>
                  <a:pt x="106" y="125"/>
                  <a:pt x="0" y="125"/>
                  <a:pt x="0" y="53"/>
                </a:cubicBezTo>
                <a:cubicBezTo>
                  <a:pt x="0" y="-18"/>
                  <a:pt x="106" y="-18"/>
                  <a:pt x="106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219680" y="8766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4"/>
                  <a:pt x="0" y="124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219680" y="87660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4"/>
                  <a:pt x="0" y="124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114560" y="9298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4"/>
                </a:moveTo>
                <a:cubicBezTo>
                  <a:pt x="0" y="-18"/>
                  <a:pt x="107" y="-18"/>
                  <a:pt x="107" y="54"/>
                </a:cubicBezTo>
                <a:cubicBezTo>
                  <a:pt x="107" y="125"/>
                  <a:pt x="0" y="125"/>
                  <a:pt x="0" y="54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114560" y="9298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5"/>
                  <a:pt x="0" y="125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009440" y="10432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-18"/>
                  <a:pt x="107" y="-18"/>
                  <a:pt x="107" y="53"/>
                </a:cubicBezTo>
                <a:cubicBezTo>
                  <a:pt x="107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009440" y="10432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904680" y="123444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3"/>
                </a:moveTo>
                <a:cubicBezTo>
                  <a:pt x="0" y="-18"/>
                  <a:pt x="106" y="-18"/>
                  <a:pt x="106" y="53"/>
                </a:cubicBezTo>
                <a:cubicBezTo>
                  <a:pt x="106" y="125"/>
                  <a:pt x="0" y="125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04680" y="123444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3"/>
                </a:moveTo>
                <a:cubicBezTo>
                  <a:pt x="106" y="125"/>
                  <a:pt x="0" y="125"/>
                  <a:pt x="0" y="53"/>
                </a:cubicBezTo>
                <a:cubicBezTo>
                  <a:pt x="0" y="-18"/>
                  <a:pt x="106" y="-18"/>
                  <a:pt x="106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799560" y="154260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53"/>
                </a:moveTo>
                <a:cubicBezTo>
                  <a:pt x="0" y="-18"/>
                  <a:pt x="106" y="-18"/>
                  <a:pt x="106" y="53"/>
                </a:cubicBezTo>
                <a:cubicBezTo>
                  <a:pt x="106" y="124"/>
                  <a:pt x="0" y="124"/>
                  <a:pt x="0" y="53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99560" y="1542600"/>
            <a:ext cx="38160" cy="38520"/>
          </a:xfrm>
          <a:custGeom>
            <a:avLst/>
            <a:gdLst/>
            <a:ahLst/>
            <a:rect l="0" t="0" r="r" b="b"/>
            <a:pathLst>
              <a:path fill="none" w="106" h="107">
                <a:moveTo>
                  <a:pt x="106" y="53"/>
                </a:moveTo>
                <a:cubicBezTo>
                  <a:pt x="106" y="124"/>
                  <a:pt x="0" y="124"/>
                  <a:pt x="0" y="53"/>
                </a:cubicBezTo>
                <a:cubicBezTo>
                  <a:pt x="0" y="-18"/>
                  <a:pt x="106" y="-18"/>
                  <a:pt x="106" y="53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501560" y="851400"/>
            <a:ext cx="1296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Reporting completeness c(t)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154880" y="1880280"/>
            <a:ext cx="6746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0072B2"/>
                </a:solidFill>
                <a:effectLst/>
                <a:uFillTx/>
                <a:latin typeface="Arial"/>
                <a:ea typeface="Arial"/>
              </a:rPr>
              <a:t>Publication lag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551160" y="664560"/>
            <a:ext cx="0" cy="2050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54880" y="2028600"/>
            <a:ext cx="651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0072B2"/>
                </a:solidFill>
                <a:effectLst/>
                <a:uFillTx/>
                <a:latin typeface="Arial"/>
                <a:ea typeface="Arial"/>
              </a:rPr>
              <a:t>(% of records)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43880" y="25711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93120" y="21038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93120" y="16365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93120" y="116928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19840" y="26218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19840" y="21546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19840" y="16873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19840" y="12196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19840" y="7524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51160" y="2715120"/>
            <a:ext cx="27010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 flipV="1">
            <a:off x="71352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 flipV="1">
            <a:off x="123876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 flipV="1">
            <a:off x="176400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228924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 flipV="1">
            <a:off x="281448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42000" y="70200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88320" y="2759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213560" y="2759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713240" y="27594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238480" y="27594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763720" y="27594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08120" y="2905560"/>
            <a:ext cx="23000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Years between discovery and publication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 rot="16200000">
            <a:off x="-1800" y="1638360"/>
            <a:ext cx="4719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Per cent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51520" y="335880"/>
            <a:ext cx="1585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Median lag 1 yr, mean 2.09 yr;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51520" y="461880"/>
            <a:ext cx="1612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81.7% lag by at least one year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51520" y="145440"/>
            <a:ext cx="2496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 reach print years after discovery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784680" y="664560"/>
            <a:ext cx="2701080" cy="2050920"/>
          </a:xfrm>
          <a:custGeom>
            <a:avLst/>
            <a:gdLst/>
            <a:ahLst/>
            <a:rect l="0" t="0" r="r" b="b"/>
            <a:pathLst>
              <a:path w="7503" h="5697">
                <a:moveTo>
                  <a:pt x="0" y="0"/>
                </a:moveTo>
                <a:lnTo>
                  <a:pt x="7503" y="0"/>
                </a:lnTo>
                <a:lnTo>
                  <a:pt x="7503" y="5697"/>
                </a:lnTo>
                <a:lnTo>
                  <a:pt x="0" y="56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784680" y="2148480"/>
            <a:ext cx="2700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784680" y="1556640"/>
            <a:ext cx="2700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784680" y="965160"/>
            <a:ext cx="2700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3907440" y="1053720"/>
            <a:ext cx="2401200" cy="1539000"/>
          </a:xfrm>
          <a:custGeom>
            <a:avLst/>
            <a:gdLst/>
            <a:ahLst/>
            <a:rect l="0" t="0" r="r" b="b"/>
            <a:pathLst>
              <a:path fill="none" w="6670" h="4275">
                <a:moveTo>
                  <a:pt x="0" y="3946"/>
                </a:moveTo>
                <a:lnTo>
                  <a:pt x="303" y="4275"/>
                </a:lnTo>
                <a:lnTo>
                  <a:pt x="606" y="3123"/>
                </a:lnTo>
                <a:lnTo>
                  <a:pt x="909" y="3617"/>
                </a:lnTo>
                <a:lnTo>
                  <a:pt x="1212" y="2630"/>
                </a:lnTo>
                <a:lnTo>
                  <a:pt x="1515" y="2959"/>
                </a:lnTo>
                <a:lnTo>
                  <a:pt x="1818" y="4028"/>
                </a:lnTo>
                <a:lnTo>
                  <a:pt x="2122" y="2877"/>
                </a:lnTo>
                <a:lnTo>
                  <a:pt x="2425" y="2301"/>
                </a:lnTo>
                <a:lnTo>
                  <a:pt x="2728" y="2219"/>
                </a:lnTo>
                <a:lnTo>
                  <a:pt x="3031" y="2794"/>
                </a:lnTo>
                <a:lnTo>
                  <a:pt x="3334" y="1808"/>
                </a:lnTo>
                <a:lnTo>
                  <a:pt x="3637" y="1726"/>
                </a:lnTo>
                <a:lnTo>
                  <a:pt x="3940" y="1890"/>
                </a:lnTo>
                <a:lnTo>
                  <a:pt x="4243" y="986"/>
                </a:lnTo>
                <a:lnTo>
                  <a:pt x="4547" y="986"/>
                </a:lnTo>
                <a:lnTo>
                  <a:pt x="4850" y="2301"/>
                </a:lnTo>
                <a:lnTo>
                  <a:pt x="5153" y="0"/>
                </a:lnTo>
                <a:lnTo>
                  <a:pt x="5456" y="986"/>
                </a:lnTo>
                <a:lnTo>
                  <a:pt x="5759" y="1397"/>
                </a:lnTo>
                <a:lnTo>
                  <a:pt x="6063" y="1890"/>
                </a:lnTo>
                <a:lnTo>
                  <a:pt x="6366" y="1479"/>
                </a:lnTo>
                <a:lnTo>
                  <a:pt x="6670" y="3535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3907440" y="757800"/>
            <a:ext cx="2401200" cy="1864440"/>
          </a:xfrm>
          <a:custGeom>
            <a:avLst/>
            <a:gdLst/>
            <a:ahLst/>
            <a:rect l="0" t="0" r="r" b="b"/>
            <a:pathLst>
              <a:path fill="none" w="6670" h="5179">
                <a:moveTo>
                  <a:pt x="0" y="5097"/>
                </a:moveTo>
                <a:lnTo>
                  <a:pt x="303" y="4768"/>
                </a:lnTo>
                <a:lnTo>
                  <a:pt x="606" y="5179"/>
                </a:lnTo>
                <a:lnTo>
                  <a:pt x="909" y="5097"/>
                </a:lnTo>
                <a:lnTo>
                  <a:pt x="1212" y="2796"/>
                </a:lnTo>
                <a:lnTo>
                  <a:pt x="1515" y="4111"/>
                </a:lnTo>
                <a:lnTo>
                  <a:pt x="1818" y="4686"/>
                </a:lnTo>
                <a:lnTo>
                  <a:pt x="2122" y="4193"/>
                </a:lnTo>
                <a:lnTo>
                  <a:pt x="2425" y="2631"/>
                </a:lnTo>
                <a:lnTo>
                  <a:pt x="2728" y="3371"/>
                </a:lnTo>
                <a:lnTo>
                  <a:pt x="3031" y="4275"/>
                </a:lnTo>
                <a:lnTo>
                  <a:pt x="3334" y="3289"/>
                </a:lnTo>
                <a:lnTo>
                  <a:pt x="3637" y="2878"/>
                </a:lnTo>
                <a:lnTo>
                  <a:pt x="3940" y="3535"/>
                </a:lnTo>
                <a:lnTo>
                  <a:pt x="4243" y="3289"/>
                </a:lnTo>
                <a:lnTo>
                  <a:pt x="4547" y="1809"/>
                </a:lnTo>
                <a:lnTo>
                  <a:pt x="4850" y="2138"/>
                </a:lnTo>
                <a:lnTo>
                  <a:pt x="5153" y="1727"/>
                </a:lnTo>
                <a:lnTo>
                  <a:pt x="5456" y="2713"/>
                </a:lnTo>
                <a:lnTo>
                  <a:pt x="5759" y="2796"/>
                </a:lnTo>
                <a:lnTo>
                  <a:pt x="6063" y="1892"/>
                </a:lnTo>
                <a:lnTo>
                  <a:pt x="6366" y="577"/>
                </a:lnTo>
                <a:lnTo>
                  <a:pt x="6670" y="0"/>
                </a:lnTo>
              </a:path>
            </a:pathLst>
          </a:custGeom>
          <a:ln w="18720">
            <a:solidFill>
              <a:srgbClr val="E69F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287760" y="230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287760" y="23058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5523840" y="1388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523840" y="1388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960160" y="1536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960160" y="15364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08716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087160" y="16844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5414760" y="1388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414760" y="1388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759920" y="1861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759920" y="1861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978080" y="2039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978080" y="20394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632920" y="1861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632920" y="1861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851080" y="1388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851080" y="1388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4323600" y="1980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4323600" y="1980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4541760" y="24832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4541760" y="24832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4869000" y="1832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869000" y="18324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742000" y="10335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742000" y="10335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069600" y="1713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6069600" y="1713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305680" y="1713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305680" y="1713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178680" y="1566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178680" y="15660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214520" y="2335320"/>
            <a:ext cx="40680" cy="41400"/>
          </a:xfrm>
          <a:custGeom>
            <a:avLst/>
            <a:gdLst/>
            <a:ahLst/>
            <a:rect l="0" t="0" r="r" b="b"/>
            <a:pathLst>
              <a:path w="113" h="115">
                <a:moveTo>
                  <a:pt x="0" y="57"/>
                </a:moveTo>
                <a:cubicBezTo>
                  <a:pt x="0" y="-19"/>
                  <a:pt x="113" y="-19"/>
                  <a:pt x="113" y="57"/>
                </a:cubicBezTo>
                <a:cubicBezTo>
                  <a:pt x="113" y="134"/>
                  <a:pt x="0" y="134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214520" y="2335320"/>
            <a:ext cx="40680" cy="41400"/>
          </a:xfrm>
          <a:custGeom>
            <a:avLst/>
            <a:gdLst/>
            <a:ahLst/>
            <a:rect l="0" t="0" r="r" b="b"/>
            <a:pathLst>
              <a:path fill="none" w="113" h="115">
                <a:moveTo>
                  <a:pt x="113" y="57"/>
                </a:moveTo>
                <a:cubicBezTo>
                  <a:pt x="113" y="134"/>
                  <a:pt x="0" y="134"/>
                  <a:pt x="0" y="57"/>
                </a:cubicBezTo>
                <a:cubicBezTo>
                  <a:pt x="0" y="-19"/>
                  <a:pt x="113" y="-19"/>
                  <a:pt x="113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4650840" y="206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4650840" y="2068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3996000" y="2571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996000" y="25718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432680" y="2098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4432680" y="20984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196600" y="16545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196600" y="16545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105080" y="215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105080" y="21578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886920" y="24537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886920" y="24537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287760" y="737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287760" y="737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742000" y="1359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42000" y="13590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632920" y="1506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632920" y="1506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523840" y="1388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523840" y="1388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087160" y="192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087160" y="19209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305680" y="2009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305680" y="20098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851080" y="1713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851080" y="1713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178680" y="944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178680" y="944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75992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759920" y="16844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069600" y="14180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069600" y="14180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541760" y="2423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541760" y="24238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960160" y="1743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960160" y="17434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432680" y="2216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4432680" y="22168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4978080" y="2275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978080" y="2275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323600" y="1743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323600" y="17434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414760" y="192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414760" y="1920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105080" y="26013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105080" y="26013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886920" y="2571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886920" y="25718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650840" y="2246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650840" y="22464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214520" y="2571840"/>
            <a:ext cx="40680" cy="41040"/>
          </a:xfrm>
          <a:custGeom>
            <a:avLst/>
            <a:gdLst/>
            <a:ahLst/>
            <a:rect l="0" t="0" r="r" b="b"/>
            <a:pathLst>
              <a:path w="113" h="114">
                <a:moveTo>
                  <a:pt x="0" y="58"/>
                </a:moveTo>
                <a:cubicBezTo>
                  <a:pt x="0" y="-19"/>
                  <a:pt x="113" y="-19"/>
                  <a:pt x="113" y="58"/>
                </a:cubicBezTo>
                <a:cubicBezTo>
                  <a:pt x="113" y="133"/>
                  <a:pt x="0" y="133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214520" y="2571840"/>
            <a:ext cx="40680" cy="41040"/>
          </a:xfrm>
          <a:custGeom>
            <a:avLst/>
            <a:gdLst/>
            <a:ahLst/>
            <a:rect l="0" t="0" r="r" b="b"/>
            <a:pathLst>
              <a:path fill="none" w="113" h="114">
                <a:moveTo>
                  <a:pt x="113" y="58"/>
                </a:moveTo>
                <a:cubicBezTo>
                  <a:pt x="113" y="133"/>
                  <a:pt x="0" y="133"/>
                  <a:pt x="0" y="58"/>
                </a:cubicBezTo>
                <a:cubicBezTo>
                  <a:pt x="0" y="-19"/>
                  <a:pt x="113" y="-19"/>
                  <a:pt x="113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196600" y="177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196600" y="17730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996000" y="24537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996000" y="24537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4869000" y="1950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869000" y="19504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035400" y="664560"/>
            <a:ext cx="327600" cy="2050920"/>
          </a:xfrm>
          <a:custGeom>
            <a:avLst/>
            <a:gdLst/>
            <a:ahLst/>
            <a:rect l="0" t="0" r="r" b="b"/>
            <a:pathLst>
              <a:path w="910" h="5697">
                <a:moveTo>
                  <a:pt x="0" y="0"/>
                </a:moveTo>
                <a:lnTo>
                  <a:pt x="910" y="0"/>
                </a:lnTo>
                <a:lnTo>
                  <a:pt x="910" y="5697"/>
                </a:lnTo>
                <a:lnTo>
                  <a:pt x="0" y="5697"/>
                </a:lnTo>
                <a:lnTo>
                  <a:pt x="0" y="0"/>
                </a:lnTo>
                <a:close/>
              </a:path>
            </a:pathLst>
          </a:custGeom>
          <a:solidFill>
            <a:srgbClr val="B3B3B3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41840" y="1126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291640" y="692640"/>
            <a:ext cx="6631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right-censored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 flipV="1">
            <a:off x="3784680" y="664560"/>
            <a:ext cx="0" cy="2050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151960" y="840960"/>
            <a:ext cx="801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by publication lag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626280" y="209772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626280" y="15062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753000" y="2148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753000" y="1556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753000" y="965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784680" y="2715120"/>
            <a:ext cx="27007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423468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 flipV="1">
            <a:off x="478044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 flipV="1">
            <a:off x="532584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 flipV="1">
            <a:off x="587160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 flipV="1">
            <a:off x="6417360" y="271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626280" y="9144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133160" y="27594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678920" y="27594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224680" y="27594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770080" y="27594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315840" y="27594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741120" y="753840"/>
            <a:ext cx="1383480" cy="355320"/>
          </a:xfrm>
          <a:custGeom>
            <a:avLst/>
            <a:gdLst/>
            <a:ahLst/>
            <a:rect l="0" t="0" r="r" b="b"/>
            <a:pathLst>
              <a:path w="3843" h="987">
                <a:moveTo>
                  <a:pt x="0" y="0"/>
                </a:moveTo>
                <a:lnTo>
                  <a:pt x="3843" y="0"/>
                </a:lnTo>
                <a:lnTo>
                  <a:pt x="3843" y="987"/>
                </a:lnTo>
                <a:lnTo>
                  <a:pt x="0" y="9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3804480" y="81684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816000" y="874080"/>
            <a:ext cx="91080" cy="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841200" y="853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3841200" y="853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804480" y="93132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3816000" y="988560"/>
            <a:ext cx="91080" cy="0"/>
          </a:xfrm>
          <a:prstGeom prst="line">
            <a:avLst/>
          </a:prstGeom>
          <a:ln w="187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3841200" y="9680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3841200" y="9680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 rot="16200000">
            <a:off x="2878200" y="1640880"/>
            <a:ext cx="1280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New provincial records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981600" y="829800"/>
            <a:ext cx="9853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Discovery year (v2)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981600" y="944280"/>
            <a:ext cx="1042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Publication year (v1)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784680" y="335880"/>
            <a:ext cx="1807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The same events, dated two ways;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784680" y="461880"/>
            <a:ext cx="10443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83.1% change year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784680" y="145440"/>
            <a:ext cx="2770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Publication-year dating fakes a terminal surge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51160" y="3589920"/>
            <a:ext cx="5934600" cy="1948320"/>
          </a:xfrm>
          <a:custGeom>
            <a:avLst/>
            <a:gdLst/>
            <a:ahLst/>
            <a:rect l="0" t="0" r="r" b="b"/>
            <a:pathLst>
              <a:path w="16485" h="5412">
                <a:moveTo>
                  <a:pt x="0" y="0"/>
                </a:moveTo>
                <a:lnTo>
                  <a:pt x="16485" y="0"/>
                </a:lnTo>
                <a:lnTo>
                  <a:pt x="16485" y="5412"/>
                </a:lnTo>
                <a:lnTo>
                  <a:pt x="0" y="54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51160" y="5522040"/>
            <a:ext cx="5934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51160" y="5148720"/>
            <a:ext cx="5934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51160" y="4775400"/>
            <a:ext cx="5934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551160" y="4402080"/>
            <a:ext cx="5934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51160" y="4028760"/>
            <a:ext cx="5934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51160" y="3655440"/>
            <a:ext cx="5934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51160" y="5148720"/>
            <a:ext cx="591300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125720" y="3678480"/>
            <a:ext cx="4785840" cy="964800"/>
          </a:xfrm>
          <a:custGeom>
            <a:avLst/>
            <a:gdLst/>
            <a:ahLst/>
            <a:rect l="0" t="0" r="r" b="b"/>
            <a:pathLst>
              <a:path fill="none" w="13294" h="2680">
                <a:moveTo>
                  <a:pt x="0" y="0"/>
                </a:moveTo>
                <a:lnTo>
                  <a:pt x="2658" y="2482"/>
                </a:lnTo>
                <a:lnTo>
                  <a:pt x="5318" y="2680"/>
                </a:lnTo>
                <a:lnTo>
                  <a:pt x="7976" y="2529"/>
                </a:lnTo>
                <a:lnTo>
                  <a:pt x="10635" y="1660"/>
                </a:lnTo>
                <a:lnTo>
                  <a:pt x="13294" y="1859"/>
                </a:lnTo>
              </a:path>
            </a:pathLst>
          </a:custGeom>
          <a:ln w="17280">
            <a:solidFill>
              <a:srgbClr val="0072B2"/>
            </a:solidFill>
            <a:round/>
          </a:ln>
        </p:spPr>
        <p:txBody>
          <a:bodyPr lIns="8640" tIns="8640" rIns="8640" bIns="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125720" y="4328280"/>
            <a:ext cx="4785840" cy="140040"/>
          </a:xfrm>
          <a:custGeom>
            <a:avLst/>
            <a:gdLst/>
            <a:ahLst/>
            <a:rect l="0" t="0" r="r" b="b"/>
            <a:pathLst>
              <a:path fill="none" w="13294" h="389">
                <a:moveTo>
                  <a:pt x="0" y="237"/>
                </a:moveTo>
                <a:lnTo>
                  <a:pt x="2658" y="0"/>
                </a:lnTo>
                <a:lnTo>
                  <a:pt x="5318" y="25"/>
                </a:lnTo>
                <a:lnTo>
                  <a:pt x="7976" y="28"/>
                </a:lnTo>
                <a:lnTo>
                  <a:pt x="10635" y="47"/>
                </a:lnTo>
                <a:lnTo>
                  <a:pt x="13294" y="389"/>
                </a:lnTo>
              </a:path>
            </a:pathLst>
          </a:custGeom>
          <a:ln w="17280">
            <a:solidFill>
              <a:srgbClr val="009E73"/>
            </a:solidFill>
            <a:round/>
          </a:ln>
        </p:spPr>
        <p:txBody>
          <a:bodyPr lIns="8640" tIns="8640" rIns="8640" bIns="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125720" y="5158800"/>
            <a:ext cx="4785840" cy="269640"/>
          </a:xfrm>
          <a:custGeom>
            <a:avLst/>
            <a:gdLst/>
            <a:ahLst/>
            <a:rect l="0" t="0" r="r" b="b"/>
            <a:pathLst>
              <a:path fill="none" w="13294" h="749">
                <a:moveTo>
                  <a:pt x="0" y="749"/>
                </a:moveTo>
                <a:lnTo>
                  <a:pt x="2658" y="123"/>
                </a:lnTo>
                <a:lnTo>
                  <a:pt x="5318" y="189"/>
                </a:lnTo>
                <a:lnTo>
                  <a:pt x="7976" y="190"/>
                </a:lnTo>
                <a:lnTo>
                  <a:pt x="10635" y="174"/>
                </a:lnTo>
                <a:lnTo>
                  <a:pt x="13294" y="0"/>
                </a:lnTo>
              </a:path>
            </a:pathLst>
          </a:custGeom>
          <a:ln w="17280">
            <a:solidFill>
              <a:srgbClr val="999999"/>
            </a:solidFill>
            <a:round/>
          </a:ln>
        </p:spPr>
        <p:txBody>
          <a:bodyPr lIns="8640" tIns="8640" rIns="8640" bIns="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125720" y="5380200"/>
            <a:ext cx="4785840" cy="69480"/>
          </a:xfrm>
          <a:custGeom>
            <a:avLst/>
            <a:gdLst/>
            <a:ahLst/>
            <a:rect l="0" t="0" r="r" b="b"/>
            <a:pathLst>
              <a:path fill="none" w="13294" h="193">
                <a:moveTo>
                  <a:pt x="0" y="0"/>
                </a:moveTo>
                <a:lnTo>
                  <a:pt x="2658" y="127"/>
                </a:lnTo>
                <a:lnTo>
                  <a:pt x="5318" y="105"/>
                </a:lnTo>
                <a:lnTo>
                  <a:pt x="7976" y="106"/>
                </a:lnTo>
                <a:lnTo>
                  <a:pt x="10635" y="113"/>
                </a:lnTo>
                <a:lnTo>
                  <a:pt x="13294" y="193"/>
                </a:lnTo>
              </a:path>
            </a:pathLst>
          </a:custGeom>
          <a:ln w="17280">
            <a:solidFill>
              <a:srgbClr val="CC79A7"/>
            </a:solidFill>
            <a:round/>
          </a:ln>
        </p:spPr>
        <p:txBody>
          <a:bodyPr lIns="8640" tIns="8640" rIns="8640" bIns="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094400" y="36471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094400" y="36471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051640" y="45403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051640" y="45403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3008520" y="461160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3008520" y="461160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965760" y="45572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3965760" y="45572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4923000" y="42447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4923000" y="42447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879880" y="43160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879880" y="43160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094400" y="43819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094400" y="43819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051640" y="42969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051640" y="42969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3008520" y="430596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3008520" y="430596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3965760" y="43070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965760" y="43070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923000" y="43138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923000" y="43138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879880" y="44366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879880" y="44366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094400" y="53967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094400" y="53967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051640" y="51717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051640" y="51717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3008520" y="519552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3008520" y="519552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8"/>
                </a:moveTo>
                <a:cubicBezTo>
                  <a:pt x="175" y="204"/>
                  <a:pt x="0" y="204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965760" y="519588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965760" y="519588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923000" y="519048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923000" y="519048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879880" y="5127480"/>
            <a:ext cx="62640" cy="62280"/>
          </a:xfrm>
          <a:custGeom>
            <a:avLst/>
            <a:gdLst/>
            <a:ahLst/>
            <a:rect l="0" t="0" r="r" b="b"/>
            <a:pathLst>
              <a:path w="174" h="173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2"/>
                  <a:pt x="0" y="202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879880" y="5127480"/>
            <a:ext cx="62640" cy="62280"/>
          </a:xfrm>
          <a:custGeom>
            <a:avLst/>
            <a:gdLst/>
            <a:ahLst/>
            <a:rect l="0" t="0" r="r" b="b"/>
            <a:pathLst>
              <a:path fill="none" w="174" h="173">
                <a:moveTo>
                  <a:pt x="174" y="87"/>
                </a:moveTo>
                <a:cubicBezTo>
                  <a:pt x="174" y="202"/>
                  <a:pt x="0" y="202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094400" y="53488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94400" y="53488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051640" y="539424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051640" y="539424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008520" y="538632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3008520" y="538632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8"/>
                </a:moveTo>
                <a:cubicBezTo>
                  <a:pt x="175" y="204"/>
                  <a:pt x="0" y="204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965760" y="538668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965760" y="538668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4923000" y="53892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4923000" y="53892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879880" y="5418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879880" y="5418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604160" y="3589920"/>
            <a:ext cx="957600" cy="1948320"/>
          </a:xfrm>
          <a:custGeom>
            <a:avLst/>
            <a:gdLst/>
            <a:ahLst/>
            <a:rect l="0" t="0" r="r" b="b"/>
            <a:pathLst>
              <a:path w="2660" h="5412">
                <a:moveTo>
                  <a:pt x="0" y="0"/>
                </a:moveTo>
                <a:lnTo>
                  <a:pt x="2660" y="0"/>
                </a:lnTo>
                <a:lnTo>
                  <a:pt x="2660" y="5412"/>
                </a:lnTo>
                <a:lnTo>
                  <a:pt x="0" y="5412"/>
                </a:lnTo>
                <a:lnTo>
                  <a:pt x="0" y="0"/>
                </a:lnTo>
                <a:close/>
              </a:path>
            </a:pathLst>
          </a:custGeom>
          <a:solidFill>
            <a:srgbClr val="D55E00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3427200" y="1126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 flipV="1">
            <a:off x="551160" y="3589920"/>
            <a:ext cx="0" cy="19479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860480" y="3754080"/>
            <a:ext cx="4096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re-dating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67560" y="54712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67560" y="5097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67560" y="4724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67560" y="43513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67560" y="3978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19840" y="55220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19840" y="5148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519840" y="47754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19840" y="44020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19840" y="4028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19840" y="36554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51160" y="5537880"/>
            <a:ext cx="59342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 flipV="1">
            <a:off x="1125720" y="553788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 flipV="1">
            <a:off x="2082600" y="553788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 flipV="1">
            <a:off x="3039840" y="553788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 flipV="1">
            <a:off x="3996720" y="553788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 flipV="1">
            <a:off x="4953960" y="553788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 flipV="1">
            <a:off x="5911200" y="553788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367560" y="36046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068480" y="5582160"/>
            <a:ext cx="125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2025720" y="5582160"/>
            <a:ext cx="125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2982960" y="5582160"/>
            <a:ext cx="125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3939840" y="5582160"/>
            <a:ext cx="125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4897080" y="5582160"/>
            <a:ext cx="125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854320" y="5582160"/>
            <a:ext cx="125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612120" y="4272120"/>
            <a:ext cx="1446840" cy="583920"/>
          </a:xfrm>
          <a:custGeom>
            <a:avLst/>
            <a:gdLst/>
            <a:ahLst/>
            <a:rect l="0" t="0" r="r" b="b"/>
            <a:pathLst>
              <a:path w="4019" h="1622">
                <a:moveTo>
                  <a:pt x="0" y="0"/>
                </a:moveTo>
                <a:lnTo>
                  <a:pt x="4019" y="0"/>
                </a:lnTo>
                <a:lnTo>
                  <a:pt x="4019" y="1622"/>
                </a:lnTo>
                <a:lnTo>
                  <a:pt x="0" y="16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675120" y="43351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6686640" y="4392360"/>
            <a:ext cx="91080" cy="0"/>
          </a:xfrm>
          <a:prstGeom prst="line">
            <a:avLst/>
          </a:prstGeom>
          <a:ln w="1728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640" tIns="-8640" rIns="8640" bIns="-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6701040" y="43614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6701040" y="43614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6675120" y="44496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686640" y="4506840"/>
            <a:ext cx="91080" cy="0"/>
          </a:xfrm>
          <a:prstGeom prst="line">
            <a:avLst/>
          </a:prstGeom>
          <a:ln w="1728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640" tIns="-8640" rIns="8640" bIns="-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701040" y="4475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701040" y="4475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6675120" y="45637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686640" y="4620960"/>
            <a:ext cx="91080" cy="0"/>
          </a:xfrm>
          <a:prstGeom prst="line">
            <a:avLst/>
          </a:prstGeom>
          <a:ln w="1728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640" tIns="-8640" rIns="8640" bIns="-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701040" y="4590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701040" y="4590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675120" y="46782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6686640" y="4735440"/>
            <a:ext cx="91080" cy="0"/>
          </a:xfrm>
          <a:prstGeom prst="line">
            <a:avLst/>
          </a:prstGeom>
          <a:ln w="17280">
            <a:solidFill>
              <a:srgbClr val="CC7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640" tIns="-8640" rIns="8640" bIns="-86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701040" y="47041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701040" y="47041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CC79A7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 rot="16200000">
            <a:off x="-377640" y="4523760"/>
            <a:ext cx="1224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6852600" y="4348080"/>
            <a:ext cx="648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852600" y="4462560"/>
            <a:ext cx="1125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852600" y="4576680"/>
            <a:ext cx="864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Annual variability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852600" y="4691160"/>
            <a:ext cx="839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Warming x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51520" y="3387240"/>
            <a:ext cx="5646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S0 v1 published -&gt; S1 discovery-year -&gt; S2 effort gaps -&gt; S3 area weights -&gt; S4 offset -&gt; S5 province x year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51520" y="3196800"/>
            <a:ext cx="2538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Re-dating is the single decisive correction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65960" y="31582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Figure2</dc:title>
</cp:coreProperties>
</file>