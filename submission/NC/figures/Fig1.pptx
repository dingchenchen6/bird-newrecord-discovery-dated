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8229600" cy="5842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11480" y="218520"/>
            <a:ext cx="7406280" cy="91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11480" y="1282680"/>
            <a:ext cx="7406280" cy="317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8229960" cy="5842080"/>
          </a:xfrm>
          <a:custGeom>
            <a:avLst/>
            <a:gdLst/>
            <a:ahLst/>
            <a:rect l="0" t="0" r="r" b="b"/>
            <a:pathLst>
              <a:path w="22861" h="16228">
                <a:moveTo>
                  <a:pt x="0" y="0"/>
                </a:moveTo>
                <a:lnTo>
                  <a:pt x="22861" y="0"/>
                </a:lnTo>
                <a:lnTo>
                  <a:pt x="22861" y="16228"/>
                </a:lnTo>
                <a:lnTo>
                  <a:pt x="0" y="1622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8229960" cy="5842080"/>
          </a:xfrm>
          <a:custGeom>
            <a:avLst/>
            <a:gdLst/>
            <a:ahLst/>
            <a:rect l="0" t="0" r="r" b="b"/>
            <a:pathLst>
              <a:path w="22861" h="16228">
                <a:moveTo>
                  <a:pt x="0" y="0"/>
                </a:moveTo>
                <a:lnTo>
                  <a:pt x="22861" y="0"/>
                </a:lnTo>
                <a:lnTo>
                  <a:pt x="22861" y="16228"/>
                </a:lnTo>
                <a:lnTo>
                  <a:pt x="0" y="1622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3320">
            <a:solidFill>
              <a:srgbClr val="FFFFFF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69480" y="3120840"/>
            <a:ext cx="8090640" cy="2651760"/>
          </a:xfrm>
          <a:custGeom>
            <a:avLst/>
            <a:gdLst/>
            <a:ahLst/>
            <a:rect l="0" t="0" r="r" b="b"/>
            <a:pathLst>
              <a:path w="22474" h="7366">
                <a:moveTo>
                  <a:pt x="0" y="0"/>
                </a:moveTo>
                <a:lnTo>
                  <a:pt x="22474" y="0"/>
                </a:lnTo>
                <a:lnTo>
                  <a:pt x="22474" y="7366"/>
                </a:lnTo>
                <a:lnTo>
                  <a:pt x="0" y="736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69480" y="69480"/>
            <a:ext cx="3284280" cy="3051720"/>
          </a:xfrm>
          <a:custGeom>
            <a:avLst/>
            <a:gdLst/>
            <a:ahLst/>
            <a:rect l="0" t="0" r="r" b="b"/>
            <a:pathLst>
              <a:path w="9123" h="8477">
                <a:moveTo>
                  <a:pt x="0" y="0"/>
                </a:moveTo>
                <a:lnTo>
                  <a:pt x="9123" y="0"/>
                </a:lnTo>
                <a:lnTo>
                  <a:pt x="9123" y="8477"/>
                </a:lnTo>
                <a:lnTo>
                  <a:pt x="0" y="84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3353400" y="69480"/>
            <a:ext cx="4806720" cy="3051720"/>
          </a:xfrm>
          <a:custGeom>
            <a:avLst/>
            <a:gdLst/>
            <a:ahLst/>
            <a:rect l="0" t="0" r="r" b="b"/>
            <a:pathLst>
              <a:path w="13352" h="8477">
                <a:moveTo>
                  <a:pt x="0" y="0"/>
                </a:moveTo>
                <a:lnTo>
                  <a:pt x="13352" y="0"/>
                </a:lnTo>
                <a:lnTo>
                  <a:pt x="13352" y="8477"/>
                </a:lnTo>
                <a:lnTo>
                  <a:pt x="0" y="84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551160" y="664560"/>
            <a:ext cx="2701440" cy="2050920"/>
          </a:xfrm>
          <a:custGeom>
            <a:avLst/>
            <a:gdLst/>
            <a:ahLst/>
            <a:rect l="0" t="0" r="r" b="b"/>
            <a:pathLst>
              <a:path w="7504" h="5697">
                <a:moveTo>
                  <a:pt x="0" y="0"/>
                </a:moveTo>
                <a:lnTo>
                  <a:pt x="7504" y="0"/>
                </a:lnTo>
                <a:lnTo>
                  <a:pt x="7504" y="5697"/>
                </a:lnTo>
                <a:lnTo>
                  <a:pt x="0" y="5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551160" y="2621880"/>
            <a:ext cx="27010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551160" y="2154600"/>
            <a:ext cx="27010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551160" y="1687320"/>
            <a:ext cx="27010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551160" y="1219680"/>
            <a:ext cx="27010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551160" y="752400"/>
            <a:ext cx="27010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673920" y="2296440"/>
            <a:ext cx="79200" cy="325800"/>
          </a:xfrm>
          <a:custGeom>
            <a:avLst/>
            <a:gdLst/>
            <a:ahLst/>
            <a:rect l="0" t="0" r="r" b="b"/>
            <a:pathLst>
              <a:path w="220" h="905">
                <a:moveTo>
                  <a:pt x="0" y="0"/>
                </a:moveTo>
                <a:lnTo>
                  <a:pt x="220" y="0"/>
                </a:lnTo>
                <a:lnTo>
                  <a:pt x="220" y="905"/>
                </a:lnTo>
                <a:lnTo>
                  <a:pt x="0" y="905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779040" y="1896480"/>
            <a:ext cx="79200" cy="725760"/>
          </a:xfrm>
          <a:custGeom>
            <a:avLst/>
            <a:gdLst/>
            <a:ahLst/>
            <a:rect l="0" t="0" r="r" b="b"/>
            <a:pathLst>
              <a:path w="220" h="2016">
                <a:moveTo>
                  <a:pt x="0" y="0"/>
                </a:moveTo>
                <a:lnTo>
                  <a:pt x="220" y="0"/>
                </a:lnTo>
                <a:lnTo>
                  <a:pt x="220" y="2016"/>
                </a:lnTo>
                <a:lnTo>
                  <a:pt x="0" y="2016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884160" y="2316600"/>
            <a:ext cx="79200" cy="305640"/>
          </a:xfrm>
          <a:custGeom>
            <a:avLst/>
            <a:gdLst/>
            <a:ahLst/>
            <a:rect l="0" t="0" r="r" b="b"/>
            <a:pathLst>
              <a:path w="220" h="849">
                <a:moveTo>
                  <a:pt x="0" y="0"/>
                </a:moveTo>
                <a:lnTo>
                  <a:pt x="220" y="0"/>
                </a:lnTo>
                <a:lnTo>
                  <a:pt x="220" y="849"/>
                </a:lnTo>
                <a:lnTo>
                  <a:pt x="0" y="849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989280" y="2432880"/>
            <a:ext cx="79200" cy="189360"/>
          </a:xfrm>
          <a:custGeom>
            <a:avLst/>
            <a:gdLst/>
            <a:ahLst/>
            <a:rect l="0" t="0" r="r" b="b"/>
            <a:pathLst>
              <a:path w="220" h="526">
                <a:moveTo>
                  <a:pt x="0" y="0"/>
                </a:moveTo>
                <a:lnTo>
                  <a:pt x="220" y="0"/>
                </a:lnTo>
                <a:lnTo>
                  <a:pt x="220" y="526"/>
                </a:lnTo>
                <a:lnTo>
                  <a:pt x="0" y="526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1094400" y="2509200"/>
            <a:ext cx="78840" cy="113040"/>
          </a:xfrm>
          <a:custGeom>
            <a:avLst/>
            <a:gdLst/>
            <a:ahLst/>
            <a:rect l="0" t="0" r="r" b="b"/>
            <a:pathLst>
              <a:path w="219" h="314">
                <a:moveTo>
                  <a:pt x="0" y="0"/>
                </a:moveTo>
                <a:lnTo>
                  <a:pt x="219" y="0"/>
                </a:lnTo>
                <a:lnTo>
                  <a:pt x="219" y="314"/>
                </a:lnTo>
                <a:lnTo>
                  <a:pt x="0" y="314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1199160" y="2569320"/>
            <a:ext cx="79200" cy="52920"/>
          </a:xfrm>
          <a:custGeom>
            <a:avLst/>
            <a:gdLst/>
            <a:ahLst/>
            <a:rect l="0" t="0" r="r" b="b"/>
            <a:pathLst>
              <a:path w="220" h="147">
                <a:moveTo>
                  <a:pt x="0" y="0"/>
                </a:moveTo>
                <a:lnTo>
                  <a:pt x="220" y="0"/>
                </a:lnTo>
                <a:lnTo>
                  <a:pt x="220" y="147"/>
                </a:lnTo>
                <a:lnTo>
                  <a:pt x="0" y="147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1304280" y="2590920"/>
            <a:ext cx="79200" cy="31320"/>
          </a:xfrm>
          <a:custGeom>
            <a:avLst/>
            <a:gdLst/>
            <a:ahLst/>
            <a:rect l="0" t="0" r="r" b="b"/>
            <a:pathLst>
              <a:path w="220" h="87">
                <a:moveTo>
                  <a:pt x="0" y="0"/>
                </a:moveTo>
                <a:lnTo>
                  <a:pt x="220" y="0"/>
                </a:lnTo>
                <a:lnTo>
                  <a:pt x="220" y="87"/>
                </a:lnTo>
                <a:lnTo>
                  <a:pt x="0" y="87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1409400" y="2596320"/>
            <a:ext cx="79200" cy="25920"/>
          </a:xfrm>
          <a:custGeom>
            <a:avLst/>
            <a:gdLst/>
            <a:ahLst/>
            <a:rect l="0" t="0" r="r" b="b"/>
            <a:pathLst>
              <a:path w="220" h="72">
                <a:moveTo>
                  <a:pt x="0" y="0"/>
                </a:moveTo>
                <a:lnTo>
                  <a:pt x="220" y="0"/>
                </a:lnTo>
                <a:lnTo>
                  <a:pt x="220" y="72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1514520" y="2599920"/>
            <a:ext cx="78840" cy="22320"/>
          </a:xfrm>
          <a:custGeom>
            <a:avLst/>
            <a:gdLst/>
            <a:ahLst/>
            <a:rect l="0" t="0" r="r" b="b"/>
            <a:pathLst>
              <a:path w="219" h="62">
                <a:moveTo>
                  <a:pt x="0" y="0"/>
                </a:moveTo>
                <a:lnTo>
                  <a:pt x="219" y="0"/>
                </a:lnTo>
                <a:lnTo>
                  <a:pt x="219" y="62"/>
                </a:lnTo>
                <a:lnTo>
                  <a:pt x="0" y="62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1619640" y="2611080"/>
            <a:ext cx="78840" cy="11160"/>
          </a:xfrm>
          <a:custGeom>
            <a:avLst/>
            <a:gdLst/>
            <a:ahLst/>
            <a:rect l="0" t="0" r="r" b="b"/>
            <a:pathLst>
              <a:path w="219" h="31">
                <a:moveTo>
                  <a:pt x="0" y="0"/>
                </a:moveTo>
                <a:lnTo>
                  <a:pt x="219" y="0"/>
                </a:lnTo>
                <a:lnTo>
                  <a:pt x="219" y="31"/>
                </a:lnTo>
                <a:lnTo>
                  <a:pt x="0" y="31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1724400" y="2603880"/>
            <a:ext cx="79200" cy="18360"/>
          </a:xfrm>
          <a:custGeom>
            <a:avLst/>
            <a:gdLst/>
            <a:ahLst/>
            <a:rect l="0" t="0" r="r" b="b"/>
            <a:pathLst>
              <a:path w="220" h="51">
                <a:moveTo>
                  <a:pt x="0" y="0"/>
                </a:moveTo>
                <a:lnTo>
                  <a:pt x="220" y="0"/>
                </a:lnTo>
                <a:lnTo>
                  <a:pt x="220" y="51"/>
                </a:lnTo>
                <a:lnTo>
                  <a:pt x="0" y="51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1829520" y="2609280"/>
            <a:ext cx="79200" cy="12960"/>
          </a:xfrm>
          <a:custGeom>
            <a:avLst/>
            <a:gdLst/>
            <a:ahLst/>
            <a:rect l="0" t="0" r="r" b="b"/>
            <a:pathLst>
              <a:path w="220" h="36">
                <a:moveTo>
                  <a:pt x="0" y="0"/>
                </a:moveTo>
                <a:lnTo>
                  <a:pt x="220" y="0"/>
                </a:lnTo>
                <a:lnTo>
                  <a:pt x="220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1934640" y="2620080"/>
            <a:ext cx="79200" cy="2160"/>
          </a:xfrm>
          <a:custGeom>
            <a:avLst/>
            <a:gdLst/>
            <a:ahLst/>
            <a:rect l="0" t="0" r="r" b="b"/>
            <a:pathLst>
              <a:path w="220" h="6">
                <a:moveTo>
                  <a:pt x="0" y="0"/>
                </a:moveTo>
                <a:lnTo>
                  <a:pt x="220" y="0"/>
                </a:lnTo>
                <a:lnTo>
                  <a:pt x="220" y="6"/>
                </a:lnTo>
                <a:lnTo>
                  <a:pt x="0" y="6"/>
                </a:lnTo>
                <a:lnTo>
                  <a:pt x="0" y="0"/>
                </a:lnTo>
                <a:close/>
              </a:path>
            </a:pathLst>
          </a:custGeom>
          <a:solidFill>
            <a:srgbClr val="0072B2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818640" y="757800"/>
            <a:ext cx="2311200" cy="804240"/>
          </a:xfrm>
          <a:custGeom>
            <a:avLst/>
            <a:gdLst/>
            <a:ahLst/>
            <a:rect l="0" t="0" r="r" b="b"/>
            <a:pathLst>
              <a:path fill="none" w="6420" h="2234">
                <a:moveTo>
                  <a:pt x="0" y="2234"/>
                </a:moveTo>
                <a:lnTo>
                  <a:pt x="291" y="1377"/>
                </a:lnTo>
                <a:lnTo>
                  <a:pt x="583" y="846"/>
                </a:lnTo>
                <a:lnTo>
                  <a:pt x="875" y="531"/>
                </a:lnTo>
                <a:lnTo>
                  <a:pt x="1168" y="383"/>
                </a:lnTo>
                <a:lnTo>
                  <a:pt x="1459" y="296"/>
                </a:lnTo>
                <a:lnTo>
                  <a:pt x="1751" y="225"/>
                </a:lnTo>
                <a:lnTo>
                  <a:pt x="2043" y="163"/>
                </a:lnTo>
                <a:lnTo>
                  <a:pt x="2335" y="133"/>
                </a:lnTo>
                <a:lnTo>
                  <a:pt x="2627" y="82"/>
                </a:lnTo>
                <a:lnTo>
                  <a:pt x="2918" y="47"/>
                </a:lnTo>
                <a:lnTo>
                  <a:pt x="3210" y="41"/>
                </a:lnTo>
                <a:lnTo>
                  <a:pt x="3502" y="26"/>
                </a:lnTo>
                <a:lnTo>
                  <a:pt x="3794" y="6"/>
                </a:lnTo>
                <a:lnTo>
                  <a:pt x="5836" y="6"/>
                </a:lnTo>
                <a:lnTo>
                  <a:pt x="6128" y="0"/>
                </a:lnTo>
                <a:lnTo>
                  <a:pt x="6420" y="0"/>
                </a:lnTo>
              </a:path>
            </a:pathLst>
          </a:custGeom>
          <a:ln w="18720">
            <a:solidFill>
              <a:srgbClr val="D55E00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3110400" y="7390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3"/>
                </a:moveTo>
                <a:cubicBezTo>
                  <a:pt x="0" y="-18"/>
                  <a:pt x="107" y="-18"/>
                  <a:pt x="107" y="53"/>
                </a:cubicBezTo>
                <a:cubicBezTo>
                  <a:pt x="107" y="125"/>
                  <a:pt x="0" y="125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3110400" y="73908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3"/>
                </a:moveTo>
                <a:cubicBezTo>
                  <a:pt x="107" y="125"/>
                  <a:pt x="0" y="125"/>
                  <a:pt x="0" y="53"/>
                </a:cubicBezTo>
                <a:cubicBezTo>
                  <a:pt x="0" y="-18"/>
                  <a:pt x="107" y="-18"/>
                  <a:pt x="107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3005280" y="7390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3"/>
                </a:moveTo>
                <a:cubicBezTo>
                  <a:pt x="0" y="-18"/>
                  <a:pt x="107" y="-18"/>
                  <a:pt x="107" y="53"/>
                </a:cubicBezTo>
                <a:cubicBezTo>
                  <a:pt x="107" y="125"/>
                  <a:pt x="0" y="125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3005280" y="73908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3"/>
                </a:moveTo>
                <a:cubicBezTo>
                  <a:pt x="107" y="125"/>
                  <a:pt x="0" y="125"/>
                  <a:pt x="0" y="53"/>
                </a:cubicBezTo>
                <a:cubicBezTo>
                  <a:pt x="0" y="-18"/>
                  <a:pt x="107" y="-18"/>
                  <a:pt x="107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2900160" y="7408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4"/>
                </a:moveTo>
                <a:cubicBezTo>
                  <a:pt x="0" y="-18"/>
                  <a:pt x="107" y="-18"/>
                  <a:pt x="107" y="54"/>
                </a:cubicBezTo>
                <a:cubicBezTo>
                  <a:pt x="107" y="125"/>
                  <a:pt x="0" y="125"/>
                  <a:pt x="0" y="54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2900160" y="74088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4"/>
                </a:moveTo>
                <a:cubicBezTo>
                  <a:pt x="107" y="125"/>
                  <a:pt x="0" y="125"/>
                  <a:pt x="0" y="54"/>
                </a:cubicBezTo>
                <a:cubicBezTo>
                  <a:pt x="0" y="-18"/>
                  <a:pt x="107" y="-18"/>
                  <a:pt x="107" y="54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2795400" y="74088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54"/>
                </a:moveTo>
                <a:cubicBezTo>
                  <a:pt x="0" y="-18"/>
                  <a:pt x="106" y="-18"/>
                  <a:pt x="106" y="54"/>
                </a:cubicBezTo>
                <a:cubicBezTo>
                  <a:pt x="106" y="125"/>
                  <a:pt x="0" y="125"/>
                  <a:pt x="0" y="54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2795400" y="740880"/>
            <a:ext cx="38160" cy="38520"/>
          </a:xfrm>
          <a:custGeom>
            <a:avLst/>
            <a:gdLst/>
            <a:ahLst/>
            <a:rect l="0" t="0" r="r" b="b"/>
            <a:pathLst>
              <a:path fill="none" w="106" h="107">
                <a:moveTo>
                  <a:pt x="106" y="54"/>
                </a:moveTo>
                <a:cubicBezTo>
                  <a:pt x="106" y="125"/>
                  <a:pt x="0" y="125"/>
                  <a:pt x="0" y="54"/>
                </a:cubicBezTo>
                <a:cubicBezTo>
                  <a:pt x="0" y="-18"/>
                  <a:pt x="106" y="-18"/>
                  <a:pt x="106" y="54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2690280" y="7408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4"/>
                </a:moveTo>
                <a:cubicBezTo>
                  <a:pt x="0" y="-18"/>
                  <a:pt x="107" y="-18"/>
                  <a:pt x="107" y="54"/>
                </a:cubicBezTo>
                <a:cubicBezTo>
                  <a:pt x="107" y="125"/>
                  <a:pt x="0" y="125"/>
                  <a:pt x="0" y="54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2690280" y="74088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4"/>
                </a:moveTo>
                <a:cubicBezTo>
                  <a:pt x="107" y="125"/>
                  <a:pt x="0" y="125"/>
                  <a:pt x="0" y="54"/>
                </a:cubicBezTo>
                <a:cubicBezTo>
                  <a:pt x="0" y="-18"/>
                  <a:pt x="107" y="-18"/>
                  <a:pt x="107" y="54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2585160" y="7408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4"/>
                </a:moveTo>
                <a:cubicBezTo>
                  <a:pt x="0" y="-18"/>
                  <a:pt x="107" y="-18"/>
                  <a:pt x="107" y="54"/>
                </a:cubicBezTo>
                <a:cubicBezTo>
                  <a:pt x="107" y="125"/>
                  <a:pt x="0" y="125"/>
                  <a:pt x="0" y="54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2585160" y="74088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4"/>
                </a:moveTo>
                <a:cubicBezTo>
                  <a:pt x="107" y="125"/>
                  <a:pt x="0" y="125"/>
                  <a:pt x="0" y="54"/>
                </a:cubicBezTo>
                <a:cubicBezTo>
                  <a:pt x="0" y="-18"/>
                  <a:pt x="107" y="-18"/>
                  <a:pt x="107" y="54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2480040" y="7408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4"/>
                </a:moveTo>
                <a:cubicBezTo>
                  <a:pt x="0" y="-18"/>
                  <a:pt x="107" y="-18"/>
                  <a:pt x="107" y="54"/>
                </a:cubicBezTo>
                <a:cubicBezTo>
                  <a:pt x="107" y="125"/>
                  <a:pt x="0" y="125"/>
                  <a:pt x="0" y="54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2480040" y="74088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4"/>
                </a:moveTo>
                <a:cubicBezTo>
                  <a:pt x="107" y="125"/>
                  <a:pt x="0" y="125"/>
                  <a:pt x="0" y="54"/>
                </a:cubicBezTo>
                <a:cubicBezTo>
                  <a:pt x="0" y="-18"/>
                  <a:pt x="107" y="-18"/>
                  <a:pt x="107" y="54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2375280" y="74088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54"/>
                </a:moveTo>
                <a:cubicBezTo>
                  <a:pt x="0" y="-18"/>
                  <a:pt x="106" y="-18"/>
                  <a:pt x="106" y="54"/>
                </a:cubicBezTo>
                <a:cubicBezTo>
                  <a:pt x="106" y="125"/>
                  <a:pt x="0" y="125"/>
                  <a:pt x="0" y="54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2375280" y="740880"/>
            <a:ext cx="38160" cy="38520"/>
          </a:xfrm>
          <a:custGeom>
            <a:avLst/>
            <a:gdLst/>
            <a:ahLst/>
            <a:rect l="0" t="0" r="r" b="b"/>
            <a:pathLst>
              <a:path fill="none" w="106" h="107">
                <a:moveTo>
                  <a:pt x="106" y="54"/>
                </a:moveTo>
                <a:cubicBezTo>
                  <a:pt x="106" y="125"/>
                  <a:pt x="0" y="125"/>
                  <a:pt x="0" y="54"/>
                </a:cubicBezTo>
                <a:cubicBezTo>
                  <a:pt x="0" y="-18"/>
                  <a:pt x="106" y="-18"/>
                  <a:pt x="106" y="54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2270160" y="74088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54"/>
                </a:moveTo>
                <a:cubicBezTo>
                  <a:pt x="0" y="-18"/>
                  <a:pt x="106" y="-18"/>
                  <a:pt x="106" y="54"/>
                </a:cubicBezTo>
                <a:cubicBezTo>
                  <a:pt x="106" y="125"/>
                  <a:pt x="0" y="125"/>
                  <a:pt x="0" y="54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2270160" y="740880"/>
            <a:ext cx="38160" cy="38520"/>
          </a:xfrm>
          <a:custGeom>
            <a:avLst/>
            <a:gdLst/>
            <a:ahLst/>
            <a:rect l="0" t="0" r="r" b="b"/>
            <a:pathLst>
              <a:path fill="none" w="106" h="107">
                <a:moveTo>
                  <a:pt x="106" y="54"/>
                </a:moveTo>
                <a:cubicBezTo>
                  <a:pt x="106" y="125"/>
                  <a:pt x="0" y="125"/>
                  <a:pt x="0" y="54"/>
                </a:cubicBezTo>
                <a:cubicBezTo>
                  <a:pt x="0" y="-18"/>
                  <a:pt x="106" y="-18"/>
                  <a:pt x="106" y="54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2165040" y="7408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4"/>
                </a:moveTo>
                <a:cubicBezTo>
                  <a:pt x="0" y="-18"/>
                  <a:pt x="107" y="-18"/>
                  <a:pt x="107" y="54"/>
                </a:cubicBezTo>
                <a:cubicBezTo>
                  <a:pt x="107" y="125"/>
                  <a:pt x="0" y="125"/>
                  <a:pt x="0" y="54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2165040" y="74088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4"/>
                </a:moveTo>
                <a:cubicBezTo>
                  <a:pt x="107" y="125"/>
                  <a:pt x="0" y="125"/>
                  <a:pt x="0" y="54"/>
                </a:cubicBezTo>
                <a:cubicBezTo>
                  <a:pt x="0" y="-18"/>
                  <a:pt x="107" y="-18"/>
                  <a:pt x="107" y="54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2059920" y="748440"/>
            <a:ext cx="38880" cy="38520"/>
          </a:xfrm>
          <a:custGeom>
            <a:avLst/>
            <a:gdLst/>
            <a:ahLst/>
            <a:rect l="0" t="0" r="r" b="b"/>
            <a:pathLst>
              <a:path w="108" h="107">
                <a:moveTo>
                  <a:pt x="0" y="53"/>
                </a:moveTo>
                <a:cubicBezTo>
                  <a:pt x="0" y="-17"/>
                  <a:pt x="108" y="-17"/>
                  <a:pt x="108" y="53"/>
                </a:cubicBezTo>
                <a:cubicBezTo>
                  <a:pt x="108" y="125"/>
                  <a:pt x="0" y="125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2059920" y="748440"/>
            <a:ext cx="38880" cy="38520"/>
          </a:xfrm>
          <a:custGeom>
            <a:avLst/>
            <a:gdLst/>
            <a:ahLst/>
            <a:rect l="0" t="0" r="r" b="b"/>
            <a:pathLst>
              <a:path fill="none" w="108" h="107">
                <a:moveTo>
                  <a:pt x="108" y="53"/>
                </a:moveTo>
                <a:cubicBezTo>
                  <a:pt x="108" y="125"/>
                  <a:pt x="0" y="125"/>
                  <a:pt x="0" y="53"/>
                </a:cubicBezTo>
                <a:cubicBezTo>
                  <a:pt x="0" y="-17"/>
                  <a:pt x="108" y="-17"/>
                  <a:pt x="108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1954800" y="7538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3"/>
                </a:moveTo>
                <a:cubicBezTo>
                  <a:pt x="0" y="-17"/>
                  <a:pt x="107" y="-17"/>
                  <a:pt x="107" y="53"/>
                </a:cubicBezTo>
                <a:cubicBezTo>
                  <a:pt x="107" y="125"/>
                  <a:pt x="0" y="125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1954800" y="75384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3"/>
                </a:moveTo>
                <a:cubicBezTo>
                  <a:pt x="107" y="125"/>
                  <a:pt x="0" y="125"/>
                  <a:pt x="0" y="53"/>
                </a:cubicBezTo>
                <a:cubicBezTo>
                  <a:pt x="0" y="-17"/>
                  <a:pt x="107" y="-17"/>
                  <a:pt x="107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1850040" y="75564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53"/>
                </a:moveTo>
                <a:cubicBezTo>
                  <a:pt x="0" y="-18"/>
                  <a:pt x="106" y="-18"/>
                  <a:pt x="106" y="53"/>
                </a:cubicBezTo>
                <a:cubicBezTo>
                  <a:pt x="106" y="124"/>
                  <a:pt x="0" y="124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1850040" y="755640"/>
            <a:ext cx="38160" cy="38520"/>
          </a:xfrm>
          <a:custGeom>
            <a:avLst/>
            <a:gdLst/>
            <a:ahLst/>
            <a:rect l="0" t="0" r="r" b="b"/>
            <a:pathLst>
              <a:path fill="none" w="106" h="107">
                <a:moveTo>
                  <a:pt x="106" y="53"/>
                </a:moveTo>
                <a:cubicBezTo>
                  <a:pt x="106" y="124"/>
                  <a:pt x="0" y="124"/>
                  <a:pt x="0" y="53"/>
                </a:cubicBezTo>
                <a:cubicBezTo>
                  <a:pt x="0" y="-18"/>
                  <a:pt x="106" y="-18"/>
                  <a:pt x="106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1744920" y="768240"/>
            <a:ext cx="38160" cy="38160"/>
          </a:xfrm>
          <a:custGeom>
            <a:avLst/>
            <a:gdLst/>
            <a:ahLst/>
            <a:rect l="0" t="0" r="r" b="b"/>
            <a:pathLst>
              <a:path w="106" h="106">
                <a:moveTo>
                  <a:pt x="0" y="53"/>
                </a:moveTo>
                <a:cubicBezTo>
                  <a:pt x="0" y="-18"/>
                  <a:pt x="106" y="-18"/>
                  <a:pt x="106" y="53"/>
                </a:cubicBezTo>
                <a:cubicBezTo>
                  <a:pt x="106" y="123"/>
                  <a:pt x="0" y="123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1744920" y="768240"/>
            <a:ext cx="38160" cy="38160"/>
          </a:xfrm>
          <a:custGeom>
            <a:avLst/>
            <a:gdLst/>
            <a:ahLst/>
            <a:rect l="0" t="0" r="r" b="b"/>
            <a:pathLst>
              <a:path fill="none" w="106" h="106">
                <a:moveTo>
                  <a:pt x="106" y="53"/>
                </a:moveTo>
                <a:cubicBezTo>
                  <a:pt x="106" y="123"/>
                  <a:pt x="0" y="123"/>
                  <a:pt x="0" y="53"/>
                </a:cubicBezTo>
                <a:cubicBezTo>
                  <a:pt x="0" y="-18"/>
                  <a:pt x="106" y="-18"/>
                  <a:pt x="106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1639800" y="78696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3"/>
                </a:moveTo>
                <a:cubicBezTo>
                  <a:pt x="0" y="-17"/>
                  <a:pt x="107" y="-17"/>
                  <a:pt x="107" y="53"/>
                </a:cubicBezTo>
                <a:cubicBezTo>
                  <a:pt x="107" y="125"/>
                  <a:pt x="0" y="125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1639800" y="78696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3"/>
                </a:moveTo>
                <a:cubicBezTo>
                  <a:pt x="107" y="125"/>
                  <a:pt x="0" y="125"/>
                  <a:pt x="0" y="53"/>
                </a:cubicBezTo>
                <a:cubicBezTo>
                  <a:pt x="0" y="-17"/>
                  <a:pt x="107" y="-17"/>
                  <a:pt x="107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1534680" y="79776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3"/>
                </a:moveTo>
                <a:cubicBezTo>
                  <a:pt x="0" y="-18"/>
                  <a:pt x="107" y="-18"/>
                  <a:pt x="107" y="53"/>
                </a:cubicBezTo>
                <a:cubicBezTo>
                  <a:pt x="107" y="124"/>
                  <a:pt x="0" y="124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1534680" y="79776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3"/>
                </a:moveTo>
                <a:cubicBezTo>
                  <a:pt x="107" y="124"/>
                  <a:pt x="0" y="124"/>
                  <a:pt x="0" y="53"/>
                </a:cubicBezTo>
                <a:cubicBezTo>
                  <a:pt x="0" y="-18"/>
                  <a:pt x="107" y="-18"/>
                  <a:pt x="107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1429920" y="81972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53"/>
                </a:moveTo>
                <a:cubicBezTo>
                  <a:pt x="0" y="-18"/>
                  <a:pt x="106" y="-18"/>
                  <a:pt x="106" y="53"/>
                </a:cubicBezTo>
                <a:cubicBezTo>
                  <a:pt x="106" y="124"/>
                  <a:pt x="0" y="124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1429920" y="819720"/>
            <a:ext cx="38160" cy="38520"/>
          </a:xfrm>
          <a:custGeom>
            <a:avLst/>
            <a:gdLst/>
            <a:ahLst/>
            <a:rect l="0" t="0" r="r" b="b"/>
            <a:pathLst>
              <a:path fill="none" w="106" h="107">
                <a:moveTo>
                  <a:pt x="106" y="53"/>
                </a:moveTo>
                <a:cubicBezTo>
                  <a:pt x="106" y="124"/>
                  <a:pt x="0" y="124"/>
                  <a:pt x="0" y="53"/>
                </a:cubicBezTo>
                <a:cubicBezTo>
                  <a:pt x="0" y="-18"/>
                  <a:pt x="106" y="-18"/>
                  <a:pt x="106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1324800" y="84564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53"/>
                </a:moveTo>
                <a:cubicBezTo>
                  <a:pt x="0" y="-18"/>
                  <a:pt x="106" y="-18"/>
                  <a:pt x="106" y="53"/>
                </a:cubicBezTo>
                <a:cubicBezTo>
                  <a:pt x="106" y="125"/>
                  <a:pt x="0" y="125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1324800" y="845640"/>
            <a:ext cx="38160" cy="38520"/>
          </a:xfrm>
          <a:custGeom>
            <a:avLst/>
            <a:gdLst/>
            <a:ahLst/>
            <a:rect l="0" t="0" r="r" b="b"/>
            <a:pathLst>
              <a:path fill="none" w="106" h="107">
                <a:moveTo>
                  <a:pt x="106" y="53"/>
                </a:moveTo>
                <a:cubicBezTo>
                  <a:pt x="106" y="125"/>
                  <a:pt x="0" y="125"/>
                  <a:pt x="0" y="53"/>
                </a:cubicBezTo>
                <a:cubicBezTo>
                  <a:pt x="0" y="-18"/>
                  <a:pt x="106" y="-18"/>
                  <a:pt x="106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1219680" y="87660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4"/>
                </a:moveTo>
                <a:cubicBezTo>
                  <a:pt x="0" y="-18"/>
                  <a:pt x="107" y="-18"/>
                  <a:pt x="107" y="54"/>
                </a:cubicBezTo>
                <a:cubicBezTo>
                  <a:pt x="107" y="124"/>
                  <a:pt x="0" y="124"/>
                  <a:pt x="0" y="54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1219680" y="87660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4"/>
                </a:moveTo>
                <a:cubicBezTo>
                  <a:pt x="107" y="124"/>
                  <a:pt x="0" y="124"/>
                  <a:pt x="0" y="54"/>
                </a:cubicBezTo>
                <a:cubicBezTo>
                  <a:pt x="0" y="-18"/>
                  <a:pt x="107" y="-18"/>
                  <a:pt x="107" y="54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1114560" y="9298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4"/>
                </a:moveTo>
                <a:cubicBezTo>
                  <a:pt x="0" y="-18"/>
                  <a:pt x="107" y="-18"/>
                  <a:pt x="107" y="54"/>
                </a:cubicBezTo>
                <a:cubicBezTo>
                  <a:pt x="107" y="125"/>
                  <a:pt x="0" y="125"/>
                  <a:pt x="0" y="54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1114560" y="92988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4"/>
                </a:moveTo>
                <a:cubicBezTo>
                  <a:pt x="107" y="125"/>
                  <a:pt x="0" y="125"/>
                  <a:pt x="0" y="54"/>
                </a:cubicBezTo>
                <a:cubicBezTo>
                  <a:pt x="0" y="-18"/>
                  <a:pt x="107" y="-18"/>
                  <a:pt x="107" y="54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1009440" y="10432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53"/>
                </a:moveTo>
                <a:cubicBezTo>
                  <a:pt x="0" y="-18"/>
                  <a:pt x="107" y="-18"/>
                  <a:pt x="107" y="53"/>
                </a:cubicBezTo>
                <a:cubicBezTo>
                  <a:pt x="107" y="125"/>
                  <a:pt x="0" y="125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1009440" y="1043280"/>
            <a:ext cx="38520" cy="38520"/>
          </a:xfrm>
          <a:custGeom>
            <a:avLst/>
            <a:gdLst/>
            <a:ahLst/>
            <a:rect l="0" t="0" r="r" b="b"/>
            <a:pathLst>
              <a:path fill="none" w="107" h="107">
                <a:moveTo>
                  <a:pt x="107" y="53"/>
                </a:moveTo>
                <a:cubicBezTo>
                  <a:pt x="107" y="125"/>
                  <a:pt x="0" y="125"/>
                  <a:pt x="0" y="53"/>
                </a:cubicBezTo>
                <a:cubicBezTo>
                  <a:pt x="0" y="-18"/>
                  <a:pt x="107" y="-18"/>
                  <a:pt x="107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904680" y="123444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53"/>
                </a:moveTo>
                <a:cubicBezTo>
                  <a:pt x="0" y="-18"/>
                  <a:pt x="106" y="-18"/>
                  <a:pt x="106" y="53"/>
                </a:cubicBezTo>
                <a:cubicBezTo>
                  <a:pt x="106" y="125"/>
                  <a:pt x="0" y="125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904680" y="1234440"/>
            <a:ext cx="38160" cy="38520"/>
          </a:xfrm>
          <a:custGeom>
            <a:avLst/>
            <a:gdLst/>
            <a:ahLst/>
            <a:rect l="0" t="0" r="r" b="b"/>
            <a:pathLst>
              <a:path fill="none" w="106" h="107">
                <a:moveTo>
                  <a:pt x="106" y="53"/>
                </a:moveTo>
                <a:cubicBezTo>
                  <a:pt x="106" y="125"/>
                  <a:pt x="0" y="125"/>
                  <a:pt x="0" y="53"/>
                </a:cubicBezTo>
                <a:cubicBezTo>
                  <a:pt x="0" y="-18"/>
                  <a:pt x="106" y="-18"/>
                  <a:pt x="106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799560" y="154260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53"/>
                </a:moveTo>
                <a:cubicBezTo>
                  <a:pt x="0" y="-18"/>
                  <a:pt x="106" y="-18"/>
                  <a:pt x="106" y="53"/>
                </a:cubicBezTo>
                <a:cubicBezTo>
                  <a:pt x="106" y="124"/>
                  <a:pt x="0" y="124"/>
                  <a:pt x="0" y="53"/>
                </a:cubicBezTo>
                <a:close/>
              </a:path>
            </a:pathLst>
          </a:custGeom>
          <a:solidFill>
            <a:srgbClr val="D55E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799560" y="1542600"/>
            <a:ext cx="38160" cy="38520"/>
          </a:xfrm>
          <a:custGeom>
            <a:avLst/>
            <a:gdLst/>
            <a:ahLst/>
            <a:rect l="0" t="0" r="r" b="b"/>
            <a:pathLst>
              <a:path fill="none" w="106" h="107">
                <a:moveTo>
                  <a:pt x="106" y="53"/>
                </a:moveTo>
                <a:cubicBezTo>
                  <a:pt x="106" y="124"/>
                  <a:pt x="0" y="124"/>
                  <a:pt x="0" y="53"/>
                </a:cubicBezTo>
                <a:cubicBezTo>
                  <a:pt x="0" y="-18"/>
                  <a:pt x="106" y="-18"/>
                  <a:pt x="106" y="53"/>
                </a:cubicBezTo>
              </a:path>
            </a:pathLst>
          </a:custGeom>
          <a:ln cap="rnd" w="7920">
            <a:solidFill>
              <a:srgbClr val="D55E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501560" y="851400"/>
            <a:ext cx="12967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D55E00"/>
                </a:solidFill>
                <a:effectLst/>
                <a:uFillTx/>
                <a:latin typeface="Arial"/>
                <a:ea typeface="Arial"/>
              </a:rPr>
              <a:t>Reporting completeness c(t)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154880" y="1880280"/>
            <a:ext cx="674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0072B2"/>
                </a:solidFill>
                <a:effectLst/>
                <a:uFillTx/>
                <a:latin typeface="Arial"/>
                <a:ea typeface="Arial"/>
              </a:rPr>
              <a:t>Publication lag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 flipV="1">
            <a:off x="551160" y="664560"/>
            <a:ext cx="0" cy="205056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1154880" y="2028600"/>
            <a:ext cx="6516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0072B2"/>
                </a:solidFill>
                <a:effectLst/>
                <a:uFillTx/>
                <a:latin typeface="Arial"/>
                <a:ea typeface="Arial"/>
              </a:rPr>
              <a:t>(% of records)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443880" y="257112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393120" y="210384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393120" y="163656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393120" y="116928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75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519840" y="26218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519840" y="21546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519840" y="168732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519840" y="12196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519840" y="7524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551160" y="2715120"/>
            <a:ext cx="270108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 flipV="1">
            <a:off x="713520" y="27151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 flipV="1">
            <a:off x="1238760" y="27151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 flipV="1">
            <a:off x="1764000" y="27151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 flipV="1">
            <a:off x="2289240" y="27151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 flipV="1">
            <a:off x="2814480" y="27151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342000" y="702000"/>
            <a:ext cx="1710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88320" y="27594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213560" y="27594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713240" y="275940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2238480" y="275940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2763720" y="275940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08120" y="2905560"/>
            <a:ext cx="23000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Years between discovery and publication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 rot="16200000">
            <a:off x="-1800" y="1638360"/>
            <a:ext cx="4719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Per cent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551520" y="335880"/>
            <a:ext cx="15858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Median lag 1 yr, mean 2.09 yr;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551520" y="461880"/>
            <a:ext cx="16120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 81.7% lag by at least one year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551520" y="145440"/>
            <a:ext cx="24966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Records reach print years after discovery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3784680" y="664560"/>
            <a:ext cx="2701080" cy="2050920"/>
          </a:xfrm>
          <a:custGeom>
            <a:avLst/>
            <a:gdLst/>
            <a:ahLst/>
            <a:rect l="0" t="0" r="r" b="b"/>
            <a:pathLst>
              <a:path w="7503" h="5697">
                <a:moveTo>
                  <a:pt x="0" y="0"/>
                </a:moveTo>
                <a:lnTo>
                  <a:pt x="7503" y="0"/>
                </a:lnTo>
                <a:lnTo>
                  <a:pt x="7503" y="5697"/>
                </a:lnTo>
                <a:lnTo>
                  <a:pt x="0" y="5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3784680" y="2148480"/>
            <a:ext cx="27007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3784680" y="1556640"/>
            <a:ext cx="27007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3784680" y="965160"/>
            <a:ext cx="27007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3907440" y="1053720"/>
            <a:ext cx="2401200" cy="1539000"/>
          </a:xfrm>
          <a:custGeom>
            <a:avLst/>
            <a:gdLst/>
            <a:ahLst/>
            <a:rect l="0" t="0" r="r" b="b"/>
            <a:pathLst>
              <a:path fill="none" w="6670" h="4275">
                <a:moveTo>
                  <a:pt x="0" y="3946"/>
                </a:moveTo>
                <a:lnTo>
                  <a:pt x="303" y="4275"/>
                </a:lnTo>
                <a:lnTo>
                  <a:pt x="606" y="3123"/>
                </a:lnTo>
                <a:lnTo>
                  <a:pt x="909" y="3617"/>
                </a:lnTo>
                <a:lnTo>
                  <a:pt x="1212" y="2630"/>
                </a:lnTo>
                <a:lnTo>
                  <a:pt x="1515" y="2959"/>
                </a:lnTo>
                <a:lnTo>
                  <a:pt x="1818" y="4028"/>
                </a:lnTo>
                <a:lnTo>
                  <a:pt x="2122" y="2877"/>
                </a:lnTo>
                <a:lnTo>
                  <a:pt x="2425" y="2301"/>
                </a:lnTo>
                <a:lnTo>
                  <a:pt x="2728" y="2219"/>
                </a:lnTo>
                <a:lnTo>
                  <a:pt x="3031" y="2794"/>
                </a:lnTo>
                <a:lnTo>
                  <a:pt x="3334" y="1808"/>
                </a:lnTo>
                <a:lnTo>
                  <a:pt x="3637" y="1726"/>
                </a:lnTo>
                <a:lnTo>
                  <a:pt x="3940" y="1890"/>
                </a:lnTo>
                <a:lnTo>
                  <a:pt x="4243" y="986"/>
                </a:lnTo>
                <a:lnTo>
                  <a:pt x="4547" y="986"/>
                </a:lnTo>
                <a:lnTo>
                  <a:pt x="4850" y="2301"/>
                </a:lnTo>
                <a:lnTo>
                  <a:pt x="5153" y="0"/>
                </a:lnTo>
                <a:lnTo>
                  <a:pt x="5456" y="986"/>
                </a:lnTo>
                <a:lnTo>
                  <a:pt x="5759" y="1397"/>
                </a:lnTo>
                <a:lnTo>
                  <a:pt x="6063" y="1890"/>
                </a:lnTo>
                <a:lnTo>
                  <a:pt x="6366" y="1479"/>
                </a:lnTo>
                <a:lnTo>
                  <a:pt x="6670" y="3535"/>
                </a:lnTo>
              </a:path>
            </a:pathLst>
          </a:custGeom>
          <a:ln w="18720">
            <a:solidFill>
              <a:srgbClr val="0072B2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3907440" y="757800"/>
            <a:ext cx="2401200" cy="1864440"/>
          </a:xfrm>
          <a:custGeom>
            <a:avLst/>
            <a:gdLst/>
            <a:ahLst/>
            <a:rect l="0" t="0" r="r" b="b"/>
            <a:pathLst>
              <a:path fill="none" w="6670" h="5179">
                <a:moveTo>
                  <a:pt x="0" y="5097"/>
                </a:moveTo>
                <a:lnTo>
                  <a:pt x="303" y="4768"/>
                </a:lnTo>
                <a:lnTo>
                  <a:pt x="606" y="5179"/>
                </a:lnTo>
                <a:lnTo>
                  <a:pt x="909" y="5097"/>
                </a:lnTo>
                <a:lnTo>
                  <a:pt x="1212" y="2796"/>
                </a:lnTo>
                <a:lnTo>
                  <a:pt x="1515" y="4111"/>
                </a:lnTo>
                <a:lnTo>
                  <a:pt x="1818" y="4686"/>
                </a:lnTo>
                <a:lnTo>
                  <a:pt x="2122" y="4193"/>
                </a:lnTo>
                <a:lnTo>
                  <a:pt x="2425" y="2631"/>
                </a:lnTo>
                <a:lnTo>
                  <a:pt x="2728" y="3371"/>
                </a:lnTo>
                <a:lnTo>
                  <a:pt x="3031" y="4275"/>
                </a:lnTo>
                <a:lnTo>
                  <a:pt x="3334" y="3289"/>
                </a:lnTo>
                <a:lnTo>
                  <a:pt x="3637" y="2878"/>
                </a:lnTo>
                <a:lnTo>
                  <a:pt x="3940" y="3535"/>
                </a:lnTo>
                <a:lnTo>
                  <a:pt x="4243" y="3289"/>
                </a:lnTo>
                <a:lnTo>
                  <a:pt x="4547" y="1809"/>
                </a:lnTo>
                <a:lnTo>
                  <a:pt x="4850" y="2138"/>
                </a:lnTo>
                <a:lnTo>
                  <a:pt x="5153" y="1727"/>
                </a:lnTo>
                <a:lnTo>
                  <a:pt x="5456" y="2713"/>
                </a:lnTo>
                <a:lnTo>
                  <a:pt x="5759" y="2796"/>
                </a:lnTo>
                <a:lnTo>
                  <a:pt x="6063" y="1892"/>
                </a:lnTo>
                <a:lnTo>
                  <a:pt x="6366" y="577"/>
                </a:lnTo>
                <a:lnTo>
                  <a:pt x="6670" y="0"/>
                </a:lnTo>
              </a:path>
            </a:pathLst>
          </a:custGeom>
          <a:ln w="18720">
            <a:solidFill>
              <a:srgbClr val="E69F00"/>
            </a:solidFill>
            <a:round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6287760" y="23058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6287760" y="23058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5523840" y="13885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5523840" y="13885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5960160" y="1536480"/>
            <a:ext cx="41400" cy="41040"/>
          </a:xfrm>
          <a:custGeom>
            <a:avLst/>
            <a:gdLst/>
            <a:ahLst/>
            <a:rect l="0" t="0" r="r" b="b"/>
            <a:pathLst>
              <a:path w="115" h="114">
                <a:moveTo>
                  <a:pt x="0" y="56"/>
                </a:moveTo>
                <a:cubicBezTo>
                  <a:pt x="0" y="-19"/>
                  <a:pt x="115" y="-19"/>
                  <a:pt x="115" y="56"/>
                </a:cubicBezTo>
                <a:cubicBezTo>
                  <a:pt x="115" y="133"/>
                  <a:pt x="0" y="133"/>
                  <a:pt x="0" y="56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5960160" y="1536480"/>
            <a:ext cx="41400" cy="41040"/>
          </a:xfrm>
          <a:custGeom>
            <a:avLst/>
            <a:gdLst/>
            <a:ahLst/>
            <a:rect l="0" t="0" r="r" b="b"/>
            <a:pathLst>
              <a:path fill="none" w="115" h="114">
                <a:moveTo>
                  <a:pt x="115" y="56"/>
                </a:moveTo>
                <a:cubicBezTo>
                  <a:pt x="115" y="133"/>
                  <a:pt x="0" y="133"/>
                  <a:pt x="0" y="56"/>
                </a:cubicBezTo>
                <a:cubicBezTo>
                  <a:pt x="0" y="-19"/>
                  <a:pt x="115" y="-19"/>
                  <a:pt x="115" y="56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5087160" y="1684440"/>
            <a:ext cx="41400" cy="41400"/>
          </a:xfrm>
          <a:custGeom>
            <a:avLst/>
            <a:gdLst/>
            <a:ahLst/>
            <a:rect l="0" t="0" r="r" b="b"/>
            <a:pathLst>
              <a:path w="115" h="115">
                <a:moveTo>
                  <a:pt x="0" y="57"/>
                </a:moveTo>
                <a:cubicBezTo>
                  <a:pt x="0" y="-19"/>
                  <a:pt x="115" y="-19"/>
                  <a:pt x="115" y="57"/>
                </a:cubicBezTo>
                <a:cubicBezTo>
                  <a:pt x="115" y="134"/>
                  <a:pt x="0" y="134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5087160" y="1684440"/>
            <a:ext cx="41400" cy="41400"/>
          </a:xfrm>
          <a:custGeom>
            <a:avLst/>
            <a:gdLst/>
            <a:ahLst/>
            <a:rect l="0" t="0" r="r" b="b"/>
            <a:pathLst>
              <a:path fill="none" w="115" h="115">
                <a:moveTo>
                  <a:pt x="115" y="57"/>
                </a:moveTo>
                <a:cubicBezTo>
                  <a:pt x="115" y="134"/>
                  <a:pt x="0" y="134"/>
                  <a:pt x="0" y="57"/>
                </a:cubicBezTo>
                <a:cubicBezTo>
                  <a:pt x="0" y="-19"/>
                  <a:pt x="115" y="-19"/>
                  <a:pt x="115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5414760" y="13885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5414760" y="13885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4759920" y="18619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4759920" y="18619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4978080" y="20394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4978080" y="20394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5632920" y="18619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5632920" y="18619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5851080" y="13885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5851080" y="13885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4323600" y="19803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4323600" y="19803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4541760" y="24832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4541760" y="24832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4869000" y="18324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4869000" y="18324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5742000" y="103356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5742000" y="103356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6069600" y="17139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6069600" y="17139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5305680" y="17139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5305680" y="17139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6178680" y="15660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6178680" y="15660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4214520" y="2335320"/>
            <a:ext cx="40680" cy="41400"/>
          </a:xfrm>
          <a:custGeom>
            <a:avLst/>
            <a:gdLst/>
            <a:ahLst/>
            <a:rect l="0" t="0" r="r" b="b"/>
            <a:pathLst>
              <a:path w="113" h="115">
                <a:moveTo>
                  <a:pt x="0" y="57"/>
                </a:moveTo>
                <a:cubicBezTo>
                  <a:pt x="0" y="-19"/>
                  <a:pt x="113" y="-19"/>
                  <a:pt x="113" y="57"/>
                </a:cubicBezTo>
                <a:cubicBezTo>
                  <a:pt x="113" y="134"/>
                  <a:pt x="0" y="134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4214520" y="2335320"/>
            <a:ext cx="40680" cy="41400"/>
          </a:xfrm>
          <a:custGeom>
            <a:avLst/>
            <a:gdLst/>
            <a:ahLst/>
            <a:rect l="0" t="0" r="r" b="b"/>
            <a:pathLst>
              <a:path fill="none" w="113" h="115">
                <a:moveTo>
                  <a:pt x="113" y="57"/>
                </a:moveTo>
                <a:cubicBezTo>
                  <a:pt x="113" y="134"/>
                  <a:pt x="0" y="134"/>
                  <a:pt x="0" y="57"/>
                </a:cubicBezTo>
                <a:cubicBezTo>
                  <a:pt x="0" y="-19"/>
                  <a:pt x="113" y="-19"/>
                  <a:pt x="113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4650840" y="20689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4650840" y="20689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3996000" y="25718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3996000" y="25718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4432680" y="209844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4432680" y="209844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196600" y="16545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5196600" y="16545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4105080" y="21578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4105080" y="21578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3886920" y="24537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3886920" y="24537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6287760" y="7376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6287760" y="7376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5742000" y="13590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5742000" y="13590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5632920" y="15069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5632920" y="15069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5523840" y="13885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5523840" y="13885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5087160" y="1920960"/>
            <a:ext cx="41400" cy="41040"/>
          </a:xfrm>
          <a:custGeom>
            <a:avLst/>
            <a:gdLst/>
            <a:ahLst/>
            <a:rect l="0" t="0" r="r" b="b"/>
            <a:pathLst>
              <a:path w="115" h="114">
                <a:moveTo>
                  <a:pt x="0" y="58"/>
                </a:moveTo>
                <a:cubicBezTo>
                  <a:pt x="0" y="-19"/>
                  <a:pt x="115" y="-19"/>
                  <a:pt x="115" y="58"/>
                </a:cubicBezTo>
                <a:cubicBezTo>
                  <a:pt x="115" y="133"/>
                  <a:pt x="0" y="133"/>
                  <a:pt x="0" y="58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5087160" y="1920960"/>
            <a:ext cx="41400" cy="41040"/>
          </a:xfrm>
          <a:custGeom>
            <a:avLst/>
            <a:gdLst/>
            <a:ahLst/>
            <a:rect l="0" t="0" r="r" b="b"/>
            <a:pathLst>
              <a:path fill="none" w="115" h="114">
                <a:moveTo>
                  <a:pt x="115" y="58"/>
                </a:moveTo>
                <a:cubicBezTo>
                  <a:pt x="115" y="133"/>
                  <a:pt x="0" y="133"/>
                  <a:pt x="0" y="58"/>
                </a:cubicBezTo>
                <a:cubicBezTo>
                  <a:pt x="0" y="-19"/>
                  <a:pt x="115" y="-19"/>
                  <a:pt x="115" y="58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5305680" y="200988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5305680" y="200988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5851080" y="17139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5851080" y="17139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6178680" y="9446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6178680" y="9446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4759920" y="168444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4759920" y="168444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6069600" y="14180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6069600" y="14180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4541760" y="242388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4541760" y="242388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5960160" y="1743480"/>
            <a:ext cx="41400" cy="41040"/>
          </a:xfrm>
          <a:custGeom>
            <a:avLst/>
            <a:gdLst/>
            <a:ahLst/>
            <a:rect l="0" t="0" r="r" b="b"/>
            <a:pathLst>
              <a:path w="115" h="114">
                <a:moveTo>
                  <a:pt x="0" y="57"/>
                </a:moveTo>
                <a:cubicBezTo>
                  <a:pt x="0" y="-19"/>
                  <a:pt x="115" y="-19"/>
                  <a:pt x="115" y="57"/>
                </a:cubicBezTo>
                <a:cubicBezTo>
                  <a:pt x="115" y="133"/>
                  <a:pt x="0" y="133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5960160" y="1743480"/>
            <a:ext cx="41400" cy="41040"/>
          </a:xfrm>
          <a:custGeom>
            <a:avLst/>
            <a:gdLst/>
            <a:ahLst/>
            <a:rect l="0" t="0" r="r" b="b"/>
            <a:pathLst>
              <a:path fill="none" w="115" h="114">
                <a:moveTo>
                  <a:pt x="115" y="57"/>
                </a:moveTo>
                <a:cubicBezTo>
                  <a:pt x="115" y="133"/>
                  <a:pt x="0" y="133"/>
                  <a:pt x="0" y="57"/>
                </a:cubicBezTo>
                <a:cubicBezTo>
                  <a:pt x="0" y="-19"/>
                  <a:pt x="115" y="-19"/>
                  <a:pt x="115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4432680" y="221688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4432680" y="221688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4978080" y="22759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4978080" y="22759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4323600" y="17434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4323600" y="17434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5414760" y="19209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5414760" y="19209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4105080" y="26013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4105080" y="26013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3886920" y="25718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3886920" y="25718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4650840" y="22464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4650840" y="22464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4214520" y="2571840"/>
            <a:ext cx="40680" cy="41040"/>
          </a:xfrm>
          <a:custGeom>
            <a:avLst/>
            <a:gdLst/>
            <a:ahLst/>
            <a:rect l="0" t="0" r="r" b="b"/>
            <a:pathLst>
              <a:path w="113" h="114">
                <a:moveTo>
                  <a:pt x="0" y="58"/>
                </a:moveTo>
                <a:cubicBezTo>
                  <a:pt x="0" y="-19"/>
                  <a:pt x="113" y="-19"/>
                  <a:pt x="113" y="58"/>
                </a:cubicBezTo>
                <a:cubicBezTo>
                  <a:pt x="113" y="133"/>
                  <a:pt x="0" y="133"/>
                  <a:pt x="0" y="58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4214520" y="2571840"/>
            <a:ext cx="40680" cy="41040"/>
          </a:xfrm>
          <a:custGeom>
            <a:avLst/>
            <a:gdLst/>
            <a:ahLst/>
            <a:rect l="0" t="0" r="r" b="b"/>
            <a:pathLst>
              <a:path fill="none" w="113" h="114">
                <a:moveTo>
                  <a:pt x="113" y="58"/>
                </a:moveTo>
                <a:cubicBezTo>
                  <a:pt x="113" y="133"/>
                  <a:pt x="0" y="133"/>
                  <a:pt x="0" y="58"/>
                </a:cubicBezTo>
                <a:cubicBezTo>
                  <a:pt x="0" y="-19"/>
                  <a:pt x="113" y="-19"/>
                  <a:pt x="113" y="58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5196600" y="17730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5196600" y="17730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3996000" y="24537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3996000" y="24537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4869000" y="19504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4869000" y="19504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6035400" y="664560"/>
            <a:ext cx="327600" cy="2050920"/>
          </a:xfrm>
          <a:custGeom>
            <a:avLst/>
            <a:gdLst/>
            <a:ahLst/>
            <a:rect l="0" t="0" r="r" b="b"/>
            <a:pathLst>
              <a:path w="910" h="5697">
                <a:moveTo>
                  <a:pt x="0" y="0"/>
                </a:moveTo>
                <a:lnTo>
                  <a:pt x="910" y="0"/>
                </a:lnTo>
                <a:lnTo>
                  <a:pt x="910" y="5697"/>
                </a:lnTo>
                <a:lnTo>
                  <a:pt x="0" y="5697"/>
                </a:lnTo>
                <a:lnTo>
                  <a:pt x="0" y="0"/>
                </a:lnTo>
                <a:close/>
              </a:path>
            </a:pathLst>
          </a:custGeom>
          <a:solidFill>
            <a:srgbClr val="B3B3B3">
              <a:alpha val="18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41840" y="11268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5291640" y="692640"/>
            <a:ext cx="6631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right-censored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 flipV="1">
            <a:off x="3784680" y="664560"/>
            <a:ext cx="0" cy="205056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5151960" y="840960"/>
            <a:ext cx="8017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by publication lag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3626280" y="209772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3626280" y="150624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40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3753000" y="21484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3753000" y="15566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3753000" y="9651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3784680" y="2715120"/>
            <a:ext cx="270072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 flipV="1">
            <a:off x="4234680" y="27151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 flipV="1">
            <a:off x="4780440" y="27151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 flipV="1">
            <a:off x="5325840" y="27151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 flipV="1">
            <a:off x="5871600" y="27151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 flipV="1">
            <a:off x="6417360" y="27151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3626280" y="91440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60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4133160" y="275940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2005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678920" y="275940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224680" y="275940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2015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770080" y="275940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6315840" y="2759400"/>
            <a:ext cx="2278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2025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3741120" y="753840"/>
            <a:ext cx="1383480" cy="355320"/>
          </a:xfrm>
          <a:custGeom>
            <a:avLst/>
            <a:gdLst/>
            <a:ahLst/>
            <a:rect l="0" t="0" r="r" b="b"/>
            <a:pathLst>
              <a:path w="3843" h="987">
                <a:moveTo>
                  <a:pt x="0" y="0"/>
                </a:moveTo>
                <a:lnTo>
                  <a:pt x="3843" y="0"/>
                </a:lnTo>
                <a:lnTo>
                  <a:pt x="3843" y="987"/>
                </a:lnTo>
                <a:lnTo>
                  <a:pt x="0" y="98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3804480" y="816840"/>
            <a:ext cx="114120" cy="114840"/>
          </a:xfrm>
          <a:custGeom>
            <a:avLst/>
            <a:gdLst/>
            <a:ahLst/>
            <a:rect l="0" t="0" r="r" b="b"/>
            <a:pathLst>
              <a:path w="317" h="319">
                <a:moveTo>
                  <a:pt x="0" y="0"/>
                </a:moveTo>
                <a:lnTo>
                  <a:pt x="317" y="0"/>
                </a:lnTo>
                <a:lnTo>
                  <a:pt x="317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3816000" y="874080"/>
            <a:ext cx="91080" cy="0"/>
          </a:xfrm>
          <a:prstGeom prst="line">
            <a:avLst/>
          </a:prstGeom>
          <a:ln w="1872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" tIns="-9360" rIns="9360" bIns="-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3841200" y="8539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3841200" y="8539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3804480" y="931320"/>
            <a:ext cx="114120" cy="114480"/>
          </a:xfrm>
          <a:custGeom>
            <a:avLst/>
            <a:gdLst/>
            <a:ahLst/>
            <a:rect l="0" t="0" r="r" b="b"/>
            <a:pathLst>
              <a:path w="317" h="318">
                <a:moveTo>
                  <a:pt x="0" y="0"/>
                </a:moveTo>
                <a:lnTo>
                  <a:pt x="317" y="0"/>
                </a:lnTo>
                <a:lnTo>
                  <a:pt x="317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3816000" y="988560"/>
            <a:ext cx="91080" cy="0"/>
          </a:xfrm>
          <a:prstGeom prst="line">
            <a:avLst/>
          </a:prstGeom>
          <a:ln w="18720">
            <a:solidFill>
              <a:srgbClr val="E69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360" tIns="-9360" rIns="9360" bIns="-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3841200" y="9680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3841200" y="9680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 rot="16200000">
            <a:off x="2878200" y="1640880"/>
            <a:ext cx="12801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New provincial records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3981600" y="829800"/>
            <a:ext cx="98532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Discovery year (v2)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3981600" y="944280"/>
            <a:ext cx="10425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Publication year (v1)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3784680" y="335880"/>
            <a:ext cx="180756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The same events, dated two ways;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784680" y="461880"/>
            <a:ext cx="104436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 83.1% change year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3784680" y="145440"/>
            <a:ext cx="27702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Publication-year dating fakes a terminal surge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551160" y="3589920"/>
            <a:ext cx="5934600" cy="1948320"/>
          </a:xfrm>
          <a:custGeom>
            <a:avLst/>
            <a:gdLst/>
            <a:ahLst/>
            <a:rect l="0" t="0" r="r" b="b"/>
            <a:pathLst>
              <a:path w="16485" h="5412">
                <a:moveTo>
                  <a:pt x="0" y="0"/>
                </a:moveTo>
                <a:lnTo>
                  <a:pt x="16485" y="0"/>
                </a:lnTo>
                <a:lnTo>
                  <a:pt x="16485" y="5412"/>
                </a:lnTo>
                <a:lnTo>
                  <a:pt x="0" y="54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551160" y="5164920"/>
            <a:ext cx="5934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551160" y="4787280"/>
            <a:ext cx="5934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551160" y="4410000"/>
            <a:ext cx="5934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551160" y="4032720"/>
            <a:ext cx="5934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551160" y="3655080"/>
            <a:ext cx="5934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551160" y="5164920"/>
            <a:ext cx="5913000" cy="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1125720" y="3678480"/>
            <a:ext cx="4785840" cy="983520"/>
          </a:xfrm>
          <a:custGeom>
            <a:avLst/>
            <a:gdLst/>
            <a:ahLst/>
            <a:rect l="0" t="0" r="r" b="b"/>
            <a:pathLst>
              <a:path fill="none" w="13294" h="2732">
                <a:moveTo>
                  <a:pt x="0" y="0"/>
                </a:moveTo>
                <a:lnTo>
                  <a:pt x="2658" y="2530"/>
                </a:lnTo>
                <a:lnTo>
                  <a:pt x="5318" y="2732"/>
                </a:lnTo>
                <a:lnTo>
                  <a:pt x="7976" y="2615"/>
                </a:lnTo>
                <a:lnTo>
                  <a:pt x="10635" y="1780"/>
                </a:lnTo>
                <a:lnTo>
                  <a:pt x="13294" y="2012"/>
                </a:lnTo>
              </a:path>
            </a:pathLst>
          </a:custGeom>
          <a:ln w="17280">
            <a:solidFill>
              <a:srgbClr val="0072B2"/>
            </a:solidFill>
            <a:round/>
          </a:ln>
        </p:spPr>
        <p:txBody>
          <a:bodyPr lIns="8640" tIns="8640" rIns="8640" bIns="86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1125720" y="4340520"/>
            <a:ext cx="4785840" cy="142200"/>
          </a:xfrm>
          <a:custGeom>
            <a:avLst/>
            <a:gdLst/>
            <a:ahLst/>
            <a:rect l="0" t="0" r="r" b="b"/>
            <a:pathLst>
              <a:path fill="none" w="13294" h="395">
                <a:moveTo>
                  <a:pt x="0" y="225"/>
                </a:moveTo>
                <a:lnTo>
                  <a:pt x="2658" y="0"/>
                </a:lnTo>
                <a:lnTo>
                  <a:pt x="5318" y="23"/>
                </a:lnTo>
                <a:lnTo>
                  <a:pt x="7976" y="27"/>
                </a:lnTo>
                <a:lnTo>
                  <a:pt x="10635" y="46"/>
                </a:lnTo>
                <a:lnTo>
                  <a:pt x="13294" y="395"/>
                </a:lnTo>
              </a:path>
            </a:pathLst>
          </a:custGeom>
          <a:ln w="17280">
            <a:solidFill>
              <a:srgbClr val="009E73"/>
            </a:solidFill>
            <a:round/>
          </a:ln>
        </p:spPr>
        <p:txBody>
          <a:bodyPr lIns="8640" tIns="8640" rIns="8640" bIns="86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1125720" y="5173920"/>
            <a:ext cx="4785840" cy="273600"/>
          </a:xfrm>
          <a:custGeom>
            <a:avLst/>
            <a:gdLst/>
            <a:ahLst/>
            <a:rect l="0" t="0" r="r" b="b"/>
            <a:pathLst>
              <a:path fill="none" w="13294" h="760">
                <a:moveTo>
                  <a:pt x="0" y="760"/>
                </a:moveTo>
                <a:lnTo>
                  <a:pt x="2658" y="126"/>
                </a:lnTo>
                <a:lnTo>
                  <a:pt x="5318" y="192"/>
                </a:lnTo>
                <a:lnTo>
                  <a:pt x="7976" y="193"/>
                </a:lnTo>
                <a:lnTo>
                  <a:pt x="10635" y="176"/>
                </a:lnTo>
                <a:lnTo>
                  <a:pt x="13294" y="0"/>
                </a:lnTo>
              </a:path>
            </a:pathLst>
          </a:custGeom>
          <a:ln w="17280">
            <a:solidFill>
              <a:srgbClr val="999999"/>
            </a:solidFill>
            <a:round/>
          </a:ln>
        </p:spPr>
        <p:txBody>
          <a:bodyPr lIns="8640" tIns="8640" rIns="8640" bIns="86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1125720" y="5398920"/>
            <a:ext cx="4785840" cy="50760"/>
          </a:xfrm>
          <a:custGeom>
            <a:avLst/>
            <a:gdLst/>
            <a:ahLst/>
            <a:rect l="0" t="0" r="r" b="b"/>
            <a:pathLst>
              <a:path fill="none" w="13294" h="141">
                <a:moveTo>
                  <a:pt x="0" y="0"/>
                </a:moveTo>
                <a:lnTo>
                  <a:pt x="2658" y="90"/>
                </a:lnTo>
                <a:lnTo>
                  <a:pt x="5318" y="65"/>
                </a:lnTo>
                <a:lnTo>
                  <a:pt x="7976" y="68"/>
                </a:lnTo>
                <a:lnTo>
                  <a:pt x="10635" y="71"/>
                </a:lnTo>
                <a:lnTo>
                  <a:pt x="13294" y="141"/>
                </a:lnTo>
              </a:path>
            </a:pathLst>
          </a:custGeom>
          <a:ln w="17280">
            <a:solidFill>
              <a:srgbClr val="CC79A7"/>
            </a:solidFill>
            <a:round/>
          </a:ln>
        </p:spPr>
        <p:txBody>
          <a:bodyPr lIns="8640" tIns="8640" rIns="8640" bIns="86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1094400" y="364716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4"/>
                  <a:pt x="0" y="204"/>
                  <a:pt x="0" y="8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1094400" y="364716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7"/>
                </a:moveTo>
                <a:cubicBezTo>
                  <a:pt x="174" y="204"/>
                  <a:pt x="0" y="204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2051640" y="455796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2051640" y="455796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7"/>
                </a:moveTo>
                <a:cubicBezTo>
                  <a:pt x="174" y="203"/>
                  <a:pt x="0" y="203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3008520" y="4630680"/>
            <a:ext cx="63000" cy="63000"/>
          </a:xfrm>
          <a:custGeom>
            <a:avLst/>
            <a:gdLst/>
            <a:ahLst/>
            <a:rect l="0" t="0" r="r" b="b"/>
            <a:pathLst>
              <a:path w="175" h="175">
                <a:moveTo>
                  <a:pt x="0" y="87"/>
                </a:moveTo>
                <a:cubicBezTo>
                  <a:pt x="0" y="-29"/>
                  <a:pt x="175" y="-29"/>
                  <a:pt x="175" y="87"/>
                </a:cubicBezTo>
                <a:cubicBezTo>
                  <a:pt x="175" y="204"/>
                  <a:pt x="0" y="204"/>
                  <a:pt x="0" y="8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3008520" y="4630680"/>
            <a:ext cx="63000" cy="63000"/>
          </a:xfrm>
          <a:custGeom>
            <a:avLst/>
            <a:gdLst/>
            <a:ahLst/>
            <a:rect l="0" t="0" r="r" b="b"/>
            <a:pathLst>
              <a:path fill="none" w="175" h="175">
                <a:moveTo>
                  <a:pt x="175" y="87"/>
                </a:moveTo>
                <a:cubicBezTo>
                  <a:pt x="175" y="204"/>
                  <a:pt x="0" y="204"/>
                  <a:pt x="0" y="87"/>
                </a:cubicBezTo>
                <a:cubicBezTo>
                  <a:pt x="0" y="-29"/>
                  <a:pt x="175" y="-29"/>
                  <a:pt x="175" y="8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3965760" y="458820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6"/>
                </a:moveTo>
                <a:cubicBezTo>
                  <a:pt x="0" y="-29"/>
                  <a:pt x="174" y="-29"/>
                  <a:pt x="174" y="86"/>
                </a:cubicBezTo>
                <a:cubicBezTo>
                  <a:pt x="174" y="203"/>
                  <a:pt x="0" y="203"/>
                  <a:pt x="0" y="86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3965760" y="458820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6"/>
                </a:moveTo>
                <a:cubicBezTo>
                  <a:pt x="174" y="203"/>
                  <a:pt x="0" y="203"/>
                  <a:pt x="0" y="86"/>
                </a:cubicBezTo>
                <a:cubicBezTo>
                  <a:pt x="0" y="-29"/>
                  <a:pt x="174" y="-29"/>
                  <a:pt x="174" y="86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4923000" y="428832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6"/>
                </a:moveTo>
                <a:cubicBezTo>
                  <a:pt x="0" y="-29"/>
                  <a:pt x="174" y="-29"/>
                  <a:pt x="174" y="86"/>
                </a:cubicBezTo>
                <a:cubicBezTo>
                  <a:pt x="174" y="203"/>
                  <a:pt x="0" y="203"/>
                  <a:pt x="0" y="86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4923000" y="428832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6"/>
                </a:moveTo>
                <a:cubicBezTo>
                  <a:pt x="174" y="203"/>
                  <a:pt x="0" y="203"/>
                  <a:pt x="0" y="86"/>
                </a:cubicBezTo>
                <a:cubicBezTo>
                  <a:pt x="0" y="-29"/>
                  <a:pt x="174" y="-29"/>
                  <a:pt x="174" y="86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5879880" y="437148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3"/>
                  <a:pt x="0" y="203"/>
                  <a:pt x="0" y="88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5879880" y="437148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8"/>
                </a:moveTo>
                <a:cubicBezTo>
                  <a:pt x="174" y="203"/>
                  <a:pt x="0" y="203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1094400" y="439020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4"/>
                  <a:pt x="0" y="204"/>
                  <a:pt x="0" y="88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1094400" y="439020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8"/>
                </a:moveTo>
                <a:cubicBezTo>
                  <a:pt x="174" y="204"/>
                  <a:pt x="0" y="204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2051640" y="430920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3"/>
                  <a:pt x="0" y="203"/>
                  <a:pt x="0" y="88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2051640" y="430920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8"/>
                </a:moveTo>
                <a:cubicBezTo>
                  <a:pt x="174" y="203"/>
                  <a:pt x="0" y="203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3008520" y="4317480"/>
            <a:ext cx="63000" cy="62640"/>
          </a:xfrm>
          <a:custGeom>
            <a:avLst/>
            <a:gdLst/>
            <a:ahLst/>
            <a:rect l="0" t="0" r="r" b="b"/>
            <a:pathLst>
              <a:path w="175" h="174">
                <a:moveTo>
                  <a:pt x="0" y="87"/>
                </a:moveTo>
                <a:cubicBezTo>
                  <a:pt x="0" y="-29"/>
                  <a:pt x="175" y="-29"/>
                  <a:pt x="175" y="87"/>
                </a:cubicBezTo>
                <a:cubicBezTo>
                  <a:pt x="175" y="203"/>
                  <a:pt x="0" y="203"/>
                  <a:pt x="0" y="87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3008520" y="4317480"/>
            <a:ext cx="63000" cy="62640"/>
          </a:xfrm>
          <a:custGeom>
            <a:avLst/>
            <a:gdLst/>
            <a:ahLst/>
            <a:rect l="0" t="0" r="r" b="b"/>
            <a:pathLst>
              <a:path fill="none" w="175" h="174">
                <a:moveTo>
                  <a:pt x="175" y="87"/>
                </a:moveTo>
                <a:cubicBezTo>
                  <a:pt x="175" y="203"/>
                  <a:pt x="0" y="203"/>
                  <a:pt x="0" y="87"/>
                </a:cubicBezTo>
                <a:cubicBezTo>
                  <a:pt x="0" y="-29"/>
                  <a:pt x="175" y="-29"/>
                  <a:pt x="175" y="87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3965760" y="431892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4"/>
                  <a:pt x="0" y="204"/>
                  <a:pt x="0" y="88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3965760" y="431892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8"/>
                </a:moveTo>
                <a:cubicBezTo>
                  <a:pt x="174" y="204"/>
                  <a:pt x="0" y="204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4923000" y="432576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4"/>
                  <a:pt x="0" y="204"/>
                  <a:pt x="0" y="88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4923000" y="432576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8"/>
                </a:moveTo>
                <a:cubicBezTo>
                  <a:pt x="174" y="204"/>
                  <a:pt x="0" y="204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5879880" y="4451040"/>
            <a:ext cx="62640" cy="63360"/>
          </a:xfrm>
          <a:custGeom>
            <a:avLst/>
            <a:gdLst/>
            <a:ahLst/>
            <a:rect l="0" t="0" r="r" b="b"/>
            <a:pathLst>
              <a:path w="174" h="176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5"/>
                  <a:pt x="0" y="205"/>
                  <a:pt x="0" y="88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5879880" y="4451040"/>
            <a:ext cx="62640" cy="63360"/>
          </a:xfrm>
          <a:custGeom>
            <a:avLst/>
            <a:gdLst/>
            <a:ahLst/>
            <a:rect l="0" t="0" r="r" b="b"/>
            <a:pathLst>
              <a:path fill="none" w="174" h="176">
                <a:moveTo>
                  <a:pt x="174" y="88"/>
                </a:moveTo>
                <a:cubicBezTo>
                  <a:pt x="174" y="205"/>
                  <a:pt x="0" y="205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1094400" y="541620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6"/>
                </a:moveTo>
                <a:cubicBezTo>
                  <a:pt x="0" y="-29"/>
                  <a:pt x="174" y="-29"/>
                  <a:pt x="174" y="86"/>
                </a:cubicBezTo>
                <a:cubicBezTo>
                  <a:pt x="174" y="203"/>
                  <a:pt x="0" y="203"/>
                  <a:pt x="0" y="86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1094400" y="541620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6"/>
                </a:moveTo>
                <a:cubicBezTo>
                  <a:pt x="174" y="203"/>
                  <a:pt x="0" y="203"/>
                  <a:pt x="0" y="86"/>
                </a:cubicBezTo>
                <a:cubicBezTo>
                  <a:pt x="0" y="-29"/>
                  <a:pt x="174" y="-29"/>
                  <a:pt x="174" y="86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2051640" y="518796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3"/>
                  <a:pt x="0" y="203"/>
                  <a:pt x="0" y="88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2051640" y="518796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8"/>
                </a:moveTo>
                <a:cubicBezTo>
                  <a:pt x="174" y="203"/>
                  <a:pt x="0" y="203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3008520" y="5212080"/>
            <a:ext cx="63000" cy="62640"/>
          </a:xfrm>
          <a:custGeom>
            <a:avLst/>
            <a:gdLst/>
            <a:ahLst/>
            <a:rect l="0" t="0" r="r" b="b"/>
            <a:pathLst>
              <a:path w="175" h="174">
                <a:moveTo>
                  <a:pt x="0" y="86"/>
                </a:moveTo>
                <a:cubicBezTo>
                  <a:pt x="0" y="-29"/>
                  <a:pt x="175" y="-29"/>
                  <a:pt x="175" y="86"/>
                </a:cubicBezTo>
                <a:cubicBezTo>
                  <a:pt x="175" y="203"/>
                  <a:pt x="0" y="203"/>
                  <a:pt x="0" y="86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3008520" y="5212080"/>
            <a:ext cx="63000" cy="62640"/>
          </a:xfrm>
          <a:custGeom>
            <a:avLst/>
            <a:gdLst/>
            <a:ahLst/>
            <a:rect l="0" t="0" r="r" b="b"/>
            <a:pathLst>
              <a:path fill="none" w="175" h="174">
                <a:moveTo>
                  <a:pt x="175" y="86"/>
                </a:moveTo>
                <a:cubicBezTo>
                  <a:pt x="175" y="203"/>
                  <a:pt x="0" y="203"/>
                  <a:pt x="0" y="86"/>
                </a:cubicBezTo>
                <a:cubicBezTo>
                  <a:pt x="0" y="-29"/>
                  <a:pt x="175" y="-29"/>
                  <a:pt x="175" y="86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3965760" y="521244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6"/>
                </a:moveTo>
                <a:cubicBezTo>
                  <a:pt x="0" y="-29"/>
                  <a:pt x="174" y="-29"/>
                  <a:pt x="174" y="86"/>
                </a:cubicBezTo>
                <a:cubicBezTo>
                  <a:pt x="174" y="203"/>
                  <a:pt x="0" y="203"/>
                  <a:pt x="0" y="86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3965760" y="521244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6"/>
                </a:moveTo>
                <a:cubicBezTo>
                  <a:pt x="174" y="203"/>
                  <a:pt x="0" y="203"/>
                  <a:pt x="0" y="86"/>
                </a:cubicBezTo>
                <a:cubicBezTo>
                  <a:pt x="0" y="-29"/>
                  <a:pt x="174" y="-29"/>
                  <a:pt x="174" y="86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4923000" y="520632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4"/>
                  <a:pt x="0" y="204"/>
                  <a:pt x="0" y="87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4923000" y="520632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7"/>
                </a:moveTo>
                <a:cubicBezTo>
                  <a:pt x="174" y="204"/>
                  <a:pt x="0" y="204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5879880" y="514296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4"/>
                  <a:pt x="0" y="204"/>
                  <a:pt x="0" y="87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5879880" y="514296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7"/>
                </a:moveTo>
                <a:cubicBezTo>
                  <a:pt x="174" y="204"/>
                  <a:pt x="0" y="204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1094400" y="536760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3"/>
                  <a:pt x="0" y="203"/>
                  <a:pt x="0" y="88"/>
                </a:cubicBezTo>
                <a:close/>
              </a:path>
            </a:pathLst>
          </a:custGeom>
          <a:solidFill>
            <a:srgbClr val="CC79A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1094400" y="536760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8"/>
                </a:moveTo>
                <a:cubicBezTo>
                  <a:pt x="174" y="203"/>
                  <a:pt x="0" y="203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7920">
            <a:solidFill>
              <a:srgbClr val="CC79A7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2051640" y="540000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6"/>
                </a:moveTo>
                <a:cubicBezTo>
                  <a:pt x="0" y="-29"/>
                  <a:pt x="174" y="-29"/>
                  <a:pt x="174" y="86"/>
                </a:cubicBezTo>
                <a:cubicBezTo>
                  <a:pt x="174" y="203"/>
                  <a:pt x="0" y="203"/>
                  <a:pt x="0" y="86"/>
                </a:cubicBezTo>
                <a:close/>
              </a:path>
            </a:pathLst>
          </a:custGeom>
          <a:solidFill>
            <a:srgbClr val="CC79A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2051640" y="540000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6"/>
                </a:moveTo>
                <a:cubicBezTo>
                  <a:pt x="174" y="203"/>
                  <a:pt x="0" y="203"/>
                  <a:pt x="0" y="86"/>
                </a:cubicBezTo>
                <a:cubicBezTo>
                  <a:pt x="0" y="-29"/>
                  <a:pt x="174" y="-29"/>
                  <a:pt x="174" y="86"/>
                </a:cubicBezTo>
              </a:path>
            </a:pathLst>
          </a:custGeom>
          <a:ln cap="rnd" w="7920">
            <a:solidFill>
              <a:srgbClr val="CC79A7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3008520" y="5391360"/>
            <a:ext cx="63000" cy="63000"/>
          </a:xfrm>
          <a:custGeom>
            <a:avLst/>
            <a:gdLst/>
            <a:ahLst/>
            <a:rect l="0" t="0" r="r" b="b"/>
            <a:pathLst>
              <a:path w="175" h="175">
                <a:moveTo>
                  <a:pt x="0" y="87"/>
                </a:moveTo>
                <a:cubicBezTo>
                  <a:pt x="0" y="-29"/>
                  <a:pt x="175" y="-29"/>
                  <a:pt x="175" y="87"/>
                </a:cubicBezTo>
                <a:cubicBezTo>
                  <a:pt x="175" y="204"/>
                  <a:pt x="0" y="204"/>
                  <a:pt x="0" y="87"/>
                </a:cubicBezTo>
                <a:close/>
              </a:path>
            </a:pathLst>
          </a:custGeom>
          <a:solidFill>
            <a:srgbClr val="CC79A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3008520" y="5391360"/>
            <a:ext cx="63000" cy="63000"/>
          </a:xfrm>
          <a:custGeom>
            <a:avLst/>
            <a:gdLst/>
            <a:ahLst/>
            <a:rect l="0" t="0" r="r" b="b"/>
            <a:pathLst>
              <a:path fill="none" w="175" h="175">
                <a:moveTo>
                  <a:pt x="175" y="87"/>
                </a:moveTo>
                <a:cubicBezTo>
                  <a:pt x="175" y="204"/>
                  <a:pt x="0" y="204"/>
                  <a:pt x="0" y="87"/>
                </a:cubicBezTo>
                <a:cubicBezTo>
                  <a:pt x="0" y="-29"/>
                  <a:pt x="175" y="-29"/>
                  <a:pt x="175" y="87"/>
                </a:cubicBezTo>
              </a:path>
            </a:pathLst>
          </a:custGeom>
          <a:ln cap="rnd" w="7920">
            <a:solidFill>
              <a:srgbClr val="CC79A7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3965760" y="539244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4"/>
                  <a:pt x="0" y="204"/>
                  <a:pt x="0" y="87"/>
                </a:cubicBezTo>
                <a:close/>
              </a:path>
            </a:pathLst>
          </a:custGeom>
          <a:solidFill>
            <a:srgbClr val="CC79A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3965760" y="539244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7"/>
                </a:moveTo>
                <a:cubicBezTo>
                  <a:pt x="174" y="204"/>
                  <a:pt x="0" y="204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7920">
            <a:solidFill>
              <a:srgbClr val="CC79A7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4923000" y="539316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4"/>
                  <a:pt x="0" y="204"/>
                  <a:pt x="0" y="88"/>
                </a:cubicBezTo>
                <a:close/>
              </a:path>
            </a:pathLst>
          </a:custGeom>
          <a:solidFill>
            <a:srgbClr val="CC79A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4923000" y="539316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8"/>
                </a:moveTo>
                <a:cubicBezTo>
                  <a:pt x="174" y="204"/>
                  <a:pt x="0" y="204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7920">
            <a:solidFill>
              <a:srgbClr val="CC79A7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5879880" y="541800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CC79A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5879880" y="541800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7"/>
                </a:moveTo>
                <a:cubicBezTo>
                  <a:pt x="174" y="203"/>
                  <a:pt x="0" y="203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7920">
            <a:solidFill>
              <a:srgbClr val="CC79A7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1604160" y="3589920"/>
            <a:ext cx="957600" cy="1948320"/>
          </a:xfrm>
          <a:custGeom>
            <a:avLst/>
            <a:gdLst/>
            <a:ahLst/>
            <a:rect l="0" t="0" r="r" b="b"/>
            <a:pathLst>
              <a:path w="2660" h="5412">
                <a:moveTo>
                  <a:pt x="0" y="0"/>
                </a:moveTo>
                <a:lnTo>
                  <a:pt x="2660" y="0"/>
                </a:lnTo>
                <a:lnTo>
                  <a:pt x="2660" y="5412"/>
                </a:lnTo>
                <a:lnTo>
                  <a:pt x="0" y="5412"/>
                </a:lnTo>
                <a:lnTo>
                  <a:pt x="0" y="0"/>
                </a:lnTo>
                <a:close/>
              </a:path>
            </a:pathLst>
          </a:custGeom>
          <a:solidFill>
            <a:srgbClr val="D55E00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3427200" y="11268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 flipV="1">
            <a:off x="551160" y="3589920"/>
            <a:ext cx="0" cy="194796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1860480" y="3755520"/>
            <a:ext cx="4096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D55E00"/>
                </a:solidFill>
                <a:effectLst/>
                <a:uFillTx/>
                <a:latin typeface="Arial"/>
                <a:ea typeface="Arial"/>
              </a:rPr>
              <a:t>re-dating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367560" y="51141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367560" y="473688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367560" y="43592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367560" y="398196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519840" y="516492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519840" y="47872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519840" y="441000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519840" y="403272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519840" y="3655080"/>
            <a:ext cx="3132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551160" y="5537880"/>
            <a:ext cx="593424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 flipV="1">
            <a:off x="1125720" y="553788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 flipV="1">
            <a:off x="2082600" y="553788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 flipV="1">
            <a:off x="3039840" y="553788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 flipV="1">
            <a:off x="3996720" y="553788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 flipV="1">
            <a:off x="4953960" y="553788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 flipV="1">
            <a:off x="5911200" y="553788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67560" y="360468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068480" y="5582160"/>
            <a:ext cx="1256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025720" y="5582160"/>
            <a:ext cx="1256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2982960" y="5582160"/>
            <a:ext cx="1256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939840" y="5582160"/>
            <a:ext cx="1256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4897080" y="5582160"/>
            <a:ext cx="1256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5854320" y="5582160"/>
            <a:ext cx="1256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S5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6612120" y="4272120"/>
            <a:ext cx="1446840" cy="583920"/>
          </a:xfrm>
          <a:custGeom>
            <a:avLst/>
            <a:gdLst/>
            <a:ahLst/>
            <a:rect l="0" t="0" r="r" b="b"/>
            <a:pathLst>
              <a:path w="4019" h="1622">
                <a:moveTo>
                  <a:pt x="0" y="0"/>
                </a:moveTo>
                <a:lnTo>
                  <a:pt x="4019" y="0"/>
                </a:lnTo>
                <a:lnTo>
                  <a:pt x="4019" y="1622"/>
                </a:lnTo>
                <a:lnTo>
                  <a:pt x="0" y="16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6675120" y="433512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6686640" y="4392360"/>
            <a:ext cx="91080" cy="0"/>
          </a:xfrm>
          <a:prstGeom prst="line">
            <a:avLst/>
          </a:prstGeom>
          <a:ln w="1728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640" tIns="-8640" rIns="8640" bIns="-86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6701040" y="436140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6701040" y="436140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7"/>
                </a:moveTo>
                <a:cubicBezTo>
                  <a:pt x="174" y="203"/>
                  <a:pt x="0" y="203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6675120" y="444960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6686640" y="4506840"/>
            <a:ext cx="91080" cy="0"/>
          </a:xfrm>
          <a:prstGeom prst="line">
            <a:avLst/>
          </a:prstGeom>
          <a:ln w="1728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640" tIns="-8640" rIns="8640" bIns="-86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6701040" y="447552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7"/>
                </a:moveTo>
                <a:cubicBezTo>
                  <a:pt x="0" y="-29"/>
                  <a:pt x="174" y="-29"/>
                  <a:pt x="174" y="87"/>
                </a:cubicBezTo>
                <a:cubicBezTo>
                  <a:pt x="174" y="203"/>
                  <a:pt x="0" y="203"/>
                  <a:pt x="0" y="87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6701040" y="447552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7"/>
                </a:moveTo>
                <a:cubicBezTo>
                  <a:pt x="174" y="203"/>
                  <a:pt x="0" y="203"/>
                  <a:pt x="0" y="87"/>
                </a:cubicBezTo>
                <a:cubicBezTo>
                  <a:pt x="0" y="-29"/>
                  <a:pt x="174" y="-29"/>
                  <a:pt x="174" y="87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6675120" y="456372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6686640" y="4620960"/>
            <a:ext cx="91080" cy="0"/>
          </a:xfrm>
          <a:prstGeom prst="line">
            <a:avLst/>
          </a:prstGeom>
          <a:ln w="1728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640" tIns="-8640" rIns="8640" bIns="-86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6701040" y="4590000"/>
            <a:ext cx="62640" cy="62640"/>
          </a:xfrm>
          <a:custGeom>
            <a:avLst/>
            <a:gdLst/>
            <a:ahLst/>
            <a:rect l="0" t="0" r="r" b="b"/>
            <a:pathLst>
              <a:path w="174" h="174">
                <a:moveTo>
                  <a:pt x="0" y="86"/>
                </a:moveTo>
                <a:cubicBezTo>
                  <a:pt x="0" y="-29"/>
                  <a:pt x="174" y="-29"/>
                  <a:pt x="174" y="86"/>
                </a:cubicBezTo>
                <a:cubicBezTo>
                  <a:pt x="174" y="203"/>
                  <a:pt x="0" y="203"/>
                  <a:pt x="0" y="86"/>
                </a:cubicBez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6701040" y="4590000"/>
            <a:ext cx="62640" cy="62640"/>
          </a:xfrm>
          <a:custGeom>
            <a:avLst/>
            <a:gdLst/>
            <a:ahLst/>
            <a:rect l="0" t="0" r="r" b="b"/>
            <a:pathLst>
              <a:path fill="none" w="174" h="174">
                <a:moveTo>
                  <a:pt x="174" y="86"/>
                </a:moveTo>
                <a:cubicBezTo>
                  <a:pt x="174" y="203"/>
                  <a:pt x="0" y="203"/>
                  <a:pt x="0" y="86"/>
                </a:cubicBezTo>
                <a:cubicBezTo>
                  <a:pt x="0" y="-29"/>
                  <a:pt x="174" y="-29"/>
                  <a:pt x="174" y="86"/>
                </a:cubicBezTo>
              </a:path>
            </a:pathLst>
          </a:custGeom>
          <a:ln cap="rnd" w="7920">
            <a:solidFill>
              <a:srgbClr val="999999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6675120" y="467820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6686640" y="4735440"/>
            <a:ext cx="91080" cy="0"/>
          </a:xfrm>
          <a:prstGeom prst="line">
            <a:avLst/>
          </a:prstGeom>
          <a:ln w="17280">
            <a:solidFill>
              <a:srgbClr val="CC79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640" tIns="-8640" rIns="8640" bIns="-86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6701040" y="4704120"/>
            <a:ext cx="62640" cy="63000"/>
          </a:xfrm>
          <a:custGeom>
            <a:avLst/>
            <a:gdLst/>
            <a:ahLst/>
            <a:rect l="0" t="0" r="r" b="b"/>
            <a:pathLst>
              <a:path w="174" h="175">
                <a:moveTo>
                  <a:pt x="0" y="88"/>
                </a:moveTo>
                <a:cubicBezTo>
                  <a:pt x="0" y="-29"/>
                  <a:pt x="174" y="-29"/>
                  <a:pt x="174" y="88"/>
                </a:cubicBezTo>
                <a:cubicBezTo>
                  <a:pt x="174" y="204"/>
                  <a:pt x="0" y="204"/>
                  <a:pt x="0" y="88"/>
                </a:cubicBezTo>
                <a:close/>
              </a:path>
            </a:pathLst>
          </a:custGeom>
          <a:solidFill>
            <a:srgbClr val="CC79A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6701040" y="4704120"/>
            <a:ext cx="62640" cy="63000"/>
          </a:xfrm>
          <a:custGeom>
            <a:avLst/>
            <a:gdLst/>
            <a:ahLst/>
            <a:rect l="0" t="0" r="r" b="b"/>
            <a:pathLst>
              <a:path fill="none" w="174" h="175">
                <a:moveTo>
                  <a:pt x="174" y="88"/>
                </a:moveTo>
                <a:cubicBezTo>
                  <a:pt x="174" y="204"/>
                  <a:pt x="0" y="204"/>
                  <a:pt x="0" y="88"/>
                </a:cubicBezTo>
                <a:cubicBezTo>
                  <a:pt x="0" y="-29"/>
                  <a:pt x="174" y="-29"/>
                  <a:pt x="174" y="88"/>
                </a:cubicBezTo>
              </a:path>
            </a:pathLst>
          </a:custGeom>
          <a:ln cap="rnd" w="7920">
            <a:solidFill>
              <a:srgbClr val="CC79A7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 rot="16200000">
            <a:off x="-377640" y="4523760"/>
            <a:ext cx="12240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Hazard ratio per 1 SD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6852600" y="4348080"/>
            <a:ext cx="64872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Survey effort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6852600" y="4462560"/>
            <a:ext cx="112500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Accumulated warming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6852600" y="4576680"/>
            <a:ext cx="86472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Annual variability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6852600" y="4691160"/>
            <a:ext cx="8391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Warming x effort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51520" y="3387240"/>
            <a:ext cx="564624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S0 v1 published -&gt; S1 discovery-year -&gt; S2 effort gaps -&gt; S3 area weights -&gt; S4 offset -&gt; S5 province x year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551520" y="3196800"/>
            <a:ext cx="25383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Re-dating is the single decisive correction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65960" y="315828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/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Chenchen Ding</dc:creator>
  <dc:description/>
  <dc:language>zh-CN</dc:language>
  <cp:lastModifiedBy>Chenchen Ding</cp:lastModifiedBy>
  <cp:revision>0</cp:revision>
  <dc:subject/>
  <dc:title>Figure2</dc:title>
</cp:coreProperties>
</file>