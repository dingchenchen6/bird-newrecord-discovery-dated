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png" ContentType="image/png"/>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  <Relationship Id="rId27"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[about 35 s · 69 words]</a:t>
            </a:r>
          </a:p>
          <a:p>
            <a:endParaRPr lang="zh-CN" dirty="0"/>
          </a:p>
          <a:p>
            <a:r>
              <a:rPr lang="zh-CN" dirty="0"/>
              <a:t>Good morning, everyone. I'm Chenchen Ding, from Peking University. Today I'd like to ask a simple question about new bird records. When a species turns up in a new province, is that the bird moving, or is it us looking harder? Our answer is: both, in roughly equal measure. But that is only true once each record is dated to when it was found, not when it was published.</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[about 50 s · 106 words]</a:t>
            </a:r>
          </a:p>
          <a:p>
            <a:endParaRPr lang="zh-CN" dirty="0"/>
          </a:p>
          <a:p>
            <a:r>
              <a:rPr lang="zh-CN" dirty="0"/>
              <a:t>Every record needs two things: a bird, and a birder. So a map of records always mixes where the birds are with where people are looking. In China, both of these changed fast after 2000. The climate warmed, and birdwatching grew from a small hobby into a mass pastime. A model that includes only one of them will give that one the credit for both. Now look at the bottom of the slide. When the original papers explain their own records, sixty-one percent say "range shift", and only seven percent mention survey effort. So our question is simple: can we measure both processes, in one model?</a:t>
            </a:r>
          </a:p>
          <a:p>
            <a:endParaRPr lang="zh-CN" dirty="0"/>
          </a:p>
          <a:p>
            <a:r>
              <a:rPr lang="zh-CN" dirty="0"/>
              <a:t>If asked — Where do these percentages come from? From the 'inferred discovery reason' field in CBNR, which records the reason given or implied in each source paper.</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[about 55 s · 112 words]</a:t>
            </a:r>
          </a:p>
          <a:p>
            <a:endParaRPr lang="zh-CN" dirty="0"/>
          </a:p>
          <a:p>
            <a:r>
              <a:rPr lang="zh-CN" dirty="0"/>
              <a:t>Our data come from CBNR, the China Bird New Record dataset, which our team released this year. It compiles provincial new records of birds from the peer-reviewed literature, 2000 to 2025: 1,029 records of 568 species, across 33 provinces. We pulled them out of the papers with a large-language-model pipeline, and then checked every single record by hand. Two things make it useful today. First, it keeps both the discovery date and the publication year. As panel b shows, a record reaches print about two years after it's found. Please keep that in mind. Second, it's open: CC BY licence, on Zenodo. If you'd like to use it, just scan the code.</a:t>
            </a:r>
          </a:p>
          <a:p>
            <a:endParaRPr lang="zh-CN" dirty="0"/>
          </a:p>
          <a:p>
            <a:r>
              <a:rPr lang="zh-CN" dirty="0"/>
              <a:t>If asked — Is CBNR complete? It covers peer-reviewed provincial new records; grey literature and unpublished sightings are not included.</a:t>
            </a:r>
          </a:p>
          <a:p>
            <a:endParaRPr lang="zh-CN" dirty="0"/>
          </a:p>
          <a:p>
            <a:r>
              <a:rPr lang="zh-CN" dirty="0"/>
              <a:t>If asked — How accurate is the LLM extraction? The model only drafts; every record was checked by hand, and the audit trail is part of the release.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[about 45 s · 92 words]</a:t>
            </a:r>
          </a:p>
          <a:p>
            <a:endParaRPr lang="zh-CN" dirty="0"/>
          </a:p>
          <a:p>
            <a:r>
              <a:rPr lang="zh-CN" dirty="0"/>
              <a:t>We turned the question into a survival-style model. For every species, in every province it could plausibly reach, in every year, we ask: is this the year of its first record? Four parts matter. A complete risk set, so the denominator is real opportunities. Discovery dating, with an offset for records that are not yet published. Warming measured relative to each species' own range, because warming is fairly even across China, so only the difference tells us something about a species. And a province-by-year random effect, which is where survey campaigns live.</a:t>
            </a:r>
          </a:p>
          <a:p>
            <a:endParaRPr lang="zh-CN" dirty="0"/>
          </a:p>
          <a:p>
            <a:r>
              <a:rPr lang="zh-CN" dirty="0"/>
              <a:t>If asked — Why cloglog? It is the discrete-time form of a proportional-hazards model, so exp(beta) is a hazard ratio that does not depend on the time step. A logit coefficient would.</a:t>
            </a:r>
          </a:p>
          <a:p>
            <a:endParaRPr lang="zh-CN" dirty="0"/>
          </a:p>
          <a:p>
            <a:r>
              <a:rPr lang="zh-CN" dirty="0"/>
              <a:t>If asked — How is 'could reach' defined? Provinces with at least 50 suitable cells in the species' distribution model; results are the same at 100 and 200.</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[about 40 s · 88 words]</a:t>
            </a:r>
          </a:p>
          <a:p>
            <a:endParaRPr lang="zh-CN" dirty="0"/>
          </a:p>
          <a:p>
            <a:r>
              <a:rPr lang="zh-CN" dirty="0"/>
              <a:t>First finding: the date you attach to a record changes the answer. If we date records by publication year, as most studies do, the effort effect is inflated by thirty-seven percent, and a climate-variability effect appears, with P below 0.001. That effect is not really there. Dated to discovery, it disappears, while the warming effect barely moves. Why? Because the publication lag grew over time together with the birding databases. So the publication year is, systematically, a year with more effort. Dating is a modelling decision, not bookkeeping.</a:t>
            </a:r>
          </a:p>
          <a:p>
            <a:endParaRPr lang="zh-CN" dirty="0"/>
          </a:p>
          <a:p>
            <a:r>
              <a:rPr lang="zh-CN" dirty="0"/>
              <a:t>If asked — Where do discovery dates come from? They are reported in the source papers; 1,028 of the 1,029 records have a parseable discovery year.</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[about 40 s · 81 words]</a:t>
            </a:r>
          </a:p>
          <a:p>
            <a:endParaRPr lang="zh-CN" dirty="0"/>
          </a:p>
          <a:p>
            <a:r>
              <a:rPr lang="zh-CN" dirty="0"/>
              <a:t>Second: after correction, warming and effort contribute about equally. A hazard ratio of 1.36 per standard deviation for warming, and 1.40 for effort. They also interact negatively: warming matters most where survey effort is low. One honest caveat. For warming, the right null is not one. Our permutation null sits at 1.16, so the part we can attribute to species-specific warming is about 1.18. Effort is different: if we break its timing, it collapses to 0.98. So its signal is real.</a:t>
            </a:r>
          </a:p>
          <a:p>
            <a:endParaRPr lang="zh-CN" dirty="0"/>
          </a:p>
          <a:p>
            <a:r>
              <a:rPr lang="zh-CN" dirty="0"/>
              <a:t>If asked — So how big is the warming effect, really? Significant and robust, but the increment from species-specific warming is about 18 percent per SD, not 36.</a:t>
            </a:r>
          </a:p>
          <a:p>
            <a:endParaRPr lang="zh-CN" dirty="0"/>
          </a:p>
          <a:p>
            <a:r>
              <a:rPr lang="zh-CN" dirty="0"/>
              <a:t>If asked — What does 1 SD of warming mean? 0.179 degrees Celsius of species-referenced accumulated warming.</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[about 25 s · 53 words]  [optional: can be cut]</a:t>
            </a:r>
          </a:p>
          <a:p>
            <a:endParaRPr lang="zh-CN" dirty="0"/>
          </a:p>
          <a:p>
            <a:r>
              <a:rPr lang="zh-CN" dirty="0"/>
              <a:t>This balance is not fragile. Drop either term and the model loses about the same, around 29 AIC units each. On discrimination, climate alone does slightly better than effort alone, and you need both. And across twelve specifications, with different distribution-model thresholds, effort proxies, missing-data rules and climate windows, the numbers stay put.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[about 35 s · 78 words]</a:t>
            </a:r>
          </a:p>
          <a:p>
            <a:endParaRPr lang="zh-CN" dirty="0"/>
          </a:p>
          <a:p>
            <a:r>
              <a:rPr lang="zh-CN" dirty="0"/>
              <a:t>Third: the biggest single component is not a driver at all. It's the province-by-year effect. One standard deviation of it multiplies the hazard by 2.23, more than warming or effort. This is where a provincial bird survey, a big birding event, or a new reserve shows up. Adding this layer lifts conditional AUC from 0.72 to 0.85, but leaves the fixed effects unchanged. If you treat it as noise, you will read the survey history as range change.</a:t>
            </a:r>
          </a:p>
          <a:p>
            <a:endParaRPr lang="zh-CN" dirty="0"/>
          </a:p>
          <a:p>
            <a:r>
              <a:rPr lang="zh-CN" dirty="0"/>
              <a:t>If asked — Could the province-by-year effect also absorb climate anomalies? Yes, partly; that protects the fixed effects at some cost in climatic signal, and we say so in the paper.</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[about 45 s · 96 words]</a:t>
            </a:r>
          </a:p>
          <a:p>
            <a:endParaRPr lang="zh-CN" dirty="0"/>
          </a:p>
          <a:p>
            <a:r>
              <a:rPr lang="zh-CN" dirty="0"/>
              <a:t>Fourth: effort is saturating. The effect of effort fell from a hazard ratio of 2.2 in 2002 to about 1.1 in 2024, and after 2022 it is no longer different from one. The easy gaps have been filled. Warming shows no such trend. One way to read this is a stock and a flow: effort mines a finite stock of undiscovered records, while warming keeps adding new candidates. We haven't tested the two trends against each other, so I'd call it consistent, not proven. For monitoring, it means that more effort in eastern hotspots adds little.</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[about 50 s · 102 words]</a:t>
            </a:r>
          </a:p>
          <a:p>
            <a:endParaRPr lang="zh-CN" dirty="0"/>
          </a:p>
          <a:p>
            <a:r>
              <a:rPr lang="zh-CN" dirty="0"/>
              <a:t>Fifth: direction. Measured from each species' range centre, new records look strongly biased to the east and north-east. But most of these species have ranges centred west or south of China, so almost any record inside China lands to the east. If we scatter each record at random among its species' possible provinces, geography alone reproduces the eastward pattern. Only when we also weight provinces by where birders go does a signal remain, and it points north: more records than expected to the north-east and north-west, fewer to the east and south. A modest poleward lean, visible only with the right null.</a:t>
            </a:r>
          </a:p>
          <a:p>
            <a:endParaRPr lang="zh-CN" dirty="0"/>
          </a:p>
          <a:p>
            <a:r>
              <a:rPr lang="zh-CN" dirty="0"/>
              <a:t>If asked — Why global range centroids? That is what AVONET provides for every species. Any reference point needs a geometric null; ours places records at province level, and a finer, grid-level null is a next step.</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[about 25 s · 51 words]  [optional: can be cut]</a:t>
            </a:r>
          </a:p>
          <a:p>
            <a:endParaRPr lang="zh-CN" dirty="0"/>
          </a:p>
          <a:p>
            <a:r>
              <a:rPr lang="zh-CN" dirty="0"/>
              <a:t>We also tested all of this against design-preserving null models, which break one link at a time and keep everything else. All four coefficients sit outside their nulls. Bootstraps clustered by province widen the intervals but don't change the conclusions, and no single province, or group of species, drives the result.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[about 40 s · 82 words]</a:t>
            </a:r>
          </a:p>
          <a:p>
            <a:endParaRPr lang="zh-CN" dirty="0"/>
          </a:p>
          <a:p>
            <a:r>
              <a:rPr lang="zh-CN" dirty="0"/>
              <a:t>Now, some uses. Nature reserves look like hot spots for new records: twenty-six percent of records fall inside reserves that cover only ten percent of the land. But birders go there too. When we compare each record with places birders actually visited, in the same province and year, the effect shrinks. It disappears if we drop the two largest host reserves, or look at the years before 2013. So, more records inside a reserve is not evidence that the reserve is working.</a:t>
            </a:r>
          </a:p>
          <a:p>
            <a:endParaRPr lang="zh-CN" dirty="0"/>
          </a:p>
          <a:p>
            <a:r>
              <a:rPr lang="zh-CN" dirty="0"/>
              <a:t>If asked — Which reserves? 1,028 mapped, mostly national, nature reserves established before 2012; about a third of all listed reserves, so we make no gap-analysis or 30-by-30 claims.</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[about 35 s · 77 words]</a:t>
            </a:r>
          </a:p>
          <a:p>
            <a:endParaRPr lang="zh-CN" dirty="0"/>
          </a:p>
          <a:p>
            <a:r>
              <a:rPr lang="zh-CN" dirty="0"/>
              <a:t>Second, we can push the predictions down to counties. We split the problem in two: will a province get a new record, and if it does, which county? Tested on 2019 to 2024, the top-ranked county was right sixteen percent of the time, against about one percent by chance. And look at the list: Medog; Pudong, which includes Nanhui; Chongming; Luoshan, home of Dongzhai; Yang County. Birders in China know these names. The model was never told.</a:t>
            </a:r>
          </a:p>
          <a:p>
            <a:endParaRPr lang="zh-CN" dirty="0"/>
          </a:p>
          <a:p>
            <a:r>
              <a:rPr lang="zh-CN" dirty="0"/>
              <a:t>If asked — Why do Shanghai and Tianjin districts rank so high? Those provinces have only 16 districts, so each one's share is naturally larger.</a:t>
            </a:r>
          </a:p>
          <a:p>
            <a:endParaRPr lang="zh-CN" dirty="0"/>
          </a:p>
          <a:p>
            <a:r>
              <a:rPr lang="zh-CN" dirty="0"/>
              <a:t>If asked — Is this in the paper? It is an extension module in our open repository, beyond the journal manuscript.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[about 20 s · 46 words]  [optional: can be cut]</a:t>
            </a:r>
          </a:p>
          <a:p>
            <a:endParaRPr lang="zh-CN" dirty="0"/>
          </a:p>
          <a:p>
            <a:r>
              <a:rPr lang="zh-CN" dirty="0"/>
              <a:t>Here is the same model at three scales: province, prefecture and county, for 2024. We also refitted it with random forests and with XGBoost. The maps barely change, with rank correlations between 0.62 and 0.90. Where to look first is robust to the choice of model.</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[about 40 s · 83 words]</a:t>
            </a:r>
          </a:p>
          <a:p>
            <a:endParaRPr lang="zh-CN" dirty="0"/>
          </a:p>
          <a:p>
            <a:r>
              <a:rPr lang="zh-CN" dirty="0"/>
              <a:t>What about the future? We crossed two climate scenarios with two effort scenarios, and the result is striking. Switching from SSP2-4.5 to SSP5-8.5 changes the expected national count from 23.2 to 23.1 records a year. Essentially nothing. Switching effort from frozen to continuing growth more than doubles it. What we will record depends on how we look, more than on how the climate changes. But notice the transparency on the maps: by 2050, most of that increase lies outside the data we fitted.</a:t>
            </a:r>
          </a:p>
          <a:p>
            <a:endParaRPr lang="zh-CN" dirty="0"/>
          </a:p>
          <a:p>
            <a:r>
              <a:rPr lang="zh-CN" dirty="0"/>
              <a:t>If asked — Is 57 to 62 records a year a forecast? No. At 2050 only 2 percent of cells are inside the fitted support. The credible statement is about 23 to 27 records a year in 2030, under any scenario.</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[about 35 s · 72 words]  [optional: can be cut]</a:t>
            </a:r>
          </a:p>
          <a:p>
            <a:endParaRPr lang="zh-CN" dirty="0"/>
          </a:p>
          <a:p>
            <a:r>
              <a:rPr lang="zh-CN" dirty="0"/>
              <a:t>A warning about machine learning. We ran the same futures with three model families, all calibrated to the same 2024 baseline. Under continuing effort in 2050, our hazard model rises to 57 records a year, the random forest stays flat, and XGBoost actually goes down. They all agree on where records will appear. But outside the data, tree models simply return their edge values, and nobody can check which direction is right.</a:t>
            </a:r>
          </a:p>
          <a:p>
            <a:endParaRPr lang="zh-CN" dirty="0"/>
          </a:p>
          <a:p>
            <a:r>
              <a:rPr lang="zh-CN" dirty="0"/>
              <a:t>If asked — So do you trust the hazard model's 57? No, and I don't claim it: support there is 2 percent.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[about 25 s · 47 words]  [optional: can be cut]</a:t>
            </a:r>
          </a:p>
          <a:p>
            <a:endParaRPr lang="zh-CN" dirty="0"/>
          </a:p>
          <a:p>
            <a:r>
              <a:rPr lang="zh-CN" dirty="0"/>
              <a:t>So our rule is simple: report where the model breaks. Under SSP2-4.5, the share of species-province combinations inside the fitted range drops from 48 percent in 2030, to 10 percent in 2050, and 2 percent by 2080. So 2030 is usable. End-of-century maps are illustrations, not forecasts.</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[about 35 s · 71 words]</a:t>
            </a:r>
          </a:p>
          <a:p>
            <a:endParaRPr lang="zh-CN" dirty="0"/>
          </a:p>
          <a:p>
            <a:r>
              <a:rPr lang="zh-CN" dirty="0"/>
              <a:t>Four limits travel with these results. Our events are published records, not detections, so we explain how records get documented, not how ranges expand. Coordinates are precise to about one kilometre at best. Our reserve map covers about a third of listed reserves. And direction and reserve tests are only as good as their nulls: our direction null works at province level, and no null can remove observer bias inside reserves.</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[about 35 s · 70 words]</a:t>
            </a:r>
          </a:p>
          <a:p>
            <a:endParaRPr lang="zh-CN" dirty="0"/>
          </a:p>
          <a:p>
            <a:r>
              <a:rPr lang="zh-CN" dirty="0"/>
              <a:t>Four messages to take home. One: dating is a modelling decision, so use the discovery year. Two: warming and survey effort contribute comparably, and we can separate them. Three: model the observation process explicitly; survey shocks are the largest component. Four: keep applications inside the evidence. So, back to our question: birds or birders? It's not either-or. But the climate signal only becomes interpretable once we model how we look.</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[about 25 s · 50 words]</a:t>
            </a:r>
          </a:p>
          <a:p>
            <a:endParaRPr lang="zh-CN" dirty="0"/>
          </a:p>
          <a:p>
            <a:r>
              <a:rPr lang="zh-CN" dirty="0"/>
              <a:t>Everything is open: the CBNR data on Zenodo, and all of the analysis code on GitHub, where every number in this talk traces back to a table. My thanks to birdwatchers across China, and to every author whose records made this possible. Thank you. I'm happy to take your questions.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8e790484f26c03d9.png"/>
  <Relationship Id="rId3" Type="http://schemas.openxmlformats.org/officeDocument/2006/relationships/image" Target="../media/image_ab39142e67679a80.png"/>
  <Relationship Id="rId4"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378de818e8e317ba.png"/>
  <Relationship Id="rId3"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719fb0164971af6c.png"/>
  <Relationship Id="rId3"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1a30d07050368135.png"/>
  <Relationship Id="rId3"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88d1b9d45312fe09.png"/>
  <Relationship Id="rId3"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f42c5dfcea34092b.png"/>
  <Relationship Id="rId3"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2f54da6e7fd7d5d4.png"/>
  <Relationship Id="rId3"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d4be9f55c9151a50.png"/>
  <Relationship Id="rId3"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5e3cf0eaa7a61991.png"/>
  <Relationship Id="rId3"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ed3c373b6fa9948c.png"/>
  <Relationship Id="rId3" Type="http://schemas.openxmlformats.org/officeDocument/2006/relationships/notesSlide" Target="../notesSlides/notesSlide15.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c5f36d02e05d6de2.png"/>
  <Relationship Id="rId3" Type="http://schemas.openxmlformats.org/officeDocument/2006/relationships/notesSlide" Target="../notesSlides/notesSlide16.xml"/>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646a10ce5a3bb1b8.png"/>
  <Relationship Id="rId3" Type="http://schemas.openxmlformats.org/officeDocument/2006/relationships/notesSlide" Target="../notesSlides/notesSlide17.xml"/>
</Relationships>
</file>

<file path=ppt/slides/_rels/slide18.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8.xml"/>
</Relationships>
</file>

<file path=ppt/slides/_rels/slide19.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9.xml"/>
</Relationships>
</file>

<file path=ppt/slides/_rels/slide20.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ab39142e67679a80.png"/>
  <Relationship Id="rId3" Type="http://schemas.openxmlformats.org/officeDocument/2006/relationships/notesSlide" Target="../notesSlides/notesSlide20.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BFAF7"/>
          </a:solidFill>
          <a:ln>
            <a:noFill/>
          </a:ln>
        </p:spPr>
      </p:sp>
      <p:sp>
        <p:nvSpPr>
          <p:cNvPr id="3" name="Rectangle 3"/>
          <p:cNvSpPr/>
          <p:nvPr/>
        </p:nvSpPr>
        <p:spPr>
          <a:xfrm>
            <a:off x="0" y="0"/>
            <a:ext cx="12192000" cy="95250"/>
          </a:xfrm>
          <a:prstGeom prst="rect">
            <a:avLst/>
          </a:prstGeom>
          <a:solidFill>
            <a:srgbClr val="1F4E45"/>
          </a:solidFill>
          <a:ln>
            <a:noFill/>
          </a:ln>
        </p:spPr>
      </p:sp>
      <p:sp>
        <p:nvSpPr>
          <p:cNvPr id="4" name="Rectangle 4"/>
          <p:cNvSpPr/>
          <p:nvPr/>
        </p:nvSpPr>
        <p:spPr>
          <a:xfrm>
            <a:off x="0" y="6762750"/>
            <a:ext cx="12192000" cy="95250"/>
          </a:xfrm>
          <a:prstGeom prst="rect">
            <a:avLst/>
          </a:prstGeom>
          <a:solidFill>
            <a:srgbClr val="1F4E45"/>
          </a:solidFill>
          <a:ln>
            <a:noFill/>
          </a:ln>
        </p:spPr>
      </p:sp>
      <p:sp>
        <p:nvSpPr>
          <p:cNvPr id="5" name="Rectangle 5"/>
          <p:cNvSpPr/>
          <p:nvPr/>
        </p:nvSpPr>
        <p:spPr>
          <a:xfrm>
            <a:off x="914400" y="1123950"/>
            <a:ext cx="533400" cy="57150"/>
          </a:xfrm>
          <a:prstGeom prst="rect">
            <a:avLst/>
          </a:prstGeom>
          <a:solidFill>
            <a:srgbClr val="B45309"/>
          </a:solidFill>
          <a:ln>
            <a:noFill/>
          </a:ln>
        </p:spPr>
      </p:sp>
      <p:sp>
        <p:nvSpPr>
          <p:cNvPr id="6" name="TextBox 6"/>
          <p:cNvSpPr txBox="1"/>
          <p:nvPr/>
        </p:nvSpPr>
        <p:spPr>
          <a:xfrm>
            <a:off x="878205" y="1463992"/>
            <a:ext cx="10913093" cy="579120"/>
          </a:xfrm>
          <a:prstGeom prst="rect">
            <a:avLst/>
          </a:prstGeom>
          <a:noFill/>
          <a:ln>
            <a:noFill/>
          </a:ln>
        </p:spPr>
        <p:txBody>
          <a:bodyPr wrap="none" lIns="0" tIns="0" rIns="0" bIns="0" anchor="t" anchorCtr="0">
            <a:spAutoFit/>
          </a:bodyPr>
          <a:lstStyle/>
          <a:p>
            <a:pPr algn="l"/>
            <a:r>
              <a:rPr lang="zh-CN" sz="2850" b="1" dirty="0">
                <a:solidFill>
                  <a:srgbClr val="17332D"/>
                </a:solidFill>
                <a:latin typeface="Arial"/>
                <a:ea typeface="Microsoft YaHei"/>
                <a:cs typeface="Arial"/>
              </a:rPr>
              <a:t>Warming and survey effort contribute comparably</a:t>
            </a:r>
          </a:p>
        </p:txBody>
      </p:sp>
      <p:sp>
        <p:nvSpPr>
          <p:cNvPr id="7" name="TextBox 7"/>
          <p:cNvSpPr txBox="1"/>
          <p:nvPr/>
        </p:nvSpPr>
        <p:spPr>
          <a:xfrm>
            <a:off x="878205" y="1940242"/>
            <a:ext cx="8826136" cy="579120"/>
          </a:xfrm>
          <a:prstGeom prst="rect">
            <a:avLst/>
          </a:prstGeom>
          <a:noFill/>
          <a:ln>
            <a:noFill/>
          </a:ln>
        </p:spPr>
        <p:txBody>
          <a:bodyPr wrap="none" lIns="0" tIns="0" rIns="0" bIns="0" anchor="t" anchorCtr="0">
            <a:spAutoFit/>
          </a:bodyPr>
          <a:lstStyle/>
          <a:p>
            <a:pPr algn="l"/>
            <a:r>
              <a:rPr lang="zh-CN" sz="2850" b="1" dirty="0">
                <a:solidFill>
                  <a:srgbClr val="17332D"/>
                </a:solidFill>
                <a:latin typeface="Arial"/>
                <a:ea typeface="Microsoft YaHei"/>
                <a:cs typeface="Arial"/>
              </a:rPr>
              <a:t>to new bird distribution records in China</a:t>
            </a:r>
          </a:p>
        </p:txBody>
      </p:sp>
      <p:sp>
        <p:nvSpPr>
          <p:cNvPr id="8" name="TextBox 8"/>
          <p:cNvSpPr txBox="1"/>
          <p:nvPr/>
        </p:nvSpPr>
        <p:spPr>
          <a:xfrm>
            <a:off x="890588" y="2597944"/>
            <a:ext cx="6526549" cy="381000"/>
          </a:xfrm>
          <a:prstGeom prst="rect">
            <a:avLst/>
          </a:prstGeom>
          <a:noFill/>
          <a:ln>
            <a:noFill/>
          </a:ln>
        </p:spPr>
        <p:txBody>
          <a:bodyPr wrap="none" lIns="0" tIns="0" rIns="0" bIns="0" anchor="t" anchorCtr="0">
            <a:spAutoFit/>
          </a:bodyPr>
          <a:lstStyle/>
          <a:p>
            <a:pPr algn="l"/>
            <a:r>
              <a:rPr lang="zh-CN" sz="1875" b="1" dirty="0">
                <a:solidFill>
                  <a:srgbClr val="B45309"/>
                </a:solidFill>
                <a:latin typeface="Arial"/>
                <a:ea typeface="Microsoft YaHei"/>
                <a:cs typeface="Arial"/>
              </a:rPr>
              <a:t>— once each record is dated to its discovery</a:t>
            </a:r>
          </a:p>
        </p:txBody>
      </p:sp>
      <p:sp>
        <p:nvSpPr>
          <p:cNvPr id="9" name="Rectangle 9"/>
          <p:cNvSpPr/>
          <p:nvPr/>
        </p:nvSpPr>
        <p:spPr>
          <a:xfrm>
            <a:off x="914400" y="3028950"/>
            <a:ext cx="3505200" cy="1181100"/>
          </a:xfrm>
          <a:prstGeom prst="roundRect">
            <a:avLst>
              <a:gd name="adj" fmla="val 4839"/>
            </a:avLst>
          </a:prstGeom>
          <a:solidFill>
            <a:srgbClr val="FFFFFF"/>
          </a:solidFill>
          <a:ln w="9525">
            <a:solidFill>
              <a:srgbClr val="D6D3CD"/>
            </a:solidFill>
          </a:ln>
        </p:spPr>
      </p:sp>
      <p:sp>
        <p:nvSpPr>
          <p:cNvPr id="10" name="Rectangle 10"/>
          <p:cNvSpPr/>
          <p:nvPr/>
        </p:nvSpPr>
        <p:spPr>
          <a:xfrm>
            <a:off x="914400" y="3028950"/>
            <a:ext cx="38100" cy="1181100"/>
          </a:xfrm>
          <a:prstGeom prst="rect">
            <a:avLst/>
          </a:prstGeom>
          <a:solidFill>
            <a:srgbClr val="B45309"/>
          </a:solidFill>
          <a:ln>
            <a:noFill/>
          </a:ln>
        </p:spPr>
      </p:sp>
      <p:sp>
        <p:nvSpPr>
          <p:cNvPr id="11" name="TextBox 11"/>
          <p:cNvSpPr txBox="1"/>
          <p:nvPr/>
        </p:nvSpPr>
        <p:spPr>
          <a:xfrm>
            <a:off x="1112520" y="3208020"/>
            <a:ext cx="982407" cy="487680"/>
          </a:xfrm>
          <a:prstGeom prst="rect">
            <a:avLst/>
          </a:prstGeom>
          <a:noFill/>
          <a:ln>
            <a:noFill/>
          </a:ln>
        </p:spPr>
        <p:txBody>
          <a:bodyPr wrap="none" lIns="0" tIns="0" rIns="0" bIns="0" anchor="t" anchorCtr="0">
            <a:spAutoFit/>
          </a:bodyPr>
          <a:lstStyle/>
          <a:p>
            <a:pPr algn="l"/>
            <a:r>
              <a:rPr lang="zh-CN" sz="2400" b="1" dirty="0">
                <a:solidFill>
                  <a:srgbClr val="1F4E45"/>
                </a:solidFill>
                <a:latin typeface="Arial"/>
                <a:ea typeface="Microsoft YaHei"/>
                <a:cs typeface="Arial"/>
              </a:rPr>
              <a:t>1,029</a:t>
            </a:r>
          </a:p>
        </p:txBody>
      </p:sp>
      <p:sp>
        <p:nvSpPr>
          <p:cNvPr id="12" name="TextBox 12"/>
          <p:cNvSpPr txBox="1"/>
          <p:nvPr/>
        </p:nvSpPr>
        <p:spPr>
          <a:xfrm>
            <a:off x="1127760" y="3661410"/>
            <a:ext cx="1958340" cy="243840"/>
          </a:xfrm>
          <a:prstGeom prst="rect">
            <a:avLst/>
          </a:prstGeom>
          <a:noFill/>
          <a:ln>
            <a:noFill/>
          </a:ln>
        </p:spPr>
        <p:txBody>
          <a:bodyPr wrap="none" lIns="0" tIns="0" rIns="0" bIns="0" anchor="t" anchorCtr="0">
            <a:spAutoFit/>
          </a:bodyPr>
          <a:lstStyle/>
          <a:p>
            <a:pPr algn="l"/>
            <a:r>
              <a:rPr lang="zh-CN" sz="1200" dirty="0">
                <a:solidFill>
                  <a:srgbClr val="17332D"/>
                </a:solidFill>
                <a:latin typeface="Arial"/>
                <a:ea typeface="Microsoft YaHei"/>
                <a:cs typeface="Arial"/>
              </a:rPr>
              <a:t>provincial new records</a:t>
            </a:r>
          </a:p>
        </p:txBody>
      </p:sp>
      <p:sp>
        <p:nvSpPr>
          <p:cNvPr id="13" name="TextBox 13"/>
          <p:cNvSpPr txBox="1"/>
          <p:nvPr/>
        </p:nvSpPr>
        <p:spPr>
          <a:xfrm>
            <a:off x="1128712" y="3898106"/>
            <a:ext cx="2079117" cy="228600"/>
          </a:xfrm>
          <a:prstGeom prst="rect">
            <a:avLst/>
          </a:prstGeom>
          <a:noFill/>
          <a:ln>
            <a:noFill/>
          </a:ln>
        </p:spPr>
        <p:txBody>
          <a:bodyPr wrap="none" lIns="0" tIns="0" rIns="0" bIns="0" anchor="t" anchorCtr="0">
            <a:spAutoFit/>
          </a:bodyPr>
          <a:lstStyle/>
          <a:p>
            <a:pPr algn="l"/>
            <a:r>
              <a:rPr lang="zh-CN" sz="1125" dirty="0">
                <a:solidFill>
                  <a:srgbClr val="5F6670"/>
                </a:solidFill>
                <a:latin typeface="Arial"/>
                <a:ea typeface="Microsoft YaHei"/>
                <a:cs typeface="Arial"/>
              </a:rPr>
              <a:t>CBNR dataset, 2000–2025</a:t>
            </a:r>
          </a:p>
        </p:txBody>
      </p:sp>
      <p:sp>
        <p:nvSpPr>
          <p:cNvPr id="14" name="Rectangle 14"/>
          <p:cNvSpPr/>
          <p:nvPr/>
        </p:nvSpPr>
        <p:spPr>
          <a:xfrm>
            <a:off x="4610100" y="3028950"/>
            <a:ext cx="3505200" cy="1181100"/>
          </a:xfrm>
          <a:prstGeom prst="roundRect">
            <a:avLst>
              <a:gd name="adj" fmla="val 4839"/>
            </a:avLst>
          </a:prstGeom>
          <a:solidFill>
            <a:srgbClr val="FFFFFF"/>
          </a:solidFill>
          <a:ln w="9525">
            <a:solidFill>
              <a:srgbClr val="D6D3CD"/>
            </a:solidFill>
          </a:ln>
        </p:spPr>
      </p:sp>
      <p:sp>
        <p:nvSpPr>
          <p:cNvPr id="15" name="Rectangle 15"/>
          <p:cNvSpPr/>
          <p:nvPr/>
        </p:nvSpPr>
        <p:spPr>
          <a:xfrm>
            <a:off x="4610100" y="3028950"/>
            <a:ext cx="38100" cy="1181100"/>
          </a:xfrm>
          <a:prstGeom prst="rect">
            <a:avLst/>
          </a:prstGeom>
          <a:solidFill>
            <a:srgbClr val="B45309"/>
          </a:solidFill>
          <a:ln>
            <a:noFill/>
          </a:ln>
        </p:spPr>
      </p:sp>
      <p:sp>
        <p:nvSpPr>
          <p:cNvPr id="16" name="TextBox 16"/>
          <p:cNvSpPr txBox="1"/>
          <p:nvPr/>
        </p:nvSpPr>
        <p:spPr>
          <a:xfrm>
            <a:off x="4808220" y="3208020"/>
            <a:ext cx="1391113" cy="487680"/>
          </a:xfrm>
          <a:prstGeom prst="rect">
            <a:avLst/>
          </a:prstGeom>
          <a:noFill/>
          <a:ln>
            <a:noFill/>
          </a:ln>
        </p:spPr>
        <p:txBody>
          <a:bodyPr wrap="none" lIns="0" tIns="0" rIns="0" bIns="0" anchor="t" anchorCtr="0">
            <a:spAutoFit/>
          </a:bodyPr>
          <a:lstStyle/>
          <a:p>
            <a:pPr algn="l"/>
            <a:r>
              <a:rPr lang="zh-CN" sz="2400" b="1" dirty="0">
                <a:solidFill>
                  <a:srgbClr val="1F4E45"/>
                </a:solidFill>
                <a:latin typeface="Arial"/>
                <a:ea typeface="Microsoft YaHei"/>
                <a:cs typeface="Arial"/>
              </a:rPr>
              <a:t>175,901</a:t>
            </a:r>
          </a:p>
        </p:txBody>
      </p:sp>
      <p:sp>
        <p:nvSpPr>
          <p:cNvPr id="17" name="TextBox 17"/>
          <p:cNvSpPr txBox="1"/>
          <p:nvPr/>
        </p:nvSpPr>
        <p:spPr>
          <a:xfrm>
            <a:off x="4823460" y="3661410"/>
            <a:ext cx="2371954" cy="243840"/>
          </a:xfrm>
          <a:prstGeom prst="rect">
            <a:avLst/>
          </a:prstGeom>
          <a:noFill/>
          <a:ln>
            <a:noFill/>
          </a:ln>
        </p:spPr>
        <p:txBody>
          <a:bodyPr wrap="none" lIns="0" tIns="0" rIns="0" bIns="0" anchor="t" anchorCtr="0">
            <a:spAutoFit/>
          </a:bodyPr>
          <a:lstStyle/>
          <a:p>
            <a:pPr algn="l"/>
            <a:r>
              <a:rPr lang="zh-CN" sz="1200" dirty="0">
                <a:solidFill>
                  <a:srgbClr val="17332D"/>
                </a:solidFill>
                <a:latin typeface="Arial"/>
                <a:ea typeface="Microsoft YaHei"/>
                <a:cs typeface="Arial"/>
              </a:rPr>
              <a:t>species × province × year</a:t>
            </a:r>
          </a:p>
        </p:txBody>
      </p:sp>
      <p:sp>
        <p:nvSpPr>
          <p:cNvPr id="18" name="TextBox 18"/>
          <p:cNvSpPr txBox="1"/>
          <p:nvPr/>
        </p:nvSpPr>
        <p:spPr>
          <a:xfrm>
            <a:off x="4824412" y="3898106"/>
            <a:ext cx="1619060" cy="228600"/>
          </a:xfrm>
          <a:prstGeom prst="rect">
            <a:avLst/>
          </a:prstGeom>
          <a:noFill/>
          <a:ln>
            <a:noFill/>
          </a:ln>
        </p:spPr>
        <p:txBody>
          <a:bodyPr wrap="none" lIns="0" tIns="0" rIns="0" bIns="0" anchor="t" anchorCtr="0">
            <a:spAutoFit/>
          </a:bodyPr>
          <a:lstStyle/>
          <a:p>
            <a:pPr algn="l"/>
            <a:r>
              <a:rPr lang="zh-CN" sz="1125" dirty="0">
                <a:solidFill>
                  <a:srgbClr val="5F6670"/>
                </a:solidFill>
                <a:latin typeface="Arial"/>
                <a:ea typeface="Microsoft YaHei"/>
                <a:cs typeface="Arial"/>
              </a:rPr>
              <a:t>cells in the risk set</a:t>
            </a:r>
          </a:p>
        </p:txBody>
      </p:sp>
      <p:sp>
        <p:nvSpPr>
          <p:cNvPr id="19" name="Rectangle 19"/>
          <p:cNvSpPr/>
          <p:nvPr/>
        </p:nvSpPr>
        <p:spPr>
          <a:xfrm>
            <a:off x="8305800" y="3028950"/>
            <a:ext cx="3505200" cy="1181100"/>
          </a:xfrm>
          <a:prstGeom prst="roundRect">
            <a:avLst>
              <a:gd name="adj" fmla="val 4839"/>
            </a:avLst>
          </a:prstGeom>
          <a:solidFill>
            <a:srgbClr val="FFFFFF"/>
          </a:solidFill>
          <a:ln w="9525">
            <a:solidFill>
              <a:srgbClr val="D6D3CD"/>
            </a:solidFill>
          </a:ln>
        </p:spPr>
      </p:sp>
      <p:sp>
        <p:nvSpPr>
          <p:cNvPr id="20" name="Rectangle 20"/>
          <p:cNvSpPr/>
          <p:nvPr/>
        </p:nvSpPr>
        <p:spPr>
          <a:xfrm>
            <a:off x="8305800" y="3028950"/>
            <a:ext cx="38100" cy="1181100"/>
          </a:xfrm>
          <a:prstGeom prst="rect">
            <a:avLst/>
          </a:prstGeom>
          <a:solidFill>
            <a:srgbClr val="B45309"/>
          </a:solidFill>
          <a:ln>
            <a:noFill/>
          </a:ln>
        </p:spPr>
      </p:sp>
      <p:sp>
        <p:nvSpPr>
          <p:cNvPr id="21" name="TextBox 21"/>
          <p:cNvSpPr txBox="1"/>
          <p:nvPr/>
        </p:nvSpPr>
        <p:spPr>
          <a:xfrm>
            <a:off x="8503920" y="3208020"/>
            <a:ext cx="674019" cy="487680"/>
          </a:xfrm>
          <a:prstGeom prst="rect">
            <a:avLst/>
          </a:prstGeom>
          <a:noFill/>
          <a:ln>
            <a:noFill/>
          </a:ln>
        </p:spPr>
        <p:txBody>
          <a:bodyPr wrap="none" lIns="0" tIns="0" rIns="0" bIns="0" anchor="t" anchorCtr="0">
            <a:spAutoFit/>
          </a:bodyPr>
          <a:lstStyle/>
          <a:p>
            <a:pPr algn="l"/>
            <a:r>
              <a:rPr lang="zh-CN" sz="2400" b="1" dirty="0">
                <a:solidFill>
                  <a:srgbClr val="1F4E45"/>
                </a:solidFill>
                <a:latin typeface="Arial"/>
                <a:ea typeface="Microsoft YaHei"/>
                <a:cs typeface="Arial"/>
              </a:rPr>
              <a:t>649</a:t>
            </a:r>
          </a:p>
        </p:txBody>
      </p:sp>
      <p:sp>
        <p:nvSpPr>
          <p:cNvPr id="22" name="TextBox 22"/>
          <p:cNvSpPr txBox="1"/>
          <p:nvPr/>
        </p:nvSpPr>
        <p:spPr>
          <a:xfrm>
            <a:off x="8519160" y="3661410"/>
            <a:ext cx="1958340" cy="243840"/>
          </a:xfrm>
          <a:prstGeom prst="rect">
            <a:avLst/>
          </a:prstGeom>
          <a:noFill/>
          <a:ln>
            <a:noFill/>
          </a:ln>
        </p:spPr>
        <p:txBody>
          <a:bodyPr wrap="none" lIns="0" tIns="0" rIns="0" bIns="0" anchor="t" anchorCtr="0">
            <a:spAutoFit/>
          </a:bodyPr>
          <a:lstStyle/>
          <a:p>
            <a:pPr algn="l"/>
            <a:r>
              <a:rPr lang="zh-CN" sz="1200" dirty="0">
                <a:solidFill>
                  <a:srgbClr val="17332D"/>
                </a:solidFill>
                <a:latin typeface="Arial"/>
                <a:ea typeface="Microsoft YaHei"/>
                <a:cs typeface="Arial"/>
              </a:rPr>
              <a:t>first records modelled</a:t>
            </a:r>
          </a:p>
        </p:txBody>
      </p:sp>
      <p:sp>
        <p:nvSpPr>
          <p:cNvPr id="23" name="TextBox 23"/>
          <p:cNvSpPr txBox="1"/>
          <p:nvPr/>
        </p:nvSpPr>
        <p:spPr>
          <a:xfrm>
            <a:off x="8520112" y="3898106"/>
            <a:ext cx="2235208" cy="228600"/>
          </a:xfrm>
          <a:prstGeom prst="rect">
            <a:avLst/>
          </a:prstGeom>
          <a:noFill/>
          <a:ln>
            <a:noFill/>
          </a:ln>
        </p:spPr>
        <p:txBody>
          <a:bodyPr wrap="none" lIns="0" tIns="0" rIns="0" bIns="0" anchor="t" anchorCtr="0">
            <a:spAutoFit/>
          </a:bodyPr>
          <a:lstStyle/>
          <a:p>
            <a:pPr algn="l"/>
            <a:r>
              <a:rPr lang="zh-CN" sz="1125" dirty="0">
                <a:solidFill>
                  <a:srgbClr val="5F6670"/>
                </a:solidFill>
                <a:latin typeface="Arial"/>
                <a:ea typeface="Microsoft YaHei"/>
                <a:cs typeface="Arial"/>
              </a:rPr>
              <a:t>392 species · 31 provinces</a:t>
            </a:r>
          </a:p>
        </p:txBody>
      </p:sp>
      <p:sp>
        <p:nvSpPr>
          <p:cNvPr id="24" name="TextBox 24"/>
          <p:cNvSpPr txBox="1"/>
          <p:nvPr/>
        </p:nvSpPr>
        <p:spPr>
          <a:xfrm>
            <a:off x="891540" y="4758690"/>
            <a:ext cx="1929485" cy="365760"/>
          </a:xfrm>
          <a:prstGeom prst="rect">
            <a:avLst/>
          </a:prstGeom>
          <a:noFill/>
          <a:ln>
            <a:noFill/>
          </a:ln>
        </p:spPr>
        <p:txBody>
          <a:bodyPr wrap="none" lIns="0" tIns="0" rIns="0" bIns="0" anchor="t" anchorCtr="0">
            <a:spAutoFit/>
          </a:bodyPr>
          <a:lstStyle/>
          <a:p>
            <a:pPr algn="l"/>
            <a:r>
              <a:rPr lang="zh-CN" sz="1800" b="1" dirty="0">
                <a:solidFill>
                  <a:srgbClr val="17332D"/>
                </a:solidFill>
                <a:latin typeface="Arial"/>
                <a:ea typeface="Microsoft YaHei"/>
                <a:cs typeface="Arial"/>
              </a:rPr>
              <a:t>Chenchen Ding</a:t>
            </a:r>
          </a:p>
        </p:txBody>
      </p:sp>
      <p:sp>
        <p:nvSpPr>
          <p:cNvPr id="25" name="TextBox 25"/>
          <p:cNvSpPr txBox="1"/>
          <p:nvPr/>
        </p:nvSpPr>
        <p:spPr>
          <a:xfrm>
            <a:off x="899160" y="5137785"/>
            <a:ext cx="7265213" cy="243840"/>
          </a:xfrm>
          <a:prstGeom prst="rect">
            <a:avLst/>
          </a:prstGeom>
          <a:noFill/>
          <a:ln>
            <a:noFill/>
          </a:ln>
        </p:spPr>
        <p:txBody>
          <a:bodyPr wrap="none" lIns="0" tIns="0" rIns="0" bIns="0" anchor="t" anchorCtr="0">
            <a:spAutoFit/>
          </a:bodyPr>
          <a:lstStyle/>
          <a:p>
            <a:pPr algn="l"/>
            <a:r>
              <a:rPr lang="zh-CN" sz="1200" dirty="0">
                <a:solidFill>
                  <a:srgbClr val="17332D"/>
                </a:solidFill>
                <a:latin typeface="Arial"/>
                <a:ea typeface="Microsoft YaHei"/>
                <a:cs typeface="Arial"/>
              </a:rPr>
              <a:t>Institute of Ecology, College of Urban and Environmental Sciences, Peking University</a:t>
            </a:r>
          </a:p>
        </p:txBody>
      </p:sp>
      <p:sp>
        <p:nvSpPr>
          <p:cNvPr id="26" name="TextBox 26"/>
          <p:cNvSpPr txBox="1"/>
          <p:nvPr/>
        </p:nvSpPr>
        <p:spPr>
          <a:xfrm>
            <a:off x="899160" y="5385435"/>
            <a:ext cx="5323332" cy="243840"/>
          </a:xfrm>
          <a:prstGeom prst="rect">
            <a:avLst/>
          </a:prstGeom>
          <a:noFill/>
          <a:ln>
            <a:noFill/>
          </a:ln>
        </p:spPr>
        <p:txBody>
          <a:bodyPr wrap="none" lIns="0" tIns="0" rIns="0" bIns="0" anchor="t" anchorCtr="0">
            <a:spAutoFit/>
          </a:bodyPr>
          <a:lstStyle/>
          <a:p>
            <a:pPr algn="l"/>
            <a:r>
              <a:rPr lang="zh-CN" sz="1200" dirty="0">
                <a:solidFill>
                  <a:srgbClr val="17332D"/>
                </a:solidFill>
                <a:latin typeface="Arial"/>
                <a:ea typeface="Microsoft YaHei"/>
                <a:cs typeface="Arial"/>
              </a:rPr>
              <a:t>International Institute for Applied Systems Analysis (IIASA)</a:t>
            </a:r>
          </a:p>
        </p:txBody>
      </p:sp>
      <p:sp>
        <p:nvSpPr>
          <p:cNvPr id="27" name="TextBox 27"/>
          <p:cNvSpPr txBox="1"/>
          <p:nvPr/>
        </p:nvSpPr>
        <p:spPr>
          <a:xfrm>
            <a:off x="900112" y="5955506"/>
            <a:ext cx="7902130" cy="228600"/>
          </a:xfrm>
          <a:prstGeom prst="rect">
            <a:avLst/>
          </a:prstGeom>
          <a:noFill/>
          <a:ln>
            <a:noFill/>
          </a:ln>
        </p:spPr>
        <p:txBody>
          <a:bodyPr wrap="none" lIns="0" tIns="0" rIns="0" bIns="0" anchor="t" anchorCtr="0">
            <a:spAutoFit/>
          </a:bodyPr>
          <a:lstStyle/>
          <a:p>
            <a:pPr algn="l"/>
            <a:r>
              <a:rPr lang="zh-CN" sz="1125" dirty="0">
                <a:solidFill>
                  <a:srgbClr val="5F6670"/>
                </a:solidFill>
                <a:latin typeface="Arial"/>
                <a:ea typeface="Microsoft YaHei"/>
                <a:cs typeface="Arial"/>
              </a:rPr>
              <a:t>Third Asian Ornithological Conference · National University of Singapore · 14–17 November 2026</a:t>
            </a:r>
          </a:p>
        </p:txBody>
      </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BFAF7"/>
          </a:solidFill>
          <a:ln>
            <a:noFill/>
          </a:ln>
        </p:spPr>
      </p:sp>
      <p:sp>
        <p:nvSpPr>
          <p:cNvPr id="3" name="Rectangle 3"/>
          <p:cNvSpPr/>
          <p:nvPr/>
        </p:nvSpPr>
        <p:spPr>
          <a:xfrm>
            <a:off x="0" y="0"/>
            <a:ext cx="609600" cy="6858000"/>
          </a:xfrm>
          <a:prstGeom prst="rect">
            <a:avLst/>
          </a:prstGeom>
          <a:solidFill>
            <a:srgbClr val="1F4E45"/>
          </a:solidFill>
          <a:ln>
            <a:noFill/>
          </a:ln>
        </p:spPr>
      </p:sp>
      <p:sp>
        <p:nvSpPr>
          <p:cNvPr id="4" name="Ellipse 4"/>
          <p:cNvSpPr/>
          <p:nvPr/>
        </p:nvSpPr>
        <p:spPr>
          <a:xfrm>
            <a:off x="257175" y="1076325"/>
            <a:ext cx="95250" cy="95250"/>
          </a:xfrm>
          <a:prstGeom prst="ellipse">
            <a:avLst/>
          </a:prstGeom>
          <a:solidFill>
            <a:srgbClr val="FFFFFF"/>
          </a:solidFill>
          <a:ln>
            <a:noFill/>
          </a:ln>
        </p:spPr>
      </p:sp>
      <p:sp>
        <p:nvSpPr>
          <p:cNvPr id="5" name="TextBox 5"/>
          <p:cNvSpPr txBox="1"/>
          <p:nvPr/>
        </p:nvSpPr>
        <p:spPr>
          <a:xfrm>
            <a:off x="17336" y="1245870"/>
            <a:ext cx="574929" cy="182880"/>
          </a:xfrm>
          <a:prstGeom prst="rect">
            <a:avLst/>
          </a:prstGeom>
          <a:noFill/>
          <a:ln>
            <a:noFill/>
          </a:ln>
        </p:spPr>
        <p:txBody>
          <a:bodyPr wrap="none" lIns="0" tIns="0" rIns="0" bIns="0" anchor="t" anchorCtr="0">
            <a:spAutoFit/>
          </a:bodyPr>
          <a:lstStyle/>
          <a:p>
            <a:pPr algn="ctr"/>
            <a:r>
              <a:rPr lang="zh-CN" sz="900" dirty="0">
                <a:solidFill>
                  <a:srgbClr val="FFFFFF"/>
                </a:solidFill>
                <a:latin typeface="Arial"/>
                <a:ea typeface="Microsoft YaHei"/>
                <a:cs typeface="Arial"/>
              </a:rPr>
              <a:t>Question</a:t>
            </a:r>
          </a:p>
        </p:txBody>
      </p:sp>
      <p:sp>
        <p:nvSpPr>
          <p:cNvPr id="6" name="Ellipse 6"/>
          <p:cNvSpPr/>
          <p:nvPr/>
        </p:nvSpPr>
        <p:spPr>
          <a:xfrm>
            <a:off x="272415" y="1948815"/>
            <a:ext cx="64770" cy="64770"/>
          </a:xfrm>
          <a:prstGeom prst="ellipse">
            <a:avLst/>
          </a:prstGeom>
          <a:solidFill>
            <a:srgbClr val="FFFFFF">
              <a:alpha val="42000"/>
            </a:srgbClr>
          </a:solidFill>
          <a:ln>
            <a:noFill/>
          </a:ln>
        </p:spPr>
      </p:sp>
      <p:sp>
        <p:nvSpPr>
          <p:cNvPr id="7" name="TextBox 7"/>
          <p:cNvSpPr txBox="1"/>
          <p:nvPr/>
        </p:nvSpPr>
        <p:spPr>
          <a:xfrm>
            <a:off x="146152" y="2103120"/>
            <a:ext cx="317297" cy="182880"/>
          </a:xfrm>
          <a:prstGeom prst="rect">
            <a:avLst/>
          </a:prstGeom>
          <a:noFill/>
          <a:ln>
            <a:noFill/>
          </a:ln>
        </p:spPr>
        <p:txBody>
          <a:bodyPr wrap="none" lIns="0" tIns="0" rIns="0" bIns="0" anchor="t" anchorCtr="0">
            <a:spAutoFit/>
          </a:bodyPr>
          <a:lstStyle/>
          <a:p>
            <a:pPr algn="ctr"/>
            <a:r>
              <a:rPr lang="zh-CN" sz="900" dirty="0">
                <a:solidFill>
                  <a:srgbClr val="FFFFFF">
                    <a:alphaMod val="60000"/>
                  </a:srgbClr>
                </a:solidFill>
                <a:latin typeface="Arial"/>
                <a:ea typeface="Microsoft YaHei"/>
                <a:cs typeface="Arial"/>
              </a:rPr>
              <a:t>Data</a:t>
            </a:r>
          </a:p>
        </p:txBody>
      </p:sp>
      <p:sp>
        <p:nvSpPr>
          <p:cNvPr id="8" name="Ellipse 8"/>
          <p:cNvSpPr/>
          <p:nvPr/>
        </p:nvSpPr>
        <p:spPr>
          <a:xfrm>
            <a:off x="272415" y="2806065"/>
            <a:ext cx="64770" cy="64770"/>
          </a:xfrm>
          <a:prstGeom prst="ellipse">
            <a:avLst/>
          </a:prstGeom>
          <a:solidFill>
            <a:srgbClr val="FFFFFF">
              <a:alpha val="42000"/>
            </a:srgbClr>
          </a:solidFill>
          <a:ln>
            <a:noFill/>
          </a:ln>
        </p:spPr>
      </p:sp>
      <p:sp>
        <p:nvSpPr>
          <p:cNvPr id="9" name="TextBox 9"/>
          <p:cNvSpPr txBox="1"/>
          <p:nvPr/>
        </p:nvSpPr>
        <p:spPr>
          <a:xfrm>
            <a:off x="35738" y="2960370"/>
            <a:ext cx="538124" cy="182880"/>
          </a:xfrm>
          <a:prstGeom prst="rect">
            <a:avLst/>
          </a:prstGeom>
          <a:noFill/>
          <a:ln>
            <a:noFill/>
          </a:ln>
        </p:spPr>
        <p:txBody>
          <a:bodyPr wrap="none" lIns="0" tIns="0" rIns="0" bIns="0" anchor="t" anchorCtr="0">
            <a:spAutoFit/>
          </a:bodyPr>
          <a:lstStyle/>
          <a:p>
            <a:pPr algn="ctr"/>
            <a:r>
              <a:rPr lang="zh-CN" sz="900" dirty="0">
                <a:solidFill>
                  <a:srgbClr val="FFFFFF">
                    <a:alphaMod val="60000"/>
                  </a:srgbClr>
                </a:solidFill>
                <a:latin typeface="Arial"/>
                <a:ea typeface="Microsoft YaHei"/>
                <a:cs typeface="Arial"/>
              </a:rPr>
              <a:t>Findings</a:t>
            </a:r>
          </a:p>
        </p:txBody>
      </p:sp>
      <p:sp>
        <p:nvSpPr>
          <p:cNvPr id="10" name="Ellipse 10"/>
          <p:cNvSpPr/>
          <p:nvPr/>
        </p:nvSpPr>
        <p:spPr>
          <a:xfrm>
            <a:off x="272415" y="3663315"/>
            <a:ext cx="64770" cy="64770"/>
          </a:xfrm>
          <a:prstGeom prst="ellipse">
            <a:avLst/>
          </a:prstGeom>
          <a:solidFill>
            <a:srgbClr val="FFFFFF">
              <a:alpha val="42000"/>
            </a:srgbClr>
          </a:solidFill>
          <a:ln>
            <a:noFill/>
          </a:ln>
        </p:spPr>
      </p:sp>
      <p:sp>
        <p:nvSpPr>
          <p:cNvPr id="11" name="TextBox 11"/>
          <p:cNvSpPr txBox="1"/>
          <p:nvPr/>
        </p:nvSpPr>
        <p:spPr>
          <a:xfrm>
            <a:off x="72542" y="3817620"/>
            <a:ext cx="464515" cy="182880"/>
          </a:xfrm>
          <a:prstGeom prst="rect">
            <a:avLst/>
          </a:prstGeom>
          <a:noFill/>
          <a:ln>
            <a:noFill/>
          </a:ln>
        </p:spPr>
        <p:txBody>
          <a:bodyPr wrap="none" lIns="0" tIns="0" rIns="0" bIns="0" anchor="t" anchorCtr="0">
            <a:spAutoFit/>
          </a:bodyPr>
          <a:lstStyle/>
          <a:p>
            <a:pPr algn="ctr"/>
            <a:r>
              <a:rPr lang="zh-CN" sz="900" dirty="0">
                <a:solidFill>
                  <a:srgbClr val="FFFFFF">
                    <a:alphaMod val="60000"/>
                  </a:srgbClr>
                </a:solidFill>
                <a:latin typeface="Arial"/>
                <a:ea typeface="Microsoft YaHei"/>
                <a:cs typeface="Arial"/>
              </a:rPr>
              <a:t>Robust</a:t>
            </a:r>
          </a:p>
        </p:txBody>
      </p:sp>
      <p:sp>
        <p:nvSpPr>
          <p:cNvPr id="12" name="Ellipse 12"/>
          <p:cNvSpPr/>
          <p:nvPr/>
        </p:nvSpPr>
        <p:spPr>
          <a:xfrm>
            <a:off x="272415" y="4520565"/>
            <a:ext cx="64770" cy="64770"/>
          </a:xfrm>
          <a:prstGeom prst="ellipse">
            <a:avLst/>
          </a:prstGeom>
          <a:solidFill>
            <a:srgbClr val="FFFFFF">
              <a:alpha val="42000"/>
            </a:srgbClr>
          </a:solidFill>
          <a:ln>
            <a:noFill/>
          </a:ln>
        </p:spPr>
      </p:sp>
      <p:sp>
        <p:nvSpPr>
          <p:cNvPr id="13" name="TextBox 13"/>
          <p:cNvSpPr txBox="1"/>
          <p:nvPr/>
        </p:nvSpPr>
        <p:spPr>
          <a:xfrm>
            <a:off x="146152" y="4674870"/>
            <a:ext cx="317297" cy="182880"/>
          </a:xfrm>
          <a:prstGeom prst="rect">
            <a:avLst/>
          </a:prstGeom>
          <a:noFill/>
          <a:ln>
            <a:noFill/>
          </a:ln>
        </p:spPr>
        <p:txBody>
          <a:bodyPr wrap="none" lIns="0" tIns="0" rIns="0" bIns="0" anchor="t" anchorCtr="0">
            <a:spAutoFit/>
          </a:bodyPr>
          <a:lstStyle/>
          <a:p>
            <a:pPr algn="ctr"/>
            <a:r>
              <a:rPr lang="zh-CN" sz="900" dirty="0">
                <a:solidFill>
                  <a:srgbClr val="FFFFFF">
                    <a:alphaMod val="60000"/>
                  </a:srgbClr>
                </a:solidFill>
                <a:latin typeface="Arial"/>
                <a:ea typeface="Microsoft YaHei"/>
                <a:cs typeface="Arial"/>
              </a:rPr>
              <a:t>Uses</a:t>
            </a:r>
          </a:p>
        </p:txBody>
      </p:sp>
      <p:sp>
        <p:nvSpPr>
          <p:cNvPr id="14" name="Ellipse 14"/>
          <p:cNvSpPr/>
          <p:nvPr/>
        </p:nvSpPr>
        <p:spPr>
          <a:xfrm>
            <a:off x="272415" y="5377815"/>
            <a:ext cx="64770" cy="64770"/>
          </a:xfrm>
          <a:prstGeom prst="ellipse">
            <a:avLst/>
          </a:prstGeom>
          <a:solidFill>
            <a:srgbClr val="FFFFFF">
              <a:alpha val="42000"/>
            </a:srgbClr>
          </a:solidFill>
          <a:ln>
            <a:noFill/>
          </a:ln>
        </p:spPr>
      </p:sp>
      <p:sp>
        <p:nvSpPr>
          <p:cNvPr id="15" name="TextBox 15"/>
          <p:cNvSpPr txBox="1"/>
          <p:nvPr/>
        </p:nvSpPr>
        <p:spPr>
          <a:xfrm>
            <a:off x="16678" y="5532120"/>
            <a:ext cx="576243" cy="182880"/>
          </a:xfrm>
          <a:prstGeom prst="rect">
            <a:avLst/>
          </a:prstGeom>
          <a:noFill/>
          <a:ln>
            <a:noFill/>
          </a:ln>
        </p:spPr>
        <p:txBody>
          <a:bodyPr wrap="none" lIns="0" tIns="0" rIns="0" bIns="0" anchor="t" anchorCtr="0">
            <a:spAutoFit/>
          </a:bodyPr>
          <a:lstStyle/>
          <a:p>
            <a:pPr algn="ctr"/>
            <a:r>
              <a:rPr lang="zh-CN" sz="900" dirty="0">
                <a:solidFill>
                  <a:srgbClr val="FFFFFF">
                    <a:alphaMod val="60000"/>
                  </a:srgbClr>
                </a:solidFill>
                <a:latin typeface="Arial"/>
                <a:ea typeface="Microsoft YaHei"/>
                <a:cs typeface="Arial"/>
              </a:rPr>
              <a:t>Wrap-up</a:t>
            </a:r>
          </a:p>
        </p:txBody>
      </p:sp>
      <p:sp>
        <p:nvSpPr>
          <p:cNvPr id="16" name="Rectangle 16"/>
          <p:cNvSpPr/>
          <p:nvPr/>
        </p:nvSpPr>
        <p:spPr>
          <a:xfrm>
            <a:off x="914400" y="304800"/>
            <a:ext cx="419100" cy="47625"/>
          </a:xfrm>
          <a:prstGeom prst="rect">
            <a:avLst/>
          </a:prstGeom>
          <a:solidFill>
            <a:srgbClr val="B45309"/>
          </a:solidFill>
          <a:ln>
            <a:noFill/>
          </a:ln>
        </p:spPr>
      </p:sp>
      <p:sp>
        <p:nvSpPr>
          <p:cNvPr id="17" name="TextBox 17"/>
          <p:cNvSpPr txBox="1"/>
          <p:nvPr/>
        </p:nvSpPr>
        <p:spPr>
          <a:xfrm>
            <a:off x="889635" y="456248"/>
            <a:ext cx="10482688" cy="396240"/>
          </a:xfrm>
          <a:prstGeom prst="rect">
            <a:avLst/>
          </a:prstGeom>
          <a:noFill/>
          <a:ln>
            <a:noFill/>
          </a:ln>
        </p:spPr>
        <p:txBody>
          <a:bodyPr wrap="none" lIns="0" tIns="0" rIns="0" bIns="0" anchor="t" anchorCtr="0">
            <a:spAutoFit/>
          </a:bodyPr>
          <a:lstStyle/>
          <a:p>
            <a:pPr algn="l"/>
            <a:r>
              <a:rPr lang="zh-CN" sz="1950" b="1" dirty="0">
                <a:solidFill>
                  <a:srgbClr val="17332D"/>
                </a:solidFill>
                <a:latin typeface="Arial"/>
                <a:ea typeface="Microsoft YaHei"/>
                <a:cs typeface="Arial"/>
              </a:rPr>
              <a:t>A new record can mean the bird moved — or that someone finally looked</a:t>
            </a:r>
          </a:p>
        </p:txBody>
      </p:sp>
      <p:sp>
        <p:nvSpPr>
          <p:cNvPr id="18" name="TextBox 18"/>
          <p:cNvSpPr txBox="1"/>
          <p:nvPr/>
        </p:nvSpPr>
        <p:spPr>
          <a:xfrm>
            <a:off x="10953064" y="283845"/>
            <a:ext cx="869366" cy="182880"/>
          </a:xfrm>
          <a:prstGeom prst="rect">
            <a:avLst/>
          </a:prstGeom>
          <a:noFill/>
          <a:ln>
            <a:noFill/>
          </a:ln>
        </p:spPr>
        <p:txBody>
          <a:bodyPr wrap="none" lIns="0" tIns="0" rIns="0" bIns="0" anchor="t" anchorCtr="0">
            <a:spAutoFit/>
          </a:bodyPr>
          <a:lstStyle/>
          <a:p>
            <a:pPr algn="r"/>
            <a:r>
              <a:rPr lang="zh-CN" sz="900" dirty="0">
                <a:solidFill>
                  <a:srgbClr val="8A919B"/>
                </a:solidFill>
                <a:latin typeface="Arial"/>
                <a:ea typeface="Microsoft YaHei"/>
                <a:cs typeface="Arial"/>
              </a:rPr>
              <a:t>Introduction</a:t>
            </a:r>
          </a:p>
        </p:txBody>
      </p:sp>
      <p:sp>
        <p:nvSpPr>
          <p:cNvPr id="19" name="Line 19"/>
          <p:cNvSpPr/>
          <p:nvPr/>
        </p:nvSpPr>
        <p:spPr>
          <a:xfrm>
            <a:off x="914400" y="6515100"/>
            <a:ext cx="10896600" cy="9525"/>
          </a:xfrm>
          <a:custGeom>
            <a:avLst/>
            <a:gdLst/>
            <a:ahLst/>
            <a:cxnLst/>
            <a:rect l="l" t="t" r="r" b="b"/>
            <a:pathLst>
              <a:path w="10896600" h="9525">
                <a:moveTo>
                  <a:pt x="0" y="0"/>
                </a:moveTo>
                <a:lnTo>
                  <a:pt x="10896600" y="0"/>
                </a:lnTo>
              </a:path>
            </a:pathLst>
          </a:custGeom>
          <a:noFill/>
          <a:ln w="9525">
            <a:solidFill>
              <a:srgbClr val="D6D3CD"/>
            </a:solidFill>
          </a:ln>
        </p:spPr>
      </p:sp>
      <p:sp>
        <p:nvSpPr>
          <p:cNvPr id="20" name="TextBox 20"/>
          <p:cNvSpPr txBox="1"/>
          <p:nvPr/>
        </p:nvSpPr>
        <p:spPr>
          <a:xfrm>
            <a:off x="902970" y="6617970"/>
            <a:ext cx="2609698" cy="182880"/>
          </a:xfrm>
          <a:prstGeom prst="rect">
            <a:avLst/>
          </a:prstGeom>
          <a:noFill/>
          <a:ln>
            <a:noFill/>
          </a:ln>
        </p:spPr>
        <p:txBody>
          <a:bodyPr wrap="none" lIns="0" tIns="0" rIns="0" bIns="0" anchor="t" anchorCtr="0">
            <a:spAutoFit/>
          </a:bodyPr>
          <a:lstStyle/>
          <a:p>
            <a:pPr algn="l"/>
            <a:r>
              <a:rPr lang="zh-CN" sz="900" dirty="0">
                <a:solidFill>
                  <a:srgbClr val="8A919B"/>
                </a:solidFill>
                <a:latin typeface="Arial"/>
                <a:ea typeface="Microsoft YaHei"/>
                <a:cs typeface="Arial"/>
              </a:rPr>
              <a:t>Birds or birders? · AOC 2026, Singapore</a:t>
            </a:r>
          </a:p>
        </p:txBody>
      </p:sp>
      <p:sp>
        <p:nvSpPr>
          <p:cNvPr id="21" name="TextBox 21"/>
          <p:cNvSpPr txBox="1"/>
          <p:nvPr/>
        </p:nvSpPr>
        <p:spPr>
          <a:xfrm>
            <a:off x="11352657" y="6617970"/>
            <a:ext cx="469773" cy="182880"/>
          </a:xfrm>
          <a:prstGeom prst="rect">
            <a:avLst/>
          </a:prstGeom>
          <a:noFill/>
          <a:ln>
            <a:noFill/>
          </a:ln>
        </p:spPr>
        <p:txBody>
          <a:bodyPr wrap="none" lIns="0" tIns="0" rIns="0" bIns="0" anchor="t" anchorCtr="0">
            <a:spAutoFit/>
          </a:bodyPr>
          <a:lstStyle/>
          <a:p>
            <a:pPr algn="r"/>
            <a:r>
              <a:rPr lang="zh-CN" sz="900" dirty="0">
                <a:solidFill>
                  <a:srgbClr val="5F6670"/>
                </a:solidFill>
                <a:latin typeface="Arial"/>
                <a:ea typeface="Microsoft YaHei"/>
                <a:cs typeface="Arial"/>
              </a:rPr>
              <a:t>02 / 20</a:t>
            </a:r>
          </a:p>
        </p:txBody>
      </p:sp>
      <p:sp>
        <p:nvSpPr>
          <p:cNvPr id="22" name="Rectangle 22"/>
          <p:cNvSpPr/>
          <p:nvPr/>
        </p:nvSpPr>
        <p:spPr>
          <a:xfrm>
            <a:off x="914400" y="952500"/>
            <a:ext cx="5295900" cy="1476375"/>
          </a:xfrm>
          <a:prstGeom prst="roundRect">
            <a:avLst>
              <a:gd name="adj" fmla="val 3871"/>
            </a:avLst>
          </a:prstGeom>
          <a:solidFill>
            <a:srgbClr val="FFFFFF"/>
          </a:solidFill>
          <a:ln w="9525">
            <a:solidFill>
              <a:srgbClr val="D6D3CD"/>
            </a:solidFill>
          </a:ln>
        </p:spPr>
      </p:sp>
      <p:sp>
        <p:nvSpPr>
          <p:cNvPr id="23" name="Rectangle 23"/>
          <p:cNvSpPr/>
          <p:nvPr/>
        </p:nvSpPr>
        <p:spPr>
          <a:xfrm>
            <a:off x="914400" y="952500"/>
            <a:ext cx="5295900" cy="38100"/>
          </a:xfrm>
          <a:prstGeom prst="rect">
            <a:avLst/>
          </a:prstGeom>
          <a:solidFill>
            <a:srgbClr val="1F4E45"/>
          </a:solidFill>
          <a:ln>
            <a:noFill/>
          </a:ln>
        </p:spPr>
      </p:sp>
      <p:sp>
        <p:nvSpPr>
          <p:cNvPr id="24" name="TextBox 24"/>
          <p:cNvSpPr txBox="1"/>
          <p:nvPr/>
        </p:nvSpPr>
        <p:spPr>
          <a:xfrm>
            <a:off x="1088708" y="1129189"/>
            <a:ext cx="3790625" cy="259080"/>
          </a:xfrm>
          <a:prstGeom prst="rect">
            <a:avLst/>
          </a:prstGeom>
          <a:noFill/>
          <a:ln>
            <a:noFill/>
          </a:ln>
        </p:spPr>
        <p:txBody>
          <a:bodyPr wrap="none" lIns="0" tIns="0" rIns="0" bIns="0" anchor="t" anchorCtr="0">
            <a:spAutoFit/>
          </a:bodyPr>
          <a:lstStyle/>
          <a:p>
            <a:pPr algn="l"/>
            <a:r>
              <a:rPr lang="zh-CN" sz="1275" b="1" dirty="0">
                <a:solidFill>
                  <a:srgbClr val="1F4E45"/>
                </a:solidFill>
                <a:latin typeface="Arial"/>
                <a:ea typeface="Microsoft YaHei"/>
                <a:cs typeface="Arial"/>
              </a:rPr>
              <a:t>Every record needs a bird and a birder</a:t>
            </a:r>
          </a:p>
        </p:txBody>
      </p:sp>
      <p:sp>
        <p:nvSpPr>
          <p:cNvPr id="25" name="TextBox 25"/>
          <p:cNvSpPr txBox="1"/>
          <p:nvPr/>
        </p:nvSpPr>
        <p:spPr>
          <a:xfrm>
            <a:off x="1090612" y="1421606"/>
            <a:ext cx="2821781" cy="228600"/>
          </a:xfrm>
          <a:prstGeom prst="rect">
            <a:avLst/>
          </a:prstGeom>
          <a:noFill/>
          <a:ln>
            <a:noFill/>
          </a:ln>
        </p:spPr>
        <p:txBody>
          <a:bodyPr wrap="none" lIns="0" tIns="0" rIns="0" bIns="0" anchor="t" anchorCtr="0">
            <a:spAutoFit/>
          </a:bodyPr>
          <a:lstStyle/>
          <a:p>
            <a:pPr algn="l"/>
            <a:r>
              <a:rPr lang="zh-CN" sz="1125" dirty="0">
                <a:solidFill>
                  <a:srgbClr val="17332D"/>
                </a:solidFill>
                <a:latin typeface="Arial"/>
                <a:ea typeface="Microsoft YaHei"/>
                <a:cs typeface="Arial"/>
              </a:rPr>
              <a:t>Range maps are built from records.</a:t>
            </a:r>
          </a:p>
        </p:txBody>
      </p:sp>
      <p:sp>
        <p:nvSpPr>
          <p:cNvPr id="26" name="TextBox 26"/>
          <p:cNvSpPr txBox="1"/>
          <p:nvPr/>
        </p:nvSpPr>
        <p:spPr>
          <a:xfrm>
            <a:off x="1090612" y="1659731"/>
            <a:ext cx="3886486" cy="228600"/>
          </a:xfrm>
          <a:prstGeom prst="rect">
            <a:avLst/>
          </a:prstGeom>
          <a:noFill/>
          <a:ln>
            <a:noFill/>
          </a:ln>
        </p:spPr>
        <p:txBody>
          <a:bodyPr wrap="none" lIns="0" tIns="0" rIns="0" bIns="0" anchor="t" anchorCtr="0">
            <a:spAutoFit/>
          </a:bodyPr>
          <a:lstStyle/>
          <a:p>
            <a:pPr algn="l"/>
            <a:r>
              <a:rPr lang="zh-CN" sz="1125" dirty="0">
                <a:solidFill>
                  <a:srgbClr val="17332D"/>
                </a:solidFill>
                <a:latin typeface="Arial"/>
                <a:ea typeface="Microsoft YaHei"/>
                <a:cs typeface="Arial"/>
              </a:rPr>
              <a:t>A record = where birds are × where people look.</a:t>
            </a:r>
          </a:p>
        </p:txBody>
      </p:sp>
      <p:sp>
        <p:nvSpPr>
          <p:cNvPr id="27" name="TextBox 27"/>
          <p:cNvSpPr txBox="1"/>
          <p:nvPr/>
        </p:nvSpPr>
        <p:spPr>
          <a:xfrm>
            <a:off x="1090612" y="1897856"/>
            <a:ext cx="3768185" cy="228600"/>
          </a:xfrm>
          <a:prstGeom prst="rect">
            <a:avLst/>
          </a:prstGeom>
          <a:noFill/>
          <a:ln>
            <a:noFill/>
          </a:ln>
        </p:spPr>
        <p:txBody>
          <a:bodyPr wrap="none" lIns="0" tIns="0" rIns="0" bIns="0" anchor="t" anchorCtr="0">
            <a:spAutoFit/>
          </a:bodyPr>
          <a:lstStyle/>
          <a:p>
            <a:pPr algn="l"/>
            <a:r>
              <a:rPr lang="zh-CN" sz="1125" dirty="0">
                <a:solidFill>
                  <a:srgbClr val="5F6670"/>
                </a:solidFill>
                <a:latin typeface="Arial"/>
                <a:ea typeface="Microsoft YaHei"/>
                <a:cs typeface="Arial"/>
              </a:rPr>
              <a:t>In the raw data, the two cannot be told apart.</a:t>
            </a:r>
          </a:p>
        </p:txBody>
      </p:sp>
      <p:sp>
        <p:nvSpPr>
          <p:cNvPr id="28" name="Rectangle 28"/>
          <p:cNvSpPr/>
          <p:nvPr/>
        </p:nvSpPr>
        <p:spPr>
          <a:xfrm>
            <a:off x="6515100" y="952500"/>
            <a:ext cx="5295900" cy="1476375"/>
          </a:xfrm>
          <a:prstGeom prst="roundRect">
            <a:avLst>
              <a:gd name="adj" fmla="val 3871"/>
            </a:avLst>
          </a:prstGeom>
          <a:solidFill>
            <a:srgbClr val="FFFFFF"/>
          </a:solidFill>
          <a:ln w="9525">
            <a:solidFill>
              <a:srgbClr val="D6D3CD"/>
            </a:solidFill>
          </a:ln>
        </p:spPr>
      </p:sp>
      <p:sp>
        <p:nvSpPr>
          <p:cNvPr id="29" name="Rectangle 29"/>
          <p:cNvSpPr/>
          <p:nvPr/>
        </p:nvSpPr>
        <p:spPr>
          <a:xfrm>
            <a:off x="6515100" y="952500"/>
            <a:ext cx="5295900" cy="38100"/>
          </a:xfrm>
          <a:prstGeom prst="rect">
            <a:avLst/>
          </a:prstGeom>
          <a:solidFill>
            <a:srgbClr val="B45309"/>
          </a:solidFill>
          <a:ln>
            <a:noFill/>
          </a:ln>
        </p:spPr>
      </p:sp>
      <p:sp>
        <p:nvSpPr>
          <p:cNvPr id="30" name="TextBox 30"/>
          <p:cNvSpPr txBox="1"/>
          <p:nvPr/>
        </p:nvSpPr>
        <p:spPr>
          <a:xfrm>
            <a:off x="6689408" y="1129189"/>
            <a:ext cx="3498493" cy="259080"/>
          </a:xfrm>
          <a:prstGeom prst="rect">
            <a:avLst/>
          </a:prstGeom>
          <a:noFill/>
          <a:ln>
            <a:noFill/>
          </a:ln>
        </p:spPr>
        <p:txBody>
          <a:bodyPr wrap="none" lIns="0" tIns="0" rIns="0" bIns="0" anchor="t" anchorCtr="0">
            <a:spAutoFit/>
          </a:bodyPr>
          <a:lstStyle/>
          <a:p>
            <a:pPr algn="l"/>
            <a:r>
              <a:rPr lang="zh-CN" sz="1275" b="1" dirty="0">
                <a:solidFill>
                  <a:srgbClr val="B45309"/>
                </a:solidFill>
                <a:latin typeface="Arial"/>
                <a:ea typeface="Microsoft YaHei"/>
                <a:cs typeface="Arial"/>
              </a:rPr>
              <a:t>In China, both grew fast after 2000</a:t>
            </a:r>
          </a:p>
        </p:txBody>
      </p:sp>
      <p:sp>
        <p:nvSpPr>
          <p:cNvPr id="31" name="TextBox 31"/>
          <p:cNvSpPr txBox="1"/>
          <p:nvPr/>
        </p:nvSpPr>
        <p:spPr>
          <a:xfrm>
            <a:off x="6691312" y="1421606"/>
            <a:ext cx="2164556" cy="228600"/>
          </a:xfrm>
          <a:prstGeom prst="rect">
            <a:avLst/>
          </a:prstGeom>
          <a:noFill/>
          <a:ln>
            <a:noFill/>
          </a:ln>
        </p:spPr>
        <p:txBody>
          <a:bodyPr wrap="none" lIns="0" tIns="0" rIns="0" bIns="0" anchor="t" anchorCtr="0">
            <a:spAutoFit/>
          </a:bodyPr>
          <a:lstStyle/>
          <a:p>
            <a:pPr algn="l"/>
            <a:r>
              <a:rPr lang="zh-CN" sz="1125" dirty="0">
                <a:solidFill>
                  <a:srgbClr val="009E73"/>
                </a:solidFill>
                <a:latin typeface="Arial"/>
                <a:ea typeface="Microsoft YaHei"/>
                <a:cs typeface="Arial"/>
              </a:rPr>
              <a:t>The climate warmed quickly.</a:t>
            </a:r>
          </a:p>
        </p:txBody>
      </p:sp>
      <p:sp>
        <p:nvSpPr>
          <p:cNvPr id="32" name="TextBox 32"/>
          <p:cNvSpPr txBox="1"/>
          <p:nvPr/>
        </p:nvSpPr>
        <p:spPr>
          <a:xfrm>
            <a:off x="6691312" y="1659731"/>
            <a:ext cx="4129659" cy="228600"/>
          </a:xfrm>
          <a:prstGeom prst="rect">
            <a:avLst/>
          </a:prstGeom>
          <a:noFill/>
          <a:ln>
            <a:noFill/>
          </a:ln>
        </p:spPr>
        <p:txBody>
          <a:bodyPr wrap="none" lIns="0" tIns="0" rIns="0" bIns="0" anchor="t" anchorCtr="0">
            <a:spAutoFit/>
          </a:bodyPr>
          <a:lstStyle/>
          <a:p>
            <a:pPr algn="l"/>
            <a:r>
              <a:rPr lang="zh-CN" sz="1125" dirty="0">
                <a:solidFill>
                  <a:srgbClr val="0072B2"/>
                </a:solidFill>
                <a:latin typeface="Arial"/>
                <a:ea typeface="Microsoft YaHei"/>
                <a:cs typeface="Arial"/>
              </a:rPr>
              <a:t>Birdwatching grew from a niche into a mass pastime.</a:t>
            </a:r>
          </a:p>
        </p:txBody>
      </p:sp>
      <p:sp>
        <p:nvSpPr>
          <p:cNvPr id="33" name="TextBox 33"/>
          <p:cNvSpPr txBox="1"/>
          <p:nvPr/>
        </p:nvSpPr>
        <p:spPr>
          <a:xfrm>
            <a:off x="6691312" y="1897856"/>
            <a:ext cx="2979515" cy="228600"/>
          </a:xfrm>
          <a:prstGeom prst="rect">
            <a:avLst/>
          </a:prstGeom>
          <a:noFill/>
          <a:ln>
            <a:noFill/>
          </a:ln>
        </p:spPr>
        <p:txBody>
          <a:bodyPr wrap="none" lIns="0" tIns="0" rIns="0" bIns="0" anchor="t" anchorCtr="0">
            <a:spAutoFit/>
          </a:bodyPr>
          <a:lstStyle/>
          <a:p>
            <a:pPr algn="l"/>
            <a:r>
              <a:rPr lang="zh-CN" sz="1125" dirty="0">
                <a:solidFill>
                  <a:srgbClr val="5F6670"/>
                </a:solidFill>
                <a:latin typeface="Arial"/>
                <a:ea typeface="Microsoft YaHei"/>
                <a:cs typeface="Arial"/>
              </a:rPr>
              <a:t>A model with only one of them gives it</a:t>
            </a:r>
          </a:p>
        </p:txBody>
      </p:sp>
      <p:sp>
        <p:nvSpPr>
          <p:cNvPr id="34" name="TextBox 34"/>
          <p:cNvSpPr txBox="1"/>
          <p:nvPr/>
        </p:nvSpPr>
        <p:spPr>
          <a:xfrm>
            <a:off x="6691312" y="2135981"/>
            <a:ext cx="1658493" cy="228600"/>
          </a:xfrm>
          <a:prstGeom prst="rect">
            <a:avLst/>
          </a:prstGeom>
          <a:noFill/>
          <a:ln>
            <a:noFill/>
          </a:ln>
        </p:spPr>
        <p:txBody>
          <a:bodyPr wrap="none" lIns="0" tIns="0" rIns="0" bIns="0" anchor="t" anchorCtr="0">
            <a:spAutoFit/>
          </a:bodyPr>
          <a:lstStyle/>
          <a:p>
            <a:pPr algn="l"/>
            <a:r>
              <a:rPr lang="zh-CN" sz="1125" dirty="0">
                <a:solidFill>
                  <a:srgbClr val="5F6670"/>
                </a:solidFill>
                <a:latin typeface="Arial"/>
                <a:ea typeface="Microsoft YaHei"/>
                <a:cs typeface="Arial"/>
              </a:rPr>
              <a:t>the credit for both.</a:t>
            </a:r>
          </a:p>
        </p:txBody>
      </p:sp>
      <p:sp>
        <p:nvSpPr>
          <p:cNvPr id="35" name="Rectangle 35"/>
          <p:cNvSpPr/>
          <p:nvPr/>
        </p:nvSpPr>
        <p:spPr>
          <a:xfrm>
            <a:off x="914400" y="2714625"/>
            <a:ext cx="10896600" cy="1066800"/>
          </a:xfrm>
          <a:prstGeom prst="roundRect">
            <a:avLst>
              <a:gd name="adj" fmla="val 5357"/>
            </a:avLst>
          </a:prstGeom>
          <a:solidFill>
            <a:srgbClr val="1F4E45"/>
          </a:solidFill>
          <a:ln>
            <a:noFill/>
          </a:ln>
        </p:spPr>
      </p:sp>
      <p:sp>
        <p:nvSpPr>
          <p:cNvPr id="36" name="TextBox 36"/>
          <p:cNvSpPr txBox="1"/>
          <p:nvPr/>
        </p:nvSpPr>
        <p:spPr>
          <a:xfrm>
            <a:off x="5697663" y="2892742"/>
            <a:ext cx="1330075"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Our question</a:t>
            </a:r>
          </a:p>
        </p:txBody>
      </p:sp>
      <p:sp>
        <p:nvSpPr>
          <p:cNvPr id="37" name="TextBox 37"/>
          <p:cNvSpPr txBox="1"/>
          <p:nvPr/>
        </p:nvSpPr>
        <p:spPr>
          <a:xfrm>
            <a:off x="3344742" y="3196114"/>
            <a:ext cx="6035916" cy="259080"/>
          </a:xfrm>
          <a:prstGeom prst="rect">
            <a:avLst/>
          </a:prstGeom>
          <a:noFill/>
          <a:ln>
            <a:noFill/>
          </a:ln>
        </p:spPr>
        <p:txBody>
          <a:bodyPr wrap="none" lIns="0" tIns="0" rIns="0" bIns="0" anchor="t" anchorCtr="0">
            <a:spAutoFit/>
          </a:bodyPr>
          <a:lstStyle/>
          <a:p>
            <a:pPr algn="ctr"/>
            <a:r>
              <a:rPr lang="zh-CN" sz="1275" dirty="0">
                <a:solidFill>
                  <a:srgbClr val="E7F0ED"/>
                </a:solidFill>
                <a:latin typeface="Arial"/>
                <a:ea typeface="Microsoft YaHei"/>
                <a:cs typeface="Arial"/>
              </a:rPr>
              <a:t>Are new records driven by real range change or by observation —</a:t>
            </a:r>
          </a:p>
        </p:txBody>
      </p:sp>
      <p:sp>
        <p:nvSpPr>
          <p:cNvPr id="38" name="TextBox 38"/>
          <p:cNvSpPr txBox="1"/>
          <p:nvPr/>
        </p:nvSpPr>
        <p:spPr>
          <a:xfrm>
            <a:off x="4625892" y="3453289"/>
            <a:ext cx="3473615" cy="259080"/>
          </a:xfrm>
          <a:prstGeom prst="rect">
            <a:avLst/>
          </a:prstGeom>
          <a:noFill/>
          <a:ln>
            <a:noFill/>
          </a:ln>
        </p:spPr>
        <p:txBody>
          <a:bodyPr wrap="none" lIns="0" tIns="0" rIns="0" bIns="0" anchor="t" anchorCtr="0">
            <a:spAutoFit/>
          </a:bodyPr>
          <a:lstStyle/>
          <a:p>
            <a:pPr algn="ctr"/>
            <a:r>
              <a:rPr lang="zh-CN" sz="1275" dirty="0">
                <a:solidFill>
                  <a:srgbClr val="E7F0ED"/>
                </a:solidFill>
                <a:latin typeface="Arial"/>
                <a:ea typeface="Microsoft YaHei"/>
                <a:cs typeface="Arial"/>
              </a:rPr>
              <a:t>and can we measure both in one model?</a:t>
            </a:r>
          </a:p>
        </p:txBody>
      </p:sp>
      <p:sp>
        <p:nvSpPr>
          <p:cNvPr id="39" name="TextBox 39"/>
          <p:cNvSpPr txBox="1"/>
          <p:nvPr/>
        </p:nvSpPr>
        <p:spPr>
          <a:xfrm>
            <a:off x="898208" y="4320064"/>
            <a:ext cx="5282868" cy="259080"/>
          </a:xfrm>
          <a:prstGeom prst="rect">
            <a:avLst/>
          </a:prstGeom>
          <a:noFill/>
          <a:ln>
            <a:noFill/>
          </a:ln>
        </p:spPr>
        <p:txBody>
          <a:bodyPr wrap="none" lIns="0" tIns="0" rIns="0" bIns="0" anchor="t" anchorCtr="0">
            <a:spAutoFit/>
          </a:bodyPr>
          <a:lstStyle/>
          <a:p>
            <a:pPr algn="l"/>
            <a:r>
              <a:rPr lang="zh-CN" sz="1275" b="1" dirty="0">
                <a:solidFill>
                  <a:srgbClr val="17332D"/>
                </a:solidFill>
                <a:latin typeface="Arial"/>
                <a:ea typeface="Microsoft YaHei"/>
                <a:cs typeface="Arial"/>
              </a:rPr>
              <a:t>How the original papers explain the 1,029 CBNR records</a:t>
            </a:r>
          </a:p>
        </p:txBody>
      </p:sp>
      <p:sp>
        <p:nvSpPr>
          <p:cNvPr id="40" name="TextBox 40"/>
          <p:cNvSpPr txBox="1"/>
          <p:nvPr/>
        </p:nvSpPr>
        <p:spPr>
          <a:xfrm>
            <a:off x="900112" y="4822031"/>
            <a:ext cx="955262" cy="228600"/>
          </a:xfrm>
          <a:prstGeom prst="rect">
            <a:avLst/>
          </a:prstGeom>
          <a:noFill/>
          <a:ln>
            <a:noFill/>
          </a:ln>
        </p:spPr>
        <p:txBody>
          <a:bodyPr wrap="none" lIns="0" tIns="0" rIns="0" bIns="0" anchor="t" anchorCtr="0">
            <a:spAutoFit/>
          </a:bodyPr>
          <a:lstStyle/>
          <a:p>
            <a:pPr algn="l"/>
            <a:r>
              <a:rPr lang="zh-CN" sz="1125" dirty="0">
                <a:solidFill>
                  <a:srgbClr val="17332D"/>
                </a:solidFill>
                <a:latin typeface="Arial"/>
                <a:ea typeface="Microsoft YaHei"/>
                <a:cs typeface="Arial"/>
              </a:rPr>
              <a:t>Range shift</a:t>
            </a:r>
          </a:p>
        </p:txBody>
      </p:sp>
      <p:sp>
        <p:nvSpPr>
          <p:cNvPr id="41" name="Rectangle 41"/>
          <p:cNvSpPr/>
          <p:nvPr/>
        </p:nvSpPr>
        <p:spPr>
          <a:xfrm>
            <a:off x="4476750" y="4791075"/>
            <a:ext cx="5334000" cy="209550"/>
          </a:xfrm>
          <a:prstGeom prst="roundRect">
            <a:avLst>
              <a:gd name="adj" fmla="val 13636"/>
            </a:avLst>
          </a:prstGeom>
          <a:solidFill>
            <a:srgbClr val="009E73"/>
          </a:solidFill>
          <a:ln>
            <a:noFill/>
          </a:ln>
        </p:spPr>
      </p:sp>
      <p:sp>
        <p:nvSpPr>
          <p:cNvPr id="42" name="TextBox 42"/>
          <p:cNvSpPr txBox="1"/>
          <p:nvPr/>
        </p:nvSpPr>
        <p:spPr>
          <a:xfrm>
            <a:off x="9891712" y="4831556"/>
            <a:ext cx="512753" cy="228600"/>
          </a:xfrm>
          <a:prstGeom prst="rect">
            <a:avLst/>
          </a:prstGeom>
          <a:noFill/>
          <a:ln>
            <a:noFill/>
          </a:ln>
        </p:spPr>
        <p:txBody>
          <a:bodyPr wrap="none" lIns="0" tIns="0" rIns="0" bIns="0" anchor="t" anchorCtr="0">
            <a:spAutoFit/>
          </a:bodyPr>
          <a:lstStyle/>
          <a:p>
            <a:pPr algn="l"/>
            <a:r>
              <a:rPr lang="zh-CN" sz="1125" b="1" dirty="0">
                <a:solidFill>
                  <a:srgbClr val="17332D"/>
                </a:solidFill>
                <a:latin typeface="Arial"/>
                <a:ea typeface="Microsoft YaHei"/>
                <a:cs typeface="Arial"/>
              </a:rPr>
              <a:t>61.1%</a:t>
            </a:r>
          </a:p>
        </p:txBody>
      </p:sp>
      <p:sp>
        <p:nvSpPr>
          <p:cNvPr id="43" name="TextBox 43"/>
          <p:cNvSpPr txBox="1"/>
          <p:nvPr/>
        </p:nvSpPr>
        <p:spPr>
          <a:xfrm>
            <a:off x="900112" y="5183981"/>
            <a:ext cx="3426428" cy="228600"/>
          </a:xfrm>
          <a:prstGeom prst="rect">
            <a:avLst/>
          </a:prstGeom>
          <a:noFill/>
          <a:ln>
            <a:noFill/>
          </a:ln>
        </p:spPr>
        <p:txBody>
          <a:bodyPr wrap="none" lIns="0" tIns="0" rIns="0" bIns="0" anchor="t" anchorCtr="0">
            <a:spAutoFit/>
          </a:bodyPr>
          <a:lstStyle/>
          <a:p>
            <a:pPr algn="l"/>
            <a:r>
              <a:rPr lang="zh-CN" sz="1125" dirty="0">
                <a:solidFill>
                  <a:srgbClr val="17332D"/>
                </a:solidFill>
                <a:latin typeface="Arial"/>
                <a:ea typeface="Microsoft YaHei"/>
                <a:cs typeface="Arial"/>
              </a:rPr>
              <a:t>Survey effort (alone or with range shift)</a:t>
            </a:r>
          </a:p>
        </p:txBody>
      </p:sp>
      <p:sp>
        <p:nvSpPr>
          <p:cNvPr id="44" name="Rectangle 44"/>
          <p:cNvSpPr/>
          <p:nvPr/>
        </p:nvSpPr>
        <p:spPr>
          <a:xfrm>
            <a:off x="4476750" y="5153025"/>
            <a:ext cx="637222" cy="209550"/>
          </a:xfrm>
          <a:prstGeom prst="roundRect">
            <a:avLst>
              <a:gd name="adj" fmla="val 13636"/>
            </a:avLst>
          </a:prstGeom>
          <a:solidFill>
            <a:srgbClr val="0072B2"/>
          </a:solidFill>
          <a:ln>
            <a:noFill/>
          </a:ln>
        </p:spPr>
      </p:sp>
      <p:sp>
        <p:nvSpPr>
          <p:cNvPr id="45" name="TextBox 45"/>
          <p:cNvSpPr txBox="1"/>
          <p:nvPr/>
        </p:nvSpPr>
        <p:spPr>
          <a:xfrm>
            <a:off x="5194935" y="5193506"/>
            <a:ext cx="416962" cy="228600"/>
          </a:xfrm>
          <a:prstGeom prst="rect">
            <a:avLst/>
          </a:prstGeom>
          <a:noFill/>
          <a:ln>
            <a:noFill/>
          </a:ln>
        </p:spPr>
        <p:txBody>
          <a:bodyPr wrap="none" lIns="0" tIns="0" rIns="0" bIns="0" anchor="t" anchorCtr="0">
            <a:spAutoFit/>
          </a:bodyPr>
          <a:lstStyle/>
          <a:p>
            <a:pPr algn="l"/>
            <a:r>
              <a:rPr lang="zh-CN" sz="1125" b="1" dirty="0">
                <a:solidFill>
                  <a:srgbClr val="17332D"/>
                </a:solidFill>
                <a:latin typeface="Arial"/>
                <a:ea typeface="Microsoft YaHei"/>
                <a:cs typeface="Arial"/>
              </a:rPr>
              <a:t>7.3%</a:t>
            </a:r>
          </a:p>
        </p:txBody>
      </p:sp>
      <p:sp>
        <p:nvSpPr>
          <p:cNvPr id="46" name="TextBox 46"/>
          <p:cNvSpPr txBox="1"/>
          <p:nvPr/>
        </p:nvSpPr>
        <p:spPr>
          <a:xfrm>
            <a:off x="900112" y="5545931"/>
            <a:ext cx="909256" cy="228600"/>
          </a:xfrm>
          <a:prstGeom prst="rect">
            <a:avLst/>
          </a:prstGeom>
          <a:noFill/>
          <a:ln>
            <a:noFill/>
          </a:ln>
        </p:spPr>
        <p:txBody>
          <a:bodyPr wrap="none" lIns="0" tIns="0" rIns="0" bIns="0" anchor="t" anchorCtr="0">
            <a:spAutoFit/>
          </a:bodyPr>
          <a:lstStyle/>
          <a:p>
            <a:pPr algn="l"/>
            <a:r>
              <a:rPr lang="zh-CN" sz="1125" dirty="0">
                <a:solidFill>
                  <a:srgbClr val="17332D"/>
                </a:solidFill>
                <a:latin typeface="Arial"/>
                <a:ea typeface="Microsoft YaHei"/>
                <a:cs typeface="Arial"/>
              </a:rPr>
              <a:t>Not stated</a:t>
            </a:r>
          </a:p>
        </p:txBody>
      </p:sp>
      <p:sp>
        <p:nvSpPr>
          <p:cNvPr id="47" name="Rectangle 47"/>
          <p:cNvSpPr/>
          <p:nvPr/>
        </p:nvSpPr>
        <p:spPr>
          <a:xfrm>
            <a:off x="4476750" y="5514975"/>
            <a:ext cx="2706052" cy="209550"/>
          </a:xfrm>
          <a:prstGeom prst="roundRect">
            <a:avLst>
              <a:gd name="adj" fmla="val 13636"/>
            </a:avLst>
          </a:prstGeom>
          <a:solidFill>
            <a:srgbClr val="8A919B"/>
          </a:solidFill>
          <a:ln>
            <a:noFill/>
          </a:ln>
        </p:spPr>
      </p:sp>
      <p:sp>
        <p:nvSpPr>
          <p:cNvPr id="48" name="TextBox 48"/>
          <p:cNvSpPr txBox="1"/>
          <p:nvPr/>
        </p:nvSpPr>
        <p:spPr>
          <a:xfrm>
            <a:off x="7263765" y="5555456"/>
            <a:ext cx="512753" cy="228600"/>
          </a:xfrm>
          <a:prstGeom prst="rect">
            <a:avLst/>
          </a:prstGeom>
          <a:noFill/>
          <a:ln>
            <a:noFill/>
          </a:ln>
        </p:spPr>
        <p:txBody>
          <a:bodyPr wrap="none" lIns="0" tIns="0" rIns="0" bIns="0" anchor="t" anchorCtr="0">
            <a:spAutoFit/>
          </a:bodyPr>
          <a:lstStyle/>
          <a:p>
            <a:pPr algn="l"/>
            <a:r>
              <a:rPr lang="zh-CN" sz="1125" b="1" dirty="0">
                <a:solidFill>
                  <a:srgbClr val="17332D"/>
                </a:solidFill>
                <a:latin typeface="Arial"/>
                <a:ea typeface="Microsoft YaHei"/>
                <a:cs typeface="Arial"/>
              </a:rPr>
              <a:t>31.0%</a:t>
            </a:r>
          </a:p>
        </p:txBody>
      </p:sp>
      <p:sp>
        <p:nvSpPr>
          <p:cNvPr id="49" name="TextBox 49"/>
          <p:cNvSpPr txBox="1"/>
          <p:nvPr/>
        </p:nvSpPr>
        <p:spPr>
          <a:xfrm>
            <a:off x="900112" y="5907881"/>
            <a:ext cx="2532602" cy="228600"/>
          </a:xfrm>
          <a:prstGeom prst="rect">
            <a:avLst/>
          </a:prstGeom>
          <a:noFill/>
          <a:ln>
            <a:noFill/>
          </a:ln>
        </p:spPr>
        <p:txBody>
          <a:bodyPr wrap="none" lIns="0" tIns="0" rIns="0" bIns="0" anchor="t" anchorCtr="0">
            <a:spAutoFit/>
          </a:bodyPr>
          <a:lstStyle/>
          <a:p>
            <a:pPr algn="l"/>
            <a:r>
              <a:rPr lang="zh-CN" sz="1125" dirty="0">
                <a:solidFill>
                  <a:srgbClr val="17332D"/>
                </a:solidFill>
                <a:latin typeface="Arial"/>
                <a:ea typeface="Microsoft YaHei"/>
                <a:cs typeface="Arial"/>
              </a:rPr>
              <a:t>Other (e.g. taxonomic revision)</a:t>
            </a:r>
          </a:p>
        </p:txBody>
      </p:sp>
      <p:sp>
        <p:nvSpPr>
          <p:cNvPr id="50" name="Rectangle 50"/>
          <p:cNvSpPr/>
          <p:nvPr/>
        </p:nvSpPr>
        <p:spPr>
          <a:xfrm>
            <a:off x="4476750" y="5876925"/>
            <a:ext cx="52388" cy="209550"/>
          </a:xfrm>
          <a:prstGeom prst="roundRect">
            <a:avLst>
              <a:gd name="adj" fmla="val 50000"/>
            </a:avLst>
          </a:prstGeom>
          <a:solidFill>
            <a:srgbClr val="8A919B"/>
          </a:solidFill>
          <a:ln>
            <a:noFill/>
          </a:ln>
        </p:spPr>
      </p:sp>
      <p:sp>
        <p:nvSpPr>
          <p:cNvPr id="51" name="TextBox 51"/>
          <p:cNvSpPr txBox="1"/>
          <p:nvPr/>
        </p:nvSpPr>
        <p:spPr>
          <a:xfrm>
            <a:off x="4610100" y="5917406"/>
            <a:ext cx="416962" cy="228600"/>
          </a:xfrm>
          <a:prstGeom prst="rect">
            <a:avLst/>
          </a:prstGeom>
          <a:noFill/>
          <a:ln>
            <a:noFill/>
          </a:ln>
        </p:spPr>
        <p:txBody>
          <a:bodyPr wrap="none" lIns="0" tIns="0" rIns="0" bIns="0" anchor="t" anchorCtr="0">
            <a:spAutoFit/>
          </a:bodyPr>
          <a:lstStyle/>
          <a:p>
            <a:pPr algn="l"/>
            <a:r>
              <a:rPr lang="zh-CN" sz="1125" b="1" dirty="0">
                <a:solidFill>
                  <a:srgbClr val="17332D"/>
                </a:solidFill>
                <a:latin typeface="Arial"/>
                <a:ea typeface="Microsoft YaHei"/>
                <a:cs typeface="Arial"/>
              </a:rPr>
              <a:t>0.6%</a:t>
            </a:r>
          </a:p>
        </p:txBody>
      </p:sp>
      <p:sp>
        <p:nvSpPr>
          <p:cNvPr id="52" name="TextBox 52"/>
          <p:cNvSpPr txBox="1"/>
          <p:nvPr/>
        </p:nvSpPr>
        <p:spPr>
          <a:xfrm>
            <a:off x="8378057" y="6189345"/>
            <a:ext cx="3444373" cy="182880"/>
          </a:xfrm>
          <a:prstGeom prst="rect">
            <a:avLst/>
          </a:prstGeom>
          <a:noFill/>
          <a:ln>
            <a:noFill/>
          </a:ln>
        </p:spPr>
        <p:txBody>
          <a:bodyPr wrap="none" lIns="0" tIns="0" rIns="0" bIns="0" anchor="t" anchorCtr="0">
            <a:spAutoFit/>
          </a:bodyPr>
          <a:lstStyle/>
          <a:p>
            <a:pPr algn="r"/>
            <a:r>
              <a:rPr lang="zh-CN" sz="900" dirty="0">
                <a:solidFill>
                  <a:srgbClr val="8A919B"/>
                </a:solidFill>
                <a:latin typeface="Arial"/>
                <a:ea typeface="Microsoft YaHei"/>
                <a:cs typeface="Arial"/>
              </a:rPr>
              <a:t>Source: CBNR v2, field ‘Inferred discovery reason’</a:t>
            </a: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BFAF7"/>
          </a:solidFill>
          <a:ln>
            <a:noFill/>
          </a:ln>
        </p:spPr>
      </p:sp>
      <p:sp>
        <p:nvSpPr>
          <p:cNvPr id="3" name="Rectangle 3"/>
          <p:cNvSpPr/>
          <p:nvPr/>
        </p:nvSpPr>
        <p:spPr>
          <a:xfrm>
            <a:off x="0" y="0"/>
            <a:ext cx="609600" cy="6858000"/>
          </a:xfrm>
          <a:prstGeom prst="rect">
            <a:avLst/>
          </a:prstGeom>
          <a:solidFill>
            <a:srgbClr val="1F4E45"/>
          </a:solidFill>
          <a:ln>
            <a:noFill/>
          </a:ln>
        </p:spPr>
      </p:sp>
      <p:sp>
        <p:nvSpPr>
          <p:cNvPr id="4" name="Ellipse 4"/>
          <p:cNvSpPr/>
          <p:nvPr/>
        </p:nvSpPr>
        <p:spPr>
          <a:xfrm>
            <a:off x="272415" y="1091565"/>
            <a:ext cx="64770" cy="64770"/>
          </a:xfrm>
          <a:prstGeom prst="ellipse">
            <a:avLst/>
          </a:prstGeom>
          <a:solidFill>
            <a:srgbClr val="FFFFFF">
              <a:alpha val="42000"/>
            </a:srgbClr>
          </a:solidFill>
          <a:ln>
            <a:noFill/>
          </a:ln>
        </p:spPr>
      </p:sp>
      <p:sp>
        <p:nvSpPr>
          <p:cNvPr id="5" name="TextBox 5"/>
          <p:cNvSpPr txBox="1"/>
          <p:nvPr/>
        </p:nvSpPr>
        <p:spPr>
          <a:xfrm>
            <a:off x="17336" y="1245870"/>
            <a:ext cx="574929" cy="182880"/>
          </a:xfrm>
          <a:prstGeom prst="rect">
            <a:avLst/>
          </a:prstGeom>
          <a:noFill/>
          <a:ln>
            <a:noFill/>
          </a:ln>
        </p:spPr>
        <p:txBody>
          <a:bodyPr wrap="none" lIns="0" tIns="0" rIns="0" bIns="0" anchor="t" anchorCtr="0">
            <a:spAutoFit/>
          </a:bodyPr>
          <a:lstStyle/>
          <a:p>
            <a:pPr algn="ctr"/>
            <a:r>
              <a:rPr lang="zh-CN" sz="900" dirty="0">
                <a:solidFill>
                  <a:srgbClr val="FFFFFF">
                    <a:alphaMod val="60000"/>
                  </a:srgbClr>
                </a:solidFill>
                <a:latin typeface="Arial"/>
                <a:ea typeface="Microsoft YaHei"/>
                <a:cs typeface="Arial"/>
              </a:rPr>
              <a:t>Question</a:t>
            </a:r>
          </a:p>
        </p:txBody>
      </p:sp>
      <p:sp>
        <p:nvSpPr>
          <p:cNvPr id="6" name="Ellipse 6"/>
          <p:cNvSpPr/>
          <p:nvPr/>
        </p:nvSpPr>
        <p:spPr>
          <a:xfrm>
            <a:off x="257175" y="1933575"/>
            <a:ext cx="95250" cy="95250"/>
          </a:xfrm>
          <a:prstGeom prst="ellipse">
            <a:avLst/>
          </a:prstGeom>
          <a:solidFill>
            <a:srgbClr val="FFFFFF"/>
          </a:solidFill>
          <a:ln>
            <a:noFill/>
          </a:ln>
        </p:spPr>
      </p:sp>
      <p:sp>
        <p:nvSpPr>
          <p:cNvPr id="7" name="TextBox 7"/>
          <p:cNvSpPr txBox="1"/>
          <p:nvPr/>
        </p:nvSpPr>
        <p:spPr>
          <a:xfrm>
            <a:off x="146152" y="2103120"/>
            <a:ext cx="317297" cy="182880"/>
          </a:xfrm>
          <a:prstGeom prst="rect">
            <a:avLst/>
          </a:prstGeom>
          <a:noFill/>
          <a:ln>
            <a:noFill/>
          </a:ln>
        </p:spPr>
        <p:txBody>
          <a:bodyPr wrap="none" lIns="0" tIns="0" rIns="0" bIns="0" anchor="t" anchorCtr="0">
            <a:spAutoFit/>
          </a:bodyPr>
          <a:lstStyle/>
          <a:p>
            <a:pPr algn="ctr"/>
            <a:r>
              <a:rPr lang="zh-CN" sz="900" dirty="0">
                <a:solidFill>
                  <a:srgbClr val="FFFFFF"/>
                </a:solidFill>
                <a:latin typeface="Arial"/>
                <a:ea typeface="Microsoft YaHei"/>
                <a:cs typeface="Arial"/>
              </a:rPr>
              <a:t>Data</a:t>
            </a:r>
          </a:p>
        </p:txBody>
      </p:sp>
      <p:sp>
        <p:nvSpPr>
          <p:cNvPr id="8" name="Ellipse 8"/>
          <p:cNvSpPr/>
          <p:nvPr/>
        </p:nvSpPr>
        <p:spPr>
          <a:xfrm>
            <a:off x="272415" y="2806065"/>
            <a:ext cx="64770" cy="64770"/>
          </a:xfrm>
          <a:prstGeom prst="ellipse">
            <a:avLst/>
          </a:prstGeom>
          <a:solidFill>
            <a:srgbClr val="FFFFFF">
              <a:alpha val="42000"/>
            </a:srgbClr>
          </a:solidFill>
          <a:ln>
            <a:noFill/>
          </a:ln>
        </p:spPr>
      </p:sp>
      <p:sp>
        <p:nvSpPr>
          <p:cNvPr id="9" name="TextBox 9"/>
          <p:cNvSpPr txBox="1"/>
          <p:nvPr/>
        </p:nvSpPr>
        <p:spPr>
          <a:xfrm>
            <a:off x="35738" y="2960370"/>
            <a:ext cx="538124" cy="182880"/>
          </a:xfrm>
          <a:prstGeom prst="rect">
            <a:avLst/>
          </a:prstGeom>
          <a:noFill/>
          <a:ln>
            <a:noFill/>
          </a:ln>
        </p:spPr>
        <p:txBody>
          <a:bodyPr wrap="none" lIns="0" tIns="0" rIns="0" bIns="0" anchor="t" anchorCtr="0">
            <a:spAutoFit/>
          </a:bodyPr>
          <a:lstStyle/>
          <a:p>
            <a:pPr algn="ctr"/>
            <a:r>
              <a:rPr lang="zh-CN" sz="900" dirty="0">
                <a:solidFill>
                  <a:srgbClr val="FFFFFF">
                    <a:alphaMod val="60000"/>
                  </a:srgbClr>
                </a:solidFill>
                <a:latin typeface="Arial"/>
                <a:ea typeface="Microsoft YaHei"/>
                <a:cs typeface="Arial"/>
              </a:rPr>
              <a:t>Findings</a:t>
            </a:r>
          </a:p>
        </p:txBody>
      </p:sp>
      <p:sp>
        <p:nvSpPr>
          <p:cNvPr id="10" name="Ellipse 10"/>
          <p:cNvSpPr/>
          <p:nvPr/>
        </p:nvSpPr>
        <p:spPr>
          <a:xfrm>
            <a:off x="272415" y="3663315"/>
            <a:ext cx="64770" cy="64770"/>
          </a:xfrm>
          <a:prstGeom prst="ellipse">
            <a:avLst/>
          </a:prstGeom>
          <a:solidFill>
            <a:srgbClr val="FFFFFF">
              <a:alpha val="42000"/>
            </a:srgbClr>
          </a:solidFill>
          <a:ln>
            <a:noFill/>
          </a:ln>
        </p:spPr>
      </p:sp>
      <p:sp>
        <p:nvSpPr>
          <p:cNvPr id="11" name="TextBox 11"/>
          <p:cNvSpPr txBox="1"/>
          <p:nvPr/>
        </p:nvSpPr>
        <p:spPr>
          <a:xfrm>
            <a:off x="72542" y="3817620"/>
            <a:ext cx="464515" cy="182880"/>
          </a:xfrm>
          <a:prstGeom prst="rect">
            <a:avLst/>
          </a:prstGeom>
          <a:noFill/>
          <a:ln>
            <a:noFill/>
          </a:ln>
        </p:spPr>
        <p:txBody>
          <a:bodyPr wrap="none" lIns="0" tIns="0" rIns="0" bIns="0" anchor="t" anchorCtr="0">
            <a:spAutoFit/>
          </a:bodyPr>
          <a:lstStyle/>
          <a:p>
            <a:pPr algn="ctr"/>
            <a:r>
              <a:rPr lang="zh-CN" sz="900" dirty="0">
                <a:solidFill>
                  <a:srgbClr val="FFFFFF">
                    <a:alphaMod val="60000"/>
                  </a:srgbClr>
                </a:solidFill>
                <a:latin typeface="Arial"/>
                <a:ea typeface="Microsoft YaHei"/>
                <a:cs typeface="Arial"/>
              </a:rPr>
              <a:t>Robust</a:t>
            </a:r>
          </a:p>
        </p:txBody>
      </p:sp>
      <p:sp>
        <p:nvSpPr>
          <p:cNvPr id="12" name="Ellipse 12"/>
          <p:cNvSpPr/>
          <p:nvPr/>
        </p:nvSpPr>
        <p:spPr>
          <a:xfrm>
            <a:off x="272415" y="4520565"/>
            <a:ext cx="64770" cy="64770"/>
          </a:xfrm>
          <a:prstGeom prst="ellipse">
            <a:avLst/>
          </a:prstGeom>
          <a:solidFill>
            <a:srgbClr val="FFFFFF">
              <a:alpha val="42000"/>
            </a:srgbClr>
          </a:solidFill>
          <a:ln>
            <a:noFill/>
          </a:ln>
        </p:spPr>
      </p:sp>
      <p:sp>
        <p:nvSpPr>
          <p:cNvPr id="13" name="TextBox 13"/>
          <p:cNvSpPr txBox="1"/>
          <p:nvPr/>
        </p:nvSpPr>
        <p:spPr>
          <a:xfrm>
            <a:off x="146152" y="4674870"/>
            <a:ext cx="317297" cy="182880"/>
          </a:xfrm>
          <a:prstGeom prst="rect">
            <a:avLst/>
          </a:prstGeom>
          <a:noFill/>
          <a:ln>
            <a:noFill/>
          </a:ln>
        </p:spPr>
        <p:txBody>
          <a:bodyPr wrap="none" lIns="0" tIns="0" rIns="0" bIns="0" anchor="t" anchorCtr="0">
            <a:spAutoFit/>
          </a:bodyPr>
          <a:lstStyle/>
          <a:p>
            <a:pPr algn="ctr"/>
            <a:r>
              <a:rPr lang="zh-CN" sz="900" dirty="0">
                <a:solidFill>
                  <a:srgbClr val="FFFFFF">
                    <a:alphaMod val="60000"/>
                  </a:srgbClr>
                </a:solidFill>
                <a:latin typeface="Arial"/>
                <a:ea typeface="Microsoft YaHei"/>
                <a:cs typeface="Arial"/>
              </a:rPr>
              <a:t>Uses</a:t>
            </a:r>
          </a:p>
        </p:txBody>
      </p:sp>
      <p:sp>
        <p:nvSpPr>
          <p:cNvPr id="14" name="Ellipse 14"/>
          <p:cNvSpPr/>
          <p:nvPr/>
        </p:nvSpPr>
        <p:spPr>
          <a:xfrm>
            <a:off x="272415" y="5377815"/>
            <a:ext cx="64770" cy="64770"/>
          </a:xfrm>
          <a:prstGeom prst="ellipse">
            <a:avLst/>
          </a:prstGeom>
          <a:solidFill>
            <a:srgbClr val="FFFFFF">
              <a:alpha val="42000"/>
            </a:srgbClr>
          </a:solidFill>
          <a:ln>
            <a:noFill/>
          </a:ln>
        </p:spPr>
      </p:sp>
      <p:sp>
        <p:nvSpPr>
          <p:cNvPr id="15" name="TextBox 15"/>
          <p:cNvSpPr txBox="1"/>
          <p:nvPr/>
        </p:nvSpPr>
        <p:spPr>
          <a:xfrm>
            <a:off x="16678" y="5532120"/>
            <a:ext cx="576243" cy="182880"/>
          </a:xfrm>
          <a:prstGeom prst="rect">
            <a:avLst/>
          </a:prstGeom>
          <a:noFill/>
          <a:ln>
            <a:noFill/>
          </a:ln>
        </p:spPr>
        <p:txBody>
          <a:bodyPr wrap="none" lIns="0" tIns="0" rIns="0" bIns="0" anchor="t" anchorCtr="0">
            <a:spAutoFit/>
          </a:bodyPr>
          <a:lstStyle/>
          <a:p>
            <a:pPr algn="ctr"/>
            <a:r>
              <a:rPr lang="zh-CN" sz="900" dirty="0">
                <a:solidFill>
                  <a:srgbClr val="FFFFFF">
                    <a:alphaMod val="60000"/>
                  </a:srgbClr>
                </a:solidFill>
                <a:latin typeface="Arial"/>
                <a:ea typeface="Microsoft YaHei"/>
                <a:cs typeface="Arial"/>
              </a:rPr>
              <a:t>Wrap-up</a:t>
            </a:r>
          </a:p>
        </p:txBody>
      </p:sp>
      <p:sp>
        <p:nvSpPr>
          <p:cNvPr id="16" name="Rectangle 16"/>
          <p:cNvSpPr/>
          <p:nvPr/>
        </p:nvSpPr>
        <p:spPr>
          <a:xfrm>
            <a:off x="914400" y="304800"/>
            <a:ext cx="419100" cy="47625"/>
          </a:xfrm>
          <a:prstGeom prst="rect">
            <a:avLst/>
          </a:prstGeom>
          <a:solidFill>
            <a:srgbClr val="B45309"/>
          </a:solidFill>
          <a:ln>
            <a:noFill/>
          </a:ln>
        </p:spPr>
      </p:sp>
      <p:sp>
        <p:nvSpPr>
          <p:cNvPr id="17" name="TextBox 17"/>
          <p:cNvSpPr txBox="1"/>
          <p:nvPr/>
        </p:nvSpPr>
        <p:spPr>
          <a:xfrm>
            <a:off x="889635" y="456248"/>
            <a:ext cx="10857026" cy="396240"/>
          </a:xfrm>
          <a:prstGeom prst="rect">
            <a:avLst/>
          </a:prstGeom>
          <a:noFill/>
          <a:ln>
            <a:noFill/>
          </a:ln>
        </p:spPr>
        <p:txBody>
          <a:bodyPr wrap="none" lIns="0" tIns="0" rIns="0" bIns="0" anchor="t" anchorCtr="0">
            <a:spAutoFit/>
          </a:bodyPr>
          <a:lstStyle/>
          <a:p>
            <a:pPr algn="l"/>
            <a:r>
              <a:rPr lang="zh-CN" sz="1950" b="1" dirty="0">
                <a:solidFill>
                  <a:srgbClr val="17332D"/>
                </a:solidFill>
                <a:latin typeface="Arial"/>
                <a:ea typeface="Microsoft YaHei"/>
                <a:cs typeface="Arial"/>
              </a:rPr>
              <a:t>CBNR: an open dataset of provincial new bird records in China, 2000–2025</a:t>
            </a:r>
          </a:p>
        </p:txBody>
      </p:sp>
      <p:sp>
        <p:nvSpPr>
          <p:cNvPr id="18" name="TextBox 18"/>
          <p:cNvSpPr txBox="1"/>
          <p:nvPr/>
        </p:nvSpPr>
        <p:spPr>
          <a:xfrm>
            <a:off x="10039521" y="283845"/>
            <a:ext cx="1782909" cy="182880"/>
          </a:xfrm>
          <a:prstGeom prst="rect">
            <a:avLst/>
          </a:prstGeom>
          <a:noFill/>
          <a:ln>
            <a:noFill/>
          </a:ln>
        </p:spPr>
        <p:txBody>
          <a:bodyPr wrap="none" lIns="0" tIns="0" rIns="0" bIns="0" anchor="t" anchorCtr="0">
            <a:spAutoFit/>
          </a:bodyPr>
          <a:lstStyle/>
          <a:p>
            <a:pPr algn="r"/>
            <a:r>
              <a:rPr lang="zh-CN" sz="900" dirty="0">
                <a:solidFill>
                  <a:srgbClr val="8A919B"/>
                </a:solidFill>
                <a:latin typeface="Arial"/>
                <a:ea typeface="Microsoft YaHei"/>
                <a:cs typeface="Arial"/>
              </a:rPr>
              <a:t>CBNR v2 · Zenodo 20809949</a:t>
            </a:r>
          </a:p>
        </p:txBody>
      </p:sp>
      <p:sp>
        <p:nvSpPr>
          <p:cNvPr id="19" name="Line 19"/>
          <p:cNvSpPr/>
          <p:nvPr/>
        </p:nvSpPr>
        <p:spPr>
          <a:xfrm>
            <a:off x="914400" y="6515100"/>
            <a:ext cx="10896600" cy="9525"/>
          </a:xfrm>
          <a:custGeom>
            <a:avLst/>
            <a:gdLst/>
            <a:ahLst/>
            <a:cxnLst/>
            <a:rect l="l" t="t" r="r" b="b"/>
            <a:pathLst>
              <a:path w="10896600" h="9525">
                <a:moveTo>
                  <a:pt x="0" y="0"/>
                </a:moveTo>
                <a:lnTo>
                  <a:pt x="10896600" y="0"/>
                </a:lnTo>
              </a:path>
            </a:pathLst>
          </a:custGeom>
          <a:noFill/>
          <a:ln w="9525">
            <a:solidFill>
              <a:srgbClr val="D6D3CD"/>
            </a:solidFill>
          </a:ln>
        </p:spPr>
      </p:sp>
      <p:sp>
        <p:nvSpPr>
          <p:cNvPr id="20" name="TextBox 20"/>
          <p:cNvSpPr txBox="1"/>
          <p:nvPr/>
        </p:nvSpPr>
        <p:spPr>
          <a:xfrm>
            <a:off x="902970" y="6617970"/>
            <a:ext cx="2609698" cy="182880"/>
          </a:xfrm>
          <a:prstGeom prst="rect">
            <a:avLst/>
          </a:prstGeom>
          <a:noFill/>
          <a:ln>
            <a:noFill/>
          </a:ln>
        </p:spPr>
        <p:txBody>
          <a:bodyPr wrap="none" lIns="0" tIns="0" rIns="0" bIns="0" anchor="t" anchorCtr="0">
            <a:spAutoFit/>
          </a:bodyPr>
          <a:lstStyle/>
          <a:p>
            <a:pPr algn="l"/>
            <a:r>
              <a:rPr lang="zh-CN" sz="900" dirty="0">
                <a:solidFill>
                  <a:srgbClr val="8A919B"/>
                </a:solidFill>
                <a:latin typeface="Arial"/>
                <a:ea typeface="Microsoft YaHei"/>
                <a:cs typeface="Arial"/>
              </a:rPr>
              <a:t>Birds or birders? · AOC 2026, Singapore</a:t>
            </a:r>
          </a:p>
        </p:txBody>
      </p:sp>
      <p:sp>
        <p:nvSpPr>
          <p:cNvPr id="21" name="TextBox 21"/>
          <p:cNvSpPr txBox="1"/>
          <p:nvPr/>
        </p:nvSpPr>
        <p:spPr>
          <a:xfrm>
            <a:off x="11352657" y="6617970"/>
            <a:ext cx="469773" cy="182880"/>
          </a:xfrm>
          <a:prstGeom prst="rect">
            <a:avLst/>
          </a:prstGeom>
          <a:noFill/>
          <a:ln>
            <a:noFill/>
          </a:ln>
        </p:spPr>
        <p:txBody>
          <a:bodyPr wrap="none" lIns="0" tIns="0" rIns="0" bIns="0" anchor="t" anchorCtr="0">
            <a:spAutoFit/>
          </a:bodyPr>
          <a:lstStyle/>
          <a:p>
            <a:pPr algn="r"/>
            <a:r>
              <a:rPr lang="zh-CN" sz="900" dirty="0">
                <a:solidFill>
                  <a:srgbClr val="5F6670"/>
                </a:solidFill>
                <a:latin typeface="Arial"/>
                <a:ea typeface="Microsoft YaHei"/>
                <a:cs typeface="Arial"/>
              </a:rPr>
              <a:t>03 / 20</a:t>
            </a:r>
          </a:p>
        </p:txBody>
      </p:sp>
      <p:sp>
        <p:nvSpPr>
          <p:cNvPr id="22" name="Rectangle 22"/>
          <p:cNvSpPr/>
          <p:nvPr/>
        </p:nvSpPr>
        <p:spPr>
          <a:xfrm>
            <a:off x="838200" y="876300"/>
            <a:ext cx="6176010" cy="5486400"/>
          </a:xfrm>
          <a:prstGeom prst="roundRect">
            <a:avLst>
              <a:gd name="adj" fmla="val 1042"/>
            </a:avLst>
          </a:prstGeom>
          <a:solidFill>
            <a:srgbClr val="FFFFFF"/>
          </a:solidFill>
          <a:ln w="9525">
            <a:solidFill>
              <a:srgbClr val="D6D3CD"/>
            </a:solidFill>
          </a:ln>
        </p:spPr>
      </p:sp>
      <p:pic>
        <p:nvPicPr>
          <p:cNvPr id="23" name="Image 23"/>
          <p:cNvPicPr>
            <a:picLocks noChangeAspect="1"/>
          </p:cNvPicPr>
          <p:nvPr/>
        </p:nvPicPr>
        <p:blipFill>
          <a:blip r:embed="rId2"/>
          <a:stretch>
            <a:fillRect/>
          </a:stretch>
        </p:blipFill>
        <p:spPr>
          <a:xfrm>
            <a:off x="914400" y="952500"/>
            <a:ext cx="6023610" cy="5334000"/>
          </a:xfrm>
          <a:prstGeom prst="rect">
            <a:avLst/>
          </a:prstGeom>
        </p:spPr>
      </p:pic>
      <p:sp>
        <p:nvSpPr>
          <p:cNvPr id="24" name="Rectangle 24"/>
          <p:cNvSpPr/>
          <p:nvPr/>
        </p:nvSpPr>
        <p:spPr>
          <a:xfrm>
            <a:off x="7280910" y="876300"/>
            <a:ext cx="4530090" cy="1714500"/>
          </a:xfrm>
          <a:prstGeom prst="roundRect">
            <a:avLst>
              <a:gd name="adj" fmla="val 3333"/>
            </a:avLst>
          </a:prstGeom>
          <a:solidFill>
            <a:srgbClr val="FFFFFF"/>
          </a:solidFill>
          <a:ln w="9525">
            <a:solidFill>
              <a:srgbClr val="D6D3CD"/>
            </a:solidFill>
          </a:ln>
        </p:spPr>
      </p:sp>
      <p:sp>
        <p:nvSpPr>
          <p:cNvPr id="25" name="Rectangle 25"/>
          <p:cNvSpPr/>
          <p:nvPr/>
        </p:nvSpPr>
        <p:spPr>
          <a:xfrm>
            <a:off x="7280910" y="876300"/>
            <a:ext cx="4530090" cy="38100"/>
          </a:xfrm>
          <a:prstGeom prst="rect">
            <a:avLst/>
          </a:prstGeom>
          <a:solidFill>
            <a:srgbClr val="1F4E45"/>
          </a:solidFill>
          <a:ln>
            <a:noFill/>
          </a:ln>
        </p:spPr>
      </p:sp>
      <p:sp>
        <p:nvSpPr>
          <p:cNvPr id="26" name="TextBox 26"/>
          <p:cNvSpPr txBox="1"/>
          <p:nvPr/>
        </p:nvSpPr>
        <p:spPr>
          <a:xfrm>
            <a:off x="7455217" y="1052989"/>
            <a:ext cx="1218678" cy="259080"/>
          </a:xfrm>
          <a:prstGeom prst="rect">
            <a:avLst/>
          </a:prstGeom>
          <a:noFill/>
          <a:ln>
            <a:noFill/>
          </a:ln>
        </p:spPr>
        <p:txBody>
          <a:bodyPr wrap="none" lIns="0" tIns="0" rIns="0" bIns="0" anchor="t" anchorCtr="0">
            <a:spAutoFit/>
          </a:bodyPr>
          <a:lstStyle/>
          <a:p>
            <a:pPr algn="l"/>
            <a:r>
              <a:rPr lang="zh-CN" sz="1275" b="1" dirty="0">
                <a:solidFill>
                  <a:srgbClr val="1F4E45"/>
                </a:solidFill>
                <a:latin typeface="Arial"/>
                <a:ea typeface="Microsoft YaHei"/>
                <a:cs typeface="Arial"/>
              </a:rPr>
              <a:t>What is in it</a:t>
            </a:r>
          </a:p>
        </p:txBody>
      </p:sp>
      <p:sp>
        <p:nvSpPr>
          <p:cNvPr id="27" name="TextBox 27"/>
          <p:cNvSpPr txBox="1"/>
          <p:nvPr/>
        </p:nvSpPr>
        <p:spPr>
          <a:xfrm>
            <a:off x="7457122" y="1345406"/>
            <a:ext cx="3579792" cy="228600"/>
          </a:xfrm>
          <a:prstGeom prst="rect">
            <a:avLst/>
          </a:prstGeom>
          <a:noFill/>
          <a:ln>
            <a:noFill/>
          </a:ln>
        </p:spPr>
        <p:txBody>
          <a:bodyPr wrap="none" lIns="0" tIns="0" rIns="0" bIns="0" anchor="t" anchorCtr="0">
            <a:spAutoFit/>
          </a:bodyPr>
          <a:lstStyle/>
          <a:p>
            <a:pPr algn="l"/>
            <a:r>
              <a:rPr lang="zh-CN" sz="1125" b="1" dirty="0">
                <a:solidFill>
                  <a:srgbClr val="17332D"/>
                </a:solidFill>
                <a:latin typeface="Arial"/>
                <a:ea typeface="Microsoft YaHei"/>
                <a:cs typeface="Arial"/>
              </a:rPr>
              <a:t>1,029 records · 568 species · 23 orders</a:t>
            </a:r>
          </a:p>
        </p:txBody>
      </p:sp>
      <p:sp>
        <p:nvSpPr>
          <p:cNvPr id="28" name="TextBox 28"/>
          <p:cNvSpPr txBox="1"/>
          <p:nvPr/>
        </p:nvSpPr>
        <p:spPr>
          <a:xfrm>
            <a:off x="7457122" y="1583531"/>
            <a:ext cx="2667333" cy="228600"/>
          </a:xfrm>
          <a:prstGeom prst="rect">
            <a:avLst/>
          </a:prstGeom>
          <a:noFill/>
          <a:ln>
            <a:noFill/>
          </a:ln>
        </p:spPr>
        <p:txBody>
          <a:bodyPr wrap="none" lIns="0" tIns="0" rIns="0" bIns="0" anchor="t" anchorCtr="0">
            <a:spAutoFit/>
          </a:bodyPr>
          <a:lstStyle/>
          <a:p>
            <a:pPr algn="l"/>
            <a:r>
              <a:rPr lang="zh-CN" sz="1125" dirty="0">
                <a:solidFill>
                  <a:srgbClr val="17332D"/>
                </a:solidFill>
                <a:latin typeface="Arial"/>
                <a:ea typeface="Microsoft YaHei"/>
                <a:cs typeface="Arial"/>
              </a:rPr>
              <a:t>33 provincial units · 2000–2025</a:t>
            </a:r>
          </a:p>
        </p:txBody>
      </p:sp>
      <p:sp>
        <p:nvSpPr>
          <p:cNvPr id="29" name="TextBox 29"/>
          <p:cNvSpPr txBox="1"/>
          <p:nvPr/>
        </p:nvSpPr>
        <p:spPr>
          <a:xfrm>
            <a:off x="7457122" y="1821656"/>
            <a:ext cx="3191470" cy="228600"/>
          </a:xfrm>
          <a:prstGeom prst="rect">
            <a:avLst/>
          </a:prstGeom>
          <a:noFill/>
          <a:ln>
            <a:noFill/>
          </a:ln>
        </p:spPr>
        <p:txBody>
          <a:bodyPr wrap="none" lIns="0" tIns="0" rIns="0" bIns="0" anchor="t" anchorCtr="0">
            <a:spAutoFit/>
          </a:bodyPr>
          <a:lstStyle/>
          <a:p>
            <a:pPr algn="l"/>
            <a:r>
              <a:rPr lang="zh-CN" sz="1125" dirty="0">
                <a:solidFill>
                  <a:srgbClr val="5F6670"/>
                </a:solidFill>
                <a:latin typeface="Arial"/>
                <a:ea typeface="Microsoft YaHei"/>
                <a:cs typeface="Arial"/>
              </a:rPr>
              <a:t>Mined from peer-reviewed papers by an</a:t>
            </a:r>
          </a:p>
        </p:txBody>
      </p:sp>
      <p:sp>
        <p:nvSpPr>
          <p:cNvPr id="30" name="TextBox 30"/>
          <p:cNvSpPr txBox="1"/>
          <p:nvPr/>
        </p:nvSpPr>
        <p:spPr>
          <a:xfrm>
            <a:off x="7457122" y="2059781"/>
            <a:ext cx="2948297" cy="228600"/>
          </a:xfrm>
          <a:prstGeom prst="rect">
            <a:avLst/>
          </a:prstGeom>
          <a:noFill/>
          <a:ln>
            <a:noFill/>
          </a:ln>
        </p:spPr>
        <p:txBody>
          <a:bodyPr wrap="none" lIns="0" tIns="0" rIns="0" bIns="0" anchor="t" anchorCtr="0">
            <a:spAutoFit/>
          </a:bodyPr>
          <a:lstStyle/>
          <a:p>
            <a:pPr algn="l"/>
            <a:r>
              <a:rPr lang="zh-CN" sz="1125" dirty="0">
                <a:solidFill>
                  <a:srgbClr val="5F6670"/>
                </a:solidFill>
                <a:latin typeface="Arial"/>
                <a:ea typeface="Microsoft YaHei"/>
                <a:cs typeface="Arial"/>
              </a:rPr>
              <a:t>LLM-assisted pipeline; every record</a:t>
            </a:r>
          </a:p>
        </p:txBody>
      </p:sp>
      <p:sp>
        <p:nvSpPr>
          <p:cNvPr id="31" name="TextBox 31"/>
          <p:cNvSpPr txBox="1"/>
          <p:nvPr/>
        </p:nvSpPr>
        <p:spPr>
          <a:xfrm>
            <a:off x="7457122" y="2297906"/>
            <a:ext cx="1750505" cy="228600"/>
          </a:xfrm>
          <a:prstGeom prst="rect">
            <a:avLst/>
          </a:prstGeom>
          <a:noFill/>
          <a:ln>
            <a:noFill/>
          </a:ln>
        </p:spPr>
        <p:txBody>
          <a:bodyPr wrap="none" lIns="0" tIns="0" rIns="0" bIns="0" anchor="t" anchorCtr="0">
            <a:spAutoFit/>
          </a:bodyPr>
          <a:lstStyle/>
          <a:p>
            <a:pPr algn="l"/>
            <a:r>
              <a:rPr lang="zh-CN" sz="1125" dirty="0">
                <a:solidFill>
                  <a:srgbClr val="5F6670"/>
                </a:solidFill>
                <a:latin typeface="Arial"/>
                <a:ea typeface="Microsoft YaHei"/>
                <a:cs typeface="Arial"/>
              </a:rPr>
              <a:t>then checked by hand</a:t>
            </a:r>
          </a:p>
        </p:txBody>
      </p:sp>
      <p:sp>
        <p:nvSpPr>
          <p:cNvPr id="32" name="Rectangle 32"/>
          <p:cNvSpPr/>
          <p:nvPr/>
        </p:nvSpPr>
        <p:spPr>
          <a:xfrm>
            <a:off x="7280910" y="2743200"/>
            <a:ext cx="4530090" cy="1238250"/>
          </a:xfrm>
          <a:prstGeom prst="roundRect">
            <a:avLst>
              <a:gd name="adj" fmla="val 4615"/>
            </a:avLst>
          </a:prstGeom>
          <a:solidFill>
            <a:srgbClr val="FFFFFF"/>
          </a:solidFill>
          <a:ln w="9525">
            <a:solidFill>
              <a:srgbClr val="D6D3CD"/>
            </a:solidFill>
          </a:ln>
        </p:spPr>
      </p:sp>
      <p:sp>
        <p:nvSpPr>
          <p:cNvPr id="33" name="Rectangle 33"/>
          <p:cNvSpPr/>
          <p:nvPr/>
        </p:nvSpPr>
        <p:spPr>
          <a:xfrm>
            <a:off x="7280910" y="2743200"/>
            <a:ext cx="4530090" cy="38100"/>
          </a:xfrm>
          <a:prstGeom prst="rect">
            <a:avLst/>
          </a:prstGeom>
          <a:solidFill>
            <a:srgbClr val="B45309"/>
          </a:solidFill>
          <a:ln>
            <a:noFill/>
          </a:ln>
        </p:spPr>
      </p:sp>
      <p:sp>
        <p:nvSpPr>
          <p:cNvPr id="34" name="TextBox 34"/>
          <p:cNvSpPr txBox="1"/>
          <p:nvPr/>
        </p:nvSpPr>
        <p:spPr>
          <a:xfrm>
            <a:off x="7455217" y="2919889"/>
            <a:ext cx="2781980" cy="259080"/>
          </a:xfrm>
          <a:prstGeom prst="rect">
            <a:avLst/>
          </a:prstGeom>
          <a:noFill/>
          <a:ln>
            <a:noFill/>
          </a:ln>
        </p:spPr>
        <p:txBody>
          <a:bodyPr wrap="none" lIns="0" tIns="0" rIns="0" bIns="0" anchor="t" anchorCtr="0">
            <a:spAutoFit/>
          </a:bodyPr>
          <a:lstStyle/>
          <a:p>
            <a:pPr algn="l"/>
            <a:r>
              <a:rPr lang="zh-CN" sz="1275" b="1" dirty="0">
                <a:solidFill>
                  <a:srgbClr val="B45309"/>
                </a:solidFill>
                <a:latin typeface="Arial"/>
                <a:ea typeface="Microsoft YaHei"/>
                <a:cs typeface="Arial"/>
              </a:rPr>
              <a:t>Why it matters for this talk</a:t>
            </a:r>
          </a:p>
        </p:txBody>
      </p:sp>
      <p:sp>
        <p:nvSpPr>
          <p:cNvPr id="35" name="TextBox 35"/>
          <p:cNvSpPr txBox="1"/>
          <p:nvPr/>
        </p:nvSpPr>
        <p:spPr>
          <a:xfrm>
            <a:off x="7457122" y="3212306"/>
            <a:ext cx="2907221" cy="228600"/>
          </a:xfrm>
          <a:prstGeom prst="rect">
            <a:avLst/>
          </a:prstGeom>
          <a:noFill/>
          <a:ln>
            <a:noFill/>
          </a:ln>
        </p:spPr>
        <p:txBody>
          <a:bodyPr wrap="none" lIns="0" tIns="0" rIns="0" bIns="0" anchor="t" anchorCtr="0">
            <a:spAutoFit/>
          </a:bodyPr>
          <a:lstStyle/>
          <a:p>
            <a:pPr algn="l"/>
            <a:r>
              <a:rPr lang="zh-CN" sz="1125" dirty="0">
                <a:solidFill>
                  <a:srgbClr val="17332D"/>
                </a:solidFill>
                <a:latin typeface="Arial"/>
                <a:ea typeface="Microsoft YaHei"/>
                <a:cs typeface="Arial"/>
              </a:rPr>
              <a:t>Discovery date and publication year</a:t>
            </a:r>
          </a:p>
        </p:txBody>
      </p:sp>
      <p:sp>
        <p:nvSpPr>
          <p:cNvPr id="36" name="TextBox 36"/>
          <p:cNvSpPr txBox="1"/>
          <p:nvPr/>
        </p:nvSpPr>
        <p:spPr>
          <a:xfrm>
            <a:off x="7457122" y="3450431"/>
            <a:ext cx="3222688" cy="228600"/>
          </a:xfrm>
          <a:prstGeom prst="rect">
            <a:avLst/>
          </a:prstGeom>
          <a:noFill/>
          <a:ln>
            <a:noFill/>
          </a:ln>
        </p:spPr>
        <p:txBody>
          <a:bodyPr wrap="none" lIns="0" tIns="0" rIns="0" bIns="0" anchor="t" anchorCtr="0">
            <a:spAutoFit/>
          </a:bodyPr>
          <a:lstStyle/>
          <a:p>
            <a:pPr algn="l"/>
            <a:r>
              <a:rPr lang="zh-CN" sz="1125" dirty="0">
                <a:solidFill>
                  <a:srgbClr val="17332D"/>
                </a:solidFill>
                <a:latin typeface="Arial"/>
                <a:ea typeface="Microsoft YaHei"/>
                <a:cs typeface="Arial"/>
              </a:rPr>
              <a:t>Georeferenced; three taxonomies linked</a:t>
            </a:r>
          </a:p>
        </p:txBody>
      </p:sp>
      <p:sp>
        <p:nvSpPr>
          <p:cNvPr id="37" name="TextBox 37"/>
          <p:cNvSpPr txBox="1"/>
          <p:nvPr/>
        </p:nvSpPr>
        <p:spPr>
          <a:xfrm>
            <a:off x="7457122" y="3688556"/>
            <a:ext cx="3551301" cy="228600"/>
          </a:xfrm>
          <a:prstGeom prst="rect">
            <a:avLst/>
          </a:prstGeom>
          <a:noFill/>
          <a:ln>
            <a:noFill/>
          </a:ln>
        </p:spPr>
        <p:txBody>
          <a:bodyPr wrap="none" lIns="0" tIns="0" rIns="0" bIns="0" anchor="t" anchorCtr="0">
            <a:spAutoFit/>
          </a:bodyPr>
          <a:lstStyle/>
          <a:p>
            <a:pPr algn="l"/>
            <a:r>
              <a:rPr lang="zh-CN" sz="1125" dirty="0">
                <a:solidFill>
                  <a:srgbClr val="17332D"/>
                </a:solidFill>
                <a:latin typeface="Arial"/>
                <a:ea typeface="Microsoft YaHei"/>
                <a:cs typeface="Arial"/>
              </a:rPr>
              <a:t>Detection method, discovery reason, status</a:t>
            </a:r>
          </a:p>
        </p:txBody>
      </p:sp>
      <p:sp>
        <p:nvSpPr>
          <p:cNvPr id="38" name="Rectangle 38"/>
          <p:cNvSpPr/>
          <p:nvPr/>
        </p:nvSpPr>
        <p:spPr>
          <a:xfrm>
            <a:off x="7280910" y="4133850"/>
            <a:ext cx="4530090" cy="2228850"/>
          </a:xfrm>
          <a:prstGeom prst="roundRect">
            <a:avLst>
              <a:gd name="adj" fmla="val 2564"/>
            </a:avLst>
          </a:prstGeom>
          <a:solidFill>
            <a:srgbClr val="1F4E45"/>
          </a:solidFill>
          <a:ln>
            <a:noFill/>
          </a:ln>
        </p:spPr>
      </p:sp>
      <p:pic>
        <p:nvPicPr>
          <p:cNvPr id="39" name="Image 39"/>
          <p:cNvPicPr>
            <a:picLocks noChangeAspect="1"/>
          </p:cNvPicPr>
          <p:nvPr/>
        </p:nvPicPr>
        <p:blipFill>
          <a:blip r:embed="rId3"/>
          <a:stretch>
            <a:fillRect/>
          </a:stretch>
        </p:blipFill>
        <p:spPr>
          <a:xfrm>
            <a:off x="9715500" y="4267200"/>
            <a:ext cx="1962150" cy="1962150"/>
          </a:xfrm>
          <a:prstGeom prst="rect">
            <a:avLst/>
          </a:prstGeom>
        </p:spPr>
      </p:pic>
      <p:sp>
        <p:nvSpPr>
          <p:cNvPr id="40" name="TextBox 40"/>
          <p:cNvSpPr txBox="1"/>
          <p:nvPr/>
        </p:nvSpPr>
        <p:spPr>
          <a:xfrm>
            <a:off x="7455217" y="4339114"/>
            <a:ext cx="2144421" cy="259080"/>
          </a:xfrm>
          <a:prstGeom prst="rect">
            <a:avLst/>
          </a:prstGeom>
          <a:noFill/>
          <a:ln>
            <a:noFill/>
          </a:ln>
        </p:spPr>
        <p:txBody>
          <a:bodyPr wrap="none" lIns="0" tIns="0" rIns="0" bIns="0" anchor="t" anchorCtr="0">
            <a:spAutoFit/>
          </a:bodyPr>
          <a:lstStyle/>
          <a:p>
            <a:pPr algn="l"/>
            <a:r>
              <a:rPr lang="zh-CN" sz="1275" b="1" dirty="0">
                <a:solidFill>
                  <a:srgbClr val="FFFFFF"/>
                </a:solidFill>
                <a:latin typeface="Arial"/>
                <a:ea typeface="Microsoft YaHei"/>
                <a:cs typeface="Arial"/>
              </a:rPr>
              <a:t>Open data · CC BY 4.0</a:t>
            </a:r>
          </a:p>
        </p:txBody>
      </p:sp>
      <p:sp>
        <p:nvSpPr>
          <p:cNvPr id="41" name="TextBox 41"/>
          <p:cNvSpPr txBox="1"/>
          <p:nvPr/>
        </p:nvSpPr>
        <p:spPr>
          <a:xfrm>
            <a:off x="7457122" y="4622006"/>
            <a:ext cx="1880306" cy="228600"/>
          </a:xfrm>
          <a:prstGeom prst="rect">
            <a:avLst/>
          </a:prstGeom>
          <a:noFill/>
          <a:ln>
            <a:noFill/>
          </a:ln>
        </p:spPr>
        <p:txBody>
          <a:bodyPr wrap="none" lIns="0" tIns="0" rIns="0" bIns="0" anchor="t" anchorCtr="0">
            <a:spAutoFit/>
          </a:bodyPr>
          <a:lstStyle/>
          <a:p>
            <a:pPr algn="l"/>
            <a:r>
              <a:rPr lang="zh-CN" sz="1125" dirty="0">
                <a:solidFill>
                  <a:srgbClr val="E7F0ED"/>
                </a:solidFill>
                <a:latin typeface="Arial"/>
                <a:ea typeface="Microsoft YaHei"/>
                <a:cs typeface="Arial"/>
              </a:rPr>
              <a:t>Zenodo, v2 (June 2026)</a:t>
            </a:r>
          </a:p>
        </p:txBody>
      </p:sp>
      <p:sp>
        <p:nvSpPr>
          <p:cNvPr id="42" name="TextBox 42"/>
          <p:cNvSpPr txBox="1"/>
          <p:nvPr/>
        </p:nvSpPr>
        <p:spPr>
          <a:xfrm>
            <a:off x="7457122" y="4869656"/>
            <a:ext cx="1352883" cy="228600"/>
          </a:xfrm>
          <a:prstGeom prst="rect">
            <a:avLst/>
          </a:prstGeom>
          <a:noFill/>
          <a:ln>
            <a:noFill/>
          </a:ln>
        </p:spPr>
        <p:txBody>
          <a:bodyPr wrap="none" lIns="0" tIns="0" rIns="0" bIns="0" anchor="t" anchorCtr="0">
            <a:spAutoFit/>
          </a:bodyPr>
          <a:lstStyle/>
          <a:p>
            <a:pPr algn="l"/>
            <a:r>
              <a:rPr lang="zh-CN" sz="1125" dirty="0">
                <a:solidFill>
                  <a:srgbClr val="E7F0ED"/>
                </a:solidFill>
                <a:latin typeface="Arial"/>
                <a:ea typeface="Microsoft YaHei"/>
                <a:cs typeface="Arial"/>
              </a:rPr>
              <a:t>doi.org/10.5281/</a:t>
            </a:r>
          </a:p>
        </p:txBody>
      </p:sp>
      <p:sp>
        <p:nvSpPr>
          <p:cNvPr id="43" name="TextBox 43"/>
          <p:cNvSpPr txBox="1"/>
          <p:nvPr/>
        </p:nvSpPr>
        <p:spPr>
          <a:xfrm>
            <a:off x="7457122" y="5079206"/>
            <a:ext cx="1349597" cy="228600"/>
          </a:xfrm>
          <a:prstGeom prst="rect">
            <a:avLst/>
          </a:prstGeom>
          <a:noFill/>
          <a:ln>
            <a:noFill/>
          </a:ln>
        </p:spPr>
        <p:txBody>
          <a:bodyPr wrap="none" lIns="0" tIns="0" rIns="0" bIns="0" anchor="t" anchorCtr="0">
            <a:spAutoFit/>
          </a:bodyPr>
          <a:lstStyle/>
          <a:p>
            <a:pPr algn="l"/>
            <a:r>
              <a:rPr lang="zh-CN" sz="1125" dirty="0">
                <a:solidFill>
                  <a:srgbClr val="E7F0ED"/>
                </a:solidFill>
                <a:latin typeface="Arial"/>
                <a:ea typeface="Microsoft YaHei"/>
                <a:cs typeface="Arial"/>
              </a:rPr>
              <a:t>zenodo.20809949</a:t>
            </a:r>
          </a:p>
        </p:txBody>
      </p:sp>
      <p:sp>
        <p:nvSpPr>
          <p:cNvPr id="44" name="TextBox 44"/>
          <p:cNvSpPr txBox="1"/>
          <p:nvPr/>
        </p:nvSpPr>
        <p:spPr>
          <a:xfrm>
            <a:off x="7459028" y="6105049"/>
            <a:ext cx="1380401" cy="198120"/>
          </a:xfrm>
          <a:prstGeom prst="rect">
            <a:avLst/>
          </a:prstGeom>
          <a:noFill/>
          <a:ln>
            <a:noFill/>
          </a:ln>
        </p:spPr>
        <p:txBody>
          <a:bodyPr wrap="none" lIns="0" tIns="0" rIns="0" bIns="0" anchor="t" anchorCtr="0">
            <a:spAutoFit/>
          </a:bodyPr>
          <a:lstStyle/>
          <a:p>
            <a:pPr algn="l"/>
            <a:r>
              <a:rPr lang="zh-CN" sz="975" dirty="0">
                <a:solidFill>
                  <a:srgbClr val="CFE0DA"/>
                </a:solidFill>
                <a:latin typeface="Arial"/>
                <a:ea typeface="Microsoft YaHei"/>
                <a:cs typeface="Arial"/>
              </a:rPr>
              <a:t>Scan to download →</a:t>
            </a: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BFAF7"/>
          </a:solidFill>
          <a:ln>
            <a:noFill/>
          </a:ln>
        </p:spPr>
      </p:sp>
      <p:sp>
        <p:nvSpPr>
          <p:cNvPr id="3" name="Rectangle 3"/>
          <p:cNvSpPr/>
          <p:nvPr/>
        </p:nvSpPr>
        <p:spPr>
          <a:xfrm>
            <a:off x="0" y="0"/>
            <a:ext cx="609600" cy="6858000"/>
          </a:xfrm>
          <a:prstGeom prst="rect">
            <a:avLst/>
          </a:prstGeom>
          <a:solidFill>
            <a:srgbClr val="1F4E45"/>
          </a:solidFill>
          <a:ln>
            <a:noFill/>
          </a:ln>
        </p:spPr>
      </p:sp>
      <p:sp>
        <p:nvSpPr>
          <p:cNvPr id="4" name="Ellipse 4"/>
          <p:cNvSpPr/>
          <p:nvPr/>
        </p:nvSpPr>
        <p:spPr>
          <a:xfrm>
            <a:off x="272415" y="1091565"/>
            <a:ext cx="64770" cy="64770"/>
          </a:xfrm>
          <a:prstGeom prst="ellipse">
            <a:avLst/>
          </a:prstGeom>
          <a:solidFill>
            <a:srgbClr val="FFFFFF">
              <a:alpha val="42000"/>
            </a:srgbClr>
          </a:solidFill>
          <a:ln>
            <a:noFill/>
          </a:ln>
        </p:spPr>
      </p:sp>
      <p:sp>
        <p:nvSpPr>
          <p:cNvPr id="5" name="TextBox 5"/>
          <p:cNvSpPr txBox="1"/>
          <p:nvPr/>
        </p:nvSpPr>
        <p:spPr>
          <a:xfrm>
            <a:off x="17336" y="1245870"/>
            <a:ext cx="574929" cy="182880"/>
          </a:xfrm>
          <a:prstGeom prst="rect">
            <a:avLst/>
          </a:prstGeom>
          <a:noFill/>
          <a:ln>
            <a:noFill/>
          </a:ln>
        </p:spPr>
        <p:txBody>
          <a:bodyPr wrap="none" lIns="0" tIns="0" rIns="0" bIns="0" anchor="t" anchorCtr="0">
            <a:spAutoFit/>
          </a:bodyPr>
          <a:lstStyle/>
          <a:p>
            <a:pPr algn="ctr"/>
            <a:r>
              <a:rPr lang="zh-CN" sz="900" dirty="0">
                <a:solidFill>
                  <a:srgbClr val="FFFFFF">
                    <a:alphaMod val="60000"/>
                  </a:srgbClr>
                </a:solidFill>
                <a:latin typeface="Arial"/>
                <a:ea typeface="Microsoft YaHei"/>
                <a:cs typeface="Arial"/>
              </a:rPr>
              <a:t>Question</a:t>
            </a:r>
          </a:p>
        </p:txBody>
      </p:sp>
      <p:sp>
        <p:nvSpPr>
          <p:cNvPr id="6" name="Ellipse 6"/>
          <p:cNvSpPr/>
          <p:nvPr/>
        </p:nvSpPr>
        <p:spPr>
          <a:xfrm>
            <a:off x="257175" y="1933575"/>
            <a:ext cx="95250" cy="95250"/>
          </a:xfrm>
          <a:prstGeom prst="ellipse">
            <a:avLst/>
          </a:prstGeom>
          <a:solidFill>
            <a:srgbClr val="FFFFFF"/>
          </a:solidFill>
          <a:ln>
            <a:noFill/>
          </a:ln>
        </p:spPr>
      </p:sp>
      <p:sp>
        <p:nvSpPr>
          <p:cNvPr id="7" name="TextBox 7"/>
          <p:cNvSpPr txBox="1"/>
          <p:nvPr/>
        </p:nvSpPr>
        <p:spPr>
          <a:xfrm>
            <a:off x="146152" y="2103120"/>
            <a:ext cx="317297" cy="182880"/>
          </a:xfrm>
          <a:prstGeom prst="rect">
            <a:avLst/>
          </a:prstGeom>
          <a:noFill/>
          <a:ln>
            <a:noFill/>
          </a:ln>
        </p:spPr>
        <p:txBody>
          <a:bodyPr wrap="none" lIns="0" tIns="0" rIns="0" bIns="0" anchor="t" anchorCtr="0">
            <a:spAutoFit/>
          </a:bodyPr>
          <a:lstStyle/>
          <a:p>
            <a:pPr algn="ctr"/>
            <a:r>
              <a:rPr lang="zh-CN" sz="900" dirty="0">
                <a:solidFill>
                  <a:srgbClr val="FFFFFF"/>
                </a:solidFill>
                <a:latin typeface="Arial"/>
                <a:ea typeface="Microsoft YaHei"/>
                <a:cs typeface="Arial"/>
              </a:rPr>
              <a:t>Data</a:t>
            </a:r>
          </a:p>
        </p:txBody>
      </p:sp>
      <p:sp>
        <p:nvSpPr>
          <p:cNvPr id="8" name="Ellipse 8"/>
          <p:cNvSpPr/>
          <p:nvPr/>
        </p:nvSpPr>
        <p:spPr>
          <a:xfrm>
            <a:off x="272415" y="2806065"/>
            <a:ext cx="64770" cy="64770"/>
          </a:xfrm>
          <a:prstGeom prst="ellipse">
            <a:avLst/>
          </a:prstGeom>
          <a:solidFill>
            <a:srgbClr val="FFFFFF">
              <a:alpha val="42000"/>
            </a:srgbClr>
          </a:solidFill>
          <a:ln>
            <a:noFill/>
          </a:ln>
        </p:spPr>
      </p:sp>
      <p:sp>
        <p:nvSpPr>
          <p:cNvPr id="9" name="TextBox 9"/>
          <p:cNvSpPr txBox="1"/>
          <p:nvPr/>
        </p:nvSpPr>
        <p:spPr>
          <a:xfrm>
            <a:off x="35738" y="2960370"/>
            <a:ext cx="538124" cy="182880"/>
          </a:xfrm>
          <a:prstGeom prst="rect">
            <a:avLst/>
          </a:prstGeom>
          <a:noFill/>
          <a:ln>
            <a:noFill/>
          </a:ln>
        </p:spPr>
        <p:txBody>
          <a:bodyPr wrap="none" lIns="0" tIns="0" rIns="0" bIns="0" anchor="t" anchorCtr="0">
            <a:spAutoFit/>
          </a:bodyPr>
          <a:lstStyle/>
          <a:p>
            <a:pPr algn="ctr"/>
            <a:r>
              <a:rPr lang="zh-CN" sz="900" dirty="0">
                <a:solidFill>
                  <a:srgbClr val="FFFFFF">
                    <a:alphaMod val="60000"/>
                  </a:srgbClr>
                </a:solidFill>
                <a:latin typeface="Arial"/>
                <a:ea typeface="Microsoft YaHei"/>
                <a:cs typeface="Arial"/>
              </a:rPr>
              <a:t>Findings</a:t>
            </a:r>
          </a:p>
        </p:txBody>
      </p:sp>
      <p:sp>
        <p:nvSpPr>
          <p:cNvPr id="10" name="Ellipse 10"/>
          <p:cNvSpPr/>
          <p:nvPr/>
        </p:nvSpPr>
        <p:spPr>
          <a:xfrm>
            <a:off x="272415" y="3663315"/>
            <a:ext cx="64770" cy="64770"/>
          </a:xfrm>
          <a:prstGeom prst="ellipse">
            <a:avLst/>
          </a:prstGeom>
          <a:solidFill>
            <a:srgbClr val="FFFFFF">
              <a:alpha val="42000"/>
            </a:srgbClr>
          </a:solidFill>
          <a:ln>
            <a:noFill/>
          </a:ln>
        </p:spPr>
      </p:sp>
      <p:sp>
        <p:nvSpPr>
          <p:cNvPr id="11" name="TextBox 11"/>
          <p:cNvSpPr txBox="1"/>
          <p:nvPr/>
        </p:nvSpPr>
        <p:spPr>
          <a:xfrm>
            <a:off x="72542" y="3817620"/>
            <a:ext cx="464515" cy="182880"/>
          </a:xfrm>
          <a:prstGeom prst="rect">
            <a:avLst/>
          </a:prstGeom>
          <a:noFill/>
          <a:ln>
            <a:noFill/>
          </a:ln>
        </p:spPr>
        <p:txBody>
          <a:bodyPr wrap="none" lIns="0" tIns="0" rIns="0" bIns="0" anchor="t" anchorCtr="0">
            <a:spAutoFit/>
          </a:bodyPr>
          <a:lstStyle/>
          <a:p>
            <a:pPr algn="ctr"/>
            <a:r>
              <a:rPr lang="zh-CN" sz="900" dirty="0">
                <a:solidFill>
                  <a:srgbClr val="FFFFFF">
                    <a:alphaMod val="60000"/>
                  </a:srgbClr>
                </a:solidFill>
                <a:latin typeface="Arial"/>
                <a:ea typeface="Microsoft YaHei"/>
                <a:cs typeface="Arial"/>
              </a:rPr>
              <a:t>Robust</a:t>
            </a:r>
          </a:p>
        </p:txBody>
      </p:sp>
      <p:sp>
        <p:nvSpPr>
          <p:cNvPr id="12" name="Ellipse 12"/>
          <p:cNvSpPr/>
          <p:nvPr/>
        </p:nvSpPr>
        <p:spPr>
          <a:xfrm>
            <a:off x="272415" y="4520565"/>
            <a:ext cx="64770" cy="64770"/>
          </a:xfrm>
          <a:prstGeom prst="ellipse">
            <a:avLst/>
          </a:prstGeom>
          <a:solidFill>
            <a:srgbClr val="FFFFFF">
              <a:alpha val="42000"/>
            </a:srgbClr>
          </a:solidFill>
          <a:ln>
            <a:noFill/>
          </a:ln>
        </p:spPr>
      </p:sp>
      <p:sp>
        <p:nvSpPr>
          <p:cNvPr id="13" name="TextBox 13"/>
          <p:cNvSpPr txBox="1"/>
          <p:nvPr/>
        </p:nvSpPr>
        <p:spPr>
          <a:xfrm>
            <a:off x="146152" y="4674870"/>
            <a:ext cx="317297" cy="182880"/>
          </a:xfrm>
          <a:prstGeom prst="rect">
            <a:avLst/>
          </a:prstGeom>
          <a:noFill/>
          <a:ln>
            <a:noFill/>
          </a:ln>
        </p:spPr>
        <p:txBody>
          <a:bodyPr wrap="none" lIns="0" tIns="0" rIns="0" bIns="0" anchor="t" anchorCtr="0">
            <a:spAutoFit/>
          </a:bodyPr>
          <a:lstStyle/>
          <a:p>
            <a:pPr algn="ctr"/>
            <a:r>
              <a:rPr lang="zh-CN" sz="900" dirty="0">
                <a:solidFill>
                  <a:srgbClr val="FFFFFF">
                    <a:alphaMod val="60000"/>
                  </a:srgbClr>
                </a:solidFill>
                <a:latin typeface="Arial"/>
                <a:ea typeface="Microsoft YaHei"/>
                <a:cs typeface="Arial"/>
              </a:rPr>
              <a:t>Uses</a:t>
            </a:r>
          </a:p>
        </p:txBody>
      </p:sp>
      <p:sp>
        <p:nvSpPr>
          <p:cNvPr id="14" name="Ellipse 14"/>
          <p:cNvSpPr/>
          <p:nvPr/>
        </p:nvSpPr>
        <p:spPr>
          <a:xfrm>
            <a:off x="272415" y="5377815"/>
            <a:ext cx="64770" cy="64770"/>
          </a:xfrm>
          <a:prstGeom prst="ellipse">
            <a:avLst/>
          </a:prstGeom>
          <a:solidFill>
            <a:srgbClr val="FFFFFF">
              <a:alpha val="42000"/>
            </a:srgbClr>
          </a:solidFill>
          <a:ln>
            <a:noFill/>
          </a:ln>
        </p:spPr>
      </p:sp>
      <p:sp>
        <p:nvSpPr>
          <p:cNvPr id="15" name="TextBox 15"/>
          <p:cNvSpPr txBox="1"/>
          <p:nvPr/>
        </p:nvSpPr>
        <p:spPr>
          <a:xfrm>
            <a:off x="16678" y="5532120"/>
            <a:ext cx="576243" cy="182880"/>
          </a:xfrm>
          <a:prstGeom prst="rect">
            <a:avLst/>
          </a:prstGeom>
          <a:noFill/>
          <a:ln>
            <a:noFill/>
          </a:ln>
        </p:spPr>
        <p:txBody>
          <a:bodyPr wrap="none" lIns="0" tIns="0" rIns="0" bIns="0" anchor="t" anchorCtr="0">
            <a:spAutoFit/>
          </a:bodyPr>
          <a:lstStyle/>
          <a:p>
            <a:pPr algn="ctr"/>
            <a:r>
              <a:rPr lang="zh-CN" sz="900" dirty="0">
                <a:solidFill>
                  <a:srgbClr val="FFFFFF">
                    <a:alphaMod val="60000"/>
                  </a:srgbClr>
                </a:solidFill>
                <a:latin typeface="Arial"/>
                <a:ea typeface="Microsoft YaHei"/>
                <a:cs typeface="Arial"/>
              </a:rPr>
              <a:t>Wrap-up</a:t>
            </a:r>
          </a:p>
        </p:txBody>
      </p:sp>
      <p:sp>
        <p:nvSpPr>
          <p:cNvPr id="16" name="Rectangle 16"/>
          <p:cNvSpPr/>
          <p:nvPr/>
        </p:nvSpPr>
        <p:spPr>
          <a:xfrm>
            <a:off x="914400" y="304800"/>
            <a:ext cx="419100" cy="47625"/>
          </a:xfrm>
          <a:prstGeom prst="rect">
            <a:avLst/>
          </a:prstGeom>
          <a:solidFill>
            <a:srgbClr val="B45309"/>
          </a:solidFill>
          <a:ln>
            <a:noFill/>
          </a:ln>
        </p:spPr>
      </p:sp>
      <p:sp>
        <p:nvSpPr>
          <p:cNvPr id="17" name="TextBox 17"/>
          <p:cNvSpPr txBox="1"/>
          <p:nvPr/>
        </p:nvSpPr>
        <p:spPr>
          <a:xfrm>
            <a:off x="889635" y="456248"/>
            <a:ext cx="7922700" cy="396240"/>
          </a:xfrm>
          <a:prstGeom prst="rect">
            <a:avLst/>
          </a:prstGeom>
          <a:noFill/>
          <a:ln>
            <a:noFill/>
          </a:ln>
        </p:spPr>
        <p:txBody>
          <a:bodyPr wrap="none" lIns="0" tIns="0" rIns="0" bIns="0" anchor="t" anchorCtr="0">
            <a:spAutoFit/>
          </a:bodyPr>
          <a:lstStyle/>
          <a:p>
            <a:pPr algn="l"/>
            <a:r>
              <a:rPr lang="zh-CN" sz="1950" b="1" dirty="0">
                <a:solidFill>
                  <a:srgbClr val="17332D"/>
                </a:solidFill>
                <a:latin typeface="Arial"/>
                <a:ea typeface="Microsoft YaHei"/>
                <a:cs typeface="Arial"/>
              </a:rPr>
              <a:t>One hazard model, four parts that cannot be dropped</a:t>
            </a:r>
          </a:p>
        </p:txBody>
      </p:sp>
      <p:sp>
        <p:nvSpPr>
          <p:cNvPr id="18" name="TextBox 18"/>
          <p:cNvSpPr txBox="1"/>
          <p:nvPr/>
        </p:nvSpPr>
        <p:spPr>
          <a:xfrm>
            <a:off x="11246187" y="283845"/>
            <a:ext cx="576243" cy="182880"/>
          </a:xfrm>
          <a:prstGeom prst="rect">
            <a:avLst/>
          </a:prstGeom>
          <a:noFill/>
          <a:ln>
            <a:noFill/>
          </a:ln>
        </p:spPr>
        <p:txBody>
          <a:bodyPr wrap="none" lIns="0" tIns="0" rIns="0" bIns="0" anchor="t" anchorCtr="0">
            <a:spAutoFit/>
          </a:bodyPr>
          <a:lstStyle/>
          <a:p>
            <a:pPr algn="r"/>
            <a:r>
              <a:rPr lang="zh-CN" sz="900" dirty="0">
                <a:solidFill>
                  <a:srgbClr val="8A919B"/>
                </a:solidFill>
                <a:latin typeface="Arial"/>
                <a:ea typeface="Microsoft YaHei"/>
                <a:cs typeface="Arial"/>
              </a:rPr>
              <a:t>Methods</a:t>
            </a:r>
          </a:p>
        </p:txBody>
      </p:sp>
      <p:sp>
        <p:nvSpPr>
          <p:cNvPr id="19" name="Line 19"/>
          <p:cNvSpPr/>
          <p:nvPr/>
        </p:nvSpPr>
        <p:spPr>
          <a:xfrm>
            <a:off x="914400" y="6515100"/>
            <a:ext cx="10896600" cy="9525"/>
          </a:xfrm>
          <a:custGeom>
            <a:avLst/>
            <a:gdLst/>
            <a:ahLst/>
            <a:cxnLst/>
            <a:rect l="l" t="t" r="r" b="b"/>
            <a:pathLst>
              <a:path w="10896600" h="9525">
                <a:moveTo>
                  <a:pt x="0" y="0"/>
                </a:moveTo>
                <a:lnTo>
                  <a:pt x="10896600" y="0"/>
                </a:lnTo>
              </a:path>
            </a:pathLst>
          </a:custGeom>
          <a:noFill/>
          <a:ln w="9525">
            <a:solidFill>
              <a:srgbClr val="D6D3CD"/>
            </a:solidFill>
          </a:ln>
        </p:spPr>
      </p:sp>
      <p:sp>
        <p:nvSpPr>
          <p:cNvPr id="20" name="TextBox 20"/>
          <p:cNvSpPr txBox="1"/>
          <p:nvPr/>
        </p:nvSpPr>
        <p:spPr>
          <a:xfrm>
            <a:off x="902970" y="6617970"/>
            <a:ext cx="2609698" cy="182880"/>
          </a:xfrm>
          <a:prstGeom prst="rect">
            <a:avLst/>
          </a:prstGeom>
          <a:noFill/>
          <a:ln>
            <a:noFill/>
          </a:ln>
        </p:spPr>
        <p:txBody>
          <a:bodyPr wrap="none" lIns="0" tIns="0" rIns="0" bIns="0" anchor="t" anchorCtr="0">
            <a:spAutoFit/>
          </a:bodyPr>
          <a:lstStyle/>
          <a:p>
            <a:pPr algn="l"/>
            <a:r>
              <a:rPr lang="zh-CN" sz="900" dirty="0">
                <a:solidFill>
                  <a:srgbClr val="8A919B"/>
                </a:solidFill>
                <a:latin typeface="Arial"/>
                <a:ea typeface="Microsoft YaHei"/>
                <a:cs typeface="Arial"/>
              </a:rPr>
              <a:t>Birds or birders? · AOC 2026, Singapore</a:t>
            </a:r>
          </a:p>
        </p:txBody>
      </p:sp>
      <p:sp>
        <p:nvSpPr>
          <p:cNvPr id="21" name="TextBox 21"/>
          <p:cNvSpPr txBox="1"/>
          <p:nvPr/>
        </p:nvSpPr>
        <p:spPr>
          <a:xfrm>
            <a:off x="11352657" y="6617970"/>
            <a:ext cx="469773" cy="182880"/>
          </a:xfrm>
          <a:prstGeom prst="rect">
            <a:avLst/>
          </a:prstGeom>
          <a:noFill/>
          <a:ln>
            <a:noFill/>
          </a:ln>
        </p:spPr>
        <p:txBody>
          <a:bodyPr wrap="none" lIns="0" tIns="0" rIns="0" bIns="0" anchor="t" anchorCtr="0">
            <a:spAutoFit/>
          </a:bodyPr>
          <a:lstStyle/>
          <a:p>
            <a:pPr algn="r"/>
            <a:r>
              <a:rPr lang="zh-CN" sz="900" dirty="0">
                <a:solidFill>
                  <a:srgbClr val="5F6670"/>
                </a:solidFill>
                <a:latin typeface="Arial"/>
                <a:ea typeface="Microsoft YaHei"/>
                <a:cs typeface="Arial"/>
              </a:rPr>
              <a:t>04 / 20</a:t>
            </a:r>
          </a:p>
        </p:txBody>
      </p:sp>
      <p:sp>
        <p:nvSpPr>
          <p:cNvPr id="22" name="TextBox 22"/>
          <p:cNvSpPr txBox="1"/>
          <p:nvPr/>
        </p:nvSpPr>
        <p:spPr>
          <a:xfrm>
            <a:off x="899160" y="918210"/>
            <a:ext cx="8898636" cy="243840"/>
          </a:xfrm>
          <a:prstGeom prst="rect">
            <a:avLst/>
          </a:prstGeom>
          <a:noFill/>
          <a:ln>
            <a:noFill/>
          </a:ln>
        </p:spPr>
        <p:txBody>
          <a:bodyPr wrap="none" lIns="0" tIns="0" rIns="0" bIns="0" anchor="t" anchorCtr="0">
            <a:spAutoFit/>
          </a:bodyPr>
          <a:lstStyle/>
          <a:p>
            <a:pPr algn="l"/>
            <a:r>
              <a:rPr lang="zh-CN" sz="1200" dirty="0">
                <a:solidFill>
                  <a:srgbClr val="5F6670"/>
                </a:solidFill>
                <a:latin typeface="Arial"/>
                <a:ea typeface="Microsoft YaHei"/>
                <a:cs typeface="Arial"/>
              </a:rPr>
              <a:t>For every species, in every province it could reach, in every year: is this the year of its first record?</a:t>
            </a:r>
          </a:p>
        </p:txBody>
      </p:sp>
      <p:sp>
        <p:nvSpPr>
          <p:cNvPr id="23" name="Rectangle 23"/>
          <p:cNvSpPr/>
          <p:nvPr/>
        </p:nvSpPr>
        <p:spPr>
          <a:xfrm>
            <a:off x="914400" y="1219200"/>
            <a:ext cx="10896600" cy="1123950"/>
          </a:xfrm>
          <a:prstGeom prst="roundRect">
            <a:avLst>
              <a:gd name="adj" fmla="val 5085"/>
            </a:avLst>
          </a:prstGeom>
          <a:solidFill>
            <a:srgbClr val="F3F4F6"/>
          </a:solidFill>
          <a:ln>
            <a:noFill/>
          </a:ln>
        </p:spPr>
      </p:sp>
      <p:sp>
        <p:nvSpPr>
          <p:cNvPr id="24" name="TextBox 24"/>
          <p:cNvSpPr txBox="1"/>
          <p:nvPr/>
        </p:nvSpPr>
        <p:spPr>
          <a:xfrm>
            <a:off x="1125855" y="1435418"/>
            <a:ext cx="7881557" cy="274320"/>
          </a:xfrm>
          <a:prstGeom prst="rect">
            <a:avLst/>
          </a:prstGeom>
          <a:noFill/>
          <a:ln>
            <a:noFill/>
          </a:ln>
        </p:spPr>
        <p:txBody>
          <a:bodyPr wrap="none" lIns="0" tIns="0" rIns="0" bIns="0" anchor="t" anchorCtr="0">
            <a:spAutoFit/>
          </a:bodyPr>
          <a:lstStyle/>
          <a:p>
            <a:pPr algn="l"/>
            <a:r>
              <a:rPr lang="zh-CN" sz="1350" dirty="0">
                <a:solidFill>
                  <a:srgbClr val="17332D"/>
                </a:solidFill>
                <a:latin typeface="Arial"/>
                <a:ea typeface="Microsoft YaHei"/>
                <a:cs typeface="Arial"/>
              </a:rPr>
              <a:t>first record ~ warming × effort + climate variability + offset(log completeness)</a:t>
            </a:r>
          </a:p>
        </p:txBody>
      </p:sp>
      <p:sp>
        <p:nvSpPr>
          <p:cNvPr id="25" name="TextBox 25"/>
          <p:cNvSpPr txBox="1"/>
          <p:nvPr/>
        </p:nvSpPr>
        <p:spPr>
          <a:xfrm>
            <a:off x="1125855" y="1740218"/>
            <a:ext cx="5351897" cy="274320"/>
          </a:xfrm>
          <a:prstGeom prst="rect">
            <a:avLst/>
          </a:prstGeom>
          <a:noFill/>
          <a:ln>
            <a:noFill/>
          </a:ln>
        </p:spPr>
        <p:txBody>
          <a:bodyPr wrap="none" lIns="0" tIns="0" rIns="0" bIns="0" anchor="t" anchorCtr="0">
            <a:spAutoFit/>
          </a:bodyPr>
          <a:lstStyle/>
          <a:p>
            <a:pPr algn="l"/>
            <a:r>
              <a:rPr lang="zh-CN" sz="1350" dirty="0">
                <a:solidFill>
                  <a:srgbClr val="17332D"/>
                </a:solidFill>
                <a:latin typeface="Arial"/>
                <a:ea typeface="Microsoft YaHei"/>
                <a:cs typeface="Arial"/>
              </a:rPr>
              <a:t>+ (1 | species) + (1 | province) + (1 | province × year)</a:t>
            </a:r>
          </a:p>
        </p:txBody>
      </p:sp>
      <p:sp>
        <p:nvSpPr>
          <p:cNvPr id="26" name="TextBox 26"/>
          <p:cNvSpPr txBox="1"/>
          <p:nvPr/>
        </p:nvSpPr>
        <p:spPr>
          <a:xfrm>
            <a:off x="9990772" y="1764506"/>
            <a:ext cx="1605915" cy="228600"/>
          </a:xfrm>
          <a:prstGeom prst="rect">
            <a:avLst/>
          </a:prstGeom>
          <a:noFill/>
          <a:ln>
            <a:noFill/>
          </a:ln>
        </p:spPr>
        <p:txBody>
          <a:bodyPr wrap="none" lIns="0" tIns="0" rIns="0" bIns="0" anchor="t" anchorCtr="0">
            <a:spAutoFit/>
          </a:bodyPr>
          <a:lstStyle/>
          <a:p>
            <a:pPr algn="r"/>
            <a:r>
              <a:rPr lang="zh-CN" sz="1125" dirty="0">
                <a:solidFill>
                  <a:srgbClr val="5F6670"/>
                </a:solidFill>
                <a:latin typeface="Arial"/>
                <a:ea typeface="Microsoft YaHei"/>
                <a:cs typeface="Arial"/>
              </a:rPr>
              <a:t>binomial, cloglog link</a:t>
            </a:r>
          </a:p>
        </p:txBody>
      </p:sp>
      <p:sp>
        <p:nvSpPr>
          <p:cNvPr id="27" name="TextBox 27"/>
          <p:cNvSpPr txBox="1"/>
          <p:nvPr/>
        </p:nvSpPr>
        <p:spPr>
          <a:xfrm>
            <a:off x="1129665" y="2077402"/>
            <a:ext cx="6001283" cy="213360"/>
          </a:xfrm>
          <a:prstGeom prst="rect">
            <a:avLst/>
          </a:prstGeom>
          <a:noFill/>
          <a:ln>
            <a:noFill/>
          </a:ln>
        </p:spPr>
        <p:txBody>
          <a:bodyPr wrap="none" lIns="0" tIns="0" rIns="0" bIns="0" anchor="t" anchorCtr="0">
            <a:spAutoFit/>
          </a:bodyPr>
          <a:lstStyle/>
          <a:p>
            <a:pPr algn="l"/>
            <a:r>
              <a:rPr lang="zh-CN" sz="1050" dirty="0">
                <a:solidFill>
                  <a:srgbClr val="5F6670"/>
                </a:solidFill>
                <a:latin typeface="Arial"/>
                <a:ea typeface="Microsoft YaHei"/>
                <a:cs typeface="Arial"/>
              </a:rPr>
              <a:t>cloglog = discrete-time proportional hazards, so exp(β) is a hazard ratio (HR)</a:t>
            </a:r>
          </a:p>
        </p:txBody>
      </p:sp>
      <p:sp>
        <p:nvSpPr>
          <p:cNvPr id="28" name="Rectangle 28"/>
          <p:cNvSpPr/>
          <p:nvPr/>
        </p:nvSpPr>
        <p:spPr>
          <a:xfrm>
            <a:off x="914400" y="2571750"/>
            <a:ext cx="5334000" cy="1238250"/>
          </a:xfrm>
          <a:prstGeom prst="roundRect">
            <a:avLst>
              <a:gd name="adj" fmla="val 4615"/>
            </a:avLst>
          </a:prstGeom>
          <a:solidFill>
            <a:srgbClr val="FFFFFF"/>
          </a:solidFill>
          <a:ln w="9525">
            <a:solidFill>
              <a:srgbClr val="D6D3CD"/>
            </a:solidFill>
          </a:ln>
        </p:spPr>
      </p:sp>
      <p:sp>
        <p:nvSpPr>
          <p:cNvPr id="29" name="Rectangle 29"/>
          <p:cNvSpPr/>
          <p:nvPr/>
        </p:nvSpPr>
        <p:spPr>
          <a:xfrm>
            <a:off x="914400" y="2571750"/>
            <a:ext cx="5334000" cy="38100"/>
          </a:xfrm>
          <a:prstGeom prst="rect">
            <a:avLst/>
          </a:prstGeom>
          <a:solidFill>
            <a:srgbClr val="1F4E45"/>
          </a:solidFill>
          <a:ln>
            <a:noFill/>
          </a:ln>
        </p:spPr>
      </p:sp>
      <p:sp>
        <p:nvSpPr>
          <p:cNvPr id="30" name="TextBox 30"/>
          <p:cNvSpPr txBox="1"/>
          <p:nvPr/>
        </p:nvSpPr>
        <p:spPr>
          <a:xfrm>
            <a:off x="1088708" y="2748439"/>
            <a:ext cx="1706223" cy="259080"/>
          </a:xfrm>
          <a:prstGeom prst="rect">
            <a:avLst/>
          </a:prstGeom>
          <a:noFill/>
          <a:ln>
            <a:noFill/>
          </a:ln>
        </p:spPr>
        <p:txBody>
          <a:bodyPr wrap="none" lIns="0" tIns="0" rIns="0" bIns="0" anchor="t" anchorCtr="0">
            <a:spAutoFit/>
          </a:bodyPr>
          <a:lstStyle/>
          <a:p>
            <a:pPr algn="l"/>
            <a:r>
              <a:rPr lang="zh-CN" sz="1275" b="1" dirty="0">
                <a:solidFill>
                  <a:srgbClr val="1F4E45"/>
                </a:solidFill>
                <a:latin typeface="Arial"/>
                <a:ea typeface="Microsoft YaHei"/>
                <a:cs typeface="Arial"/>
              </a:rPr>
              <a:t>Complete risk set</a:t>
            </a:r>
          </a:p>
        </p:txBody>
      </p:sp>
      <p:sp>
        <p:nvSpPr>
          <p:cNvPr id="31" name="TextBox 31"/>
          <p:cNvSpPr txBox="1"/>
          <p:nvPr/>
        </p:nvSpPr>
        <p:spPr>
          <a:xfrm>
            <a:off x="1090612" y="3040856"/>
            <a:ext cx="3143822" cy="228600"/>
          </a:xfrm>
          <a:prstGeom prst="rect">
            <a:avLst/>
          </a:prstGeom>
          <a:noFill/>
          <a:ln>
            <a:noFill/>
          </a:ln>
        </p:spPr>
        <p:txBody>
          <a:bodyPr wrap="none" lIns="0" tIns="0" rIns="0" bIns="0" anchor="t" anchorCtr="0">
            <a:spAutoFit/>
          </a:bodyPr>
          <a:lstStyle/>
          <a:p>
            <a:pPr algn="l"/>
            <a:r>
              <a:rPr lang="zh-CN" sz="1125" dirty="0">
                <a:solidFill>
                  <a:srgbClr val="17332D"/>
                </a:solidFill>
                <a:latin typeface="Arial"/>
                <a:ea typeface="Microsoft YaHei"/>
                <a:cs typeface="Arial"/>
              </a:rPr>
              <a:t>Only provinces the species could reach</a:t>
            </a:r>
          </a:p>
        </p:txBody>
      </p:sp>
      <p:sp>
        <p:nvSpPr>
          <p:cNvPr id="32" name="TextBox 32"/>
          <p:cNvSpPr txBox="1"/>
          <p:nvPr/>
        </p:nvSpPr>
        <p:spPr>
          <a:xfrm>
            <a:off x="1090612" y="3278981"/>
            <a:ext cx="3479006" cy="228600"/>
          </a:xfrm>
          <a:prstGeom prst="rect">
            <a:avLst/>
          </a:prstGeom>
          <a:noFill/>
          <a:ln>
            <a:noFill/>
          </a:ln>
        </p:spPr>
        <p:txBody>
          <a:bodyPr wrap="none" lIns="0" tIns="0" rIns="0" bIns="0" anchor="t" anchorCtr="0">
            <a:spAutoFit/>
          </a:bodyPr>
          <a:lstStyle/>
          <a:p>
            <a:pPr algn="l"/>
            <a:r>
              <a:rPr lang="zh-CN" sz="1125" dirty="0">
                <a:solidFill>
                  <a:srgbClr val="5F6670"/>
                </a:solidFill>
                <a:latin typeface="Arial"/>
                <a:ea typeface="Microsoft YaHei"/>
                <a:cs typeface="Arial"/>
              </a:rPr>
              <a:t>Leaves the risk set after its first record</a:t>
            </a:r>
          </a:p>
        </p:txBody>
      </p:sp>
      <p:sp>
        <p:nvSpPr>
          <p:cNvPr id="33" name="TextBox 33"/>
          <p:cNvSpPr txBox="1"/>
          <p:nvPr/>
        </p:nvSpPr>
        <p:spPr>
          <a:xfrm>
            <a:off x="1090612" y="3517106"/>
            <a:ext cx="2670620" cy="228600"/>
          </a:xfrm>
          <a:prstGeom prst="rect">
            <a:avLst/>
          </a:prstGeom>
          <a:noFill/>
          <a:ln>
            <a:noFill/>
          </a:ln>
        </p:spPr>
        <p:txBody>
          <a:bodyPr wrap="none" lIns="0" tIns="0" rIns="0" bIns="0" anchor="t" anchorCtr="0">
            <a:spAutoFit/>
          </a:bodyPr>
          <a:lstStyle/>
          <a:p>
            <a:pPr algn="l"/>
            <a:r>
              <a:rPr lang="zh-CN" sz="1125" dirty="0">
                <a:solidFill>
                  <a:srgbClr val="5F6670"/>
                </a:solidFill>
                <a:latin typeface="Arial"/>
                <a:ea typeface="Microsoft YaHei"/>
                <a:cs typeface="Arial"/>
              </a:rPr>
              <a:t>Denominator = real opportunities</a:t>
            </a:r>
          </a:p>
        </p:txBody>
      </p:sp>
      <p:sp>
        <p:nvSpPr>
          <p:cNvPr id="34" name="Rectangle 34"/>
          <p:cNvSpPr/>
          <p:nvPr/>
        </p:nvSpPr>
        <p:spPr>
          <a:xfrm>
            <a:off x="6477000" y="2571750"/>
            <a:ext cx="5334000" cy="1238250"/>
          </a:xfrm>
          <a:prstGeom prst="roundRect">
            <a:avLst>
              <a:gd name="adj" fmla="val 4615"/>
            </a:avLst>
          </a:prstGeom>
          <a:solidFill>
            <a:srgbClr val="FFFFFF"/>
          </a:solidFill>
          <a:ln w="9525">
            <a:solidFill>
              <a:srgbClr val="D6D3CD"/>
            </a:solidFill>
          </a:ln>
        </p:spPr>
      </p:sp>
      <p:sp>
        <p:nvSpPr>
          <p:cNvPr id="35" name="Rectangle 35"/>
          <p:cNvSpPr/>
          <p:nvPr/>
        </p:nvSpPr>
        <p:spPr>
          <a:xfrm>
            <a:off x="6477000" y="2571750"/>
            <a:ext cx="5334000" cy="38100"/>
          </a:xfrm>
          <a:prstGeom prst="rect">
            <a:avLst/>
          </a:prstGeom>
          <a:solidFill>
            <a:srgbClr val="B45309"/>
          </a:solidFill>
          <a:ln>
            <a:noFill/>
          </a:ln>
        </p:spPr>
      </p:sp>
      <p:sp>
        <p:nvSpPr>
          <p:cNvPr id="36" name="TextBox 36"/>
          <p:cNvSpPr txBox="1"/>
          <p:nvPr/>
        </p:nvSpPr>
        <p:spPr>
          <a:xfrm>
            <a:off x="6651308" y="2748439"/>
            <a:ext cx="1872028" cy="259080"/>
          </a:xfrm>
          <a:prstGeom prst="rect">
            <a:avLst/>
          </a:prstGeom>
          <a:noFill/>
          <a:ln>
            <a:noFill/>
          </a:ln>
        </p:spPr>
        <p:txBody>
          <a:bodyPr wrap="none" lIns="0" tIns="0" rIns="0" bIns="0" anchor="t" anchorCtr="0">
            <a:spAutoFit/>
          </a:bodyPr>
          <a:lstStyle/>
          <a:p>
            <a:pPr algn="l"/>
            <a:r>
              <a:rPr lang="zh-CN" sz="1275" b="1" dirty="0">
                <a:solidFill>
                  <a:srgbClr val="B45309"/>
                </a:solidFill>
                <a:latin typeface="Arial"/>
                <a:ea typeface="Microsoft YaHei"/>
                <a:cs typeface="Arial"/>
              </a:rPr>
              <a:t>Dated to discovery</a:t>
            </a:r>
          </a:p>
        </p:txBody>
      </p:sp>
      <p:sp>
        <p:nvSpPr>
          <p:cNvPr id="37" name="TextBox 37"/>
          <p:cNvSpPr txBox="1"/>
          <p:nvPr/>
        </p:nvSpPr>
        <p:spPr>
          <a:xfrm>
            <a:off x="6653212" y="3040856"/>
            <a:ext cx="3230904" cy="228600"/>
          </a:xfrm>
          <a:prstGeom prst="rect">
            <a:avLst/>
          </a:prstGeom>
          <a:noFill/>
          <a:ln>
            <a:noFill/>
          </a:ln>
        </p:spPr>
        <p:txBody>
          <a:bodyPr wrap="none" lIns="0" tIns="0" rIns="0" bIns="0" anchor="t" anchorCtr="0">
            <a:spAutoFit/>
          </a:bodyPr>
          <a:lstStyle/>
          <a:p>
            <a:pPr algn="l"/>
            <a:r>
              <a:rPr lang="zh-CN" sz="1125" dirty="0">
                <a:solidFill>
                  <a:srgbClr val="17332D"/>
                </a:solidFill>
                <a:latin typeface="Arial"/>
                <a:ea typeface="Microsoft YaHei"/>
                <a:cs typeface="Arial"/>
              </a:rPr>
              <a:t>Publication lags discovery by 2.09 years</a:t>
            </a:r>
          </a:p>
        </p:txBody>
      </p:sp>
      <p:sp>
        <p:nvSpPr>
          <p:cNvPr id="38" name="TextBox 38"/>
          <p:cNvSpPr txBox="1"/>
          <p:nvPr/>
        </p:nvSpPr>
        <p:spPr>
          <a:xfrm>
            <a:off x="6653212" y="3278981"/>
            <a:ext cx="2964728" cy="228600"/>
          </a:xfrm>
          <a:prstGeom prst="rect">
            <a:avLst/>
          </a:prstGeom>
          <a:noFill/>
          <a:ln>
            <a:noFill/>
          </a:ln>
        </p:spPr>
        <p:txBody>
          <a:bodyPr wrap="none" lIns="0" tIns="0" rIns="0" bIns="0" anchor="t" anchorCtr="0">
            <a:spAutoFit/>
          </a:bodyPr>
          <a:lstStyle/>
          <a:p>
            <a:pPr algn="l"/>
            <a:r>
              <a:rPr lang="zh-CN" sz="1125" dirty="0">
                <a:solidFill>
                  <a:srgbClr val="5F6670"/>
                </a:solidFill>
                <a:latin typeface="Arial"/>
                <a:ea typeface="Microsoft YaHei"/>
                <a:cs typeface="Arial"/>
              </a:rPr>
              <a:t>83% of events move to another year</a:t>
            </a:r>
          </a:p>
        </p:txBody>
      </p:sp>
      <p:sp>
        <p:nvSpPr>
          <p:cNvPr id="39" name="TextBox 39"/>
          <p:cNvSpPr txBox="1"/>
          <p:nvPr/>
        </p:nvSpPr>
        <p:spPr>
          <a:xfrm>
            <a:off x="6653212" y="3517106"/>
            <a:ext cx="3459289" cy="228600"/>
          </a:xfrm>
          <a:prstGeom prst="rect">
            <a:avLst/>
          </a:prstGeom>
          <a:noFill/>
          <a:ln>
            <a:noFill/>
          </a:ln>
        </p:spPr>
        <p:txBody>
          <a:bodyPr wrap="none" lIns="0" tIns="0" rIns="0" bIns="0" anchor="t" anchorCtr="0">
            <a:spAutoFit/>
          </a:bodyPr>
          <a:lstStyle/>
          <a:p>
            <a:pPr algn="l"/>
            <a:r>
              <a:rPr lang="zh-CN" sz="1125" dirty="0">
                <a:solidFill>
                  <a:srgbClr val="5F6670"/>
                </a:solidFill>
                <a:latin typeface="Arial"/>
                <a:ea typeface="Microsoft YaHei"/>
                <a:cs typeface="Arial"/>
              </a:rPr>
              <a:t>An offset corrects recent incompleteness</a:t>
            </a:r>
          </a:p>
        </p:txBody>
      </p:sp>
      <p:sp>
        <p:nvSpPr>
          <p:cNvPr id="40" name="Rectangle 40"/>
          <p:cNvSpPr/>
          <p:nvPr/>
        </p:nvSpPr>
        <p:spPr>
          <a:xfrm>
            <a:off x="914400" y="4019550"/>
            <a:ext cx="5334000" cy="1238250"/>
          </a:xfrm>
          <a:prstGeom prst="roundRect">
            <a:avLst>
              <a:gd name="adj" fmla="val 4615"/>
            </a:avLst>
          </a:prstGeom>
          <a:solidFill>
            <a:srgbClr val="FFFFFF"/>
          </a:solidFill>
          <a:ln w="9525">
            <a:solidFill>
              <a:srgbClr val="D6D3CD"/>
            </a:solidFill>
          </a:ln>
        </p:spPr>
      </p:sp>
      <p:sp>
        <p:nvSpPr>
          <p:cNvPr id="41" name="Rectangle 41"/>
          <p:cNvSpPr/>
          <p:nvPr/>
        </p:nvSpPr>
        <p:spPr>
          <a:xfrm>
            <a:off x="914400" y="4019550"/>
            <a:ext cx="5334000" cy="38100"/>
          </a:xfrm>
          <a:prstGeom prst="rect">
            <a:avLst/>
          </a:prstGeom>
          <a:solidFill>
            <a:srgbClr val="009E73"/>
          </a:solidFill>
          <a:ln>
            <a:noFill/>
          </a:ln>
        </p:spPr>
      </p:sp>
      <p:sp>
        <p:nvSpPr>
          <p:cNvPr id="42" name="TextBox 42"/>
          <p:cNvSpPr txBox="1"/>
          <p:nvPr/>
        </p:nvSpPr>
        <p:spPr>
          <a:xfrm>
            <a:off x="1088708" y="4196239"/>
            <a:ext cx="2748424" cy="259080"/>
          </a:xfrm>
          <a:prstGeom prst="rect">
            <a:avLst/>
          </a:prstGeom>
          <a:noFill/>
          <a:ln>
            <a:noFill/>
          </a:ln>
        </p:spPr>
        <p:txBody>
          <a:bodyPr wrap="none" lIns="0" tIns="0" rIns="0" bIns="0" anchor="t" anchorCtr="0">
            <a:spAutoFit/>
          </a:bodyPr>
          <a:lstStyle/>
          <a:p>
            <a:pPr algn="l"/>
            <a:r>
              <a:rPr lang="zh-CN" sz="1275" b="1" dirty="0">
                <a:solidFill>
                  <a:srgbClr val="009E73"/>
                </a:solidFill>
                <a:latin typeface="Arial"/>
                <a:ea typeface="Microsoft YaHei"/>
                <a:cs typeface="Arial"/>
              </a:rPr>
              <a:t>Species-referenced warming</a:t>
            </a:r>
          </a:p>
        </p:txBody>
      </p:sp>
      <p:sp>
        <p:nvSpPr>
          <p:cNvPr id="43" name="TextBox 43"/>
          <p:cNvSpPr txBox="1"/>
          <p:nvPr/>
        </p:nvSpPr>
        <p:spPr>
          <a:xfrm>
            <a:off x="1090612" y="4488656"/>
            <a:ext cx="2749487" cy="228600"/>
          </a:xfrm>
          <a:prstGeom prst="rect">
            <a:avLst/>
          </a:prstGeom>
          <a:noFill/>
          <a:ln>
            <a:noFill/>
          </a:ln>
        </p:spPr>
        <p:txBody>
          <a:bodyPr wrap="none" lIns="0" tIns="0" rIns="0" bIns="0" anchor="t" anchorCtr="0">
            <a:spAutoFit/>
          </a:bodyPr>
          <a:lstStyle/>
          <a:p>
            <a:pPr algn="l"/>
            <a:r>
              <a:rPr lang="zh-CN" sz="1125" dirty="0">
                <a:solidFill>
                  <a:srgbClr val="17332D"/>
                </a:solidFill>
                <a:latin typeface="Arial"/>
                <a:ea typeface="Microsoft YaHei"/>
                <a:cs typeface="Arial"/>
              </a:rPr>
              <a:t>Province anomaly − range anomaly</a:t>
            </a:r>
          </a:p>
        </p:txBody>
      </p:sp>
      <p:sp>
        <p:nvSpPr>
          <p:cNvPr id="44" name="TextBox 44"/>
          <p:cNvSpPr txBox="1"/>
          <p:nvPr/>
        </p:nvSpPr>
        <p:spPr>
          <a:xfrm>
            <a:off x="1090612" y="4726781"/>
            <a:ext cx="1786652" cy="228600"/>
          </a:xfrm>
          <a:prstGeom prst="rect">
            <a:avLst/>
          </a:prstGeom>
          <a:noFill/>
          <a:ln>
            <a:noFill/>
          </a:ln>
        </p:spPr>
        <p:txBody>
          <a:bodyPr wrap="none" lIns="0" tIns="0" rIns="0" bIns="0" anchor="t" anchorCtr="0">
            <a:spAutoFit/>
          </a:bodyPr>
          <a:lstStyle/>
          <a:p>
            <a:pPr algn="l"/>
            <a:r>
              <a:rPr lang="zh-CN" sz="1125" dirty="0">
                <a:solidFill>
                  <a:srgbClr val="5F6670"/>
                </a:solidFill>
                <a:latin typeface="Arial"/>
                <a:ea typeface="Microsoft YaHei"/>
                <a:cs typeface="Arial"/>
              </a:rPr>
              <a:t>15-year moving window</a:t>
            </a:r>
          </a:p>
        </p:txBody>
      </p:sp>
      <p:sp>
        <p:nvSpPr>
          <p:cNvPr id="45" name="TextBox 45"/>
          <p:cNvSpPr txBox="1"/>
          <p:nvPr/>
        </p:nvSpPr>
        <p:spPr>
          <a:xfrm>
            <a:off x="1090612" y="4964906"/>
            <a:ext cx="1269087" cy="228600"/>
          </a:xfrm>
          <a:prstGeom prst="rect">
            <a:avLst/>
          </a:prstGeom>
          <a:noFill/>
          <a:ln>
            <a:noFill/>
          </a:ln>
        </p:spPr>
        <p:txBody>
          <a:bodyPr wrap="none" lIns="0" tIns="0" rIns="0" bIns="0" anchor="t" anchorCtr="0">
            <a:spAutoFit/>
          </a:bodyPr>
          <a:lstStyle/>
          <a:p>
            <a:pPr algn="l"/>
            <a:r>
              <a:rPr lang="zh-CN" sz="1125" dirty="0">
                <a:solidFill>
                  <a:srgbClr val="5F6670"/>
                </a:solidFill>
                <a:latin typeface="Arial"/>
                <a:ea typeface="Microsoft YaHei"/>
                <a:cs typeface="Arial"/>
              </a:rPr>
              <a:t>1 SD = 0.179 °C</a:t>
            </a:r>
          </a:p>
        </p:txBody>
      </p:sp>
      <p:sp>
        <p:nvSpPr>
          <p:cNvPr id="46" name="Rectangle 46"/>
          <p:cNvSpPr/>
          <p:nvPr/>
        </p:nvSpPr>
        <p:spPr>
          <a:xfrm>
            <a:off x="6477000" y="4019550"/>
            <a:ext cx="5334000" cy="1238250"/>
          </a:xfrm>
          <a:prstGeom prst="roundRect">
            <a:avLst>
              <a:gd name="adj" fmla="val 4615"/>
            </a:avLst>
          </a:prstGeom>
          <a:solidFill>
            <a:srgbClr val="FFFFFF"/>
          </a:solidFill>
          <a:ln w="9525">
            <a:solidFill>
              <a:srgbClr val="D6D3CD"/>
            </a:solidFill>
          </a:ln>
        </p:spPr>
      </p:sp>
      <p:sp>
        <p:nvSpPr>
          <p:cNvPr id="47" name="Rectangle 47"/>
          <p:cNvSpPr/>
          <p:nvPr/>
        </p:nvSpPr>
        <p:spPr>
          <a:xfrm>
            <a:off x="6477000" y="4019550"/>
            <a:ext cx="5334000" cy="38100"/>
          </a:xfrm>
          <a:prstGeom prst="rect">
            <a:avLst/>
          </a:prstGeom>
          <a:solidFill>
            <a:srgbClr val="0072B2"/>
          </a:solidFill>
          <a:ln>
            <a:noFill/>
          </a:ln>
        </p:spPr>
      </p:sp>
      <p:sp>
        <p:nvSpPr>
          <p:cNvPr id="48" name="TextBox 48"/>
          <p:cNvSpPr txBox="1"/>
          <p:nvPr/>
        </p:nvSpPr>
        <p:spPr>
          <a:xfrm>
            <a:off x="6651308" y="4196239"/>
            <a:ext cx="2353651" cy="259080"/>
          </a:xfrm>
          <a:prstGeom prst="rect">
            <a:avLst/>
          </a:prstGeom>
          <a:noFill/>
          <a:ln>
            <a:noFill/>
          </a:ln>
        </p:spPr>
        <p:txBody>
          <a:bodyPr wrap="none" lIns="0" tIns="0" rIns="0" bIns="0" anchor="t" anchorCtr="0">
            <a:spAutoFit/>
          </a:bodyPr>
          <a:lstStyle/>
          <a:p>
            <a:pPr algn="l"/>
            <a:r>
              <a:rPr lang="zh-CN" sz="1275" b="1" dirty="0">
                <a:solidFill>
                  <a:srgbClr val="0072B2"/>
                </a:solidFill>
                <a:latin typeface="Arial"/>
                <a:ea typeface="Microsoft YaHei"/>
                <a:cs typeface="Arial"/>
              </a:rPr>
              <a:t>Province × year effect</a:t>
            </a:r>
          </a:p>
        </p:txBody>
      </p:sp>
      <p:sp>
        <p:nvSpPr>
          <p:cNvPr id="49" name="TextBox 49"/>
          <p:cNvSpPr txBox="1"/>
          <p:nvPr/>
        </p:nvSpPr>
        <p:spPr>
          <a:xfrm>
            <a:off x="6653212" y="4488656"/>
            <a:ext cx="2775776" cy="228600"/>
          </a:xfrm>
          <a:prstGeom prst="rect">
            <a:avLst/>
          </a:prstGeom>
          <a:noFill/>
          <a:ln>
            <a:noFill/>
          </a:ln>
        </p:spPr>
        <p:txBody>
          <a:bodyPr wrap="none" lIns="0" tIns="0" rIns="0" bIns="0" anchor="t" anchorCtr="0">
            <a:spAutoFit/>
          </a:bodyPr>
          <a:lstStyle/>
          <a:p>
            <a:pPr algn="l"/>
            <a:r>
              <a:rPr lang="zh-CN" sz="1125" dirty="0">
                <a:solidFill>
                  <a:srgbClr val="17332D"/>
                </a:solidFill>
                <a:latin typeface="Arial"/>
                <a:ea typeface="Microsoft YaHei"/>
                <a:cs typeface="Arial"/>
              </a:rPr>
              <a:t>The scale at which surveys happen</a:t>
            </a:r>
          </a:p>
        </p:txBody>
      </p:sp>
      <p:sp>
        <p:nvSpPr>
          <p:cNvPr id="50" name="TextBox 50"/>
          <p:cNvSpPr txBox="1"/>
          <p:nvPr/>
        </p:nvSpPr>
        <p:spPr>
          <a:xfrm>
            <a:off x="6653212" y="4726781"/>
            <a:ext cx="3511867" cy="228600"/>
          </a:xfrm>
          <a:prstGeom prst="rect">
            <a:avLst/>
          </a:prstGeom>
          <a:noFill/>
          <a:ln>
            <a:noFill/>
          </a:ln>
        </p:spPr>
        <p:txBody>
          <a:bodyPr wrap="none" lIns="0" tIns="0" rIns="0" bIns="0" anchor="t" anchorCtr="0">
            <a:spAutoFit/>
          </a:bodyPr>
          <a:lstStyle/>
          <a:p>
            <a:pPr algn="l"/>
            <a:r>
              <a:rPr lang="zh-CN" sz="1125" dirty="0">
                <a:solidFill>
                  <a:srgbClr val="5F6670"/>
                </a:solidFill>
                <a:latin typeface="Arial"/>
                <a:ea typeface="Microsoft YaHei"/>
                <a:cs typeface="Arial"/>
              </a:rPr>
              <a:t>Bird races, survey campaigns, new reserves</a:t>
            </a:r>
          </a:p>
        </p:txBody>
      </p:sp>
      <p:sp>
        <p:nvSpPr>
          <p:cNvPr id="51" name="TextBox 51"/>
          <p:cNvSpPr txBox="1"/>
          <p:nvPr/>
        </p:nvSpPr>
        <p:spPr>
          <a:xfrm>
            <a:off x="6653212" y="4964906"/>
            <a:ext cx="2762631" cy="228600"/>
          </a:xfrm>
          <a:prstGeom prst="rect">
            <a:avLst/>
          </a:prstGeom>
          <a:noFill/>
          <a:ln>
            <a:noFill/>
          </a:ln>
        </p:spPr>
        <p:txBody>
          <a:bodyPr wrap="none" lIns="0" tIns="0" rIns="0" bIns="0" anchor="t" anchorCtr="0">
            <a:spAutoFit/>
          </a:bodyPr>
          <a:lstStyle/>
          <a:p>
            <a:pPr algn="l"/>
            <a:r>
              <a:rPr lang="zh-CN" sz="1125" dirty="0">
                <a:solidFill>
                  <a:srgbClr val="5F6670"/>
                </a:solidFill>
                <a:latin typeface="Arial"/>
                <a:ea typeface="Microsoft YaHei"/>
                <a:cs typeface="Arial"/>
              </a:rPr>
              <a:t>The observation process, modelled</a:t>
            </a:r>
          </a:p>
        </p:txBody>
      </p:sp>
      <p:sp>
        <p:nvSpPr>
          <p:cNvPr id="52" name="Rectangle 52"/>
          <p:cNvSpPr/>
          <p:nvPr/>
        </p:nvSpPr>
        <p:spPr>
          <a:xfrm>
            <a:off x="914400" y="5638800"/>
            <a:ext cx="10896600" cy="571500"/>
          </a:xfrm>
          <a:prstGeom prst="roundRect">
            <a:avLst>
              <a:gd name="adj" fmla="val 10000"/>
            </a:avLst>
          </a:prstGeom>
          <a:solidFill>
            <a:srgbClr val="FFFFFF"/>
          </a:solidFill>
          <a:ln w="9525">
            <a:solidFill>
              <a:srgbClr val="D6D3CD"/>
            </a:solidFill>
          </a:ln>
        </p:spPr>
      </p:sp>
      <p:sp>
        <p:nvSpPr>
          <p:cNvPr id="53" name="Rectangle 53"/>
          <p:cNvSpPr/>
          <p:nvPr/>
        </p:nvSpPr>
        <p:spPr>
          <a:xfrm>
            <a:off x="914400" y="5638800"/>
            <a:ext cx="57150" cy="571500"/>
          </a:xfrm>
          <a:prstGeom prst="rect">
            <a:avLst/>
          </a:prstGeom>
          <a:solidFill>
            <a:srgbClr val="B45309"/>
          </a:solidFill>
          <a:ln>
            <a:noFill/>
          </a:ln>
        </p:spPr>
      </p:sp>
      <p:sp>
        <p:nvSpPr>
          <p:cNvPr id="54" name="TextBox 54"/>
          <p:cNvSpPr txBox="1"/>
          <p:nvPr/>
        </p:nvSpPr>
        <p:spPr>
          <a:xfrm>
            <a:off x="1165860" y="5852160"/>
            <a:ext cx="8499043" cy="243840"/>
          </a:xfrm>
          <a:prstGeom prst="rect">
            <a:avLst/>
          </a:prstGeom>
          <a:noFill/>
          <a:ln>
            <a:noFill/>
          </a:ln>
        </p:spPr>
        <p:txBody>
          <a:bodyPr wrap="none" lIns="0" tIns="0" rIns="0" bIns="0" anchor="t" anchorCtr="0">
            <a:spAutoFit/>
          </a:bodyPr>
          <a:lstStyle/>
          <a:p>
            <a:pPr algn="l"/>
            <a:r>
              <a:rPr lang="zh-CN" sz="1200" dirty="0">
                <a:solidFill>
                  <a:srgbClr val="17332D"/>
                </a:solidFill>
                <a:latin typeface="Arial"/>
                <a:ea typeface="Microsoft YaHei"/>
                <a:cs typeface="Arial"/>
              </a:rPr>
              <a:t>Hazard ratio (HR): how many times one SD of a driver multiplies the yearly chance of a first record</a:t>
            </a: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BFAF7"/>
          </a:solidFill>
          <a:ln>
            <a:noFill/>
          </a:ln>
        </p:spPr>
      </p:sp>
      <p:sp>
        <p:nvSpPr>
          <p:cNvPr id="3" name="Rectangle 3"/>
          <p:cNvSpPr/>
          <p:nvPr/>
        </p:nvSpPr>
        <p:spPr>
          <a:xfrm>
            <a:off x="0" y="0"/>
            <a:ext cx="609600" cy="6858000"/>
          </a:xfrm>
          <a:prstGeom prst="rect">
            <a:avLst/>
          </a:prstGeom>
          <a:solidFill>
            <a:srgbClr val="1F4E45"/>
          </a:solidFill>
          <a:ln>
            <a:noFill/>
          </a:ln>
        </p:spPr>
      </p:sp>
      <p:sp>
        <p:nvSpPr>
          <p:cNvPr id="4" name="Ellipse 4"/>
          <p:cNvSpPr/>
          <p:nvPr/>
        </p:nvSpPr>
        <p:spPr>
          <a:xfrm>
            <a:off x="272415" y="1091565"/>
            <a:ext cx="64770" cy="64770"/>
          </a:xfrm>
          <a:prstGeom prst="ellipse">
            <a:avLst/>
          </a:prstGeom>
          <a:solidFill>
            <a:srgbClr val="FFFFFF">
              <a:alpha val="42000"/>
            </a:srgbClr>
          </a:solidFill>
          <a:ln>
            <a:noFill/>
          </a:ln>
        </p:spPr>
      </p:sp>
      <p:sp>
        <p:nvSpPr>
          <p:cNvPr id="5" name="TextBox 5"/>
          <p:cNvSpPr txBox="1"/>
          <p:nvPr/>
        </p:nvSpPr>
        <p:spPr>
          <a:xfrm>
            <a:off x="17336" y="1245870"/>
            <a:ext cx="574929" cy="182880"/>
          </a:xfrm>
          <a:prstGeom prst="rect">
            <a:avLst/>
          </a:prstGeom>
          <a:noFill/>
          <a:ln>
            <a:noFill/>
          </a:ln>
        </p:spPr>
        <p:txBody>
          <a:bodyPr wrap="none" lIns="0" tIns="0" rIns="0" bIns="0" anchor="t" anchorCtr="0">
            <a:spAutoFit/>
          </a:bodyPr>
          <a:lstStyle/>
          <a:p>
            <a:pPr algn="ctr"/>
            <a:r>
              <a:rPr lang="zh-CN" sz="900" dirty="0">
                <a:solidFill>
                  <a:srgbClr val="FFFFFF">
                    <a:alphaMod val="60000"/>
                  </a:srgbClr>
                </a:solidFill>
                <a:latin typeface="Arial"/>
                <a:ea typeface="Microsoft YaHei"/>
                <a:cs typeface="Arial"/>
              </a:rPr>
              <a:t>Question</a:t>
            </a:r>
          </a:p>
        </p:txBody>
      </p:sp>
      <p:sp>
        <p:nvSpPr>
          <p:cNvPr id="6" name="Ellipse 6"/>
          <p:cNvSpPr/>
          <p:nvPr/>
        </p:nvSpPr>
        <p:spPr>
          <a:xfrm>
            <a:off x="272415" y="1948815"/>
            <a:ext cx="64770" cy="64770"/>
          </a:xfrm>
          <a:prstGeom prst="ellipse">
            <a:avLst/>
          </a:prstGeom>
          <a:solidFill>
            <a:srgbClr val="FFFFFF">
              <a:alpha val="42000"/>
            </a:srgbClr>
          </a:solidFill>
          <a:ln>
            <a:noFill/>
          </a:ln>
        </p:spPr>
      </p:sp>
      <p:sp>
        <p:nvSpPr>
          <p:cNvPr id="7" name="TextBox 7"/>
          <p:cNvSpPr txBox="1"/>
          <p:nvPr/>
        </p:nvSpPr>
        <p:spPr>
          <a:xfrm>
            <a:off x="146152" y="2103120"/>
            <a:ext cx="317297" cy="182880"/>
          </a:xfrm>
          <a:prstGeom prst="rect">
            <a:avLst/>
          </a:prstGeom>
          <a:noFill/>
          <a:ln>
            <a:noFill/>
          </a:ln>
        </p:spPr>
        <p:txBody>
          <a:bodyPr wrap="none" lIns="0" tIns="0" rIns="0" bIns="0" anchor="t" anchorCtr="0">
            <a:spAutoFit/>
          </a:bodyPr>
          <a:lstStyle/>
          <a:p>
            <a:pPr algn="ctr"/>
            <a:r>
              <a:rPr lang="zh-CN" sz="900" dirty="0">
                <a:solidFill>
                  <a:srgbClr val="FFFFFF">
                    <a:alphaMod val="60000"/>
                  </a:srgbClr>
                </a:solidFill>
                <a:latin typeface="Arial"/>
                <a:ea typeface="Microsoft YaHei"/>
                <a:cs typeface="Arial"/>
              </a:rPr>
              <a:t>Data</a:t>
            </a:r>
          </a:p>
        </p:txBody>
      </p:sp>
      <p:sp>
        <p:nvSpPr>
          <p:cNvPr id="8" name="Ellipse 8"/>
          <p:cNvSpPr/>
          <p:nvPr/>
        </p:nvSpPr>
        <p:spPr>
          <a:xfrm>
            <a:off x="257175" y="2790825"/>
            <a:ext cx="95250" cy="95250"/>
          </a:xfrm>
          <a:prstGeom prst="ellipse">
            <a:avLst/>
          </a:prstGeom>
          <a:solidFill>
            <a:srgbClr val="FFFFFF"/>
          </a:solidFill>
          <a:ln>
            <a:noFill/>
          </a:ln>
        </p:spPr>
      </p:sp>
      <p:sp>
        <p:nvSpPr>
          <p:cNvPr id="9" name="TextBox 9"/>
          <p:cNvSpPr txBox="1"/>
          <p:nvPr/>
        </p:nvSpPr>
        <p:spPr>
          <a:xfrm>
            <a:off x="35738" y="2960370"/>
            <a:ext cx="538124" cy="182880"/>
          </a:xfrm>
          <a:prstGeom prst="rect">
            <a:avLst/>
          </a:prstGeom>
          <a:noFill/>
          <a:ln>
            <a:noFill/>
          </a:ln>
        </p:spPr>
        <p:txBody>
          <a:bodyPr wrap="none" lIns="0" tIns="0" rIns="0" bIns="0" anchor="t" anchorCtr="0">
            <a:spAutoFit/>
          </a:bodyPr>
          <a:lstStyle/>
          <a:p>
            <a:pPr algn="ctr"/>
            <a:r>
              <a:rPr lang="zh-CN" sz="900" dirty="0">
                <a:solidFill>
                  <a:srgbClr val="FFFFFF"/>
                </a:solidFill>
                <a:latin typeface="Arial"/>
                <a:ea typeface="Microsoft YaHei"/>
                <a:cs typeface="Arial"/>
              </a:rPr>
              <a:t>Findings</a:t>
            </a:r>
          </a:p>
        </p:txBody>
      </p:sp>
      <p:sp>
        <p:nvSpPr>
          <p:cNvPr id="10" name="Ellipse 10"/>
          <p:cNvSpPr/>
          <p:nvPr/>
        </p:nvSpPr>
        <p:spPr>
          <a:xfrm>
            <a:off x="272415" y="3663315"/>
            <a:ext cx="64770" cy="64770"/>
          </a:xfrm>
          <a:prstGeom prst="ellipse">
            <a:avLst/>
          </a:prstGeom>
          <a:solidFill>
            <a:srgbClr val="FFFFFF">
              <a:alpha val="42000"/>
            </a:srgbClr>
          </a:solidFill>
          <a:ln>
            <a:noFill/>
          </a:ln>
        </p:spPr>
      </p:sp>
      <p:sp>
        <p:nvSpPr>
          <p:cNvPr id="11" name="TextBox 11"/>
          <p:cNvSpPr txBox="1"/>
          <p:nvPr/>
        </p:nvSpPr>
        <p:spPr>
          <a:xfrm>
            <a:off x="72542" y="3817620"/>
            <a:ext cx="464515" cy="182880"/>
          </a:xfrm>
          <a:prstGeom prst="rect">
            <a:avLst/>
          </a:prstGeom>
          <a:noFill/>
          <a:ln>
            <a:noFill/>
          </a:ln>
        </p:spPr>
        <p:txBody>
          <a:bodyPr wrap="none" lIns="0" tIns="0" rIns="0" bIns="0" anchor="t" anchorCtr="0">
            <a:spAutoFit/>
          </a:bodyPr>
          <a:lstStyle/>
          <a:p>
            <a:pPr algn="ctr"/>
            <a:r>
              <a:rPr lang="zh-CN" sz="900" dirty="0">
                <a:solidFill>
                  <a:srgbClr val="FFFFFF">
                    <a:alphaMod val="60000"/>
                  </a:srgbClr>
                </a:solidFill>
                <a:latin typeface="Arial"/>
                <a:ea typeface="Microsoft YaHei"/>
                <a:cs typeface="Arial"/>
              </a:rPr>
              <a:t>Robust</a:t>
            </a:r>
          </a:p>
        </p:txBody>
      </p:sp>
      <p:sp>
        <p:nvSpPr>
          <p:cNvPr id="12" name="Ellipse 12"/>
          <p:cNvSpPr/>
          <p:nvPr/>
        </p:nvSpPr>
        <p:spPr>
          <a:xfrm>
            <a:off x="272415" y="4520565"/>
            <a:ext cx="64770" cy="64770"/>
          </a:xfrm>
          <a:prstGeom prst="ellipse">
            <a:avLst/>
          </a:prstGeom>
          <a:solidFill>
            <a:srgbClr val="FFFFFF">
              <a:alpha val="42000"/>
            </a:srgbClr>
          </a:solidFill>
          <a:ln>
            <a:noFill/>
          </a:ln>
        </p:spPr>
      </p:sp>
      <p:sp>
        <p:nvSpPr>
          <p:cNvPr id="13" name="TextBox 13"/>
          <p:cNvSpPr txBox="1"/>
          <p:nvPr/>
        </p:nvSpPr>
        <p:spPr>
          <a:xfrm>
            <a:off x="146152" y="4674870"/>
            <a:ext cx="317297" cy="182880"/>
          </a:xfrm>
          <a:prstGeom prst="rect">
            <a:avLst/>
          </a:prstGeom>
          <a:noFill/>
          <a:ln>
            <a:noFill/>
          </a:ln>
        </p:spPr>
        <p:txBody>
          <a:bodyPr wrap="none" lIns="0" tIns="0" rIns="0" bIns="0" anchor="t" anchorCtr="0">
            <a:spAutoFit/>
          </a:bodyPr>
          <a:lstStyle/>
          <a:p>
            <a:pPr algn="ctr"/>
            <a:r>
              <a:rPr lang="zh-CN" sz="900" dirty="0">
                <a:solidFill>
                  <a:srgbClr val="FFFFFF">
                    <a:alphaMod val="60000"/>
                  </a:srgbClr>
                </a:solidFill>
                <a:latin typeface="Arial"/>
                <a:ea typeface="Microsoft YaHei"/>
                <a:cs typeface="Arial"/>
              </a:rPr>
              <a:t>Uses</a:t>
            </a:r>
          </a:p>
        </p:txBody>
      </p:sp>
      <p:sp>
        <p:nvSpPr>
          <p:cNvPr id="14" name="Ellipse 14"/>
          <p:cNvSpPr/>
          <p:nvPr/>
        </p:nvSpPr>
        <p:spPr>
          <a:xfrm>
            <a:off x="272415" y="5377815"/>
            <a:ext cx="64770" cy="64770"/>
          </a:xfrm>
          <a:prstGeom prst="ellipse">
            <a:avLst/>
          </a:prstGeom>
          <a:solidFill>
            <a:srgbClr val="FFFFFF">
              <a:alpha val="42000"/>
            </a:srgbClr>
          </a:solidFill>
          <a:ln>
            <a:noFill/>
          </a:ln>
        </p:spPr>
      </p:sp>
      <p:sp>
        <p:nvSpPr>
          <p:cNvPr id="15" name="TextBox 15"/>
          <p:cNvSpPr txBox="1"/>
          <p:nvPr/>
        </p:nvSpPr>
        <p:spPr>
          <a:xfrm>
            <a:off x="16678" y="5532120"/>
            <a:ext cx="576243" cy="182880"/>
          </a:xfrm>
          <a:prstGeom prst="rect">
            <a:avLst/>
          </a:prstGeom>
          <a:noFill/>
          <a:ln>
            <a:noFill/>
          </a:ln>
        </p:spPr>
        <p:txBody>
          <a:bodyPr wrap="none" lIns="0" tIns="0" rIns="0" bIns="0" anchor="t" anchorCtr="0">
            <a:spAutoFit/>
          </a:bodyPr>
          <a:lstStyle/>
          <a:p>
            <a:pPr algn="ctr"/>
            <a:r>
              <a:rPr lang="zh-CN" sz="900" dirty="0">
                <a:solidFill>
                  <a:srgbClr val="FFFFFF">
                    <a:alphaMod val="60000"/>
                  </a:srgbClr>
                </a:solidFill>
                <a:latin typeface="Arial"/>
                <a:ea typeface="Microsoft YaHei"/>
                <a:cs typeface="Arial"/>
              </a:rPr>
              <a:t>Wrap-up</a:t>
            </a:r>
          </a:p>
        </p:txBody>
      </p:sp>
      <p:sp>
        <p:nvSpPr>
          <p:cNvPr id="16" name="Rectangle 16"/>
          <p:cNvSpPr/>
          <p:nvPr/>
        </p:nvSpPr>
        <p:spPr>
          <a:xfrm>
            <a:off x="914400" y="304800"/>
            <a:ext cx="419100" cy="47625"/>
          </a:xfrm>
          <a:prstGeom prst="rect">
            <a:avLst/>
          </a:prstGeom>
          <a:solidFill>
            <a:srgbClr val="B45309"/>
          </a:solidFill>
          <a:ln>
            <a:noFill/>
          </a:ln>
        </p:spPr>
      </p:sp>
      <p:sp>
        <p:nvSpPr>
          <p:cNvPr id="17" name="TextBox 17"/>
          <p:cNvSpPr txBox="1"/>
          <p:nvPr/>
        </p:nvSpPr>
        <p:spPr>
          <a:xfrm>
            <a:off x="889635" y="456248"/>
            <a:ext cx="8656281" cy="396240"/>
          </a:xfrm>
          <a:prstGeom prst="rect">
            <a:avLst/>
          </a:prstGeom>
          <a:noFill/>
          <a:ln>
            <a:noFill/>
          </a:ln>
        </p:spPr>
        <p:txBody>
          <a:bodyPr wrap="none" lIns="0" tIns="0" rIns="0" bIns="0" anchor="t" anchorCtr="0">
            <a:spAutoFit/>
          </a:bodyPr>
          <a:lstStyle/>
          <a:p>
            <a:pPr algn="l"/>
            <a:r>
              <a:rPr lang="zh-CN" sz="1950" b="1" dirty="0">
                <a:solidFill>
                  <a:srgbClr val="17332D"/>
                </a:solidFill>
                <a:latin typeface="Arial"/>
                <a:ea typeface="Microsoft YaHei"/>
                <a:cs typeface="Arial"/>
              </a:rPr>
              <a:t>Finding 1 · Change the dating, and the conclusion changes</a:t>
            </a:r>
          </a:p>
        </p:txBody>
      </p:sp>
      <p:sp>
        <p:nvSpPr>
          <p:cNvPr id="18" name="TextBox 18"/>
          <p:cNvSpPr txBox="1"/>
          <p:nvPr/>
        </p:nvSpPr>
        <p:spPr>
          <a:xfrm>
            <a:off x="10619194" y="283845"/>
            <a:ext cx="1203236" cy="182880"/>
          </a:xfrm>
          <a:prstGeom prst="rect">
            <a:avLst/>
          </a:prstGeom>
          <a:noFill/>
          <a:ln>
            <a:noFill/>
          </a:ln>
        </p:spPr>
        <p:txBody>
          <a:bodyPr wrap="none" lIns="0" tIns="0" rIns="0" bIns="0" anchor="t" anchorCtr="0">
            <a:spAutoFit/>
          </a:bodyPr>
          <a:lstStyle/>
          <a:p>
            <a:pPr algn="r"/>
            <a:r>
              <a:rPr lang="zh-CN" sz="900" dirty="0">
                <a:solidFill>
                  <a:srgbClr val="8A919B"/>
                </a:solidFill>
                <a:latin typeface="Arial"/>
                <a:ea typeface="Microsoft YaHei"/>
                <a:cs typeface="Arial"/>
              </a:rPr>
              <a:t>Figure 2 · Table 1</a:t>
            </a:r>
          </a:p>
        </p:txBody>
      </p:sp>
      <p:sp>
        <p:nvSpPr>
          <p:cNvPr id="19" name="Line 19"/>
          <p:cNvSpPr/>
          <p:nvPr/>
        </p:nvSpPr>
        <p:spPr>
          <a:xfrm>
            <a:off x="914400" y="6515100"/>
            <a:ext cx="10896600" cy="9525"/>
          </a:xfrm>
          <a:custGeom>
            <a:avLst/>
            <a:gdLst/>
            <a:ahLst/>
            <a:cxnLst/>
            <a:rect l="l" t="t" r="r" b="b"/>
            <a:pathLst>
              <a:path w="10896600" h="9525">
                <a:moveTo>
                  <a:pt x="0" y="0"/>
                </a:moveTo>
                <a:lnTo>
                  <a:pt x="10896600" y="0"/>
                </a:lnTo>
              </a:path>
            </a:pathLst>
          </a:custGeom>
          <a:noFill/>
          <a:ln w="9525">
            <a:solidFill>
              <a:srgbClr val="D6D3CD"/>
            </a:solidFill>
          </a:ln>
        </p:spPr>
      </p:sp>
      <p:sp>
        <p:nvSpPr>
          <p:cNvPr id="20" name="TextBox 20"/>
          <p:cNvSpPr txBox="1"/>
          <p:nvPr/>
        </p:nvSpPr>
        <p:spPr>
          <a:xfrm>
            <a:off x="902970" y="6617970"/>
            <a:ext cx="2609698" cy="182880"/>
          </a:xfrm>
          <a:prstGeom prst="rect">
            <a:avLst/>
          </a:prstGeom>
          <a:noFill/>
          <a:ln>
            <a:noFill/>
          </a:ln>
        </p:spPr>
        <p:txBody>
          <a:bodyPr wrap="none" lIns="0" tIns="0" rIns="0" bIns="0" anchor="t" anchorCtr="0">
            <a:spAutoFit/>
          </a:bodyPr>
          <a:lstStyle/>
          <a:p>
            <a:pPr algn="l"/>
            <a:r>
              <a:rPr lang="zh-CN" sz="900" dirty="0">
                <a:solidFill>
                  <a:srgbClr val="8A919B"/>
                </a:solidFill>
                <a:latin typeface="Arial"/>
                <a:ea typeface="Microsoft YaHei"/>
                <a:cs typeface="Arial"/>
              </a:rPr>
              <a:t>Birds or birders? · AOC 2026, Singapore</a:t>
            </a:r>
          </a:p>
        </p:txBody>
      </p:sp>
      <p:sp>
        <p:nvSpPr>
          <p:cNvPr id="21" name="TextBox 21"/>
          <p:cNvSpPr txBox="1"/>
          <p:nvPr/>
        </p:nvSpPr>
        <p:spPr>
          <a:xfrm>
            <a:off x="11352657" y="6617970"/>
            <a:ext cx="469773" cy="182880"/>
          </a:xfrm>
          <a:prstGeom prst="rect">
            <a:avLst/>
          </a:prstGeom>
          <a:noFill/>
          <a:ln>
            <a:noFill/>
          </a:ln>
        </p:spPr>
        <p:txBody>
          <a:bodyPr wrap="none" lIns="0" tIns="0" rIns="0" bIns="0" anchor="t" anchorCtr="0">
            <a:spAutoFit/>
          </a:bodyPr>
          <a:lstStyle/>
          <a:p>
            <a:pPr algn="r"/>
            <a:r>
              <a:rPr lang="zh-CN" sz="900" dirty="0">
                <a:solidFill>
                  <a:srgbClr val="5F6670"/>
                </a:solidFill>
                <a:latin typeface="Arial"/>
                <a:ea typeface="Microsoft YaHei"/>
                <a:cs typeface="Arial"/>
              </a:rPr>
              <a:t>05 / 20</a:t>
            </a:r>
          </a:p>
        </p:txBody>
      </p:sp>
      <p:sp>
        <p:nvSpPr>
          <p:cNvPr id="22" name="Rectangle 22"/>
          <p:cNvSpPr/>
          <p:nvPr/>
        </p:nvSpPr>
        <p:spPr>
          <a:xfrm>
            <a:off x="838200" y="876300"/>
            <a:ext cx="6819900" cy="4877752"/>
          </a:xfrm>
          <a:prstGeom prst="roundRect">
            <a:avLst>
              <a:gd name="adj" fmla="val 1172"/>
            </a:avLst>
          </a:prstGeom>
          <a:solidFill>
            <a:srgbClr val="FFFFFF"/>
          </a:solidFill>
          <a:ln w="9525">
            <a:solidFill>
              <a:srgbClr val="D6D3CD"/>
            </a:solidFill>
          </a:ln>
        </p:spPr>
      </p:sp>
      <p:pic>
        <p:nvPicPr>
          <p:cNvPr id="23" name="Image 23"/>
          <p:cNvPicPr>
            <a:picLocks noChangeAspect="1"/>
          </p:cNvPicPr>
          <p:nvPr/>
        </p:nvPicPr>
        <p:blipFill>
          <a:blip r:embed="rId2"/>
          <a:stretch>
            <a:fillRect/>
          </a:stretch>
        </p:blipFill>
        <p:spPr>
          <a:xfrm>
            <a:off x="914400" y="952500"/>
            <a:ext cx="6667500" cy="4725352"/>
          </a:xfrm>
          <a:prstGeom prst="rect">
            <a:avLst/>
          </a:prstGeom>
        </p:spPr>
      </p:pic>
      <p:sp>
        <p:nvSpPr>
          <p:cNvPr id="24" name="Rectangle 24"/>
          <p:cNvSpPr/>
          <p:nvPr/>
        </p:nvSpPr>
        <p:spPr>
          <a:xfrm>
            <a:off x="7924800" y="876300"/>
            <a:ext cx="3886200" cy="1606868"/>
          </a:xfrm>
          <a:prstGeom prst="roundRect">
            <a:avLst>
              <a:gd name="adj" fmla="val 3557"/>
            </a:avLst>
          </a:prstGeom>
          <a:solidFill>
            <a:srgbClr val="FFFFFF"/>
          </a:solidFill>
          <a:ln w="9525">
            <a:solidFill>
              <a:srgbClr val="D6D3CD"/>
            </a:solidFill>
          </a:ln>
        </p:spPr>
      </p:sp>
      <p:sp>
        <p:nvSpPr>
          <p:cNvPr id="25" name="Rectangle 25"/>
          <p:cNvSpPr/>
          <p:nvPr/>
        </p:nvSpPr>
        <p:spPr>
          <a:xfrm>
            <a:off x="7924800" y="876300"/>
            <a:ext cx="3886200" cy="38100"/>
          </a:xfrm>
          <a:prstGeom prst="rect">
            <a:avLst/>
          </a:prstGeom>
          <a:solidFill>
            <a:srgbClr val="B45309"/>
          </a:solidFill>
          <a:ln>
            <a:noFill/>
          </a:ln>
        </p:spPr>
      </p:sp>
      <p:sp>
        <p:nvSpPr>
          <p:cNvPr id="26" name="TextBox 26"/>
          <p:cNvSpPr txBox="1"/>
          <p:nvPr/>
        </p:nvSpPr>
        <p:spPr>
          <a:xfrm>
            <a:off x="8099108" y="1052989"/>
            <a:ext cx="3356375" cy="259080"/>
          </a:xfrm>
          <a:prstGeom prst="rect">
            <a:avLst/>
          </a:prstGeom>
          <a:noFill/>
          <a:ln>
            <a:noFill/>
          </a:ln>
        </p:spPr>
        <p:txBody>
          <a:bodyPr wrap="none" lIns="0" tIns="0" rIns="0" bIns="0" anchor="t" anchorCtr="0">
            <a:spAutoFit/>
          </a:bodyPr>
          <a:lstStyle/>
          <a:p>
            <a:pPr algn="l"/>
            <a:r>
              <a:rPr lang="zh-CN" sz="1275" b="1" dirty="0">
                <a:solidFill>
                  <a:srgbClr val="B45309"/>
                </a:solidFill>
                <a:latin typeface="Arial"/>
                <a:ea typeface="Microsoft YaHei"/>
                <a:cs typeface="Arial"/>
              </a:rPr>
              <a:t>Publication year → discovery year</a:t>
            </a:r>
          </a:p>
        </p:txBody>
      </p:sp>
      <p:sp>
        <p:nvSpPr>
          <p:cNvPr id="27" name="TextBox 27"/>
          <p:cNvSpPr txBox="1"/>
          <p:nvPr/>
        </p:nvSpPr>
        <p:spPr>
          <a:xfrm>
            <a:off x="8101012" y="1345406"/>
            <a:ext cx="3263765" cy="228600"/>
          </a:xfrm>
          <a:prstGeom prst="rect">
            <a:avLst/>
          </a:prstGeom>
          <a:noFill/>
          <a:ln>
            <a:noFill/>
          </a:ln>
        </p:spPr>
        <p:txBody>
          <a:bodyPr wrap="none" lIns="0" tIns="0" rIns="0" bIns="0" anchor="t" anchorCtr="0">
            <a:spAutoFit/>
          </a:bodyPr>
          <a:lstStyle/>
          <a:p>
            <a:pPr algn="l"/>
            <a:r>
              <a:rPr lang="zh-CN" sz="1125" dirty="0">
                <a:solidFill>
                  <a:srgbClr val="17332D"/>
                </a:solidFill>
                <a:latin typeface="Arial"/>
                <a:ea typeface="Microsoft YaHei"/>
                <a:cs typeface="Arial"/>
              </a:rPr>
              <a:t>Effort HR 1.79 → 1.31 (inflated by 37%)</a:t>
            </a:r>
          </a:p>
        </p:txBody>
      </p:sp>
      <p:sp>
        <p:nvSpPr>
          <p:cNvPr id="28" name="TextBox 28"/>
          <p:cNvSpPr txBox="1"/>
          <p:nvPr/>
        </p:nvSpPr>
        <p:spPr>
          <a:xfrm>
            <a:off x="8101012" y="1583531"/>
            <a:ext cx="3022235" cy="228600"/>
          </a:xfrm>
          <a:prstGeom prst="rect">
            <a:avLst/>
          </a:prstGeom>
          <a:noFill/>
          <a:ln>
            <a:noFill/>
          </a:ln>
        </p:spPr>
        <p:txBody>
          <a:bodyPr wrap="none" lIns="0" tIns="0" rIns="0" bIns="0" anchor="t" anchorCtr="0">
            <a:spAutoFit/>
          </a:bodyPr>
          <a:lstStyle/>
          <a:p>
            <a:pPr algn="l"/>
            <a:r>
              <a:rPr lang="zh-CN" sz="1125" dirty="0">
                <a:solidFill>
                  <a:srgbClr val="17332D"/>
                </a:solidFill>
                <a:latin typeface="Arial"/>
                <a:ea typeface="Microsoft YaHei"/>
                <a:cs typeface="Arial"/>
              </a:rPr>
              <a:t>Climate variability 0.85 → 0.97 (gone)</a:t>
            </a:r>
          </a:p>
        </p:txBody>
      </p:sp>
      <p:sp>
        <p:nvSpPr>
          <p:cNvPr id="29" name="TextBox 29"/>
          <p:cNvSpPr txBox="1"/>
          <p:nvPr/>
        </p:nvSpPr>
        <p:spPr>
          <a:xfrm>
            <a:off x="8101012" y="1821656"/>
            <a:ext cx="3344275" cy="228600"/>
          </a:xfrm>
          <a:prstGeom prst="rect">
            <a:avLst/>
          </a:prstGeom>
          <a:noFill/>
          <a:ln>
            <a:noFill/>
          </a:ln>
        </p:spPr>
        <p:txBody>
          <a:bodyPr wrap="none" lIns="0" tIns="0" rIns="0" bIns="0" anchor="t" anchorCtr="0">
            <a:spAutoFit/>
          </a:bodyPr>
          <a:lstStyle/>
          <a:p>
            <a:pPr algn="l"/>
            <a:r>
              <a:rPr lang="zh-CN" sz="1125" dirty="0">
                <a:solidFill>
                  <a:srgbClr val="009E73"/>
                </a:solidFill>
                <a:latin typeface="Arial"/>
                <a:ea typeface="Microsoft YaHei"/>
                <a:cs typeface="Arial"/>
              </a:rPr>
              <a:t>Accumulated warming 1.39 → 1.44 (stable)</a:t>
            </a:r>
          </a:p>
        </p:txBody>
      </p:sp>
      <p:sp>
        <p:nvSpPr>
          <p:cNvPr id="30" name="TextBox 30"/>
          <p:cNvSpPr txBox="1"/>
          <p:nvPr/>
        </p:nvSpPr>
        <p:spPr>
          <a:xfrm>
            <a:off x="8101012" y="2059781"/>
            <a:ext cx="2991017" cy="228600"/>
          </a:xfrm>
          <a:prstGeom prst="rect">
            <a:avLst/>
          </a:prstGeom>
          <a:noFill/>
          <a:ln>
            <a:noFill/>
          </a:ln>
        </p:spPr>
        <p:txBody>
          <a:bodyPr wrap="none" lIns="0" tIns="0" rIns="0" bIns="0" anchor="t" anchorCtr="0">
            <a:spAutoFit/>
          </a:bodyPr>
          <a:lstStyle/>
          <a:p>
            <a:pPr algn="l"/>
            <a:r>
              <a:rPr lang="zh-CN" sz="1125" dirty="0">
                <a:solidFill>
                  <a:srgbClr val="5F6670"/>
                </a:solidFill>
                <a:latin typeface="Arial"/>
                <a:ea typeface="Microsoft YaHei"/>
                <a:cs typeface="Arial"/>
              </a:rPr>
              <a:t>The 0.85 had P = 0.00018 — a phantom</a:t>
            </a:r>
          </a:p>
        </p:txBody>
      </p:sp>
      <p:sp>
        <p:nvSpPr>
          <p:cNvPr id="31" name="Rectangle 31"/>
          <p:cNvSpPr/>
          <p:nvPr/>
        </p:nvSpPr>
        <p:spPr>
          <a:xfrm>
            <a:off x="7924800" y="2864168"/>
            <a:ext cx="3886200" cy="1368742"/>
          </a:xfrm>
          <a:prstGeom prst="roundRect">
            <a:avLst>
              <a:gd name="adj" fmla="val 4175"/>
            </a:avLst>
          </a:prstGeom>
          <a:solidFill>
            <a:srgbClr val="FFFFFF"/>
          </a:solidFill>
          <a:ln w="9525">
            <a:solidFill>
              <a:srgbClr val="D6D3CD"/>
            </a:solidFill>
          </a:ln>
        </p:spPr>
      </p:sp>
      <p:sp>
        <p:nvSpPr>
          <p:cNvPr id="32" name="Rectangle 32"/>
          <p:cNvSpPr/>
          <p:nvPr/>
        </p:nvSpPr>
        <p:spPr>
          <a:xfrm>
            <a:off x="7924800" y="2864168"/>
            <a:ext cx="3886200" cy="38100"/>
          </a:xfrm>
          <a:prstGeom prst="rect">
            <a:avLst/>
          </a:prstGeom>
          <a:solidFill>
            <a:srgbClr val="1F4E45"/>
          </a:solidFill>
          <a:ln>
            <a:noFill/>
          </a:ln>
        </p:spPr>
      </p:sp>
      <p:sp>
        <p:nvSpPr>
          <p:cNvPr id="33" name="TextBox 33"/>
          <p:cNvSpPr txBox="1"/>
          <p:nvPr/>
        </p:nvSpPr>
        <p:spPr>
          <a:xfrm>
            <a:off x="8099108" y="3040856"/>
            <a:ext cx="1487124" cy="259080"/>
          </a:xfrm>
          <a:prstGeom prst="rect">
            <a:avLst/>
          </a:prstGeom>
          <a:noFill/>
          <a:ln>
            <a:noFill/>
          </a:ln>
        </p:spPr>
        <p:txBody>
          <a:bodyPr wrap="none" lIns="0" tIns="0" rIns="0" bIns="0" anchor="t" anchorCtr="0">
            <a:spAutoFit/>
          </a:bodyPr>
          <a:lstStyle/>
          <a:p>
            <a:pPr algn="l"/>
            <a:r>
              <a:rPr lang="zh-CN" sz="1275" b="1" dirty="0">
                <a:solidFill>
                  <a:srgbClr val="1F4E45"/>
                </a:solidFill>
                <a:latin typeface="Arial"/>
                <a:ea typeface="Microsoft YaHei"/>
                <a:cs typeface="Arial"/>
              </a:rPr>
              <a:t>Why it happens</a:t>
            </a:r>
          </a:p>
        </p:txBody>
      </p:sp>
      <p:sp>
        <p:nvSpPr>
          <p:cNvPr id="34" name="TextBox 34"/>
          <p:cNvSpPr txBox="1"/>
          <p:nvPr/>
        </p:nvSpPr>
        <p:spPr>
          <a:xfrm>
            <a:off x="8101012" y="3333274"/>
            <a:ext cx="3285125" cy="228600"/>
          </a:xfrm>
          <a:prstGeom prst="rect">
            <a:avLst/>
          </a:prstGeom>
          <a:noFill/>
          <a:ln>
            <a:noFill/>
          </a:ln>
        </p:spPr>
        <p:txBody>
          <a:bodyPr wrap="none" lIns="0" tIns="0" rIns="0" bIns="0" anchor="t" anchorCtr="0">
            <a:spAutoFit/>
          </a:bodyPr>
          <a:lstStyle/>
          <a:p>
            <a:pPr algn="l"/>
            <a:r>
              <a:rPr lang="zh-CN" sz="1125" dirty="0">
                <a:solidFill>
                  <a:srgbClr val="17332D"/>
                </a:solidFill>
                <a:latin typeface="Arial"/>
                <a:ea typeface="Microsoft YaHei"/>
                <a:cs typeface="Arial"/>
              </a:rPr>
              <a:t>The lag is right-skewed (mean 2.1 years)</a:t>
            </a:r>
          </a:p>
        </p:txBody>
      </p:sp>
      <p:sp>
        <p:nvSpPr>
          <p:cNvPr id="35" name="TextBox 35"/>
          <p:cNvSpPr txBox="1"/>
          <p:nvPr/>
        </p:nvSpPr>
        <p:spPr>
          <a:xfrm>
            <a:off x="8101012" y="3571399"/>
            <a:ext cx="3097816" cy="228600"/>
          </a:xfrm>
          <a:prstGeom prst="rect">
            <a:avLst/>
          </a:prstGeom>
          <a:noFill/>
          <a:ln>
            <a:noFill/>
          </a:ln>
        </p:spPr>
        <p:txBody>
          <a:bodyPr wrap="none" lIns="0" tIns="0" rIns="0" bIns="0" anchor="t" anchorCtr="0">
            <a:spAutoFit/>
          </a:bodyPr>
          <a:lstStyle/>
          <a:p>
            <a:pPr algn="l"/>
            <a:r>
              <a:rPr lang="zh-CN" sz="1125" dirty="0">
                <a:solidFill>
                  <a:srgbClr val="17332D"/>
                </a:solidFill>
                <a:latin typeface="Arial"/>
                <a:ea typeface="Microsoft YaHei"/>
                <a:cs typeface="Arial"/>
              </a:rPr>
              <a:t>and grew along with birding databases,</a:t>
            </a:r>
          </a:p>
        </p:txBody>
      </p:sp>
      <p:sp>
        <p:nvSpPr>
          <p:cNvPr id="36" name="TextBox 36"/>
          <p:cNvSpPr txBox="1"/>
          <p:nvPr/>
        </p:nvSpPr>
        <p:spPr>
          <a:xfrm>
            <a:off x="8101012" y="3809524"/>
            <a:ext cx="3531584" cy="228600"/>
          </a:xfrm>
          <a:prstGeom prst="rect">
            <a:avLst/>
          </a:prstGeom>
          <a:noFill/>
          <a:ln>
            <a:noFill/>
          </a:ln>
        </p:spPr>
        <p:txBody>
          <a:bodyPr wrap="none" lIns="0" tIns="0" rIns="0" bIns="0" anchor="t" anchorCtr="0">
            <a:spAutoFit/>
          </a:bodyPr>
          <a:lstStyle/>
          <a:p>
            <a:pPr algn="l"/>
            <a:r>
              <a:rPr lang="zh-CN" sz="1125" dirty="0">
                <a:solidFill>
                  <a:srgbClr val="5F6670"/>
                </a:solidFill>
                <a:latin typeface="Arial"/>
                <a:ea typeface="Microsoft YaHei"/>
                <a:cs typeface="Arial"/>
              </a:rPr>
              <a:t>so publication year = a year of more effort</a:t>
            </a:r>
          </a:p>
        </p:txBody>
      </p:sp>
      <p:sp>
        <p:nvSpPr>
          <p:cNvPr id="37" name="Rectangle 37"/>
          <p:cNvSpPr/>
          <p:nvPr/>
        </p:nvSpPr>
        <p:spPr>
          <a:xfrm>
            <a:off x="7924800" y="4613910"/>
            <a:ext cx="3886200" cy="1140142"/>
          </a:xfrm>
          <a:prstGeom prst="roundRect">
            <a:avLst>
              <a:gd name="adj" fmla="val 5013"/>
            </a:avLst>
          </a:prstGeom>
          <a:solidFill>
            <a:srgbClr val="1F4E45"/>
          </a:solidFill>
          <a:ln>
            <a:noFill/>
          </a:ln>
        </p:spPr>
      </p:sp>
      <p:sp>
        <p:nvSpPr>
          <p:cNvPr id="38" name="TextBox 38"/>
          <p:cNvSpPr txBox="1"/>
          <p:nvPr/>
        </p:nvSpPr>
        <p:spPr>
          <a:xfrm>
            <a:off x="9433248" y="4865846"/>
            <a:ext cx="869304" cy="259080"/>
          </a:xfrm>
          <a:prstGeom prst="rect">
            <a:avLst/>
          </a:prstGeom>
          <a:noFill/>
          <a:ln>
            <a:noFill/>
          </a:ln>
        </p:spPr>
        <p:txBody>
          <a:bodyPr wrap="none" lIns="0" tIns="0" rIns="0" bIns="0" anchor="t" anchorCtr="0">
            <a:spAutoFit/>
          </a:bodyPr>
          <a:lstStyle/>
          <a:p>
            <a:pPr algn="ctr"/>
            <a:r>
              <a:rPr lang="zh-CN" sz="1275" b="1" dirty="0">
                <a:solidFill>
                  <a:srgbClr val="FFFFFF"/>
                </a:solidFill>
                <a:latin typeface="Arial"/>
                <a:ea typeface="Microsoft YaHei"/>
                <a:cs typeface="Arial"/>
              </a:rPr>
              <a:t>So what?</a:t>
            </a:r>
          </a:p>
        </p:txBody>
      </p:sp>
      <p:sp>
        <p:nvSpPr>
          <p:cNvPr id="39" name="TextBox 39"/>
          <p:cNvSpPr txBox="1"/>
          <p:nvPr/>
        </p:nvSpPr>
        <p:spPr>
          <a:xfrm>
            <a:off x="8690324" y="5148739"/>
            <a:ext cx="2355152" cy="228600"/>
          </a:xfrm>
          <a:prstGeom prst="rect">
            <a:avLst/>
          </a:prstGeom>
          <a:noFill/>
          <a:ln>
            <a:noFill/>
          </a:ln>
        </p:spPr>
        <p:txBody>
          <a:bodyPr wrap="none" lIns="0" tIns="0" rIns="0" bIns="0" anchor="t" anchorCtr="0">
            <a:spAutoFit/>
          </a:bodyPr>
          <a:lstStyle/>
          <a:p>
            <a:pPr algn="ctr"/>
            <a:r>
              <a:rPr lang="zh-CN" sz="1125" dirty="0">
                <a:solidFill>
                  <a:srgbClr val="E7F0ED"/>
                </a:solidFill>
                <a:latin typeface="Arial"/>
                <a:ea typeface="Microsoft YaHei"/>
                <a:cs typeface="Arial"/>
              </a:rPr>
              <a:t>Dating is a modelling decision,</a:t>
            </a:r>
          </a:p>
        </p:txBody>
      </p:sp>
      <p:sp>
        <p:nvSpPr>
          <p:cNvPr id="40" name="TextBox 40"/>
          <p:cNvSpPr txBox="1"/>
          <p:nvPr/>
        </p:nvSpPr>
        <p:spPr>
          <a:xfrm>
            <a:off x="9206246" y="5377339"/>
            <a:ext cx="1323308" cy="228600"/>
          </a:xfrm>
          <a:prstGeom prst="rect">
            <a:avLst/>
          </a:prstGeom>
          <a:noFill/>
          <a:ln>
            <a:noFill/>
          </a:ln>
        </p:spPr>
        <p:txBody>
          <a:bodyPr wrap="none" lIns="0" tIns="0" rIns="0" bIns="0" anchor="t" anchorCtr="0">
            <a:spAutoFit/>
          </a:bodyPr>
          <a:lstStyle/>
          <a:p>
            <a:pPr algn="ctr"/>
            <a:r>
              <a:rPr lang="zh-CN" sz="1125" dirty="0">
                <a:solidFill>
                  <a:srgbClr val="E7F0ED"/>
                </a:solidFill>
                <a:latin typeface="Arial"/>
                <a:ea typeface="Microsoft YaHei"/>
                <a:cs typeface="Arial"/>
              </a:rPr>
              <a:t>not bookkeeping</a:t>
            </a: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BFAF7"/>
          </a:solidFill>
          <a:ln>
            <a:noFill/>
          </a:ln>
        </p:spPr>
      </p:sp>
      <p:sp>
        <p:nvSpPr>
          <p:cNvPr id="3" name="Rectangle 3"/>
          <p:cNvSpPr/>
          <p:nvPr/>
        </p:nvSpPr>
        <p:spPr>
          <a:xfrm>
            <a:off x="0" y="0"/>
            <a:ext cx="609600" cy="6858000"/>
          </a:xfrm>
          <a:prstGeom prst="rect">
            <a:avLst/>
          </a:prstGeom>
          <a:solidFill>
            <a:srgbClr val="1F4E45"/>
          </a:solidFill>
          <a:ln>
            <a:noFill/>
          </a:ln>
        </p:spPr>
      </p:sp>
      <p:sp>
        <p:nvSpPr>
          <p:cNvPr id="4" name="Ellipse 4"/>
          <p:cNvSpPr/>
          <p:nvPr/>
        </p:nvSpPr>
        <p:spPr>
          <a:xfrm>
            <a:off x="272415" y="1091565"/>
            <a:ext cx="64770" cy="64770"/>
          </a:xfrm>
          <a:prstGeom prst="ellipse">
            <a:avLst/>
          </a:prstGeom>
          <a:solidFill>
            <a:srgbClr val="FFFFFF">
              <a:alpha val="42000"/>
            </a:srgbClr>
          </a:solidFill>
          <a:ln>
            <a:noFill/>
          </a:ln>
        </p:spPr>
      </p:sp>
      <p:sp>
        <p:nvSpPr>
          <p:cNvPr id="5" name="TextBox 5"/>
          <p:cNvSpPr txBox="1"/>
          <p:nvPr/>
        </p:nvSpPr>
        <p:spPr>
          <a:xfrm>
            <a:off x="17336" y="1245870"/>
            <a:ext cx="574929" cy="182880"/>
          </a:xfrm>
          <a:prstGeom prst="rect">
            <a:avLst/>
          </a:prstGeom>
          <a:noFill/>
          <a:ln>
            <a:noFill/>
          </a:ln>
        </p:spPr>
        <p:txBody>
          <a:bodyPr wrap="none" lIns="0" tIns="0" rIns="0" bIns="0" anchor="t" anchorCtr="0">
            <a:spAutoFit/>
          </a:bodyPr>
          <a:lstStyle/>
          <a:p>
            <a:pPr algn="ctr"/>
            <a:r>
              <a:rPr lang="zh-CN" sz="900" dirty="0">
                <a:solidFill>
                  <a:srgbClr val="FFFFFF">
                    <a:alphaMod val="60000"/>
                  </a:srgbClr>
                </a:solidFill>
                <a:latin typeface="Arial"/>
                <a:ea typeface="Microsoft YaHei"/>
                <a:cs typeface="Arial"/>
              </a:rPr>
              <a:t>Question</a:t>
            </a:r>
          </a:p>
        </p:txBody>
      </p:sp>
      <p:sp>
        <p:nvSpPr>
          <p:cNvPr id="6" name="Ellipse 6"/>
          <p:cNvSpPr/>
          <p:nvPr/>
        </p:nvSpPr>
        <p:spPr>
          <a:xfrm>
            <a:off x="272415" y="1948815"/>
            <a:ext cx="64770" cy="64770"/>
          </a:xfrm>
          <a:prstGeom prst="ellipse">
            <a:avLst/>
          </a:prstGeom>
          <a:solidFill>
            <a:srgbClr val="FFFFFF">
              <a:alpha val="42000"/>
            </a:srgbClr>
          </a:solidFill>
          <a:ln>
            <a:noFill/>
          </a:ln>
        </p:spPr>
      </p:sp>
      <p:sp>
        <p:nvSpPr>
          <p:cNvPr id="7" name="TextBox 7"/>
          <p:cNvSpPr txBox="1"/>
          <p:nvPr/>
        </p:nvSpPr>
        <p:spPr>
          <a:xfrm>
            <a:off x="146152" y="2103120"/>
            <a:ext cx="317297" cy="182880"/>
          </a:xfrm>
          <a:prstGeom prst="rect">
            <a:avLst/>
          </a:prstGeom>
          <a:noFill/>
          <a:ln>
            <a:noFill/>
          </a:ln>
        </p:spPr>
        <p:txBody>
          <a:bodyPr wrap="none" lIns="0" tIns="0" rIns="0" bIns="0" anchor="t" anchorCtr="0">
            <a:spAutoFit/>
          </a:bodyPr>
          <a:lstStyle/>
          <a:p>
            <a:pPr algn="ctr"/>
            <a:r>
              <a:rPr lang="zh-CN" sz="900" dirty="0">
                <a:solidFill>
                  <a:srgbClr val="FFFFFF">
                    <a:alphaMod val="60000"/>
                  </a:srgbClr>
                </a:solidFill>
                <a:latin typeface="Arial"/>
                <a:ea typeface="Microsoft YaHei"/>
                <a:cs typeface="Arial"/>
              </a:rPr>
              <a:t>Data</a:t>
            </a:r>
          </a:p>
        </p:txBody>
      </p:sp>
      <p:sp>
        <p:nvSpPr>
          <p:cNvPr id="8" name="Ellipse 8"/>
          <p:cNvSpPr/>
          <p:nvPr/>
        </p:nvSpPr>
        <p:spPr>
          <a:xfrm>
            <a:off x="257175" y="2790825"/>
            <a:ext cx="95250" cy="95250"/>
          </a:xfrm>
          <a:prstGeom prst="ellipse">
            <a:avLst/>
          </a:prstGeom>
          <a:solidFill>
            <a:srgbClr val="FFFFFF"/>
          </a:solidFill>
          <a:ln>
            <a:noFill/>
          </a:ln>
        </p:spPr>
      </p:sp>
      <p:sp>
        <p:nvSpPr>
          <p:cNvPr id="9" name="TextBox 9"/>
          <p:cNvSpPr txBox="1"/>
          <p:nvPr/>
        </p:nvSpPr>
        <p:spPr>
          <a:xfrm>
            <a:off x="35738" y="2960370"/>
            <a:ext cx="538124" cy="182880"/>
          </a:xfrm>
          <a:prstGeom prst="rect">
            <a:avLst/>
          </a:prstGeom>
          <a:noFill/>
          <a:ln>
            <a:noFill/>
          </a:ln>
        </p:spPr>
        <p:txBody>
          <a:bodyPr wrap="none" lIns="0" tIns="0" rIns="0" bIns="0" anchor="t" anchorCtr="0">
            <a:spAutoFit/>
          </a:bodyPr>
          <a:lstStyle/>
          <a:p>
            <a:pPr algn="ctr"/>
            <a:r>
              <a:rPr lang="zh-CN" sz="900" dirty="0">
                <a:solidFill>
                  <a:srgbClr val="FFFFFF"/>
                </a:solidFill>
                <a:latin typeface="Arial"/>
                <a:ea typeface="Microsoft YaHei"/>
                <a:cs typeface="Arial"/>
              </a:rPr>
              <a:t>Findings</a:t>
            </a:r>
          </a:p>
        </p:txBody>
      </p:sp>
      <p:sp>
        <p:nvSpPr>
          <p:cNvPr id="10" name="Ellipse 10"/>
          <p:cNvSpPr/>
          <p:nvPr/>
        </p:nvSpPr>
        <p:spPr>
          <a:xfrm>
            <a:off x="272415" y="3663315"/>
            <a:ext cx="64770" cy="64770"/>
          </a:xfrm>
          <a:prstGeom prst="ellipse">
            <a:avLst/>
          </a:prstGeom>
          <a:solidFill>
            <a:srgbClr val="FFFFFF">
              <a:alpha val="42000"/>
            </a:srgbClr>
          </a:solidFill>
          <a:ln>
            <a:noFill/>
          </a:ln>
        </p:spPr>
      </p:sp>
      <p:sp>
        <p:nvSpPr>
          <p:cNvPr id="11" name="TextBox 11"/>
          <p:cNvSpPr txBox="1"/>
          <p:nvPr/>
        </p:nvSpPr>
        <p:spPr>
          <a:xfrm>
            <a:off x="72542" y="3817620"/>
            <a:ext cx="464515" cy="182880"/>
          </a:xfrm>
          <a:prstGeom prst="rect">
            <a:avLst/>
          </a:prstGeom>
          <a:noFill/>
          <a:ln>
            <a:noFill/>
          </a:ln>
        </p:spPr>
        <p:txBody>
          <a:bodyPr wrap="none" lIns="0" tIns="0" rIns="0" bIns="0" anchor="t" anchorCtr="0">
            <a:spAutoFit/>
          </a:bodyPr>
          <a:lstStyle/>
          <a:p>
            <a:pPr algn="ctr"/>
            <a:r>
              <a:rPr lang="zh-CN" sz="900" dirty="0">
                <a:solidFill>
                  <a:srgbClr val="FFFFFF">
                    <a:alphaMod val="60000"/>
                  </a:srgbClr>
                </a:solidFill>
                <a:latin typeface="Arial"/>
                <a:ea typeface="Microsoft YaHei"/>
                <a:cs typeface="Arial"/>
              </a:rPr>
              <a:t>Robust</a:t>
            </a:r>
          </a:p>
        </p:txBody>
      </p:sp>
      <p:sp>
        <p:nvSpPr>
          <p:cNvPr id="12" name="Ellipse 12"/>
          <p:cNvSpPr/>
          <p:nvPr/>
        </p:nvSpPr>
        <p:spPr>
          <a:xfrm>
            <a:off x="272415" y="4520565"/>
            <a:ext cx="64770" cy="64770"/>
          </a:xfrm>
          <a:prstGeom prst="ellipse">
            <a:avLst/>
          </a:prstGeom>
          <a:solidFill>
            <a:srgbClr val="FFFFFF">
              <a:alpha val="42000"/>
            </a:srgbClr>
          </a:solidFill>
          <a:ln>
            <a:noFill/>
          </a:ln>
        </p:spPr>
      </p:sp>
      <p:sp>
        <p:nvSpPr>
          <p:cNvPr id="13" name="TextBox 13"/>
          <p:cNvSpPr txBox="1"/>
          <p:nvPr/>
        </p:nvSpPr>
        <p:spPr>
          <a:xfrm>
            <a:off x="146152" y="4674870"/>
            <a:ext cx="317297" cy="182880"/>
          </a:xfrm>
          <a:prstGeom prst="rect">
            <a:avLst/>
          </a:prstGeom>
          <a:noFill/>
          <a:ln>
            <a:noFill/>
          </a:ln>
        </p:spPr>
        <p:txBody>
          <a:bodyPr wrap="none" lIns="0" tIns="0" rIns="0" bIns="0" anchor="t" anchorCtr="0">
            <a:spAutoFit/>
          </a:bodyPr>
          <a:lstStyle/>
          <a:p>
            <a:pPr algn="ctr"/>
            <a:r>
              <a:rPr lang="zh-CN" sz="900" dirty="0">
                <a:solidFill>
                  <a:srgbClr val="FFFFFF">
                    <a:alphaMod val="60000"/>
                  </a:srgbClr>
                </a:solidFill>
                <a:latin typeface="Arial"/>
                <a:ea typeface="Microsoft YaHei"/>
                <a:cs typeface="Arial"/>
              </a:rPr>
              <a:t>Uses</a:t>
            </a:r>
          </a:p>
        </p:txBody>
      </p:sp>
      <p:sp>
        <p:nvSpPr>
          <p:cNvPr id="14" name="Ellipse 14"/>
          <p:cNvSpPr/>
          <p:nvPr/>
        </p:nvSpPr>
        <p:spPr>
          <a:xfrm>
            <a:off x="272415" y="5377815"/>
            <a:ext cx="64770" cy="64770"/>
          </a:xfrm>
          <a:prstGeom prst="ellipse">
            <a:avLst/>
          </a:prstGeom>
          <a:solidFill>
            <a:srgbClr val="FFFFFF">
              <a:alpha val="42000"/>
            </a:srgbClr>
          </a:solidFill>
          <a:ln>
            <a:noFill/>
          </a:ln>
        </p:spPr>
      </p:sp>
      <p:sp>
        <p:nvSpPr>
          <p:cNvPr id="15" name="TextBox 15"/>
          <p:cNvSpPr txBox="1"/>
          <p:nvPr/>
        </p:nvSpPr>
        <p:spPr>
          <a:xfrm>
            <a:off x="16678" y="5532120"/>
            <a:ext cx="576243" cy="182880"/>
          </a:xfrm>
          <a:prstGeom prst="rect">
            <a:avLst/>
          </a:prstGeom>
          <a:noFill/>
          <a:ln>
            <a:noFill/>
          </a:ln>
        </p:spPr>
        <p:txBody>
          <a:bodyPr wrap="none" lIns="0" tIns="0" rIns="0" bIns="0" anchor="t" anchorCtr="0">
            <a:spAutoFit/>
          </a:bodyPr>
          <a:lstStyle/>
          <a:p>
            <a:pPr algn="ctr"/>
            <a:r>
              <a:rPr lang="zh-CN" sz="900" dirty="0">
                <a:solidFill>
                  <a:srgbClr val="FFFFFF">
                    <a:alphaMod val="60000"/>
                  </a:srgbClr>
                </a:solidFill>
                <a:latin typeface="Arial"/>
                <a:ea typeface="Microsoft YaHei"/>
                <a:cs typeface="Arial"/>
              </a:rPr>
              <a:t>Wrap-up</a:t>
            </a:r>
          </a:p>
        </p:txBody>
      </p:sp>
      <p:sp>
        <p:nvSpPr>
          <p:cNvPr id="16" name="Rectangle 16"/>
          <p:cNvSpPr/>
          <p:nvPr/>
        </p:nvSpPr>
        <p:spPr>
          <a:xfrm>
            <a:off x="914400" y="304800"/>
            <a:ext cx="419100" cy="47625"/>
          </a:xfrm>
          <a:prstGeom prst="rect">
            <a:avLst/>
          </a:prstGeom>
          <a:solidFill>
            <a:srgbClr val="B45309"/>
          </a:solidFill>
          <a:ln>
            <a:noFill/>
          </a:ln>
        </p:spPr>
      </p:sp>
      <p:sp>
        <p:nvSpPr>
          <p:cNvPr id="17" name="TextBox 17"/>
          <p:cNvSpPr txBox="1"/>
          <p:nvPr/>
        </p:nvSpPr>
        <p:spPr>
          <a:xfrm>
            <a:off x="889635" y="456248"/>
            <a:ext cx="9311373" cy="396240"/>
          </a:xfrm>
          <a:prstGeom prst="rect">
            <a:avLst/>
          </a:prstGeom>
          <a:noFill/>
          <a:ln>
            <a:noFill/>
          </a:ln>
        </p:spPr>
        <p:txBody>
          <a:bodyPr wrap="none" lIns="0" tIns="0" rIns="0" bIns="0" anchor="t" anchorCtr="0">
            <a:spAutoFit/>
          </a:bodyPr>
          <a:lstStyle/>
          <a:p>
            <a:pPr algn="l"/>
            <a:r>
              <a:rPr lang="zh-CN" sz="1950" b="1" dirty="0">
                <a:solidFill>
                  <a:srgbClr val="17332D"/>
                </a:solidFill>
                <a:latin typeface="Arial"/>
                <a:ea typeface="Microsoft YaHei"/>
                <a:cs typeface="Arial"/>
              </a:rPr>
              <a:t>Finding 2 · Warming and effort matter equally — and interact</a:t>
            </a:r>
          </a:p>
        </p:txBody>
      </p:sp>
      <p:sp>
        <p:nvSpPr>
          <p:cNvPr id="18" name="TextBox 18"/>
          <p:cNvSpPr txBox="1"/>
          <p:nvPr/>
        </p:nvSpPr>
        <p:spPr>
          <a:xfrm>
            <a:off x="10619194" y="283845"/>
            <a:ext cx="1203236" cy="182880"/>
          </a:xfrm>
          <a:prstGeom prst="rect">
            <a:avLst/>
          </a:prstGeom>
          <a:noFill/>
          <a:ln>
            <a:noFill/>
          </a:ln>
        </p:spPr>
        <p:txBody>
          <a:bodyPr wrap="none" lIns="0" tIns="0" rIns="0" bIns="0" anchor="t" anchorCtr="0">
            <a:spAutoFit/>
          </a:bodyPr>
          <a:lstStyle/>
          <a:p>
            <a:pPr algn="r"/>
            <a:r>
              <a:rPr lang="zh-CN" sz="900" dirty="0">
                <a:solidFill>
                  <a:srgbClr val="8A919B"/>
                </a:solidFill>
                <a:latin typeface="Arial"/>
                <a:ea typeface="Microsoft YaHei"/>
                <a:cs typeface="Arial"/>
              </a:rPr>
              <a:t>Figure 1 · Table 2</a:t>
            </a:r>
          </a:p>
        </p:txBody>
      </p:sp>
      <p:sp>
        <p:nvSpPr>
          <p:cNvPr id="19" name="Line 19"/>
          <p:cNvSpPr/>
          <p:nvPr/>
        </p:nvSpPr>
        <p:spPr>
          <a:xfrm>
            <a:off x="914400" y="6515100"/>
            <a:ext cx="10896600" cy="9525"/>
          </a:xfrm>
          <a:custGeom>
            <a:avLst/>
            <a:gdLst/>
            <a:ahLst/>
            <a:cxnLst/>
            <a:rect l="l" t="t" r="r" b="b"/>
            <a:pathLst>
              <a:path w="10896600" h="9525">
                <a:moveTo>
                  <a:pt x="0" y="0"/>
                </a:moveTo>
                <a:lnTo>
                  <a:pt x="10896600" y="0"/>
                </a:lnTo>
              </a:path>
            </a:pathLst>
          </a:custGeom>
          <a:noFill/>
          <a:ln w="9525">
            <a:solidFill>
              <a:srgbClr val="D6D3CD"/>
            </a:solidFill>
          </a:ln>
        </p:spPr>
      </p:sp>
      <p:sp>
        <p:nvSpPr>
          <p:cNvPr id="20" name="TextBox 20"/>
          <p:cNvSpPr txBox="1"/>
          <p:nvPr/>
        </p:nvSpPr>
        <p:spPr>
          <a:xfrm>
            <a:off x="902970" y="6617970"/>
            <a:ext cx="2609698" cy="182880"/>
          </a:xfrm>
          <a:prstGeom prst="rect">
            <a:avLst/>
          </a:prstGeom>
          <a:noFill/>
          <a:ln>
            <a:noFill/>
          </a:ln>
        </p:spPr>
        <p:txBody>
          <a:bodyPr wrap="none" lIns="0" tIns="0" rIns="0" bIns="0" anchor="t" anchorCtr="0">
            <a:spAutoFit/>
          </a:bodyPr>
          <a:lstStyle/>
          <a:p>
            <a:pPr algn="l"/>
            <a:r>
              <a:rPr lang="zh-CN" sz="900" dirty="0">
                <a:solidFill>
                  <a:srgbClr val="8A919B"/>
                </a:solidFill>
                <a:latin typeface="Arial"/>
                <a:ea typeface="Microsoft YaHei"/>
                <a:cs typeface="Arial"/>
              </a:rPr>
              <a:t>Birds or birders? · AOC 2026, Singapore</a:t>
            </a:r>
          </a:p>
        </p:txBody>
      </p:sp>
      <p:sp>
        <p:nvSpPr>
          <p:cNvPr id="21" name="TextBox 21"/>
          <p:cNvSpPr txBox="1"/>
          <p:nvPr/>
        </p:nvSpPr>
        <p:spPr>
          <a:xfrm>
            <a:off x="11352657" y="6617970"/>
            <a:ext cx="469773" cy="182880"/>
          </a:xfrm>
          <a:prstGeom prst="rect">
            <a:avLst/>
          </a:prstGeom>
          <a:noFill/>
          <a:ln>
            <a:noFill/>
          </a:ln>
        </p:spPr>
        <p:txBody>
          <a:bodyPr wrap="none" lIns="0" tIns="0" rIns="0" bIns="0" anchor="t" anchorCtr="0">
            <a:spAutoFit/>
          </a:bodyPr>
          <a:lstStyle/>
          <a:p>
            <a:pPr algn="r"/>
            <a:r>
              <a:rPr lang="zh-CN" sz="900" dirty="0">
                <a:solidFill>
                  <a:srgbClr val="5F6670"/>
                </a:solidFill>
                <a:latin typeface="Arial"/>
                <a:ea typeface="Microsoft YaHei"/>
                <a:cs typeface="Arial"/>
              </a:rPr>
              <a:t>06 / 20</a:t>
            </a:r>
          </a:p>
        </p:txBody>
      </p:sp>
      <p:sp>
        <p:nvSpPr>
          <p:cNvPr id="22" name="Rectangle 22"/>
          <p:cNvSpPr/>
          <p:nvPr/>
        </p:nvSpPr>
        <p:spPr>
          <a:xfrm>
            <a:off x="838200" y="876300"/>
            <a:ext cx="6819900" cy="5225415"/>
          </a:xfrm>
          <a:prstGeom prst="roundRect">
            <a:avLst>
              <a:gd name="adj" fmla="val 1094"/>
            </a:avLst>
          </a:prstGeom>
          <a:solidFill>
            <a:srgbClr val="FFFFFF"/>
          </a:solidFill>
          <a:ln w="9525">
            <a:solidFill>
              <a:srgbClr val="D6D3CD"/>
            </a:solidFill>
          </a:ln>
        </p:spPr>
      </p:sp>
      <p:pic>
        <p:nvPicPr>
          <p:cNvPr id="23" name="Image 23"/>
          <p:cNvPicPr>
            <a:picLocks noChangeAspect="1"/>
          </p:cNvPicPr>
          <p:nvPr/>
        </p:nvPicPr>
        <p:blipFill>
          <a:blip r:embed="rId2"/>
          <a:stretch>
            <a:fillRect/>
          </a:stretch>
        </p:blipFill>
        <p:spPr>
          <a:xfrm>
            <a:off x="914400" y="952500"/>
            <a:ext cx="6667500" cy="5073015"/>
          </a:xfrm>
          <a:prstGeom prst="rect">
            <a:avLst/>
          </a:prstGeom>
        </p:spPr>
      </p:pic>
      <p:sp>
        <p:nvSpPr>
          <p:cNvPr id="24" name="Rectangle 24"/>
          <p:cNvSpPr/>
          <p:nvPr/>
        </p:nvSpPr>
        <p:spPr>
          <a:xfrm>
            <a:off x="7924800" y="876300"/>
            <a:ext cx="3886200" cy="1646872"/>
          </a:xfrm>
          <a:prstGeom prst="roundRect">
            <a:avLst>
              <a:gd name="adj" fmla="val 3470"/>
            </a:avLst>
          </a:prstGeom>
          <a:solidFill>
            <a:srgbClr val="FFFFFF"/>
          </a:solidFill>
          <a:ln w="9525">
            <a:solidFill>
              <a:srgbClr val="D6D3CD"/>
            </a:solidFill>
          </a:ln>
        </p:spPr>
      </p:sp>
      <p:sp>
        <p:nvSpPr>
          <p:cNvPr id="25" name="Rectangle 25"/>
          <p:cNvSpPr/>
          <p:nvPr/>
        </p:nvSpPr>
        <p:spPr>
          <a:xfrm>
            <a:off x="7924800" y="876300"/>
            <a:ext cx="3886200" cy="38100"/>
          </a:xfrm>
          <a:prstGeom prst="rect">
            <a:avLst/>
          </a:prstGeom>
          <a:solidFill>
            <a:srgbClr val="1F4E45"/>
          </a:solidFill>
          <a:ln>
            <a:noFill/>
          </a:ln>
        </p:spPr>
      </p:sp>
      <p:sp>
        <p:nvSpPr>
          <p:cNvPr id="26" name="TextBox 26"/>
          <p:cNvSpPr txBox="1"/>
          <p:nvPr/>
        </p:nvSpPr>
        <p:spPr>
          <a:xfrm>
            <a:off x="8099108" y="1052989"/>
            <a:ext cx="2375364" cy="259080"/>
          </a:xfrm>
          <a:prstGeom prst="rect">
            <a:avLst/>
          </a:prstGeom>
          <a:noFill/>
          <a:ln>
            <a:noFill/>
          </a:ln>
        </p:spPr>
        <p:txBody>
          <a:bodyPr wrap="none" lIns="0" tIns="0" rIns="0" bIns="0" anchor="t" anchorCtr="0">
            <a:spAutoFit/>
          </a:bodyPr>
          <a:lstStyle/>
          <a:p>
            <a:pPr algn="l"/>
            <a:r>
              <a:rPr lang="zh-CN" sz="1275" b="1" dirty="0">
                <a:solidFill>
                  <a:srgbClr val="1F4E45"/>
                </a:solidFill>
                <a:latin typeface="Arial"/>
                <a:ea typeface="Microsoft YaHei"/>
                <a:cs typeface="Arial"/>
              </a:rPr>
              <a:t>Main model (n = 175,901)</a:t>
            </a:r>
          </a:p>
        </p:txBody>
      </p:sp>
      <p:sp>
        <p:nvSpPr>
          <p:cNvPr id="27" name="TextBox 27"/>
          <p:cNvSpPr txBox="1"/>
          <p:nvPr/>
        </p:nvSpPr>
        <p:spPr>
          <a:xfrm>
            <a:off x="8101012" y="1345406"/>
            <a:ext cx="2315718" cy="228600"/>
          </a:xfrm>
          <a:prstGeom prst="rect">
            <a:avLst/>
          </a:prstGeom>
          <a:noFill/>
          <a:ln>
            <a:noFill/>
          </a:ln>
        </p:spPr>
        <p:txBody>
          <a:bodyPr wrap="none" lIns="0" tIns="0" rIns="0" bIns="0" anchor="t" anchorCtr="0">
            <a:spAutoFit/>
          </a:bodyPr>
          <a:lstStyle/>
          <a:p>
            <a:pPr algn="l"/>
            <a:r>
              <a:rPr lang="zh-CN" sz="1125" dirty="0">
                <a:solidFill>
                  <a:srgbClr val="009E73"/>
                </a:solidFill>
                <a:latin typeface="Arial"/>
                <a:ea typeface="Microsoft YaHei"/>
                <a:cs typeface="Arial"/>
              </a:rPr>
              <a:t>Warming HR 1.36 (1.22–1.52)</a:t>
            </a:r>
          </a:p>
        </p:txBody>
      </p:sp>
      <p:sp>
        <p:nvSpPr>
          <p:cNvPr id="28" name="TextBox 28"/>
          <p:cNvSpPr txBox="1"/>
          <p:nvPr/>
        </p:nvSpPr>
        <p:spPr>
          <a:xfrm>
            <a:off x="8101012" y="1583531"/>
            <a:ext cx="2222063" cy="228600"/>
          </a:xfrm>
          <a:prstGeom prst="rect">
            <a:avLst/>
          </a:prstGeom>
          <a:noFill/>
          <a:ln>
            <a:noFill/>
          </a:ln>
        </p:spPr>
        <p:txBody>
          <a:bodyPr wrap="none" lIns="0" tIns="0" rIns="0" bIns="0" anchor="t" anchorCtr="0">
            <a:spAutoFit/>
          </a:bodyPr>
          <a:lstStyle/>
          <a:p>
            <a:pPr algn="l"/>
            <a:r>
              <a:rPr lang="zh-CN" sz="1125" dirty="0">
                <a:solidFill>
                  <a:srgbClr val="0072B2"/>
                </a:solidFill>
                <a:latin typeface="Arial"/>
                <a:ea typeface="Microsoft YaHei"/>
                <a:cs typeface="Arial"/>
              </a:rPr>
              <a:t>Effort HR 1.40 (1.25–1.58)</a:t>
            </a:r>
          </a:p>
        </p:txBody>
      </p:sp>
      <p:sp>
        <p:nvSpPr>
          <p:cNvPr id="29" name="TextBox 29"/>
          <p:cNvSpPr txBox="1"/>
          <p:nvPr/>
        </p:nvSpPr>
        <p:spPr>
          <a:xfrm>
            <a:off x="8101012" y="1821656"/>
            <a:ext cx="3137249" cy="228600"/>
          </a:xfrm>
          <a:prstGeom prst="rect">
            <a:avLst/>
          </a:prstGeom>
          <a:noFill/>
          <a:ln>
            <a:noFill/>
          </a:ln>
        </p:spPr>
        <p:txBody>
          <a:bodyPr wrap="none" lIns="0" tIns="0" rIns="0" bIns="0" anchor="t" anchorCtr="0">
            <a:spAutoFit/>
          </a:bodyPr>
          <a:lstStyle/>
          <a:p>
            <a:pPr algn="l"/>
            <a:r>
              <a:rPr lang="zh-CN" sz="1125" dirty="0">
                <a:solidFill>
                  <a:srgbClr val="17332D"/>
                </a:solidFill>
                <a:latin typeface="Arial"/>
                <a:ea typeface="Microsoft YaHei"/>
                <a:cs typeface="Arial"/>
              </a:rPr>
              <a:t>Warming × effort HR 0.85 (0.76–0.95)</a:t>
            </a:r>
          </a:p>
        </p:txBody>
      </p:sp>
      <p:sp>
        <p:nvSpPr>
          <p:cNvPr id="30" name="TextBox 30"/>
          <p:cNvSpPr txBox="1"/>
          <p:nvPr/>
        </p:nvSpPr>
        <p:spPr>
          <a:xfrm>
            <a:off x="8101012" y="2059781"/>
            <a:ext cx="3092887" cy="228600"/>
          </a:xfrm>
          <a:prstGeom prst="rect">
            <a:avLst/>
          </a:prstGeom>
          <a:noFill/>
          <a:ln>
            <a:noFill/>
          </a:ln>
        </p:spPr>
        <p:txBody>
          <a:bodyPr wrap="none" lIns="0" tIns="0" rIns="0" bIns="0" anchor="t" anchorCtr="0">
            <a:spAutoFit/>
          </a:bodyPr>
          <a:lstStyle/>
          <a:p>
            <a:pPr algn="l"/>
            <a:r>
              <a:rPr lang="zh-CN" sz="1125" dirty="0">
                <a:solidFill>
                  <a:srgbClr val="5F6670"/>
                </a:solidFill>
                <a:latin typeface="Arial"/>
                <a:ea typeface="Microsoft YaHei"/>
                <a:cs typeface="Arial"/>
              </a:rPr>
              <a:t>Climate variability HR 1.00 (no effect)</a:t>
            </a:r>
          </a:p>
        </p:txBody>
      </p:sp>
      <p:sp>
        <p:nvSpPr>
          <p:cNvPr id="31" name="Rectangle 31"/>
          <p:cNvSpPr/>
          <p:nvPr/>
        </p:nvSpPr>
        <p:spPr>
          <a:xfrm>
            <a:off x="7924800" y="2904172"/>
            <a:ext cx="3886200" cy="1646872"/>
          </a:xfrm>
          <a:prstGeom prst="roundRect">
            <a:avLst>
              <a:gd name="adj" fmla="val 3470"/>
            </a:avLst>
          </a:prstGeom>
          <a:solidFill>
            <a:srgbClr val="FFFFFF"/>
          </a:solidFill>
          <a:ln w="9525">
            <a:solidFill>
              <a:srgbClr val="D6D3CD"/>
            </a:solidFill>
          </a:ln>
        </p:spPr>
      </p:sp>
      <p:sp>
        <p:nvSpPr>
          <p:cNvPr id="32" name="Rectangle 32"/>
          <p:cNvSpPr/>
          <p:nvPr/>
        </p:nvSpPr>
        <p:spPr>
          <a:xfrm>
            <a:off x="7924800" y="2904172"/>
            <a:ext cx="3886200" cy="38100"/>
          </a:xfrm>
          <a:prstGeom prst="rect">
            <a:avLst/>
          </a:prstGeom>
          <a:solidFill>
            <a:srgbClr val="B45309"/>
          </a:solidFill>
          <a:ln>
            <a:noFill/>
          </a:ln>
        </p:spPr>
      </p:sp>
      <p:sp>
        <p:nvSpPr>
          <p:cNvPr id="33" name="TextBox 33"/>
          <p:cNvSpPr txBox="1"/>
          <p:nvPr/>
        </p:nvSpPr>
        <p:spPr>
          <a:xfrm>
            <a:off x="8099108" y="3080861"/>
            <a:ext cx="3837998" cy="259080"/>
          </a:xfrm>
          <a:prstGeom prst="rect">
            <a:avLst/>
          </a:prstGeom>
          <a:noFill/>
          <a:ln>
            <a:noFill/>
          </a:ln>
        </p:spPr>
        <p:txBody>
          <a:bodyPr wrap="none" lIns="0" tIns="0" rIns="0" bIns="0" anchor="t" anchorCtr="0">
            <a:spAutoFit/>
          </a:bodyPr>
          <a:lstStyle/>
          <a:p>
            <a:pPr algn="l"/>
            <a:r>
              <a:rPr lang="zh-CN" sz="1275" b="1" dirty="0">
                <a:solidFill>
                  <a:srgbClr val="B45309"/>
                </a:solidFill>
                <a:latin typeface="Arial"/>
                <a:ea typeface="Microsoft YaHei"/>
                <a:cs typeface="Arial"/>
              </a:rPr>
              <a:t>Read each effect against the right null</a:t>
            </a:r>
          </a:p>
        </p:txBody>
      </p:sp>
      <p:sp>
        <p:nvSpPr>
          <p:cNvPr id="34" name="TextBox 34"/>
          <p:cNvSpPr txBox="1"/>
          <p:nvPr/>
        </p:nvSpPr>
        <p:spPr>
          <a:xfrm>
            <a:off x="8101012" y="3373279"/>
            <a:ext cx="3334417" cy="228600"/>
          </a:xfrm>
          <a:prstGeom prst="rect">
            <a:avLst/>
          </a:prstGeom>
          <a:noFill/>
          <a:ln>
            <a:noFill/>
          </a:ln>
        </p:spPr>
        <p:txBody>
          <a:bodyPr wrap="none" lIns="0" tIns="0" rIns="0" bIns="0" anchor="t" anchorCtr="0">
            <a:spAutoFit/>
          </a:bodyPr>
          <a:lstStyle/>
          <a:p>
            <a:pPr algn="l"/>
            <a:r>
              <a:rPr lang="zh-CN" sz="1125" dirty="0">
                <a:solidFill>
                  <a:srgbClr val="17332D"/>
                </a:solidFill>
                <a:latin typeface="Arial"/>
                <a:ea typeface="Microsoft YaHei"/>
                <a:cs typeface="Arial"/>
              </a:rPr>
              <a:t>Permutation null for warming = 1.16, not 1</a:t>
            </a:r>
          </a:p>
        </p:txBody>
      </p:sp>
      <p:sp>
        <p:nvSpPr>
          <p:cNvPr id="35" name="TextBox 35"/>
          <p:cNvSpPr txBox="1"/>
          <p:nvPr/>
        </p:nvSpPr>
        <p:spPr>
          <a:xfrm>
            <a:off x="8101012" y="3611404"/>
            <a:ext cx="3165181" cy="228600"/>
          </a:xfrm>
          <a:prstGeom prst="rect">
            <a:avLst/>
          </a:prstGeom>
          <a:noFill/>
          <a:ln>
            <a:noFill/>
          </a:ln>
        </p:spPr>
        <p:txBody>
          <a:bodyPr wrap="none" lIns="0" tIns="0" rIns="0" bIns="0" anchor="t" anchorCtr="0">
            <a:spAutoFit/>
          </a:bodyPr>
          <a:lstStyle/>
          <a:p>
            <a:pPr algn="l"/>
            <a:r>
              <a:rPr lang="zh-CN" sz="1125" dirty="0">
                <a:solidFill>
                  <a:srgbClr val="17332D"/>
                </a:solidFill>
                <a:latin typeface="Arial"/>
                <a:ea typeface="Microsoft YaHei"/>
                <a:cs typeface="Arial"/>
              </a:rPr>
              <a:t>→ species-specific increment ≈ ×1.18</a:t>
            </a:r>
          </a:p>
        </p:txBody>
      </p:sp>
      <p:sp>
        <p:nvSpPr>
          <p:cNvPr id="36" name="TextBox 36"/>
          <p:cNvSpPr txBox="1"/>
          <p:nvPr/>
        </p:nvSpPr>
        <p:spPr>
          <a:xfrm>
            <a:off x="8101012" y="3849529"/>
            <a:ext cx="3145465" cy="228600"/>
          </a:xfrm>
          <a:prstGeom prst="rect">
            <a:avLst/>
          </a:prstGeom>
          <a:noFill/>
          <a:ln>
            <a:noFill/>
          </a:ln>
        </p:spPr>
        <p:txBody>
          <a:bodyPr wrap="none" lIns="0" tIns="0" rIns="0" bIns="0" anchor="t" anchorCtr="0">
            <a:spAutoFit/>
          </a:bodyPr>
          <a:lstStyle/>
          <a:p>
            <a:pPr algn="l"/>
            <a:r>
              <a:rPr lang="zh-CN" sz="1125" dirty="0">
                <a:solidFill>
                  <a:srgbClr val="17332D"/>
                </a:solidFill>
                <a:latin typeface="Arial"/>
                <a:ea typeface="Microsoft YaHei"/>
                <a:cs typeface="Arial"/>
              </a:rPr>
              <a:t>Shuffle effort's timing: it falls to 0.98</a:t>
            </a:r>
          </a:p>
        </p:txBody>
      </p:sp>
      <p:sp>
        <p:nvSpPr>
          <p:cNvPr id="37" name="TextBox 37"/>
          <p:cNvSpPr txBox="1"/>
          <p:nvPr/>
        </p:nvSpPr>
        <p:spPr>
          <a:xfrm>
            <a:off x="8101012" y="4087654"/>
            <a:ext cx="2808637" cy="228600"/>
          </a:xfrm>
          <a:prstGeom prst="rect">
            <a:avLst/>
          </a:prstGeom>
          <a:noFill/>
          <a:ln>
            <a:noFill/>
          </a:ln>
        </p:spPr>
        <p:txBody>
          <a:bodyPr wrap="none" lIns="0" tIns="0" rIns="0" bIns="0" anchor="t" anchorCtr="0">
            <a:spAutoFit/>
          </a:bodyPr>
          <a:lstStyle/>
          <a:p>
            <a:pPr algn="l"/>
            <a:r>
              <a:rPr lang="zh-CN" sz="1125" dirty="0">
                <a:solidFill>
                  <a:srgbClr val="5F6670"/>
                </a:solidFill>
                <a:latin typeface="Arial"/>
                <a:ea typeface="Microsoft YaHei"/>
                <a:cs typeface="Arial"/>
              </a:rPr>
              <a:t>→ its signal comes from real timing</a:t>
            </a:r>
          </a:p>
        </p:txBody>
      </p:sp>
      <p:sp>
        <p:nvSpPr>
          <p:cNvPr id="38" name="Rectangle 38"/>
          <p:cNvSpPr/>
          <p:nvPr/>
        </p:nvSpPr>
        <p:spPr>
          <a:xfrm>
            <a:off x="7924800" y="4931092"/>
            <a:ext cx="3886200" cy="1170622"/>
          </a:xfrm>
          <a:prstGeom prst="roundRect">
            <a:avLst>
              <a:gd name="adj" fmla="val 4882"/>
            </a:avLst>
          </a:prstGeom>
          <a:solidFill>
            <a:srgbClr val="FFFFFF"/>
          </a:solidFill>
          <a:ln w="9525">
            <a:solidFill>
              <a:srgbClr val="D6D3CD"/>
            </a:solidFill>
          </a:ln>
        </p:spPr>
      </p:sp>
      <p:sp>
        <p:nvSpPr>
          <p:cNvPr id="39" name="Rectangle 39"/>
          <p:cNvSpPr/>
          <p:nvPr/>
        </p:nvSpPr>
        <p:spPr>
          <a:xfrm>
            <a:off x="7924800" y="4931092"/>
            <a:ext cx="3886200" cy="38100"/>
          </a:xfrm>
          <a:prstGeom prst="rect">
            <a:avLst/>
          </a:prstGeom>
          <a:solidFill>
            <a:srgbClr val="0072B2"/>
          </a:solidFill>
          <a:ln>
            <a:noFill/>
          </a:ln>
        </p:spPr>
      </p:sp>
      <p:sp>
        <p:nvSpPr>
          <p:cNvPr id="40" name="TextBox 40"/>
          <p:cNvSpPr txBox="1"/>
          <p:nvPr/>
        </p:nvSpPr>
        <p:spPr>
          <a:xfrm>
            <a:off x="8099108" y="5107781"/>
            <a:ext cx="2969497" cy="259080"/>
          </a:xfrm>
          <a:prstGeom prst="rect">
            <a:avLst/>
          </a:prstGeom>
          <a:noFill/>
          <a:ln>
            <a:noFill/>
          </a:ln>
        </p:spPr>
        <p:txBody>
          <a:bodyPr wrap="none" lIns="0" tIns="0" rIns="0" bIns="0" anchor="t" anchorCtr="0">
            <a:spAutoFit/>
          </a:bodyPr>
          <a:lstStyle/>
          <a:p>
            <a:pPr algn="l"/>
            <a:r>
              <a:rPr lang="zh-CN" sz="1275" b="1" dirty="0">
                <a:solidFill>
                  <a:srgbClr val="0072B2"/>
                </a:solidFill>
                <a:latin typeface="Arial"/>
                <a:ea typeface="Microsoft YaHei"/>
                <a:cs typeface="Arial"/>
              </a:rPr>
              <a:t>Province-clustered bootstrap</a:t>
            </a:r>
          </a:p>
        </p:txBody>
      </p:sp>
      <p:sp>
        <p:nvSpPr>
          <p:cNvPr id="41" name="TextBox 41"/>
          <p:cNvSpPr txBox="1"/>
          <p:nvPr/>
        </p:nvSpPr>
        <p:spPr>
          <a:xfrm>
            <a:off x="8101012" y="5400199"/>
            <a:ext cx="3198043" cy="228600"/>
          </a:xfrm>
          <a:prstGeom prst="rect">
            <a:avLst/>
          </a:prstGeom>
          <a:noFill/>
          <a:ln>
            <a:noFill/>
          </a:ln>
        </p:spPr>
        <p:txBody>
          <a:bodyPr wrap="none" lIns="0" tIns="0" rIns="0" bIns="0" anchor="t" anchorCtr="0">
            <a:spAutoFit/>
          </a:bodyPr>
          <a:lstStyle/>
          <a:p>
            <a:pPr algn="l"/>
            <a:r>
              <a:rPr lang="zh-CN" sz="1125" dirty="0">
                <a:solidFill>
                  <a:srgbClr val="17332D"/>
                </a:solidFill>
                <a:latin typeface="Arial"/>
                <a:ea typeface="Microsoft YaHei"/>
                <a:cs typeface="Arial"/>
              </a:rPr>
              <a:t>Warming 1.20–1.72 · effort 1.21–1.76</a:t>
            </a:r>
          </a:p>
        </p:txBody>
      </p:sp>
      <p:sp>
        <p:nvSpPr>
          <p:cNvPr id="42" name="TextBox 42"/>
          <p:cNvSpPr txBox="1"/>
          <p:nvPr/>
        </p:nvSpPr>
        <p:spPr>
          <a:xfrm>
            <a:off x="8101012" y="5638324"/>
            <a:ext cx="2123480" cy="228600"/>
          </a:xfrm>
          <a:prstGeom prst="rect">
            <a:avLst/>
          </a:prstGeom>
          <a:noFill/>
          <a:ln>
            <a:noFill/>
          </a:ln>
        </p:spPr>
        <p:txBody>
          <a:bodyPr wrap="none" lIns="0" tIns="0" rIns="0" bIns="0" anchor="t" anchorCtr="0">
            <a:spAutoFit/>
          </a:bodyPr>
          <a:lstStyle/>
          <a:p>
            <a:pPr algn="l"/>
            <a:r>
              <a:rPr lang="zh-CN" sz="1125" dirty="0">
                <a:solidFill>
                  <a:srgbClr val="5F6670"/>
                </a:solidFill>
                <a:latin typeface="Arial"/>
                <a:ea typeface="Microsoft YaHei"/>
                <a:cs typeface="Arial"/>
              </a:rPr>
              <a:t>Both lower bounds above 1</a:t>
            </a: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BFAF7"/>
          </a:solidFill>
          <a:ln>
            <a:noFill/>
          </a:ln>
        </p:spPr>
      </p:sp>
      <p:sp>
        <p:nvSpPr>
          <p:cNvPr id="3" name="Rectangle 3"/>
          <p:cNvSpPr/>
          <p:nvPr/>
        </p:nvSpPr>
        <p:spPr>
          <a:xfrm>
            <a:off x="0" y="0"/>
            <a:ext cx="609600" cy="6858000"/>
          </a:xfrm>
          <a:prstGeom prst="rect">
            <a:avLst/>
          </a:prstGeom>
          <a:solidFill>
            <a:srgbClr val="1F4E45"/>
          </a:solidFill>
          <a:ln>
            <a:noFill/>
          </a:ln>
        </p:spPr>
      </p:sp>
      <p:sp>
        <p:nvSpPr>
          <p:cNvPr id="4" name="Ellipse 4"/>
          <p:cNvSpPr/>
          <p:nvPr/>
        </p:nvSpPr>
        <p:spPr>
          <a:xfrm>
            <a:off x="272415" y="1091565"/>
            <a:ext cx="64770" cy="64770"/>
          </a:xfrm>
          <a:prstGeom prst="ellipse">
            <a:avLst/>
          </a:prstGeom>
          <a:solidFill>
            <a:srgbClr val="FFFFFF">
              <a:alpha val="42000"/>
            </a:srgbClr>
          </a:solidFill>
          <a:ln>
            <a:noFill/>
          </a:ln>
        </p:spPr>
      </p:sp>
      <p:sp>
        <p:nvSpPr>
          <p:cNvPr id="5" name="TextBox 5"/>
          <p:cNvSpPr txBox="1"/>
          <p:nvPr/>
        </p:nvSpPr>
        <p:spPr>
          <a:xfrm>
            <a:off x="17336" y="1245870"/>
            <a:ext cx="574929" cy="182880"/>
          </a:xfrm>
          <a:prstGeom prst="rect">
            <a:avLst/>
          </a:prstGeom>
          <a:noFill/>
          <a:ln>
            <a:noFill/>
          </a:ln>
        </p:spPr>
        <p:txBody>
          <a:bodyPr wrap="none" lIns="0" tIns="0" rIns="0" bIns="0" anchor="t" anchorCtr="0">
            <a:spAutoFit/>
          </a:bodyPr>
          <a:lstStyle/>
          <a:p>
            <a:pPr algn="ctr"/>
            <a:r>
              <a:rPr lang="zh-CN" sz="900" dirty="0">
                <a:solidFill>
                  <a:srgbClr val="FFFFFF">
                    <a:alphaMod val="60000"/>
                  </a:srgbClr>
                </a:solidFill>
                <a:latin typeface="Arial"/>
                <a:ea typeface="Microsoft YaHei"/>
                <a:cs typeface="Arial"/>
              </a:rPr>
              <a:t>Question</a:t>
            </a:r>
          </a:p>
        </p:txBody>
      </p:sp>
      <p:sp>
        <p:nvSpPr>
          <p:cNvPr id="6" name="Ellipse 6"/>
          <p:cNvSpPr/>
          <p:nvPr/>
        </p:nvSpPr>
        <p:spPr>
          <a:xfrm>
            <a:off x="272415" y="1948815"/>
            <a:ext cx="64770" cy="64770"/>
          </a:xfrm>
          <a:prstGeom prst="ellipse">
            <a:avLst/>
          </a:prstGeom>
          <a:solidFill>
            <a:srgbClr val="FFFFFF">
              <a:alpha val="42000"/>
            </a:srgbClr>
          </a:solidFill>
          <a:ln>
            <a:noFill/>
          </a:ln>
        </p:spPr>
      </p:sp>
      <p:sp>
        <p:nvSpPr>
          <p:cNvPr id="7" name="TextBox 7"/>
          <p:cNvSpPr txBox="1"/>
          <p:nvPr/>
        </p:nvSpPr>
        <p:spPr>
          <a:xfrm>
            <a:off x="146152" y="2103120"/>
            <a:ext cx="317297" cy="182880"/>
          </a:xfrm>
          <a:prstGeom prst="rect">
            <a:avLst/>
          </a:prstGeom>
          <a:noFill/>
          <a:ln>
            <a:noFill/>
          </a:ln>
        </p:spPr>
        <p:txBody>
          <a:bodyPr wrap="none" lIns="0" tIns="0" rIns="0" bIns="0" anchor="t" anchorCtr="0">
            <a:spAutoFit/>
          </a:bodyPr>
          <a:lstStyle/>
          <a:p>
            <a:pPr algn="ctr"/>
            <a:r>
              <a:rPr lang="zh-CN" sz="900" dirty="0">
                <a:solidFill>
                  <a:srgbClr val="FFFFFF">
                    <a:alphaMod val="60000"/>
                  </a:srgbClr>
                </a:solidFill>
                <a:latin typeface="Arial"/>
                <a:ea typeface="Microsoft YaHei"/>
                <a:cs typeface="Arial"/>
              </a:rPr>
              <a:t>Data</a:t>
            </a:r>
          </a:p>
        </p:txBody>
      </p:sp>
      <p:sp>
        <p:nvSpPr>
          <p:cNvPr id="8" name="Ellipse 8"/>
          <p:cNvSpPr/>
          <p:nvPr/>
        </p:nvSpPr>
        <p:spPr>
          <a:xfrm>
            <a:off x="257175" y="2790825"/>
            <a:ext cx="95250" cy="95250"/>
          </a:xfrm>
          <a:prstGeom prst="ellipse">
            <a:avLst/>
          </a:prstGeom>
          <a:solidFill>
            <a:srgbClr val="FFFFFF"/>
          </a:solidFill>
          <a:ln>
            <a:noFill/>
          </a:ln>
        </p:spPr>
      </p:sp>
      <p:sp>
        <p:nvSpPr>
          <p:cNvPr id="9" name="TextBox 9"/>
          <p:cNvSpPr txBox="1"/>
          <p:nvPr/>
        </p:nvSpPr>
        <p:spPr>
          <a:xfrm>
            <a:off x="35738" y="2960370"/>
            <a:ext cx="538124" cy="182880"/>
          </a:xfrm>
          <a:prstGeom prst="rect">
            <a:avLst/>
          </a:prstGeom>
          <a:noFill/>
          <a:ln>
            <a:noFill/>
          </a:ln>
        </p:spPr>
        <p:txBody>
          <a:bodyPr wrap="none" lIns="0" tIns="0" rIns="0" bIns="0" anchor="t" anchorCtr="0">
            <a:spAutoFit/>
          </a:bodyPr>
          <a:lstStyle/>
          <a:p>
            <a:pPr algn="ctr"/>
            <a:r>
              <a:rPr lang="zh-CN" sz="900" dirty="0">
                <a:solidFill>
                  <a:srgbClr val="FFFFFF"/>
                </a:solidFill>
                <a:latin typeface="Arial"/>
                <a:ea typeface="Microsoft YaHei"/>
                <a:cs typeface="Arial"/>
              </a:rPr>
              <a:t>Findings</a:t>
            </a:r>
          </a:p>
        </p:txBody>
      </p:sp>
      <p:sp>
        <p:nvSpPr>
          <p:cNvPr id="10" name="Ellipse 10"/>
          <p:cNvSpPr/>
          <p:nvPr/>
        </p:nvSpPr>
        <p:spPr>
          <a:xfrm>
            <a:off x="272415" y="3663315"/>
            <a:ext cx="64770" cy="64770"/>
          </a:xfrm>
          <a:prstGeom prst="ellipse">
            <a:avLst/>
          </a:prstGeom>
          <a:solidFill>
            <a:srgbClr val="FFFFFF">
              <a:alpha val="42000"/>
            </a:srgbClr>
          </a:solidFill>
          <a:ln>
            <a:noFill/>
          </a:ln>
        </p:spPr>
      </p:sp>
      <p:sp>
        <p:nvSpPr>
          <p:cNvPr id="11" name="TextBox 11"/>
          <p:cNvSpPr txBox="1"/>
          <p:nvPr/>
        </p:nvSpPr>
        <p:spPr>
          <a:xfrm>
            <a:off x="72542" y="3817620"/>
            <a:ext cx="464515" cy="182880"/>
          </a:xfrm>
          <a:prstGeom prst="rect">
            <a:avLst/>
          </a:prstGeom>
          <a:noFill/>
          <a:ln>
            <a:noFill/>
          </a:ln>
        </p:spPr>
        <p:txBody>
          <a:bodyPr wrap="none" lIns="0" tIns="0" rIns="0" bIns="0" anchor="t" anchorCtr="0">
            <a:spAutoFit/>
          </a:bodyPr>
          <a:lstStyle/>
          <a:p>
            <a:pPr algn="ctr"/>
            <a:r>
              <a:rPr lang="zh-CN" sz="900" dirty="0">
                <a:solidFill>
                  <a:srgbClr val="FFFFFF">
                    <a:alphaMod val="60000"/>
                  </a:srgbClr>
                </a:solidFill>
                <a:latin typeface="Arial"/>
                <a:ea typeface="Microsoft YaHei"/>
                <a:cs typeface="Arial"/>
              </a:rPr>
              <a:t>Robust</a:t>
            </a:r>
          </a:p>
        </p:txBody>
      </p:sp>
      <p:sp>
        <p:nvSpPr>
          <p:cNvPr id="12" name="Ellipse 12"/>
          <p:cNvSpPr/>
          <p:nvPr/>
        </p:nvSpPr>
        <p:spPr>
          <a:xfrm>
            <a:off x="272415" y="4520565"/>
            <a:ext cx="64770" cy="64770"/>
          </a:xfrm>
          <a:prstGeom prst="ellipse">
            <a:avLst/>
          </a:prstGeom>
          <a:solidFill>
            <a:srgbClr val="FFFFFF">
              <a:alpha val="42000"/>
            </a:srgbClr>
          </a:solidFill>
          <a:ln>
            <a:noFill/>
          </a:ln>
        </p:spPr>
      </p:sp>
      <p:sp>
        <p:nvSpPr>
          <p:cNvPr id="13" name="TextBox 13"/>
          <p:cNvSpPr txBox="1"/>
          <p:nvPr/>
        </p:nvSpPr>
        <p:spPr>
          <a:xfrm>
            <a:off x="146152" y="4674870"/>
            <a:ext cx="317297" cy="182880"/>
          </a:xfrm>
          <a:prstGeom prst="rect">
            <a:avLst/>
          </a:prstGeom>
          <a:noFill/>
          <a:ln>
            <a:noFill/>
          </a:ln>
        </p:spPr>
        <p:txBody>
          <a:bodyPr wrap="none" lIns="0" tIns="0" rIns="0" bIns="0" anchor="t" anchorCtr="0">
            <a:spAutoFit/>
          </a:bodyPr>
          <a:lstStyle/>
          <a:p>
            <a:pPr algn="ctr"/>
            <a:r>
              <a:rPr lang="zh-CN" sz="900" dirty="0">
                <a:solidFill>
                  <a:srgbClr val="FFFFFF">
                    <a:alphaMod val="60000"/>
                  </a:srgbClr>
                </a:solidFill>
                <a:latin typeface="Arial"/>
                <a:ea typeface="Microsoft YaHei"/>
                <a:cs typeface="Arial"/>
              </a:rPr>
              <a:t>Uses</a:t>
            </a:r>
          </a:p>
        </p:txBody>
      </p:sp>
      <p:sp>
        <p:nvSpPr>
          <p:cNvPr id="14" name="Ellipse 14"/>
          <p:cNvSpPr/>
          <p:nvPr/>
        </p:nvSpPr>
        <p:spPr>
          <a:xfrm>
            <a:off x="272415" y="5377815"/>
            <a:ext cx="64770" cy="64770"/>
          </a:xfrm>
          <a:prstGeom prst="ellipse">
            <a:avLst/>
          </a:prstGeom>
          <a:solidFill>
            <a:srgbClr val="FFFFFF">
              <a:alpha val="42000"/>
            </a:srgbClr>
          </a:solidFill>
          <a:ln>
            <a:noFill/>
          </a:ln>
        </p:spPr>
      </p:sp>
      <p:sp>
        <p:nvSpPr>
          <p:cNvPr id="15" name="TextBox 15"/>
          <p:cNvSpPr txBox="1"/>
          <p:nvPr/>
        </p:nvSpPr>
        <p:spPr>
          <a:xfrm>
            <a:off x="16678" y="5532120"/>
            <a:ext cx="576243" cy="182880"/>
          </a:xfrm>
          <a:prstGeom prst="rect">
            <a:avLst/>
          </a:prstGeom>
          <a:noFill/>
          <a:ln>
            <a:noFill/>
          </a:ln>
        </p:spPr>
        <p:txBody>
          <a:bodyPr wrap="none" lIns="0" tIns="0" rIns="0" bIns="0" anchor="t" anchorCtr="0">
            <a:spAutoFit/>
          </a:bodyPr>
          <a:lstStyle/>
          <a:p>
            <a:pPr algn="ctr"/>
            <a:r>
              <a:rPr lang="zh-CN" sz="900" dirty="0">
                <a:solidFill>
                  <a:srgbClr val="FFFFFF">
                    <a:alphaMod val="60000"/>
                  </a:srgbClr>
                </a:solidFill>
                <a:latin typeface="Arial"/>
                <a:ea typeface="Microsoft YaHei"/>
                <a:cs typeface="Arial"/>
              </a:rPr>
              <a:t>Wrap-up</a:t>
            </a:r>
          </a:p>
        </p:txBody>
      </p:sp>
      <p:sp>
        <p:nvSpPr>
          <p:cNvPr id="16" name="Rectangle 16"/>
          <p:cNvSpPr/>
          <p:nvPr/>
        </p:nvSpPr>
        <p:spPr>
          <a:xfrm>
            <a:off x="914400" y="304800"/>
            <a:ext cx="419100" cy="47625"/>
          </a:xfrm>
          <a:prstGeom prst="rect">
            <a:avLst/>
          </a:prstGeom>
          <a:solidFill>
            <a:srgbClr val="B45309"/>
          </a:solidFill>
          <a:ln>
            <a:noFill/>
          </a:ln>
        </p:spPr>
      </p:sp>
      <p:sp>
        <p:nvSpPr>
          <p:cNvPr id="17" name="TextBox 17"/>
          <p:cNvSpPr txBox="1"/>
          <p:nvPr/>
        </p:nvSpPr>
        <p:spPr>
          <a:xfrm>
            <a:off x="889635" y="456248"/>
            <a:ext cx="9613258" cy="396240"/>
          </a:xfrm>
          <a:prstGeom prst="rect">
            <a:avLst/>
          </a:prstGeom>
          <a:noFill/>
          <a:ln>
            <a:noFill/>
          </a:ln>
        </p:spPr>
        <p:txBody>
          <a:bodyPr wrap="none" lIns="0" tIns="0" rIns="0" bIns="0" anchor="t" anchorCtr="0">
            <a:spAutoFit/>
          </a:bodyPr>
          <a:lstStyle/>
          <a:p>
            <a:pPr algn="l"/>
            <a:r>
              <a:rPr lang="zh-CN" sz="1950" b="1" dirty="0">
                <a:solidFill>
                  <a:srgbClr val="17332D"/>
                </a:solidFill>
                <a:latin typeface="Arial"/>
                <a:ea typeface="Microsoft YaHei"/>
                <a:cs typeface="Arial"/>
              </a:rPr>
              <a:t>The balance holds across four criteria and twelve specifications</a:t>
            </a:r>
          </a:p>
        </p:txBody>
      </p:sp>
      <p:sp>
        <p:nvSpPr>
          <p:cNvPr id="18" name="TextBox 18"/>
          <p:cNvSpPr txBox="1"/>
          <p:nvPr/>
        </p:nvSpPr>
        <p:spPr>
          <a:xfrm>
            <a:off x="10361562" y="283845"/>
            <a:ext cx="1460868" cy="182880"/>
          </a:xfrm>
          <a:prstGeom prst="rect">
            <a:avLst/>
          </a:prstGeom>
          <a:noFill/>
          <a:ln>
            <a:noFill/>
          </a:ln>
        </p:spPr>
        <p:txBody>
          <a:bodyPr wrap="none" lIns="0" tIns="0" rIns="0" bIns="0" anchor="t" anchorCtr="0">
            <a:spAutoFit/>
          </a:bodyPr>
          <a:lstStyle/>
          <a:p>
            <a:pPr algn="r"/>
            <a:r>
              <a:rPr lang="zh-CN" sz="900" dirty="0">
                <a:solidFill>
                  <a:srgbClr val="8A919B"/>
                </a:solidFill>
                <a:latin typeface="Arial"/>
                <a:ea typeface="Microsoft YaHei"/>
                <a:cs typeface="Arial"/>
              </a:rPr>
              <a:t>Figure 1c,d · Figure 3</a:t>
            </a:r>
          </a:p>
        </p:txBody>
      </p:sp>
      <p:sp>
        <p:nvSpPr>
          <p:cNvPr id="19" name="Line 19"/>
          <p:cNvSpPr/>
          <p:nvPr/>
        </p:nvSpPr>
        <p:spPr>
          <a:xfrm>
            <a:off x="914400" y="6515100"/>
            <a:ext cx="10896600" cy="9525"/>
          </a:xfrm>
          <a:custGeom>
            <a:avLst/>
            <a:gdLst/>
            <a:ahLst/>
            <a:cxnLst/>
            <a:rect l="l" t="t" r="r" b="b"/>
            <a:pathLst>
              <a:path w="10896600" h="9525">
                <a:moveTo>
                  <a:pt x="0" y="0"/>
                </a:moveTo>
                <a:lnTo>
                  <a:pt x="10896600" y="0"/>
                </a:lnTo>
              </a:path>
            </a:pathLst>
          </a:custGeom>
          <a:noFill/>
          <a:ln w="9525">
            <a:solidFill>
              <a:srgbClr val="D6D3CD"/>
            </a:solidFill>
          </a:ln>
        </p:spPr>
      </p:sp>
      <p:sp>
        <p:nvSpPr>
          <p:cNvPr id="20" name="TextBox 20"/>
          <p:cNvSpPr txBox="1"/>
          <p:nvPr/>
        </p:nvSpPr>
        <p:spPr>
          <a:xfrm>
            <a:off x="902970" y="6617970"/>
            <a:ext cx="2609698" cy="182880"/>
          </a:xfrm>
          <a:prstGeom prst="rect">
            <a:avLst/>
          </a:prstGeom>
          <a:noFill/>
          <a:ln>
            <a:noFill/>
          </a:ln>
        </p:spPr>
        <p:txBody>
          <a:bodyPr wrap="none" lIns="0" tIns="0" rIns="0" bIns="0" anchor="t" anchorCtr="0">
            <a:spAutoFit/>
          </a:bodyPr>
          <a:lstStyle/>
          <a:p>
            <a:pPr algn="l"/>
            <a:r>
              <a:rPr lang="zh-CN" sz="900" dirty="0">
                <a:solidFill>
                  <a:srgbClr val="8A919B"/>
                </a:solidFill>
                <a:latin typeface="Arial"/>
                <a:ea typeface="Microsoft YaHei"/>
                <a:cs typeface="Arial"/>
              </a:rPr>
              <a:t>Birds or birders? · AOC 2026, Singapore</a:t>
            </a:r>
          </a:p>
        </p:txBody>
      </p:sp>
      <p:sp>
        <p:nvSpPr>
          <p:cNvPr id="21" name="TextBox 21"/>
          <p:cNvSpPr txBox="1"/>
          <p:nvPr/>
        </p:nvSpPr>
        <p:spPr>
          <a:xfrm>
            <a:off x="11352657" y="6617970"/>
            <a:ext cx="469773" cy="182880"/>
          </a:xfrm>
          <a:prstGeom prst="rect">
            <a:avLst/>
          </a:prstGeom>
          <a:noFill/>
          <a:ln>
            <a:noFill/>
          </a:ln>
        </p:spPr>
        <p:txBody>
          <a:bodyPr wrap="none" lIns="0" tIns="0" rIns="0" bIns="0" anchor="t" anchorCtr="0">
            <a:spAutoFit/>
          </a:bodyPr>
          <a:lstStyle/>
          <a:p>
            <a:pPr algn="r"/>
            <a:r>
              <a:rPr lang="zh-CN" sz="900" dirty="0">
                <a:solidFill>
                  <a:srgbClr val="5F6670"/>
                </a:solidFill>
                <a:latin typeface="Arial"/>
                <a:ea typeface="Microsoft YaHei"/>
                <a:cs typeface="Arial"/>
              </a:rPr>
              <a:t>07 / 20</a:t>
            </a:r>
          </a:p>
        </p:txBody>
      </p:sp>
      <p:sp>
        <p:nvSpPr>
          <p:cNvPr id="22" name="Rectangle 22"/>
          <p:cNvSpPr/>
          <p:nvPr/>
        </p:nvSpPr>
        <p:spPr>
          <a:xfrm>
            <a:off x="914400" y="952500"/>
            <a:ext cx="5295900" cy="1238250"/>
          </a:xfrm>
          <a:prstGeom prst="roundRect">
            <a:avLst>
              <a:gd name="adj" fmla="val 4615"/>
            </a:avLst>
          </a:prstGeom>
          <a:solidFill>
            <a:srgbClr val="FFFFFF"/>
          </a:solidFill>
          <a:ln w="9525">
            <a:solidFill>
              <a:srgbClr val="D6D3CD"/>
            </a:solidFill>
          </a:ln>
        </p:spPr>
      </p:sp>
      <p:sp>
        <p:nvSpPr>
          <p:cNvPr id="23" name="Rectangle 23"/>
          <p:cNvSpPr/>
          <p:nvPr/>
        </p:nvSpPr>
        <p:spPr>
          <a:xfrm>
            <a:off x="914400" y="952500"/>
            <a:ext cx="5295900" cy="38100"/>
          </a:xfrm>
          <a:prstGeom prst="rect">
            <a:avLst/>
          </a:prstGeom>
          <a:solidFill>
            <a:srgbClr val="1F4E45"/>
          </a:solidFill>
          <a:ln>
            <a:noFill/>
          </a:ln>
        </p:spPr>
      </p:sp>
      <p:sp>
        <p:nvSpPr>
          <p:cNvPr id="24" name="TextBox 24"/>
          <p:cNvSpPr txBox="1"/>
          <p:nvPr/>
        </p:nvSpPr>
        <p:spPr>
          <a:xfrm>
            <a:off x="1088708" y="1129189"/>
            <a:ext cx="2661574" cy="259080"/>
          </a:xfrm>
          <a:prstGeom prst="rect">
            <a:avLst/>
          </a:prstGeom>
          <a:noFill/>
          <a:ln>
            <a:noFill/>
          </a:ln>
        </p:spPr>
        <p:txBody>
          <a:bodyPr wrap="none" lIns="0" tIns="0" rIns="0" bIns="0" anchor="t" anchorCtr="0">
            <a:spAutoFit/>
          </a:bodyPr>
          <a:lstStyle/>
          <a:p>
            <a:pPr algn="l"/>
            <a:r>
              <a:rPr lang="zh-CN" sz="1275" b="1" dirty="0">
                <a:solidFill>
                  <a:srgbClr val="1F4E45"/>
                </a:solidFill>
                <a:latin typeface="Arial"/>
                <a:ea typeface="Microsoft YaHei"/>
                <a:cs typeface="Arial"/>
              </a:rPr>
              <a:t>Cost of dropping each term</a:t>
            </a:r>
          </a:p>
        </p:txBody>
      </p:sp>
      <p:sp>
        <p:nvSpPr>
          <p:cNvPr id="25" name="TextBox 25"/>
          <p:cNvSpPr txBox="1"/>
          <p:nvPr/>
        </p:nvSpPr>
        <p:spPr>
          <a:xfrm>
            <a:off x="1090612" y="1421606"/>
            <a:ext cx="2726484" cy="228600"/>
          </a:xfrm>
          <a:prstGeom prst="rect">
            <a:avLst/>
          </a:prstGeom>
          <a:noFill/>
          <a:ln>
            <a:noFill/>
          </a:ln>
        </p:spPr>
        <p:txBody>
          <a:bodyPr wrap="none" lIns="0" tIns="0" rIns="0" bIns="0" anchor="t" anchorCtr="0">
            <a:spAutoFit/>
          </a:bodyPr>
          <a:lstStyle/>
          <a:p>
            <a:pPr algn="l"/>
            <a:r>
              <a:rPr lang="zh-CN" sz="1125" dirty="0">
                <a:solidFill>
                  <a:srgbClr val="17332D"/>
                </a:solidFill>
                <a:latin typeface="Arial"/>
                <a:ea typeface="Microsoft YaHei"/>
                <a:cs typeface="Arial"/>
              </a:rPr>
              <a:t>ΔAIC: warming 28.7 · effort 29.5</a:t>
            </a:r>
          </a:p>
        </p:txBody>
      </p:sp>
      <p:sp>
        <p:nvSpPr>
          <p:cNvPr id="26" name="TextBox 26"/>
          <p:cNvSpPr txBox="1"/>
          <p:nvPr/>
        </p:nvSpPr>
        <p:spPr>
          <a:xfrm>
            <a:off x="1090612" y="1659731"/>
            <a:ext cx="2907221" cy="228600"/>
          </a:xfrm>
          <a:prstGeom prst="rect">
            <a:avLst/>
          </a:prstGeom>
          <a:noFill/>
          <a:ln>
            <a:noFill/>
          </a:ln>
        </p:spPr>
        <p:txBody>
          <a:bodyPr wrap="none" lIns="0" tIns="0" rIns="0" bIns="0" anchor="t" anchorCtr="0">
            <a:spAutoFit/>
          </a:bodyPr>
          <a:lstStyle/>
          <a:p>
            <a:pPr algn="l"/>
            <a:r>
              <a:rPr lang="zh-CN" sz="1125" dirty="0">
                <a:solidFill>
                  <a:srgbClr val="17332D"/>
                </a:solidFill>
                <a:latin typeface="Arial"/>
                <a:ea typeface="Microsoft YaHei"/>
                <a:cs typeface="Arial"/>
              </a:rPr>
              <a:t>ΔAUC: warming 0.053 · effort 0.032</a:t>
            </a:r>
          </a:p>
        </p:txBody>
      </p:sp>
      <p:sp>
        <p:nvSpPr>
          <p:cNvPr id="27" name="TextBox 27"/>
          <p:cNvSpPr txBox="1"/>
          <p:nvPr/>
        </p:nvSpPr>
        <p:spPr>
          <a:xfrm>
            <a:off x="1090612" y="1897856"/>
            <a:ext cx="2578608" cy="228600"/>
          </a:xfrm>
          <a:prstGeom prst="rect">
            <a:avLst/>
          </a:prstGeom>
          <a:noFill/>
          <a:ln>
            <a:noFill/>
          </a:ln>
        </p:spPr>
        <p:txBody>
          <a:bodyPr wrap="none" lIns="0" tIns="0" rIns="0" bIns="0" anchor="t" anchorCtr="0">
            <a:spAutoFit/>
          </a:bodyPr>
          <a:lstStyle/>
          <a:p>
            <a:pPr algn="l"/>
            <a:r>
              <a:rPr lang="zh-CN" sz="1125" dirty="0">
                <a:solidFill>
                  <a:srgbClr val="5F6670"/>
                </a:solidFill>
                <a:latin typeface="Arial"/>
                <a:ea typeface="Microsoft YaHei"/>
                <a:cs typeface="Arial"/>
              </a:rPr>
              <a:t>Δ conditional R² and |β| agree</a:t>
            </a:r>
          </a:p>
        </p:txBody>
      </p:sp>
      <p:sp>
        <p:nvSpPr>
          <p:cNvPr id="28" name="Rectangle 28"/>
          <p:cNvSpPr/>
          <p:nvPr/>
        </p:nvSpPr>
        <p:spPr>
          <a:xfrm>
            <a:off x="6515100" y="952500"/>
            <a:ext cx="5295900" cy="1238250"/>
          </a:xfrm>
          <a:prstGeom prst="roundRect">
            <a:avLst>
              <a:gd name="adj" fmla="val 4615"/>
            </a:avLst>
          </a:prstGeom>
          <a:solidFill>
            <a:srgbClr val="FFFFFF"/>
          </a:solidFill>
          <a:ln w="9525">
            <a:solidFill>
              <a:srgbClr val="D6D3CD"/>
            </a:solidFill>
          </a:ln>
        </p:spPr>
      </p:sp>
      <p:sp>
        <p:nvSpPr>
          <p:cNvPr id="29" name="Rectangle 29"/>
          <p:cNvSpPr/>
          <p:nvPr/>
        </p:nvSpPr>
        <p:spPr>
          <a:xfrm>
            <a:off x="6515100" y="952500"/>
            <a:ext cx="5295900" cy="38100"/>
          </a:xfrm>
          <a:prstGeom prst="rect">
            <a:avLst/>
          </a:prstGeom>
          <a:solidFill>
            <a:srgbClr val="009E73"/>
          </a:solidFill>
          <a:ln>
            <a:noFill/>
          </a:ln>
        </p:spPr>
      </p:sp>
      <p:sp>
        <p:nvSpPr>
          <p:cNvPr id="30" name="TextBox 30"/>
          <p:cNvSpPr txBox="1"/>
          <p:nvPr/>
        </p:nvSpPr>
        <p:spPr>
          <a:xfrm>
            <a:off x="6689408" y="1129189"/>
            <a:ext cx="3204387" cy="259080"/>
          </a:xfrm>
          <a:prstGeom prst="rect">
            <a:avLst/>
          </a:prstGeom>
          <a:noFill/>
          <a:ln>
            <a:noFill/>
          </a:ln>
        </p:spPr>
        <p:txBody>
          <a:bodyPr wrap="none" lIns="0" tIns="0" rIns="0" bIns="0" anchor="t" anchorCtr="0">
            <a:spAutoFit/>
          </a:bodyPr>
          <a:lstStyle/>
          <a:p>
            <a:pPr algn="l"/>
            <a:r>
              <a:rPr lang="zh-CN" sz="1275" b="1" dirty="0">
                <a:solidFill>
                  <a:srgbClr val="009E73"/>
                </a:solidFill>
                <a:latin typeface="Arial"/>
                <a:ea typeface="Microsoft YaHei"/>
                <a:cs typeface="Arial"/>
              </a:rPr>
              <a:t>Discrimination ladder (Figure 1d)</a:t>
            </a:r>
          </a:p>
        </p:txBody>
      </p:sp>
      <p:sp>
        <p:nvSpPr>
          <p:cNvPr id="31" name="TextBox 31"/>
          <p:cNvSpPr txBox="1"/>
          <p:nvPr/>
        </p:nvSpPr>
        <p:spPr>
          <a:xfrm>
            <a:off x="6691312" y="1421606"/>
            <a:ext cx="2240137" cy="228600"/>
          </a:xfrm>
          <a:prstGeom prst="rect">
            <a:avLst/>
          </a:prstGeom>
          <a:noFill/>
          <a:ln>
            <a:noFill/>
          </a:ln>
        </p:spPr>
        <p:txBody>
          <a:bodyPr wrap="none" lIns="0" tIns="0" rIns="0" bIns="0" anchor="t" anchorCtr="0">
            <a:spAutoFit/>
          </a:bodyPr>
          <a:lstStyle/>
          <a:p>
            <a:pPr algn="l"/>
            <a:r>
              <a:rPr lang="zh-CN" sz="1125" dirty="0">
                <a:solidFill>
                  <a:srgbClr val="0072B2"/>
                </a:solidFill>
                <a:latin typeface="Arial"/>
                <a:ea typeface="Microsoft YaHei"/>
                <a:cs typeface="Arial"/>
              </a:rPr>
              <a:t>Null 0.41 → effort only 0.56</a:t>
            </a:r>
          </a:p>
        </p:txBody>
      </p:sp>
      <p:sp>
        <p:nvSpPr>
          <p:cNvPr id="32" name="TextBox 32"/>
          <p:cNvSpPr txBox="1"/>
          <p:nvPr/>
        </p:nvSpPr>
        <p:spPr>
          <a:xfrm>
            <a:off x="6691312" y="1659731"/>
            <a:ext cx="2595039" cy="228600"/>
          </a:xfrm>
          <a:prstGeom prst="rect">
            <a:avLst/>
          </a:prstGeom>
          <a:noFill/>
          <a:ln>
            <a:noFill/>
          </a:ln>
        </p:spPr>
        <p:txBody>
          <a:bodyPr wrap="none" lIns="0" tIns="0" rIns="0" bIns="0" anchor="t" anchorCtr="0">
            <a:spAutoFit/>
          </a:bodyPr>
          <a:lstStyle/>
          <a:p>
            <a:pPr algn="l"/>
            <a:r>
              <a:rPr lang="zh-CN" sz="1125" dirty="0">
                <a:solidFill>
                  <a:srgbClr val="009E73"/>
                </a:solidFill>
                <a:latin typeface="Arial"/>
                <a:ea typeface="Microsoft YaHei"/>
                <a:cs typeface="Arial"/>
              </a:rPr>
              <a:t>→ warming only 0.58 → both 0.61</a:t>
            </a:r>
          </a:p>
        </p:txBody>
      </p:sp>
      <p:sp>
        <p:nvSpPr>
          <p:cNvPr id="33" name="TextBox 33"/>
          <p:cNvSpPr txBox="1"/>
          <p:nvPr/>
        </p:nvSpPr>
        <p:spPr>
          <a:xfrm>
            <a:off x="6691312" y="1897856"/>
            <a:ext cx="3702463" cy="228600"/>
          </a:xfrm>
          <a:prstGeom prst="rect">
            <a:avLst/>
          </a:prstGeom>
          <a:noFill/>
          <a:ln>
            <a:noFill/>
          </a:ln>
        </p:spPr>
        <p:txBody>
          <a:bodyPr wrap="none" lIns="0" tIns="0" rIns="0" bIns="0" anchor="t" anchorCtr="0">
            <a:spAutoFit/>
          </a:bodyPr>
          <a:lstStyle/>
          <a:p>
            <a:pPr algn="l"/>
            <a:r>
              <a:rPr lang="zh-CN" sz="1125" dirty="0">
                <a:solidFill>
                  <a:srgbClr val="17332D"/>
                </a:solidFill>
                <a:latin typeface="Arial"/>
                <a:ea typeface="Microsoft YaHei"/>
                <a:cs typeface="Arial"/>
              </a:rPr>
              <a:t>Climate alone beats effort alone; both needed</a:t>
            </a:r>
          </a:p>
        </p:txBody>
      </p:sp>
      <p:sp>
        <p:nvSpPr>
          <p:cNvPr id="34" name="Rectangle 34"/>
          <p:cNvSpPr/>
          <p:nvPr/>
        </p:nvSpPr>
        <p:spPr>
          <a:xfrm>
            <a:off x="914400" y="2457450"/>
            <a:ext cx="10896600" cy="3143250"/>
          </a:xfrm>
          <a:prstGeom prst="roundRect">
            <a:avLst>
              <a:gd name="adj" fmla="val 1818"/>
            </a:avLst>
          </a:prstGeom>
          <a:solidFill>
            <a:srgbClr val="FFFFFF"/>
          </a:solidFill>
          <a:ln w="9525">
            <a:solidFill>
              <a:srgbClr val="D6D3CD"/>
            </a:solidFill>
          </a:ln>
        </p:spPr>
      </p:sp>
      <p:sp>
        <p:nvSpPr>
          <p:cNvPr id="35" name="Rectangle 35"/>
          <p:cNvSpPr/>
          <p:nvPr/>
        </p:nvSpPr>
        <p:spPr>
          <a:xfrm>
            <a:off x="914400" y="2457450"/>
            <a:ext cx="10896600" cy="38100"/>
          </a:xfrm>
          <a:prstGeom prst="rect">
            <a:avLst/>
          </a:prstGeom>
          <a:solidFill>
            <a:srgbClr val="B45309"/>
          </a:solidFill>
          <a:ln>
            <a:noFill/>
          </a:ln>
        </p:spPr>
      </p:sp>
      <p:sp>
        <p:nvSpPr>
          <p:cNvPr id="36" name="TextBox 36"/>
          <p:cNvSpPr txBox="1"/>
          <p:nvPr/>
        </p:nvSpPr>
        <p:spPr>
          <a:xfrm>
            <a:off x="1125855" y="2711768"/>
            <a:ext cx="3453490" cy="274320"/>
          </a:xfrm>
          <a:prstGeom prst="rect">
            <a:avLst/>
          </a:prstGeom>
          <a:noFill/>
          <a:ln>
            <a:noFill/>
          </a:ln>
        </p:spPr>
        <p:txBody>
          <a:bodyPr wrap="none" lIns="0" tIns="0" rIns="0" bIns="0" anchor="t" anchorCtr="0">
            <a:spAutoFit/>
          </a:bodyPr>
          <a:lstStyle/>
          <a:p>
            <a:pPr algn="l"/>
            <a:r>
              <a:rPr lang="zh-CN" sz="1350" b="1" dirty="0">
                <a:solidFill>
                  <a:srgbClr val="B45309"/>
                </a:solidFill>
                <a:latin typeface="Arial"/>
                <a:ea typeface="Microsoft YaHei"/>
                <a:cs typeface="Arial"/>
              </a:rPr>
              <a:t>Twelve specifications, one answer</a:t>
            </a:r>
          </a:p>
        </p:txBody>
      </p:sp>
      <p:sp>
        <p:nvSpPr>
          <p:cNvPr id="37" name="TextBox 37"/>
          <p:cNvSpPr txBox="1"/>
          <p:nvPr/>
        </p:nvSpPr>
        <p:spPr>
          <a:xfrm>
            <a:off x="6271260" y="2727960"/>
            <a:ext cx="1338340" cy="243840"/>
          </a:xfrm>
          <a:prstGeom prst="rect">
            <a:avLst/>
          </a:prstGeom>
          <a:noFill/>
          <a:ln>
            <a:noFill/>
          </a:ln>
        </p:spPr>
        <p:txBody>
          <a:bodyPr wrap="none" lIns="0" tIns="0" rIns="0" bIns="0" anchor="t" anchorCtr="0">
            <a:spAutoFit/>
          </a:bodyPr>
          <a:lstStyle/>
          <a:p>
            <a:pPr algn="l"/>
            <a:r>
              <a:rPr lang="zh-CN" sz="1200" b="1" dirty="0">
                <a:solidFill>
                  <a:srgbClr val="0072B2"/>
                </a:solidFill>
                <a:latin typeface="Arial"/>
                <a:ea typeface="Microsoft YaHei"/>
                <a:cs typeface="Arial"/>
              </a:rPr>
              <a:t>Survey effort</a:t>
            </a:r>
          </a:p>
        </p:txBody>
      </p:sp>
      <p:sp>
        <p:nvSpPr>
          <p:cNvPr id="38" name="TextBox 38"/>
          <p:cNvSpPr txBox="1"/>
          <p:nvPr/>
        </p:nvSpPr>
        <p:spPr>
          <a:xfrm>
            <a:off x="8557260" y="2727960"/>
            <a:ext cx="1858512" cy="243840"/>
          </a:xfrm>
          <a:prstGeom prst="rect">
            <a:avLst/>
          </a:prstGeom>
          <a:noFill/>
          <a:ln>
            <a:noFill/>
          </a:ln>
        </p:spPr>
        <p:txBody>
          <a:bodyPr wrap="none" lIns="0" tIns="0" rIns="0" bIns="0" anchor="t" anchorCtr="0">
            <a:spAutoFit/>
          </a:bodyPr>
          <a:lstStyle/>
          <a:p>
            <a:pPr algn="l"/>
            <a:r>
              <a:rPr lang="zh-CN" sz="1200" b="1" dirty="0">
                <a:solidFill>
                  <a:srgbClr val="009E73"/>
                </a:solidFill>
                <a:latin typeface="Arial"/>
                <a:ea typeface="Microsoft YaHei"/>
                <a:cs typeface="Arial"/>
              </a:rPr>
              <a:t>Accumulated warming</a:t>
            </a:r>
          </a:p>
        </p:txBody>
      </p:sp>
      <p:sp>
        <p:nvSpPr>
          <p:cNvPr id="39" name="Line 39"/>
          <p:cNvSpPr/>
          <p:nvPr/>
        </p:nvSpPr>
        <p:spPr>
          <a:xfrm>
            <a:off x="1143000" y="3067050"/>
            <a:ext cx="10439400" cy="9525"/>
          </a:xfrm>
          <a:custGeom>
            <a:avLst/>
            <a:gdLst/>
            <a:ahLst/>
            <a:cxnLst/>
            <a:rect l="l" t="t" r="r" b="b"/>
            <a:pathLst>
              <a:path w="10439400" h="9525">
                <a:moveTo>
                  <a:pt x="0" y="0"/>
                </a:moveTo>
                <a:lnTo>
                  <a:pt x="10439400" y="0"/>
                </a:lnTo>
              </a:path>
            </a:pathLst>
          </a:custGeom>
          <a:noFill/>
          <a:ln w="9525">
            <a:solidFill>
              <a:srgbClr val="D6D3CD"/>
            </a:solidFill>
          </a:ln>
        </p:spPr>
      </p:sp>
      <p:sp>
        <p:nvSpPr>
          <p:cNvPr id="40" name="TextBox 40"/>
          <p:cNvSpPr txBox="1"/>
          <p:nvPr/>
        </p:nvSpPr>
        <p:spPr>
          <a:xfrm>
            <a:off x="1125855" y="3264218"/>
            <a:ext cx="3664144" cy="274320"/>
          </a:xfrm>
          <a:prstGeom prst="rect">
            <a:avLst/>
          </a:prstGeom>
          <a:noFill/>
          <a:ln>
            <a:noFill/>
          </a:ln>
        </p:spPr>
        <p:txBody>
          <a:bodyPr wrap="none" lIns="0" tIns="0" rIns="0" bIns="0" anchor="t" anchorCtr="0">
            <a:spAutoFit/>
          </a:bodyPr>
          <a:lstStyle/>
          <a:p>
            <a:pPr algn="l"/>
            <a:r>
              <a:rPr lang="zh-CN" sz="1350" dirty="0">
                <a:solidFill>
                  <a:srgbClr val="17332D"/>
                </a:solidFill>
                <a:latin typeface="Arial"/>
                <a:ea typeface="Microsoft YaHei"/>
                <a:cs typeface="Arial"/>
              </a:rPr>
              <a:t>SDM thresholds (50 / 100 / 200 cells)</a:t>
            </a:r>
          </a:p>
        </p:txBody>
      </p:sp>
      <p:sp>
        <p:nvSpPr>
          <p:cNvPr id="41" name="TextBox 41"/>
          <p:cNvSpPr txBox="1"/>
          <p:nvPr/>
        </p:nvSpPr>
        <p:spPr>
          <a:xfrm>
            <a:off x="6269355" y="3264218"/>
            <a:ext cx="1350975" cy="274320"/>
          </a:xfrm>
          <a:prstGeom prst="rect">
            <a:avLst/>
          </a:prstGeom>
          <a:noFill/>
          <a:ln>
            <a:noFill/>
          </a:ln>
        </p:spPr>
        <p:txBody>
          <a:bodyPr wrap="none" lIns="0" tIns="0" rIns="0" bIns="0" anchor="t" anchorCtr="0">
            <a:spAutoFit/>
          </a:bodyPr>
          <a:lstStyle/>
          <a:p>
            <a:pPr algn="l"/>
            <a:r>
              <a:rPr lang="zh-CN" sz="1350" b="1" dirty="0">
                <a:solidFill>
                  <a:srgbClr val="17332D"/>
                </a:solidFill>
                <a:latin typeface="Arial"/>
                <a:ea typeface="Microsoft YaHei"/>
                <a:cs typeface="Arial"/>
              </a:rPr>
              <a:t>HR 1.40–1.41</a:t>
            </a:r>
          </a:p>
        </p:txBody>
      </p:sp>
      <p:sp>
        <p:nvSpPr>
          <p:cNvPr id="42" name="TextBox 42"/>
          <p:cNvSpPr txBox="1"/>
          <p:nvPr/>
        </p:nvSpPr>
        <p:spPr>
          <a:xfrm>
            <a:off x="8555355" y="3264218"/>
            <a:ext cx="1350975" cy="274320"/>
          </a:xfrm>
          <a:prstGeom prst="rect">
            <a:avLst/>
          </a:prstGeom>
          <a:noFill/>
          <a:ln>
            <a:noFill/>
          </a:ln>
        </p:spPr>
        <p:txBody>
          <a:bodyPr wrap="none" lIns="0" tIns="0" rIns="0" bIns="0" anchor="t" anchorCtr="0">
            <a:spAutoFit/>
          </a:bodyPr>
          <a:lstStyle/>
          <a:p>
            <a:pPr algn="l"/>
            <a:r>
              <a:rPr lang="zh-CN" sz="1350" b="1" dirty="0">
                <a:solidFill>
                  <a:srgbClr val="17332D"/>
                </a:solidFill>
                <a:latin typeface="Arial"/>
                <a:ea typeface="Microsoft YaHei"/>
                <a:cs typeface="Arial"/>
              </a:rPr>
              <a:t>HR 1.36–1.38</a:t>
            </a:r>
          </a:p>
        </p:txBody>
      </p:sp>
      <p:sp>
        <p:nvSpPr>
          <p:cNvPr id="43" name="Line 43"/>
          <p:cNvSpPr/>
          <p:nvPr/>
        </p:nvSpPr>
        <p:spPr>
          <a:xfrm>
            <a:off x="1143000" y="3600450"/>
            <a:ext cx="10439400" cy="9525"/>
          </a:xfrm>
          <a:custGeom>
            <a:avLst/>
            <a:gdLst/>
            <a:ahLst/>
            <a:cxnLst/>
            <a:rect l="l" t="t" r="r" b="b"/>
            <a:pathLst>
              <a:path w="10439400" h="9525">
                <a:moveTo>
                  <a:pt x="0" y="0"/>
                </a:moveTo>
                <a:lnTo>
                  <a:pt x="10439400" y="0"/>
                </a:lnTo>
              </a:path>
            </a:pathLst>
          </a:custGeom>
          <a:noFill/>
          <a:ln w="9525">
            <a:solidFill>
              <a:srgbClr val="D6D3CD"/>
            </a:solidFill>
          </a:ln>
        </p:spPr>
      </p:sp>
      <p:sp>
        <p:nvSpPr>
          <p:cNvPr id="44" name="TextBox 44"/>
          <p:cNvSpPr txBox="1"/>
          <p:nvPr/>
        </p:nvSpPr>
        <p:spPr>
          <a:xfrm>
            <a:off x="1125855" y="3797618"/>
            <a:ext cx="3918490" cy="274320"/>
          </a:xfrm>
          <a:prstGeom prst="rect">
            <a:avLst/>
          </a:prstGeom>
          <a:noFill/>
          <a:ln>
            <a:noFill/>
          </a:ln>
        </p:spPr>
        <p:txBody>
          <a:bodyPr wrap="none" lIns="0" tIns="0" rIns="0" bIns="0" anchor="t" anchorCtr="0">
            <a:spAutoFit/>
          </a:bodyPr>
          <a:lstStyle/>
          <a:p>
            <a:pPr algn="l"/>
            <a:r>
              <a:rPr lang="zh-CN" sz="1350" dirty="0">
                <a:solidFill>
                  <a:srgbClr val="17332D"/>
                </a:solidFill>
                <a:latin typeface="Arial"/>
                <a:ea typeface="Microsoft YaHei"/>
                <a:cs typeface="Arial"/>
              </a:rPr>
              <a:t>4 effort proxies × 3 missing-data rules</a:t>
            </a:r>
          </a:p>
        </p:txBody>
      </p:sp>
      <p:sp>
        <p:nvSpPr>
          <p:cNvPr id="45" name="TextBox 45"/>
          <p:cNvSpPr txBox="1"/>
          <p:nvPr/>
        </p:nvSpPr>
        <p:spPr>
          <a:xfrm>
            <a:off x="6269355" y="3797618"/>
            <a:ext cx="1350975" cy="274320"/>
          </a:xfrm>
          <a:prstGeom prst="rect">
            <a:avLst/>
          </a:prstGeom>
          <a:noFill/>
          <a:ln>
            <a:noFill/>
          </a:ln>
        </p:spPr>
        <p:txBody>
          <a:bodyPr wrap="none" lIns="0" tIns="0" rIns="0" bIns="0" anchor="t" anchorCtr="0">
            <a:spAutoFit/>
          </a:bodyPr>
          <a:lstStyle/>
          <a:p>
            <a:pPr algn="l"/>
            <a:r>
              <a:rPr lang="zh-CN" sz="1350" b="1" dirty="0">
                <a:solidFill>
                  <a:srgbClr val="17332D"/>
                </a:solidFill>
                <a:latin typeface="Arial"/>
                <a:ea typeface="Microsoft YaHei"/>
                <a:cs typeface="Arial"/>
              </a:rPr>
              <a:t>HR 1.25–1.52</a:t>
            </a:r>
          </a:p>
        </p:txBody>
      </p:sp>
      <p:sp>
        <p:nvSpPr>
          <p:cNvPr id="46" name="TextBox 46"/>
          <p:cNvSpPr txBox="1"/>
          <p:nvPr/>
        </p:nvSpPr>
        <p:spPr>
          <a:xfrm>
            <a:off x="8555355" y="3797618"/>
            <a:ext cx="1350975" cy="274320"/>
          </a:xfrm>
          <a:prstGeom prst="rect">
            <a:avLst/>
          </a:prstGeom>
          <a:noFill/>
          <a:ln>
            <a:noFill/>
          </a:ln>
        </p:spPr>
        <p:txBody>
          <a:bodyPr wrap="none" lIns="0" tIns="0" rIns="0" bIns="0" anchor="t" anchorCtr="0">
            <a:spAutoFit/>
          </a:bodyPr>
          <a:lstStyle/>
          <a:p>
            <a:pPr algn="l"/>
            <a:r>
              <a:rPr lang="zh-CN" sz="1350" b="1" dirty="0">
                <a:solidFill>
                  <a:srgbClr val="17332D"/>
                </a:solidFill>
                <a:latin typeface="Arial"/>
                <a:ea typeface="Microsoft YaHei"/>
                <a:cs typeface="Arial"/>
              </a:rPr>
              <a:t>HR 1.35–1.37</a:t>
            </a:r>
          </a:p>
        </p:txBody>
      </p:sp>
      <p:sp>
        <p:nvSpPr>
          <p:cNvPr id="47" name="Line 47"/>
          <p:cNvSpPr/>
          <p:nvPr/>
        </p:nvSpPr>
        <p:spPr>
          <a:xfrm>
            <a:off x="1143000" y="4133850"/>
            <a:ext cx="10439400" cy="9525"/>
          </a:xfrm>
          <a:custGeom>
            <a:avLst/>
            <a:gdLst/>
            <a:ahLst/>
            <a:cxnLst/>
            <a:rect l="l" t="t" r="r" b="b"/>
            <a:pathLst>
              <a:path w="10439400" h="9525">
                <a:moveTo>
                  <a:pt x="0" y="0"/>
                </a:moveTo>
                <a:lnTo>
                  <a:pt x="10439400" y="0"/>
                </a:lnTo>
              </a:path>
            </a:pathLst>
          </a:custGeom>
          <a:noFill/>
          <a:ln w="9525">
            <a:solidFill>
              <a:srgbClr val="D6D3CD"/>
            </a:solidFill>
          </a:ln>
        </p:spPr>
      </p:sp>
      <p:sp>
        <p:nvSpPr>
          <p:cNvPr id="48" name="TextBox 48"/>
          <p:cNvSpPr txBox="1"/>
          <p:nvPr/>
        </p:nvSpPr>
        <p:spPr>
          <a:xfrm>
            <a:off x="1125855" y="4331018"/>
            <a:ext cx="3027293" cy="274320"/>
          </a:xfrm>
          <a:prstGeom prst="rect">
            <a:avLst/>
          </a:prstGeom>
          <a:noFill/>
          <a:ln>
            <a:noFill/>
          </a:ln>
        </p:spPr>
        <p:txBody>
          <a:bodyPr wrap="none" lIns="0" tIns="0" rIns="0" bIns="0" anchor="t" anchorCtr="0">
            <a:spAutoFit/>
          </a:bodyPr>
          <a:lstStyle/>
          <a:p>
            <a:pPr algn="l"/>
            <a:r>
              <a:rPr lang="zh-CN" sz="1350" dirty="0">
                <a:solidFill>
                  <a:srgbClr val="17332D"/>
                </a:solidFill>
                <a:latin typeface="Arial"/>
                <a:ea typeface="Microsoft YaHei"/>
                <a:cs typeface="Arial"/>
              </a:rPr>
              <a:t>4 climate windows × 3 baselines</a:t>
            </a:r>
          </a:p>
        </p:txBody>
      </p:sp>
      <p:sp>
        <p:nvSpPr>
          <p:cNvPr id="49" name="TextBox 49"/>
          <p:cNvSpPr txBox="1"/>
          <p:nvPr/>
        </p:nvSpPr>
        <p:spPr>
          <a:xfrm>
            <a:off x="6269355" y="4331018"/>
            <a:ext cx="243288" cy="274320"/>
          </a:xfrm>
          <a:prstGeom prst="rect">
            <a:avLst/>
          </a:prstGeom>
          <a:noFill/>
          <a:ln>
            <a:noFill/>
          </a:ln>
        </p:spPr>
        <p:txBody>
          <a:bodyPr wrap="none" lIns="0" tIns="0" rIns="0" bIns="0" anchor="t" anchorCtr="0">
            <a:spAutoFit/>
          </a:bodyPr>
          <a:lstStyle/>
          <a:p>
            <a:pPr algn="l"/>
            <a:r>
              <a:rPr lang="zh-CN" sz="1350" b="1" dirty="0">
                <a:solidFill>
                  <a:srgbClr val="17332D"/>
                </a:solidFill>
                <a:latin typeface="Arial"/>
                <a:ea typeface="Microsoft YaHei"/>
                <a:cs typeface="Arial"/>
              </a:rPr>
              <a:t>—</a:t>
            </a:r>
          </a:p>
        </p:txBody>
      </p:sp>
      <p:sp>
        <p:nvSpPr>
          <p:cNvPr id="50" name="TextBox 50"/>
          <p:cNvSpPr txBox="1"/>
          <p:nvPr/>
        </p:nvSpPr>
        <p:spPr>
          <a:xfrm>
            <a:off x="8555355" y="4331018"/>
            <a:ext cx="2249664" cy="274320"/>
          </a:xfrm>
          <a:prstGeom prst="rect">
            <a:avLst/>
          </a:prstGeom>
          <a:noFill/>
          <a:ln>
            <a:noFill/>
          </a:ln>
        </p:spPr>
        <p:txBody>
          <a:bodyPr wrap="none" lIns="0" tIns="0" rIns="0" bIns="0" anchor="t" anchorCtr="0">
            <a:spAutoFit/>
          </a:bodyPr>
          <a:lstStyle/>
          <a:p>
            <a:pPr algn="l"/>
            <a:r>
              <a:rPr lang="zh-CN" sz="1350" b="1" dirty="0">
                <a:solidFill>
                  <a:srgbClr val="17332D"/>
                </a:solidFill>
                <a:latin typeface="Arial"/>
                <a:ea typeface="Microsoft YaHei"/>
                <a:cs typeface="Arial"/>
              </a:rPr>
              <a:t>best window 18–20 yr</a:t>
            </a:r>
          </a:p>
        </p:txBody>
      </p:sp>
      <p:sp>
        <p:nvSpPr>
          <p:cNvPr id="51" name="TextBox 51"/>
          <p:cNvSpPr txBox="1"/>
          <p:nvPr/>
        </p:nvSpPr>
        <p:spPr>
          <a:xfrm>
            <a:off x="1127760" y="5185410"/>
            <a:ext cx="7265213" cy="243840"/>
          </a:xfrm>
          <a:prstGeom prst="rect">
            <a:avLst/>
          </a:prstGeom>
          <a:noFill/>
          <a:ln>
            <a:noFill/>
          </a:ln>
        </p:spPr>
        <p:txBody>
          <a:bodyPr wrap="none" lIns="0" tIns="0" rIns="0" bIns="0" anchor="t" anchorCtr="0">
            <a:spAutoFit/>
          </a:bodyPr>
          <a:lstStyle/>
          <a:p>
            <a:pPr algn="l"/>
            <a:r>
              <a:rPr lang="zh-CN" sz="1200" dirty="0">
                <a:solidFill>
                  <a:srgbClr val="5F6670"/>
                </a:solidFill>
                <a:latin typeface="Arial"/>
                <a:ea typeface="Microsoft YaHei"/>
                <a:cs typeface="Arial"/>
              </a:rPr>
              <a:t>A weather-driven process predicts the opposite window pattern — we did not see it.</a:t>
            </a: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BFAF7"/>
          </a:solidFill>
          <a:ln>
            <a:noFill/>
          </a:ln>
        </p:spPr>
      </p:sp>
      <p:sp>
        <p:nvSpPr>
          <p:cNvPr id="3" name="Rectangle 3"/>
          <p:cNvSpPr/>
          <p:nvPr/>
        </p:nvSpPr>
        <p:spPr>
          <a:xfrm>
            <a:off x="0" y="0"/>
            <a:ext cx="609600" cy="6858000"/>
          </a:xfrm>
          <a:prstGeom prst="rect">
            <a:avLst/>
          </a:prstGeom>
          <a:solidFill>
            <a:srgbClr val="1F4E45"/>
          </a:solidFill>
          <a:ln>
            <a:noFill/>
          </a:ln>
        </p:spPr>
      </p:sp>
      <p:sp>
        <p:nvSpPr>
          <p:cNvPr id="4" name="Ellipse 4"/>
          <p:cNvSpPr/>
          <p:nvPr/>
        </p:nvSpPr>
        <p:spPr>
          <a:xfrm>
            <a:off x="272415" y="1091565"/>
            <a:ext cx="64770" cy="64770"/>
          </a:xfrm>
          <a:prstGeom prst="ellipse">
            <a:avLst/>
          </a:prstGeom>
          <a:solidFill>
            <a:srgbClr val="FFFFFF">
              <a:alpha val="42000"/>
            </a:srgbClr>
          </a:solidFill>
          <a:ln>
            <a:noFill/>
          </a:ln>
        </p:spPr>
      </p:sp>
      <p:sp>
        <p:nvSpPr>
          <p:cNvPr id="5" name="TextBox 5"/>
          <p:cNvSpPr txBox="1"/>
          <p:nvPr/>
        </p:nvSpPr>
        <p:spPr>
          <a:xfrm>
            <a:off x="17336" y="1245870"/>
            <a:ext cx="574929" cy="182880"/>
          </a:xfrm>
          <a:prstGeom prst="rect">
            <a:avLst/>
          </a:prstGeom>
          <a:noFill/>
          <a:ln>
            <a:noFill/>
          </a:ln>
        </p:spPr>
        <p:txBody>
          <a:bodyPr wrap="none" lIns="0" tIns="0" rIns="0" bIns="0" anchor="t" anchorCtr="0">
            <a:spAutoFit/>
          </a:bodyPr>
          <a:lstStyle/>
          <a:p>
            <a:pPr algn="ctr"/>
            <a:r>
              <a:rPr lang="zh-CN" sz="900" dirty="0">
                <a:solidFill>
                  <a:srgbClr val="FFFFFF">
                    <a:alphaMod val="60000"/>
                  </a:srgbClr>
                </a:solidFill>
                <a:latin typeface="Arial"/>
                <a:ea typeface="Microsoft YaHei"/>
                <a:cs typeface="Arial"/>
              </a:rPr>
              <a:t>Question</a:t>
            </a:r>
          </a:p>
        </p:txBody>
      </p:sp>
      <p:sp>
        <p:nvSpPr>
          <p:cNvPr id="6" name="Ellipse 6"/>
          <p:cNvSpPr/>
          <p:nvPr/>
        </p:nvSpPr>
        <p:spPr>
          <a:xfrm>
            <a:off x="272415" y="1948815"/>
            <a:ext cx="64770" cy="64770"/>
          </a:xfrm>
          <a:prstGeom prst="ellipse">
            <a:avLst/>
          </a:prstGeom>
          <a:solidFill>
            <a:srgbClr val="FFFFFF">
              <a:alpha val="42000"/>
            </a:srgbClr>
          </a:solidFill>
          <a:ln>
            <a:noFill/>
          </a:ln>
        </p:spPr>
      </p:sp>
      <p:sp>
        <p:nvSpPr>
          <p:cNvPr id="7" name="TextBox 7"/>
          <p:cNvSpPr txBox="1"/>
          <p:nvPr/>
        </p:nvSpPr>
        <p:spPr>
          <a:xfrm>
            <a:off x="146152" y="2103120"/>
            <a:ext cx="317297" cy="182880"/>
          </a:xfrm>
          <a:prstGeom prst="rect">
            <a:avLst/>
          </a:prstGeom>
          <a:noFill/>
          <a:ln>
            <a:noFill/>
          </a:ln>
        </p:spPr>
        <p:txBody>
          <a:bodyPr wrap="none" lIns="0" tIns="0" rIns="0" bIns="0" anchor="t" anchorCtr="0">
            <a:spAutoFit/>
          </a:bodyPr>
          <a:lstStyle/>
          <a:p>
            <a:pPr algn="ctr"/>
            <a:r>
              <a:rPr lang="zh-CN" sz="900" dirty="0">
                <a:solidFill>
                  <a:srgbClr val="FFFFFF">
                    <a:alphaMod val="60000"/>
                  </a:srgbClr>
                </a:solidFill>
                <a:latin typeface="Arial"/>
                <a:ea typeface="Microsoft YaHei"/>
                <a:cs typeface="Arial"/>
              </a:rPr>
              <a:t>Data</a:t>
            </a:r>
          </a:p>
        </p:txBody>
      </p:sp>
      <p:sp>
        <p:nvSpPr>
          <p:cNvPr id="8" name="Ellipse 8"/>
          <p:cNvSpPr/>
          <p:nvPr/>
        </p:nvSpPr>
        <p:spPr>
          <a:xfrm>
            <a:off x="257175" y="2790825"/>
            <a:ext cx="95250" cy="95250"/>
          </a:xfrm>
          <a:prstGeom prst="ellipse">
            <a:avLst/>
          </a:prstGeom>
          <a:solidFill>
            <a:srgbClr val="FFFFFF"/>
          </a:solidFill>
          <a:ln>
            <a:noFill/>
          </a:ln>
        </p:spPr>
      </p:sp>
      <p:sp>
        <p:nvSpPr>
          <p:cNvPr id="9" name="TextBox 9"/>
          <p:cNvSpPr txBox="1"/>
          <p:nvPr/>
        </p:nvSpPr>
        <p:spPr>
          <a:xfrm>
            <a:off x="35738" y="2960370"/>
            <a:ext cx="538124" cy="182880"/>
          </a:xfrm>
          <a:prstGeom prst="rect">
            <a:avLst/>
          </a:prstGeom>
          <a:noFill/>
          <a:ln>
            <a:noFill/>
          </a:ln>
        </p:spPr>
        <p:txBody>
          <a:bodyPr wrap="none" lIns="0" tIns="0" rIns="0" bIns="0" anchor="t" anchorCtr="0">
            <a:spAutoFit/>
          </a:bodyPr>
          <a:lstStyle/>
          <a:p>
            <a:pPr algn="ctr"/>
            <a:r>
              <a:rPr lang="zh-CN" sz="900" dirty="0">
                <a:solidFill>
                  <a:srgbClr val="FFFFFF"/>
                </a:solidFill>
                <a:latin typeface="Arial"/>
                <a:ea typeface="Microsoft YaHei"/>
                <a:cs typeface="Arial"/>
              </a:rPr>
              <a:t>Findings</a:t>
            </a:r>
          </a:p>
        </p:txBody>
      </p:sp>
      <p:sp>
        <p:nvSpPr>
          <p:cNvPr id="10" name="Ellipse 10"/>
          <p:cNvSpPr/>
          <p:nvPr/>
        </p:nvSpPr>
        <p:spPr>
          <a:xfrm>
            <a:off x="272415" y="3663315"/>
            <a:ext cx="64770" cy="64770"/>
          </a:xfrm>
          <a:prstGeom prst="ellipse">
            <a:avLst/>
          </a:prstGeom>
          <a:solidFill>
            <a:srgbClr val="FFFFFF">
              <a:alpha val="42000"/>
            </a:srgbClr>
          </a:solidFill>
          <a:ln>
            <a:noFill/>
          </a:ln>
        </p:spPr>
      </p:sp>
      <p:sp>
        <p:nvSpPr>
          <p:cNvPr id="11" name="TextBox 11"/>
          <p:cNvSpPr txBox="1"/>
          <p:nvPr/>
        </p:nvSpPr>
        <p:spPr>
          <a:xfrm>
            <a:off x="72542" y="3817620"/>
            <a:ext cx="464515" cy="182880"/>
          </a:xfrm>
          <a:prstGeom prst="rect">
            <a:avLst/>
          </a:prstGeom>
          <a:noFill/>
          <a:ln>
            <a:noFill/>
          </a:ln>
        </p:spPr>
        <p:txBody>
          <a:bodyPr wrap="none" lIns="0" tIns="0" rIns="0" bIns="0" anchor="t" anchorCtr="0">
            <a:spAutoFit/>
          </a:bodyPr>
          <a:lstStyle/>
          <a:p>
            <a:pPr algn="ctr"/>
            <a:r>
              <a:rPr lang="zh-CN" sz="900" dirty="0">
                <a:solidFill>
                  <a:srgbClr val="FFFFFF">
                    <a:alphaMod val="60000"/>
                  </a:srgbClr>
                </a:solidFill>
                <a:latin typeface="Arial"/>
                <a:ea typeface="Microsoft YaHei"/>
                <a:cs typeface="Arial"/>
              </a:rPr>
              <a:t>Robust</a:t>
            </a:r>
          </a:p>
        </p:txBody>
      </p:sp>
      <p:sp>
        <p:nvSpPr>
          <p:cNvPr id="12" name="Ellipse 12"/>
          <p:cNvSpPr/>
          <p:nvPr/>
        </p:nvSpPr>
        <p:spPr>
          <a:xfrm>
            <a:off x="272415" y="4520565"/>
            <a:ext cx="64770" cy="64770"/>
          </a:xfrm>
          <a:prstGeom prst="ellipse">
            <a:avLst/>
          </a:prstGeom>
          <a:solidFill>
            <a:srgbClr val="FFFFFF">
              <a:alpha val="42000"/>
            </a:srgbClr>
          </a:solidFill>
          <a:ln>
            <a:noFill/>
          </a:ln>
        </p:spPr>
      </p:sp>
      <p:sp>
        <p:nvSpPr>
          <p:cNvPr id="13" name="TextBox 13"/>
          <p:cNvSpPr txBox="1"/>
          <p:nvPr/>
        </p:nvSpPr>
        <p:spPr>
          <a:xfrm>
            <a:off x="146152" y="4674870"/>
            <a:ext cx="317297" cy="182880"/>
          </a:xfrm>
          <a:prstGeom prst="rect">
            <a:avLst/>
          </a:prstGeom>
          <a:noFill/>
          <a:ln>
            <a:noFill/>
          </a:ln>
        </p:spPr>
        <p:txBody>
          <a:bodyPr wrap="none" lIns="0" tIns="0" rIns="0" bIns="0" anchor="t" anchorCtr="0">
            <a:spAutoFit/>
          </a:bodyPr>
          <a:lstStyle/>
          <a:p>
            <a:pPr algn="ctr"/>
            <a:r>
              <a:rPr lang="zh-CN" sz="900" dirty="0">
                <a:solidFill>
                  <a:srgbClr val="FFFFFF">
                    <a:alphaMod val="60000"/>
                  </a:srgbClr>
                </a:solidFill>
                <a:latin typeface="Arial"/>
                <a:ea typeface="Microsoft YaHei"/>
                <a:cs typeface="Arial"/>
              </a:rPr>
              <a:t>Uses</a:t>
            </a:r>
          </a:p>
        </p:txBody>
      </p:sp>
      <p:sp>
        <p:nvSpPr>
          <p:cNvPr id="14" name="Ellipse 14"/>
          <p:cNvSpPr/>
          <p:nvPr/>
        </p:nvSpPr>
        <p:spPr>
          <a:xfrm>
            <a:off x="272415" y="5377815"/>
            <a:ext cx="64770" cy="64770"/>
          </a:xfrm>
          <a:prstGeom prst="ellipse">
            <a:avLst/>
          </a:prstGeom>
          <a:solidFill>
            <a:srgbClr val="FFFFFF">
              <a:alpha val="42000"/>
            </a:srgbClr>
          </a:solidFill>
          <a:ln>
            <a:noFill/>
          </a:ln>
        </p:spPr>
      </p:sp>
      <p:sp>
        <p:nvSpPr>
          <p:cNvPr id="15" name="TextBox 15"/>
          <p:cNvSpPr txBox="1"/>
          <p:nvPr/>
        </p:nvSpPr>
        <p:spPr>
          <a:xfrm>
            <a:off x="16678" y="5532120"/>
            <a:ext cx="576243" cy="182880"/>
          </a:xfrm>
          <a:prstGeom prst="rect">
            <a:avLst/>
          </a:prstGeom>
          <a:noFill/>
          <a:ln>
            <a:noFill/>
          </a:ln>
        </p:spPr>
        <p:txBody>
          <a:bodyPr wrap="none" lIns="0" tIns="0" rIns="0" bIns="0" anchor="t" anchorCtr="0">
            <a:spAutoFit/>
          </a:bodyPr>
          <a:lstStyle/>
          <a:p>
            <a:pPr algn="ctr"/>
            <a:r>
              <a:rPr lang="zh-CN" sz="900" dirty="0">
                <a:solidFill>
                  <a:srgbClr val="FFFFFF">
                    <a:alphaMod val="60000"/>
                  </a:srgbClr>
                </a:solidFill>
                <a:latin typeface="Arial"/>
                <a:ea typeface="Microsoft YaHei"/>
                <a:cs typeface="Arial"/>
              </a:rPr>
              <a:t>Wrap-up</a:t>
            </a:r>
          </a:p>
        </p:txBody>
      </p:sp>
      <p:sp>
        <p:nvSpPr>
          <p:cNvPr id="16" name="Rectangle 16"/>
          <p:cNvSpPr/>
          <p:nvPr/>
        </p:nvSpPr>
        <p:spPr>
          <a:xfrm>
            <a:off x="914400" y="304800"/>
            <a:ext cx="419100" cy="47625"/>
          </a:xfrm>
          <a:prstGeom prst="rect">
            <a:avLst/>
          </a:prstGeom>
          <a:solidFill>
            <a:srgbClr val="B45309"/>
          </a:solidFill>
          <a:ln>
            <a:noFill/>
          </a:ln>
        </p:spPr>
      </p:sp>
      <p:sp>
        <p:nvSpPr>
          <p:cNvPr id="17" name="TextBox 17"/>
          <p:cNvSpPr txBox="1"/>
          <p:nvPr/>
        </p:nvSpPr>
        <p:spPr>
          <a:xfrm>
            <a:off x="889635" y="456248"/>
            <a:ext cx="10455518" cy="396240"/>
          </a:xfrm>
          <a:prstGeom prst="rect">
            <a:avLst/>
          </a:prstGeom>
          <a:noFill/>
          <a:ln>
            <a:noFill/>
          </a:ln>
        </p:spPr>
        <p:txBody>
          <a:bodyPr wrap="none" lIns="0" tIns="0" rIns="0" bIns="0" anchor="t" anchorCtr="0">
            <a:spAutoFit/>
          </a:bodyPr>
          <a:lstStyle/>
          <a:p>
            <a:pPr algn="l"/>
            <a:r>
              <a:rPr lang="zh-CN" sz="1950" b="1" dirty="0">
                <a:solidFill>
                  <a:srgbClr val="17332D"/>
                </a:solidFill>
                <a:latin typeface="Arial"/>
                <a:ea typeface="Microsoft YaHei"/>
                <a:cs typeface="Arial"/>
              </a:rPr>
              <a:t>Finding 3 · Survey campaigns move the record more than either driver</a:t>
            </a:r>
          </a:p>
        </p:txBody>
      </p:sp>
      <p:sp>
        <p:nvSpPr>
          <p:cNvPr id="18" name="TextBox 18"/>
          <p:cNvSpPr txBox="1"/>
          <p:nvPr/>
        </p:nvSpPr>
        <p:spPr>
          <a:xfrm>
            <a:off x="10619194" y="283845"/>
            <a:ext cx="1203236" cy="182880"/>
          </a:xfrm>
          <a:prstGeom prst="rect">
            <a:avLst/>
          </a:prstGeom>
          <a:noFill/>
          <a:ln>
            <a:noFill/>
          </a:ln>
        </p:spPr>
        <p:txBody>
          <a:bodyPr wrap="none" lIns="0" tIns="0" rIns="0" bIns="0" anchor="t" anchorCtr="0">
            <a:spAutoFit/>
          </a:bodyPr>
          <a:lstStyle/>
          <a:p>
            <a:pPr algn="r"/>
            <a:r>
              <a:rPr lang="zh-CN" sz="900" dirty="0">
                <a:solidFill>
                  <a:srgbClr val="8A919B"/>
                </a:solidFill>
                <a:latin typeface="Arial"/>
                <a:ea typeface="Microsoft YaHei"/>
                <a:cs typeface="Arial"/>
              </a:rPr>
              <a:t>Figure 5 · Table 3</a:t>
            </a:r>
          </a:p>
        </p:txBody>
      </p:sp>
      <p:sp>
        <p:nvSpPr>
          <p:cNvPr id="19" name="Line 19"/>
          <p:cNvSpPr/>
          <p:nvPr/>
        </p:nvSpPr>
        <p:spPr>
          <a:xfrm>
            <a:off x="914400" y="6515100"/>
            <a:ext cx="10896600" cy="9525"/>
          </a:xfrm>
          <a:custGeom>
            <a:avLst/>
            <a:gdLst/>
            <a:ahLst/>
            <a:cxnLst/>
            <a:rect l="l" t="t" r="r" b="b"/>
            <a:pathLst>
              <a:path w="10896600" h="9525">
                <a:moveTo>
                  <a:pt x="0" y="0"/>
                </a:moveTo>
                <a:lnTo>
                  <a:pt x="10896600" y="0"/>
                </a:lnTo>
              </a:path>
            </a:pathLst>
          </a:custGeom>
          <a:noFill/>
          <a:ln w="9525">
            <a:solidFill>
              <a:srgbClr val="D6D3CD"/>
            </a:solidFill>
          </a:ln>
        </p:spPr>
      </p:sp>
      <p:sp>
        <p:nvSpPr>
          <p:cNvPr id="20" name="TextBox 20"/>
          <p:cNvSpPr txBox="1"/>
          <p:nvPr/>
        </p:nvSpPr>
        <p:spPr>
          <a:xfrm>
            <a:off x="902970" y="6617970"/>
            <a:ext cx="2609698" cy="182880"/>
          </a:xfrm>
          <a:prstGeom prst="rect">
            <a:avLst/>
          </a:prstGeom>
          <a:noFill/>
          <a:ln>
            <a:noFill/>
          </a:ln>
        </p:spPr>
        <p:txBody>
          <a:bodyPr wrap="none" lIns="0" tIns="0" rIns="0" bIns="0" anchor="t" anchorCtr="0">
            <a:spAutoFit/>
          </a:bodyPr>
          <a:lstStyle/>
          <a:p>
            <a:pPr algn="l"/>
            <a:r>
              <a:rPr lang="zh-CN" sz="900" dirty="0">
                <a:solidFill>
                  <a:srgbClr val="8A919B"/>
                </a:solidFill>
                <a:latin typeface="Arial"/>
                <a:ea typeface="Microsoft YaHei"/>
                <a:cs typeface="Arial"/>
              </a:rPr>
              <a:t>Birds or birders? · AOC 2026, Singapore</a:t>
            </a:r>
          </a:p>
        </p:txBody>
      </p:sp>
      <p:sp>
        <p:nvSpPr>
          <p:cNvPr id="21" name="TextBox 21"/>
          <p:cNvSpPr txBox="1"/>
          <p:nvPr/>
        </p:nvSpPr>
        <p:spPr>
          <a:xfrm>
            <a:off x="11352657" y="6617970"/>
            <a:ext cx="469773" cy="182880"/>
          </a:xfrm>
          <a:prstGeom prst="rect">
            <a:avLst/>
          </a:prstGeom>
          <a:noFill/>
          <a:ln>
            <a:noFill/>
          </a:ln>
        </p:spPr>
        <p:txBody>
          <a:bodyPr wrap="none" lIns="0" tIns="0" rIns="0" bIns="0" anchor="t" anchorCtr="0">
            <a:spAutoFit/>
          </a:bodyPr>
          <a:lstStyle/>
          <a:p>
            <a:pPr algn="r"/>
            <a:r>
              <a:rPr lang="zh-CN" sz="900" dirty="0">
                <a:solidFill>
                  <a:srgbClr val="5F6670"/>
                </a:solidFill>
                <a:latin typeface="Arial"/>
                <a:ea typeface="Microsoft YaHei"/>
                <a:cs typeface="Arial"/>
              </a:rPr>
              <a:t>08 / 20</a:t>
            </a:r>
          </a:p>
        </p:txBody>
      </p:sp>
      <p:sp>
        <p:nvSpPr>
          <p:cNvPr id="22" name="Rectangle 22"/>
          <p:cNvSpPr/>
          <p:nvPr/>
        </p:nvSpPr>
        <p:spPr>
          <a:xfrm>
            <a:off x="838200" y="876300"/>
            <a:ext cx="6360795" cy="5486400"/>
          </a:xfrm>
          <a:prstGeom prst="roundRect">
            <a:avLst>
              <a:gd name="adj" fmla="val 1042"/>
            </a:avLst>
          </a:prstGeom>
          <a:solidFill>
            <a:srgbClr val="FFFFFF"/>
          </a:solidFill>
          <a:ln w="9525">
            <a:solidFill>
              <a:srgbClr val="D6D3CD"/>
            </a:solidFill>
          </a:ln>
        </p:spPr>
      </p:sp>
      <p:pic>
        <p:nvPicPr>
          <p:cNvPr id="23" name="Image 23"/>
          <p:cNvPicPr>
            <a:picLocks noChangeAspect="1"/>
          </p:cNvPicPr>
          <p:nvPr/>
        </p:nvPicPr>
        <p:blipFill>
          <a:blip r:embed="rId2"/>
          <a:stretch>
            <a:fillRect/>
          </a:stretch>
        </p:blipFill>
        <p:spPr>
          <a:xfrm>
            <a:off x="914400" y="952500"/>
            <a:ext cx="6208395" cy="5334000"/>
          </a:xfrm>
          <a:prstGeom prst="rect">
            <a:avLst/>
          </a:prstGeom>
        </p:spPr>
      </p:pic>
      <p:sp>
        <p:nvSpPr>
          <p:cNvPr id="24" name="Rectangle 24"/>
          <p:cNvSpPr/>
          <p:nvPr/>
        </p:nvSpPr>
        <p:spPr>
          <a:xfrm>
            <a:off x="7465695" y="876300"/>
            <a:ext cx="4345305" cy="1066800"/>
          </a:xfrm>
          <a:prstGeom prst="roundRect">
            <a:avLst>
              <a:gd name="adj" fmla="val 5357"/>
            </a:avLst>
          </a:prstGeom>
          <a:solidFill>
            <a:srgbClr val="1F4E45"/>
          </a:solidFill>
          <a:ln>
            <a:noFill/>
          </a:ln>
        </p:spPr>
      </p:sp>
      <p:sp>
        <p:nvSpPr>
          <p:cNvPr id="25" name="TextBox 25"/>
          <p:cNvSpPr txBox="1"/>
          <p:nvPr/>
        </p:nvSpPr>
        <p:spPr>
          <a:xfrm>
            <a:off x="7659052" y="1081564"/>
            <a:ext cx="2353651" cy="259080"/>
          </a:xfrm>
          <a:prstGeom prst="rect">
            <a:avLst/>
          </a:prstGeom>
          <a:noFill/>
          <a:ln>
            <a:noFill/>
          </a:ln>
        </p:spPr>
        <p:txBody>
          <a:bodyPr wrap="none" lIns="0" tIns="0" rIns="0" bIns="0" anchor="t" anchorCtr="0">
            <a:spAutoFit/>
          </a:bodyPr>
          <a:lstStyle/>
          <a:p>
            <a:pPr algn="l"/>
            <a:r>
              <a:rPr lang="zh-CN" sz="1275" b="1" dirty="0">
                <a:solidFill>
                  <a:srgbClr val="FFFFFF"/>
                </a:solidFill>
                <a:latin typeface="Arial"/>
                <a:ea typeface="Microsoft YaHei"/>
                <a:cs typeface="Arial"/>
              </a:rPr>
              <a:t>Province × year effect</a:t>
            </a:r>
          </a:p>
        </p:txBody>
      </p:sp>
      <p:sp>
        <p:nvSpPr>
          <p:cNvPr id="26" name="TextBox 26"/>
          <p:cNvSpPr txBox="1"/>
          <p:nvPr/>
        </p:nvSpPr>
        <p:spPr>
          <a:xfrm>
            <a:off x="7637145" y="1390650"/>
            <a:ext cx="1585627" cy="609600"/>
          </a:xfrm>
          <a:prstGeom prst="rect">
            <a:avLst/>
          </a:prstGeom>
          <a:noFill/>
          <a:ln>
            <a:noFill/>
          </a:ln>
        </p:spPr>
        <p:txBody>
          <a:bodyPr wrap="none" lIns="0" tIns="0" rIns="0" bIns="0" anchor="t" anchorCtr="0">
            <a:spAutoFit/>
          </a:bodyPr>
          <a:lstStyle/>
          <a:p>
            <a:pPr algn="l"/>
            <a:r>
              <a:rPr lang="zh-CN" sz="3000" b="1" dirty="0">
                <a:solidFill>
                  <a:srgbClr val="FFFFFF"/>
                </a:solidFill>
                <a:latin typeface="Arial"/>
                <a:ea typeface="Microsoft YaHei"/>
                <a:cs typeface="Arial"/>
              </a:rPr>
              <a:t>× 2.23</a:t>
            </a:r>
          </a:p>
        </p:txBody>
      </p:sp>
      <p:sp>
        <p:nvSpPr>
          <p:cNvPr id="27" name="TextBox 27"/>
          <p:cNvSpPr txBox="1"/>
          <p:nvPr/>
        </p:nvSpPr>
        <p:spPr>
          <a:xfrm>
            <a:off x="8879205" y="1584960"/>
            <a:ext cx="729767" cy="243840"/>
          </a:xfrm>
          <a:prstGeom prst="rect">
            <a:avLst/>
          </a:prstGeom>
          <a:noFill/>
          <a:ln>
            <a:noFill/>
          </a:ln>
        </p:spPr>
        <p:txBody>
          <a:bodyPr wrap="none" lIns="0" tIns="0" rIns="0" bIns="0" anchor="t" anchorCtr="0">
            <a:spAutoFit/>
          </a:bodyPr>
          <a:lstStyle/>
          <a:p>
            <a:pPr algn="l"/>
            <a:r>
              <a:rPr lang="zh-CN" sz="1200" dirty="0">
                <a:solidFill>
                  <a:srgbClr val="CFE0DA"/>
                </a:solidFill>
                <a:latin typeface="Arial"/>
                <a:ea typeface="Microsoft YaHei"/>
                <a:cs typeface="Arial"/>
              </a:rPr>
              <a:t>per 1 SD</a:t>
            </a:r>
          </a:p>
        </p:txBody>
      </p:sp>
      <p:sp>
        <p:nvSpPr>
          <p:cNvPr id="28" name="Rectangle 28"/>
          <p:cNvSpPr/>
          <p:nvPr/>
        </p:nvSpPr>
        <p:spPr>
          <a:xfrm>
            <a:off x="7465695" y="2095500"/>
            <a:ext cx="4345305" cy="1321118"/>
          </a:xfrm>
          <a:prstGeom prst="roundRect">
            <a:avLst>
              <a:gd name="adj" fmla="val 4326"/>
            </a:avLst>
          </a:prstGeom>
          <a:solidFill>
            <a:srgbClr val="FFFFFF"/>
          </a:solidFill>
          <a:ln w="9525">
            <a:solidFill>
              <a:srgbClr val="D6D3CD"/>
            </a:solidFill>
          </a:ln>
        </p:spPr>
      </p:sp>
      <p:sp>
        <p:nvSpPr>
          <p:cNvPr id="29" name="Rectangle 29"/>
          <p:cNvSpPr/>
          <p:nvPr/>
        </p:nvSpPr>
        <p:spPr>
          <a:xfrm>
            <a:off x="7465695" y="2095500"/>
            <a:ext cx="4345305" cy="38100"/>
          </a:xfrm>
          <a:prstGeom prst="rect">
            <a:avLst/>
          </a:prstGeom>
          <a:solidFill>
            <a:srgbClr val="1F4E45"/>
          </a:solidFill>
          <a:ln>
            <a:noFill/>
          </a:ln>
        </p:spPr>
      </p:sp>
      <p:sp>
        <p:nvSpPr>
          <p:cNvPr id="30" name="TextBox 30"/>
          <p:cNvSpPr txBox="1"/>
          <p:nvPr/>
        </p:nvSpPr>
        <p:spPr>
          <a:xfrm>
            <a:off x="7640002" y="2272189"/>
            <a:ext cx="1256182" cy="259080"/>
          </a:xfrm>
          <a:prstGeom prst="rect">
            <a:avLst/>
          </a:prstGeom>
          <a:noFill/>
          <a:ln>
            <a:noFill/>
          </a:ln>
        </p:spPr>
        <p:txBody>
          <a:bodyPr wrap="none" lIns="0" tIns="0" rIns="0" bIns="0" anchor="t" anchorCtr="0">
            <a:spAutoFit/>
          </a:bodyPr>
          <a:lstStyle/>
          <a:p>
            <a:pPr algn="l"/>
            <a:r>
              <a:rPr lang="zh-CN" sz="1275" b="1" dirty="0">
                <a:solidFill>
                  <a:srgbClr val="1F4E45"/>
                </a:solidFill>
                <a:latin typeface="Arial"/>
                <a:ea typeface="Microsoft YaHei"/>
                <a:cs typeface="Arial"/>
              </a:rPr>
              <a:t>Three layers</a:t>
            </a:r>
          </a:p>
        </p:txBody>
      </p:sp>
      <p:sp>
        <p:nvSpPr>
          <p:cNvPr id="31" name="TextBox 31"/>
          <p:cNvSpPr txBox="1"/>
          <p:nvPr/>
        </p:nvSpPr>
        <p:spPr>
          <a:xfrm>
            <a:off x="7641908" y="2564606"/>
            <a:ext cx="2501384" cy="228600"/>
          </a:xfrm>
          <a:prstGeom prst="rect">
            <a:avLst/>
          </a:prstGeom>
          <a:noFill/>
          <a:ln>
            <a:noFill/>
          </a:ln>
        </p:spPr>
        <p:txBody>
          <a:bodyPr wrap="none" lIns="0" tIns="0" rIns="0" bIns="0" anchor="t" anchorCtr="0">
            <a:spAutoFit/>
          </a:bodyPr>
          <a:lstStyle/>
          <a:p>
            <a:pPr algn="l"/>
            <a:r>
              <a:rPr lang="zh-CN" sz="1125" dirty="0">
                <a:solidFill>
                  <a:srgbClr val="17332D"/>
                </a:solidFill>
                <a:latin typeface="Arial"/>
                <a:ea typeface="Microsoft YaHei"/>
                <a:cs typeface="Arial"/>
              </a:rPr>
              <a:t>Species: ×1.50 (detectability)</a:t>
            </a:r>
          </a:p>
        </p:txBody>
      </p:sp>
      <p:sp>
        <p:nvSpPr>
          <p:cNvPr id="32" name="TextBox 32"/>
          <p:cNvSpPr txBox="1"/>
          <p:nvPr/>
        </p:nvSpPr>
        <p:spPr>
          <a:xfrm>
            <a:off x="7641908" y="2802731"/>
            <a:ext cx="2876002" cy="228600"/>
          </a:xfrm>
          <a:prstGeom prst="rect">
            <a:avLst/>
          </a:prstGeom>
          <a:noFill/>
          <a:ln>
            <a:noFill/>
          </a:ln>
        </p:spPr>
        <p:txBody>
          <a:bodyPr wrap="none" lIns="0" tIns="0" rIns="0" bIns="0" anchor="t" anchorCtr="0">
            <a:spAutoFit/>
          </a:bodyPr>
          <a:lstStyle/>
          <a:p>
            <a:pPr algn="l"/>
            <a:r>
              <a:rPr lang="zh-CN" sz="1125" dirty="0">
                <a:solidFill>
                  <a:srgbClr val="17332D"/>
                </a:solidFill>
                <a:latin typeface="Arial"/>
                <a:ea typeface="Microsoft YaHei"/>
                <a:cs typeface="Arial"/>
              </a:rPr>
              <a:t>Province: ×1.39 (regional baseline)</a:t>
            </a:r>
          </a:p>
        </p:txBody>
      </p:sp>
      <p:sp>
        <p:nvSpPr>
          <p:cNvPr id="33" name="TextBox 33"/>
          <p:cNvSpPr txBox="1"/>
          <p:nvPr/>
        </p:nvSpPr>
        <p:spPr>
          <a:xfrm>
            <a:off x="7641908" y="3040856"/>
            <a:ext cx="3329488" cy="228600"/>
          </a:xfrm>
          <a:prstGeom prst="rect">
            <a:avLst/>
          </a:prstGeom>
          <a:noFill/>
          <a:ln>
            <a:noFill/>
          </a:ln>
        </p:spPr>
        <p:txBody>
          <a:bodyPr wrap="none" lIns="0" tIns="0" rIns="0" bIns="0" anchor="t" anchorCtr="0">
            <a:spAutoFit/>
          </a:bodyPr>
          <a:lstStyle/>
          <a:p>
            <a:pPr algn="l"/>
            <a:r>
              <a:rPr lang="zh-CN" sz="1125" dirty="0">
                <a:solidFill>
                  <a:srgbClr val="B45309"/>
                </a:solidFill>
                <a:latin typeface="Arial"/>
                <a:ea typeface="Microsoft YaHei"/>
                <a:cs typeface="Arial"/>
              </a:rPr>
              <a:t>Province × year: ×2.23 (survey shocks)</a:t>
            </a:r>
          </a:p>
        </p:txBody>
      </p:sp>
      <p:sp>
        <p:nvSpPr>
          <p:cNvPr id="34" name="Rectangle 34"/>
          <p:cNvSpPr/>
          <p:nvPr/>
        </p:nvSpPr>
        <p:spPr>
          <a:xfrm>
            <a:off x="7465695" y="3797618"/>
            <a:ext cx="4345305" cy="1321118"/>
          </a:xfrm>
          <a:prstGeom prst="roundRect">
            <a:avLst>
              <a:gd name="adj" fmla="val 4326"/>
            </a:avLst>
          </a:prstGeom>
          <a:solidFill>
            <a:srgbClr val="FFFFFF"/>
          </a:solidFill>
          <a:ln w="9525">
            <a:solidFill>
              <a:srgbClr val="D6D3CD"/>
            </a:solidFill>
          </a:ln>
        </p:spPr>
      </p:sp>
      <p:sp>
        <p:nvSpPr>
          <p:cNvPr id="35" name="Rectangle 35"/>
          <p:cNvSpPr/>
          <p:nvPr/>
        </p:nvSpPr>
        <p:spPr>
          <a:xfrm>
            <a:off x="7465695" y="3797618"/>
            <a:ext cx="4345305" cy="38100"/>
          </a:xfrm>
          <a:prstGeom prst="rect">
            <a:avLst/>
          </a:prstGeom>
          <a:solidFill>
            <a:srgbClr val="0072B2"/>
          </a:solidFill>
          <a:ln>
            <a:noFill/>
          </a:ln>
        </p:spPr>
      </p:sp>
      <p:sp>
        <p:nvSpPr>
          <p:cNvPr id="36" name="TextBox 36"/>
          <p:cNvSpPr txBox="1"/>
          <p:nvPr/>
        </p:nvSpPr>
        <p:spPr>
          <a:xfrm>
            <a:off x="7640002" y="3974306"/>
            <a:ext cx="1650955" cy="259080"/>
          </a:xfrm>
          <a:prstGeom prst="rect">
            <a:avLst/>
          </a:prstGeom>
          <a:noFill/>
          <a:ln>
            <a:noFill/>
          </a:ln>
        </p:spPr>
        <p:txBody>
          <a:bodyPr wrap="none" lIns="0" tIns="0" rIns="0" bIns="0" anchor="t" anchorCtr="0">
            <a:spAutoFit/>
          </a:bodyPr>
          <a:lstStyle/>
          <a:p>
            <a:pPr algn="l"/>
            <a:r>
              <a:rPr lang="zh-CN" sz="1275" b="1" dirty="0">
                <a:solidFill>
                  <a:srgbClr val="0072B2"/>
                </a:solidFill>
                <a:latin typeface="Arial"/>
                <a:ea typeface="Microsoft YaHei"/>
                <a:cs typeface="Arial"/>
              </a:rPr>
              <a:t>Adding this layer</a:t>
            </a:r>
          </a:p>
        </p:txBody>
      </p:sp>
      <p:sp>
        <p:nvSpPr>
          <p:cNvPr id="37" name="TextBox 37"/>
          <p:cNvSpPr txBox="1"/>
          <p:nvPr/>
        </p:nvSpPr>
        <p:spPr>
          <a:xfrm>
            <a:off x="7641908" y="4266724"/>
            <a:ext cx="2187559" cy="228600"/>
          </a:xfrm>
          <a:prstGeom prst="rect">
            <a:avLst/>
          </a:prstGeom>
          <a:noFill/>
          <a:ln>
            <a:noFill/>
          </a:ln>
        </p:spPr>
        <p:txBody>
          <a:bodyPr wrap="none" lIns="0" tIns="0" rIns="0" bIns="0" anchor="t" anchorCtr="0">
            <a:spAutoFit/>
          </a:bodyPr>
          <a:lstStyle/>
          <a:p>
            <a:pPr algn="l"/>
            <a:r>
              <a:rPr lang="zh-CN" sz="1125" dirty="0">
                <a:solidFill>
                  <a:srgbClr val="17332D"/>
                </a:solidFill>
                <a:latin typeface="Arial"/>
                <a:ea typeface="Microsoft YaHei"/>
                <a:cs typeface="Arial"/>
              </a:rPr>
              <a:t>Conditional AUC 0.72 → 0.85</a:t>
            </a:r>
          </a:p>
        </p:txBody>
      </p:sp>
      <p:sp>
        <p:nvSpPr>
          <p:cNvPr id="38" name="TextBox 38"/>
          <p:cNvSpPr txBox="1"/>
          <p:nvPr/>
        </p:nvSpPr>
        <p:spPr>
          <a:xfrm>
            <a:off x="7641908" y="4504849"/>
            <a:ext cx="2167842" cy="228600"/>
          </a:xfrm>
          <a:prstGeom prst="rect">
            <a:avLst/>
          </a:prstGeom>
          <a:noFill/>
          <a:ln>
            <a:noFill/>
          </a:ln>
        </p:spPr>
        <p:txBody>
          <a:bodyPr wrap="none" lIns="0" tIns="0" rIns="0" bIns="0" anchor="t" anchorCtr="0">
            <a:spAutoFit/>
          </a:bodyPr>
          <a:lstStyle/>
          <a:p>
            <a:pPr algn="l"/>
            <a:r>
              <a:rPr lang="zh-CN" sz="1125" dirty="0">
                <a:solidFill>
                  <a:srgbClr val="17332D"/>
                </a:solidFill>
                <a:latin typeface="Arial"/>
                <a:ea typeface="Microsoft YaHei"/>
                <a:cs typeface="Arial"/>
              </a:rPr>
              <a:t>Conditional R² 0.27 → 0.41</a:t>
            </a:r>
          </a:p>
        </p:txBody>
      </p:sp>
      <p:sp>
        <p:nvSpPr>
          <p:cNvPr id="39" name="TextBox 39"/>
          <p:cNvSpPr txBox="1"/>
          <p:nvPr/>
        </p:nvSpPr>
        <p:spPr>
          <a:xfrm>
            <a:off x="7641908" y="4742974"/>
            <a:ext cx="2019967" cy="228600"/>
          </a:xfrm>
          <a:prstGeom prst="rect">
            <a:avLst/>
          </a:prstGeom>
          <a:noFill/>
          <a:ln>
            <a:noFill/>
          </a:ln>
        </p:spPr>
        <p:txBody>
          <a:bodyPr wrap="none" lIns="0" tIns="0" rIns="0" bIns="0" anchor="t" anchorCtr="0">
            <a:spAutoFit/>
          </a:bodyPr>
          <a:lstStyle/>
          <a:p>
            <a:pPr algn="l"/>
            <a:r>
              <a:rPr lang="zh-CN" sz="1125" dirty="0">
                <a:solidFill>
                  <a:srgbClr val="5F6670"/>
                </a:solidFill>
                <a:latin typeface="Arial"/>
                <a:ea typeface="Microsoft YaHei"/>
                <a:cs typeface="Arial"/>
              </a:rPr>
              <a:t>Fixed effects unchanged</a:t>
            </a:r>
          </a:p>
        </p:txBody>
      </p:sp>
      <p:sp>
        <p:nvSpPr>
          <p:cNvPr id="40" name="Rectangle 40"/>
          <p:cNvSpPr/>
          <p:nvPr/>
        </p:nvSpPr>
        <p:spPr>
          <a:xfrm>
            <a:off x="7465695" y="5498782"/>
            <a:ext cx="4345305" cy="863918"/>
          </a:xfrm>
          <a:prstGeom prst="roundRect">
            <a:avLst>
              <a:gd name="adj" fmla="val 6615"/>
            </a:avLst>
          </a:prstGeom>
          <a:solidFill>
            <a:srgbClr val="1F4E45"/>
          </a:solidFill>
          <a:ln>
            <a:noFill/>
          </a:ln>
        </p:spPr>
      </p:sp>
      <p:sp>
        <p:nvSpPr>
          <p:cNvPr id="41" name="TextBox 41"/>
          <p:cNvSpPr txBox="1"/>
          <p:nvPr/>
        </p:nvSpPr>
        <p:spPr>
          <a:xfrm>
            <a:off x="8781288" y="5726906"/>
            <a:ext cx="1714119" cy="259080"/>
          </a:xfrm>
          <a:prstGeom prst="rect">
            <a:avLst/>
          </a:prstGeom>
          <a:noFill/>
          <a:ln>
            <a:noFill/>
          </a:ln>
        </p:spPr>
        <p:txBody>
          <a:bodyPr wrap="none" lIns="0" tIns="0" rIns="0" bIns="0" anchor="t" anchorCtr="0">
            <a:spAutoFit/>
          </a:bodyPr>
          <a:lstStyle/>
          <a:p>
            <a:pPr algn="ctr"/>
            <a:r>
              <a:rPr lang="zh-CN" sz="1275" b="1" dirty="0">
                <a:solidFill>
                  <a:srgbClr val="FFFFFF"/>
                </a:solidFill>
                <a:latin typeface="Arial"/>
                <a:ea typeface="Microsoft YaHei"/>
                <a:cs typeface="Arial"/>
              </a:rPr>
              <a:t>Treat it as noise,</a:t>
            </a:r>
          </a:p>
        </p:txBody>
      </p:sp>
      <p:sp>
        <p:nvSpPr>
          <p:cNvPr id="42" name="TextBox 42"/>
          <p:cNvSpPr txBox="1"/>
          <p:nvPr/>
        </p:nvSpPr>
        <p:spPr>
          <a:xfrm>
            <a:off x="7925133" y="6009799"/>
            <a:ext cx="3426428" cy="228600"/>
          </a:xfrm>
          <a:prstGeom prst="rect">
            <a:avLst/>
          </a:prstGeom>
          <a:noFill/>
          <a:ln>
            <a:noFill/>
          </a:ln>
        </p:spPr>
        <p:txBody>
          <a:bodyPr wrap="none" lIns="0" tIns="0" rIns="0" bIns="0" anchor="t" anchorCtr="0">
            <a:spAutoFit/>
          </a:bodyPr>
          <a:lstStyle/>
          <a:p>
            <a:pPr algn="ctr"/>
            <a:r>
              <a:rPr lang="zh-CN" sz="1125" dirty="0">
                <a:solidFill>
                  <a:srgbClr val="E7F0ED"/>
                </a:solidFill>
                <a:latin typeface="Arial"/>
                <a:ea typeface="Microsoft YaHei"/>
                <a:cs typeface="Arial"/>
              </a:rPr>
              <a:t>and survey history reads as range change</a:t>
            </a:r>
          </a:p>
        </p:txBody>
      </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BFAF7"/>
          </a:solidFill>
          <a:ln>
            <a:noFill/>
          </a:ln>
        </p:spPr>
      </p:sp>
      <p:sp>
        <p:nvSpPr>
          <p:cNvPr id="3" name="Rectangle 3"/>
          <p:cNvSpPr/>
          <p:nvPr/>
        </p:nvSpPr>
        <p:spPr>
          <a:xfrm>
            <a:off x="0" y="0"/>
            <a:ext cx="609600" cy="6858000"/>
          </a:xfrm>
          <a:prstGeom prst="rect">
            <a:avLst/>
          </a:prstGeom>
          <a:solidFill>
            <a:srgbClr val="1F4E45"/>
          </a:solidFill>
          <a:ln>
            <a:noFill/>
          </a:ln>
        </p:spPr>
      </p:sp>
      <p:sp>
        <p:nvSpPr>
          <p:cNvPr id="4" name="Ellipse 4"/>
          <p:cNvSpPr/>
          <p:nvPr/>
        </p:nvSpPr>
        <p:spPr>
          <a:xfrm>
            <a:off x="272415" y="1091565"/>
            <a:ext cx="64770" cy="64770"/>
          </a:xfrm>
          <a:prstGeom prst="ellipse">
            <a:avLst/>
          </a:prstGeom>
          <a:solidFill>
            <a:srgbClr val="FFFFFF">
              <a:alpha val="42000"/>
            </a:srgbClr>
          </a:solidFill>
          <a:ln>
            <a:noFill/>
          </a:ln>
        </p:spPr>
      </p:sp>
      <p:sp>
        <p:nvSpPr>
          <p:cNvPr id="5" name="TextBox 5"/>
          <p:cNvSpPr txBox="1"/>
          <p:nvPr/>
        </p:nvSpPr>
        <p:spPr>
          <a:xfrm>
            <a:off x="17336" y="1245870"/>
            <a:ext cx="574929" cy="182880"/>
          </a:xfrm>
          <a:prstGeom prst="rect">
            <a:avLst/>
          </a:prstGeom>
          <a:noFill/>
          <a:ln>
            <a:noFill/>
          </a:ln>
        </p:spPr>
        <p:txBody>
          <a:bodyPr wrap="none" lIns="0" tIns="0" rIns="0" bIns="0" anchor="t" anchorCtr="0">
            <a:spAutoFit/>
          </a:bodyPr>
          <a:lstStyle/>
          <a:p>
            <a:pPr algn="ctr"/>
            <a:r>
              <a:rPr lang="zh-CN" sz="900" dirty="0">
                <a:solidFill>
                  <a:srgbClr val="FFFFFF">
                    <a:alphaMod val="60000"/>
                  </a:srgbClr>
                </a:solidFill>
                <a:latin typeface="Arial"/>
                <a:ea typeface="Microsoft YaHei"/>
                <a:cs typeface="Arial"/>
              </a:rPr>
              <a:t>Question</a:t>
            </a:r>
          </a:p>
        </p:txBody>
      </p:sp>
      <p:sp>
        <p:nvSpPr>
          <p:cNvPr id="6" name="Ellipse 6"/>
          <p:cNvSpPr/>
          <p:nvPr/>
        </p:nvSpPr>
        <p:spPr>
          <a:xfrm>
            <a:off x="272415" y="1948815"/>
            <a:ext cx="64770" cy="64770"/>
          </a:xfrm>
          <a:prstGeom prst="ellipse">
            <a:avLst/>
          </a:prstGeom>
          <a:solidFill>
            <a:srgbClr val="FFFFFF">
              <a:alpha val="42000"/>
            </a:srgbClr>
          </a:solidFill>
          <a:ln>
            <a:noFill/>
          </a:ln>
        </p:spPr>
      </p:sp>
      <p:sp>
        <p:nvSpPr>
          <p:cNvPr id="7" name="TextBox 7"/>
          <p:cNvSpPr txBox="1"/>
          <p:nvPr/>
        </p:nvSpPr>
        <p:spPr>
          <a:xfrm>
            <a:off x="146152" y="2103120"/>
            <a:ext cx="317297" cy="182880"/>
          </a:xfrm>
          <a:prstGeom prst="rect">
            <a:avLst/>
          </a:prstGeom>
          <a:noFill/>
          <a:ln>
            <a:noFill/>
          </a:ln>
        </p:spPr>
        <p:txBody>
          <a:bodyPr wrap="none" lIns="0" tIns="0" rIns="0" bIns="0" anchor="t" anchorCtr="0">
            <a:spAutoFit/>
          </a:bodyPr>
          <a:lstStyle/>
          <a:p>
            <a:pPr algn="ctr"/>
            <a:r>
              <a:rPr lang="zh-CN" sz="900" dirty="0">
                <a:solidFill>
                  <a:srgbClr val="FFFFFF">
                    <a:alphaMod val="60000"/>
                  </a:srgbClr>
                </a:solidFill>
                <a:latin typeface="Arial"/>
                <a:ea typeface="Microsoft YaHei"/>
                <a:cs typeface="Arial"/>
              </a:rPr>
              <a:t>Data</a:t>
            </a:r>
          </a:p>
        </p:txBody>
      </p:sp>
      <p:sp>
        <p:nvSpPr>
          <p:cNvPr id="8" name="Ellipse 8"/>
          <p:cNvSpPr/>
          <p:nvPr/>
        </p:nvSpPr>
        <p:spPr>
          <a:xfrm>
            <a:off x="257175" y="2790825"/>
            <a:ext cx="95250" cy="95250"/>
          </a:xfrm>
          <a:prstGeom prst="ellipse">
            <a:avLst/>
          </a:prstGeom>
          <a:solidFill>
            <a:srgbClr val="FFFFFF"/>
          </a:solidFill>
          <a:ln>
            <a:noFill/>
          </a:ln>
        </p:spPr>
      </p:sp>
      <p:sp>
        <p:nvSpPr>
          <p:cNvPr id="9" name="TextBox 9"/>
          <p:cNvSpPr txBox="1"/>
          <p:nvPr/>
        </p:nvSpPr>
        <p:spPr>
          <a:xfrm>
            <a:off x="35738" y="2960370"/>
            <a:ext cx="538124" cy="182880"/>
          </a:xfrm>
          <a:prstGeom prst="rect">
            <a:avLst/>
          </a:prstGeom>
          <a:noFill/>
          <a:ln>
            <a:noFill/>
          </a:ln>
        </p:spPr>
        <p:txBody>
          <a:bodyPr wrap="none" lIns="0" tIns="0" rIns="0" bIns="0" anchor="t" anchorCtr="0">
            <a:spAutoFit/>
          </a:bodyPr>
          <a:lstStyle/>
          <a:p>
            <a:pPr algn="ctr"/>
            <a:r>
              <a:rPr lang="zh-CN" sz="900" dirty="0">
                <a:solidFill>
                  <a:srgbClr val="FFFFFF"/>
                </a:solidFill>
                <a:latin typeface="Arial"/>
                <a:ea typeface="Microsoft YaHei"/>
                <a:cs typeface="Arial"/>
              </a:rPr>
              <a:t>Findings</a:t>
            </a:r>
          </a:p>
        </p:txBody>
      </p:sp>
      <p:sp>
        <p:nvSpPr>
          <p:cNvPr id="10" name="Ellipse 10"/>
          <p:cNvSpPr/>
          <p:nvPr/>
        </p:nvSpPr>
        <p:spPr>
          <a:xfrm>
            <a:off x="272415" y="3663315"/>
            <a:ext cx="64770" cy="64770"/>
          </a:xfrm>
          <a:prstGeom prst="ellipse">
            <a:avLst/>
          </a:prstGeom>
          <a:solidFill>
            <a:srgbClr val="FFFFFF">
              <a:alpha val="42000"/>
            </a:srgbClr>
          </a:solidFill>
          <a:ln>
            <a:noFill/>
          </a:ln>
        </p:spPr>
      </p:sp>
      <p:sp>
        <p:nvSpPr>
          <p:cNvPr id="11" name="TextBox 11"/>
          <p:cNvSpPr txBox="1"/>
          <p:nvPr/>
        </p:nvSpPr>
        <p:spPr>
          <a:xfrm>
            <a:off x="72542" y="3817620"/>
            <a:ext cx="464515" cy="182880"/>
          </a:xfrm>
          <a:prstGeom prst="rect">
            <a:avLst/>
          </a:prstGeom>
          <a:noFill/>
          <a:ln>
            <a:noFill/>
          </a:ln>
        </p:spPr>
        <p:txBody>
          <a:bodyPr wrap="none" lIns="0" tIns="0" rIns="0" bIns="0" anchor="t" anchorCtr="0">
            <a:spAutoFit/>
          </a:bodyPr>
          <a:lstStyle/>
          <a:p>
            <a:pPr algn="ctr"/>
            <a:r>
              <a:rPr lang="zh-CN" sz="900" dirty="0">
                <a:solidFill>
                  <a:srgbClr val="FFFFFF">
                    <a:alphaMod val="60000"/>
                  </a:srgbClr>
                </a:solidFill>
                <a:latin typeface="Arial"/>
                <a:ea typeface="Microsoft YaHei"/>
                <a:cs typeface="Arial"/>
              </a:rPr>
              <a:t>Robust</a:t>
            </a:r>
          </a:p>
        </p:txBody>
      </p:sp>
      <p:sp>
        <p:nvSpPr>
          <p:cNvPr id="12" name="Ellipse 12"/>
          <p:cNvSpPr/>
          <p:nvPr/>
        </p:nvSpPr>
        <p:spPr>
          <a:xfrm>
            <a:off x="272415" y="4520565"/>
            <a:ext cx="64770" cy="64770"/>
          </a:xfrm>
          <a:prstGeom prst="ellipse">
            <a:avLst/>
          </a:prstGeom>
          <a:solidFill>
            <a:srgbClr val="FFFFFF">
              <a:alpha val="42000"/>
            </a:srgbClr>
          </a:solidFill>
          <a:ln>
            <a:noFill/>
          </a:ln>
        </p:spPr>
      </p:sp>
      <p:sp>
        <p:nvSpPr>
          <p:cNvPr id="13" name="TextBox 13"/>
          <p:cNvSpPr txBox="1"/>
          <p:nvPr/>
        </p:nvSpPr>
        <p:spPr>
          <a:xfrm>
            <a:off x="146152" y="4674870"/>
            <a:ext cx="317297" cy="182880"/>
          </a:xfrm>
          <a:prstGeom prst="rect">
            <a:avLst/>
          </a:prstGeom>
          <a:noFill/>
          <a:ln>
            <a:noFill/>
          </a:ln>
        </p:spPr>
        <p:txBody>
          <a:bodyPr wrap="none" lIns="0" tIns="0" rIns="0" bIns="0" anchor="t" anchorCtr="0">
            <a:spAutoFit/>
          </a:bodyPr>
          <a:lstStyle/>
          <a:p>
            <a:pPr algn="ctr"/>
            <a:r>
              <a:rPr lang="zh-CN" sz="900" dirty="0">
                <a:solidFill>
                  <a:srgbClr val="FFFFFF">
                    <a:alphaMod val="60000"/>
                  </a:srgbClr>
                </a:solidFill>
                <a:latin typeface="Arial"/>
                <a:ea typeface="Microsoft YaHei"/>
                <a:cs typeface="Arial"/>
              </a:rPr>
              <a:t>Uses</a:t>
            </a:r>
          </a:p>
        </p:txBody>
      </p:sp>
      <p:sp>
        <p:nvSpPr>
          <p:cNvPr id="14" name="Ellipse 14"/>
          <p:cNvSpPr/>
          <p:nvPr/>
        </p:nvSpPr>
        <p:spPr>
          <a:xfrm>
            <a:off x="272415" y="5377815"/>
            <a:ext cx="64770" cy="64770"/>
          </a:xfrm>
          <a:prstGeom prst="ellipse">
            <a:avLst/>
          </a:prstGeom>
          <a:solidFill>
            <a:srgbClr val="FFFFFF">
              <a:alpha val="42000"/>
            </a:srgbClr>
          </a:solidFill>
          <a:ln>
            <a:noFill/>
          </a:ln>
        </p:spPr>
      </p:sp>
      <p:sp>
        <p:nvSpPr>
          <p:cNvPr id="15" name="TextBox 15"/>
          <p:cNvSpPr txBox="1"/>
          <p:nvPr/>
        </p:nvSpPr>
        <p:spPr>
          <a:xfrm>
            <a:off x="16678" y="5532120"/>
            <a:ext cx="576243" cy="182880"/>
          </a:xfrm>
          <a:prstGeom prst="rect">
            <a:avLst/>
          </a:prstGeom>
          <a:noFill/>
          <a:ln>
            <a:noFill/>
          </a:ln>
        </p:spPr>
        <p:txBody>
          <a:bodyPr wrap="none" lIns="0" tIns="0" rIns="0" bIns="0" anchor="t" anchorCtr="0">
            <a:spAutoFit/>
          </a:bodyPr>
          <a:lstStyle/>
          <a:p>
            <a:pPr algn="ctr"/>
            <a:r>
              <a:rPr lang="zh-CN" sz="900" dirty="0">
                <a:solidFill>
                  <a:srgbClr val="FFFFFF">
                    <a:alphaMod val="60000"/>
                  </a:srgbClr>
                </a:solidFill>
                <a:latin typeface="Arial"/>
                <a:ea typeface="Microsoft YaHei"/>
                <a:cs typeface="Arial"/>
              </a:rPr>
              <a:t>Wrap-up</a:t>
            </a:r>
          </a:p>
        </p:txBody>
      </p:sp>
      <p:sp>
        <p:nvSpPr>
          <p:cNvPr id="16" name="Rectangle 16"/>
          <p:cNvSpPr/>
          <p:nvPr/>
        </p:nvSpPr>
        <p:spPr>
          <a:xfrm>
            <a:off x="914400" y="304800"/>
            <a:ext cx="419100" cy="47625"/>
          </a:xfrm>
          <a:prstGeom prst="rect">
            <a:avLst/>
          </a:prstGeom>
          <a:solidFill>
            <a:srgbClr val="B45309"/>
          </a:solidFill>
          <a:ln>
            <a:noFill/>
          </a:ln>
        </p:spPr>
      </p:sp>
      <p:sp>
        <p:nvSpPr>
          <p:cNvPr id="17" name="TextBox 17"/>
          <p:cNvSpPr txBox="1"/>
          <p:nvPr/>
        </p:nvSpPr>
        <p:spPr>
          <a:xfrm>
            <a:off x="889635" y="456248"/>
            <a:ext cx="9260052" cy="396240"/>
          </a:xfrm>
          <a:prstGeom prst="rect">
            <a:avLst/>
          </a:prstGeom>
          <a:noFill/>
          <a:ln>
            <a:noFill/>
          </a:ln>
        </p:spPr>
        <p:txBody>
          <a:bodyPr wrap="none" lIns="0" tIns="0" rIns="0" bIns="0" anchor="t" anchorCtr="0">
            <a:spAutoFit/>
          </a:bodyPr>
          <a:lstStyle/>
          <a:p>
            <a:pPr algn="l"/>
            <a:r>
              <a:rPr lang="zh-CN" sz="1950" b="1" dirty="0">
                <a:solidFill>
                  <a:srgbClr val="17332D"/>
                </a:solidFill>
                <a:latin typeface="Arial"/>
                <a:ea typeface="Microsoft YaHei"/>
                <a:cs typeface="Arial"/>
              </a:rPr>
              <a:t>Finding 4 · Effort is saturating; warming shows no such trend</a:t>
            </a:r>
          </a:p>
        </p:txBody>
      </p:sp>
      <p:sp>
        <p:nvSpPr>
          <p:cNvPr id="18" name="TextBox 18"/>
          <p:cNvSpPr txBox="1"/>
          <p:nvPr/>
        </p:nvSpPr>
        <p:spPr>
          <a:xfrm>
            <a:off x="9968541" y="283845"/>
            <a:ext cx="1853889" cy="182880"/>
          </a:xfrm>
          <a:prstGeom prst="rect">
            <a:avLst/>
          </a:prstGeom>
          <a:noFill/>
          <a:ln>
            <a:noFill/>
          </a:ln>
        </p:spPr>
        <p:txBody>
          <a:bodyPr wrap="none" lIns="0" tIns="0" rIns="0" bIns="0" anchor="t" anchorCtr="0">
            <a:spAutoFit/>
          </a:bodyPr>
          <a:lstStyle/>
          <a:p>
            <a:pPr algn="r"/>
            <a:r>
              <a:rPr lang="zh-CN" sz="900" dirty="0">
                <a:solidFill>
                  <a:srgbClr val="8A919B"/>
                </a:solidFill>
                <a:latin typeface="Arial"/>
                <a:ea typeface="Microsoft YaHei"/>
                <a:cs typeface="Arial"/>
              </a:rPr>
              <a:t>Figure 5d · SI Notes S3–S4</a:t>
            </a:r>
          </a:p>
        </p:txBody>
      </p:sp>
      <p:sp>
        <p:nvSpPr>
          <p:cNvPr id="19" name="Line 19"/>
          <p:cNvSpPr/>
          <p:nvPr/>
        </p:nvSpPr>
        <p:spPr>
          <a:xfrm>
            <a:off x="914400" y="6515100"/>
            <a:ext cx="10896600" cy="9525"/>
          </a:xfrm>
          <a:custGeom>
            <a:avLst/>
            <a:gdLst/>
            <a:ahLst/>
            <a:cxnLst/>
            <a:rect l="l" t="t" r="r" b="b"/>
            <a:pathLst>
              <a:path w="10896600" h="9525">
                <a:moveTo>
                  <a:pt x="0" y="0"/>
                </a:moveTo>
                <a:lnTo>
                  <a:pt x="10896600" y="0"/>
                </a:lnTo>
              </a:path>
            </a:pathLst>
          </a:custGeom>
          <a:noFill/>
          <a:ln w="9525">
            <a:solidFill>
              <a:srgbClr val="D6D3CD"/>
            </a:solidFill>
          </a:ln>
        </p:spPr>
      </p:sp>
      <p:sp>
        <p:nvSpPr>
          <p:cNvPr id="20" name="TextBox 20"/>
          <p:cNvSpPr txBox="1"/>
          <p:nvPr/>
        </p:nvSpPr>
        <p:spPr>
          <a:xfrm>
            <a:off x="902970" y="6617970"/>
            <a:ext cx="2609698" cy="182880"/>
          </a:xfrm>
          <a:prstGeom prst="rect">
            <a:avLst/>
          </a:prstGeom>
          <a:noFill/>
          <a:ln>
            <a:noFill/>
          </a:ln>
        </p:spPr>
        <p:txBody>
          <a:bodyPr wrap="none" lIns="0" tIns="0" rIns="0" bIns="0" anchor="t" anchorCtr="0">
            <a:spAutoFit/>
          </a:bodyPr>
          <a:lstStyle/>
          <a:p>
            <a:pPr algn="l"/>
            <a:r>
              <a:rPr lang="zh-CN" sz="900" dirty="0">
                <a:solidFill>
                  <a:srgbClr val="8A919B"/>
                </a:solidFill>
                <a:latin typeface="Arial"/>
                <a:ea typeface="Microsoft YaHei"/>
                <a:cs typeface="Arial"/>
              </a:rPr>
              <a:t>Birds or birders? · AOC 2026, Singapore</a:t>
            </a:r>
          </a:p>
        </p:txBody>
      </p:sp>
      <p:sp>
        <p:nvSpPr>
          <p:cNvPr id="21" name="TextBox 21"/>
          <p:cNvSpPr txBox="1"/>
          <p:nvPr/>
        </p:nvSpPr>
        <p:spPr>
          <a:xfrm>
            <a:off x="11352657" y="6617970"/>
            <a:ext cx="469773" cy="182880"/>
          </a:xfrm>
          <a:prstGeom prst="rect">
            <a:avLst/>
          </a:prstGeom>
          <a:noFill/>
          <a:ln>
            <a:noFill/>
          </a:ln>
        </p:spPr>
        <p:txBody>
          <a:bodyPr wrap="none" lIns="0" tIns="0" rIns="0" bIns="0" anchor="t" anchorCtr="0">
            <a:spAutoFit/>
          </a:bodyPr>
          <a:lstStyle/>
          <a:p>
            <a:pPr algn="r"/>
            <a:r>
              <a:rPr lang="zh-CN" sz="900" dirty="0">
                <a:solidFill>
                  <a:srgbClr val="5F6670"/>
                </a:solidFill>
                <a:latin typeface="Arial"/>
                <a:ea typeface="Microsoft YaHei"/>
                <a:cs typeface="Arial"/>
              </a:rPr>
              <a:t>09 / 20</a:t>
            </a:r>
          </a:p>
        </p:txBody>
      </p:sp>
      <p:sp>
        <p:nvSpPr>
          <p:cNvPr id="22" name="TextBox 22"/>
          <p:cNvSpPr txBox="1"/>
          <p:nvPr/>
        </p:nvSpPr>
        <p:spPr>
          <a:xfrm>
            <a:off x="899160" y="918210"/>
            <a:ext cx="6378397" cy="243840"/>
          </a:xfrm>
          <a:prstGeom prst="rect">
            <a:avLst/>
          </a:prstGeom>
          <a:noFill/>
          <a:ln>
            <a:noFill/>
          </a:ln>
        </p:spPr>
        <p:txBody>
          <a:bodyPr wrap="none" lIns="0" tIns="0" rIns="0" bIns="0" anchor="t" anchorCtr="0">
            <a:spAutoFit/>
          </a:bodyPr>
          <a:lstStyle/>
          <a:p>
            <a:pPr algn="l"/>
            <a:r>
              <a:rPr lang="zh-CN" sz="1200" dirty="0">
                <a:solidFill>
                  <a:srgbClr val="5F6670"/>
                </a:solidFill>
                <a:latin typeface="Arial"/>
                <a:ea typeface="Microsoft YaHei"/>
                <a:cs typeface="Arial"/>
              </a:rPr>
              <a:t>Effort breaks proportional hazards (P = 0.00077): a finding, not a failure</a:t>
            </a:r>
          </a:p>
        </p:txBody>
      </p:sp>
      <p:sp>
        <p:nvSpPr>
          <p:cNvPr id="23" name="Rectangle 23"/>
          <p:cNvSpPr/>
          <p:nvPr/>
        </p:nvSpPr>
        <p:spPr>
          <a:xfrm>
            <a:off x="914400" y="1219200"/>
            <a:ext cx="5295900" cy="1476375"/>
          </a:xfrm>
          <a:prstGeom prst="roundRect">
            <a:avLst>
              <a:gd name="adj" fmla="val 3871"/>
            </a:avLst>
          </a:prstGeom>
          <a:solidFill>
            <a:srgbClr val="FFFFFF"/>
          </a:solidFill>
          <a:ln w="9525">
            <a:solidFill>
              <a:srgbClr val="D6D3CD"/>
            </a:solidFill>
          </a:ln>
        </p:spPr>
      </p:sp>
      <p:sp>
        <p:nvSpPr>
          <p:cNvPr id="24" name="Rectangle 24"/>
          <p:cNvSpPr/>
          <p:nvPr/>
        </p:nvSpPr>
        <p:spPr>
          <a:xfrm>
            <a:off x="914400" y="1219200"/>
            <a:ext cx="5295900" cy="38100"/>
          </a:xfrm>
          <a:prstGeom prst="rect">
            <a:avLst/>
          </a:prstGeom>
          <a:solidFill>
            <a:srgbClr val="0072B2"/>
          </a:solidFill>
          <a:ln>
            <a:noFill/>
          </a:ln>
        </p:spPr>
      </p:sp>
      <p:sp>
        <p:nvSpPr>
          <p:cNvPr id="25" name="TextBox 25"/>
          <p:cNvSpPr txBox="1"/>
          <p:nvPr/>
        </p:nvSpPr>
        <p:spPr>
          <a:xfrm>
            <a:off x="1088708" y="1395889"/>
            <a:ext cx="2882647" cy="259080"/>
          </a:xfrm>
          <a:prstGeom prst="rect">
            <a:avLst/>
          </a:prstGeom>
          <a:noFill/>
          <a:ln>
            <a:noFill/>
          </a:ln>
        </p:spPr>
        <p:txBody>
          <a:bodyPr wrap="none" lIns="0" tIns="0" rIns="0" bIns="0" anchor="t" anchorCtr="0">
            <a:spAutoFit/>
          </a:bodyPr>
          <a:lstStyle/>
          <a:p>
            <a:pPr algn="l"/>
            <a:r>
              <a:rPr lang="zh-CN" sz="1275" b="1" dirty="0">
                <a:solidFill>
                  <a:srgbClr val="0072B2"/>
                </a:solidFill>
                <a:latin typeface="Arial"/>
                <a:ea typeface="Microsoft YaHei"/>
                <a:cs typeface="Arial"/>
              </a:rPr>
              <a:t>Returns on effort are falling</a:t>
            </a:r>
          </a:p>
        </p:txBody>
      </p:sp>
      <p:sp>
        <p:nvSpPr>
          <p:cNvPr id="26" name="TextBox 26"/>
          <p:cNvSpPr txBox="1"/>
          <p:nvPr/>
        </p:nvSpPr>
        <p:spPr>
          <a:xfrm>
            <a:off x="1090612" y="1688306"/>
            <a:ext cx="2077474" cy="228600"/>
          </a:xfrm>
          <a:prstGeom prst="rect">
            <a:avLst/>
          </a:prstGeom>
          <a:noFill/>
          <a:ln>
            <a:noFill/>
          </a:ln>
        </p:spPr>
        <p:txBody>
          <a:bodyPr wrap="none" lIns="0" tIns="0" rIns="0" bIns="0" anchor="t" anchorCtr="0">
            <a:spAutoFit/>
          </a:bodyPr>
          <a:lstStyle/>
          <a:p>
            <a:pPr algn="l"/>
            <a:r>
              <a:rPr lang="zh-CN" sz="1125" dirty="0">
                <a:solidFill>
                  <a:srgbClr val="0072B2"/>
                </a:solidFill>
                <a:latin typeface="Arial"/>
                <a:ea typeface="Microsoft YaHei"/>
                <a:cs typeface="Arial"/>
              </a:rPr>
              <a:t>2002: HR 2.18 (1.63–2.90)</a:t>
            </a:r>
          </a:p>
        </p:txBody>
      </p:sp>
      <p:sp>
        <p:nvSpPr>
          <p:cNvPr id="27" name="TextBox 27"/>
          <p:cNvSpPr txBox="1"/>
          <p:nvPr/>
        </p:nvSpPr>
        <p:spPr>
          <a:xfrm>
            <a:off x="1090612" y="1926431"/>
            <a:ext cx="2077474" cy="228600"/>
          </a:xfrm>
          <a:prstGeom prst="rect">
            <a:avLst/>
          </a:prstGeom>
          <a:noFill/>
          <a:ln>
            <a:noFill/>
          </a:ln>
        </p:spPr>
        <p:txBody>
          <a:bodyPr wrap="none" lIns="0" tIns="0" rIns="0" bIns="0" anchor="t" anchorCtr="0">
            <a:spAutoFit/>
          </a:bodyPr>
          <a:lstStyle/>
          <a:p>
            <a:pPr algn="l"/>
            <a:r>
              <a:rPr lang="zh-CN" sz="1125" dirty="0">
                <a:solidFill>
                  <a:srgbClr val="0072B2"/>
                </a:solidFill>
                <a:latin typeface="Arial"/>
                <a:ea typeface="Microsoft YaHei"/>
                <a:cs typeface="Arial"/>
              </a:rPr>
              <a:t>2024: HR 1.07 (0.88–1.30)</a:t>
            </a:r>
          </a:p>
        </p:txBody>
      </p:sp>
      <p:sp>
        <p:nvSpPr>
          <p:cNvPr id="28" name="TextBox 28"/>
          <p:cNvSpPr txBox="1"/>
          <p:nvPr/>
        </p:nvSpPr>
        <p:spPr>
          <a:xfrm>
            <a:off x="1090612" y="2164556"/>
            <a:ext cx="2767560" cy="228600"/>
          </a:xfrm>
          <a:prstGeom prst="rect">
            <a:avLst/>
          </a:prstGeom>
          <a:noFill/>
          <a:ln>
            <a:noFill/>
          </a:ln>
        </p:spPr>
        <p:txBody>
          <a:bodyPr wrap="none" lIns="0" tIns="0" rIns="0" bIns="0" anchor="t" anchorCtr="0">
            <a:spAutoFit/>
          </a:bodyPr>
          <a:lstStyle/>
          <a:p>
            <a:pPr algn="l"/>
            <a:r>
              <a:rPr lang="zh-CN" sz="1125" dirty="0">
                <a:solidFill>
                  <a:srgbClr val="17332D"/>
                </a:solidFill>
                <a:latin typeface="Arial"/>
                <a:ea typeface="Microsoft YaHei"/>
                <a:cs typeface="Arial"/>
              </a:rPr>
              <a:t>After 2022 the interval includes 1</a:t>
            </a:r>
          </a:p>
        </p:txBody>
      </p:sp>
      <p:sp>
        <p:nvSpPr>
          <p:cNvPr id="29" name="TextBox 29"/>
          <p:cNvSpPr txBox="1"/>
          <p:nvPr/>
        </p:nvSpPr>
        <p:spPr>
          <a:xfrm>
            <a:off x="1090612" y="2402681"/>
            <a:ext cx="2453735" cy="228600"/>
          </a:xfrm>
          <a:prstGeom prst="rect">
            <a:avLst/>
          </a:prstGeom>
          <a:noFill/>
          <a:ln>
            <a:noFill/>
          </a:ln>
        </p:spPr>
        <p:txBody>
          <a:bodyPr wrap="none" lIns="0" tIns="0" rIns="0" bIns="0" anchor="t" anchorCtr="0">
            <a:spAutoFit/>
          </a:bodyPr>
          <a:lstStyle/>
          <a:p>
            <a:pPr algn="l"/>
            <a:r>
              <a:rPr lang="zh-CN" sz="1125" dirty="0">
                <a:solidFill>
                  <a:srgbClr val="5F6670"/>
                </a:solidFill>
                <a:latin typeface="Arial"/>
                <a:ea typeface="Microsoft YaHei"/>
                <a:cs typeface="Arial"/>
              </a:rPr>
              <a:t>The easy gaps have been filled</a:t>
            </a:r>
          </a:p>
        </p:txBody>
      </p:sp>
      <p:sp>
        <p:nvSpPr>
          <p:cNvPr id="30" name="Rectangle 30"/>
          <p:cNvSpPr/>
          <p:nvPr/>
        </p:nvSpPr>
        <p:spPr>
          <a:xfrm>
            <a:off x="6515100" y="1219200"/>
            <a:ext cx="5295900" cy="1476375"/>
          </a:xfrm>
          <a:prstGeom prst="roundRect">
            <a:avLst>
              <a:gd name="adj" fmla="val 3871"/>
            </a:avLst>
          </a:prstGeom>
          <a:solidFill>
            <a:srgbClr val="FFFFFF"/>
          </a:solidFill>
          <a:ln w="9525">
            <a:solidFill>
              <a:srgbClr val="D6D3CD"/>
            </a:solidFill>
          </a:ln>
        </p:spPr>
      </p:sp>
      <p:sp>
        <p:nvSpPr>
          <p:cNvPr id="31" name="Rectangle 31"/>
          <p:cNvSpPr/>
          <p:nvPr/>
        </p:nvSpPr>
        <p:spPr>
          <a:xfrm>
            <a:off x="6515100" y="1219200"/>
            <a:ext cx="5295900" cy="38100"/>
          </a:xfrm>
          <a:prstGeom prst="rect">
            <a:avLst/>
          </a:prstGeom>
          <a:solidFill>
            <a:srgbClr val="009E73"/>
          </a:solidFill>
          <a:ln>
            <a:noFill/>
          </a:ln>
        </p:spPr>
      </p:sp>
      <p:sp>
        <p:nvSpPr>
          <p:cNvPr id="32" name="TextBox 32"/>
          <p:cNvSpPr txBox="1"/>
          <p:nvPr/>
        </p:nvSpPr>
        <p:spPr>
          <a:xfrm>
            <a:off x="6689408" y="1395889"/>
            <a:ext cx="2829353" cy="259080"/>
          </a:xfrm>
          <a:prstGeom prst="rect">
            <a:avLst/>
          </a:prstGeom>
          <a:noFill/>
          <a:ln>
            <a:noFill/>
          </a:ln>
        </p:spPr>
        <p:txBody>
          <a:bodyPr wrap="none" lIns="0" tIns="0" rIns="0" bIns="0" anchor="t" anchorCtr="0">
            <a:spAutoFit/>
          </a:bodyPr>
          <a:lstStyle/>
          <a:p>
            <a:pPr algn="l"/>
            <a:r>
              <a:rPr lang="zh-CN" sz="1275" b="1" dirty="0">
                <a:solidFill>
                  <a:srgbClr val="009E73"/>
                </a:solidFill>
                <a:latin typeface="Arial"/>
                <a:ea typeface="Microsoft YaHei"/>
                <a:cs typeface="Arial"/>
              </a:rPr>
              <a:t>Warming shows no such trend</a:t>
            </a:r>
          </a:p>
        </p:txBody>
      </p:sp>
      <p:sp>
        <p:nvSpPr>
          <p:cNvPr id="33" name="TextBox 33"/>
          <p:cNvSpPr txBox="1"/>
          <p:nvPr/>
        </p:nvSpPr>
        <p:spPr>
          <a:xfrm>
            <a:off x="6691312" y="1688306"/>
            <a:ext cx="1970675" cy="228600"/>
          </a:xfrm>
          <a:prstGeom prst="rect">
            <a:avLst/>
          </a:prstGeom>
          <a:noFill/>
          <a:ln>
            <a:noFill/>
          </a:ln>
        </p:spPr>
        <p:txBody>
          <a:bodyPr wrap="none" lIns="0" tIns="0" rIns="0" bIns="0" anchor="t" anchorCtr="0">
            <a:spAutoFit/>
          </a:bodyPr>
          <a:lstStyle/>
          <a:p>
            <a:pPr algn="l"/>
            <a:r>
              <a:rPr lang="zh-CN" sz="1125" dirty="0">
                <a:solidFill>
                  <a:srgbClr val="009E73"/>
                </a:solidFill>
                <a:latin typeface="Arial"/>
                <a:ea typeface="Microsoft YaHei"/>
                <a:cs typeface="Arial"/>
              </a:rPr>
              <a:t>Warming × time: P = 0.82</a:t>
            </a:r>
          </a:p>
        </p:txBody>
      </p:sp>
      <p:sp>
        <p:nvSpPr>
          <p:cNvPr id="34" name="TextBox 34"/>
          <p:cNvSpPr txBox="1"/>
          <p:nvPr/>
        </p:nvSpPr>
        <p:spPr>
          <a:xfrm>
            <a:off x="6691312" y="1926431"/>
            <a:ext cx="2810280" cy="228600"/>
          </a:xfrm>
          <a:prstGeom prst="rect">
            <a:avLst/>
          </a:prstGeom>
          <a:noFill/>
          <a:ln>
            <a:noFill/>
          </a:ln>
        </p:spPr>
        <p:txBody>
          <a:bodyPr wrap="none" lIns="0" tIns="0" rIns="0" bIns="0" anchor="t" anchorCtr="0">
            <a:spAutoFit/>
          </a:bodyPr>
          <a:lstStyle/>
          <a:p>
            <a:pPr algn="l"/>
            <a:r>
              <a:rPr lang="zh-CN" sz="1125" dirty="0">
                <a:solidFill>
                  <a:srgbClr val="009E73"/>
                </a:solidFill>
                <a:latin typeface="Arial"/>
                <a:ea typeface="Microsoft YaHei"/>
                <a:cs typeface="Arial"/>
              </a:rPr>
              <a:t>Time-varying model: warming HR 1.37</a:t>
            </a:r>
          </a:p>
        </p:txBody>
      </p:sp>
      <p:sp>
        <p:nvSpPr>
          <p:cNvPr id="35" name="TextBox 35"/>
          <p:cNvSpPr txBox="1"/>
          <p:nvPr/>
        </p:nvSpPr>
        <p:spPr>
          <a:xfrm>
            <a:off x="6691312" y="2164556"/>
            <a:ext cx="2920365" cy="228600"/>
          </a:xfrm>
          <a:prstGeom prst="rect">
            <a:avLst/>
          </a:prstGeom>
          <a:noFill/>
          <a:ln>
            <a:noFill/>
          </a:ln>
        </p:spPr>
        <p:txBody>
          <a:bodyPr wrap="none" lIns="0" tIns="0" rIns="0" bIns="0" anchor="t" anchorCtr="0">
            <a:spAutoFit/>
          </a:bodyPr>
          <a:lstStyle/>
          <a:p>
            <a:pPr algn="l"/>
            <a:r>
              <a:rPr lang="zh-CN" sz="1125" dirty="0">
                <a:solidFill>
                  <a:srgbClr val="17332D"/>
                </a:solidFill>
                <a:latin typeface="Arial"/>
                <a:ea typeface="Microsoft YaHei"/>
                <a:cs typeface="Arial"/>
              </a:rPr>
              <a:t>Effort mines a finite stock of gaps;</a:t>
            </a:r>
          </a:p>
        </p:txBody>
      </p:sp>
      <p:sp>
        <p:nvSpPr>
          <p:cNvPr id="36" name="TextBox 36"/>
          <p:cNvSpPr txBox="1"/>
          <p:nvPr/>
        </p:nvSpPr>
        <p:spPr>
          <a:xfrm>
            <a:off x="6691312" y="2402681"/>
            <a:ext cx="2953226" cy="228600"/>
          </a:xfrm>
          <a:prstGeom prst="rect">
            <a:avLst/>
          </a:prstGeom>
          <a:noFill/>
          <a:ln>
            <a:noFill/>
          </a:ln>
        </p:spPr>
        <p:txBody>
          <a:bodyPr wrap="none" lIns="0" tIns="0" rIns="0" bIns="0" anchor="t" anchorCtr="0">
            <a:spAutoFit/>
          </a:bodyPr>
          <a:lstStyle/>
          <a:p>
            <a:pPr algn="l"/>
            <a:r>
              <a:rPr lang="zh-CN" sz="1125" dirty="0">
                <a:solidFill>
                  <a:srgbClr val="17332D"/>
                </a:solidFill>
                <a:latin typeface="Arial"/>
                <a:ea typeface="Microsoft YaHei"/>
                <a:cs typeface="Arial"/>
              </a:rPr>
              <a:t>warming keeps adding new candidates</a:t>
            </a:r>
          </a:p>
        </p:txBody>
      </p:sp>
      <p:sp>
        <p:nvSpPr>
          <p:cNvPr id="37" name="Rectangle 37"/>
          <p:cNvSpPr/>
          <p:nvPr/>
        </p:nvSpPr>
        <p:spPr>
          <a:xfrm>
            <a:off x="914400" y="2943225"/>
            <a:ext cx="10896600" cy="781050"/>
          </a:xfrm>
          <a:prstGeom prst="roundRect">
            <a:avLst>
              <a:gd name="adj" fmla="val 7317"/>
            </a:avLst>
          </a:prstGeom>
          <a:solidFill>
            <a:srgbClr val="1F4E45"/>
          </a:solidFill>
          <a:ln>
            <a:noFill/>
          </a:ln>
        </p:spPr>
      </p:sp>
      <p:sp>
        <p:nvSpPr>
          <p:cNvPr id="38" name="TextBox 38"/>
          <p:cNvSpPr txBox="1"/>
          <p:nvPr/>
        </p:nvSpPr>
        <p:spPr>
          <a:xfrm>
            <a:off x="4692408" y="3129439"/>
            <a:ext cx="3340584" cy="259080"/>
          </a:xfrm>
          <a:prstGeom prst="rect">
            <a:avLst/>
          </a:prstGeom>
          <a:noFill/>
          <a:ln>
            <a:noFill/>
          </a:ln>
        </p:spPr>
        <p:txBody>
          <a:bodyPr wrap="none" lIns="0" tIns="0" rIns="0" bIns="0" anchor="t" anchorCtr="0">
            <a:spAutoFit/>
          </a:bodyPr>
          <a:lstStyle/>
          <a:p>
            <a:pPr algn="ctr"/>
            <a:r>
              <a:rPr lang="zh-CN" sz="1275" b="1" dirty="0">
                <a:solidFill>
                  <a:srgbClr val="FFFFFF"/>
                </a:solidFill>
                <a:latin typeface="Arial"/>
                <a:ea typeface="Microsoft YaHei"/>
                <a:cs typeface="Arial"/>
              </a:rPr>
              <a:t>Consistent with a stock and a flow</a:t>
            </a:r>
          </a:p>
        </p:txBody>
      </p:sp>
      <p:sp>
        <p:nvSpPr>
          <p:cNvPr id="39" name="TextBox 39"/>
          <p:cNvSpPr txBox="1"/>
          <p:nvPr/>
        </p:nvSpPr>
        <p:spPr>
          <a:xfrm>
            <a:off x="3111579" y="3412331"/>
            <a:ext cx="6502241" cy="228600"/>
          </a:xfrm>
          <a:prstGeom prst="rect">
            <a:avLst/>
          </a:prstGeom>
          <a:noFill/>
          <a:ln>
            <a:noFill/>
          </a:ln>
        </p:spPr>
        <p:txBody>
          <a:bodyPr wrap="none" lIns="0" tIns="0" rIns="0" bIns="0" anchor="t" anchorCtr="0">
            <a:spAutoFit/>
          </a:bodyPr>
          <a:lstStyle/>
          <a:p>
            <a:pPr algn="ctr"/>
            <a:r>
              <a:rPr lang="zh-CN" sz="1125" dirty="0">
                <a:solidFill>
                  <a:srgbClr val="E7F0ED"/>
                </a:solidFill>
                <a:latin typeface="Arial"/>
                <a:ea typeface="Microsoft YaHei"/>
                <a:cs typeface="Arial"/>
              </a:rPr>
              <a:t>The two time trends were not tested against each other: consistent, not proven</a:t>
            </a:r>
          </a:p>
        </p:txBody>
      </p:sp>
      <p:sp>
        <p:nvSpPr>
          <p:cNvPr id="40" name="Rectangle 40"/>
          <p:cNvSpPr/>
          <p:nvPr/>
        </p:nvSpPr>
        <p:spPr>
          <a:xfrm>
            <a:off x="914400" y="4057650"/>
            <a:ext cx="5295900" cy="1238250"/>
          </a:xfrm>
          <a:prstGeom prst="roundRect">
            <a:avLst>
              <a:gd name="adj" fmla="val 4615"/>
            </a:avLst>
          </a:prstGeom>
          <a:solidFill>
            <a:srgbClr val="FFFFFF"/>
          </a:solidFill>
          <a:ln w="9525">
            <a:solidFill>
              <a:srgbClr val="D6D3CD"/>
            </a:solidFill>
          </a:ln>
        </p:spPr>
      </p:sp>
      <p:sp>
        <p:nvSpPr>
          <p:cNvPr id="41" name="Rectangle 41"/>
          <p:cNvSpPr/>
          <p:nvPr/>
        </p:nvSpPr>
        <p:spPr>
          <a:xfrm>
            <a:off x="914400" y="4057650"/>
            <a:ext cx="5295900" cy="38100"/>
          </a:xfrm>
          <a:prstGeom prst="rect">
            <a:avLst/>
          </a:prstGeom>
          <a:solidFill>
            <a:srgbClr val="0072B2"/>
          </a:solidFill>
          <a:ln>
            <a:noFill/>
          </a:ln>
        </p:spPr>
      </p:sp>
      <p:sp>
        <p:nvSpPr>
          <p:cNvPr id="42" name="TextBox 42"/>
          <p:cNvSpPr txBox="1"/>
          <p:nvPr/>
        </p:nvSpPr>
        <p:spPr>
          <a:xfrm>
            <a:off x="1088708" y="4234339"/>
            <a:ext cx="2772111" cy="259080"/>
          </a:xfrm>
          <a:prstGeom prst="rect">
            <a:avLst/>
          </a:prstGeom>
          <a:noFill/>
          <a:ln>
            <a:noFill/>
          </a:ln>
        </p:spPr>
        <p:txBody>
          <a:bodyPr wrap="none" lIns="0" tIns="0" rIns="0" bIns="0" anchor="t" anchorCtr="0">
            <a:spAutoFit/>
          </a:bodyPr>
          <a:lstStyle/>
          <a:p>
            <a:pPr algn="l"/>
            <a:r>
              <a:rPr lang="zh-CN" sz="1275" b="1" dirty="0">
                <a:solidFill>
                  <a:srgbClr val="0072B2"/>
                </a:solidFill>
                <a:latin typeface="Arial"/>
                <a:ea typeface="Microsoft YaHei"/>
                <a:cs typeface="Arial"/>
              </a:rPr>
              <a:t>Same signal at province level</a:t>
            </a:r>
          </a:p>
        </p:txBody>
      </p:sp>
      <p:sp>
        <p:nvSpPr>
          <p:cNvPr id="43" name="TextBox 43"/>
          <p:cNvSpPr txBox="1"/>
          <p:nvPr/>
        </p:nvSpPr>
        <p:spPr>
          <a:xfrm>
            <a:off x="1090612" y="4526756"/>
            <a:ext cx="2966371" cy="228600"/>
          </a:xfrm>
          <a:prstGeom prst="rect">
            <a:avLst/>
          </a:prstGeom>
          <a:noFill/>
          <a:ln>
            <a:noFill/>
          </a:ln>
        </p:spPr>
        <p:txBody>
          <a:bodyPr wrap="none" lIns="0" tIns="0" rIns="0" bIns="0" anchor="t" anchorCtr="0">
            <a:spAutoFit/>
          </a:bodyPr>
          <a:lstStyle/>
          <a:p>
            <a:pPr algn="l"/>
            <a:r>
              <a:rPr lang="zh-CN" sz="1125" dirty="0">
                <a:solidFill>
                  <a:srgbClr val="17332D"/>
                </a:solidFill>
                <a:latin typeface="Arial"/>
                <a:ea typeface="Microsoft YaHei"/>
                <a:cs typeface="Arial"/>
              </a:rPr>
              <a:t>Provinces well covered in 2002–2008</a:t>
            </a:r>
          </a:p>
        </p:txBody>
      </p:sp>
      <p:sp>
        <p:nvSpPr>
          <p:cNvPr id="44" name="TextBox 44"/>
          <p:cNvSpPr txBox="1"/>
          <p:nvPr/>
        </p:nvSpPr>
        <p:spPr>
          <a:xfrm>
            <a:off x="1090612" y="4764881"/>
            <a:ext cx="3479006" cy="228600"/>
          </a:xfrm>
          <a:prstGeom prst="rect">
            <a:avLst/>
          </a:prstGeom>
          <a:noFill/>
          <a:ln>
            <a:noFill/>
          </a:ln>
        </p:spPr>
        <p:txBody>
          <a:bodyPr wrap="none" lIns="0" tIns="0" rIns="0" bIns="0" anchor="t" anchorCtr="0">
            <a:spAutoFit/>
          </a:bodyPr>
          <a:lstStyle/>
          <a:p>
            <a:pPr algn="l"/>
            <a:r>
              <a:rPr lang="zh-CN" sz="1125" dirty="0">
                <a:solidFill>
                  <a:srgbClr val="17332D"/>
                </a:solidFill>
                <a:latin typeface="Arial"/>
                <a:ea typeface="Microsoft YaHei"/>
                <a:cs typeface="Arial"/>
              </a:rPr>
              <a:t>now yield fewer records per unit of effort</a:t>
            </a:r>
          </a:p>
        </p:txBody>
      </p:sp>
      <p:sp>
        <p:nvSpPr>
          <p:cNvPr id="45" name="TextBox 45"/>
          <p:cNvSpPr txBox="1"/>
          <p:nvPr/>
        </p:nvSpPr>
        <p:spPr>
          <a:xfrm>
            <a:off x="1090612" y="5003006"/>
            <a:ext cx="1469541" cy="228600"/>
          </a:xfrm>
          <a:prstGeom prst="rect">
            <a:avLst/>
          </a:prstGeom>
          <a:noFill/>
          <a:ln>
            <a:noFill/>
          </a:ln>
        </p:spPr>
        <p:txBody>
          <a:bodyPr wrap="none" lIns="0" tIns="0" rIns="0" bIns="0" anchor="t" anchorCtr="0">
            <a:spAutoFit/>
          </a:bodyPr>
          <a:lstStyle/>
          <a:p>
            <a:pPr algn="l"/>
            <a:r>
              <a:rPr lang="zh-CN" sz="1125" dirty="0">
                <a:solidFill>
                  <a:srgbClr val="5F6670"/>
                </a:solidFill>
                <a:latin typeface="Arial"/>
                <a:ea typeface="Microsoft YaHei"/>
                <a:cs typeface="Arial"/>
              </a:rPr>
              <a:t>IRR 0.71, P = 0.028</a:t>
            </a:r>
          </a:p>
        </p:txBody>
      </p:sp>
      <p:sp>
        <p:nvSpPr>
          <p:cNvPr id="46" name="Rectangle 46"/>
          <p:cNvSpPr/>
          <p:nvPr/>
        </p:nvSpPr>
        <p:spPr>
          <a:xfrm>
            <a:off x="6515100" y="4057650"/>
            <a:ext cx="5295900" cy="1238250"/>
          </a:xfrm>
          <a:prstGeom prst="roundRect">
            <a:avLst>
              <a:gd name="adj" fmla="val 4615"/>
            </a:avLst>
          </a:prstGeom>
          <a:solidFill>
            <a:srgbClr val="FFFFFF"/>
          </a:solidFill>
          <a:ln w="9525">
            <a:solidFill>
              <a:srgbClr val="D6D3CD"/>
            </a:solidFill>
          </a:ln>
        </p:spPr>
      </p:sp>
      <p:sp>
        <p:nvSpPr>
          <p:cNvPr id="47" name="Rectangle 47"/>
          <p:cNvSpPr/>
          <p:nvPr/>
        </p:nvSpPr>
        <p:spPr>
          <a:xfrm>
            <a:off x="6515100" y="4057650"/>
            <a:ext cx="5295900" cy="38100"/>
          </a:xfrm>
          <a:prstGeom prst="rect">
            <a:avLst/>
          </a:prstGeom>
          <a:solidFill>
            <a:srgbClr val="B45309"/>
          </a:solidFill>
          <a:ln>
            <a:noFill/>
          </a:ln>
        </p:spPr>
      </p:sp>
      <p:sp>
        <p:nvSpPr>
          <p:cNvPr id="48" name="TextBox 48"/>
          <p:cNvSpPr txBox="1"/>
          <p:nvPr/>
        </p:nvSpPr>
        <p:spPr>
          <a:xfrm>
            <a:off x="6689408" y="4234339"/>
            <a:ext cx="2829353" cy="259080"/>
          </a:xfrm>
          <a:prstGeom prst="rect">
            <a:avLst/>
          </a:prstGeom>
          <a:noFill/>
          <a:ln>
            <a:noFill/>
          </a:ln>
        </p:spPr>
        <p:txBody>
          <a:bodyPr wrap="none" lIns="0" tIns="0" rIns="0" bIns="0" anchor="t" anchorCtr="0">
            <a:spAutoFit/>
          </a:bodyPr>
          <a:lstStyle/>
          <a:p>
            <a:pPr algn="l"/>
            <a:r>
              <a:rPr lang="zh-CN" sz="1275" b="1" dirty="0">
                <a:solidFill>
                  <a:srgbClr val="B45309"/>
                </a:solidFill>
                <a:latin typeface="Arial"/>
                <a:ea typeface="Microsoft YaHei"/>
                <a:cs typeface="Arial"/>
              </a:rPr>
              <a:t>What it means for monitoring</a:t>
            </a:r>
          </a:p>
        </p:txBody>
      </p:sp>
      <p:sp>
        <p:nvSpPr>
          <p:cNvPr id="49" name="TextBox 49"/>
          <p:cNvSpPr txBox="1"/>
          <p:nvPr/>
        </p:nvSpPr>
        <p:spPr>
          <a:xfrm>
            <a:off x="6691312" y="4526756"/>
            <a:ext cx="3658100" cy="228600"/>
          </a:xfrm>
          <a:prstGeom prst="rect">
            <a:avLst/>
          </a:prstGeom>
          <a:noFill/>
          <a:ln>
            <a:noFill/>
          </a:ln>
        </p:spPr>
        <p:txBody>
          <a:bodyPr wrap="none" lIns="0" tIns="0" rIns="0" bIns="0" anchor="t" anchorCtr="0">
            <a:spAutoFit/>
          </a:bodyPr>
          <a:lstStyle/>
          <a:p>
            <a:pPr algn="l"/>
            <a:r>
              <a:rPr lang="zh-CN" sz="1125" dirty="0">
                <a:solidFill>
                  <a:srgbClr val="17332D"/>
                </a:solidFill>
                <a:latin typeface="Arial"/>
                <a:ea typeface="Microsoft YaHei"/>
                <a:cs typeface="Arial"/>
              </a:rPr>
              <a:t>More effort in eastern hotspots adds little;</a:t>
            </a:r>
          </a:p>
        </p:txBody>
      </p:sp>
      <p:sp>
        <p:nvSpPr>
          <p:cNvPr id="50" name="TextBox 50"/>
          <p:cNvSpPr txBox="1"/>
          <p:nvPr/>
        </p:nvSpPr>
        <p:spPr>
          <a:xfrm>
            <a:off x="6691312" y="4764881"/>
            <a:ext cx="2210562" cy="228600"/>
          </a:xfrm>
          <a:prstGeom prst="rect">
            <a:avLst/>
          </a:prstGeom>
          <a:noFill/>
          <a:ln>
            <a:noFill/>
          </a:ln>
        </p:spPr>
        <p:txBody>
          <a:bodyPr wrap="none" lIns="0" tIns="0" rIns="0" bIns="0" anchor="t" anchorCtr="0">
            <a:spAutoFit/>
          </a:bodyPr>
          <a:lstStyle/>
          <a:p>
            <a:pPr algn="l"/>
            <a:r>
              <a:rPr lang="zh-CN" sz="1125" dirty="0">
                <a:solidFill>
                  <a:srgbClr val="17332D"/>
                </a:solidFill>
                <a:latin typeface="Arial"/>
                <a:ea typeface="Microsoft YaHei"/>
                <a:cs typeface="Arial"/>
              </a:rPr>
              <a:t>send it to under-surveyed,</a:t>
            </a:r>
          </a:p>
        </p:txBody>
      </p:sp>
      <p:sp>
        <p:nvSpPr>
          <p:cNvPr id="51" name="TextBox 51"/>
          <p:cNvSpPr txBox="1"/>
          <p:nvPr/>
        </p:nvSpPr>
        <p:spPr>
          <a:xfrm>
            <a:off x="6691312" y="5003006"/>
            <a:ext cx="1737360" cy="228600"/>
          </a:xfrm>
          <a:prstGeom prst="rect">
            <a:avLst/>
          </a:prstGeom>
          <a:noFill/>
          <a:ln>
            <a:noFill/>
          </a:ln>
        </p:spPr>
        <p:txBody>
          <a:bodyPr wrap="none" lIns="0" tIns="0" rIns="0" bIns="0" anchor="t" anchorCtr="0">
            <a:spAutoFit/>
          </a:bodyPr>
          <a:lstStyle/>
          <a:p>
            <a:pPr algn="l"/>
            <a:r>
              <a:rPr lang="zh-CN" sz="1125" dirty="0">
                <a:solidFill>
                  <a:srgbClr val="17332D"/>
                </a:solidFill>
                <a:latin typeface="Arial"/>
                <a:ea typeface="Microsoft YaHei"/>
                <a:cs typeface="Arial"/>
              </a:rPr>
              <a:t>fast-warming regions</a:t>
            </a:r>
          </a:p>
        </p:txBody>
      </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BFAF7"/>
          </a:solidFill>
          <a:ln>
            <a:noFill/>
          </a:ln>
        </p:spPr>
      </p:sp>
      <p:sp>
        <p:nvSpPr>
          <p:cNvPr id="3" name="Rectangle 3"/>
          <p:cNvSpPr/>
          <p:nvPr/>
        </p:nvSpPr>
        <p:spPr>
          <a:xfrm>
            <a:off x="0" y="0"/>
            <a:ext cx="609600" cy="6858000"/>
          </a:xfrm>
          <a:prstGeom prst="rect">
            <a:avLst/>
          </a:prstGeom>
          <a:solidFill>
            <a:srgbClr val="1F4E45"/>
          </a:solidFill>
          <a:ln>
            <a:noFill/>
          </a:ln>
        </p:spPr>
      </p:sp>
      <p:sp>
        <p:nvSpPr>
          <p:cNvPr id="4" name="Ellipse 4"/>
          <p:cNvSpPr/>
          <p:nvPr/>
        </p:nvSpPr>
        <p:spPr>
          <a:xfrm>
            <a:off x="272415" y="1091565"/>
            <a:ext cx="64770" cy="64770"/>
          </a:xfrm>
          <a:prstGeom prst="ellipse">
            <a:avLst/>
          </a:prstGeom>
          <a:solidFill>
            <a:srgbClr val="FFFFFF">
              <a:alpha val="42000"/>
            </a:srgbClr>
          </a:solidFill>
          <a:ln>
            <a:noFill/>
          </a:ln>
        </p:spPr>
      </p:sp>
      <p:sp>
        <p:nvSpPr>
          <p:cNvPr id="5" name="TextBox 5"/>
          <p:cNvSpPr txBox="1"/>
          <p:nvPr/>
        </p:nvSpPr>
        <p:spPr>
          <a:xfrm>
            <a:off x="17336" y="1245870"/>
            <a:ext cx="574929" cy="182880"/>
          </a:xfrm>
          <a:prstGeom prst="rect">
            <a:avLst/>
          </a:prstGeom>
          <a:noFill/>
          <a:ln>
            <a:noFill/>
          </a:ln>
        </p:spPr>
        <p:txBody>
          <a:bodyPr wrap="none" lIns="0" tIns="0" rIns="0" bIns="0" anchor="t" anchorCtr="0">
            <a:spAutoFit/>
          </a:bodyPr>
          <a:lstStyle/>
          <a:p>
            <a:pPr algn="ctr"/>
            <a:r>
              <a:rPr lang="zh-CN" sz="900" dirty="0">
                <a:solidFill>
                  <a:srgbClr val="FFFFFF">
                    <a:alphaMod val="60000"/>
                  </a:srgbClr>
                </a:solidFill>
                <a:latin typeface="Arial"/>
                <a:ea typeface="Microsoft YaHei"/>
                <a:cs typeface="Arial"/>
              </a:rPr>
              <a:t>Question</a:t>
            </a:r>
          </a:p>
        </p:txBody>
      </p:sp>
      <p:sp>
        <p:nvSpPr>
          <p:cNvPr id="6" name="Ellipse 6"/>
          <p:cNvSpPr/>
          <p:nvPr/>
        </p:nvSpPr>
        <p:spPr>
          <a:xfrm>
            <a:off x="272415" y="1948815"/>
            <a:ext cx="64770" cy="64770"/>
          </a:xfrm>
          <a:prstGeom prst="ellipse">
            <a:avLst/>
          </a:prstGeom>
          <a:solidFill>
            <a:srgbClr val="FFFFFF">
              <a:alpha val="42000"/>
            </a:srgbClr>
          </a:solidFill>
          <a:ln>
            <a:noFill/>
          </a:ln>
        </p:spPr>
      </p:sp>
      <p:sp>
        <p:nvSpPr>
          <p:cNvPr id="7" name="TextBox 7"/>
          <p:cNvSpPr txBox="1"/>
          <p:nvPr/>
        </p:nvSpPr>
        <p:spPr>
          <a:xfrm>
            <a:off x="146152" y="2103120"/>
            <a:ext cx="317297" cy="182880"/>
          </a:xfrm>
          <a:prstGeom prst="rect">
            <a:avLst/>
          </a:prstGeom>
          <a:noFill/>
          <a:ln>
            <a:noFill/>
          </a:ln>
        </p:spPr>
        <p:txBody>
          <a:bodyPr wrap="none" lIns="0" tIns="0" rIns="0" bIns="0" anchor="t" anchorCtr="0">
            <a:spAutoFit/>
          </a:bodyPr>
          <a:lstStyle/>
          <a:p>
            <a:pPr algn="ctr"/>
            <a:r>
              <a:rPr lang="zh-CN" sz="900" dirty="0">
                <a:solidFill>
                  <a:srgbClr val="FFFFFF">
                    <a:alphaMod val="60000"/>
                  </a:srgbClr>
                </a:solidFill>
                <a:latin typeface="Arial"/>
                <a:ea typeface="Microsoft YaHei"/>
                <a:cs typeface="Arial"/>
              </a:rPr>
              <a:t>Data</a:t>
            </a:r>
          </a:p>
        </p:txBody>
      </p:sp>
      <p:sp>
        <p:nvSpPr>
          <p:cNvPr id="8" name="Ellipse 8"/>
          <p:cNvSpPr/>
          <p:nvPr/>
        </p:nvSpPr>
        <p:spPr>
          <a:xfrm>
            <a:off x="257175" y="2790825"/>
            <a:ext cx="95250" cy="95250"/>
          </a:xfrm>
          <a:prstGeom prst="ellipse">
            <a:avLst/>
          </a:prstGeom>
          <a:solidFill>
            <a:srgbClr val="FFFFFF"/>
          </a:solidFill>
          <a:ln>
            <a:noFill/>
          </a:ln>
        </p:spPr>
      </p:sp>
      <p:sp>
        <p:nvSpPr>
          <p:cNvPr id="9" name="TextBox 9"/>
          <p:cNvSpPr txBox="1"/>
          <p:nvPr/>
        </p:nvSpPr>
        <p:spPr>
          <a:xfrm>
            <a:off x="35738" y="2960370"/>
            <a:ext cx="538124" cy="182880"/>
          </a:xfrm>
          <a:prstGeom prst="rect">
            <a:avLst/>
          </a:prstGeom>
          <a:noFill/>
          <a:ln>
            <a:noFill/>
          </a:ln>
        </p:spPr>
        <p:txBody>
          <a:bodyPr wrap="none" lIns="0" tIns="0" rIns="0" bIns="0" anchor="t" anchorCtr="0">
            <a:spAutoFit/>
          </a:bodyPr>
          <a:lstStyle/>
          <a:p>
            <a:pPr algn="ctr"/>
            <a:r>
              <a:rPr lang="zh-CN" sz="900" dirty="0">
                <a:solidFill>
                  <a:srgbClr val="FFFFFF"/>
                </a:solidFill>
                <a:latin typeface="Arial"/>
                <a:ea typeface="Microsoft YaHei"/>
                <a:cs typeface="Arial"/>
              </a:rPr>
              <a:t>Findings</a:t>
            </a:r>
          </a:p>
        </p:txBody>
      </p:sp>
      <p:sp>
        <p:nvSpPr>
          <p:cNvPr id="10" name="Ellipse 10"/>
          <p:cNvSpPr/>
          <p:nvPr/>
        </p:nvSpPr>
        <p:spPr>
          <a:xfrm>
            <a:off x="272415" y="3663315"/>
            <a:ext cx="64770" cy="64770"/>
          </a:xfrm>
          <a:prstGeom prst="ellipse">
            <a:avLst/>
          </a:prstGeom>
          <a:solidFill>
            <a:srgbClr val="FFFFFF">
              <a:alpha val="42000"/>
            </a:srgbClr>
          </a:solidFill>
          <a:ln>
            <a:noFill/>
          </a:ln>
        </p:spPr>
      </p:sp>
      <p:sp>
        <p:nvSpPr>
          <p:cNvPr id="11" name="TextBox 11"/>
          <p:cNvSpPr txBox="1"/>
          <p:nvPr/>
        </p:nvSpPr>
        <p:spPr>
          <a:xfrm>
            <a:off x="72542" y="3817620"/>
            <a:ext cx="464515" cy="182880"/>
          </a:xfrm>
          <a:prstGeom prst="rect">
            <a:avLst/>
          </a:prstGeom>
          <a:noFill/>
          <a:ln>
            <a:noFill/>
          </a:ln>
        </p:spPr>
        <p:txBody>
          <a:bodyPr wrap="none" lIns="0" tIns="0" rIns="0" bIns="0" anchor="t" anchorCtr="0">
            <a:spAutoFit/>
          </a:bodyPr>
          <a:lstStyle/>
          <a:p>
            <a:pPr algn="ctr"/>
            <a:r>
              <a:rPr lang="zh-CN" sz="900" dirty="0">
                <a:solidFill>
                  <a:srgbClr val="FFFFFF">
                    <a:alphaMod val="60000"/>
                  </a:srgbClr>
                </a:solidFill>
                <a:latin typeface="Arial"/>
                <a:ea typeface="Microsoft YaHei"/>
                <a:cs typeface="Arial"/>
              </a:rPr>
              <a:t>Robust</a:t>
            </a:r>
          </a:p>
        </p:txBody>
      </p:sp>
      <p:sp>
        <p:nvSpPr>
          <p:cNvPr id="12" name="Ellipse 12"/>
          <p:cNvSpPr/>
          <p:nvPr/>
        </p:nvSpPr>
        <p:spPr>
          <a:xfrm>
            <a:off x="272415" y="4520565"/>
            <a:ext cx="64770" cy="64770"/>
          </a:xfrm>
          <a:prstGeom prst="ellipse">
            <a:avLst/>
          </a:prstGeom>
          <a:solidFill>
            <a:srgbClr val="FFFFFF">
              <a:alpha val="42000"/>
            </a:srgbClr>
          </a:solidFill>
          <a:ln>
            <a:noFill/>
          </a:ln>
        </p:spPr>
      </p:sp>
      <p:sp>
        <p:nvSpPr>
          <p:cNvPr id="13" name="TextBox 13"/>
          <p:cNvSpPr txBox="1"/>
          <p:nvPr/>
        </p:nvSpPr>
        <p:spPr>
          <a:xfrm>
            <a:off x="146152" y="4674870"/>
            <a:ext cx="317297" cy="182880"/>
          </a:xfrm>
          <a:prstGeom prst="rect">
            <a:avLst/>
          </a:prstGeom>
          <a:noFill/>
          <a:ln>
            <a:noFill/>
          </a:ln>
        </p:spPr>
        <p:txBody>
          <a:bodyPr wrap="none" lIns="0" tIns="0" rIns="0" bIns="0" anchor="t" anchorCtr="0">
            <a:spAutoFit/>
          </a:bodyPr>
          <a:lstStyle/>
          <a:p>
            <a:pPr algn="ctr"/>
            <a:r>
              <a:rPr lang="zh-CN" sz="900" dirty="0">
                <a:solidFill>
                  <a:srgbClr val="FFFFFF">
                    <a:alphaMod val="60000"/>
                  </a:srgbClr>
                </a:solidFill>
                <a:latin typeface="Arial"/>
                <a:ea typeface="Microsoft YaHei"/>
                <a:cs typeface="Arial"/>
              </a:rPr>
              <a:t>Uses</a:t>
            </a:r>
          </a:p>
        </p:txBody>
      </p:sp>
      <p:sp>
        <p:nvSpPr>
          <p:cNvPr id="14" name="Ellipse 14"/>
          <p:cNvSpPr/>
          <p:nvPr/>
        </p:nvSpPr>
        <p:spPr>
          <a:xfrm>
            <a:off x="272415" y="5377815"/>
            <a:ext cx="64770" cy="64770"/>
          </a:xfrm>
          <a:prstGeom prst="ellipse">
            <a:avLst/>
          </a:prstGeom>
          <a:solidFill>
            <a:srgbClr val="FFFFFF">
              <a:alpha val="42000"/>
            </a:srgbClr>
          </a:solidFill>
          <a:ln>
            <a:noFill/>
          </a:ln>
        </p:spPr>
      </p:sp>
      <p:sp>
        <p:nvSpPr>
          <p:cNvPr id="15" name="TextBox 15"/>
          <p:cNvSpPr txBox="1"/>
          <p:nvPr/>
        </p:nvSpPr>
        <p:spPr>
          <a:xfrm>
            <a:off x="16678" y="5532120"/>
            <a:ext cx="576243" cy="182880"/>
          </a:xfrm>
          <a:prstGeom prst="rect">
            <a:avLst/>
          </a:prstGeom>
          <a:noFill/>
          <a:ln>
            <a:noFill/>
          </a:ln>
        </p:spPr>
        <p:txBody>
          <a:bodyPr wrap="none" lIns="0" tIns="0" rIns="0" bIns="0" anchor="t" anchorCtr="0">
            <a:spAutoFit/>
          </a:bodyPr>
          <a:lstStyle/>
          <a:p>
            <a:pPr algn="ctr"/>
            <a:r>
              <a:rPr lang="zh-CN" sz="900" dirty="0">
                <a:solidFill>
                  <a:srgbClr val="FFFFFF">
                    <a:alphaMod val="60000"/>
                  </a:srgbClr>
                </a:solidFill>
                <a:latin typeface="Arial"/>
                <a:ea typeface="Microsoft YaHei"/>
                <a:cs typeface="Arial"/>
              </a:rPr>
              <a:t>Wrap-up</a:t>
            </a:r>
          </a:p>
        </p:txBody>
      </p:sp>
      <p:sp>
        <p:nvSpPr>
          <p:cNvPr id="16" name="Rectangle 16"/>
          <p:cNvSpPr/>
          <p:nvPr/>
        </p:nvSpPr>
        <p:spPr>
          <a:xfrm>
            <a:off x="914400" y="304800"/>
            <a:ext cx="419100" cy="47625"/>
          </a:xfrm>
          <a:prstGeom prst="rect">
            <a:avLst/>
          </a:prstGeom>
          <a:solidFill>
            <a:srgbClr val="B45309"/>
          </a:solidFill>
          <a:ln>
            <a:noFill/>
          </a:ln>
        </p:spPr>
      </p:sp>
      <p:sp>
        <p:nvSpPr>
          <p:cNvPr id="17" name="TextBox 17"/>
          <p:cNvSpPr txBox="1"/>
          <p:nvPr/>
        </p:nvSpPr>
        <p:spPr>
          <a:xfrm>
            <a:off x="889635" y="456248"/>
            <a:ext cx="10624574" cy="396240"/>
          </a:xfrm>
          <a:prstGeom prst="rect">
            <a:avLst/>
          </a:prstGeom>
          <a:noFill/>
          <a:ln>
            <a:noFill/>
          </a:ln>
        </p:spPr>
        <p:txBody>
          <a:bodyPr wrap="none" lIns="0" tIns="0" rIns="0" bIns="0" anchor="t" anchorCtr="0">
            <a:spAutoFit/>
          </a:bodyPr>
          <a:lstStyle/>
          <a:p>
            <a:pPr algn="l"/>
            <a:r>
              <a:rPr lang="zh-CN" sz="1950" b="1" dirty="0">
                <a:solidFill>
                  <a:srgbClr val="17332D"/>
                </a:solidFill>
                <a:latin typeface="Arial"/>
                <a:ea typeface="Microsoft YaHei"/>
                <a:cs typeface="Arial"/>
              </a:rPr>
              <a:t>Finding 5 · The eastward bias is geography; records lean slightly north</a:t>
            </a:r>
          </a:p>
        </p:txBody>
      </p:sp>
      <p:sp>
        <p:nvSpPr>
          <p:cNvPr id="18" name="TextBox 18"/>
          <p:cNvSpPr txBox="1"/>
          <p:nvPr/>
        </p:nvSpPr>
        <p:spPr>
          <a:xfrm>
            <a:off x="9933051" y="283845"/>
            <a:ext cx="1889379" cy="182880"/>
          </a:xfrm>
          <a:prstGeom prst="rect">
            <a:avLst/>
          </a:prstGeom>
          <a:noFill/>
          <a:ln>
            <a:noFill/>
          </a:ln>
        </p:spPr>
        <p:txBody>
          <a:bodyPr wrap="none" lIns="0" tIns="0" rIns="0" bIns="0" anchor="t" anchorCtr="0">
            <a:spAutoFit/>
          </a:bodyPr>
          <a:lstStyle/>
          <a:p>
            <a:pPr algn="r"/>
            <a:r>
              <a:rPr lang="zh-CN" sz="900" dirty="0">
                <a:solidFill>
                  <a:srgbClr val="8A919B"/>
                </a:solidFill>
                <a:latin typeface="Arial"/>
                <a:ea typeface="Microsoft YaHei"/>
                <a:cs typeface="Arial"/>
              </a:rPr>
              <a:t>Figure 6 · SI Tables S9–S10</a:t>
            </a:r>
          </a:p>
        </p:txBody>
      </p:sp>
      <p:sp>
        <p:nvSpPr>
          <p:cNvPr id="19" name="Line 19"/>
          <p:cNvSpPr/>
          <p:nvPr/>
        </p:nvSpPr>
        <p:spPr>
          <a:xfrm>
            <a:off x="914400" y="6515100"/>
            <a:ext cx="10896600" cy="9525"/>
          </a:xfrm>
          <a:custGeom>
            <a:avLst/>
            <a:gdLst/>
            <a:ahLst/>
            <a:cxnLst/>
            <a:rect l="l" t="t" r="r" b="b"/>
            <a:pathLst>
              <a:path w="10896600" h="9525">
                <a:moveTo>
                  <a:pt x="0" y="0"/>
                </a:moveTo>
                <a:lnTo>
                  <a:pt x="10896600" y="0"/>
                </a:lnTo>
              </a:path>
            </a:pathLst>
          </a:custGeom>
          <a:noFill/>
          <a:ln w="9525">
            <a:solidFill>
              <a:srgbClr val="D6D3CD"/>
            </a:solidFill>
          </a:ln>
        </p:spPr>
      </p:sp>
      <p:sp>
        <p:nvSpPr>
          <p:cNvPr id="20" name="TextBox 20"/>
          <p:cNvSpPr txBox="1"/>
          <p:nvPr/>
        </p:nvSpPr>
        <p:spPr>
          <a:xfrm>
            <a:off x="902970" y="6617970"/>
            <a:ext cx="2609698" cy="182880"/>
          </a:xfrm>
          <a:prstGeom prst="rect">
            <a:avLst/>
          </a:prstGeom>
          <a:noFill/>
          <a:ln>
            <a:noFill/>
          </a:ln>
        </p:spPr>
        <p:txBody>
          <a:bodyPr wrap="none" lIns="0" tIns="0" rIns="0" bIns="0" anchor="t" anchorCtr="0">
            <a:spAutoFit/>
          </a:bodyPr>
          <a:lstStyle/>
          <a:p>
            <a:pPr algn="l"/>
            <a:r>
              <a:rPr lang="zh-CN" sz="900" dirty="0">
                <a:solidFill>
                  <a:srgbClr val="8A919B"/>
                </a:solidFill>
                <a:latin typeface="Arial"/>
                <a:ea typeface="Microsoft YaHei"/>
                <a:cs typeface="Arial"/>
              </a:rPr>
              <a:t>Birds or birders? · AOC 2026, Singapore</a:t>
            </a:r>
          </a:p>
        </p:txBody>
      </p:sp>
      <p:sp>
        <p:nvSpPr>
          <p:cNvPr id="21" name="TextBox 21"/>
          <p:cNvSpPr txBox="1"/>
          <p:nvPr/>
        </p:nvSpPr>
        <p:spPr>
          <a:xfrm>
            <a:off x="11352657" y="6617970"/>
            <a:ext cx="469773" cy="182880"/>
          </a:xfrm>
          <a:prstGeom prst="rect">
            <a:avLst/>
          </a:prstGeom>
          <a:noFill/>
          <a:ln>
            <a:noFill/>
          </a:ln>
        </p:spPr>
        <p:txBody>
          <a:bodyPr wrap="none" lIns="0" tIns="0" rIns="0" bIns="0" anchor="t" anchorCtr="0">
            <a:spAutoFit/>
          </a:bodyPr>
          <a:lstStyle/>
          <a:p>
            <a:pPr algn="r"/>
            <a:r>
              <a:rPr lang="zh-CN" sz="900" dirty="0">
                <a:solidFill>
                  <a:srgbClr val="5F6670"/>
                </a:solidFill>
                <a:latin typeface="Arial"/>
                <a:ea typeface="Microsoft YaHei"/>
                <a:cs typeface="Arial"/>
              </a:rPr>
              <a:t>10 / 20</a:t>
            </a:r>
          </a:p>
        </p:txBody>
      </p:sp>
      <p:sp>
        <p:nvSpPr>
          <p:cNvPr id="22" name="Rectangle 22"/>
          <p:cNvSpPr/>
          <p:nvPr/>
        </p:nvSpPr>
        <p:spPr>
          <a:xfrm>
            <a:off x="838200" y="876300"/>
            <a:ext cx="6126480" cy="5486400"/>
          </a:xfrm>
          <a:prstGeom prst="roundRect">
            <a:avLst>
              <a:gd name="adj" fmla="val 1042"/>
            </a:avLst>
          </a:prstGeom>
          <a:solidFill>
            <a:srgbClr val="FFFFFF"/>
          </a:solidFill>
          <a:ln w="9525">
            <a:solidFill>
              <a:srgbClr val="D6D3CD"/>
            </a:solidFill>
          </a:ln>
        </p:spPr>
      </p:sp>
      <p:pic>
        <p:nvPicPr>
          <p:cNvPr id="23" name="Image 23"/>
          <p:cNvPicPr>
            <a:picLocks noChangeAspect="1"/>
          </p:cNvPicPr>
          <p:nvPr/>
        </p:nvPicPr>
        <p:blipFill>
          <a:blip r:embed="rId2"/>
          <a:stretch>
            <a:fillRect/>
          </a:stretch>
        </p:blipFill>
        <p:spPr>
          <a:xfrm>
            <a:off x="914400" y="952500"/>
            <a:ext cx="5974080" cy="5334000"/>
          </a:xfrm>
          <a:prstGeom prst="rect">
            <a:avLst/>
          </a:prstGeom>
        </p:spPr>
      </p:pic>
      <p:sp>
        <p:nvSpPr>
          <p:cNvPr id="24" name="Rectangle 24"/>
          <p:cNvSpPr/>
          <p:nvPr/>
        </p:nvSpPr>
        <p:spPr>
          <a:xfrm>
            <a:off x="7231380" y="876300"/>
            <a:ext cx="4579620" cy="1238250"/>
          </a:xfrm>
          <a:prstGeom prst="roundRect">
            <a:avLst>
              <a:gd name="adj" fmla="val 4615"/>
            </a:avLst>
          </a:prstGeom>
          <a:solidFill>
            <a:srgbClr val="FFFFFF"/>
          </a:solidFill>
          <a:ln w="9525">
            <a:solidFill>
              <a:srgbClr val="D6D3CD"/>
            </a:solidFill>
          </a:ln>
        </p:spPr>
      </p:sp>
      <p:sp>
        <p:nvSpPr>
          <p:cNvPr id="25" name="Rectangle 25"/>
          <p:cNvSpPr/>
          <p:nvPr/>
        </p:nvSpPr>
        <p:spPr>
          <a:xfrm>
            <a:off x="7231380" y="876300"/>
            <a:ext cx="4579620" cy="38100"/>
          </a:xfrm>
          <a:prstGeom prst="rect">
            <a:avLst/>
          </a:prstGeom>
          <a:solidFill>
            <a:srgbClr val="1F4E45"/>
          </a:solidFill>
          <a:ln>
            <a:noFill/>
          </a:ln>
        </p:spPr>
      </p:sp>
      <p:sp>
        <p:nvSpPr>
          <p:cNvPr id="26" name="TextBox 26"/>
          <p:cNvSpPr txBox="1"/>
          <p:nvPr/>
        </p:nvSpPr>
        <p:spPr>
          <a:xfrm>
            <a:off x="7405688" y="1052989"/>
            <a:ext cx="2703025" cy="259080"/>
          </a:xfrm>
          <a:prstGeom prst="rect">
            <a:avLst/>
          </a:prstGeom>
          <a:noFill/>
          <a:ln>
            <a:noFill/>
          </a:ln>
        </p:spPr>
        <p:txBody>
          <a:bodyPr wrap="none" lIns="0" tIns="0" rIns="0" bIns="0" anchor="t" anchorCtr="0">
            <a:spAutoFit/>
          </a:bodyPr>
          <a:lstStyle/>
          <a:p>
            <a:pPr algn="l"/>
            <a:r>
              <a:rPr lang="zh-CN" sz="1275" b="1" dirty="0">
                <a:solidFill>
                  <a:srgbClr val="1F4E45"/>
                </a:solidFill>
                <a:latin typeface="Arial"/>
                <a:ea typeface="Microsoft YaHei"/>
                <a:cs typeface="Arial"/>
              </a:rPr>
              <a:t>Raw bearings (642 records)</a:t>
            </a:r>
          </a:p>
        </p:txBody>
      </p:sp>
      <p:sp>
        <p:nvSpPr>
          <p:cNvPr id="27" name="TextBox 27"/>
          <p:cNvSpPr txBox="1"/>
          <p:nvPr/>
        </p:nvSpPr>
        <p:spPr>
          <a:xfrm>
            <a:off x="7407592" y="1345406"/>
            <a:ext cx="2604897" cy="228600"/>
          </a:xfrm>
          <a:prstGeom prst="rect">
            <a:avLst/>
          </a:prstGeom>
          <a:noFill/>
          <a:ln>
            <a:noFill/>
          </a:ln>
        </p:spPr>
        <p:txBody>
          <a:bodyPr wrap="none" lIns="0" tIns="0" rIns="0" bIns="0" anchor="t" anchorCtr="0">
            <a:spAutoFit/>
          </a:bodyPr>
          <a:lstStyle/>
          <a:p>
            <a:pPr algn="l"/>
            <a:r>
              <a:rPr lang="zh-CN" sz="1125" dirty="0">
                <a:solidFill>
                  <a:srgbClr val="B45309"/>
                </a:solidFill>
                <a:latin typeface="Arial"/>
                <a:ea typeface="Microsoft YaHei"/>
                <a:cs typeface="Arial"/>
              </a:rPr>
              <a:t>East 36.9% · north-east 27.9%</a:t>
            </a:r>
          </a:p>
        </p:txBody>
      </p:sp>
      <p:sp>
        <p:nvSpPr>
          <p:cNvPr id="28" name="TextBox 28"/>
          <p:cNvSpPr txBox="1"/>
          <p:nvPr/>
        </p:nvSpPr>
        <p:spPr>
          <a:xfrm>
            <a:off x="7407592" y="1583531"/>
            <a:ext cx="2645974" cy="228600"/>
          </a:xfrm>
          <a:prstGeom prst="rect">
            <a:avLst/>
          </a:prstGeom>
          <a:noFill/>
          <a:ln>
            <a:noFill/>
          </a:ln>
        </p:spPr>
        <p:txBody>
          <a:bodyPr wrap="none" lIns="0" tIns="0" rIns="0" bIns="0" anchor="t" anchorCtr="0">
            <a:spAutoFit/>
          </a:bodyPr>
          <a:lstStyle/>
          <a:p>
            <a:pPr algn="l"/>
            <a:r>
              <a:rPr lang="zh-CN" sz="1125" dirty="0">
                <a:solidFill>
                  <a:srgbClr val="17332D"/>
                </a:solidFill>
                <a:latin typeface="Arial"/>
                <a:ea typeface="Microsoft YaHei"/>
                <a:cs typeface="Arial"/>
              </a:rPr>
              <a:t>χ² = 580 against a uniform null,</a:t>
            </a:r>
          </a:p>
        </p:txBody>
      </p:sp>
      <p:sp>
        <p:nvSpPr>
          <p:cNvPr id="29" name="TextBox 29"/>
          <p:cNvSpPr txBox="1"/>
          <p:nvPr/>
        </p:nvSpPr>
        <p:spPr>
          <a:xfrm>
            <a:off x="7407592" y="1821656"/>
            <a:ext cx="2782348" cy="228600"/>
          </a:xfrm>
          <a:prstGeom prst="rect">
            <a:avLst/>
          </a:prstGeom>
          <a:noFill/>
          <a:ln>
            <a:noFill/>
          </a:ln>
        </p:spPr>
        <p:txBody>
          <a:bodyPr wrap="none" lIns="0" tIns="0" rIns="0" bIns="0" anchor="t" anchorCtr="0">
            <a:spAutoFit/>
          </a:bodyPr>
          <a:lstStyle/>
          <a:p>
            <a:pPr algn="l"/>
            <a:r>
              <a:rPr lang="zh-CN" sz="1125" dirty="0">
                <a:solidFill>
                  <a:srgbClr val="5F6670"/>
                </a:solidFill>
                <a:latin typeface="Arial"/>
                <a:ea typeface="Microsoft YaHei"/>
                <a:cs typeface="Arial"/>
              </a:rPr>
              <a:t>but China lies east of most ranges</a:t>
            </a:r>
          </a:p>
        </p:txBody>
      </p:sp>
      <p:sp>
        <p:nvSpPr>
          <p:cNvPr id="30" name="Rectangle 30"/>
          <p:cNvSpPr/>
          <p:nvPr/>
        </p:nvSpPr>
        <p:spPr>
          <a:xfrm>
            <a:off x="7231380" y="2445068"/>
            <a:ext cx="4579620" cy="1238250"/>
          </a:xfrm>
          <a:prstGeom prst="roundRect">
            <a:avLst>
              <a:gd name="adj" fmla="val 4615"/>
            </a:avLst>
          </a:prstGeom>
          <a:solidFill>
            <a:srgbClr val="FFFFFF"/>
          </a:solidFill>
          <a:ln w="9525">
            <a:solidFill>
              <a:srgbClr val="D6D3CD"/>
            </a:solidFill>
          </a:ln>
        </p:spPr>
      </p:sp>
      <p:sp>
        <p:nvSpPr>
          <p:cNvPr id="31" name="Rectangle 31"/>
          <p:cNvSpPr/>
          <p:nvPr/>
        </p:nvSpPr>
        <p:spPr>
          <a:xfrm>
            <a:off x="7231380" y="2445068"/>
            <a:ext cx="4579620" cy="38100"/>
          </a:xfrm>
          <a:prstGeom prst="rect">
            <a:avLst/>
          </a:prstGeom>
          <a:solidFill>
            <a:srgbClr val="0072B2"/>
          </a:solidFill>
          <a:ln>
            <a:noFill/>
          </a:ln>
        </p:spPr>
      </p:sp>
      <p:sp>
        <p:nvSpPr>
          <p:cNvPr id="32" name="TextBox 32"/>
          <p:cNvSpPr txBox="1"/>
          <p:nvPr/>
        </p:nvSpPr>
        <p:spPr>
          <a:xfrm>
            <a:off x="7405688" y="2621756"/>
            <a:ext cx="2304304" cy="259080"/>
          </a:xfrm>
          <a:prstGeom prst="rect">
            <a:avLst/>
          </a:prstGeom>
          <a:noFill/>
          <a:ln>
            <a:noFill/>
          </a:ln>
        </p:spPr>
        <p:txBody>
          <a:bodyPr wrap="none" lIns="0" tIns="0" rIns="0" bIns="0" anchor="t" anchorCtr="0">
            <a:spAutoFit/>
          </a:bodyPr>
          <a:lstStyle/>
          <a:p>
            <a:pPr algn="l"/>
            <a:r>
              <a:rPr lang="zh-CN" sz="1275" b="1" dirty="0">
                <a:solidFill>
                  <a:srgbClr val="0072B2"/>
                </a:solidFill>
                <a:latin typeface="Arial"/>
                <a:ea typeface="Microsoft YaHei"/>
                <a:cs typeface="Arial"/>
              </a:rPr>
              <a:t>Null 1 · geography only</a:t>
            </a:r>
          </a:p>
        </p:txBody>
      </p:sp>
      <p:sp>
        <p:nvSpPr>
          <p:cNvPr id="33" name="TextBox 33"/>
          <p:cNvSpPr txBox="1"/>
          <p:nvPr/>
        </p:nvSpPr>
        <p:spPr>
          <a:xfrm>
            <a:off x="7407592" y="2914174"/>
            <a:ext cx="2913793" cy="228600"/>
          </a:xfrm>
          <a:prstGeom prst="rect">
            <a:avLst/>
          </a:prstGeom>
          <a:noFill/>
          <a:ln>
            <a:noFill/>
          </a:ln>
        </p:spPr>
        <p:txBody>
          <a:bodyPr wrap="none" lIns="0" tIns="0" rIns="0" bIns="0" anchor="t" anchorCtr="0">
            <a:spAutoFit/>
          </a:bodyPr>
          <a:lstStyle/>
          <a:p>
            <a:pPr algn="l"/>
            <a:r>
              <a:rPr lang="zh-CN" sz="1125" dirty="0">
                <a:solidFill>
                  <a:srgbClr val="17332D"/>
                </a:solidFill>
                <a:latin typeface="Arial"/>
                <a:ea typeface="Microsoft YaHei"/>
                <a:cs typeface="Arial"/>
              </a:rPr>
              <a:t>Each record placed at random among</a:t>
            </a:r>
          </a:p>
        </p:txBody>
      </p:sp>
      <p:sp>
        <p:nvSpPr>
          <p:cNvPr id="34" name="TextBox 34"/>
          <p:cNvSpPr txBox="1"/>
          <p:nvPr/>
        </p:nvSpPr>
        <p:spPr>
          <a:xfrm>
            <a:off x="7407592" y="3152299"/>
            <a:ext cx="2486597" cy="228600"/>
          </a:xfrm>
          <a:prstGeom prst="rect">
            <a:avLst/>
          </a:prstGeom>
          <a:noFill/>
          <a:ln>
            <a:noFill/>
          </a:ln>
        </p:spPr>
        <p:txBody>
          <a:bodyPr wrap="none" lIns="0" tIns="0" rIns="0" bIns="0" anchor="t" anchorCtr="0">
            <a:spAutoFit/>
          </a:bodyPr>
          <a:lstStyle/>
          <a:p>
            <a:pPr algn="l"/>
            <a:r>
              <a:rPr lang="zh-CN" sz="1125" dirty="0">
                <a:solidFill>
                  <a:srgbClr val="17332D"/>
                </a:solidFill>
                <a:latin typeface="Arial"/>
                <a:ea typeface="Microsoft YaHei"/>
                <a:cs typeface="Arial"/>
              </a:rPr>
              <a:t>its species' possible provinces</a:t>
            </a:r>
          </a:p>
        </p:txBody>
      </p:sp>
      <p:sp>
        <p:nvSpPr>
          <p:cNvPr id="35" name="TextBox 35"/>
          <p:cNvSpPr txBox="1"/>
          <p:nvPr/>
        </p:nvSpPr>
        <p:spPr>
          <a:xfrm>
            <a:off x="7407592" y="3390424"/>
            <a:ext cx="2713339" cy="228600"/>
          </a:xfrm>
          <a:prstGeom prst="rect">
            <a:avLst/>
          </a:prstGeom>
          <a:noFill/>
          <a:ln>
            <a:noFill/>
          </a:ln>
        </p:spPr>
        <p:txBody>
          <a:bodyPr wrap="none" lIns="0" tIns="0" rIns="0" bIns="0" anchor="t" anchorCtr="0">
            <a:spAutoFit/>
          </a:bodyPr>
          <a:lstStyle/>
          <a:p>
            <a:pPr algn="l"/>
            <a:r>
              <a:rPr lang="zh-CN" sz="1125" dirty="0">
                <a:solidFill>
                  <a:srgbClr val="0072B2"/>
                </a:solidFill>
                <a:latin typeface="Arial"/>
                <a:ea typeface="Microsoft YaHei"/>
                <a:cs typeface="Arial"/>
              </a:rPr>
              <a:t>East: 235 expected, 237 observed</a:t>
            </a:r>
          </a:p>
        </p:txBody>
      </p:sp>
      <p:sp>
        <p:nvSpPr>
          <p:cNvPr id="36" name="Rectangle 36"/>
          <p:cNvSpPr/>
          <p:nvPr/>
        </p:nvSpPr>
        <p:spPr>
          <a:xfrm>
            <a:off x="7231380" y="4012882"/>
            <a:ext cx="4579620" cy="1238250"/>
          </a:xfrm>
          <a:prstGeom prst="roundRect">
            <a:avLst>
              <a:gd name="adj" fmla="val 4615"/>
            </a:avLst>
          </a:prstGeom>
          <a:solidFill>
            <a:srgbClr val="FFFFFF"/>
          </a:solidFill>
          <a:ln w="9525">
            <a:solidFill>
              <a:srgbClr val="D6D3CD"/>
            </a:solidFill>
          </a:ln>
        </p:spPr>
      </p:sp>
      <p:sp>
        <p:nvSpPr>
          <p:cNvPr id="37" name="Rectangle 37"/>
          <p:cNvSpPr/>
          <p:nvPr/>
        </p:nvSpPr>
        <p:spPr>
          <a:xfrm>
            <a:off x="7231380" y="4012882"/>
            <a:ext cx="4579620" cy="38100"/>
          </a:xfrm>
          <a:prstGeom prst="rect">
            <a:avLst/>
          </a:prstGeom>
          <a:solidFill>
            <a:srgbClr val="B45309"/>
          </a:solidFill>
          <a:ln>
            <a:noFill/>
          </a:ln>
        </p:spPr>
      </p:sp>
      <p:sp>
        <p:nvSpPr>
          <p:cNvPr id="38" name="TextBox 38"/>
          <p:cNvSpPr txBox="1"/>
          <p:nvPr/>
        </p:nvSpPr>
        <p:spPr>
          <a:xfrm>
            <a:off x="7405688" y="4189571"/>
            <a:ext cx="2809614" cy="259080"/>
          </a:xfrm>
          <a:prstGeom prst="rect">
            <a:avLst/>
          </a:prstGeom>
          <a:noFill/>
          <a:ln>
            <a:noFill/>
          </a:ln>
        </p:spPr>
        <p:txBody>
          <a:bodyPr wrap="none" lIns="0" tIns="0" rIns="0" bIns="0" anchor="t" anchorCtr="0">
            <a:spAutoFit/>
          </a:bodyPr>
          <a:lstStyle/>
          <a:p>
            <a:pPr algn="l"/>
            <a:r>
              <a:rPr lang="zh-CN" sz="1275" b="1" dirty="0">
                <a:solidFill>
                  <a:srgbClr val="B45309"/>
                </a:solidFill>
                <a:latin typeface="Arial"/>
                <a:ea typeface="Microsoft YaHei"/>
                <a:cs typeface="Arial"/>
              </a:rPr>
              <a:t>Null 2 · geography + birders</a:t>
            </a:r>
          </a:p>
        </p:txBody>
      </p:sp>
      <p:sp>
        <p:nvSpPr>
          <p:cNvPr id="39" name="TextBox 39"/>
          <p:cNvSpPr txBox="1"/>
          <p:nvPr/>
        </p:nvSpPr>
        <p:spPr>
          <a:xfrm>
            <a:off x="7407592" y="4481989"/>
            <a:ext cx="2470166" cy="228600"/>
          </a:xfrm>
          <a:prstGeom prst="rect">
            <a:avLst/>
          </a:prstGeom>
          <a:noFill/>
          <a:ln>
            <a:noFill/>
          </a:ln>
        </p:spPr>
        <p:txBody>
          <a:bodyPr wrap="none" lIns="0" tIns="0" rIns="0" bIns="0" anchor="t" anchorCtr="0">
            <a:spAutoFit/>
          </a:bodyPr>
          <a:lstStyle/>
          <a:p>
            <a:pPr algn="l"/>
            <a:r>
              <a:rPr lang="zh-CN" sz="1125" dirty="0">
                <a:solidFill>
                  <a:srgbClr val="B45309"/>
                </a:solidFill>
                <a:latin typeface="Arial"/>
                <a:ea typeface="Microsoft YaHei"/>
                <a:cs typeface="Arial"/>
              </a:rPr>
              <a:t>More NE and NW, fewer E and S</a:t>
            </a:r>
          </a:p>
        </p:txBody>
      </p:sp>
      <p:sp>
        <p:nvSpPr>
          <p:cNvPr id="40" name="TextBox 40"/>
          <p:cNvSpPr txBox="1"/>
          <p:nvPr/>
        </p:nvSpPr>
        <p:spPr>
          <a:xfrm>
            <a:off x="7407592" y="4720114"/>
            <a:ext cx="3278553" cy="228600"/>
          </a:xfrm>
          <a:prstGeom prst="rect">
            <a:avLst/>
          </a:prstGeom>
          <a:noFill/>
          <a:ln>
            <a:noFill/>
          </a:ln>
        </p:spPr>
        <p:txBody>
          <a:bodyPr wrap="none" lIns="0" tIns="0" rIns="0" bIns="0" anchor="t" anchorCtr="0">
            <a:spAutoFit/>
          </a:bodyPr>
          <a:lstStyle/>
          <a:p>
            <a:pPr algn="l"/>
            <a:r>
              <a:rPr lang="zh-CN" sz="1125" dirty="0">
                <a:solidFill>
                  <a:srgbClr val="17332D"/>
                </a:solidFill>
                <a:latin typeface="Arial"/>
                <a:ea typeface="Microsoft YaHei"/>
                <a:cs typeface="Arial"/>
              </a:rPr>
              <a:t>Northern sectors: 40% vs 33% expected</a:t>
            </a:r>
          </a:p>
        </p:txBody>
      </p:sp>
      <p:sp>
        <p:nvSpPr>
          <p:cNvPr id="41" name="TextBox 41"/>
          <p:cNvSpPr txBox="1"/>
          <p:nvPr/>
        </p:nvSpPr>
        <p:spPr>
          <a:xfrm>
            <a:off x="7407592" y="4958239"/>
            <a:ext cx="1666708" cy="228600"/>
          </a:xfrm>
          <a:prstGeom prst="rect">
            <a:avLst/>
          </a:prstGeom>
          <a:noFill/>
          <a:ln>
            <a:noFill/>
          </a:ln>
        </p:spPr>
        <p:txBody>
          <a:bodyPr wrap="none" lIns="0" tIns="0" rIns="0" bIns="0" anchor="t" anchorCtr="0">
            <a:spAutoFit/>
          </a:bodyPr>
          <a:lstStyle/>
          <a:p>
            <a:pPr algn="l"/>
            <a:r>
              <a:rPr lang="zh-CN" sz="1125" dirty="0">
                <a:solidFill>
                  <a:srgbClr val="5F6670"/>
                </a:solidFill>
                <a:latin typeface="Arial"/>
                <a:ea typeface="Microsoft YaHei"/>
                <a:cs typeface="Arial"/>
              </a:rPr>
              <a:t>χ² = 25.8, P = 0.001</a:t>
            </a:r>
          </a:p>
        </p:txBody>
      </p:sp>
      <p:sp>
        <p:nvSpPr>
          <p:cNvPr id="42" name="Rectangle 42"/>
          <p:cNvSpPr/>
          <p:nvPr/>
        </p:nvSpPr>
        <p:spPr>
          <a:xfrm>
            <a:off x="7231380" y="5581650"/>
            <a:ext cx="4579620" cy="781050"/>
          </a:xfrm>
          <a:prstGeom prst="roundRect">
            <a:avLst>
              <a:gd name="adj" fmla="val 7317"/>
            </a:avLst>
          </a:prstGeom>
          <a:solidFill>
            <a:srgbClr val="1F4E45"/>
          </a:solidFill>
          <a:ln>
            <a:noFill/>
          </a:ln>
        </p:spPr>
      </p:sp>
      <p:sp>
        <p:nvSpPr>
          <p:cNvPr id="43" name="TextBox 43"/>
          <p:cNvSpPr txBox="1"/>
          <p:nvPr/>
        </p:nvSpPr>
        <p:spPr>
          <a:xfrm>
            <a:off x="7724571" y="5767864"/>
            <a:ext cx="3593239" cy="259080"/>
          </a:xfrm>
          <a:prstGeom prst="rect">
            <a:avLst/>
          </a:prstGeom>
          <a:noFill/>
          <a:ln>
            <a:noFill/>
          </a:ln>
        </p:spPr>
        <p:txBody>
          <a:bodyPr wrap="none" lIns="0" tIns="0" rIns="0" bIns="0" anchor="t" anchorCtr="0">
            <a:spAutoFit/>
          </a:bodyPr>
          <a:lstStyle/>
          <a:p>
            <a:pPr algn="ctr"/>
            <a:r>
              <a:rPr lang="zh-CN" sz="1275" b="1" dirty="0">
                <a:solidFill>
                  <a:srgbClr val="FFFFFF"/>
                </a:solidFill>
                <a:latin typeface="Arial"/>
                <a:ea typeface="Microsoft YaHei"/>
                <a:cs typeface="Arial"/>
              </a:rPr>
              <a:t>Direction mostly reflects geography;</a:t>
            </a:r>
          </a:p>
        </p:txBody>
      </p:sp>
      <p:sp>
        <p:nvSpPr>
          <p:cNvPr id="44" name="TextBox 44"/>
          <p:cNvSpPr txBox="1"/>
          <p:nvPr/>
        </p:nvSpPr>
        <p:spPr>
          <a:xfrm>
            <a:off x="8015002" y="6050756"/>
            <a:ext cx="3012376" cy="228600"/>
          </a:xfrm>
          <a:prstGeom prst="rect">
            <a:avLst/>
          </a:prstGeom>
          <a:noFill/>
          <a:ln>
            <a:noFill/>
          </a:ln>
        </p:spPr>
        <p:txBody>
          <a:bodyPr wrap="none" lIns="0" tIns="0" rIns="0" bIns="0" anchor="t" anchorCtr="0">
            <a:spAutoFit/>
          </a:bodyPr>
          <a:lstStyle/>
          <a:p>
            <a:pPr algn="ctr"/>
            <a:r>
              <a:rPr lang="zh-CN" sz="1125" dirty="0">
                <a:solidFill>
                  <a:srgbClr val="E7F0ED"/>
                </a:solidFill>
                <a:latin typeface="Arial"/>
                <a:ea typeface="Microsoft YaHei"/>
                <a:cs typeface="Arial"/>
              </a:rPr>
              <a:t>net of it, records lean slightly north</a:t>
            </a:r>
          </a:p>
        </p:txBody>
      </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BFAF7"/>
          </a:solidFill>
          <a:ln>
            <a:noFill/>
          </a:ln>
        </p:spPr>
      </p:sp>
      <p:sp>
        <p:nvSpPr>
          <p:cNvPr id="3" name="Rectangle 3"/>
          <p:cNvSpPr/>
          <p:nvPr/>
        </p:nvSpPr>
        <p:spPr>
          <a:xfrm>
            <a:off x="0" y="0"/>
            <a:ext cx="609600" cy="6858000"/>
          </a:xfrm>
          <a:prstGeom prst="rect">
            <a:avLst/>
          </a:prstGeom>
          <a:solidFill>
            <a:srgbClr val="1F4E45"/>
          </a:solidFill>
          <a:ln>
            <a:noFill/>
          </a:ln>
        </p:spPr>
      </p:sp>
      <p:sp>
        <p:nvSpPr>
          <p:cNvPr id="4" name="Ellipse 4"/>
          <p:cNvSpPr/>
          <p:nvPr/>
        </p:nvSpPr>
        <p:spPr>
          <a:xfrm>
            <a:off x="272415" y="1091565"/>
            <a:ext cx="64770" cy="64770"/>
          </a:xfrm>
          <a:prstGeom prst="ellipse">
            <a:avLst/>
          </a:prstGeom>
          <a:solidFill>
            <a:srgbClr val="FFFFFF">
              <a:alpha val="42000"/>
            </a:srgbClr>
          </a:solidFill>
          <a:ln>
            <a:noFill/>
          </a:ln>
        </p:spPr>
      </p:sp>
      <p:sp>
        <p:nvSpPr>
          <p:cNvPr id="5" name="TextBox 5"/>
          <p:cNvSpPr txBox="1"/>
          <p:nvPr/>
        </p:nvSpPr>
        <p:spPr>
          <a:xfrm>
            <a:off x="17336" y="1245870"/>
            <a:ext cx="574929" cy="182880"/>
          </a:xfrm>
          <a:prstGeom prst="rect">
            <a:avLst/>
          </a:prstGeom>
          <a:noFill/>
          <a:ln>
            <a:noFill/>
          </a:ln>
        </p:spPr>
        <p:txBody>
          <a:bodyPr wrap="none" lIns="0" tIns="0" rIns="0" bIns="0" anchor="t" anchorCtr="0">
            <a:spAutoFit/>
          </a:bodyPr>
          <a:lstStyle/>
          <a:p>
            <a:pPr algn="ctr"/>
            <a:r>
              <a:rPr lang="zh-CN" sz="900" dirty="0">
                <a:solidFill>
                  <a:srgbClr val="FFFFFF">
                    <a:alphaMod val="60000"/>
                  </a:srgbClr>
                </a:solidFill>
                <a:latin typeface="Arial"/>
                <a:ea typeface="Microsoft YaHei"/>
                <a:cs typeface="Arial"/>
              </a:rPr>
              <a:t>Question</a:t>
            </a:r>
          </a:p>
        </p:txBody>
      </p:sp>
      <p:sp>
        <p:nvSpPr>
          <p:cNvPr id="6" name="Ellipse 6"/>
          <p:cNvSpPr/>
          <p:nvPr/>
        </p:nvSpPr>
        <p:spPr>
          <a:xfrm>
            <a:off x="272415" y="1948815"/>
            <a:ext cx="64770" cy="64770"/>
          </a:xfrm>
          <a:prstGeom prst="ellipse">
            <a:avLst/>
          </a:prstGeom>
          <a:solidFill>
            <a:srgbClr val="FFFFFF">
              <a:alpha val="42000"/>
            </a:srgbClr>
          </a:solidFill>
          <a:ln>
            <a:noFill/>
          </a:ln>
        </p:spPr>
      </p:sp>
      <p:sp>
        <p:nvSpPr>
          <p:cNvPr id="7" name="TextBox 7"/>
          <p:cNvSpPr txBox="1"/>
          <p:nvPr/>
        </p:nvSpPr>
        <p:spPr>
          <a:xfrm>
            <a:off x="146152" y="2103120"/>
            <a:ext cx="317297" cy="182880"/>
          </a:xfrm>
          <a:prstGeom prst="rect">
            <a:avLst/>
          </a:prstGeom>
          <a:noFill/>
          <a:ln>
            <a:noFill/>
          </a:ln>
        </p:spPr>
        <p:txBody>
          <a:bodyPr wrap="none" lIns="0" tIns="0" rIns="0" bIns="0" anchor="t" anchorCtr="0">
            <a:spAutoFit/>
          </a:bodyPr>
          <a:lstStyle/>
          <a:p>
            <a:pPr algn="ctr"/>
            <a:r>
              <a:rPr lang="zh-CN" sz="900" dirty="0">
                <a:solidFill>
                  <a:srgbClr val="FFFFFF">
                    <a:alphaMod val="60000"/>
                  </a:srgbClr>
                </a:solidFill>
                <a:latin typeface="Arial"/>
                <a:ea typeface="Microsoft YaHei"/>
                <a:cs typeface="Arial"/>
              </a:rPr>
              <a:t>Data</a:t>
            </a:r>
          </a:p>
        </p:txBody>
      </p:sp>
      <p:sp>
        <p:nvSpPr>
          <p:cNvPr id="8" name="Ellipse 8"/>
          <p:cNvSpPr/>
          <p:nvPr/>
        </p:nvSpPr>
        <p:spPr>
          <a:xfrm>
            <a:off x="272415" y="2806065"/>
            <a:ext cx="64770" cy="64770"/>
          </a:xfrm>
          <a:prstGeom prst="ellipse">
            <a:avLst/>
          </a:prstGeom>
          <a:solidFill>
            <a:srgbClr val="FFFFFF">
              <a:alpha val="42000"/>
            </a:srgbClr>
          </a:solidFill>
          <a:ln>
            <a:noFill/>
          </a:ln>
        </p:spPr>
      </p:sp>
      <p:sp>
        <p:nvSpPr>
          <p:cNvPr id="9" name="TextBox 9"/>
          <p:cNvSpPr txBox="1"/>
          <p:nvPr/>
        </p:nvSpPr>
        <p:spPr>
          <a:xfrm>
            <a:off x="35738" y="2960370"/>
            <a:ext cx="538124" cy="182880"/>
          </a:xfrm>
          <a:prstGeom prst="rect">
            <a:avLst/>
          </a:prstGeom>
          <a:noFill/>
          <a:ln>
            <a:noFill/>
          </a:ln>
        </p:spPr>
        <p:txBody>
          <a:bodyPr wrap="none" lIns="0" tIns="0" rIns="0" bIns="0" anchor="t" anchorCtr="0">
            <a:spAutoFit/>
          </a:bodyPr>
          <a:lstStyle/>
          <a:p>
            <a:pPr algn="ctr"/>
            <a:r>
              <a:rPr lang="zh-CN" sz="900" dirty="0">
                <a:solidFill>
                  <a:srgbClr val="FFFFFF">
                    <a:alphaMod val="60000"/>
                  </a:srgbClr>
                </a:solidFill>
                <a:latin typeface="Arial"/>
                <a:ea typeface="Microsoft YaHei"/>
                <a:cs typeface="Arial"/>
              </a:rPr>
              <a:t>Findings</a:t>
            </a:r>
          </a:p>
        </p:txBody>
      </p:sp>
      <p:sp>
        <p:nvSpPr>
          <p:cNvPr id="10" name="Ellipse 10"/>
          <p:cNvSpPr/>
          <p:nvPr/>
        </p:nvSpPr>
        <p:spPr>
          <a:xfrm>
            <a:off x="257175" y="3648075"/>
            <a:ext cx="95250" cy="95250"/>
          </a:xfrm>
          <a:prstGeom prst="ellipse">
            <a:avLst/>
          </a:prstGeom>
          <a:solidFill>
            <a:srgbClr val="FFFFFF"/>
          </a:solidFill>
          <a:ln>
            <a:noFill/>
          </a:ln>
        </p:spPr>
      </p:sp>
      <p:sp>
        <p:nvSpPr>
          <p:cNvPr id="11" name="TextBox 11"/>
          <p:cNvSpPr txBox="1"/>
          <p:nvPr/>
        </p:nvSpPr>
        <p:spPr>
          <a:xfrm>
            <a:off x="72542" y="3817620"/>
            <a:ext cx="464515" cy="182880"/>
          </a:xfrm>
          <a:prstGeom prst="rect">
            <a:avLst/>
          </a:prstGeom>
          <a:noFill/>
          <a:ln>
            <a:noFill/>
          </a:ln>
        </p:spPr>
        <p:txBody>
          <a:bodyPr wrap="none" lIns="0" tIns="0" rIns="0" bIns="0" anchor="t" anchorCtr="0">
            <a:spAutoFit/>
          </a:bodyPr>
          <a:lstStyle/>
          <a:p>
            <a:pPr algn="ctr"/>
            <a:r>
              <a:rPr lang="zh-CN" sz="900" dirty="0">
                <a:solidFill>
                  <a:srgbClr val="FFFFFF"/>
                </a:solidFill>
                <a:latin typeface="Arial"/>
                <a:ea typeface="Microsoft YaHei"/>
                <a:cs typeface="Arial"/>
              </a:rPr>
              <a:t>Robust</a:t>
            </a:r>
          </a:p>
        </p:txBody>
      </p:sp>
      <p:sp>
        <p:nvSpPr>
          <p:cNvPr id="12" name="Ellipse 12"/>
          <p:cNvSpPr/>
          <p:nvPr/>
        </p:nvSpPr>
        <p:spPr>
          <a:xfrm>
            <a:off x="272415" y="4520565"/>
            <a:ext cx="64770" cy="64770"/>
          </a:xfrm>
          <a:prstGeom prst="ellipse">
            <a:avLst/>
          </a:prstGeom>
          <a:solidFill>
            <a:srgbClr val="FFFFFF">
              <a:alpha val="42000"/>
            </a:srgbClr>
          </a:solidFill>
          <a:ln>
            <a:noFill/>
          </a:ln>
        </p:spPr>
      </p:sp>
      <p:sp>
        <p:nvSpPr>
          <p:cNvPr id="13" name="TextBox 13"/>
          <p:cNvSpPr txBox="1"/>
          <p:nvPr/>
        </p:nvSpPr>
        <p:spPr>
          <a:xfrm>
            <a:off x="146152" y="4674870"/>
            <a:ext cx="317297" cy="182880"/>
          </a:xfrm>
          <a:prstGeom prst="rect">
            <a:avLst/>
          </a:prstGeom>
          <a:noFill/>
          <a:ln>
            <a:noFill/>
          </a:ln>
        </p:spPr>
        <p:txBody>
          <a:bodyPr wrap="none" lIns="0" tIns="0" rIns="0" bIns="0" anchor="t" anchorCtr="0">
            <a:spAutoFit/>
          </a:bodyPr>
          <a:lstStyle/>
          <a:p>
            <a:pPr algn="ctr"/>
            <a:r>
              <a:rPr lang="zh-CN" sz="900" dirty="0">
                <a:solidFill>
                  <a:srgbClr val="FFFFFF">
                    <a:alphaMod val="60000"/>
                  </a:srgbClr>
                </a:solidFill>
                <a:latin typeface="Arial"/>
                <a:ea typeface="Microsoft YaHei"/>
                <a:cs typeface="Arial"/>
              </a:rPr>
              <a:t>Uses</a:t>
            </a:r>
          </a:p>
        </p:txBody>
      </p:sp>
      <p:sp>
        <p:nvSpPr>
          <p:cNvPr id="14" name="Ellipse 14"/>
          <p:cNvSpPr/>
          <p:nvPr/>
        </p:nvSpPr>
        <p:spPr>
          <a:xfrm>
            <a:off x="272415" y="5377815"/>
            <a:ext cx="64770" cy="64770"/>
          </a:xfrm>
          <a:prstGeom prst="ellipse">
            <a:avLst/>
          </a:prstGeom>
          <a:solidFill>
            <a:srgbClr val="FFFFFF">
              <a:alpha val="42000"/>
            </a:srgbClr>
          </a:solidFill>
          <a:ln>
            <a:noFill/>
          </a:ln>
        </p:spPr>
      </p:sp>
      <p:sp>
        <p:nvSpPr>
          <p:cNvPr id="15" name="TextBox 15"/>
          <p:cNvSpPr txBox="1"/>
          <p:nvPr/>
        </p:nvSpPr>
        <p:spPr>
          <a:xfrm>
            <a:off x="16678" y="5532120"/>
            <a:ext cx="576243" cy="182880"/>
          </a:xfrm>
          <a:prstGeom prst="rect">
            <a:avLst/>
          </a:prstGeom>
          <a:noFill/>
          <a:ln>
            <a:noFill/>
          </a:ln>
        </p:spPr>
        <p:txBody>
          <a:bodyPr wrap="none" lIns="0" tIns="0" rIns="0" bIns="0" anchor="t" anchorCtr="0">
            <a:spAutoFit/>
          </a:bodyPr>
          <a:lstStyle/>
          <a:p>
            <a:pPr algn="ctr"/>
            <a:r>
              <a:rPr lang="zh-CN" sz="900" dirty="0">
                <a:solidFill>
                  <a:srgbClr val="FFFFFF">
                    <a:alphaMod val="60000"/>
                  </a:srgbClr>
                </a:solidFill>
                <a:latin typeface="Arial"/>
                <a:ea typeface="Microsoft YaHei"/>
                <a:cs typeface="Arial"/>
              </a:rPr>
              <a:t>Wrap-up</a:t>
            </a:r>
          </a:p>
        </p:txBody>
      </p:sp>
      <p:sp>
        <p:nvSpPr>
          <p:cNvPr id="16" name="Rectangle 16"/>
          <p:cNvSpPr/>
          <p:nvPr/>
        </p:nvSpPr>
        <p:spPr>
          <a:xfrm>
            <a:off x="914400" y="304800"/>
            <a:ext cx="419100" cy="47625"/>
          </a:xfrm>
          <a:prstGeom prst="rect">
            <a:avLst/>
          </a:prstGeom>
          <a:solidFill>
            <a:srgbClr val="B45309"/>
          </a:solidFill>
          <a:ln>
            <a:noFill/>
          </a:ln>
        </p:spPr>
      </p:sp>
      <p:sp>
        <p:nvSpPr>
          <p:cNvPr id="17" name="TextBox 17"/>
          <p:cNvSpPr txBox="1"/>
          <p:nvPr/>
        </p:nvSpPr>
        <p:spPr>
          <a:xfrm>
            <a:off x="889635" y="456248"/>
            <a:ext cx="6799686" cy="396240"/>
          </a:xfrm>
          <a:prstGeom prst="rect">
            <a:avLst/>
          </a:prstGeom>
          <a:noFill/>
          <a:ln>
            <a:noFill/>
          </a:ln>
        </p:spPr>
        <p:txBody>
          <a:bodyPr wrap="none" lIns="0" tIns="0" rIns="0" bIns="0" anchor="t" anchorCtr="0">
            <a:spAutoFit/>
          </a:bodyPr>
          <a:lstStyle/>
          <a:p>
            <a:pPr algn="l"/>
            <a:r>
              <a:rPr lang="zh-CN" sz="1950" b="1" dirty="0">
                <a:solidFill>
                  <a:srgbClr val="17332D"/>
                </a:solidFill>
                <a:latin typeface="Arial"/>
                <a:ea typeface="Microsoft YaHei"/>
                <a:cs typeface="Arial"/>
              </a:rPr>
              <a:t>The results survive null models and resampling</a:t>
            </a:r>
          </a:p>
        </p:txBody>
      </p:sp>
      <p:sp>
        <p:nvSpPr>
          <p:cNvPr id="18" name="TextBox 18"/>
          <p:cNvSpPr txBox="1"/>
          <p:nvPr/>
        </p:nvSpPr>
        <p:spPr>
          <a:xfrm>
            <a:off x="10468032" y="283845"/>
            <a:ext cx="1354398" cy="182880"/>
          </a:xfrm>
          <a:prstGeom prst="rect">
            <a:avLst/>
          </a:prstGeom>
          <a:noFill/>
          <a:ln>
            <a:noFill/>
          </a:ln>
        </p:spPr>
        <p:txBody>
          <a:bodyPr wrap="none" lIns="0" tIns="0" rIns="0" bIns="0" anchor="t" anchorCtr="0">
            <a:spAutoFit/>
          </a:bodyPr>
          <a:lstStyle/>
          <a:p>
            <a:pPr algn="r"/>
            <a:r>
              <a:rPr lang="zh-CN" sz="900" dirty="0">
                <a:solidFill>
                  <a:srgbClr val="8A919B"/>
                </a:solidFill>
                <a:latin typeface="Arial"/>
                <a:ea typeface="Microsoft YaHei"/>
                <a:cs typeface="Arial"/>
              </a:rPr>
              <a:t>SI Fig. S11 · Table 2</a:t>
            </a:r>
          </a:p>
        </p:txBody>
      </p:sp>
      <p:sp>
        <p:nvSpPr>
          <p:cNvPr id="19" name="Line 19"/>
          <p:cNvSpPr/>
          <p:nvPr/>
        </p:nvSpPr>
        <p:spPr>
          <a:xfrm>
            <a:off x="914400" y="6515100"/>
            <a:ext cx="10896600" cy="9525"/>
          </a:xfrm>
          <a:custGeom>
            <a:avLst/>
            <a:gdLst/>
            <a:ahLst/>
            <a:cxnLst/>
            <a:rect l="l" t="t" r="r" b="b"/>
            <a:pathLst>
              <a:path w="10896600" h="9525">
                <a:moveTo>
                  <a:pt x="0" y="0"/>
                </a:moveTo>
                <a:lnTo>
                  <a:pt x="10896600" y="0"/>
                </a:lnTo>
              </a:path>
            </a:pathLst>
          </a:custGeom>
          <a:noFill/>
          <a:ln w="9525">
            <a:solidFill>
              <a:srgbClr val="D6D3CD"/>
            </a:solidFill>
          </a:ln>
        </p:spPr>
      </p:sp>
      <p:sp>
        <p:nvSpPr>
          <p:cNvPr id="20" name="TextBox 20"/>
          <p:cNvSpPr txBox="1"/>
          <p:nvPr/>
        </p:nvSpPr>
        <p:spPr>
          <a:xfrm>
            <a:off x="902970" y="6617970"/>
            <a:ext cx="2609698" cy="182880"/>
          </a:xfrm>
          <a:prstGeom prst="rect">
            <a:avLst/>
          </a:prstGeom>
          <a:noFill/>
          <a:ln>
            <a:noFill/>
          </a:ln>
        </p:spPr>
        <p:txBody>
          <a:bodyPr wrap="none" lIns="0" tIns="0" rIns="0" bIns="0" anchor="t" anchorCtr="0">
            <a:spAutoFit/>
          </a:bodyPr>
          <a:lstStyle/>
          <a:p>
            <a:pPr algn="l"/>
            <a:r>
              <a:rPr lang="zh-CN" sz="900" dirty="0">
                <a:solidFill>
                  <a:srgbClr val="8A919B"/>
                </a:solidFill>
                <a:latin typeface="Arial"/>
                <a:ea typeface="Microsoft YaHei"/>
                <a:cs typeface="Arial"/>
              </a:rPr>
              <a:t>Birds or birders? · AOC 2026, Singapore</a:t>
            </a:r>
          </a:p>
        </p:txBody>
      </p:sp>
      <p:sp>
        <p:nvSpPr>
          <p:cNvPr id="21" name="TextBox 21"/>
          <p:cNvSpPr txBox="1"/>
          <p:nvPr/>
        </p:nvSpPr>
        <p:spPr>
          <a:xfrm>
            <a:off x="11352657" y="6617970"/>
            <a:ext cx="469773" cy="182880"/>
          </a:xfrm>
          <a:prstGeom prst="rect">
            <a:avLst/>
          </a:prstGeom>
          <a:noFill/>
          <a:ln>
            <a:noFill/>
          </a:ln>
        </p:spPr>
        <p:txBody>
          <a:bodyPr wrap="none" lIns="0" tIns="0" rIns="0" bIns="0" anchor="t" anchorCtr="0">
            <a:spAutoFit/>
          </a:bodyPr>
          <a:lstStyle/>
          <a:p>
            <a:pPr algn="r"/>
            <a:r>
              <a:rPr lang="zh-CN" sz="900" dirty="0">
                <a:solidFill>
                  <a:srgbClr val="5F6670"/>
                </a:solidFill>
                <a:latin typeface="Arial"/>
                <a:ea typeface="Microsoft YaHei"/>
                <a:cs typeface="Arial"/>
              </a:rPr>
              <a:t>11 / 20</a:t>
            </a:r>
          </a:p>
        </p:txBody>
      </p:sp>
      <p:sp>
        <p:nvSpPr>
          <p:cNvPr id="22" name="Rectangle 22"/>
          <p:cNvSpPr/>
          <p:nvPr/>
        </p:nvSpPr>
        <p:spPr>
          <a:xfrm>
            <a:off x="838200" y="876300"/>
            <a:ext cx="6819900" cy="4202430"/>
          </a:xfrm>
          <a:prstGeom prst="roundRect">
            <a:avLst>
              <a:gd name="adj" fmla="val 1360"/>
            </a:avLst>
          </a:prstGeom>
          <a:solidFill>
            <a:srgbClr val="FFFFFF"/>
          </a:solidFill>
          <a:ln w="9525">
            <a:solidFill>
              <a:srgbClr val="D6D3CD"/>
            </a:solidFill>
          </a:ln>
        </p:spPr>
      </p:sp>
      <p:pic>
        <p:nvPicPr>
          <p:cNvPr id="23" name="Image 23"/>
          <p:cNvPicPr>
            <a:picLocks noChangeAspect="1"/>
          </p:cNvPicPr>
          <p:nvPr/>
        </p:nvPicPr>
        <p:blipFill>
          <a:blip r:embed="rId2"/>
          <a:stretch>
            <a:fillRect/>
          </a:stretch>
        </p:blipFill>
        <p:spPr>
          <a:xfrm>
            <a:off x="914400" y="952500"/>
            <a:ext cx="6667500" cy="4050030"/>
          </a:xfrm>
          <a:prstGeom prst="rect">
            <a:avLst/>
          </a:prstGeom>
        </p:spPr>
      </p:pic>
      <p:sp>
        <p:nvSpPr>
          <p:cNvPr id="24" name="Rectangle 24"/>
          <p:cNvSpPr/>
          <p:nvPr/>
        </p:nvSpPr>
        <p:spPr>
          <a:xfrm>
            <a:off x="7924800" y="876300"/>
            <a:ext cx="3886200" cy="1476375"/>
          </a:xfrm>
          <a:prstGeom prst="roundRect">
            <a:avLst>
              <a:gd name="adj" fmla="val 3871"/>
            </a:avLst>
          </a:prstGeom>
          <a:solidFill>
            <a:srgbClr val="FFFFFF"/>
          </a:solidFill>
          <a:ln w="9525">
            <a:solidFill>
              <a:srgbClr val="D6D3CD"/>
            </a:solidFill>
          </a:ln>
        </p:spPr>
      </p:sp>
      <p:sp>
        <p:nvSpPr>
          <p:cNvPr id="25" name="Rectangle 25"/>
          <p:cNvSpPr/>
          <p:nvPr/>
        </p:nvSpPr>
        <p:spPr>
          <a:xfrm>
            <a:off x="7924800" y="876300"/>
            <a:ext cx="3886200" cy="38100"/>
          </a:xfrm>
          <a:prstGeom prst="rect">
            <a:avLst/>
          </a:prstGeom>
          <a:solidFill>
            <a:srgbClr val="1F4E45"/>
          </a:solidFill>
          <a:ln>
            <a:noFill/>
          </a:ln>
        </p:spPr>
      </p:sp>
      <p:sp>
        <p:nvSpPr>
          <p:cNvPr id="26" name="TextBox 26"/>
          <p:cNvSpPr txBox="1"/>
          <p:nvPr/>
        </p:nvSpPr>
        <p:spPr>
          <a:xfrm>
            <a:off x="8099108" y="1052989"/>
            <a:ext cx="2306278" cy="259080"/>
          </a:xfrm>
          <a:prstGeom prst="rect">
            <a:avLst/>
          </a:prstGeom>
          <a:noFill/>
          <a:ln>
            <a:noFill/>
          </a:ln>
        </p:spPr>
        <p:txBody>
          <a:bodyPr wrap="none" lIns="0" tIns="0" rIns="0" bIns="0" anchor="t" anchorCtr="0">
            <a:spAutoFit/>
          </a:bodyPr>
          <a:lstStyle/>
          <a:p>
            <a:pPr algn="l"/>
            <a:r>
              <a:rPr lang="zh-CN" sz="1275" b="1" dirty="0">
                <a:solidFill>
                  <a:srgbClr val="1F4E45"/>
                </a:solidFill>
                <a:latin typeface="Arial"/>
                <a:ea typeface="Microsoft YaHei"/>
                <a:cs typeface="Arial"/>
              </a:rPr>
              <a:t>Design-preserving nulls</a:t>
            </a:r>
          </a:p>
        </p:txBody>
      </p:sp>
      <p:sp>
        <p:nvSpPr>
          <p:cNvPr id="27" name="TextBox 27"/>
          <p:cNvSpPr txBox="1"/>
          <p:nvPr/>
        </p:nvSpPr>
        <p:spPr>
          <a:xfrm>
            <a:off x="8101012" y="1345406"/>
            <a:ext cx="3294983" cy="228600"/>
          </a:xfrm>
          <a:prstGeom prst="rect">
            <a:avLst/>
          </a:prstGeom>
          <a:noFill/>
          <a:ln>
            <a:noFill/>
          </a:ln>
        </p:spPr>
        <p:txBody>
          <a:bodyPr wrap="none" lIns="0" tIns="0" rIns="0" bIns="0" anchor="t" anchorCtr="0">
            <a:spAutoFit/>
          </a:bodyPr>
          <a:lstStyle/>
          <a:p>
            <a:pPr algn="l"/>
            <a:r>
              <a:rPr lang="zh-CN" sz="1125" dirty="0">
                <a:solidFill>
                  <a:srgbClr val="17332D"/>
                </a:solidFill>
                <a:latin typeface="Arial"/>
                <a:ea typeface="Microsoft YaHei"/>
                <a:cs typeface="Arial"/>
              </a:rPr>
              <a:t>Each null breaks one link, keeps the rest</a:t>
            </a:r>
          </a:p>
        </p:txBody>
      </p:sp>
      <p:sp>
        <p:nvSpPr>
          <p:cNvPr id="28" name="TextBox 28"/>
          <p:cNvSpPr txBox="1"/>
          <p:nvPr/>
        </p:nvSpPr>
        <p:spPr>
          <a:xfrm>
            <a:off x="8101012" y="1583531"/>
            <a:ext cx="2067616" cy="228600"/>
          </a:xfrm>
          <a:prstGeom prst="rect">
            <a:avLst/>
          </a:prstGeom>
          <a:noFill/>
          <a:ln>
            <a:noFill/>
          </a:ln>
        </p:spPr>
        <p:txBody>
          <a:bodyPr wrap="none" lIns="0" tIns="0" rIns="0" bIns="0" anchor="t" anchorCtr="0">
            <a:spAutoFit/>
          </a:bodyPr>
          <a:lstStyle/>
          <a:p>
            <a:pPr algn="l"/>
            <a:r>
              <a:rPr lang="zh-CN" sz="1125" dirty="0">
                <a:solidFill>
                  <a:srgbClr val="5F6670"/>
                </a:solidFill>
                <a:latin typeface="Arial"/>
                <a:ea typeface="Microsoft YaHei"/>
                <a:cs typeface="Arial"/>
              </a:rPr>
              <a:t>199 permutations per null</a:t>
            </a:r>
          </a:p>
        </p:txBody>
      </p:sp>
      <p:sp>
        <p:nvSpPr>
          <p:cNvPr id="29" name="TextBox 29"/>
          <p:cNvSpPr txBox="1"/>
          <p:nvPr/>
        </p:nvSpPr>
        <p:spPr>
          <a:xfrm>
            <a:off x="8101012" y="1821656"/>
            <a:ext cx="3235833" cy="228600"/>
          </a:xfrm>
          <a:prstGeom prst="rect">
            <a:avLst/>
          </a:prstGeom>
          <a:noFill/>
          <a:ln>
            <a:noFill/>
          </a:ln>
        </p:spPr>
        <p:txBody>
          <a:bodyPr wrap="none" lIns="0" tIns="0" rIns="0" bIns="0" anchor="t" anchorCtr="0">
            <a:spAutoFit/>
          </a:bodyPr>
          <a:lstStyle/>
          <a:p>
            <a:pPr algn="l"/>
            <a:r>
              <a:rPr lang="zh-CN" sz="1125" dirty="0">
                <a:solidFill>
                  <a:srgbClr val="17332D"/>
                </a:solidFill>
                <a:latin typeface="Arial"/>
                <a:ea typeface="Microsoft YaHei"/>
                <a:cs typeface="Arial"/>
              </a:rPr>
              <a:t>All four coefficients outside their nulls</a:t>
            </a:r>
          </a:p>
        </p:txBody>
      </p:sp>
      <p:sp>
        <p:nvSpPr>
          <p:cNvPr id="30" name="TextBox 30"/>
          <p:cNvSpPr txBox="1"/>
          <p:nvPr/>
        </p:nvSpPr>
        <p:spPr>
          <a:xfrm>
            <a:off x="8101012" y="2059781"/>
            <a:ext cx="2578608" cy="228600"/>
          </a:xfrm>
          <a:prstGeom prst="rect">
            <a:avLst/>
          </a:prstGeom>
          <a:noFill/>
          <a:ln>
            <a:noFill/>
          </a:ln>
        </p:spPr>
        <p:txBody>
          <a:bodyPr wrap="none" lIns="0" tIns="0" rIns="0" bIns="0" anchor="t" anchorCtr="0">
            <a:spAutoFit/>
          </a:bodyPr>
          <a:lstStyle/>
          <a:p>
            <a:pPr algn="l"/>
            <a:r>
              <a:rPr lang="zh-CN" sz="1125" dirty="0">
                <a:solidFill>
                  <a:srgbClr val="5F6670"/>
                </a:solidFill>
                <a:latin typeface="Arial"/>
                <a:ea typeface="Microsoft YaHei"/>
                <a:cs typeface="Arial"/>
              </a:rPr>
              <a:t>P = 0.005 (variability excepted)</a:t>
            </a:r>
          </a:p>
        </p:txBody>
      </p:sp>
      <p:sp>
        <p:nvSpPr>
          <p:cNvPr id="31" name="Rectangle 31"/>
          <p:cNvSpPr/>
          <p:nvPr/>
        </p:nvSpPr>
        <p:spPr>
          <a:xfrm>
            <a:off x="7924800" y="2706052"/>
            <a:ext cx="3886200" cy="1238250"/>
          </a:xfrm>
          <a:prstGeom prst="roundRect">
            <a:avLst>
              <a:gd name="adj" fmla="val 4615"/>
            </a:avLst>
          </a:prstGeom>
          <a:solidFill>
            <a:srgbClr val="FFFFFF"/>
          </a:solidFill>
          <a:ln w="9525">
            <a:solidFill>
              <a:srgbClr val="D6D3CD"/>
            </a:solidFill>
          </a:ln>
        </p:spPr>
      </p:sp>
      <p:sp>
        <p:nvSpPr>
          <p:cNvPr id="32" name="Rectangle 32"/>
          <p:cNvSpPr/>
          <p:nvPr/>
        </p:nvSpPr>
        <p:spPr>
          <a:xfrm>
            <a:off x="7924800" y="2706052"/>
            <a:ext cx="3886200" cy="38100"/>
          </a:xfrm>
          <a:prstGeom prst="rect">
            <a:avLst/>
          </a:prstGeom>
          <a:solidFill>
            <a:srgbClr val="0072B2"/>
          </a:solidFill>
          <a:ln>
            <a:noFill/>
          </a:ln>
        </p:spPr>
      </p:sp>
      <p:sp>
        <p:nvSpPr>
          <p:cNvPr id="33" name="TextBox 33"/>
          <p:cNvSpPr txBox="1"/>
          <p:nvPr/>
        </p:nvSpPr>
        <p:spPr>
          <a:xfrm>
            <a:off x="8099108" y="2882741"/>
            <a:ext cx="2479979" cy="259080"/>
          </a:xfrm>
          <a:prstGeom prst="rect">
            <a:avLst/>
          </a:prstGeom>
          <a:noFill/>
          <a:ln>
            <a:noFill/>
          </a:ln>
        </p:spPr>
        <p:txBody>
          <a:bodyPr wrap="none" lIns="0" tIns="0" rIns="0" bIns="0" anchor="t" anchorCtr="0">
            <a:spAutoFit/>
          </a:bodyPr>
          <a:lstStyle/>
          <a:p>
            <a:pPr algn="l"/>
            <a:r>
              <a:rPr lang="zh-CN" sz="1275" b="1" dirty="0">
                <a:solidFill>
                  <a:srgbClr val="0072B2"/>
                </a:solidFill>
                <a:latin typeface="Arial"/>
                <a:ea typeface="Microsoft YaHei"/>
                <a:cs typeface="Arial"/>
              </a:rPr>
              <a:t>Bootstraps and influence</a:t>
            </a:r>
          </a:p>
        </p:txBody>
      </p:sp>
      <p:sp>
        <p:nvSpPr>
          <p:cNvPr id="34" name="TextBox 34"/>
          <p:cNvSpPr txBox="1"/>
          <p:nvPr/>
        </p:nvSpPr>
        <p:spPr>
          <a:xfrm>
            <a:off x="8101012" y="3175159"/>
            <a:ext cx="3587448" cy="228600"/>
          </a:xfrm>
          <a:prstGeom prst="rect">
            <a:avLst/>
          </a:prstGeom>
          <a:noFill/>
          <a:ln>
            <a:noFill/>
          </a:ln>
        </p:spPr>
        <p:txBody>
          <a:bodyPr wrap="none" lIns="0" tIns="0" rIns="0" bIns="0" anchor="t" anchorCtr="0">
            <a:spAutoFit/>
          </a:bodyPr>
          <a:lstStyle/>
          <a:p>
            <a:pPr algn="l"/>
            <a:r>
              <a:rPr lang="zh-CN" sz="1125" dirty="0">
                <a:solidFill>
                  <a:srgbClr val="17332D"/>
                </a:solidFill>
                <a:latin typeface="Arial"/>
                <a:ea typeface="Microsoft YaHei"/>
                <a:cs typeface="Arial"/>
              </a:rPr>
              <a:t>Province-cluster bootstrap: SE ×1.26–1.59</a:t>
            </a:r>
          </a:p>
        </p:txBody>
      </p:sp>
      <p:sp>
        <p:nvSpPr>
          <p:cNvPr id="35" name="TextBox 35"/>
          <p:cNvSpPr txBox="1"/>
          <p:nvPr/>
        </p:nvSpPr>
        <p:spPr>
          <a:xfrm>
            <a:off x="8101012" y="3413284"/>
            <a:ext cx="3290054" cy="228600"/>
          </a:xfrm>
          <a:prstGeom prst="rect">
            <a:avLst/>
          </a:prstGeom>
          <a:noFill/>
          <a:ln>
            <a:noFill/>
          </a:ln>
        </p:spPr>
        <p:txBody>
          <a:bodyPr wrap="none" lIns="0" tIns="0" rIns="0" bIns="0" anchor="t" anchorCtr="0">
            <a:spAutoFit/>
          </a:bodyPr>
          <a:lstStyle/>
          <a:p>
            <a:pPr algn="l"/>
            <a:r>
              <a:rPr lang="zh-CN" sz="1125" dirty="0">
                <a:solidFill>
                  <a:srgbClr val="17332D"/>
                </a:solidFill>
                <a:latin typeface="Arial"/>
                <a:ea typeface="Microsoft YaHei"/>
                <a:cs typeface="Arial"/>
              </a:rPr>
              <a:t>Parametric bootstrap coverage 91–95%</a:t>
            </a:r>
          </a:p>
        </p:txBody>
      </p:sp>
      <p:sp>
        <p:nvSpPr>
          <p:cNvPr id="36" name="TextBox 36"/>
          <p:cNvSpPr txBox="1"/>
          <p:nvPr/>
        </p:nvSpPr>
        <p:spPr>
          <a:xfrm>
            <a:off x="8101012" y="3651409"/>
            <a:ext cx="2866144" cy="228600"/>
          </a:xfrm>
          <a:prstGeom prst="rect">
            <a:avLst/>
          </a:prstGeom>
          <a:noFill/>
          <a:ln>
            <a:noFill/>
          </a:ln>
        </p:spPr>
        <p:txBody>
          <a:bodyPr wrap="none" lIns="0" tIns="0" rIns="0" bIns="0" anchor="t" anchorCtr="0">
            <a:spAutoFit/>
          </a:bodyPr>
          <a:lstStyle/>
          <a:p>
            <a:pPr algn="l"/>
            <a:r>
              <a:rPr lang="zh-CN" sz="1125" dirty="0">
                <a:solidFill>
                  <a:srgbClr val="5F6670"/>
                </a:solidFill>
                <a:latin typeface="Arial"/>
                <a:ea typeface="Microsoft YaHei"/>
                <a:cs typeface="Arial"/>
              </a:rPr>
              <a:t>Leave one out: largest change 4.2%</a:t>
            </a:r>
          </a:p>
        </p:txBody>
      </p:sp>
      <p:sp>
        <p:nvSpPr>
          <p:cNvPr id="37" name="Rectangle 37"/>
          <p:cNvSpPr/>
          <p:nvPr/>
        </p:nvSpPr>
        <p:spPr>
          <a:xfrm>
            <a:off x="7924800" y="4297680"/>
            <a:ext cx="3886200" cy="781050"/>
          </a:xfrm>
          <a:prstGeom prst="roundRect">
            <a:avLst>
              <a:gd name="adj" fmla="val 7317"/>
            </a:avLst>
          </a:prstGeom>
          <a:solidFill>
            <a:srgbClr val="1F4E45"/>
          </a:solidFill>
          <a:ln>
            <a:noFill/>
          </a:ln>
        </p:spPr>
      </p:sp>
      <p:sp>
        <p:nvSpPr>
          <p:cNvPr id="38" name="TextBox 38"/>
          <p:cNvSpPr txBox="1"/>
          <p:nvPr/>
        </p:nvSpPr>
        <p:spPr>
          <a:xfrm>
            <a:off x="8454211" y="4483894"/>
            <a:ext cx="2827379" cy="259080"/>
          </a:xfrm>
          <a:prstGeom prst="rect">
            <a:avLst/>
          </a:prstGeom>
          <a:noFill/>
          <a:ln>
            <a:noFill/>
          </a:ln>
        </p:spPr>
        <p:txBody>
          <a:bodyPr wrap="none" lIns="0" tIns="0" rIns="0" bIns="0" anchor="t" anchorCtr="0">
            <a:spAutoFit/>
          </a:bodyPr>
          <a:lstStyle/>
          <a:p>
            <a:pPr algn="ctr"/>
            <a:r>
              <a:rPr lang="zh-CN" sz="1275" b="1" dirty="0">
                <a:solidFill>
                  <a:srgbClr val="FFFFFF"/>
                </a:solidFill>
                <a:latin typeface="Arial"/>
                <a:ea typeface="Microsoft YaHei"/>
                <a:cs typeface="Arial"/>
              </a:rPr>
              <a:t>No single province or species</a:t>
            </a:r>
          </a:p>
        </p:txBody>
      </p:sp>
      <p:sp>
        <p:nvSpPr>
          <p:cNvPr id="39" name="TextBox 39"/>
          <p:cNvSpPr txBox="1"/>
          <p:nvPr/>
        </p:nvSpPr>
        <p:spPr>
          <a:xfrm>
            <a:off x="8900636" y="4766786"/>
            <a:ext cx="1934528" cy="228600"/>
          </a:xfrm>
          <a:prstGeom prst="rect">
            <a:avLst/>
          </a:prstGeom>
          <a:noFill/>
          <a:ln>
            <a:noFill/>
          </a:ln>
        </p:spPr>
        <p:txBody>
          <a:bodyPr wrap="none" lIns="0" tIns="0" rIns="0" bIns="0" anchor="t" anchorCtr="0">
            <a:spAutoFit/>
          </a:bodyPr>
          <a:lstStyle/>
          <a:p>
            <a:pPr algn="ctr"/>
            <a:r>
              <a:rPr lang="zh-CN" sz="1125" dirty="0">
                <a:solidFill>
                  <a:srgbClr val="E7F0ED"/>
                </a:solidFill>
                <a:latin typeface="Arial"/>
                <a:ea typeface="Microsoft YaHei"/>
                <a:cs typeface="Arial"/>
              </a:rPr>
              <a:t>group drives the result</a:t>
            </a:r>
          </a:p>
        </p:txBody>
      </p:sp>
      <p:sp>
        <p:nvSpPr>
          <p:cNvPr id="40" name="TextBox 40"/>
          <p:cNvSpPr txBox="1"/>
          <p:nvPr/>
        </p:nvSpPr>
        <p:spPr>
          <a:xfrm>
            <a:off x="901065" y="5289233"/>
            <a:ext cx="8329174" cy="213360"/>
          </a:xfrm>
          <a:prstGeom prst="rect">
            <a:avLst/>
          </a:prstGeom>
          <a:noFill/>
          <a:ln>
            <a:noFill/>
          </a:ln>
        </p:spPr>
        <p:txBody>
          <a:bodyPr wrap="none" lIns="0" tIns="0" rIns="0" bIns="0" anchor="t" anchorCtr="0">
            <a:spAutoFit/>
          </a:bodyPr>
          <a:lstStyle/>
          <a:p>
            <a:pPr algn="l"/>
            <a:r>
              <a:rPr lang="zh-CN" sz="1050" dirty="0">
                <a:solidFill>
                  <a:srgbClr val="5F6670"/>
                </a:solidFill>
                <a:latin typeface="Arial"/>
                <a:ea typeface="Microsoft YaHei"/>
                <a:cs typeface="Arial"/>
              </a:rPr>
              <a:t>Diagnostics (DHARMa): uniformity P = 0.74 · dispersion P = 0.59 · zero-inflation P = 0.59 · Moran's I P = 0.86</a:t>
            </a:r>
          </a:p>
        </p:txBody>
      </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BFAF7"/>
          </a:solidFill>
          <a:ln>
            <a:noFill/>
          </a:ln>
        </p:spPr>
      </p:sp>
      <p:sp>
        <p:nvSpPr>
          <p:cNvPr id="3" name="Rectangle 3"/>
          <p:cNvSpPr/>
          <p:nvPr/>
        </p:nvSpPr>
        <p:spPr>
          <a:xfrm>
            <a:off x="0" y="0"/>
            <a:ext cx="609600" cy="6858000"/>
          </a:xfrm>
          <a:prstGeom prst="rect">
            <a:avLst/>
          </a:prstGeom>
          <a:solidFill>
            <a:srgbClr val="1F4E45"/>
          </a:solidFill>
          <a:ln>
            <a:noFill/>
          </a:ln>
        </p:spPr>
      </p:sp>
      <p:sp>
        <p:nvSpPr>
          <p:cNvPr id="4" name="Ellipse 4"/>
          <p:cNvSpPr/>
          <p:nvPr/>
        </p:nvSpPr>
        <p:spPr>
          <a:xfrm>
            <a:off x="272415" y="1091565"/>
            <a:ext cx="64770" cy="64770"/>
          </a:xfrm>
          <a:prstGeom prst="ellipse">
            <a:avLst/>
          </a:prstGeom>
          <a:solidFill>
            <a:srgbClr val="FFFFFF">
              <a:alpha val="42000"/>
            </a:srgbClr>
          </a:solidFill>
          <a:ln>
            <a:noFill/>
          </a:ln>
        </p:spPr>
      </p:sp>
      <p:sp>
        <p:nvSpPr>
          <p:cNvPr id="5" name="TextBox 5"/>
          <p:cNvSpPr txBox="1"/>
          <p:nvPr/>
        </p:nvSpPr>
        <p:spPr>
          <a:xfrm>
            <a:off x="17336" y="1245870"/>
            <a:ext cx="574929" cy="182880"/>
          </a:xfrm>
          <a:prstGeom prst="rect">
            <a:avLst/>
          </a:prstGeom>
          <a:noFill/>
          <a:ln>
            <a:noFill/>
          </a:ln>
        </p:spPr>
        <p:txBody>
          <a:bodyPr wrap="none" lIns="0" tIns="0" rIns="0" bIns="0" anchor="t" anchorCtr="0">
            <a:spAutoFit/>
          </a:bodyPr>
          <a:lstStyle/>
          <a:p>
            <a:pPr algn="ctr"/>
            <a:r>
              <a:rPr lang="zh-CN" sz="900" dirty="0">
                <a:solidFill>
                  <a:srgbClr val="FFFFFF">
                    <a:alphaMod val="60000"/>
                  </a:srgbClr>
                </a:solidFill>
                <a:latin typeface="Arial"/>
                <a:ea typeface="Microsoft YaHei"/>
                <a:cs typeface="Arial"/>
              </a:rPr>
              <a:t>Question</a:t>
            </a:r>
          </a:p>
        </p:txBody>
      </p:sp>
      <p:sp>
        <p:nvSpPr>
          <p:cNvPr id="6" name="Ellipse 6"/>
          <p:cNvSpPr/>
          <p:nvPr/>
        </p:nvSpPr>
        <p:spPr>
          <a:xfrm>
            <a:off x="272415" y="1948815"/>
            <a:ext cx="64770" cy="64770"/>
          </a:xfrm>
          <a:prstGeom prst="ellipse">
            <a:avLst/>
          </a:prstGeom>
          <a:solidFill>
            <a:srgbClr val="FFFFFF">
              <a:alpha val="42000"/>
            </a:srgbClr>
          </a:solidFill>
          <a:ln>
            <a:noFill/>
          </a:ln>
        </p:spPr>
      </p:sp>
      <p:sp>
        <p:nvSpPr>
          <p:cNvPr id="7" name="TextBox 7"/>
          <p:cNvSpPr txBox="1"/>
          <p:nvPr/>
        </p:nvSpPr>
        <p:spPr>
          <a:xfrm>
            <a:off x="146152" y="2103120"/>
            <a:ext cx="317297" cy="182880"/>
          </a:xfrm>
          <a:prstGeom prst="rect">
            <a:avLst/>
          </a:prstGeom>
          <a:noFill/>
          <a:ln>
            <a:noFill/>
          </a:ln>
        </p:spPr>
        <p:txBody>
          <a:bodyPr wrap="none" lIns="0" tIns="0" rIns="0" bIns="0" anchor="t" anchorCtr="0">
            <a:spAutoFit/>
          </a:bodyPr>
          <a:lstStyle/>
          <a:p>
            <a:pPr algn="ctr"/>
            <a:r>
              <a:rPr lang="zh-CN" sz="900" dirty="0">
                <a:solidFill>
                  <a:srgbClr val="FFFFFF">
                    <a:alphaMod val="60000"/>
                  </a:srgbClr>
                </a:solidFill>
                <a:latin typeface="Arial"/>
                <a:ea typeface="Microsoft YaHei"/>
                <a:cs typeface="Arial"/>
              </a:rPr>
              <a:t>Data</a:t>
            </a:r>
          </a:p>
        </p:txBody>
      </p:sp>
      <p:sp>
        <p:nvSpPr>
          <p:cNvPr id="8" name="Ellipse 8"/>
          <p:cNvSpPr/>
          <p:nvPr/>
        </p:nvSpPr>
        <p:spPr>
          <a:xfrm>
            <a:off x="272415" y="2806065"/>
            <a:ext cx="64770" cy="64770"/>
          </a:xfrm>
          <a:prstGeom prst="ellipse">
            <a:avLst/>
          </a:prstGeom>
          <a:solidFill>
            <a:srgbClr val="FFFFFF">
              <a:alpha val="42000"/>
            </a:srgbClr>
          </a:solidFill>
          <a:ln>
            <a:noFill/>
          </a:ln>
        </p:spPr>
      </p:sp>
      <p:sp>
        <p:nvSpPr>
          <p:cNvPr id="9" name="TextBox 9"/>
          <p:cNvSpPr txBox="1"/>
          <p:nvPr/>
        </p:nvSpPr>
        <p:spPr>
          <a:xfrm>
            <a:off x="35738" y="2960370"/>
            <a:ext cx="538124" cy="182880"/>
          </a:xfrm>
          <a:prstGeom prst="rect">
            <a:avLst/>
          </a:prstGeom>
          <a:noFill/>
          <a:ln>
            <a:noFill/>
          </a:ln>
        </p:spPr>
        <p:txBody>
          <a:bodyPr wrap="none" lIns="0" tIns="0" rIns="0" bIns="0" anchor="t" anchorCtr="0">
            <a:spAutoFit/>
          </a:bodyPr>
          <a:lstStyle/>
          <a:p>
            <a:pPr algn="ctr"/>
            <a:r>
              <a:rPr lang="zh-CN" sz="900" dirty="0">
                <a:solidFill>
                  <a:srgbClr val="FFFFFF">
                    <a:alphaMod val="60000"/>
                  </a:srgbClr>
                </a:solidFill>
                <a:latin typeface="Arial"/>
                <a:ea typeface="Microsoft YaHei"/>
                <a:cs typeface="Arial"/>
              </a:rPr>
              <a:t>Findings</a:t>
            </a:r>
          </a:p>
        </p:txBody>
      </p:sp>
      <p:sp>
        <p:nvSpPr>
          <p:cNvPr id="10" name="Ellipse 10"/>
          <p:cNvSpPr/>
          <p:nvPr/>
        </p:nvSpPr>
        <p:spPr>
          <a:xfrm>
            <a:off x="272415" y="3663315"/>
            <a:ext cx="64770" cy="64770"/>
          </a:xfrm>
          <a:prstGeom prst="ellipse">
            <a:avLst/>
          </a:prstGeom>
          <a:solidFill>
            <a:srgbClr val="FFFFFF">
              <a:alpha val="42000"/>
            </a:srgbClr>
          </a:solidFill>
          <a:ln>
            <a:noFill/>
          </a:ln>
        </p:spPr>
      </p:sp>
      <p:sp>
        <p:nvSpPr>
          <p:cNvPr id="11" name="TextBox 11"/>
          <p:cNvSpPr txBox="1"/>
          <p:nvPr/>
        </p:nvSpPr>
        <p:spPr>
          <a:xfrm>
            <a:off x="72542" y="3817620"/>
            <a:ext cx="464515" cy="182880"/>
          </a:xfrm>
          <a:prstGeom prst="rect">
            <a:avLst/>
          </a:prstGeom>
          <a:noFill/>
          <a:ln>
            <a:noFill/>
          </a:ln>
        </p:spPr>
        <p:txBody>
          <a:bodyPr wrap="none" lIns="0" tIns="0" rIns="0" bIns="0" anchor="t" anchorCtr="0">
            <a:spAutoFit/>
          </a:bodyPr>
          <a:lstStyle/>
          <a:p>
            <a:pPr algn="ctr"/>
            <a:r>
              <a:rPr lang="zh-CN" sz="900" dirty="0">
                <a:solidFill>
                  <a:srgbClr val="FFFFFF">
                    <a:alphaMod val="60000"/>
                  </a:srgbClr>
                </a:solidFill>
                <a:latin typeface="Arial"/>
                <a:ea typeface="Microsoft YaHei"/>
                <a:cs typeface="Arial"/>
              </a:rPr>
              <a:t>Robust</a:t>
            </a:r>
          </a:p>
        </p:txBody>
      </p:sp>
      <p:sp>
        <p:nvSpPr>
          <p:cNvPr id="12" name="Ellipse 12"/>
          <p:cNvSpPr/>
          <p:nvPr/>
        </p:nvSpPr>
        <p:spPr>
          <a:xfrm>
            <a:off x="257175" y="4505325"/>
            <a:ext cx="95250" cy="95250"/>
          </a:xfrm>
          <a:prstGeom prst="ellipse">
            <a:avLst/>
          </a:prstGeom>
          <a:solidFill>
            <a:srgbClr val="FFFFFF"/>
          </a:solidFill>
          <a:ln>
            <a:noFill/>
          </a:ln>
        </p:spPr>
      </p:sp>
      <p:sp>
        <p:nvSpPr>
          <p:cNvPr id="13" name="TextBox 13"/>
          <p:cNvSpPr txBox="1"/>
          <p:nvPr/>
        </p:nvSpPr>
        <p:spPr>
          <a:xfrm>
            <a:off x="146152" y="4674870"/>
            <a:ext cx="317297" cy="182880"/>
          </a:xfrm>
          <a:prstGeom prst="rect">
            <a:avLst/>
          </a:prstGeom>
          <a:noFill/>
          <a:ln>
            <a:noFill/>
          </a:ln>
        </p:spPr>
        <p:txBody>
          <a:bodyPr wrap="none" lIns="0" tIns="0" rIns="0" bIns="0" anchor="t" anchorCtr="0">
            <a:spAutoFit/>
          </a:bodyPr>
          <a:lstStyle/>
          <a:p>
            <a:pPr algn="ctr"/>
            <a:r>
              <a:rPr lang="zh-CN" sz="900" dirty="0">
                <a:solidFill>
                  <a:srgbClr val="FFFFFF"/>
                </a:solidFill>
                <a:latin typeface="Arial"/>
                <a:ea typeface="Microsoft YaHei"/>
                <a:cs typeface="Arial"/>
              </a:rPr>
              <a:t>Uses</a:t>
            </a:r>
          </a:p>
        </p:txBody>
      </p:sp>
      <p:sp>
        <p:nvSpPr>
          <p:cNvPr id="14" name="Ellipse 14"/>
          <p:cNvSpPr/>
          <p:nvPr/>
        </p:nvSpPr>
        <p:spPr>
          <a:xfrm>
            <a:off x="272415" y="5377815"/>
            <a:ext cx="64770" cy="64770"/>
          </a:xfrm>
          <a:prstGeom prst="ellipse">
            <a:avLst/>
          </a:prstGeom>
          <a:solidFill>
            <a:srgbClr val="FFFFFF">
              <a:alpha val="42000"/>
            </a:srgbClr>
          </a:solidFill>
          <a:ln>
            <a:noFill/>
          </a:ln>
        </p:spPr>
      </p:sp>
      <p:sp>
        <p:nvSpPr>
          <p:cNvPr id="15" name="TextBox 15"/>
          <p:cNvSpPr txBox="1"/>
          <p:nvPr/>
        </p:nvSpPr>
        <p:spPr>
          <a:xfrm>
            <a:off x="16678" y="5532120"/>
            <a:ext cx="576243" cy="182880"/>
          </a:xfrm>
          <a:prstGeom prst="rect">
            <a:avLst/>
          </a:prstGeom>
          <a:noFill/>
          <a:ln>
            <a:noFill/>
          </a:ln>
        </p:spPr>
        <p:txBody>
          <a:bodyPr wrap="none" lIns="0" tIns="0" rIns="0" bIns="0" anchor="t" anchorCtr="0">
            <a:spAutoFit/>
          </a:bodyPr>
          <a:lstStyle/>
          <a:p>
            <a:pPr algn="ctr"/>
            <a:r>
              <a:rPr lang="zh-CN" sz="900" dirty="0">
                <a:solidFill>
                  <a:srgbClr val="FFFFFF">
                    <a:alphaMod val="60000"/>
                  </a:srgbClr>
                </a:solidFill>
                <a:latin typeface="Arial"/>
                <a:ea typeface="Microsoft YaHei"/>
                <a:cs typeface="Arial"/>
              </a:rPr>
              <a:t>Wrap-up</a:t>
            </a:r>
          </a:p>
        </p:txBody>
      </p:sp>
      <p:sp>
        <p:nvSpPr>
          <p:cNvPr id="16" name="Rectangle 16"/>
          <p:cNvSpPr/>
          <p:nvPr/>
        </p:nvSpPr>
        <p:spPr>
          <a:xfrm>
            <a:off x="914400" y="304800"/>
            <a:ext cx="419100" cy="47625"/>
          </a:xfrm>
          <a:prstGeom prst="rect">
            <a:avLst/>
          </a:prstGeom>
          <a:solidFill>
            <a:srgbClr val="B45309"/>
          </a:solidFill>
          <a:ln>
            <a:noFill/>
          </a:ln>
        </p:spPr>
      </p:sp>
      <p:sp>
        <p:nvSpPr>
          <p:cNvPr id="17" name="TextBox 17"/>
          <p:cNvSpPr txBox="1"/>
          <p:nvPr/>
        </p:nvSpPr>
        <p:spPr>
          <a:xfrm>
            <a:off x="889635" y="456248"/>
            <a:ext cx="10129482" cy="396240"/>
          </a:xfrm>
          <a:prstGeom prst="rect">
            <a:avLst/>
          </a:prstGeom>
          <a:noFill/>
          <a:ln>
            <a:noFill/>
          </a:ln>
        </p:spPr>
        <p:txBody>
          <a:bodyPr wrap="none" lIns="0" tIns="0" rIns="0" bIns="0" anchor="t" anchorCtr="0">
            <a:spAutoFit/>
          </a:bodyPr>
          <a:lstStyle/>
          <a:p>
            <a:pPr algn="l"/>
            <a:r>
              <a:rPr lang="zh-CN" sz="1950" b="1" dirty="0">
                <a:solidFill>
                  <a:srgbClr val="17332D"/>
                </a:solidFill>
                <a:latin typeface="Arial"/>
                <a:ea typeface="Microsoft YaHei"/>
                <a:cs typeface="Arial"/>
              </a:rPr>
              <a:t>Use 1 · Reserves look rich in new records because birders go there</a:t>
            </a:r>
          </a:p>
        </p:txBody>
      </p:sp>
      <p:sp>
        <p:nvSpPr>
          <p:cNvPr id="18" name="TextBox 18"/>
          <p:cNvSpPr txBox="1"/>
          <p:nvPr/>
        </p:nvSpPr>
        <p:spPr>
          <a:xfrm>
            <a:off x="10742752" y="283845"/>
            <a:ext cx="1079678" cy="182880"/>
          </a:xfrm>
          <a:prstGeom prst="rect">
            <a:avLst/>
          </a:prstGeom>
          <a:noFill/>
          <a:ln>
            <a:noFill/>
          </a:ln>
        </p:spPr>
        <p:txBody>
          <a:bodyPr wrap="none" lIns="0" tIns="0" rIns="0" bIns="0" anchor="t" anchorCtr="0">
            <a:spAutoFit/>
          </a:bodyPr>
          <a:lstStyle/>
          <a:p>
            <a:pPr algn="r"/>
            <a:r>
              <a:rPr lang="zh-CN" sz="900" dirty="0">
                <a:solidFill>
                  <a:srgbClr val="8A919B"/>
                </a:solidFill>
                <a:latin typeface="Arial"/>
                <a:ea typeface="Microsoft YaHei"/>
                <a:cs typeface="Arial"/>
              </a:rPr>
              <a:t>SI Figs S12–S14</a:t>
            </a:r>
          </a:p>
        </p:txBody>
      </p:sp>
      <p:sp>
        <p:nvSpPr>
          <p:cNvPr id="19" name="Line 19"/>
          <p:cNvSpPr/>
          <p:nvPr/>
        </p:nvSpPr>
        <p:spPr>
          <a:xfrm>
            <a:off x="914400" y="6515100"/>
            <a:ext cx="10896600" cy="9525"/>
          </a:xfrm>
          <a:custGeom>
            <a:avLst/>
            <a:gdLst/>
            <a:ahLst/>
            <a:cxnLst/>
            <a:rect l="l" t="t" r="r" b="b"/>
            <a:pathLst>
              <a:path w="10896600" h="9525">
                <a:moveTo>
                  <a:pt x="0" y="0"/>
                </a:moveTo>
                <a:lnTo>
                  <a:pt x="10896600" y="0"/>
                </a:lnTo>
              </a:path>
            </a:pathLst>
          </a:custGeom>
          <a:noFill/>
          <a:ln w="9525">
            <a:solidFill>
              <a:srgbClr val="D6D3CD"/>
            </a:solidFill>
          </a:ln>
        </p:spPr>
      </p:sp>
      <p:sp>
        <p:nvSpPr>
          <p:cNvPr id="20" name="TextBox 20"/>
          <p:cNvSpPr txBox="1"/>
          <p:nvPr/>
        </p:nvSpPr>
        <p:spPr>
          <a:xfrm>
            <a:off x="902970" y="6617970"/>
            <a:ext cx="2609698" cy="182880"/>
          </a:xfrm>
          <a:prstGeom prst="rect">
            <a:avLst/>
          </a:prstGeom>
          <a:noFill/>
          <a:ln>
            <a:noFill/>
          </a:ln>
        </p:spPr>
        <p:txBody>
          <a:bodyPr wrap="none" lIns="0" tIns="0" rIns="0" bIns="0" anchor="t" anchorCtr="0">
            <a:spAutoFit/>
          </a:bodyPr>
          <a:lstStyle/>
          <a:p>
            <a:pPr algn="l"/>
            <a:r>
              <a:rPr lang="zh-CN" sz="900" dirty="0">
                <a:solidFill>
                  <a:srgbClr val="8A919B"/>
                </a:solidFill>
                <a:latin typeface="Arial"/>
                <a:ea typeface="Microsoft YaHei"/>
                <a:cs typeface="Arial"/>
              </a:rPr>
              <a:t>Birds or birders? · AOC 2026, Singapore</a:t>
            </a:r>
          </a:p>
        </p:txBody>
      </p:sp>
      <p:sp>
        <p:nvSpPr>
          <p:cNvPr id="21" name="TextBox 21"/>
          <p:cNvSpPr txBox="1"/>
          <p:nvPr/>
        </p:nvSpPr>
        <p:spPr>
          <a:xfrm>
            <a:off x="11352657" y="6617970"/>
            <a:ext cx="469773" cy="182880"/>
          </a:xfrm>
          <a:prstGeom prst="rect">
            <a:avLst/>
          </a:prstGeom>
          <a:noFill/>
          <a:ln>
            <a:noFill/>
          </a:ln>
        </p:spPr>
        <p:txBody>
          <a:bodyPr wrap="none" lIns="0" tIns="0" rIns="0" bIns="0" anchor="t" anchorCtr="0">
            <a:spAutoFit/>
          </a:bodyPr>
          <a:lstStyle/>
          <a:p>
            <a:pPr algn="r"/>
            <a:r>
              <a:rPr lang="zh-CN" sz="900" dirty="0">
                <a:solidFill>
                  <a:srgbClr val="5F6670"/>
                </a:solidFill>
                <a:latin typeface="Arial"/>
                <a:ea typeface="Microsoft YaHei"/>
                <a:cs typeface="Arial"/>
              </a:rPr>
              <a:t>12 / 20</a:t>
            </a:r>
          </a:p>
        </p:txBody>
      </p:sp>
      <p:sp>
        <p:nvSpPr>
          <p:cNvPr id="22" name="Rectangle 22"/>
          <p:cNvSpPr/>
          <p:nvPr/>
        </p:nvSpPr>
        <p:spPr>
          <a:xfrm>
            <a:off x="838200" y="876300"/>
            <a:ext cx="6819900" cy="4683442"/>
          </a:xfrm>
          <a:prstGeom prst="roundRect">
            <a:avLst>
              <a:gd name="adj" fmla="val 1220"/>
            </a:avLst>
          </a:prstGeom>
          <a:solidFill>
            <a:srgbClr val="FFFFFF"/>
          </a:solidFill>
          <a:ln w="9525">
            <a:solidFill>
              <a:srgbClr val="D6D3CD"/>
            </a:solidFill>
          </a:ln>
        </p:spPr>
      </p:sp>
      <p:pic>
        <p:nvPicPr>
          <p:cNvPr id="23" name="Image 23"/>
          <p:cNvPicPr>
            <a:picLocks noChangeAspect="1"/>
          </p:cNvPicPr>
          <p:nvPr/>
        </p:nvPicPr>
        <p:blipFill>
          <a:blip r:embed="rId2"/>
          <a:stretch>
            <a:fillRect/>
          </a:stretch>
        </p:blipFill>
        <p:spPr>
          <a:xfrm>
            <a:off x="914400" y="952500"/>
            <a:ext cx="6667500" cy="4531042"/>
          </a:xfrm>
          <a:prstGeom prst="rect">
            <a:avLst/>
          </a:prstGeom>
        </p:spPr>
      </p:pic>
      <p:sp>
        <p:nvSpPr>
          <p:cNvPr id="24" name="Rectangle 24"/>
          <p:cNvSpPr/>
          <p:nvPr/>
        </p:nvSpPr>
        <p:spPr>
          <a:xfrm>
            <a:off x="7924800" y="876300"/>
            <a:ext cx="3886200" cy="1303972"/>
          </a:xfrm>
          <a:prstGeom prst="roundRect">
            <a:avLst>
              <a:gd name="adj" fmla="val 4383"/>
            </a:avLst>
          </a:prstGeom>
          <a:solidFill>
            <a:srgbClr val="FFFFFF"/>
          </a:solidFill>
          <a:ln w="9525">
            <a:solidFill>
              <a:srgbClr val="D6D3CD"/>
            </a:solidFill>
          </a:ln>
        </p:spPr>
      </p:sp>
      <p:sp>
        <p:nvSpPr>
          <p:cNvPr id="25" name="Rectangle 25"/>
          <p:cNvSpPr/>
          <p:nvPr/>
        </p:nvSpPr>
        <p:spPr>
          <a:xfrm>
            <a:off x="7924800" y="876300"/>
            <a:ext cx="3886200" cy="38100"/>
          </a:xfrm>
          <a:prstGeom prst="rect">
            <a:avLst/>
          </a:prstGeom>
          <a:solidFill>
            <a:srgbClr val="1F4E45"/>
          </a:solidFill>
          <a:ln>
            <a:noFill/>
          </a:ln>
        </p:spPr>
      </p:sp>
      <p:sp>
        <p:nvSpPr>
          <p:cNvPr id="26" name="TextBox 26"/>
          <p:cNvSpPr txBox="1"/>
          <p:nvPr/>
        </p:nvSpPr>
        <p:spPr>
          <a:xfrm>
            <a:off x="8099108" y="1052989"/>
            <a:ext cx="3147145" cy="259080"/>
          </a:xfrm>
          <a:prstGeom prst="rect">
            <a:avLst/>
          </a:prstGeom>
          <a:noFill/>
          <a:ln>
            <a:noFill/>
          </a:ln>
        </p:spPr>
        <p:txBody>
          <a:bodyPr wrap="none" lIns="0" tIns="0" rIns="0" bIns="0" anchor="t" anchorCtr="0">
            <a:spAutoFit/>
          </a:bodyPr>
          <a:lstStyle/>
          <a:p>
            <a:pPr algn="l"/>
            <a:r>
              <a:rPr lang="zh-CN" sz="1275" b="1" dirty="0">
                <a:solidFill>
                  <a:srgbClr val="1F4E45"/>
                </a:solidFill>
                <a:latin typeface="Arial"/>
                <a:ea typeface="Microsoft YaHei"/>
                <a:cs typeface="Arial"/>
              </a:rPr>
              <a:t>An apparent 2.5-fold enrichment</a:t>
            </a:r>
          </a:p>
        </p:txBody>
      </p:sp>
      <p:sp>
        <p:nvSpPr>
          <p:cNvPr id="27" name="TextBox 27"/>
          <p:cNvSpPr txBox="1"/>
          <p:nvPr/>
        </p:nvSpPr>
        <p:spPr>
          <a:xfrm>
            <a:off x="8101012" y="1345406"/>
            <a:ext cx="2529316" cy="228600"/>
          </a:xfrm>
          <a:prstGeom prst="rect">
            <a:avLst/>
          </a:prstGeom>
          <a:noFill/>
          <a:ln>
            <a:noFill/>
          </a:ln>
        </p:spPr>
        <p:txBody>
          <a:bodyPr wrap="none" lIns="0" tIns="0" rIns="0" bIns="0" anchor="t" anchorCtr="0">
            <a:spAutoFit/>
          </a:bodyPr>
          <a:lstStyle/>
          <a:p>
            <a:pPr algn="l"/>
            <a:r>
              <a:rPr lang="zh-CN" sz="1125" dirty="0">
                <a:solidFill>
                  <a:srgbClr val="17332D"/>
                </a:solidFill>
                <a:latin typeface="Arial"/>
                <a:ea typeface="Microsoft YaHei"/>
                <a:cs typeface="Arial"/>
              </a:rPr>
              <a:t>Records inside reserves: 26.2%</a:t>
            </a:r>
          </a:p>
        </p:txBody>
      </p:sp>
      <p:sp>
        <p:nvSpPr>
          <p:cNvPr id="28" name="TextBox 28"/>
          <p:cNvSpPr txBox="1"/>
          <p:nvPr/>
        </p:nvSpPr>
        <p:spPr>
          <a:xfrm>
            <a:off x="8101012" y="1583531"/>
            <a:ext cx="3041952" cy="228600"/>
          </a:xfrm>
          <a:prstGeom prst="rect">
            <a:avLst/>
          </a:prstGeom>
          <a:noFill/>
          <a:ln>
            <a:noFill/>
          </a:ln>
        </p:spPr>
        <p:txBody>
          <a:bodyPr wrap="none" lIns="0" tIns="0" rIns="0" bIns="0" anchor="t" anchorCtr="0">
            <a:spAutoFit/>
          </a:bodyPr>
          <a:lstStyle/>
          <a:p>
            <a:pPr algn="l"/>
            <a:r>
              <a:rPr lang="zh-CN" sz="1125" dirty="0">
                <a:solidFill>
                  <a:srgbClr val="5F6670"/>
                </a:solidFill>
                <a:latin typeface="Arial"/>
                <a:ea typeface="Microsoft YaHei"/>
                <a:cs typeface="Arial"/>
              </a:rPr>
              <a:t>Birding effort inside reserves: 10.8%</a:t>
            </a:r>
          </a:p>
        </p:txBody>
      </p:sp>
      <p:sp>
        <p:nvSpPr>
          <p:cNvPr id="29" name="TextBox 29"/>
          <p:cNvSpPr txBox="1"/>
          <p:nvPr/>
        </p:nvSpPr>
        <p:spPr>
          <a:xfrm>
            <a:off x="8101012" y="1821656"/>
            <a:ext cx="2673906" cy="228600"/>
          </a:xfrm>
          <a:prstGeom prst="rect">
            <a:avLst/>
          </a:prstGeom>
          <a:noFill/>
          <a:ln>
            <a:noFill/>
          </a:ln>
        </p:spPr>
        <p:txBody>
          <a:bodyPr wrap="none" lIns="0" tIns="0" rIns="0" bIns="0" anchor="t" anchorCtr="0">
            <a:spAutoFit/>
          </a:bodyPr>
          <a:lstStyle/>
          <a:p>
            <a:pPr algn="l"/>
            <a:r>
              <a:rPr lang="zh-CN" sz="1125" dirty="0">
                <a:solidFill>
                  <a:srgbClr val="5F6670"/>
                </a:solidFill>
                <a:latin typeface="Arial"/>
                <a:ea typeface="Microsoft YaHei"/>
                <a:cs typeface="Arial"/>
              </a:rPr>
              <a:t>Land area inside reserves: 10.4%</a:t>
            </a:r>
          </a:p>
        </p:txBody>
      </p:sp>
      <p:sp>
        <p:nvSpPr>
          <p:cNvPr id="30" name="Rectangle 30"/>
          <p:cNvSpPr/>
          <p:nvPr/>
        </p:nvSpPr>
        <p:spPr>
          <a:xfrm>
            <a:off x="7924800" y="2561272"/>
            <a:ext cx="3886200" cy="1542098"/>
          </a:xfrm>
          <a:prstGeom prst="roundRect">
            <a:avLst>
              <a:gd name="adj" fmla="val 3706"/>
            </a:avLst>
          </a:prstGeom>
          <a:solidFill>
            <a:srgbClr val="FFFFFF"/>
          </a:solidFill>
          <a:ln w="9525">
            <a:solidFill>
              <a:srgbClr val="D6D3CD"/>
            </a:solidFill>
          </a:ln>
        </p:spPr>
      </p:sp>
      <p:sp>
        <p:nvSpPr>
          <p:cNvPr id="31" name="Rectangle 31"/>
          <p:cNvSpPr/>
          <p:nvPr/>
        </p:nvSpPr>
        <p:spPr>
          <a:xfrm>
            <a:off x="7924800" y="2561272"/>
            <a:ext cx="3886200" cy="38100"/>
          </a:xfrm>
          <a:prstGeom prst="rect">
            <a:avLst/>
          </a:prstGeom>
          <a:solidFill>
            <a:srgbClr val="0072B2"/>
          </a:solidFill>
          <a:ln>
            <a:noFill/>
          </a:ln>
        </p:spPr>
      </p:sp>
      <p:sp>
        <p:nvSpPr>
          <p:cNvPr id="32" name="TextBox 32"/>
          <p:cNvSpPr txBox="1"/>
          <p:nvPr/>
        </p:nvSpPr>
        <p:spPr>
          <a:xfrm>
            <a:off x="8099108" y="2737961"/>
            <a:ext cx="3490598" cy="259080"/>
          </a:xfrm>
          <a:prstGeom prst="rect">
            <a:avLst/>
          </a:prstGeom>
          <a:noFill/>
          <a:ln>
            <a:noFill/>
          </a:ln>
        </p:spPr>
        <p:txBody>
          <a:bodyPr wrap="none" lIns="0" tIns="0" rIns="0" bIns="0" anchor="t" anchorCtr="0">
            <a:spAutoFit/>
          </a:bodyPr>
          <a:lstStyle/>
          <a:p>
            <a:pPr algn="l"/>
            <a:r>
              <a:rPr lang="zh-CN" sz="1275" b="1" dirty="0">
                <a:solidFill>
                  <a:srgbClr val="0072B2"/>
                </a:solidFill>
                <a:latin typeface="Arial"/>
                <a:ea typeface="Microsoft YaHei"/>
                <a:cs typeface="Arial"/>
              </a:rPr>
              <a:t>Against where birders actually went</a:t>
            </a:r>
          </a:p>
        </p:txBody>
      </p:sp>
      <p:sp>
        <p:nvSpPr>
          <p:cNvPr id="33" name="TextBox 33"/>
          <p:cNvSpPr txBox="1"/>
          <p:nvPr/>
        </p:nvSpPr>
        <p:spPr>
          <a:xfrm>
            <a:off x="8101012" y="3030379"/>
            <a:ext cx="3285125" cy="228600"/>
          </a:xfrm>
          <a:prstGeom prst="rect">
            <a:avLst/>
          </a:prstGeom>
          <a:noFill/>
          <a:ln>
            <a:noFill/>
          </a:ln>
        </p:spPr>
        <p:txBody>
          <a:bodyPr wrap="none" lIns="0" tIns="0" rIns="0" bIns="0" anchor="t" anchorCtr="0">
            <a:spAutoFit/>
          </a:bodyPr>
          <a:lstStyle/>
          <a:p>
            <a:pPr algn="l"/>
            <a:r>
              <a:rPr lang="zh-CN" sz="1125" dirty="0">
                <a:solidFill>
                  <a:srgbClr val="17332D"/>
                </a:solidFill>
                <a:latin typeface="Arial"/>
                <a:ea typeface="Microsoft YaHei"/>
                <a:cs typeface="Arial"/>
              </a:rPr>
              <a:t>Matched same province and year: OR 1.57</a:t>
            </a:r>
          </a:p>
        </p:txBody>
      </p:sp>
      <p:sp>
        <p:nvSpPr>
          <p:cNvPr id="34" name="TextBox 34"/>
          <p:cNvSpPr txBox="1"/>
          <p:nvPr/>
        </p:nvSpPr>
        <p:spPr>
          <a:xfrm>
            <a:off x="8101012" y="3268504"/>
            <a:ext cx="3000875" cy="228600"/>
          </a:xfrm>
          <a:prstGeom prst="rect">
            <a:avLst/>
          </a:prstGeom>
          <a:noFill/>
          <a:ln>
            <a:noFill/>
          </a:ln>
        </p:spPr>
        <p:txBody>
          <a:bodyPr wrap="none" lIns="0" tIns="0" rIns="0" bIns="0" anchor="t" anchorCtr="0">
            <a:spAutoFit/>
          </a:bodyPr>
          <a:lstStyle/>
          <a:p>
            <a:pPr algn="l"/>
            <a:r>
              <a:rPr lang="zh-CN" sz="1125" dirty="0">
                <a:solidFill>
                  <a:srgbClr val="B45309"/>
                </a:solidFill>
                <a:latin typeface="Arial"/>
                <a:ea typeface="Microsoft YaHei"/>
                <a:cs typeface="Arial"/>
              </a:rPr>
              <a:t>Without the 2 largest reserves: 1.16</a:t>
            </a:r>
          </a:p>
        </p:txBody>
      </p:sp>
      <p:sp>
        <p:nvSpPr>
          <p:cNvPr id="35" name="TextBox 35"/>
          <p:cNvSpPr txBox="1"/>
          <p:nvPr/>
        </p:nvSpPr>
        <p:spPr>
          <a:xfrm>
            <a:off x="8101012" y="3506629"/>
            <a:ext cx="2435662" cy="228600"/>
          </a:xfrm>
          <a:prstGeom prst="rect">
            <a:avLst/>
          </a:prstGeom>
          <a:noFill/>
          <a:ln>
            <a:noFill/>
          </a:ln>
        </p:spPr>
        <p:txBody>
          <a:bodyPr wrap="none" lIns="0" tIns="0" rIns="0" bIns="0" anchor="t" anchorCtr="0">
            <a:spAutoFit/>
          </a:bodyPr>
          <a:lstStyle/>
          <a:p>
            <a:pPr algn="l"/>
            <a:r>
              <a:rPr lang="zh-CN" sz="1125" dirty="0">
                <a:solidFill>
                  <a:srgbClr val="B45309"/>
                </a:solidFill>
                <a:latin typeface="Arial"/>
                <a:ea typeface="Microsoft YaHei"/>
                <a:cs typeface="Arial"/>
              </a:rPr>
              <a:t>Before 2013: no effect (0.97)</a:t>
            </a:r>
          </a:p>
        </p:txBody>
      </p:sp>
      <p:sp>
        <p:nvSpPr>
          <p:cNvPr id="36" name="TextBox 36"/>
          <p:cNvSpPr txBox="1"/>
          <p:nvPr/>
        </p:nvSpPr>
        <p:spPr>
          <a:xfrm>
            <a:off x="8101012" y="3744754"/>
            <a:ext cx="3142178" cy="228600"/>
          </a:xfrm>
          <a:prstGeom prst="rect">
            <a:avLst/>
          </a:prstGeom>
          <a:noFill/>
          <a:ln>
            <a:noFill/>
          </a:ln>
        </p:spPr>
        <p:txBody>
          <a:bodyPr wrap="none" lIns="0" tIns="0" rIns="0" bIns="0" anchor="t" anchorCtr="0">
            <a:spAutoFit/>
          </a:bodyPr>
          <a:lstStyle/>
          <a:p>
            <a:pPr algn="l"/>
            <a:r>
              <a:rPr lang="zh-CN" sz="1125" dirty="0">
                <a:solidFill>
                  <a:srgbClr val="5F6670"/>
                </a:solidFill>
                <a:latin typeface="Arial"/>
                <a:ea typeface="Microsoft YaHei"/>
                <a:cs typeface="Arial"/>
              </a:rPr>
              <a:t>Checklists inside list 24% more species</a:t>
            </a:r>
          </a:p>
        </p:txBody>
      </p:sp>
      <p:sp>
        <p:nvSpPr>
          <p:cNvPr id="37" name="Rectangle 37"/>
          <p:cNvSpPr/>
          <p:nvPr/>
        </p:nvSpPr>
        <p:spPr>
          <a:xfrm>
            <a:off x="7924800" y="4484370"/>
            <a:ext cx="3886200" cy="1075372"/>
          </a:xfrm>
          <a:prstGeom prst="roundRect">
            <a:avLst>
              <a:gd name="adj" fmla="val 5314"/>
            </a:avLst>
          </a:prstGeom>
          <a:solidFill>
            <a:srgbClr val="1F4E45"/>
          </a:solidFill>
          <a:ln>
            <a:noFill/>
          </a:ln>
        </p:spPr>
      </p:sp>
      <p:sp>
        <p:nvSpPr>
          <p:cNvPr id="38" name="TextBox 38"/>
          <p:cNvSpPr txBox="1"/>
          <p:nvPr/>
        </p:nvSpPr>
        <p:spPr>
          <a:xfrm>
            <a:off x="8133457" y="4703921"/>
            <a:ext cx="3468885" cy="259080"/>
          </a:xfrm>
          <a:prstGeom prst="rect">
            <a:avLst/>
          </a:prstGeom>
          <a:noFill/>
          <a:ln>
            <a:noFill/>
          </a:ln>
        </p:spPr>
        <p:txBody>
          <a:bodyPr wrap="none" lIns="0" tIns="0" rIns="0" bIns="0" anchor="t" anchorCtr="0">
            <a:spAutoFit/>
          </a:bodyPr>
          <a:lstStyle/>
          <a:p>
            <a:pPr algn="ctr"/>
            <a:r>
              <a:rPr lang="zh-CN" sz="1275" b="1" dirty="0">
                <a:solidFill>
                  <a:srgbClr val="FFFFFF"/>
                </a:solidFill>
                <a:latin typeface="Arial"/>
                <a:ea typeface="Microsoft YaHei"/>
                <a:cs typeface="Arial"/>
              </a:rPr>
              <a:t>More records ≠ better protection</a:t>
            </a:r>
          </a:p>
        </p:txBody>
      </p:sp>
      <p:sp>
        <p:nvSpPr>
          <p:cNvPr id="39" name="TextBox 39"/>
          <p:cNvSpPr txBox="1"/>
          <p:nvPr/>
        </p:nvSpPr>
        <p:spPr>
          <a:xfrm>
            <a:off x="8624602" y="4986814"/>
            <a:ext cx="2486597" cy="228600"/>
          </a:xfrm>
          <a:prstGeom prst="rect">
            <a:avLst/>
          </a:prstGeom>
          <a:noFill/>
          <a:ln>
            <a:noFill/>
          </a:ln>
        </p:spPr>
        <p:txBody>
          <a:bodyPr wrap="none" lIns="0" tIns="0" rIns="0" bIns="0" anchor="t" anchorCtr="0">
            <a:spAutoFit/>
          </a:bodyPr>
          <a:lstStyle/>
          <a:p>
            <a:pPr algn="ctr"/>
            <a:r>
              <a:rPr lang="zh-CN" sz="1125" dirty="0">
                <a:solidFill>
                  <a:srgbClr val="E7F0ED"/>
                </a:solidFill>
                <a:latin typeface="Arial"/>
                <a:ea typeface="Microsoft YaHei"/>
                <a:cs typeface="Arial"/>
              </a:rPr>
              <a:t>Record counts cannot measure</a:t>
            </a:r>
          </a:p>
        </p:txBody>
      </p:sp>
      <p:sp>
        <p:nvSpPr>
          <p:cNvPr id="40" name="TextBox 40"/>
          <p:cNvSpPr txBox="1"/>
          <p:nvPr/>
        </p:nvSpPr>
        <p:spPr>
          <a:xfrm>
            <a:off x="8874347" y="5215414"/>
            <a:ext cx="1987106" cy="228600"/>
          </a:xfrm>
          <a:prstGeom prst="rect">
            <a:avLst/>
          </a:prstGeom>
          <a:noFill/>
          <a:ln>
            <a:noFill/>
          </a:ln>
        </p:spPr>
        <p:txBody>
          <a:bodyPr wrap="none" lIns="0" tIns="0" rIns="0" bIns="0" anchor="t" anchorCtr="0">
            <a:spAutoFit/>
          </a:bodyPr>
          <a:lstStyle/>
          <a:p>
            <a:pPr algn="ctr"/>
            <a:r>
              <a:rPr lang="zh-CN" sz="1125" dirty="0">
                <a:solidFill>
                  <a:srgbClr val="E7F0ED"/>
                </a:solidFill>
                <a:latin typeface="Arial"/>
                <a:ea typeface="Microsoft YaHei"/>
                <a:cs typeface="Arial"/>
              </a:rPr>
              <a:t>how well a reserve works</a:t>
            </a:r>
          </a:p>
        </p:txBody>
      </p:sp>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BFAF7"/>
          </a:solidFill>
          <a:ln>
            <a:noFill/>
          </a:ln>
        </p:spPr>
      </p:sp>
      <p:sp>
        <p:nvSpPr>
          <p:cNvPr id="3" name="Rectangle 3"/>
          <p:cNvSpPr/>
          <p:nvPr/>
        </p:nvSpPr>
        <p:spPr>
          <a:xfrm>
            <a:off x="0" y="0"/>
            <a:ext cx="609600" cy="6858000"/>
          </a:xfrm>
          <a:prstGeom prst="rect">
            <a:avLst/>
          </a:prstGeom>
          <a:solidFill>
            <a:srgbClr val="1F4E45"/>
          </a:solidFill>
          <a:ln>
            <a:noFill/>
          </a:ln>
        </p:spPr>
      </p:sp>
      <p:sp>
        <p:nvSpPr>
          <p:cNvPr id="4" name="Ellipse 4"/>
          <p:cNvSpPr/>
          <p:nvPr/>
        </p:nvSpPr>
        <p:spPr>
          <a:xfrm>
            <a:off x="272415" y="1091565"/>
            <a:ext cx="64770" cy="64770"/>
          </a:xfrm>
          <a:prstGeom prst="ellipse">
            <a:avLst/>
          </a:prstGeom>
          <a:solidFill>
            <a:srgbClr val="FFFFFF">
              <a:alpha val="42000"/>
            </a:srgbClr>
          </a:solidFill>
          <a:ln>
            <a:noFill/>
          </a:ln>
        </p:spPr>
      </p:sp>
      <p:sp>
        <p:nvSpPr>
          <p:cNvPr id="5" name="TextBox 5"/>
          <p:cNvSpPr txBox="1"/>
          <p:nvPr/>
        </p:nvSpPr>
        <p:spPr>
          <a:xfrm>
            <a:off x="17336" y="1245870"/>
            <a:ext cx="574929" cy="182880"/>
          </a:xfrm>
          <a:prstGeom prst="rect">
            <a:avLst/>
          </a:prstGeom>
          <a:noFill/>
          <a:ln>
            <a:noFill/>
          </a:ln>
        </p:spPr>
        <p:txBody>
          <a:bodyPr wrap="none" lIns="0" tIns="0" rIns="0" bIns="0" anchor="t" anchorCtr="0">
            <a:spAutoFit/>
          </a:bodyPr>
          <a:lstStyle/>
          <a:p>
            <a:pPr algn="ctr"/>
            <a:r>
              <a:rPr lang="zh-CN" sz="900" dirty="0">
                <a:solidFill>
                  <a:srgbClr val="FFFFFF">
                    <a:alphaMod val="60000"/>
                  </a:srgbClr>
                </a:solidFill>
                <a:latin typeface="Arial"/>
                <a:ea typeface="Microsoft YaHei"/>
                <a:cs typeface="Arial"/>
              </a:rPr>
              <a:t>Question</a:t>
            </a:r>
          </a:p>
        </p:txBody>
      </p:sp>
      <p:sp>
        <p:nvSpPr>
          <p:cNvPr id="6" name="Ellipse 6"/>
          <p:cNvSpPr/>
          <p:nvPr/>
        </p:nvSpPr>
        <p:spPr>
          <a:xfrm>
            <a:off x="272415" y="1948815"/>
            <a:ext cx="64770" cy="64770"/>
          </a:xfrm>
          <a:prstGeom prst="ellipse">
            <a:avLst/>
          </a:prstGeom>
          <a:solidFill>
            <a:srgbClr val="FFFFFF">
              <a:alpha val="42000"/>
            </a:srgbClr>
          </a:solidFill>
          <a:ln>
            <a:noFill/>
          </a:ln>
        </p:spPr>
      </p:sp>
      <p:sp>
        <p:nvSpPr>
          <p:cNvPr id="7" name="TextBox 7"/>
          <p:cNvSpPr txBox="1"/>
          <p:nvPr/>
        </p:nvSpPr>
        <p:spPr>
          <a:xfrm>
            <a:off x="146152" y="2103120"/>
            <a:ext cx="317297" cy="182880"/>
          </a:xfrm>
          <a:prstGeom prst="rect">
            <a:avLst/>
          </a:prstGeom>
          <a:noFill/>
          <a:ln>
            <a:noFill/>
          </a:ln>
        </p:spPr>
        <p:txBody>
          <a:bodyPr wrap="none" lIns="0" tIns="0" rIns="0" bIns="0" anchor="t" anchorCtr="0">
            <a:spAutoFit/>
          </a:bodyPr>
          <a:lstStyle/>
          <a:p>
            <a:pPr algn="ctr"/>
            <a:r>
              <a:rPr lang="zh-CN" sz="900" dirty="0">
                <a:solidFill>
                  <a:srgbClr val="FFFFFF">
                    <a:alphaMod val="60000"/>
                  </a:srgbClr>
                </a:solidFill>
                <a:latin typeface="Arial"/>
                <a:ea typeface="Microsoft YaHei"/>
                <a:cs typeface="Arial"/>
              </a:rPr>
              <a:t>Data</a:t>
            </a:r>
          </a:p>
        </p:txBody>
      </p:sp>
      <p:sp>
        <p:nvSpPr>
          <p:cNvPr id="8" name="Ellipse 8"/>
          <p:cNvSpPr/>
          <p:nvPr/>
        </p:nvSpPr>
        <p:spPr>
          <a:xfrm>
            <a:off x="272415" y="2806065"/>
            <a:ext cx="64770" cy="64770"/>
          </a:xfrm>
          <a:prstGeom prst="ellipse">
            <a:avLst/>
          </a:prstGeom>
          <a:solidFill>
            <a:srgbClr val="FFFFFF">
              <a:alpha val="42000"/>
            </a:srgbClr>
          </a:solidFill>
          <a:ln>
            <a:noFill/>
          </a:ln>
        </p:spPr>
      </p:sp>
      <p:sp>
        <p:nvSpPr>
          <p:cNvPr id="9" name="TextBox 9"/>
          <p:cNvSpPr txBox="1"/>
          <p:nvPr/>
        </p:nvSpPr>
        <p:spPr>
          <a:xfrm>
            <a:off x="35738" y="2960370"/>
            <a:ext cx="538124" cy="182880"/>
          </a:xfrm>
          <a:prstGeom prst="rect">
            <a:avLst/>
          </a:prstGeom>
          <a:noFill/>
          <a:ln>
            <a:noFill/>
          </a:ln>
        </p:spPr>
        <p:txBody>
          <a:bodyPr wrap="none" lIns="0" tIns="0" rIns="0" bIns="0" anchor="t" anchorCtr="0">
            <a:spAutoFit/>
          </a:bodyPr>
          <a:lstStyle/>
          <a:p>
            <a:pPr algn="ctr"/>
            <a:r>
              <a:rPr lang="zh-CN" sz="900" dirty="0">
                <a:solidFill>
                  <a:srgbClr val="FFFFFF">
                    <a:alphaMod val="60000"/>
                  </a:srgbClr>
                </a:solidFill>
                <a:latin typeface="Arial"/>
                <a:ea typeface="Microsoft YaHei"/>
                <a:cs typeface="Arial"/>
              </a:rPr>
              <a:t>Findings</a:t>
            </a:r>
          </a:p>
        </p:txBody>
      </p:sp>
      <p:sp>
        <p:nvSpPr>
          <p:cNvPr id="10" name="Ellipse 10"/>
          <p:cNvSpPr/>
          <p:nvPr/>
        </p:nvSpPr>
        <p:spPr>
          <a:xfrm>
            <a:off x="272415" y="3663315"/>
            <a:ext cx="64770" cy="64770"/>
          </a:xfrm>
          <a:prstGeom prst="ellipse">
            <a:avLst/>
          </a:prstGeom>
          <a:solidFill>
            <a:srgbClr val="FFFFFF">
              <a:alpha val="42000"/>
            </a:srgbClr>
          </a:solidFill>
          <a:ln>
            <a:noFill/>
          </a:ln>
        </p:spPr>
      </p:sp>
      <p:sp>
        <p:nvSpPr>
          <p:cNvPr id="11" name="TextBox 11"/>
          <p:cNvSpPr txBox="1"/>
          <p:nvPr/>
        </p:nvSpPr>
        <p:spPr>
          <a:xfrm>
            <a:off x="72542" y="3817620"/>
            <a:ext cx="464515" cy="182880"/>
          </a:xfrm>
          <a:prstGeom prst="rect">
            <a:avLst/>
          </a:prstGeom>
          <a:noFill/>
          <a:ln>
            <a:noFill/>
          </a:ln>
        </p:spPr>
        <p:txBody>
          <a:bodyPr wrap="none" lIns="0" tIns="0" rIns="0" bIns="0" anchor="t" anchorCtr="0">
            <a:spAutoFit/>
          </a:bodyPr>
          <a:lstStyle/>
          <a:p>
            <a:pPr algn="ctr"/>
            <a:r>
              <a:rPr lang="zh-CN" sz="900" dirty="0">
                <a:solidFill>
                  <a:srgbClr val="FFFFFF">
                    <a:alphaMod val="60000"/>
                  </a:srgbClr>
                </a:solidFill>
                <a:latin typeface="Arial"/>
                <a:ea typeface="Microsoft YaHei"/>
                <a:cs typeface="Arial"/>
              </a:rPr>
              <a:t>Robust</a:t>
            </a:r>
          </a:p>
        </p:txBody>
      </p:sp>
      <p:sp>
        <p:nvSpPr>
          <p:cNvPr id="12" name="Ellipse 12"/>
          <p:cNvSpPr/>
          <p:nvPr/>
        </p:nvSpPr>
        <p:spPr>
          <a:xfrm>
            <a:off x="257175" y="4505325"/>
            <a:ext cx="95250" cy="95250"/>
          </a:xfrm>
          <a:prstGeom prst="ellipse">
            <a:avLst/>
          </a:prstGeom>
          <a:solidFill>
            <a:srgbClr val="FFFFFF"/>
          </a:solidFill>
          <a:ln>
            <a:noFill/>
          </a:ln>
        </p:spPr>
      </p:sp>
      <p:sp>
        <p:nvSpPr>
          <p:cNvPr id="13" name="TextBox 13"/>
          <p:cNvSpPr txBox="1"/>
          <p:nvPr/>
        </p:nvSpPr>
        <p:spPr>
          <a:xfrm>
            <a:off x="146152" y="4674870"/>
            <a:ext cx="317297" cy="182880"/>
          </a:xfrm>
          <a:prstGeom prst="rect">
            <a:avLst/>
          </a:prstGeom>
          <a:noFill/>
          <a:ln>
            <a:noFill/>
          </a:ln>
        </p:spPr>
        <p:txBody>
          <a:bodyPr wrap="none" lIns="0" tIns="0" rIns="0" bIns="0" anchor="t" anchorCtr="0">
            <a:spAutoFit/>
          </a:bodyPr>
          <a:lstStyle/>
          <a:p>
            <a:pPr algn="ctr"/>
            <a:r>
              <a:rPr lang="zh-CN" sz="900" dirty="0">
                <a:solidFill>
                  <a:srgbClr val="FFFFFF"/>
                </a:solidFill>
                <a:latin typeface="Arial"/>
                <a:ea typeface="Microsoft YaHei"/>
                <a:cs typeface="Arial"/>
              </a:rPr>
              <a:t>Uses</a:t>
            </a:r>
          </a:p>
        </p:txBody>
      </p:sp>
      <p:sp>
        <p:nvSpPr>
          <p:cNvPr id="14" name="Ellipse 14"/>
          <p:cNvSpPr/>
          <p:nvPr/>
        </p:nvSpPr>
        <p:spPr>
          <a:xfrm>
            <a:off x="272415" y="5377815"/>
            <a:ext cx="64770" cy="64770"/>
          </a:xfrm>
          <a:prstGeom prst="ellipse">
            <a:avLst/>
          </a:prstGeom>
          <a:solidFill>
            <a:srgbClr val="FFFFFF">
              <a:alpha val="42000"/>
            </a:srgbClr>
          </a:solidFill>
          <a:ln>
            <a:noFill/>
          </a:ln>
        </p:spPr>
      </p:sp>
      <p:sp>
        <p:nvSpPr>
          <p:cNvPr id="15" name="TextBox 15"/>
          <p:cNvSpPr txBox="1"/>
          <p:nvPr/>
        </p:nvSpPr>
        <p:spPr>
          <a:xfrm>
            <a:off x="16678" y="5532120"/>
            <a:ext cx="576243" cy="182880"/>
          </a:xfrm>
          <a:prstGeom prst="rect">
            <a:avLst/>
          </a:prstGeom>
          <a:noFill/>
          <a:ln>
            <a:noFill/>
          </a:ln>
        </p:spPr>
        <p:txBody>
          <a:bodyPr wrap="none" lIns="0" tIns="0" rIns="0" bIns="0" anchor="t" anchorCtr="0">
            <a:spAutoFit/>
          </a:bodyPr>
          <a:lstStyle/>
          <a:p>
            <a:pPr algn="ctr"/>
            <a:r>
              <a:rPr lang="zh-CN" sz="900" dirty="0">
                <a:solidFill>
                  <a:srgbClr val="FFFFFF">
                    <a:alphaMod val="60000"/>
                  </a:srgbClr>
                </a:solidFill>
                <a:latin typeface="Arial"/>
                <a:ea typeface="Microsoft YaHei"/>
                <a:cs typeface="Arial"/>
              </a:rPr>
              <a:t>Wrap-up</a:t>
            </a:r>
          </a:p>
        </p:txBody>
      </p:sp>
      <p:sp>
        <p:nvSpPr>
          <p:cNvPr id="16" name="Rectangle 16"/>
          <p:cNvSpPr/>
          <p:nvPr/>
        </p:nvSpPr>
        <p:spPr>
          <a:xfrm>
            <a:off x="914400" y="304800"/>
            <a:ext cx="419100" cy="47625"/>
          </a:xfrm>
          <a:prstGeom prst="rect">
            <a:avLst/>
          </a:prstGeom>
          <a:solidFill>
            <a:srgbClr val="B45309"/>
          </a:solidFill>
          <a:ln>
            <a:noFill/>
          </a:ln>
        </p:spPr>
      </p:sp>
      <p:sp>
        <p:nvSpPr>
          <p:cNvPr id="17" name="TextBox 17"/>
          <p:cNvSpPr txBox="1"/>
          <p:nvPr/>
        </p:nvSpPr>
        <p:spPr>
          <a:xfrm>
            <a:off x="889635" y="456248"/>
            <a:ext cx="8076661" cy="396240"/>
          </a:xfrm>
          <a:prstGeom prst="rect">
            <a:avLst/>
          </a:prstGeom>
          <a:noFill/>
          <a:ln>
            <a:noFill/>
          </a:ln>
        </p:spPr>
        <p:txBody>
          <a:bodyPr wrap="none" lIns="0" tIns="0" rIns="0" bIns="0" anchor="t" anchorCtr="0">
            <a:spAutoFit/>
          </a:bodyPr>
          <a:lstStyle/>
          <a:p>
            <a:pPr algn="l"/>
            <a:r>
              <a:rPr lang="zh-CN" sz="1950" b="1" dirty="0">
                <a:solidFill>
                  <a:srgbClr val="17332D"/>
                </a:solidFill>
                <a:latin typeface="Arial"/>
                <a:ea typeface="Microsoft YaHei"/>
                <a:cs typeface="Arial"/>
              </a:rPr>
              <a:t>Use 2 · Predictions can be pushed down to the county</a:t>
            </a:r>
          </a:p>
        </p:txBody>
      </p:sp>
      <p:sp>
        <p:nvSpPr>
          <p:cNvPr id="18" name="TextBox 18"/>
          <p:cNvSpPr txBox="1"/>
          <p:nvPr/>
        </p:nvSpPr>
        <p:spPr>
          <a:xfrm>
            <a:off x="10653370" y="283845"/>
            <a:ext cx="1169060" cy="182880"/>
          </a:xfrm>
          <a:prstGeom prst="rect">
            <a:avLst/>
          </a:prstGeom>
          <a:noFill/>
          <a:ln>
            <a:noFill/>
          </a:ln>
        </p:spPr>
        <p:txBody>
          <a:bodyPr wrap="none" lIns="0" tIns="0" rIns="0" bIns="0" anchor="t" anchorCtr="0">
            <a:spAutoFit/>
          </a:bodyPr>
          <a:lstStyle/>
          <a:p>
            <a:pPr algn="r"/>
            <a:r>
              <a:rPr lang="zh-CN" sz="900" dirty="0">
                <a:solidFill>
                  <a:srgbClr val="8A919B"/>
                </a:solidFill>
                <a:latin typeface="Arial"/>
                <a:ea typeface="Microsoft YaHei"/>
                <a:cs typeface="Arial"/>
              </a:rPr>
              <a:t>Repository module</a:t>
            </a:r>
          </a:p>
        </p:txBody>
      </p:sp>
      <p:sp>
        <p:nvSpPr>
          <p:cNvPr id="19" name="Line 19"/>
          <p:cNvSpPr/>
          <p:nvPr/>
        </p:nvSpPr>
        <p:spPr>
          <a:xfrm>
            <a:off x="914400" y="6515100"/>
            <a:ext cx="10896600" cy="9525"/>
          </a:xfrm>
          <a:custGeom>
            <a:avLst/>
            <a:gdLst/>
            <a:ahLst/>
            <a:cxnLst/>
            <a:rect l="l" t="t" r="r" b="b"/>
            <a:pathLst>
              <a:path w="10896600" h="9525">
                <a:moveTo>
                  <a:pt x="0" y="0"/>
                </a:moveTo>
                <a:lnTo>
                  <a:pt x="10896600" y="0"/>
                </a:lnTo>
              </a:path>
            </a:pathLst>
          </a:custGeom>
          <a:noFill/>
          <a:ln w="9525">
            <a:solidFill>
              <a:srgbClr val="D6D3CD"/>
            </a:solidFill>
          </a:ln>
        </p:spPr>
      </p:sp>
      <p:sp>
        <p:nvSpPr>
          <p:cNvPr id="20" name="TextBox 20"/>
          <p:cNvSpPr txBox="1"/>
          <p:nvPr/>
        </p:nvSpPr>
        <p:spPr>
          <a:xfrm>
            <a:off x="902970" y="6617970"/>
            <a:ext cx="2609698" cy="182880"/>
          </a:xfrm>
          <a:prstGeom prst="rect">
            <a:avLst/>
          </a:prstGeom>
          <a:noFill/>
          <a:ln>
            <a:noFill/>
          </a:ln>
        </p:spPr>
        <p:txBody>
          <a:bodyPr wrap="none" lIns="0" tIns="0" rIns="0" bIns="0" anchor="t" anchorCtr="0">
            <a:spAutoFit/>
          </a:bodyPr>
          <a:lstStyle/>
          <a:p>
            <a:pPr algn="l"/>
            <a:r>
              <a:rPr lang="zh-CN" sz="900" dirty="0">
                <a:solidFill>
                  <a:srgbClr val="8A919B"/>
                </a:solidFill>
                <a:latin typeface="Arial"/>
                <a:ea typeface="Microsoft YaHei"/>
                <a:cs typeface="Arial"/>
              </a:rPr>
              <a:t>Birds or birders? · AOC 2026, Singapore</a:t>
            </a:r>
          </a:p>
        </p:txBody>
      </p:sp>
      <p:sp>
        <p:nvSpPr>
          <p:cNvPr id="21" name="TextBox 21"/>
          <p:cNvSpPr txBox="1"/>
          <p:nvPr/>
        </p:nvSpPr>
        <p:spPr>
          <a:xfrm>
            <a:off x="11352657" y="6617970"/>
            <a:ext cx="469773" cy="182880"/>
          </a:xfrm>
          <a:prstGeom prst="rect">
            <a:avLst/>
          </a:prstGeom>
          <a:noFill/>
          <a:ln>
            <a:noFill/>
          </a:ln>
        </p:spPr>
        <p:txBody>
          <a:bodyPr wrap="none" lIns="0" tIns="0" rIns="0" bIns="0" anchor="t" anchorCtr="0">
            <a:spAutoFit/>
          </a:bodyPr>
          <a:lstStyle/>
          <a:p>
            <a:pPr algn="r"/>
            <a:r>
              <a:rPr lang="zh-CN" sz="900" dirty="0">
                <a:solidFill>
                  <a:srgbClr val="5F6670"/>
                </a:solidFill>
                <a:latin typeface="Arial"/>
                <a:ea typeface="Microsoft YaHei"/>
                <a:cs typeface="Arial"/>
              </a:rPr>
              <a:t>13 / 20</a:t>
            </a:r>
          </a:p>
        </p:txBody>
      </p:sp>
      <p:sp>
        <p:nvSpPr>
          <p:cNvPr id="22" name="Rectangle 22"/>
          <p:cNvSpPr/>
          <p:nvPr/>
        </p:nvSpPr>
        <p:spPr>
          <a:xfrm>
            <a:off x="838200" y="876300"/>
            <a:ext cx="6139815" cy="5486400"/>
          </a:xfrm>
          <a:prstGeom prst="roundRect">
            <a:avLst>
              <a:gd name="adj" fmla="val 1042"/>
            </a:avLst>
          </a:prstGeom>
          <a:solidFill>
            <a:srgbClr val="FFFFFF"/>
          </a:solidFill>
          <a:ln w="9525">
            <a:solidFill>
              <a:srgbClr val="D6D3CD"/>
            </a:solidFill>
          </a:ln>
        </p:spPr>
      </p:sp>
      <p:pic>
        <p:nvPicPr>
          <p:cNvPr id="23" name="Image 23"/>
          <p:cNvPicPr>
            <a:picLocks noChangeAspect="1"/>
          </p:cNvPicPr>
          <p:nvPr/>
        </p:nvPicPr>
        <p:blipFill>
          <a:blip r:embed="rId2"/>
          <a:stretch>
            <a:fillRect/>
          </a:stretch>
        </p:blipFill>
        <p:spPr>
          <a:xfrm>
            <a:off x="914400" y="952500"/>
            <a:ext cx="5987415" cy="5334000"/>
          </a:xfrm>
          <a:prstGeom prst="rect">
            <a:avLst/>
          </a:prstGeom>
        </p:spPr>
      </p:pic>
      <p:sp>
        <p:nvSpPr>
          <p:cNvPr id="24" name="Rectangle 24"/>
          <p:cNvSpPr/>
          <p:nvPr/>
        </p:nvSpPr>
        <p:spPr>
          <a:xfrm>
            <a:off x="7244715" y="876300"/>
            <a:ext cx="4566285" cy="1336358"/>
          </a:xfrm>
          <a:prstGeom prst="roundRect">
            <a:avLst>
              <a:gd name="adj" fmla="val 4277"/>
            </a:avLst>
          </a:prstGeom>
          <a:solidFill>
            <a:srgbClr val="FFFFFF"/>
          </a:solidFill>
          <a:ln w="9525">
            <a:solidFill>
              <a:srgbClr val="D6D3CD"/>
            </a:solidFill>
          </a:ln>
        </p:spPr>
      </p:sp>
      <p:sp>
        <p:nvSpPr>
          <p:cNvPr id="25" name="Rectangle 25"/>
          <p:cNvSpPr/>
          <p:nvPr/>
        </p:nvSpPr>
        <p:spPr>
          <a:xfrm>
            <a:off x="7244715" y="876300"/>
            <a:ext cx="4566285" cy="38100"/>
          </a:xfrm>
          <a:prstGeom prst="rect">
            <a:avLst/>
          </a:prstGeom>
          <a:solidFill>
            <a:srgbClr val="1F4E45"/>
          </a:solidFill>
          <a:ln>
            <a:noFill/>
          </a:ln>
        </p:spPr>
      </p:sp>
      <p:sp>
        <p:nvSpPr>
          <p:cNvPr id="26" name="TextBox 26"/>
          <p:cNvSpPr txBox="1"/>
          <p:nvPr/>
        </p:nvSpPr>
        <p:spPr>
          <a:xfrm>
            <a:off x="7419022" y="1052989"/>
            <a:ext cx="979841" cy="259080"/>
          </a:xfrm>
          <a:prstGeom prst="rect">
            <a:avLst/>
          </a:prstGeom>
          <a:noFill/>
          <a:ln>
            <a:noFill/>
          </a:ln>
        </p:spPr>
        <p:txBody>
          <a:bodyPr wrap="none" lIns="0" tIns="0" rIns="0" bIns="0" anchor="t" anchorCtr="0">
            <a:spAutoFit/>
          </a:bodyPr>
          <a:lstStyle/>
          <a:p>
            <a:pPr algn="l"/>
            <a:r>
              <a:rPr lang="zh-CN" sz="1275" b="1" dirty="0">
                <a:solidFill>
                  <a:srgbClr val="1F4E45"/>
                </a:solidFill>
                <a:latin typeface="Arial"/>
                <a:ea typeface="Microsoft YaHei"/>
                <a:cs typeface="Arial"/>
              </a:rPr>
              <a:t>Two steps</a:t>
            </a:r>
          </a:p>
        </p:txBody>
      </p:sp>
      <p:sp>
        <p:nvSpPr>
          <p:cNvPr id="27" name="TextBox 27"/>
          <p:cNvSpPr txBox="1"/>
          <p:nvPr/>
        </p:nvSpPr>
        <p:spPr>
          <a:xfrm>
            <a:off x="7420928" y="1345406"/>
            <a:ext cx="3018949" cy="228600"/>
          </a:xfrm>
          <a:prstGeom prst="rect">
            <a:avLst/>
          </a:prstGeom>
          <a:noFill/>
          <a:ln>
            <a:noFill/>
          </a:ln>
        </p:spPr>
        <p:txBody>
          <a:bodyPr wrap="none" lIns="0" tIns="0" rIns="0" bIns="0" anchor="t" anchorCtr="0">
            <a:spAutoFit/>
          </a:bodyPr>
          <a:lstStyle/>
          <a:p>
            <a:pPr algn="l"/>
            <a:r>
              <a:rPr lang="zh-CN" sz="1125" dirty="0">
                <a:solidFill>
                  <a:srgbClr val="17332D"/>
                </a:solidFill>
                <a:latin typeface="Arial"/>
                <a:ea typeface="Microsoft YaHei"/>
                <a:cs typeface="Arial"/>
              </a:rPr>
              <a:t>1 Will the province get a new record?</a:t>
            </a:r>
          </a:p>
        </p:txBody>
      </p:sp>
      <p:sp>
        <p:nvSpPr>
          <p:cNvPr id="28" name="TextBox 28"/>
          <p:cNvSpPr txBox="1"/>
          <p:nvPr/>
        </p:nvSpPr>
        <p:spPr>
          <a:xfrm>
            <a:off x="7420928" y="1583531"/>
            <a:ext cx="3332774" cy="228600"/>
          </a:xfrm>
          <a:prstGeom prst="rect">
            <a:avLst/>
          </a:prstGeom>
          <a:noFill/>
          <a:ln>
            <a:noFill/>
          </a:ln>
        </p:spPr>
        <p:txBody>
          <a:bodyPr wrap="none" lIns="0" tIns="0" rIns="0" bIns="0" anchor="t" anchorCtr="0">
            <a:spAutoFit/>
          </a:bodyPr>
          <a:lstStyle/>
          <a:p>
            <a:pPr algn="l"/>
            <a:r>
              <a:rPr lang="zh-CN" sz="1125" dirty="0">
                <a:solidFill>
                  <a:srgbClr val="17332D"/>
                </a:solidFill>
                <a:latin typeface="Arial"/>
                <a:ea typeface="Microsoft YaHei"/>
                <a:cs typeface="Arial"/>
              </a:rPr>
              <a:t>2 If so, which county? (conditional logit)</a:t>
            </a:r>
          </a:p>
        </p:txBody>
      </p:sp>
      <p:sp>
        <p:nvSpPr>
          <p:cNvPr id="29" name="Rectangle 29"/>
          <p:cNvSpPr/>
          <p:nvPr/>
        </p:nvSpPr>
        <p:spPr>
          <a:xfrm>
            <a:off x="7244715" y="2593658"/>
            <a:ext cx="4566285" cy="1812608"/>
          </a:xfrm>
          <a:prstGeom prst="roundRect">
            <a:avLst>
              <a:gd name="adj" fmla="val 3153"/>
            </a:avLst>
          </a:prstGeom>
          <a:solidFill>
            <a:srgbClr val="FFFFFF"/>
          </a:solidFill>
          <a:ln w="9525">
            <a:solidFill>
              <a:srgbClr val="D6D3CD"/>
            </a:solidFill>
          </a:ln>
        </p:spPr>
      </p:sp>
      <p:sp>
        <p:nvSpPr>
          <p:cNvPr id="30" name="Rectangle 30"/>
          <p:cNvSpPr/>
          <p:nvPr/>
        </p:nvSpPr>
        <p:spPr>
          <a:xfrm>
            <a:off x="7244715" y="2593658"/>
            <a:ext cx="4566285" cy="38100"/>
          </a:xfrm>
          <a:prstGeom prst="rect">
            <a:avLst/>
          </a:prstGeom>
          <a:solidFill>
            <a:srgbClr val="0072B2"/>
          </a:solidFill>
          <a:ln>
            <a:noFill/>
          </a:ln>
        </p:spPr>
      </p:sp>
      <p:sp>
        <p:nvSpPr>
          <p:cNvPr id="31" name="TextBox 31"/>
          <p:cNvSpPr txBox="1"/>
          <p:nvPr/>
        </p:nvSpPr>
        <p:spPr>
          <a:xfrm>
            <a:off x="7419022" y="2770346"/>
            <a:ext cx="3048452" cy="259080"/>
          </a:xfrm>
          <a:prstGeom prst="rect">
            <a:avLst/>
          </a:prstGeom>
          <a:noFill/>
          <a:ln>
            <a:noFill/>
          </a:ln>
        </p:spPr>
        <p:txBody>
          <a:bodyPr wrap="none" lIns="0" tIns="0" rIns="0" bIns="0" anchor="t" anchorCtr="0">
            <a:spAutoFit/>
          </a:bodyPr>
          <a:lstStyle/>
          <a:p>
            <a:pPr algn="l"/>
            <a:r>
              <a:rPr lang="zh-CN" sz="1275" b="1" dirty="0">
                <a:solidFill>
                  <a:srgbClr val="0072B2"/>
                </a:solidFill>
                <a:latin typeface="Arial"/>
                <a:ea typeface="Microsoft YaHei"/>
                <a:cs typeface="Arial"/>
              </a:rPr>
              <a:t>Out-of-sample skill, 2019–2024</a:t>
            </a:r>
          </a:p>
        </p:txBody>
      </p:sp>
      <p:sp>
        <p:nvSpPr>
          <p:cNvPr id="32" name="TextBox 32"/>
          <p:cNvSpPr txBox="1"/>
          <p:nvPr/>
        </p:nvSpPr>
        <p:spPr>
          <a:xfrm>
            <a:off x="7420928" y="3062764"/>
            <a:ext cx="3469148" cy="228600"/>
          </a:xfrm>
          <a:prstGeom prst="rect">
            <a:avLst/>
          </a:prstGeom>
          <a:noFill/>
          <a:ln>
            <a:noFill/>
          </a:ln>
        </p:spPr>
        <p:txBody>
          <a:bodyPr wrap="none" lIns="0" tIns="0" rIns="0" bIns="0" anchor="t" anchorCtr="0">
            <a:spAutoFit/>
          </a:bodyPr>
          <a:lstStyle/>
          <a:p>
            <a:pPr algn="l"/>
            <a:r>
              <a:rPr lang="zh-CN" sz="1125" dirty="0">
                <a:solidFill>
                  <a:srgbClr val="17332D"/>
                </a:solidFill>
                <a:latin typeface="Arial"/>
                <a:ea typeface="Microsoft YaHei"/>
                <a:cs typeface="Arial"/>
              </a:rPr>
              <a:t>Top-ranked county right 16.1% of the time</a:t>
            </a:r>
          </a:p>
        </p:txBody>
      </p:sp>
      <p:sp>
        <p:nvSpPr>
          <p:cNvPr id="33" name="TextBox 33"/>
          <p:cNvSpPr txBox="1"/>
          <p:nvPr/>
        </p:nvSpPr>
        <p:spPr>
          <a:xfrm>
            <a:off x="7420928" y="3300889"/>
            <a:ext cx="1605915" cy="228600"/>
          </a:xfrm>
          <a:prstGeom prst="rect">
            <a:avLst/>
          </a:prstGeom>
          <a:noFill/>
          <a:ln>
            <a:noFill/>
          </a:ln>
        </p:spPr>
        <p:txBody>
          <a:bodyPr wrap="none" lIns="0" tIns="0" rIns="0" bIns="0" anchor="t" anchorCtr="0">
            <a:spAutoFit/>
          </a:bodyPr>
          <a:lstStyle/>
          <a:p>
            <a:pPr algn="l"/>
            <a:r>
              <a:rPr lang="zh-CN" sz="1125" dirty="0">
                <a:solidFill>
                  <a:srgbClr val="5F6670"/>
                </a:solidFill>
                <a:latin typeface="Arial"/>
                <a:ea typeface="Microsoft YaHei"/>
                <a:cs typeface="Arial"/>
              </a:rPr>
              <a:t>(random: about 1%)</a:t>
            </a:r>
          </a:p>
        </p:txBody>
      </p:sp>
      <p:sp>
        <p:nvSpPr>
          <p:cNvPr id="34" name="TextBox 34"/>
          <p:cNvSpPr txBox="1"/>
          <p:nvPr/>
        </p:nvSpPr>
        <p:spPr>
          <a:xfrm>
            <a:off x="7420928" y="3539014"/>
            <a:ext cx="2777419" cy="228600"/>
          </a:xfrm>
          <a:prstGeom prst="rect">
            <a:avLst/>
          </a:prstGeom>
          <a:noFill/>
          <a:ln>
            <a:noFill/>
          </a:ln>
        </p:spPr>
        <p:txBody>
          <a:bodyPr wrap="none" lIns="0" tIns="0" rIns="0" bIns="0" anchor="t" anchorCtr="0">
            <a:spAutoFit/>
          </a:bodyPr>
          <a:lstStyle/>
          <a:p>
            <a:pPr algn="l"/>
            <a:r>
              <a:rPr lang="zh-CN" sz="1125" dirty="0">
                <a:solidFill>
                  <a:srgbClr val="17332D"/>
                </a:solidFill>
                <a:latin typeface="Arial"/>
                <a:ea typeface="Microsoft YaHei"/>
                <a:cs typeface="Arial"/>
              </a:rPr>
              <a:t>True county in the top 10%: 45.4%</a:t>
            </a:r>
          </a:p>
        </p:txBody>
      </p:sp>
      <p:sp>
        <p:nvSpPr>
          <p:cNvPr id="35" name="TextBox 35"/>
          <p:cNvSpPr txBox="1"/>
          <p:nvPr/>
        </p:nvSpPr>
        <p:spPr>
          <a:xfrm>
            <a:off x="7420928" y="3777139"/>
            <a:ext cx="3663029" cy="228600"/>
          </a:xfrm>
          <a:prstGeom prst="rect">
            <a:avLst/>
          </a:prstGeom>
          <a:noFill/>
          <a:ln>
            <a:noFill/>
          </a:ln>
        </p:spPr>
        <p:txBody>
          <a:bodyPr wrap="none" lIns="0" tIns="0" rIns="0" bIns="0" anchor="t" anchorCtr="0">
            <a:spAutoFit/>
          </a:bodyPr>
          <a:lstStyle/>
          <a:p>
            <a:pPr algn="l"/>
            <a:r>
              <a:rPr lang="zh-CN" sz="1125" dirty="0">
                <a:solidFill>
                  <a:srgbClr val="17332D"/>
                </a:solidFill>
                <a:latin typeface="Arial"/>
                <a:ea typeface="Microsoft YaHei"/>
                <a:cs typeface="Arial"/>
              </a:rPr>
              <a:t>Leave one province out: 27 of 29 beat random</a:t>
            </a:r>
          </a:p>
        </p:txBody>
      </p:sp>
      <p:sp>
        <p:nvSpPr>
          <p:cNvPr id="36" name="Rectangle 36"/>
          <p:cNvSpPr/>
          <p:nvPr/>
        </p:nvSpPr>
        <p:spPr>
          <a:xfrm>
            <a:off x="7244715" y="4788218"/>
            <a:ext cx="4566285" cy="1574482"/>
          </a:xfrm>
          <a:prstGeom prst="roundRect">
            <a:avLst>
              <a:gd name="adj" fmla="val 3630"/>
            </a:avLst>
          </a:prstGeom>
          <a:solidFill>
            <a:srgbClr val="FFFFFF"/>
          </a:solidFill>
          <a:ln w="9525">
            <a:solidFill>
              <a:srgbClr val="D6D3CD"/>
            </a:solidFill>
          </a:ln>
        </p:spPr>
      </p:sp>
      <p:sp>
        <p:nvSpPr>
          <p:cNvPr id="37" name="Rectangle 37"/>
          <p:cNvSpPr/>
          <p:nvPr/>
        </p:nvSpPr>
        <p:spPr>
          <a:xfrm>
            <a:off x="7244715" y="4788218"/>
            <a:ext cx="4566285" cy="38100"/>
          </a:xfrm>
          <a:prstGeom prst="rect">
            <a:avLst/>
          </a:prstGeom>
          <a:solidFill>
            <a:srgbClr val="B45309"/>
          </a:solidFill>
          <a:ln>
            <a:noFill/>
          </a:ln>
        </p:spPr>
      </p:sp>
      <p:sp>
        <p:nvSpPr>
          <p:cNvPr id="38" name="TextBox 38"/>
          <p:cNvSpPr txBox="1"/>
          <p:nvPr/>
        </p:nvSpPr>
        <p:spPr>
          <a:xfrm>
            <a:off x="7419022" y="4964906"/>
            <a:ext cx="2827379" cy="259080"/>
          </a:xfrm>
          <a:prstGeom prst="rect">
            <a:avLst/>
          </a:prstGeom>
          <a:noFill/>
          <a:ln>
            <a:noFill/>
          </a:ln>
        </p:spPr>
        <p:txBody>
          <a:bodyPr wrap="none" lIns="0" tIns="0" rIns="0" bIns="0" anchor="t" anchorCtr="0">
            <a:spAutoFit/>
          </a:bodyPr>
          <a:lstStyle/>
          <a:p>
            <a:pPr algn="l"/>
            <a:r>
              <a:rPr lang="zh-CN" sz="1275" b="1" dirty="0">
                <a:solidFill>
                  <a:srgbClr val="B45309"/>
                </a:solidFill>
                <a:latin typeface="Arial"/>
                <a:ea typeface="Microsoft YaHei"/>
                <a:cs typeface="Arial"/>
              </a:rPr>
              <a:t>Birders will know these names</a:t>
            </a:r>
          </a:p>
        </p:txBody>
      </p:sp>
      <p:sp>
        <p:nvSpPr>
          <p:cNvPr id="39" name="TextBox 39"/>
          <p:cNvSpPr txBox="1"/>
          <p:nvPr/>
        </p:nvSpPr>
        <p:spPr>
          <a:xfrm>
            <a:off x="7420928" y="5257324"/>
            <a:ext cx="3152037" cy="228600"/>
          </a:xfrm>
          <a:prstGeom prst="rect">
            <a:avLst/>
          </a:prstGeom>
          <a:noFill/>
          <a:ln>
            <a:noFill/>
          </a:ln>
        </p:spPr>
        <p:txBody>
          <a:bodyPr wrap="none" lIns="0" tIns="0" rIns="0" bIns="0" anchor="t" anchorCtr="0">
            <a:spAutoFit/>
          </a:bodyPr>
          <a:lstStyle/>
          <a:p>
            <a:pPr algn="l"/>
            <a:r>
              <a:rPr lang="zh-CN" sz="1125" dirty="0">
                <a:solidFill>
                  <a:srgbClr val="17332D"/>
                </a:solidFill>
                <a:latin typeface="Arial"/>
                <a:ea typeface="Microsoft YaHei"/>
                <a:cs typeface="Arial"/>
              </a:rPr>
              <a:t>Medog · Pudong (Nanhui) · Chongming</a:t>
            </a:r>
          </a:p>
        </p:txBody>
      </p:sp>
      <p:sp>
        <p:nvSpPr>
          <p:cNvPr id="40" name="TextBox 40"/>
          <p:cNvSpPr txBox="1"/>
          <p:nvPr/>
        </p:nvSpPr>
        <p:spPr>
          <a:xfrm>
            <a:off x="7420928" y="5495449"/>
            <a:ext cx="2841498" cy="228600"/>
          </a:xfrm>
          <a:prstGeom prst="rect">
            <a:avLst/>
          </a:prstGeom>
          <a:noFill/>
          <a:ln>
            <a:noFill/>
          </a:ln>
        </p:spPr>
        <p:txBody>
          <a:bodyPr wrap="none" lIns="0" tIns="0" rIns="0" bIns="0" anchor="t" anchorCtr="0">
            <a:spAutoFit/>
          </a:bodyPr>
          <a:lstStyle/>
          <a:p>
            <a:pPr algn="l"/>
            <a:r>
              <a:rPr lang="zh-CN" sz="1125" dirty="0">
                <a:solidFill>
                  <a:srgbClr val="17332D"/>
                </a:solidFill>
                <a:latin typeface="Arial"/>
                <a:ea typeface="Microsoft YaHei"/>
                <a:cs typeface="Arial"/>
              </a:rPr>
              <a:t>Luoshan (Dongzhai) · Yang County</a:t>
            </a:r>
          </a:p>
        </p:txBody>
      </p:sp>
      <p:sp>
        <p:nvSpPr>
          <p:cNvPr id="41" name="TextBox 41"/>
          <p:cNvSpPr txBox="1"/>
          <p:nvPr/>
        </p:nvSpPr>
        <p:spPr>
          <a:xfrm>
            <a:off x="7420928" y="5733574"/>
            <a:ext cx="2203990" cy="228600"/>
          </a:xfrm>
          <a:prstGeom prst="rect">
            <a:avLst/>
          </a:prstGeom>
          <a:noFill/>
          <a:ln>
            <a:noFill/>
          </a:ln>
        </p:spPr>
        <p:txBody>
          <a:bodyPr wrap="none" lIns="0" tIns="0" rIns="0" bIns="0" anchor="t" anchorCtr="0">
            <a:spAutoFit/>
          </a:bodyPr>
          <a:lstStyle/>
          <a:p>
            <a:pPr algn="l"/>
            <a:r>
              <a:rPr lang="zh-CN" sz="1125" dirty="0">
                <a:solidFill>
                  <a:srgbClr val="B45309"/>
                </a:solidFill>
                <a:latin typeface="Arial"/>
                <a:ea typeface="Microsoft YaHei"/>
                <a:cs typeface="Arial"/>
              </a:rPr>
              <a:t>— the model was never told</a:t>
            </a:r>
          </a:p>
        </p:txBody>
      </p:sp>
    </p:spTree>
  </p:cSld>
  <p:clrMapOvr>
    <a:masterClrMapping/>
  </p:clrMapOvr>
  <p:transition xmlns:p14="http://schemas.microsoft.com/office/powerpoint/2010/main" p14:dur="400">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BFAF7"/>
          </a:solidFill>
          <a:ln>
            <a:noFill/>
          </a:ln>
        </p:spPr>
      </p:sp>
      <p:sp>
        <p:nvSpPr>
          <p:cNvPr id="3" name="Rectangle 3"/>
          <p:cNvSpPr/>
          <p:nvPr/>
        </p:nvSpPr>
        <p:spPr>
          <a:xfrm>
            <a:off x="0" y="0"/>
            <a:ext cx="609600" cy="6858000"/>
          </a:xfrm>
          <a:prstGeom prst="rect">
            <a:avLst/>
          </a:prstGeom>
          <a:solidFill>
            <a:srgbClr val="1F4E45"/>
          </a:solidFill>
          <a:ln>
            <a:noFill/>
          </a:ln>
        </p:spPr>
      </p:sp>
      <p:sp>
        <p:nvSpPr>
          <p:cNvPr id="4" name="Ellipse 4"/>
          <p:cNvSpPr/>
          <p:nvPr/>
        </p:nvSpPr>
        <p:spPr>
          <a:xfrm>
            <a:off x="272415" y="1091565"/>
            <a:ext cx="64770" cy="64770"/>
          </a:xfrm>
          <a:prstGeom prst="ellipse">
            <a:avLst/>
          </a:prstGeom>
          <a:solidFill>
            <a:srgbClr val="FFFFFF">
              <a:alpha val="42000"/>
            </a:srgbClr>
          </a:solidFill>
          <a:ln>
            <a:noFill/>
          </a:ln>
        </p:spPr>
      </p:sp>
      <p:sp>
        <p:nvSpPr>
          <p:cNvPr id="5" name="TextBox 5"/>
          <p:cNvSpPr txBox="1"/>
          <p:nvPr/>
        </p:nvSpPr>
        <p:spPr>
          <a:xfrm>
            <a:off x="17336" y="1245870"/>
            <a:ext cx="574929" cy="182880"/>
          </a:xfrm>
          <a:prstGeom prst="rect">
            <a:avLst/>
          </a:prstGeom>
          <a:noFill/>
          <a:ln>
            <a:noFill/>
          </a:ln>
        </p:spPr>
        <p:txBody>
          <a:bodyPr wrap="none" lIns="0" tIns="0" rIns="0" bIns="0" anchor="t" anchorCtr="0">
            <a:spAutoFit/>
          </a:bodyPr>
          <a:lstStyle/>
          <a:p>
            <a:pPr algn="ctr"/>
            <a:r>
              <a:rPr lang="zh-CN" sz="900" dirty="0">
                <a:solidFill>
                  <a:srgbClr val="FFFFFF">
                    <a:alphaMod val="60000"/>
                  </a:srgbClr>
                </a:solidFill>
                <a:latin typeface="Arial"/>
                <a:ea typeface="Microsoft YaHei"/>
                <a:cs typeface="Arial"/>
              </a:rPr>
              <a:t>Question</a:t>
            </a:r>
          </a:p>
        </p:txBody>
      </p:sp>
      <p:sp>
        <p:nvSpPr>
          <p:cNvPr id="6" name="Ellipse 6"/>
          <p:cNvSpPr/>
          <p:nvPr/>
        </p:nvSpPr>
        <p:spPr>
          <a:xfrm>
            <a:off x="272415" y="1948815"/>
            <a:ext cx="64770" cy="64770"/>
          </a:xfrm>
          <a:prstGeom prst="ellipse">
            <a:avLst/>
          </a:prstGeom>
          <a:solidFill>
            <a:srgbClr val="FFFFFF">
              <a:alpha val="42000"/>
            </a:srgbClr>
          </a:solidFill>
          <a:ln>
            <a:noFill/>
          </a:ln>
        </p:spPr>
      </p:sp>
      <p:sp>
        <p:nvSpPr>
          <p:cNvPr id="7" name="TextBox 7"/>
          <p:cNvSpPr txBox="1"/>
          <p:nvPr/>
        </p:nvSpPr>
        <p:spPr>
          <a:xfrm>
            <a:off x="146152" y="2103120"/>
            <a:ext cx="317297" cy="182880"/>
          </a:xfrm>
          <a:prstGeom prst="rect">
            <a:avLst/>
          </a:prstGeom>
          <a:noFill/>
          <a:ln>
            <a:noFill/>
          </a:ln>
        </p:spPr>
        <p:txBody>
          <a:bodyPr wrap="none" lIns="0" tIns="0" rIns="0" bIns="0" anchor="t" anchorCtr="0">
            <a:spAutoFit/>
          </a:bodyPr>
          <a:lstStyle/>
          <a:p>
            <a:pPr algn="ctr"/>
            <a:r>
              <a:rPr lang="zh-CN" sz="900" dirty="0">
                <a:solidFill>
                  <a:srgbClr val="FFFFFF">
                    <a:alphaMod val="60000"/>
                  </a:srgbClr>
                </a:solidFill>
                <a:latin typeface="Arial"/>
                <a:ea typeface="Microsoft YaHei"/>
                <a:cs typeface="Arial"/>
              </a:rPr>
              <a:t>Data</a:t>
            </a:r>
          </a:p>
        </p:txBody>
      </p:sp>
      <p:sp>
        <p:nvSpPr>
          <p:cNvPr id="8" name="Ellipse 8"/>
          <p:cNvSpPr/>
          <p:nvPr/>
        </p:nvSpPr>
        <p:spPr>
          <a:xfrm>
            <a:off x="272415" y="2806065"/>
            <a:ext cx="64770" cy="64770"/>
          </a:xfrm>
          <a:prstGeom prst="ellipse">
            <a:avLst/>
          </a:prstGeom>
          <a:solidFill>
            <a:srgbClr val="FFFFFF">
              <a:alpha val="42000"/>
            </a:srgbClr>
          </a:solidFill>
          <a:ln>
            <a:noFill/>
          </a:ln>
        </p:spPr>
      </p:sp>
      <p:sp>
        <p:nvSpPr>
          <p:cNvPr id="9" name="TextBox 9"/>
          <p:cNvSpPr txBox="1"/>
          <p:nvPr/>
        </p:nvSpPr>
        <p:spPr>
          <a:xfrm>
            <a:off x="35738" y="2960370"/>
            <a:ext cx="538124" cy="182880"/>
          </a:xfrm>
          <a:prstGeom prst="rect">
            <a:avLst/>
          </a:prstGeom>
          <a:noFill/>
          <a:ln>
            <a:noFill/>
          </a:ln>
        </p:spPr>
        <p:txBody>
          <a:bodyPr wrap="none" lIns="0" tIns="0" rIns="0" bIns="0" anchor="t" anchorCtr="0">
            <a:spAutoFit/>
          </a:bodyPr>
          <a:lstStyle/>
          <a:p>
            <a:pPr algn="ctr"/>
            <a:r>
              <a:rPr lang="zh-CN" sz="900" dirty="0">
                <a:solidFill>
                  <a:srgbClr val="FFFFFF">
                    <a:alphaMod val="60000"/>
                  </a:srgbClr>
                </a:solidFill>
                <a:latin typeface="Arial"/>
                <a:ea typeface="Microsoft YaHei"/>
                <a:cs typeface="Arial"/>
              </a:rPr>
              <a:t>Findings</a:t>
            </a:r>
          </a:p>
        </p:txBody>
      </p:sp>
      <p:sp>
        <p:nvSpPr>
          <p:cNvPr id="10" name="Ellipse 10"/>
          <p:cNvSpPr/>
          <p:nvPr/>
        </p:nvSpPr>
        <p:spPr>
          <a:xfrm>
            <a:off x="272415" y="3663315"/>
            <a:ext cx="64770" cy="64770"/>
          </a:xfrm>
          <a:prstGeom prst="ellipse">
            <a:avLst/>
          </a:prstGeom>
          <a:solidFill>
            <a:srgbClr val="FFFFFF">
              <a:alpha val="42000"/>
            </a:srgbClr>
          </a:solidFill>
          <a:ln>
            <a:noFill/>
          </a:ln>
        </p:spPr>
      </p:sp>
      <p:sp>
        <p:nvSpPr>
          <p:cNvPr id="11" name="TextBox 11"/>
          <p:cNvSpPr txBox="1"/>
          <p:nvPr/>
        </p:nvSpPr>
        <p:spPr>
          <a:xfrm>
            <a:off x="72542" y="3817620"/>
            <a:ext cx="464515" cy="182880"/>
          </a:xfrm>
          <a:prstGeom prst="rect">
            <a:avLst/>
          </a:prstGeom>
          <a:noFill/>
          <a:ln>
            <a:noFill/>
          </a:ln>
        </p:spPr>
        <p:txBody>
          <a:bodyPr wrap="none" lIns="0" tIns="0" rIns="0" bIns="0" anchor="t" anchorCtr="0">
            <a:spAutoFit/>
          </a:bodyPr>
          <a:lstStyle/>
          <a:p>
            <a:pPr algn="ctr"/>
            <a:r>
              <a:rPr lang="zh-CN" sz="900" dirty="0">
                <a:solidFill>
                  <a:srgbClr val="FFFFFF">
                    <a:alphaMod val="60000"/>
                  </a:srgbClr>
                </a:solidFill>
                <a:latin typeface="Arial"/>
                <a:ea typeface="Microsoft YaHei"/>
                <a:cs typeface="Arial"/>
              </a:rPr>
              <a:t>Robust</a:t>
            </a:r>
          </a:p>
        </p:txBody>
      </p:sp>
      <p:sp>
        <p:nvSpPr>
          <p:cNvPr id="12" name="Ellipse 12"/>
          <p:cNvSpPr/>
          <p:nvPr/>
        </p:nvSpPr>
        <p:spPr>
          <a:xfrm>
            <a:off x="257175" y="4505325"/>
            <a:ext cx="95250" cy="95250"/>
          </a:xfrm>
          <a:prstGeom prst="ellipse">
            <a:avLst/>
          </a:prstGeom>
          <a:solidFill>
            <a:srgbClr val="FFFFFF"/>
          </a:solidFill>
          <a:ln>
            <a:noFill/>
          </a:ln>
        </p:spPr>
      </p:sp>
      <p:sp>
        <p:nvSpPr>
          <p:cNvPr id="13" name="TextBox 13"/>
          <p:cNvSpPr txBox="1"/>
          <p:nvPr/>
        </p:nvSpPr>
        <p:spPr>
          <a:xfrm>
            <a:off x="146152" y="4674870"/>
            <a:ext cx="317297" cy="182880"/>
          </a:xfrm>
          <a:prstGeom prst="rect">
            <a:avLst/>
          </a:prstGeom>
          <a:noFill/>
          <a:ln>
            <a:noFill/>
          </a:ln>
        </p:spPr>
        <p:txBody>
          <a:bodyPr wrap="none" lIns="0" tIns="0" rIns="0" bIns="0" anchor="t" anchorCtr="0">
            <a:spAutoFit/>
          </a:bodyPr>
          <a:lstStyle/>
          <a:p>
            <a:pPr algn="ctr"/>
            <a:r>
              <a:rPr lang="zh-CN" sz="900" dirty="0">
                <a:solidFill>
                  <a:srgbClr val="FFFFFF"/>
                </a:solidFill>
                <a:latin typeface="Arial"/>
                <a:ea typeface="Microsoft YaHei"/>
                <a:cs typeface="Arial"/>
              </a:rPr>
              <a:t>Uses</a:t>
            </a:r>
          </a:p>
        </p:txBody>
      </p:sp>
      <p:sp>
        <p:nvSpPr>
          <p:cNvPr id="14" name="Ellipse 14"/>
          <p:cNvSpPr/>
          <p:nvPr/>
        </p:nvSpPr>
        <p:spPr>
          <a:xfrm>
            <a:off x="272415" y="5377815"/>
            <a:ext cx="64770" cy="64770"/>
          </a:xfrm>
          <a:prstGeom prst="ellipse">
            <a:avLst/>
          </a:prstGeom>
          <a:solidFill>
            <a:srgbClr val="FFFFFF">
              <a:alpha val="42000"/>
            </a:srgbClr>
          </a:solidFill>
          <a:ln>
            <a:noFill/>
          </a:ln>
        </p:spPr>
      </p:sp>
      <p:sp>
        <p:nvSpPr>
          <p:cNvPr id="15" name="TextBox 15"/>
          <p:cNvSpPr txBox="1"/>
          <p:nvPr/>
        </p:nvSpPr>
        <p:spPr>
          <a:xfrm>
            <a:off x="16678" y="5532120"/>
            <a:ext cx="576243" cy="182880"/>
          </a:xfrm>
          <a:prstGeom prst="rect">
            <a:avLst/>
          </a:prstGeom>
          <a:noFill/>
          <a:ln>
            <a:noFill/>
          </a:ln>
        </p:spPr>
        <p:txBody>
          <a:bodyPr wrap="none" lIns="0" tIns="0" rIns="0" bIns="0" anchor="t" anchorCtr="0">
            <a:spAutoFit/>
          </a:bodyPr>
          <a:lstStyle/>
          <a:p>
            <a:pPr algn="ctr"/>
            <a:r>
              <a:rPr lang="zh-CN" sz="900" dirty="0">
                <a:solidFill>
                  <a:srgbClr val="FFFFFF">
                    <a:alphaMod val="60000"/>
                  </a:srgbClr>
                </a:solidFill>
                <a:latin typeface="Arial"/>
                <a:ea typeface="Microsoft YaHei"/>
                <a:cs typeface="Arial"/>
              </a:rPr>
              <a:t>Wrap-up</a:t>
            </a:r>
          </a:p>
        </p:txBody>
      </p:sp>
      <p:sp>
        <p:nvSpPr>
          <p:cNvPr id="16" name="Rectangle 16"/>
          <p:cNvSpPr/>
          <p:nvPr/>
        </p:nvSpPr>
        <p:spPr>
          <a:xfrm>
            <a:off x="914400" y="304800"/>
            <a:ext cx="419100" cy="47625"/>
          </a:xfrm>
          <a:prstGeom prst="rect">
            <a:avLst/>
          </a:prstGeom>
          <a:solidFill>
            <a:srgbClr val="B45309"/>
          </a:solidFill>
          <a:ln>
            <a:noFill/>
          </a:ln>
        </p:spPr>
      </p:sp>
      <p:sp>
        <p:nvSpPr>
          <p:cNvPr id="17" name="TextBox 17"/>
          <p:cNvSpPr txBox="1"/>
          <p:nvPr/>
        </p:nvSpPr>
        <p:spPr>
          <a:xfrm>
            <a:off x="889635" y="456248"/>
            <a:ext cx="10712121" cy="396240"/>
          </a:xfrm>
          <a:prstGeom prst="rect">
            <a:avLst/>
          </a:prstGeom>
          <a:noFill/>
          <a:ln>
            <a:noFill/>
          </a:ln>
        </p:spPr>
        <p:txBody>
          <a:bodyPr wrap="none" lIns="0" tIns="0" rIns="0" bIns="0" anchor="t" anchorCtr="0">
            <a:spAutoFit/>
          </a:bodyPr>
          <a:lstStyle/>
          <a:p>
            <a:pPr algn="l"/>
            <a:r>
              <a:rPr lang="zh-CN" sz="1950" b="1" dirty="0">
                <a:solidFill>
                  <a:srgbClr val="17332D"/>
                </a:solidFill>
                <a:latin typeface="Arial"/>
                <a:ea typeface="Microsoft YaHei"/>
                <a:cs typeface="Arial"/>
              </a:rPr>
              <a:t>Province, prefecture and county maps from one consistent model (2024)</a:t>
            </a:r>
          </a:p>
        </p:txBody>
      </p:sp>
      <p:sp>
        <p:nvSpPr>
          <p:cNvPr id="18" name="TextBox 18"/>
          <p:cNvSpPr txBox="1"/>
          <p:nvPr/>
        </p:nvSpPr>
        <p:spPr>
          <a:xfrm>
            <a:off x="10653370" y="283845"/>
            <a:ext cx="1169060" cy="182880"/>
          </a:xfrm>
          <a:prstGeom prst="rect">
            <a:avLst/>
          </a:prstGeom>
          <a:noFill/>
          <a:ln>
            <a:noFill/>
          </a:ln>
        </p:spPr>
        <p:txBody>
          <a:bodyPr wrap="none" lIns="0" tIns="0" rIns="0" bIns="0" anchor="t" anchorCtr="0">
            <a:spAutoFit/>
          </a:bodyPr>
          <a:lstStyle/>
          <a:p>
            <a:pPr algn="r"/>
            <a:r>
              <a:rPr lang="zh-CN" sz="900" dirty="0">
                <a:solidFill>
                  <a:srgbClr val="8A919B"/>
                </a:solidFill>
                <a:latin typeface="Arial"/>
                <a:ea typeface="Microsoft YaHei"/>
                <a:cs typeface="Arial"/>
              </a:rPr>
              <a:t>Repository module</a:t>
            </a:r>
          </a:p>
        </p:txBody>
      </p:sp>
      <p:sp>
        <p:nvSpPr>
          <p:cNvPr id="19" name="Line 19"/>
          <p:cNvSpPr/>
          <p:nvPr/>
        </p:nvSpPr>
        <p:spPr>
          <a:xfrm>
            <a:off x="914400" y="6515100"/>
            <a:ext cx="10896600" cy="9525"/>
          </a:xfrm>
          <a:custGeom>
            <a:avLst/>
            <a:gdLst/>
            <a:ahLst/>
            <a:cxnLst/>
            <a:rect l="l" t="t" r="r" b="b"/>
            <a:pathLst>
              <a:path w="10896600" h="9525">
                <a:moveTo>
                  <a:pt x="0" y="0"/>
                </a:moveTo>
                <a:lnTo>
                  <a:pt x="10896600" y="0"/>
                </a:lnTo>
              </a:path>
            </a:pathLst>
          </a:custGeom>
          <a:noFill/>
          <a:ln w="9525">
            <a:solidFill>
              <a:srgbClr val="D6D3CD"/>
            </a:solidFill>
          </a:ln>
        </p:spPr>
      </p:sp>
      <p:sp>
        <p:nvSpPr>
          <p:cNvPr id="20" name="TextBox 20"/>
          <p:cNvSpPr txBox="1"/>
          <p:nvPr/>
        </p:nvSpPr>
        <p:spPr>
          <a:xfrm>
            <a:off x="902970" y="6617970"/>
            <a:ext cx="2609698" cy="182880"/>
          </a:xfrm>
          <a:prstGeom prst="rect">
            <a:avLst/>
          </a:prstGeom>
          <a:noFill/>
          <a:ln>
            <a:noFill/>
          </a:ln>
        </p:spPr>
        <p:txBody>
          <a:bodyPr wrap="none" lIns="0" tIns="0" rIns="0" bIns="0" anchor="t" anchorCtr="0">
            <a:spAutoFit/>
          </a:bodyPr>
          <a:lstStyle/>
          <a:p>
            <a:pPr algn="l"/>
            <a:r>
              <a:rPr lang="zh-CN" sz="900" dirty="0">
                <a:solidFill>
                  <a:srgbClr val="8A919B"/>
                </a:solidFill>
                <a:latin typeface="Arial"/>
                <a:ea typeface="Microsoft YaHei"/>
                <a:cs typeface="Arial"/>
              </a:rPr>
              <a:t>Birds or birders? · AOC 2026, Singapore</a:t>
            </a:r>
          </a:p>
        </p:txBody>
      </p:sp>
      <p:sp>
        <p:nvSpPr>
          <p:cNvPr id="21" name="TextBox 21"/>
          <p:cNvSpPr txBox="1"/>
          <p:nvPr/>
        </p:nvSpPr>
        <p:spPr>
          <a:xfrm>
            <a:off x="11352657" y="6617970"/>
            <a:ext cx="469773" cy="182880"/>
          </a:xfrm>
          <a:prstGeom prst="rect">
            <a:avLst/>
          </a:prstGeom>
          <a:noFill/>
          <a:ln>
            <a:noFill/>
          </a:ln>
        </p:spPr>
        <p:txBody>
          <a:bodyPr wrap="none" lIns="0" tIns="0" rIns="0" bIns="0" anchor="t" anchorCtr="0">
            <a:spAutoFit/>
          </a:bodyPr>
          <a:lstStyle/>
          <a:p>
            <a:pPr algn="r"/>
            <a:r>
              <a:rPr lang="zh-CN" sz="900" dirty="0">
                <a:solidFill>
                  <a:srgbClr val="5F6670"/>
                </a:solidFill>
                <a:latin typeface="Arial"/>
                <a:ea typeface="Microsoft YaHei"/>
                <a:cs typeface="Arial"/>
              </a:rPr>
              <a:t>14 / 20</a:t>
            </a:r>
          </a:p>
        </p:txBody>
      </p:sp>
      <p:sp>
        <p:nvSpPr>
          <p:cNvPr id="22" name="Rectangle 22"/>
          <p:cNvSpPr/>
          <p:nvPr/>
        </p:nvSpPr>
        <p:spPr>
          <a:xfrm>
            <a:off x="1528762" y="876300"/>
            <a:ext cx="9668828" cy="4343400"/>
          </a:xfrm>
          <a:prstGeom prst="roundRect">
            <a:avLst>
              <a:gd name="adj" fmla="val 1316"/>
            </a:avLst>
          </a:prstGeom>
          <a:solidFill>
            <a:srgbClr val="FFFFFF"/>
          </a:solidFill>
          <a:ln w="9525">
            <a:solidFill>
              <a:srgbClr val="D6D3CD"/>
            </a:solidFill>
          </a:ln>
        </p:spPr>
      </p:sp>
      <p:pic>
        <p:nvPicPr>
          <p:cNvPr id="23" name="Image 23"/>
          <p:cNvPicPr>
            <a:picLocks noChangeAspect="1"/>
          </p:cNvPicPr>
          <p:nvPr/>
        </p:nvPicPr>
        <p:blipFill>
          <a:blip r:embed="rId2"/>
          <a:stretch>
            <a:fillRect/>
          </a:stretch>
        </p:blipFill>
        <p:spPr>
          <a:xfrm>
            <a:off x="1604962" y="952500"/>
            <a:ext cx="9516428" cy="4191000"/>
          </a:xfrm>
          <a:prstGeom prst="rect">
            <a:avLst/>
          </a:prstGeom>
        </p:spPr>
      </p:pic>
      <p:sp>
        <p:nvSpPr>
          <p:cNvPr id="24" name="Rectangle 24"/>
          <p:cNvSpPr/>
          <p:nvPr/>
        </p:nvSpPr>
        <p:spPr>
          <a:xfrm>
            <a:off x="914400" y="5391150"/>
            <a:ext cx="5295900" cy="1000125"/>
          </a:xfrm>
          <a:prstGeom prst="roundRect">
            <a:avLst>
              <a:gd name="adj" fmla="val 5714"/>
            </a:avLst>
          </a:prstGeom>
          <a:solidFill>
            <a:srgbClr val="FFFFFF"/>
          </a:solidFill>
          <a:ln w="9525">
            <a:solidFill>
              <a:srgbClr val="D6D3CD"/>
            </a:solidFill>
          </a:ln>
        </p:spPr>
      </p:sp>
      <p:sp>
        <p:nvSpPr>
          <p:cNvPr id="25" name="Rectangle 25"/>
          <p:cNvSpPr/>
          <p:nvPr/>
        </p:nvSpPr>
        <p:spPr>
          <a:xfrm>
            <a:off x="914400" y="5391150"/>
            <a:ext cx="5295900" cy="38100"/>
          </a:xfrm>
          <a:prstGeom prst="rect">
            <a:avLst/>
          </a:prstGeom>
          <a:solidFill>
            <a:srgbClr val="1F4E45"/>
          </a:solidFill>
          <a:ln>
            <a:noFill/>
          </a:ln>
        </p:spPr>
      </p:sp>
      <p:sp>
        <p:nvSpPr>
          <p:cNvPr id="26" name="TextBox 26"/>
          <p:cNvSpPr txBox="1"/>
          <p:nvPr/>
        </p:nvSpPr>
        <p:spPr>
          <a:xfrm>
            <a:off x="1088708" y="5567839"/>
            <a:ext cx="2266801" cy="259080"/>
          </a:xfrm>
          <a:prstGeom prst="rect">
            <a:avLst/>
          </a:prstGeom>
          <a:noFill/>
          <a:ln>
            <a:noFill/>
          </a:ln>
        </p:spPr>
        <p:txBody>
          <a:bodyPr wrap="none" lIns="0" tIns="0" rIns="0" bIns="0" anchor="t" anchorCtr="0">
            <a:spAutoFit/>
          </a:bodyPr>
          <a:lstStyle/>
          <a:p>
            <a:pPr algn="l"/>
            <a:r>
              <a:rPr lang="zh-CN" sz="1275" b="1" dirty="0">
                <a:solidFill>
                  <a:srgbClr val="1F4E45"/>
                </a:solidFill>
                <a:latin typeface="Arial"/>
                <a:ea typeface="Microsoft YaHei"/>
                <a:cs typeface="Arial"/>
              </a:rPr>
              <a:t>One model, three scales</a:t>
            </a:r>
          </a:p>
        </p:txBody>
      </p:sp>
      <p:sp>
        <p:nvSpPr>
          <p:cNvPr id="27" name="TextBox 27"/>
          <p:cNvSpPr txBox="1"/>
          <p:nvPr/>
        </p:nvSpPr>
        <p:spPr>
          <a:xfrm>
            <a:off x="1090612" y="5860256"/>
            <a:ext cx="3676174" cy="228600"/>
          </a:xfrm>
          <a:prstGeom prst="rect">
            <a:avLst/>
          </a:prstGeom>
          <a:noFill/>
          <a:ln>
            <a:noFill/>
          </a:ln>
        </p:spPr>
        <p:txBody>
          <a:bodyPr wrap="none" lIns="0" tIns="0" rIns="0" bIns="0" anchor="t" anchorCtr="0">
            <a:spAutoFit/>
          </a:bodyPr>
          <a:lstStyle/>
          <a:p>
            <a:pPr algn="l"/>
            <a:r>
              <a:rPr lang="zh-CN" sz="1125" dirty="0">
                <a:solidFill>
                  <a:srgbClr val="17332D"/>
                </a:solidFill>
                <a:latin typeface="Arial"/>
                <a:ea typeface="Microsoft YaHei"/>
                <a:cs typeface="Arial"/>
              </a:rPr>
              <a:t>Expected records (province) × share (unit)</a:t>
            </a:r>
          </a:p>
        </p:txBody>
      </p:sp>
      <p:sp>
        <p:nvSpPr>
          <p:cNvPr id="28" name="TextBox 28"/>
          <p:cNvSpPr txBox="1"/>
          <p:nvPr/>
        </p:nvSpPr>
        <p:spPr>
          <a:xfrm>
            <a:off x="1090612" y="6098381"/>
            <a:ext cx="3842123" cy="228600"/>
          </a:xfrm>
          <a:prstGeom prst="rect">
            <a:avLst/>
          </a:prstGeom>
          <a:noFill/>
          <a:ln>
            <a:noFill/>
          </a:ln>
        </p:spPr>
        <p:txBody>
          <a:bodyPr wrap="none" lIns="0" tIns="0" rIns="0" bIns="0" anchor="t" anchorCtr="0">
            <a:spAutoFit/>
          </a:bodyPr>
          <a:lstStyle/>
          <a:p>
            <a:pPr algn="l"/>
            <a:r>
              <a:rPr lang="zh-CN" sz="1125" dirty="0">
                <a:solidFill>
                  <a:srgbClr val="5F6670"/>
                </a:solidFill>
                <a:latin typeface="Arial"/>
                <a:ea typeface="Microsoft YaHei"/>
                <a:cs typeface="Arial"/>
              </a:rPr>
              <a:t>371 prefectures · 2,835 counties · log colour</a:t>
            </a:r>
          </a:p>
        </p:txBody>
      </p:sp>
      <p:sp>
        <p:nvSpPr>
          <p:cNvPr id="29" name="Rectangle 29"/>
          <p:cNvSpPr/>
          <p:nvPr/>
        </p:nvSpPr>
        <p:spPr>
          <a:xfrm>
            <a:off x="6515100" y="5391150"/>
            <a:ext cx="5295900" cy="1000125"/>
          </a:xfrm>
          <a:prstGeom prst="roundRect">
            <a:avLst>
              <a:gd name="adj" fmla="val 5714"/>
            </a:avLst>
          </a:prstGeom>
          <a:solidFill>
            <a:srgbClr val="FFFFFF"/>
          </a:solidFill>
          <a:ln w="9525">
            <a:solidFill>
              <a:srgbClr val="D6D3CD"/>
            </a:solidFill>
          </a:ln>
        </p:spPr>
      </p:sp>
      <p:sp>
        <p:nvSpPr>
          <p:cNvPr id="30" name="Rectangle 30"/>
          <p:cNvSpPr/>
          <p:nvPr/>
        </p:nvSpPr>
        <p:spPr>
          <a:xfrm>
            <a:off x="6515100" y="5391150"/>
            <a:ext cx="5295900" cy="38100"/>
          </a:xfrm>
          <a:prstGeom prst="rect">
            <a:avLst/>
          </a:prstGeom>
          <a:solidFill>
            <a:srgbClr val="0072B2"/>
          </a:solidFill>
          <a:ln>
            <a:noFill/>
          </a:ln>
        </p:spPr>
      </p:sp>
      <p:sp>
        <p:nvSpPr>
          <p:cNvPr id="31" name="TextBox 31"/>
          <p:cNvSpPr txBox="1"/>
          <p:nvPr/>
        </p:nvSpPr>
        <p:spPr>
          <a:xfrm>
            <a:off x="6689408" y="5567839"/>
            <a:ext cx="4003803" cy="259080"/>
          </a:xfrm>
          <a:prstGeom prst="rect">
            <a:avLst/>
          </a:prstGeom>
          <a:noFill/>
          <a:ln>
            <a:noFill/>
          </a:ln>
        </p:spPr>
        <p:txBody>
          <a:bodyPr wrap="none" lIns="0" tIns="0" rIns="0" bIns="0" anchor="t" anchorCtr="0">
            <a:spAutoFit/>
          </a:bodyPr>
          <a:lstStyle/>
          <a:p>
            <a:pPr algn="l"/>
            <a:r>
              <a:rPr lang="zh-CN" sz="1275" b="1" dirty="0">
                <a:solidFill>
                  <a:srgbClr val="0072B2"/>
                </a:solidFill>
                <a:latin typeface="Arial"/>
                <a:ea typeface="Microsoft YaHei"/>
                <a:cs typeface="Arial"/>
              </a:rPr>
              <a:t>Change the model family: maps barely move</a:t>
            </a:r>
          </a:p>
        </p:txBody>
      </p:sp>
      <p:sp>
        <p:nvSpPr>
          <p:cNvPr id="32" name="TextBox 32"/>
          <p:cNvSpPr txBox="1"/>
          <p:nvPr/>
        </p:nvSpPr>
        <p:spPr>
          <a:xfrm>
            <a:off x="6691312" y="5860256"/>
            <a:ext cx="3285125" cy="228600"/>
          </a:xfrm>
          <a:prstGeom prst="rect">
            <a:avLst/>
          </a:prstGeom>
          <a:noFill/>
          <a:ln>
            <a:noFill/>
          </a:ln>
        </p:spPr>
        <p:txBody>
          <a:bodyPr wrap="none" lIns="0" tIns="0" rIns="0" bIns="0" anchor="t" anchorCtr="0">
            <a:spAutoFit/>
          </a:bodyPr>
          <a:lstStyle/>
          <a:p>
            <a:pPr algn="l"/>
            <a:r>
              <a:rPr lang="zh-CN" sz="1125" dirty="0">
                <a:solidFill>
                  <a:srgbClr val="17332D"/>
                </a:solidFill>
                <a:latin typeface="Arial"/>
                <a:ea typeface="Microsoft YaHei"/>
                <a:cs typeface="Arial"/>
              </a:rPr>
              <a:t>Random forest / XGBoost: ρ = 0.62–0.90</a:t>
            </a:r>
          </a:p>
        </p:txBody>
      </p:sp>
      <p:sp>
        <p:nvSpPr>
          <p:cNvPr id="33" name="TextBox 33"/>
          <p:cNvSpPr txBox="1"/>
          <p:nvPr/>
        </p:nvSpPr>
        <p:spPr>
          <a:xfrm>
            <a:off x="6691312" y="6098381"/>
            <a:ext cx="3143822" cy="228600"/>
          </a:xfrm>
          <a:prstGeom prst="rect">
            <a:avLst/>
          </a:prstGeom>
          <a:noFill/>
          <a:ln>
            <a:noFill/>
          </a:ln>
        </p:spPr>
        <p:txBody>
          <a:bodyPr wrap="none" lIns="0" tIns="0" rIns="0" bIns="0" anchor="t" anchorCtr="0">
            <a:spAutoFit/>
          </a:bodyPr>
          <a:lstStyle/>
          <a:p>
            <a:pPr algn="l"/>
            <a:r>
              <a:rPr lang="zh-CN" sz="1125" dirty="0">
                <a:solidFill>
                  <a:srgbClr val="5F6670"/>
                </a:solidFill>
                <a:latin typeface="Arial"/>
                <a:ea typeface="Microsoft YaHei"/>
                <a:cs typeface="Arial"/>
              </a:rPr>
              <a:t>Differences sit in the low-effort west</a:t>
            </a:r>
          </a:p>
        </p:txBody>
      </p:sp>
    </p:spTree>
  </p:cSld>
  <p:clrMapOvr>
    <a:masterClrMapping/>
  </p:clrMapOvr>
  <p:transition xmlns:p14="http://schemas.microsoft.com/office/powerpoint/2010/main" p14:dur="400">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BFAF7"/>
          </a:solidFill>
          <a:ln>
            <a:noFill/>
          </a:ln>
        </p:spPr>
      </p:sp>
      <p:sp>
        <p:nvSpPr>
          <p:cNvPr id="3" name="Rectangle 3"/>
          <p:cNvSpPr/>
          <p:nvPr/>
        </p:nvSpPr>
        <p:spPr>
          <a:xfrm>
            <a:off x="0" y="0"/>
            <a:ext cx="609600" cy="6858000"/>
          </a:xfrm>
          <a:prstGeom prst="rect">
            <a:avLst/>
          </a:prstGeom>
          <a:solidFill>
            <a:srgbClr val="1F4E45"/>
          </a:solidFill>
          <a:ln>
            <a:noFill/>
          </a:ln>
        </p:spPr>
      </p:sp>
      <p:sp>
        <p:nvSpPr>
          <p:cNvPr id="4" name="Ellipse 4"/>
          <p:cNvSpPr/>
          <p:nvPr/>
        </p:nvSpPr>
        <p:spPr>
          <a:xfrm>
            <a:off x="272415" y="1091565"/>
            <a:ext cx="64770" cy="64770"/>
          </a:xfrm>
          <a:prstGeom prst="ellipse">
            <a:avLst/>
          </a:prstGeom>
          <a:solidFill>
            <a:srgbClr val="FFFFFF">
              <a:alpha val="42000"/>
            </a:srgbClr>
          </a:solidFill>
          <a:ln>
            <a:noFill/>
          </a:ln>
        </p:spPr>
      </p:sp>
      <p:sp>
        <p:nvSpPr>
          <p:cNvPr id="5" name="TextBox 5"/>
          <p:cNvSpPr txBox="1"/>
          <p:nvPr/>
        </p:nvSpPr>
        <p:spPr>
          <a:xfrm>
            <a:off x="17336" y="1245870"/>
            <a:ext cx="574929" cy="182880"/>
          </a:xfrm>
          <a:prstGeom prst="rect">
            <a:avLst/>
          </a:prstGeom>
          <a:noFill/>
          <a:ln>
            <a:noFill/>
          </a:ln>
        </p:spPr>
        <p:txBody>
          <a:bodyPr wrap="none" lIns="0" tIns="0" rIns="0" bIns="0" anchor="t" anchorCtr="0">
            <a:spAutoFit/>
          </a:bodyPr>
          <a:lstStyle/>
          <a:p>
            <a:pPr algn="ctr"/>
            <a:r>
              <a:rPr lang="zh-CN" sz="900" dirty="0">
                <a:solidFill>
                  <a:srgbClr val="FFFFFF">
                    <a:alphaMod val="60000"/>
                  </a:srgbClr>
                </a:solidFill>
                <a:latin typeface="Arial"/>
                <a:ea typeface="Microsoft YaHei"/>
                <a:cs typeface="Arial"/>
              </a:rPr>
              <a:t>Question</a:t>
            </a:r>
          </a:p>
        </p:txBody>
      </p:sp>
      <p:sp>
        <p:nvSpPr>
          <p:cNvPr id="6" name="Ellipse 6"/>
          <p:cNvSpPr/>
          <p:nvPr/>
        </p:nvSpPr>
        <p:spPr>
          <a:xfrm>
            <a:off x="272415" y="1948815"/>
            <a:ext cx="64770" cy="64770"/>
          </a:xfrm>
          <a:prstGeom prst="ellipse">
            <a:avLst/>
          </a:prstGeom>
          <a:solidFill>
            <a:srgbClr val="FFFFFF">
              <a:alpha val="42000"/>
            </a:srgbClr>
          </a:solidFill>
          <a:ln>
            <a:noFill/>
          </a:ln>
        </p:spPr>
      </p:sp>
      <p:sp>
        <p:nvSpPr>
          <p:cNvPr id="7" name="TextBox 7"/>
          <p:cNvSpPr txBox="1"/>
          <p:nvPr/>
        </p:nvSpPr>
        <p:spPr>
          <a:xfrm>
            <a:off x="146152" y="2103120"/>
            <a:ext cx="317297" cy="182880"/>
          </a:xfrm>
          <a:prstGeom prst="rect">
            <a:avLst/>
          </a:prstGeom>
          <a:noFill/>
          <a:ln>
            <a:noFill/>
          </a:ln>
        </p:spPr>
        <p:txBody>
          <a:bodyPr wrap="none" lIns="0" tIns="0" rIns="0" bIns="0" anchor="t" anchorCtr="0">
            <a:spAutoFit/>
          </a:bodyPr>
          <a:lstStyle/>
          <a:p>
            <a:pPr algn="ctr"/>
            <a:r>
              <a:rPr lang="zh-CN" sz="900" dirty="0">
                <a:solidFill>
                  <a:srgbClr val="FFFFFF">
                    <a:alphaMod val="60000"/>
                  </a:srgbClr>
                </a:solidFill>
                <a:latin typeface="Arial"/>
                <a:ea typeface="Microsoft YaHei"/>
                <a:cs typeface="Arial"/>
              </a:rPr>
              <a:t>Data</a:t>
            </a:r>
          </a:p>
        </p:txBody>
      </p:sp>
      <p:sp>
        <p:nvSpPr>
          <p:cNvPr id="8" name="Ellipse 8"/>
          <p:cNvSpPr/>
          <p:nvPr/>
        </p:nvSpPr>
        <p:spPr>
          <a:xfrm>
            <a:off x="272415" y="2806065"/>
            <a:ext cx="64770" cy="64770"/>
          </a:xfrm>
          <a:prstGeom prst="ellipse">
            <a:avLst/>
          </a:prstGeom>
          <a:solidFill>
            <a:srgbClr val="FFFFFF">
              <a:alpha val="42000"/>
            </a:srgbClr>
          </a:solidFill>
          <a:ln>
            <a:noFill/>
          </a:ln>
        </p:spPr>
      </p:sp>
      <p:sp>
        <p:nvSpPr>
          <p:cNvPr id="9" name="TextBox 9"/>
          <p:cNvSpPr txBox="1"/>
          <p:nvPr/>
        </p:nvSpPr>
        <p:spPr>
          <a:xfrm>
            <a:off x="35738" y="2960370"/>
            <a:ext cx="538124" cy="182880"/>
          </a:xfrm>
          <a:prstGeom prst="rect">
            <a:avLst/>
          </a:prstGeom>
          <a:noFill/>
          <a:ln>
            <a:noFill/>
          </a:ln>
        </p:spPr>
        <p:txBody>
          <a:bodyPr wrap="none" lIns="0" tIns="0" rIns="0" bIns="0" anchor="t" anchorCtr="0">
            <a:spAutoFit/>
          </a:bodyPr>
          <a:lstStyle/>
          <a:p>
            <a:pPr algn="ctr"/>
            <a:r>
              <a:rPr lang="zh-CN" sz="900" dirty="0">
                <a:solidFill>
                  <a:srgbClr val="FFFFFF">
                    <a:alphaMod val="60000"/>
                  </a:srgbClr>
                </a:solidFill>
                <a:latin typeface="Arial"/>
                <a:ea typeface="Microsoft YaHei"/>
                <a:cs typeface="Arial"/>
              </a:rPr>
              <a:t>Findings</a:t>
            </a:r>
          </a:p>
        </p:txBody>
      </p:sp>
      <p:sp>
        <p:nvSpPr>
          <p:cNvPr id="10" name="Ellipse 10"/>
          <p:cNvSpPr/>
          <p:nvPr/>
        </p:nvSpPr>
        <p:spPr>
          <a:xfrm>
            <a:off x="272415" y="3663315"/>
            <a:ext cx="64770" cy="64770"/>
          </a:xfrm>
          <a:prstGeom prst="ellipse">
            <a:avLst/>
          </a:prstGeom>
          <a:solidFill>
            <a:srgbClr val="FFFFFF">
              <a:alpha val="42000"/>
            </a:srgbClr>
          </a:solidFill>
          <a:ln>
            <a:noFill/>
          </a:ln>
        </p:spPr>
      </p:sp>
      <p:sp>
        <p:nvSpPr>
          <p:cNvPr id="11" name="TextBox 11"/>
          <p:cNvSpPr txBox="1"/>
          <p:nvPr/>
        </p:nvSpPr>
        <p:spPr>
          <a:xfrm>
            <a:off x="72542" y="3817620"/>
            <a:ext cx="464515" cy="182880"/>
          </a:xfrm>
          <a:prstGeom prst="rect">
            <a:avLst/>
          </a:prstGeom>
          <a:noFill/>
          <a:ln>
            <a:noFill/>
          </a:ln>
        </p:spPr>
        <p:txBody>
          <a:bodyPr wrap="none" lIns="0" tIns="0" rIns="0" bIns="0" anchor="t" anchorCtr="0">
            <a:spAutoFit/>
          </a:bodyPr>
          <a:lstStyle/>
          <a:p>
            <a:pPr algn="ctr"/>
            <a:r>
              <a:rPr lang="zh-CN" sz="900" dirty="0">
                <a:solidFill>
                  <a:srgbClr val="FFFFFF">
                    <a:alphaMod val="60000"/>
                  </a:srgbClr>
                </a:solidFill>
                <a:latin typeface="Arial"/>
                <a:ea typeface="Microsoft YaHei"/>
                <a:cs typeface="Arial"/>
              </a:rPr>
              <a:t>Robust</a:t>
            </a:r>
          </a:p>
        </p:txBody>
      </p:sp>
      <p:sp>
        <p:nvSpPr>
          <p:cNvPr id="12" name="Ellipse 12"/>
          <p:cNvSpPr/>
          <p:nvPr/>
        </p:nvSpPr>
        <p:spPr>
          <a:xfrm>
            <a:off x="257175" y="4505325"/>
            <a:ext cx="95250" cy="95250"/>
          </a:xfrm>
          <a:prstGeom prst="ellipse">
            <a:avLst/>
          </a:prstGeom>
          <a:solidFill>
            <a:srgbClr val="FFFFFF"/>
          </a:solidFill>
          <a:ln>
            <a:noFill/>
          </a:ln>
        </p:spPr>
      </p:sp>
      <p:sp>
        <p:nvSpPr>
          <p:cNvPr id="13" name="TextBox 13"/>
          <p:cNvSpPr txBox="1"/>
          <p:nvPr/>
        </p:nvSpPr>
        <p:spPr>
          <a:xfrm>
            <a:off x="146152" y="4674870"/>
            <a:ext cx="317297" cy="182880"/>
          </a:xfrm>
          <a:prstGeom prst="rect">
            <a:avLst/>
          </a:prstGeom>
          <a:noFill/>
          <a:ln>
            <a:noFill/>
          </a:ln>
        </p:spPr>
        <p:txBody>
          <a:bodyPr wrap="none" lIns="0" tIns="0" rIns="0" bIns="0" anchor="t" anchorCtr="0">
            <a:spAutoFit/>
          </a:bodyPr>
          <a:lstStyle/>
          <a:p>
            <a:pPr algn="ctr"/>
            <a:r>
              <a:rPr lang="zh-CN" sz="900" dirty="0">
                <a:solidFill>
                  <a:srgbClr val="FFFFFF"/>
                </a:solidFill>
                <a:latin typeface="Arial"/>
                <a:ea typeface="Microsoft YaHei"/>
                <a:cs typeface="Arial"/>
              </a:rPr>
              <a:t>Uses</a:t>
            </a:r>
          </a:p>
        </p:txBody>
      </p:sp>
      <p:sp>
        <p:nvSpPr>
          <p:cNvPr id="14" name="Ellipse 14"/>
          <p:cNvSpPr/>
          <p:nvPr/>
        </p:nvSpPr>
        <p:spPr>
          <a:xfrm>
            <a:off x="272415" y="5377815"/>
            <a:ext cx="64770" cy="64770"/>
          </a:xfrm>
          <a:prstGeom prst="ellipse">
            <a:avLst/>
          </a:prstGeom>
          <a:solidFill>
            <a:srgbClr val="FFFFFF">
              <a:alpha val="42000"/>
            </a:srgbClr>
          </a:solidFill>
          <a:ln>
            <a:noFill/>
          </a:ln>
        </p:spPr>
      </p:sp>
      <p:sp>
        <p:nvSpPr>
          <p:cNvPr id="15" name="TextBox 15"/>
          <p:cNvSpPr txBox="1"/>
          <p:nvPr/>
        </p:nvSpPr>
        <p:spPr>
          <a:xfrm>
            <a:off x="16678" y="5532120"/>
            <a:ext cx="576243" cy="182880"/>
          </a:xfrm>
          <a:prstGeom prst="rect">
            <a:avLst/>
          </a:prstGeom>
          <a:noFill/>
          <a:ln>
            <a:noFill/>
          </a:ln>
        </p:spPr>
        <p:txBody>
          <a:bodyPr wrap="none" lIns="0" tIns="0" rIns="0" bIns="0" anchor="t" anchorCtr="0">
            <a:spAutoFit/>
          </a:bodyPr>
          <a:lstStyle/>
          <a:p>
            <a:pPr algn="ctr"/>
            <a:r>
              <a:rPr lang="zh-CN" sz="900" dirty="0">
                <a:solidFill>
                  <a:srgbClr val="FFFFFF">
                    <a:alphaMod val="60000"/>
                  </a:srgbClr>
                </a:solidFill>
                <a:latin typeface="Arial"/>
                <a:ea typeface="Microsoft YaHei"/>
                <a:cs typeface="Arial"/>
              </a:rPr>
              <a:t>Wrap-up</a:t>
            </a:r>
          </a:p>
        </p:txBody>
      </p:sp>
      <p:sp>
        <p:nvSpPr>
          <p:cNvPr id="16" name="Rectangle 16"/>
          <p:cNvSpPr/>
          <p:nvPr/>
        </p:nvSpPr>
        <p:spPr>
          <a:xfrm>
            <a:off x="914400" y="304800"/>
            <a:ext cx="419100" cy="47625"/>
          </a:xfrm>
          <a:prstGeom prst="rect">
            <a:avLst/>
          </a:prstGeom>
          <a:solidFill>
            <a:srgbClr val="B45309"/>
          </a:solidFill>
          <a:ln>
            <a:noFill/>
          </a:ln>
        </p:spPr>
      </p:sp>
      <p:sp>
        <p:nvSpPr>
          <p:cNvPr id="17" name="TextBox 17"/>
          <p:cNvSpPr txBox="1"/>
          <p:nvPr/>
        </p:nvSpPr>
        <p:spPr>
          <a:xfrm>
            <a:off x="889635" y="456248"/>
            <a:ext cx="9142317" cy="396240"/>
          </a:xfrm>
          <a:prstGeom prst="rect">
            <a:avLst/>
          </a:prstGeom>
          <a:noFill/>
          <a:ln>
            <a:noFill/>
          </a:ln>
        </p:spPr>
        <p:txBody>
          <a:bodyPr wrap="none" lIns="0" tIns="0" rIns="0" bIns="0" anchor="t" anchorCtr="0">
            <a:spAutoFit/>
          </a:bodyPr>
          <a:lstStyle/>
          <a:p>
            <a:pPr algn="l"/>
            <a:r>
              <a:rPr lang="zh-CN" sz="1950" b="1" dirty="0">
                <a:solidFill>
                  <a:srgbClr val="17332D"/>
                </a:solidFill>
                <a:latin typeface="Arial"/>
                <a:ea typeface="Microsoft YaHei"/>
                <a:cs typeface="Arial"/>
              </a:rPr>
              <a:t>Futures: two climate × two effort scenarios (2030 and 2050)</a:t>
            </a:r>
          </a:p>
        </p:txBody>
      </p:sp>
      <p:sp>
        <p:nvSpPr>
          <p:cNvPr id="18" name="TextBox 18"/>
          <p:cNvSpPr txBox="1"/>
          <p:nvPr/>
        </p:nvSpPr>
        <p:spPr>
          <a:xfrm>
            <a:off x="10653370" y="283845"/>
            <a:ext cx="1169060" cy="182880"/>
          </a:xfrm>
          <a:prstGeom prst="rect">
            <a:avLst/>
          </a:prstGeom>
          <a:noFill/>
          <a:ln>
            <a:noFill/>
          </a:ln>
        </p:spPr>
        <p:txBody>
          <a:bodyPr wrap="none" lIns="0" tIns="0" rIns="0" bIns="0" anchor="t" anchorCtr="0">
            <a:spAutoFit/>
          </a:bodyPr>
          <a:lstStyle/>
          <a:p>
            <a:pPr algn="r"/>
            <a:r>
              <a:rPr lang="zh-CN" sz="900" dirty="0">
                <a:solidFill>
                  <a:srgbClr val="8A919B"/>
                </a:solidFill>
                <a:latin typeface="Arial"/>
                <a:ea typeface="Microsoft YaHei"/>
                <a:cs typeface="Arial"/>
              </a:rPr>
              <a:t>Repository module</a:t>
            </a:r>
          </a:p>
        </p:txBody>
      </p:sp>
      <p:sp>
        <p:nvSpPr>
          <p:cNvPr id="19" name="Line 19"/>
          <p:cNvSpPr/>
          <p:nvPr/>
        </p:nvSpPr>
        <p:spPr>
          <a:xfrm>
            <a:off x="914400" y="6515100"/>
            <a:ext cx="10896600" cy="9525"/>
          </a:xfrm>
          <a:custGeom>
            <a:avLst/>
            <a:gdLst/>
            <a:ahLst/>
            <a:cxnLst/>
            <a:rect l="l" t="t" r="r" b="b"/>
            <a:pathLst>
              <a:path w="10896600" h="9525">
                <a:moveTo>
                  <a:pt x="0" y="0"/>
                </a:moveTo>
                <a:lnTo>
                  <a:pt x="10896600" y="0"/>
                </a:lnTo>
              </a:path>
            </a:pathLst>
          </a:custGeom>
          <a:noFill/>
          <a:ln w="9525">
            <a:solidFill>
              <a:srgbClr val="D6D3CD"/>
            </a:solidFill>
          </a:ln>
        </p:spPr>
      </p:sp>
      <p:sp>
        <p:nvSpPr>
          <p:cNvPr id="20" name="TextBox 20"/>
          <p:cNvSpPr txBox="1"/>
          <p:nvPr/>
        </p:nvSpPr>
        <p:spPr>
          <a:xfrm>
            <a:off x="902970" y="6617970"/>
            <a:ext cx="2609698" cy="182880"/>
          </a:xfrm>
          <a:prstGeom prst="rect">
            <a:avLst/>
          </a:prstGeom>
          <a:noFill/>
          <a:ln>
            <a:noFill/>
          </a:ln>
        </p:spPr>
        <p:txBody>
          <a:bodyPr wrap="none" lIns="0" tIns="0" rIns="0" bIns="0" anchor="t" anchorCtr="0">
            <a:spAutoFit/>
          </a:bodyPr>
          <a:lstStyle/>
          <a:p>
            <a:pPr algn="l"/>
            <a:r>
              <a:rPr lang="zh-CN" sz="900" dirty="0">
                <a:solidFill>
                  <a:srgbClr val="8A919B"/>
                </a:solidFill>
                <a:latin typeface="Arial"/>
                <a:ea typeface="Microsoft YaHei"/>
                <a:cs typeface="Arial"/>
              </a:rPr>
              <a:t>Birds or birders? · AOC 2026, Singapore</a:t>
            </a:r>
          </a:p>
        </p:txBody>
      </p:sp>
      <p:sp>
        <p:nvSpPr>
          <p:cNvPr id="21" name="TextBox 21"/>
          <p:cNvSpPr txBox="1"/>
          <p:nvPr/>
        </p:nvSpPr>
        <p:spPr>
          <a:xfrm>
            <a:off x="11352657" y="6617970"/>
            <a:ext cx="469773" cy="182880"/>
          </a:xfrm>
          <a:prstGeom prst="rect">
            <a:avLst/>
          </a:prstGeom>
          <a:noFill/>
          <a:ln>
            <a:noFill/>
          </a:ln>
        </p:spPr>
        <p:txBody>
          <a:bodyPr wrap="none" lIns="0" tIns="0" rIns="0" bIns="0" anchor="t" anchorCtr="0">
            <a:spAutoFit/>
          </a:bodyPr>
          <a:lstStyle/>
          <a:p>
            <a:pPr algn="r"/>
            <a:r>
              <a:rPr lang="zh-CN" sz="900" dirty="0">
                <a:solidFill>
                  <a:srgbClr val="5F6670"/>
                </a:solidFill>
                <a:latin typeface="Arial"/>
                <a:ea typeface="Microsoft YaHei"/>
                <a:cs typeface="Arial"/>
              </a:rPr>
              <a:t>15 / 20</a:t>
            </a:r>
          </a:p>
        </p:txBody>
      </p:sp>
      <p:sp>
        <p:nvSpPr>
          <p:cNvPr id="22" name="Rectangle 22"/>
          <p:cNvSpPr/>
          <p:nvPr/>
        </p:nvSpPr>
        <p:spPr>
          <a:xfrm>
            <a:off x="838200" y="876300"/>
            <a:ext cx="5794058" cy="5486400"/>
          </a:xfrm>
          <a:prstGeom prst="roundRect">
            <a:avLst>
              <a:gd name="adj" fmla="val 1042"/>
            </a:avLst>
          </a:prstGeom>
          <a:solidFill>
            <a:srgbClr val="FFFFFF"/>
          </a:solidFill>
          <a:ln w="9525">
            <a:solidFill>
              <a:srgbClr val="D6D3CD"/>
            </a:solidFill>
          </a:ln>
        </p:spPr>
      </p:sp>
      <p:pic>
        <p:nvPicPr>
          <p:cNvPr id="23" name="Image 23"/>
          <p:cNvPicPr>
            <a:picLocks noChangeAspect="1"/>
          </p:cNvPicPr>
          <p:nvPr/>
        </p:nvPicPr>
        <p:blipFill>
          <a:blip r:embed="rId2"/>
          <a:stretch>
            <a:fillRect/>
          </a:stretch>
        </p:blipFill>
        <p:spPr>
          <a:xfrm>
            <a:off x="914400" y="952500"/>
            <a:ext cx="5641658" cy="5334000"/>
          </a:xfrm>
          <a:prstGeom prst="rect">
            <a:avLst/>
          </a:prstGeom>
        </p:spPr>
      </p:pic>
      <p:sp>
        <p:nvSpPr>
          <p:cNvPr id="24" name="Rectangle 24"/>
          <p:cNvSpPr/>
          <p:nvPr/>
        </p:nvSpPr>
        <p:spPr>
          <a:xfrm>
            <a:off x="6898958" y="876300"/>
            <a:ext cx="4912042" cy="1574482"/>
          </a:xfrm>
          <a:prstGeom prst="roundRect">
            <a:avLst>
              <a:gd name="adj" fmla="val 3630"/>
            </a:avLst>
          </a:prstGeom>
          <a:solidFill>
            <a:srgbClr val="FFFFFF"/>
          </a:solidFill>
          <a:ln w="9525">
            <a:solidFill>
              <a:srgbClr val="D6D3CD"/>
            </a:solidFill>
          </a:ln>
        </p:spPr>
      </p:sp>
      <p:sp>
        <p:nvSpPr>
          <p:cNvPr id="25" name="Rectangle 25"/>
          <p:cNvSpPr/>
          <p:nvPr/>
        </p:nvSpPr>
        <p:spPr>
          <a:xfrm>
            <a:off x="6898958" y="876300"/>
            <a:ext cx="4912042" cy="38100"/>
          </a:xfrm>
          <a:prstGeom prst="rect">
            <a:avLst/>
          </a:prstGeom>
          <a:solidFill>
            <a:srgbClr val="1F4E45"/>
          </a:solidFill>
          <a:ln>
            <a:noFill/>
          </a:ln>
        </p:spPr>
      </p:sp>
      <p:sp>
        <p:nvSpPr>
          <p:cNvPr id="26" name="TextBox 26"/>
          <p:cNvSpPr txBox="1"/>
          <p:nvPr/>
        </p:nvSpPr>
        <p:spPr>
          <a:xfrm>
            <a:off x="7073265" y="1052989"/>
            <a:ext cx="1311450" cy="259080"/>
          </a:xfrm>
          <a:prstGeom prst="rect">
            <a:avLst/>
          </a:prstGeom>
          <a:noFill/>
          <a:ln>
            <a:noFill/>
          </a:ln>
        </p:spPr>
        <p:txBody>
          <a:bodyPr wrap="none" lIns="0" tIns="0" rIns="0" bIns="0" anchor="t" anchorCtr="0">
            <a:spAutoFit/>
          </a:bodyPr>
          <a:lstStyle/>
          <a:p>
            <a:pPr algn="l"/>
            <a:r>
              <a:rPr lang="zh-CN" sz="1275" b="1" dirty="0">
                <a:solidFill>
                  <a:srgbClr val="1F4E45"/>
                </a:solidFill>
                <a:latin typeface="Arial"/>
                <a:ea typeface="Microsoft YaHei"/>
                <a:cs typeface="Arial"/>
              </a:rPr>
              <a:t>Scenario grid</a:t>
            </a:r>
          </a:p>
        </p:txBody>
      </p:sp>
      <p:sp>
        <p:nvSpPr>
          <p:cNvPr id="27" name="TextBox 27"/>
          <p:cNvSpPr txBox="1"/>
          <p:nvPr/>
        </p:nvSpPr>
        <p:spPr>
          <a:xfrm>
            <a:off x="7075170" y="1345406"/>
            <a:ext cx="2338721" cy="228600"/>
          </a:xfrm>
          <a:prstGeom prst="rect">
            <a:avLst/>
          </a:prstGeom>
          <a:noFill/>
          <a:ln>
            <a:noFill/>
          </a:ln>
        </p:spPr>
        <p:txBody>
          <a:bodyPr wrap="none" lIns="0" tIns="0" rIns="0" bIns="0" anchor="t" anchorCtr="0">
            <a:spAutoFit/>
          </a:bodyPr>
          <a:lstStyle/>
          <a:p>
            <a:pPr algn="l"/>
            <a:r>
              <a:rPr lang="zh-CN" sz="1125" dirty="0">
                <a:solidFill>
                  <a:srgbClr val="009E73"/>
                </a:solidFill>
                <a:latin typeface="Arial"/>
                <a:ea typeface="Microsoft YaHei"/>
                <a:cs typeface="Arial"/>
              </a:rPr>
              <a:t>Climate: SSP2-4.5 or SSP5-8.5</a:t>
            </a:r>
          </a:p>
        </p:txBody>
      </p:sp>
      <p:sp>
        <p:nvSpPr>
          <p:cNvPr id="28" name="TextBox 28"/>
          <p:cNvSpPr txBox="1"/>
          <p:nvPr/>
        </p:nvSpPr>
        <p:spPr>
          <a:xfrm>
            <a:off x="7075170" y="1583531"/>
            <a:ext cx="3521726" cy="228600"/>
          </a:xfrm>
          <a:prstGeom prst="rect">
            <a:avLst/>
          </a:prstGeom>
          <a:noFill/>
          <a:ln>
            <a:noFill/>
          </a:ln>
        </p:spPr>
        <p:txBody>
          <a:bodyPr wrap="none" lIns="0" tIns="0" rIns="0" bIns="0" anchor="t" anchorCtr="0">
            <a:spAutoFit/>
          </a:bodyPr>
          <a:lstStyle/>
          <a:p>
            <a:pPr algn="l"/>
            <a:r>
              <a:rPr lang="zh-CN" sz="1125" dirty="0">
                <a:solidFill>
                  <a:srgbClr val="0072B2"/>
                </a:solidFill>
                <a:latin typeface="Arial"/>
                <a:ea typeface="Microsoft YaHei"/>
                <a:cs typeface="Arial"/>
              </a:rPr>
              <a:t>Effort: frozen at 2024, or +0.6 SD a decade</a:t>
            </a:r>
          </a:p>
        </p:txBody>
      </p:sp>
      <p:sp>
        <p:nvSpPr>
          <p:cNvPr id="29" name="TextBox 29"/>
          <p:cNvSpPr txBox="1"/>
          <p:nvPr/>
        </p:nvSpPr>
        <p:spPr>
          <a:xfrm>
            <a:off x="7075170" y="1821656"/>
            <a:ext cx="1921383" cy="228600"/>
          </a:xfrm>
          <a:prstGeom prst="rect">
            <a:avLst/>
          </a:prstGeom>
          <a:noFill/>
          <a:ln>
            <a:noFill/>
          </a:ln>
        </p:spPr>
        <p:txBody>
          <a:bodyPr wrap="none" lIns="0" tIns="0" rIns="0" bIns="0" anchor="t" anchorCtr="0">
            <a:spAutoFit/>
          </a:bodyPr>
          <a:lstStyle/>
          <a:p>
            <a:pPr algn="l"/>
            <a:r>
              <a:rPr lang="zh-CN" sz="1125" dirty="0">
                <a:solidFill>
                  <a:srgbClr val="5F6670"/>
                </a:solidFill>
                <a:latin typeface="Arial"/>
                <a:ea typeface="Microsoft YaHei"/>
                <a:cs typeface="Arial"/>
              </a:rPr>
              <a:t>Horizons: 2030 and 2050</a:t>
            </a:r>
          </a:p>
        </p:txBody>
      </p:sp>
      <p:sp>
        <p:nvSpPr>
          <p:cNvPr id="30" name="Rectangle 30"/>
          <p:cNvSpPr/>
          <p:nvPr/>
        </p:nvSpPr>
        <p:spPr>
          <a:xfrm>
            <a:off x="6898958" y="2831782"/>
            <a:ext cx="4912042" cy="1812608"/>
          </a:xfrm>
          <a:prstGeom prst="roundRect">
            <a:avLst>
              <a:gd name="adj" fmla="val 3153"/>
            </a:avLst>
          </a:prstGeom>
          <a:solidFill>
            <a:srgbClr val="FFFFFF"/>
          </a:solidFill>
          <a:ln w="9525">
            <a:solidFill>
              <a:srgbClr val="D6D3CD"/>
            </a:solidFill>
          </a:ln>
        </p:spPr>
      </p:sp>
      <p:sp>
        <p:nvSpPr>
          <p:cNvPr id="31" name="Rectangle 31"/>
          <p:cNvSpPr/>
          <p:nvPr/>
        </p:nvSpPr>
        <p:spPr>
          <a:xfrm>
            <a:off x="6898958" y="2831782"/>
            <a:ext cx="4912042" cy="38100"/>
          </a:xfrm>
          <a:prstGeom prst="rect">
            <a:avLst/>
          </a:prstGeom>
          <a:solidFill>
            <a:srgbClr val="0072B2"/>
          </a:solidFill>
          <a:ln>
            <a:noFill/>
          </a:ln>
        </p:spPr>
      </p:sp>
      <p:sp>
        <p:nvSpPr>
          <p:cNvPr id="32" name="TextBox 32"/>
          <p:cNvSpPr txBox="1"/>
          <p:nvPr/>
        </p:nvSpPr>
        <p:spPr>
          <a:xfrm>
            <a:off x="7073265" y="3008471"/>
            <a:ext cx="3492572" cy="259080"/>
          </a:xfrm>
          <a:prstGeom prst="rect">
            <a:avLst/>
          </a:prstGeom>
          <a:noFill/>
          <a:ln>
            <a:noFill/>
          </a:ln>
        </p:spPr>
        <p:txBody>
          <a:bodyPr wrap="none" lIns="0" tIns="0" rIns="0" bIns="0" anchor="t" anchorCtr="0">
            <a:spAutoFit/>
          </a:bodyPr>
          <a:lstStyle/>
          <a:p>
            <a:pPr algn="l"/>
            <a:r>
              <a:rPr lang="zh-CN" sz="1275" b="1" dirty="0">
                <a:solidFill>
                  <a:srgbClr val="0072B2"/>
                </a:solidFill>
                <a:latin typeface="Arial"/>
                <a:ea typeface="Microsoft YaHei"/>
                <a:cs typeface="Arial"/>
              </a:rPr>
              <a:t>What drives future record counts?</a:t>
            </a:r>
          </a:p>
        </p:txBody>
      </p:sp>
      <p:sp>
        <p:nvSpPr>
          <p:cNvPr id="33" name="TextBox 33"/>
          <p:cNvSpPr txBox="1"/>
          <p:nvPr/>
        </p:nvSpPr>
        <p:spPr>
          <a:xfrm>
            <a:off x="7075170" y="3300889"/>
            <a:ext cx="2890790" cy="228600"/>
          </a:xfrm>
          <a:prstGeom prst="rect">
            <a:avLst/>
          </a:prstGeom>
          <a:noFill/>
          <a:ln>
            <a:noFill/>
          </a:ln>
        </p:spPr>
        <p:txBody>
          <a:bodyPr wrap="none" lIns="0" tIns="0" rIns="0" bIns="0" anchor="t" anchorCtr="0">
            <a:spAutoFit/>
          </a:bodyPr>
          <a:lstStyle/>
          <a:p>
            <a:pPr algn="l"/>
            <a:r>
              <a:rPr lang="zh-CN" sz="1125" dirty="0">
                <a:solidFill>
                  <a:srgbClr val="009E73"/>
                </a:solidFill>
                <a:latin typeface="Arial"/>
                <a:ea typeface="Microsoft YaHei"/>
                <a:cs typeface="Arial"/>
              </a:rPr>
              <a:t>Switch climate: 23.2 → 23.1 per year</a:t>
            </a:r>
          </a:p>
        </p:txBody>
      </p:sp>
      <p:sp>
        <p:nvSpPr>
          <p:cNvPr id="34" name="TextBox 34"/>
          <p:cNvSpPr txBox="1"/>
          <p:nvPr/>
        </p:nvSpPr>
        <p:spPr>
          <a:xfrm>
            <a:off x="7075170" y="3539014"/>
            <a:ext cx="3099459" cy="228600"/>
          </a:xfrm>
          <a:prstGeom prst="rect">
            <a:avLst/>
          </a:prstGeom>
          <a:noFill/>
          <a:ln>
            <a:noFill/>
          </a:ln>
        </p:spPr>
        <p:txBody>
          <a:bodyPr wrap="none" lIns="0" tIns="0" rIns="0" bIns="0" anchor="t" anchorCtr="0">
            <a:spAutoFit/>
          </a:bodyPr>
          <a:lstStyle/>
          <a:p>
            <a:pPr algn="l"/>
            <a:r>
              <a:rPr lang="zh-CN" sz="1125" dirty="0">
                <a:solidFill>
                  <a:srgbClr val="0072B2"/>
                </a:solidFill>
                <a:latin typeface="Arial"/>
                <a:ea typeface="Microsoft YaHei"/>
                <a:cs typeface="Arial"/>
              </a:rPr>
              <a:t>Switch effort: 23.6 → 57–62 per year</a:t>
            </a:r>
          </a:p>
        </p:txBody>
      </p:sp>
      <p:sp>
        <p:nvSpPr>
          <p:cNvPr id="35" name="TextBox 35"/>
          <p:cNvSpPr txBox="1"/>
          <p:nvPr/>
        </p:nvSpPr>
        <p:spPr>
          <a:xfrm>
            <a:off x="7075170" y="3777139"/>
            <a:ext cx="3395210" cy="228600"/>
          </a:xfrm>
          <a:prstGeom prst="rect">
            <a:avLst/>
          </a:prstGeom>
          <a:noFill/>
          <a:ln>
            <a:noFill/>
          </a:ln>
        </p:spPr>
        <p:txBody>
          <a:bodyPr wrap="none" lIns="0" tIns="0" rIns="0" bIns="0" anchor="t" anchorCtr="0">
            <a:spAutoFit/>
          </a:bodyPr>
          <a:lstStyle/>
          <a:p>
            <a:pPr algn="l"/>
            <a:r>
              <a:rPr lang="zh-CN" sz="1125" dirty="0">
                <a:solidFill>
                  <a:srgbClr val="17332D"/>
                </a:solidFill>
                <a:latin typeface="Arial"/>
                <a:ea typeface="Microsoft YaHei"/>
                <a:cs typeface="Arial"/>
              </a:rPr>
              <a:t>What we record will depend on how we look,</a:t>
            </a:r>
          </a:p>
        </p:txBody>
      </p:sp>
      <p:sp>
        <p:nvSpPr>
          <p:cNvPr id="36" name="TextBox 36"/>
          <p:cNvSpPr txBox="1"/>
          <p:nvPr/>
        </p:nvSpPr>
        <p:spPr>
          <a:xfrm>
            <a:off x="7075170" y="4015264"/>
            <a:ext cx="3012377" cy="228600"/>
          </a:xfrm>
          <a:prstGeom prst="rect">
            <a:avLst/>
          </a:prstGeom>
          <a:noFill/>
          <a:ln>
            <a:noFill/>
          </a:ln>
        </p:spPr>
        <p:txBody>
          <a:bodyPr wrap="none" lIns="0" tIns="0" rIns="0" bIns="0" anchor="t" anchorCtr="0">
            <a:spAutoFit/>
          </a:bodyPr>
          <a:lstStyle/>
          <a:p>
            <a:pPr algn="l"/>
            <a:r>
              <a:rPr lang="zh-CN" sz="1125" dirty="0">
                <a:solidFill>
                  <a:srgbClr val="17332D"/>
                </a:solidFill>
                <a:latin typeface="Arial"/>
                <a:ea typeface="Microsoft YaHei"/>
                <a:cs typeface="Arial"/>
              </a:rPr>
              <a:t>more than on how the climate changes</a:t>
            </a:r>
          </a:p>
        </p:txBody>
      </p:sp>
      <p:sp>
        <p:nvSpPr>
          <p:cNvPr id="37" name="Rectangle 37"/>
          <p:cNvSpPr/>
          <p:nvPr/>
        </p:nvSpPr>
        <p:spPr>
          <a:xfrm>
            <a:off x="6898958" y="5026342"/>
            <a:ext cx="4912042" cy="1336358"/>
          </a:xfrm>
          <a:prstGeom prst="roundRect">
            <a:avLst>
              <a:gd name="adj" fmla="val 4277"/>
            </a:avLst>
          </a:prstGeom>
          <a:solidFill>
            <a:srgbClr val="FFFFFF"/>
          </a:solidFill>
          <a:ln w="9525">
            <a:solidFill>
              <a:srgbClr val="D6D3CD"/>
            </a:solidFill>
          </a:ln>
        </p:spPr>
      </p:sp>
      <p:sp>
        <p:nvSpPr>
          <p:cNvPr id="38" name="Rectangle 38"/>
          <p:cNvSpPr/>
          <p:nvPr/>
        </p:nvSpPr>
        <p:spPr>
          <a:xfrm>
            <a:off x="6898958" y="5026342"/>
            <a:ext cx="4912042" cy="38100"/>
          </a:xfrm>
          <a:prstGeom prst="rect">
            <a:avLst/>
          </a:prstGeom>
          <a:solidFill>
            <a:srgbClr val="B45309"/>
          </a:solidFill>
          <a:ln>
            <a:noFill/>
          </a:ln>
        </p:spPr>
      </p:sp>
      <p:sp>
        <p:nvSpPr>
          <p:cNvPr id="39" name="TextBox 39"/>
          <p:cNvSpPr txBox="1"/>
          <p:nvPr/>
        </p:nvSpPr>
        <p:spPr>
          <a:xfrm>
            <a:off x="7073265" y="5203031"/>
            <a:ext cx="2653679" cy="259080"/>
          </a:xfrm>
          <a:prstGeom prst="rect">
            <a:avLst/>
          </a:prstGeom>
          <a:noFill/>
          <a:ln>
            <a:noFill/>
          </a:ln>
        </p:spPr>
        <p:txBody>
          <a:bodyPr wrap="none" lIns="0" tIns="0" rIns="0" bIns="0" anchor="t" anchorCtr="0">
            <a:spAutoFit/>
          </a:bodyPr>
          <a:lstStyle/>
          <a:p>
            <a:pPr algn="l"/>
            <a:r>
              <a:rPr lang="zh-CN" sz="1275" b="1" dirty="0">
                <a:solidFill>
                  <a:srgbClr val="B45309"/>
                </a:solidFill>
                <a:latin typeface="Arial"/>
                <a:ea typeface="Microsoft YaHei"/>
                <a:cs typeface="Arial"/>
              </a:rPr>
              <a:t>But read the transparency</a:t>
            </a:r>
          </a:p>
        </p:txBody>
      </p:sp>
      <p:sp>
        <p:nvSpPr>
          <p:cNvPr id="40" name="TextBox 40"/>
          <p:cNvSpPr txBox="1"/>
          <p:nvPr/>
        </p:nvSpPr>
        <p:spPr>
          <a:xfrm>
            <a:off x="7075170" y="5495449"/>
            <a:ext cx="3281839" cy="228600"/>
          </a:xfrm>
          <a:prstGeom prst="rect">
            <a:avLst/>
          </a:prstGeom>
          <a:noFill/>
          <a:ln>
            <a:noFill/>
          </a:ln>
        </p:spPr>
        <p:txBody>
          <a:bodyPr wrap="none" lIns="0" tIns="0" rIns="0" bIns="0" anchor="t" anchorCtr="0">
            <a:spAutoFit/>
          </a:bodyPr>
          <a:lstStyle/>
          <a:p>
            <a:pPr algn="l"/>
            <a:r>
              <a:rPr lang="zh-CN" sz="1125" dirty="0">
                <a:solidFill>
                  <a:srgbClr val="B45309"/>
                </a:solidFill>
                <a:latin typeface="Arial"/>
                <a:ea typeface="Microsoft YaHei"/>
                <a:cs typeface="Arial"/>
              </a:rPr>
              <a:t>Effort growing, 2050: only 2% in support</a:t>
            </a:r>
          </a:p>
        </p:txBody>
      </p:sp>
      <p:sp>
        <p:nvSpPr>
          <p:cNvPr id="41" name="TextBox 41"/>
          <p:cNvSpPr txBox="1"/>
          <p:nvPr/>
        </p:nvSpPr>
        <p:spPr>
          <a:xfrm>
            <a:off x="7075170" y="5733574"/>
            <a:ext cx="3112603" cy="228600"/>
          </a:xfrm>
          <a:prstGeom prst="rect">
            <a:avLst/>
          </a:prstGeom>
          <a:noFill/>
          <a:ln>
            <a:noFill/>
          </a:ln>
        </p:spPr>
        <p:txBody>
          <a:bodyPr wrap="none" lIns="0" tIns="0" rIns="0" bIns="0" anchor="t" anchorCtr="0">
            <a:spAutoFit/>
          </a:bodyPr>
          <a:lstStyle/>
          <a:p>
            <a:pPr algn="l"/>
            <a:r>
              <a:rPr lang="zh-CN" sz="1125" dirty="0">
                <a:solidFill>
                  <a:srgbClr val="5F6670"/>
                </a:solidFill>
                <a:latin typeface="Arial"/>
                <a:ea typeface="Microsoft YaHei"/>
                <a:cs typeface="Arial"/>
              </a:rPr>
              <a:t>Most of the rise lies outside the data</a:t>
            </a:r>
          </a:p>
        </p:txBody>
      </p:sp>
    </p:spTree>
  </p:cSld>
  <p:clrMapOvr>
    <a:masterClrMapping/>
  </p:clrMapOvr>
  <p:transition xmlns:p14="http://schemas.microsoft.com/office/powerpoint/2010/main" p14:dur="400">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BFAF7"/>
          </a:solidFill>
          <a:ln>
            <a:noFill/>
          </a:ln>
        </p:spPr>
      </p:sp>
      <p:sp>
        <p:nvSpPr>
          <p:cNvPr id="3" name="Rectangle 3"/>
          <p:cNvSpPr/>
          <p:nvPr/>
        </p:nvSpPr>
        <p:spPr>
          <a:xfrm>
            <a:off x="0" y="0"/>
            <a:ext cx="609600" cy="6858000"/>
          </a:xfrm>
          <a:prstGeom prst="rect">
            <a:avLst/>
          </a:prstGeom>
          <a:solidFill>
            <a:srgbClr val="1F4E45"/>
          </a:solidFill>
          <a:ln>
            <a:noFill/>
          </a:ln>
        </p:spPr>
      </p:sp>
      <p:sp>
        <p:nvSpPr>
          <p:cNvPr id="4" name="Ellipse 4"/>
          <p:cNvSpPr/>
          <p:nvPr/>
        </p:nvSpPr>
        <p:spPr>
          <a:xfrm>
            <a:off x="272415" y="1091565"/>
            <a:ext cx="64770" cy="64770"/>
          </a:xfrm>
          <a:prstGeom prst="ellipse">
            <a:avLst/>
          </a:prstGeom>
          <a:solidFill>
            <a:srgbClr val="FFFFFF">
              <a:alpha val="42000"/>
            </a:srgbClr>
          </a:solidFill>
          <a:ln>
            <a:noFill/>
          </a:ln>
        </p:spPr>
      </p:sp>
      <p:sp>
        <p:nvSpPr>
          <p:cNvPr id="5" name="TextBox 5"/>
          <p:cNvSpPr txBox="1"/>
          <p:nvPr/>
        </p:nvSpPr>
        <p:spPr>
          <a:xfrm>
            <a:off x="17336" y="1245870"/>
            <a:ext cx="574929" cy="182880"/>
          </a:xfrm>
          <a:prstGeom prst="rect">
            <a:avLst/>
          </a:prstGeom>
          <a:noFill/>
          <a:ln>
            <a:noFill/>
          </a:ln>
        </p:spPr>
        <p:txBody>
          <a:bodyPr wrap="none" lIns="0" tIns="0" rIns="0" bIns="0" anchor="t" anchorCtr="0">
            <a:spAutoFit/>
          </a:bodyPr>
          <a:lstStyle/>
          <a:p>
            <a:pPr algn="ctr"/>
            <a:r>
              <a:rPr lang="zh-CN" sz="900" dirty="0">
                <a:solidFill>
                  <a:srgbClr val="FFFFFF">
                    <a:alphaMod val="60000"/>
                  </a:srgbClr>
                </a:solidFill>
                <a:latin typeface="Arial"/>
                <a:ea typeface="Microsoft YaHei"/>
                <a:cs typeface="Arial"/>
              </a:rPr>
              <a:t>Question</a:t>
            </a:r>
          </a:p>
        </p:txBody>
      </p:sp>
      <p:sp>
        <p:nvSpPr>
          <p:cNvPr id="6" name="Ellipse 6"/>
          <p:cNvSpPr/>
          <p:nvPr/>
        </p:nvSpPr>
        <p:spPr>
          <a:xfrm>
            <a:off x="272415" y="1948815"/>
            <a:ext cx="64770" cy="64770"/>
          </a:xfrm>
          <a:prstGeom prst="ellipse">
            <a:avLst/>
          </a:prstGeom>
          <a:solidFill>
            <a:srgbClr val="FFFFFF">
              <a:alpha val="42000"/>
            </a:srgbClr>
          </a:solidFill>
          <a:ln>
            <a:noFill/>
          </a:ln>
        </p:spPr>
      </p:sp>
      <p:sp>
        <p:nvSpPr>
          <p:cNvPr id="7" name="TextBox 7"/>
          <p:cNvSpPr txBox="1"/>
          <p:nvPr/>
        </p:nvSpPr>
        <p:spPr>
          <a:xfrm>
            <a:off x="146152" y="2103120"/>
            <a:ext cx="317297" cy="182880"/>
          </a:xfrm>
          <a:prstGeom prst="rect">
            <a:avLst/>
          </a:prstGeom>
          <a:noFill/>
          <a:ln>
            <a:noFill/>
          </a:ln>
        </p:spPr>
        <p:txBody>
          <a:bodyPr wrap="none" lIns="0" tIns="0" rIns="0" bIns="0" anchor="t" anchorCtr="0">
            <a:spAutoFit/>
          </a:bodyPr>
          <a:lstStyle/>
          <a:p>
            <a:pPr algn="ctr"/>
            <a:r>
              <a:rPr lang="zh-CN" sz="900" dirty="0">
                <a:solidFill>
                  <a:srgbClr val="FFFFFF">
                    <a:alphaMod val="60000"/>
                  </a:srgbClr>
                </a:solidFill>
                <a:latin typeface="Arial"/>
                <a:ea typeface="Microsoft YaHei"/>
                <a:cs typeface="Arial"/>
              </a:rPr>
              <a:t>Data</a:t>
            </a:r>
          </a:p>
        </p:txBody>
      </p:sp>
      <p:sp>
        <p:nvSpPr>
          <p:cNvPr id="8" name="Ellipse 8"/>
          <p:cNvSpPr/>
          <p:nvPr/>
        </p:nvSpPr>
        <p:spPr>
          <a:xfrm>
            <a:off x="272415" y="2806065"/>
            <a:ext cx="64770" cy="64770"/>
          </a:xfrm>
          <a:prstGeom prst="ellipse">
            <a:avLst/>
          </a:prstGeom>
          <a:solidFill>
            <a:srgbClr val="FFFFFF">
              <a:alpha val="42000"/>
            </a:srgbClr>
          </a:solidFill>
          <a:ln>
            <a:noFill/>
          </a:ln>
        </p:spPr>
      </p:sp>
      <p:sp>
        <p:nvSpPr>
          <p:cNvPr id="9" name="TextBox 9"/>
          <p:cNvSpPr txBox="1"/>
          <p:nvPr/>
        </p:nvSpPr>
        <p:spPr>
          <a:xfrm>
            <a:off x="35738" y="2960370"/>
            <a:ext cx="538124" cy="182880"/>
          </a:xfrm>
          <a:prstGeom prst="rect">
            <a:avLst/>
          </a:prstGeom>
          <a:noFill/>
          <a:ln>
            <a:noFill/>
          </a:ln>
        </p:spPr>
        <p:txBody>
          <a:bodyPr wrap="none" lIns="0" tIns="0" rIns="0" bIns="0" anchor="t" anchorCtr="0">
            <a:spAutoFit/>
          </a:bodyPr>
          <a:lstStyle/>
          <a:p>
            <a:pPr algn="ctr"/>
            <a:r>
              <a:rPr lang="zh-CN" sz="900" dirty="0">
                <a:solidFill>
                  <a:srgbClr val="FFFFFF">
                    <a:alphaMod val="60000"/>
                  </a:srgbClr>
                </a:solidFill>
                <a:latin typeface="Arial"/>
                <a:ea typeface="Microsoft YaHei"/>
                <a:cs typeface="Arial"/>
              </a:rPr>
              <a:t>Findings</a:t>
            </a:r>
          </a:p>
        </p:txBody>
      </p:sp>
      <p:sp>
        <p:nvSpPr>
          <p:cNvPr id="10" name="Ellipse 10"/>
          <p:cNvSpPr/>
          <p:nvPr/>
        </p:nvSpPr>
        <p:spPr>
          <a:xfrm>
            <a:off x="272415" y="3663315"/>
            <a:ext cx="64770" cy="64770"/>
          </a:xfrm>
          <a:prstGeom prst="ellipse">
            <a:avLst/>
          </a:prstGeom>
          <a:solidFill>
            <a:srgbClr val="FFFFFF">
              <a:alpha val="42000"/>
            </a:srgbClr>
          </a:solidFill>
          <a:ln>
            <a:noFill/>
          </a:ln>
        </p:spPr>
      </p:sp>
      <p:sp>
        <p:nvSpPr>
          <p:cNvPr id="11" name="TextBox 11"/>
          <p:cNvSpPr txBox="1"/>
          <p:nvPr/>
        </p:nvSpPr>
        <p:spPr>
          <a:xfrm>
            <a:off x="72542" y="3817620"/>
            <a:ext cx="464515" cy="182880"/>
          </a:xfrm>
          <a:prstGeom prst="rect">
            <a:avLst/>
          </a:prstGeom>
          <a:noFill/>
          <a:ln>
            <a:noFill/>
          </a:ln>
        </p:spPr>
        <p:txBody>
          <a:bodyPr wrap="none" lIns="0" tIns="0" rIns="0" bIns="0" anchor="t" anchorCtr="0">
            <a:spAutoFit/>
          </a:bodyPr>
          <a:lstStyle/>
          <a:p>
            <a:pPr algn="ctr"/>
            <a:r>
              <a:rPr lang="zh-CN" sz="900" dirty="0">
                <a:solidFill>
                  <a:srgbClr val="FFFFFF">
                    <a:alphaMod val="60000"/>
                  </a:srgbClr>
                </a:solidFill>
                <a:latin typeface="Arial"/>
                <a:ea typeface="Microsoft YaHei"/>
                <a:cs typeface="Arial"/>
              </a:rPr>
              <a:t>Robust</a:t>
            </a:r>
          </a:p>
        </p:txBody>
      </p:sp>
      <p:sp>
        <p:nvSpPr>
          <p:cNvPr id="12" name="Ellipse 12"/>
          <p:cNvSpPr/>
          <p:nvPr/>
        </p:nvSpPr>
        <p:spPr>
          <a:xfrm>
            <a:off x="257175" y="4505325"/>
            <a:ext cx="95250" cy="95250"/>
          </a:xfrm>
          <a:prstGeom prst="ellipse">
            <a:avLst/>
          </a:prstGeom>
          <a:solidFill>
            <a:srgbClr val="FFFFFF"/>
          </a:solidFill>
          <a:ln>
            <a:noFill/>
          </a:ln>
        </p:spPr>
      </p:sp>
      <p:sp>
        <p:nvSpPr>
          <p:cNvPr id="13" name="TextBox 13"/>
          <p:cNvSpPr txBox="1"/>
          <p:nvPr/>
        </p:nvSpPr>
        <p:spPr>
          <a:xfrm>
            <a:off x="146152" y="4674870"/>
            <a:ext cx="317297" cy="182880"/>
          </a:xfrm>
          <a:prstGeom prst="rect">
            <a:avLst/>
          </a:prstGeom>
          <a:noFill/>
          <a:ln>
            <a:noFill/>
          </a:ln>
        </p:spPr>
        <p:txBody>
          <a:bodyPr wrap="none" lIns="0" tIns="0" rIns="0" bIns="0" anchor="t" anchorCtr="0">
            <a:spAutoFit/>
          </a:bodyPr>
          <a:lstStyle/>
          <a:p>
            <a:pPr algn="ctr"/>
            <a:r>
              <a:rPr lang="zh-CN" sz="900" dirty="0">
                <a:solidFill>
                  <a:srgbClr val="FFFFFF"/>
                </a:solidFill>
                <a:latin typeface="Arial"/>
                <a:ea typeface="Microsoft YaHei"/>
                <a:cs typeface="Arial"/>
              </a:rPr>
              <a:t>Uses</a:t>
            </a:r>
          </a:p>
        </p:txBody>
      </p:sp>
      <p:sp>
        <p:nvSpPr>
          <p:cNvPr id="14" name="Ellipse 14"/>
          <p:cNvSpPr/>
          <p:nvPr/>
        </p:nvSpPr>
        <p:spPr>
          <a:xfrm>
            <a:off x="272415" y="5377815"/>
            <a:ext cx="64770" cy="64770"/>
          </a:xfrm>
          <a:prstGeom prst="ellipse">
            <a:avLst/>
          </a:prstGeom>
          <a:solidFill>
            <a:srgbClr val="FFFFFF">
              <a:alpha val="42000"/>
            </a:srgbClr>
          </a:solidFill>
          <a:ln>
            <a:noFill/>
          </a:ln>
        </p:spPr>
      </p:sp>
      <p:sp>
        <p:nvSpPr>
          <p:cNvPr id="15" name="TextBox 15"/>
          <p:cNvSpPr txBox="1"/>
          <p:nvPr/>
        </p:nvSpPr>
        <p:spPr>
          <a:xfrm>
            <a:off x="16678" y="5532120"/>
            <a:ext cx="576243" cy="182880"/>
          </a:xfrm>
          <a:prstGeom prst="rect">
            <a:avLst/>
          </a:prstGeom>
          <a:noFill/>
          <a:ln>
            <a:noFill/>
          </a:ln>
        </p:spPr>
        <p:txBody>
          <a:bodyPr wrap="none" lIns="0" tIns="0" rIns="0" bIns="0" anchor="t" anchorCtr="0">
            <a:spAutoFit/>
          </a:bodyPr>
          <a:lstStyle/>
          <a:p>
            <a:pPr algn="ctr"/>
            <a:r>
              <a:rPr lang="zh-CN" sz="900" dirty="0">
                <a:solidFill>
                  <a:srgbClr val="FFFFFF">
                    <a:alphaMod val="60000"/>
                  </a:srgbClr>
                </a:solidFill>
                <a:latin typeface="Arial"/>
                <a:ea typeface="Microsoft YaHei"/>
                <a:cs typeface="Arial"/>
              </a:rPr>
              <a:t>Wrap-up</a:t>
            </a:r>
          </a:p>
        </p:txBody>
      </p:sp>
      <p:sp>
        <p:nvSpPr>
          <p:cNvPr id="16" name="Rectangle 16"/>
          <p:cNvSpPr/>
          <p:nvPr/>
        </p:nvSpPr>
        <p:spPr>
          <a:xfrm>
            <a:off x="914400" y="304800"/>
            <a:ext cx="419100" cy="47625"/>
          </a:xfrm>
          <a:prstGeom prst="rect">
            <a:avLst/>
          </a:prstGeom>
          <a:solidFill>
            <a:srgbClr val="B45309"/>
          </a:solidFill>
          <a:ln>
            <a:noFill/>
          </a:ln>
        </p:spPr>
      </p:sp>
      <p:sp>
        <p:nvSpPr>
          <p:cNvPr id="17" name="TextBox 17"/>
          <p:cNvSpPr txBox="1"/>
          <p:nvPr/>
        </p:nvSpPr>
        <p:spPr>
          <a:xfrm>
            <a:off x="889635" y="456248"/>
            <a:ext cx="9444202" cy="396240"/>
          </a:xfrm>
          <a:prstGeom prst="rect">
            <a:avLst/>
          </a:prstGeom>
          <a:noFill/>
          <a:ln>
            <a:noFill/>
          </a:ln>
        </p:spPr>
        <p:txBody>
          <a:bodyPr wrap="none" lIns="0" tIns="0" rIns="0" bIns="0" anchor="t" anchorCtr="0">
            <a:spAutoFit/>
          </a:bodyPr>
          <a:lstStyle/>
          <a:p>
            <a:pPr algn="l"/>
            <a:r>
              <a:rPr lang="zh-CN" sz="1950" b="1" dirty="0">
                <a:solidFill>
                  <a:srgbClr val="17332D"/>
                </a:solidFill>
                <a:latin typeface="Arial"/>
                <a:ea typeface="Microsoft YaHei"/>
                <a:cs typeface="Arial"/>
              </a:rPr>
              <a:t>Same futures, three model families: who responds, who flat-lines</a:t>
            </a:r>
          </a:p>
        </p:txBody>
      </p:sp>
      <p:sp>
        <p:nvSpPr>
          <p:cNvPr id="18" name="TextBox 18"/>
          <p:cNvSpPr txBox="1"/>
          <p:nvPr/>
        </p:nvSpPr>
        <p:spPr>
          <a:xfrm>
            <a:off x="10653370" y="283845"/>
            <a:ext cx="1169060" cy="182880"/>
          </a:xfrm>
          <a:prstGeom prst="rect">
            <a:avLst/>
          </a:prstGeom>
          <a:noFill/>
          <a:ln>
            <a:noFill/>
          </a:ln>
        </p:spPr>
        <p:txBody>
          <a:bodyPr wrap="none" lIns="0" tIns="0" rIns="0" bIns="0" anchor="t" anchorCtr="0">
            <a:spAutoFit/>
          </a:bodyPr>
          <a:lstStyle/>
          <a:p>
            <a:pPr algn="r"/>
            <a:r>
              <a:rPr lang="zh-CN" sz="900" dirty="0">
                <a:solidFill>
                  <a:srgbClr val="8A919B"/>
                </a:solidFill>
                <a:latin typeface="Arial"/>
                <a:ea typeface="Microsoft YaHei"/>
                <a:cs typeface="Arial"/>
              </a:rPr>
              <a:t>Repository module</a:t>
            </a:r>
          </a:p>
        </p:txBody>
      </p:sp>
      <p:sp>
        <p:nvSpPr>
          <p:cNvPr id="19" name="Line 19"/>
          <p:cNvSpPr/>
          <p:nvPr/>
        </p:nvSpPr>
        <p:spPr>
          <a:xfrm>
            <a:off x="914400" y="6515100"/>
            <a:ext cx="10896600" cy="9525"/>
          </a:xfrm>
          <a:custGeom>
            <a:avLst/>
            <a:gdLst/>
            <a:ahLst/>
            <a:cxnLst/>
            <a:rect l="l" t="t" r="r" b="b"/>
            <a:pathLst>
              <a:path w="10896600" h="9525">
                <a:moveTo>
                  <a:pt x="0" y="0"/>
                </a:moveTo>
                <a:lnTo>
                  <a:pt x="10896600" y="0"/>
                </a:lnTo>
              </a:path>
            </a:pathLst>
          </a:custGeom>
          <a:noFill/>
          <a:ln w="9525">
            <a:solidFill>
              <a:srgbClr val="D6D3CD"/>
            </a:solidFill>
          </a:ln>
        </p:spPr>
      </p:sp>
      <p:sp>
        <p:nvSpPr>
          <p:cNvPr id="20" name="TextBox 20"/>
          <p:cNvSpPr txBox="1"/>
          <p:nvPr/>
        </p:nvSpPr>
        <p:spPr>
          <a:xfrm>
            <a:off x="902970" y="6617970"/>
            <a:ext cx="2609698" cy="182880"/>
          </a:xfrm>
          <a:prstGeom prst="rect">
            <a:avLst/>
          </a:prstGeom>
          <a:noFill/>
          <a:ln>
            <a:noFill/>
          </a:ln>
        </p:spPr>
        <p:txBody>
          <a:bodyPr wrap="none" lIns="0" tIns="0" rIns="0" bIns="0" anchor="t" anchorCtr="0">
            <a:spAutoFit/>
          </a:bodyPr>
          <a:lstStyle/>
          <a:p>
            <a:pPr algn="l"/>
            <a:r>
              <a:rPr lang="zh-CN" sz="900" dirty="0">
                <a:solidFill>
                  <a:srgbClr val="8A919B"/>
                </a:solidFill>
                <a:latin typeface="Arial"/>
                <a:ea typeface="Microsoft YaHei"/>
                <a:cs typeface="Arial"/>
              </a:rPr>
              <a:t>Birds or birders? · AOC 2026, Singapore</a:t>
            </a:r>
          </a:p>
        </p:txBody>
      </p:sp>
      <p:sp>
        <p:nvSpPr>
          <p:cNvPr id="21" name="TextBox 21"/>
          <p:cNvSpPr txBox="1"/>
          <p:nvPr/>
        </p:nvSpPr>
        <p:spPr>
          <a:xfrm>
            <a:off x="11352657" y="6617970"/>
            <a:ext cx="469773" cy="182880"/>
          </a:xfrm>
          <a:prstGeom prst="rect">
            <a:avLst/>
          </a:prstGeom>
          <a:noFill/>
          <a:ln>
            <a:noFill/>
          </a:ln>
        </p:spPr>
        <p:txBody>
          <a:bodyPr wrap="none" lIns="0" tIns="0" rIns="0" bIns="0" anchor="t" anchorCtr="0">
            <a:spAutoFit/>
          </a:bodyPr>
          <a:lstStyle/>
          <a:p>
            <a:pPr algn="r"/>
            <a:r>
              <a:rPr lang="zh-CN" sz="900" dirty="0">
                <a:solidFill>
                  <a:srgbClr val="5F6670"/>
                </a:solidFill>
                <a:latin typeface="Arial"/>
                <a:ea typeface="Microsoft YaHei"/>
                <a:cs typeface="Arial"/>
              </a:rPr>
              <a:t>16 / 20</a:t>
            </a:r>
          </a:p>
        </p:txBody>
      </p:sp>
      <p:sp>
        <p:nvSpPr>
          <p:cNvPr id="22" name="Rectangle 22"/>
          <p:cNvSpPr/>
          <p:nvPr/>
        </p:nvSpPr>
        <p:spPr>
          <a:xfrm>
            <a:off x="838200" y="876300"/>
            <a:ext cx="5799772" cy="5486400"/>
          </a:xfrm>
          <a:prstGeom prst="roundRect">
            <a:avLst>
              <a:gd name="adj" fmla="val 1042"/>
            </a:avLst>
          </a:prstGeom>
          <a:solidFill>
            <a:srgbClr val="FFFFFF"/>
          </a:solidFill>
          <a:ln w="9525">
            <a:solidFill>
              <a:srgbClr val="D6D3CD"/>
            </a:solidFill>
          </a:ln>
        </p:spPr>
      </p:sp>
      <p:pic>
        <p:nvPicPr>
          <p:cNvPr id="23" name="Image 23"/>
          <p:cNvPicPr>
            <a:picLocks noChangeAspect="1"/>
          </p:cNvPicPr>
          <p:nvPr/>
        </p:nvPicPr>
        <p:blipFill>
          <a:blip r:embed="rId2"/>
          <a:stretch>
            <a:fillRect/>
          </a:stretch>
        </p:blipFill>
        <p:spPr>
          <a:xfrm>
            <a:off x="914400" y="952500"/>
            <a:ext cx="5647372" cy="5334000"/>
          </a:xfrm>
          <a:prstGeom prst="rect">
            <a:avLst/>
          </a:prstGeom>
        </p:spPr>
      </p:pic>
      <p:sp>
        <p:nvSpPr>
          <p:cNvPr id="24" name="Rectangle 24"/>
          <p:cNvSpPr/>
          <p:nvPr/>
        </p:nvSpPr>
        <p:spPr>
          <a:xfrm>
            <a:off x="6904672" y="876300"/>
            <a:ext cx="4906328" cy="1412558"/>
          </a:xfrm>
          <a:prstGeom prst="roundRect">
            <a:avLst>
              <a:gd name="adj" fmla="val 4046"/>
            </a:avLst>
          </a:prstGeom>
          <a:solidFill>
            <a:srgbClr val="FFFFFF"/>
          </a:solidFill>
          <a:ln w="9525">
            <a:solidFill>
              <a:srgbClr val="D6D3CD"/>
            </a:solidFill>
          </a:ln>
        </p:spPr>
      </p:sp>
      <p:sp>
        <p:nvSpPr>
          <p:cNvPr id="25" name="Rectangle 25"/>
          <p:cNvSpPr/>
          <p:nvPr/>
        </p:nvSpPr>
        <p:spPr>
          <a:xfrm>
            <a:off x="6904672" y="876300"/>
            <a:ext cx="4906328" cy="38100"/>
          </a:xfrm>
          <a:prstGeom prst="rect">
            <a:avLst/>
          </a:prstGeom>
          <a:solidFill>
            <a:srgbClr val="1F4E45"/>
          </a:solidFill>
          <a:ln>
            <a:noFill/>
          </a:ln>
        </p:spPr>
      </p:sp>
      <p:sp>
        <p:nvSpPr>
          <p:cNvPr id="26" name="TextBox 26"/>
          <p:cNvSpPr txBox="1"/>
          <p:nvPr/>
        </p:nvSpPr>
        <p:spPr>
          <a:xfrm>
            <a:off x="7078980" y="1052989"/>
            <a:ext cx="3490598" cy="259080"/>
          </a:xfrm>
          <a:prstGeom prst="rect">
            <a:avLst/>
          </a:prstGeom>
          <a:noFill/>
          <a:ln>
            <a:noFill/>
          </a:ln>
        </p:spPr>
        <p:txBody>
          <a:bodyPr wrap="none" lIns="0" tIns="0" rIns="0" bIns="0" anchor="t" anchorCtr="0">
            <a:spAutoFit/>
          </a:bodyPr>
          <a:lstStyle/>
          <a:p>
            <a:pPr algn="l"/>
            <a:r>
              <a:rPr lang="zh-CN" sz="1275" b="1" dirty="0">
                <a:solidFill>
                  <a:srgbClr val="1F4E45"/>
                </a:solidFill>
                <a:latin typeface="Arial"/>
                <a:ea typeface="Microsoft YaHei"/>
                <a:cs typeface="Arial"/>
              </a:rPr>
              <a:t>Same scenarios, three model families</a:t>
            </a:r>
          </a:p>
        </p:txBody>
      </p:sp>
      <p:sp>
        <p:nvSpPr>
          <p:cNvPr id="27" name="TextBox 27"/>
          <p:cNvSpPr txBox="1"/>
          <p:nvPr/>
        </p:nvSpPr>
        <p:spPr>
          <a:xfrm>
            <a:off x="7080885" y="1345406"/>
            <a:ext cx="3566089" cy="228600"/>
          </a:xfrm>
          <a:prstGeom prst="rect">
            <a:avLst/>
          </a:prstGeom>
          <a:noFill/>
          <a:ln>
            <a:noFill/>
          </a:ln>
        </p:spPr>
        <p:txBody>
          <a:bodyPr wrap="none" lIns="0" tIns="0" rIns="0" bIns="0" anchor="t" anchorCtr="0">
            <a:spAutoFit/>
          </a:bodyPr>
          <a:lstStyle/>
          <a:p>
            <a:pPr algn="l"/>
            <a:r>
              <a:rPr lang="zh-CN" sz="1125" dirty="0">
                <a:solidFill>
                  <a:srgbClr val="17332D"/>
                </a:solidFill>
                <a:latin typeface="Arial"/>
                <a:ea typeface="Microsoft YaHei"/>
                <a:cs typeface="Arial"/>
              </a:rPr>
              <a:t>All calibrated to 22.4 records a year in 2024</a:t>
            </a:r>
          </a:p>
        </p:txBody>
      </p:sp>
      <p:sp>
        <p:nvSpPr>
          <p:cNvPr id="28" name="TextBox 28"/>
          <p:cNvSpPr txBox="1"/>
          <p:nvPr/>
        </p:nvSpPr>
        <p:spPr>
          <a:xfrm>
            <a:off x="7080885" y="1583531"/>
            <a:ext cx="3294983" cy="228600"/>
          </a:xfrm>
          <a:prstGeom prst="rect">
            <a:avLst/>
          </a:prstGeom>
          <a:noFill/>
          <a:ln>
            <a:noFill/>
          </a:ln>
        </p:spPr>
        <p:txBody>
          <a:bodyPr wrap="none" lIns="0" tIns="0" rIns="0" bIns="0" anchor="t" anchorCtr="0">
            <a:spAutoFit/>
          </a:bodyPr>
          <a:lstStyle/>
          <a:p>
            <a:pPr algn="l"/>
            <a:r>
              <a:rPr lang="zh-CN" sz="1125" dirty="0">
                <a:solidFill>
                  <a:srgbClr val="5F6670"/>
                </a:solidFill>
                <a:latin typeface="Arial"/>
                <a:ea typeface="Microsoft YaHei"/>
                <a:cs typeface="Arial"/>
              </a:rPr>
              <a:t>After that, each family's slope is its own</a:t>
            </a:r>
          </a:p>
        </p:txBody>
      </p:sp>
      <p:sp>
        <p:nvSpPr>
          <p:cNvPr id="29" name="Rectangle 29"/>
          <p:cNvSpPr/>
          <p:nvPr/>
        </p:nvSpPr>
        <p:spPr>
          <a:xfrm>
            <a:off x="6904672" y="2669858"/>
            <a:ext cx="4906328" cy="1888808"/>
          </a:xfrm>
          <a:prstGeom prst="roundRect">
            <a:avLst>
              <a:gd name="adj" fmla="val 3026"/>
            </a:avLst>
          </a:prstGeom>
          <a:solidFill>
            <a:srgbClr val="FFFFFF"/>
          </a:solidFill>
          <a:ln w="9525">
            <a:solidFill>
              <a:srgbClr val="D6D3CD"/>
            </a:solidFill>
          </a:ln>
        </p:spPr>
      </p:sp>
      <p:sp>
        <p:nvSpPr>
          <p:cNvPr id="30" name="Rectangle 30"/>
          <p:cNvSpPr/>
          <p:nvPr/>
        </p:nvSpPr>
        <p:spPr>
          <a:xfrm>
            <a:off x="6904672" y="2669858"/>
            <a:ext cx="4906328" cy="38100"/>
          </a:xfrm>
          <a:prstGeom prst="rect">
            <a:avLst/>
          </a:prstGeom>
          <a:solidFill>
            <a:srgbClr val="0072B2"/>
          </a:solidFill>
          <a:ln>
            <a:noFill/>
          </a:ln>
        </p:spPr>
      </p:sp>
      <p:sp>
        <p:nvSpPr>
          <p:cNvPr id="31" name="TextBox 31"/>
          <p:cNvSpPr txBox="1"/>
          <p:nvPr/>
        </p:nvSpPr>
        <p:spPr>
          <a:xfrm>
            <a:off x="7078980" y="2846546"/>
            <a:ext cx="3372166" cy="259080"/>
          </a:xfrm>
          <a:prstGeom prst="rect">
            <a:avLst/>
          </a:prstGeom>
          <a:noFill/>
          <a:ln>
            <a:noFill/>
          </a:ln>
        </p:spPr>
        <p:txBody>
          <a:bodyPr wrap="none" lIns="0" tIns="0" rIns="0" bIns="0" anchor="t" anchorCtr="0">
            <a:spAutoFit/>
          </a:bodyPr>
          <a:lstStyle/>
          <a:p>
            <a:pPr algn="l"/>
            <a:r>
              <a:rPr lang="zh-CN" sz="1275" b="1" dirty="0">
                <a:solidFill>
                  <a:srgbClr val="0072B2"/>
                </a:solidFill>
                <a:latin typeface="Arial"/>
                <a:ea typeface="Microsoft YaHei"/>
                <a:cs typeface="Arial"/>
              </a:rPr>
              <a:t>2050, effort growing: they diverge</a:t>
            </a:r>
          </a:p>
        </p:txBody>
      </p:sp>
      <p:sp>
        <p:nvSpPr>
          <p:cNvPr id="32" name="TextBox 32"/>
          <p:cNvSpPr txBox="1"/>
          <p:nvPr/>
        </p:nvSpPr>
        <p:spPr>
          <a:xfrm>
            <a:off x="7080885" y="3138964"/>
            <a:ext cx="2798778" cy="228600"/>
          </a:xfrm>
          <a:prstGeom prst="rect">
            <a:avLst/>
          </a:prstGeom>
          <a:noFill/>
          <a:ln>
            <a:noFill/>
          </a:ln>
        </p:spPr>
        <p:txBody>
          <a:bodyPr wrap="none" lIns="0" tIns="0" rIns="0" bIns="0" anchor="t" anchorCtr="0">
            <a:spAutoFit/>
          </a:bodyPr>
          <a:lstStyle/>
          <a:p>
            <a:pPr algn="l"/>
            <a:r>
              <a:rPr lang="zh-CN" sz="1125" dirty="0">
                <a:solidFill>
                  <a:srgbClr val="0072B2"/>
                </a:solidFill>
                <a:latin typeface="Arial"/>
                <a:ea typeface="Microsoft YaHei"/>
                <a:cs typeface="Arial"/>
              </a:rPr>
              <a:t>Hazard model: 23.6 → 57.4 per year</a:t>
            </a:r>
          </a:p>
        </p:txBody>
      </p:sp>
      <p:sp>
        <p:nvSpPr>
          <p:cNvPr id="33" name="TextBox 33"/>
          <p:cNvSpPr txBox="1"/>
          <p:nvPr/>
        </p:nvSpPr>
        <p:spPr>
          <a:xfrm>
            <a:off x="7080885" y="3377089"/>
            <a:ext cx="2746200" cy="228600"/>
          </a:xfrm>
          <a:prstGeom prst="rect">
            <a:avLst/>
          </a:prstGeom>
          <a:noFill/>
          <a:ln>
            <a:noFill/>
          </a:ln>
        </p:spPr>
        <p:txBody>
          <a:bodyPr wrap="none" lIns="0" tIns="0" rIns="0" bIns="0" anchor="t" anchorCtr="0">
            <a:spAutoFit/>
          </a:bodyPr>
          <a:lstStyle/>
          <a:p>
            <a:pPr algn="l"/>
            <a:r>
              <a:rPr lang="zh-CN" sz="1125" dirty="0">
                <a:solidFill>
                  <a:srgbClr val="5F6670"/>
                </a:solidFill>
                <a:latin typeface="Arial"/>
                <a:ea typeface="Microsoft YaHei"/>
                <a:cs typeface="Arial"/>
              </a:rPr>
              <a:t>Random forest: 23.1 → 23.0 (flat)</a:t>
            </a:r>
          </a:p>
        </p:txBody>
      </p:sp>
      <p:sp>
        <p:nvSpPr>
          <p:cNvPr id="34" name="TextBox 34"/>
          <p:cNvSpPr txBox="1"/>
          <p:nvPr/>
        </p:nvSpPr>
        <p:spPr>
          <a:xfrm>
            <a:off x="7080885" y="3615214"/>
            <a:ext cx="2557248" cy="228600"/>
          </a:xfrm>
          <a:prstGeom prst="rect">
            <a:avLst/>
          </a:prstGeom>
          <a:noFill/>
          <a:ln>
            <a:noFill/>
          </a:ln>
        </p:spPr>
        <p:txBody>
          <a:bodyPr wrap="none" lIns="0" tIns="0" rIns="0" bIns="0" anchor="t" anchorCtr="0">
            <a:spAutoFit/>
          </a:bodyPr>
          <a:lstStyle/>
          <a:p>
            <a:pPr algn="l"/>
            <a:r>
              <a:rPr lang="zh-CN" sz="1125" dirty="0">
                <a:solidFill>
                  <a:srgbClr val="B45309"/>
                </a:solidFill>
                <a:latin typeface="Arial"/>
                <a:ea typeface="Microsoft YaHei"/>
                <a:cs typeface="Arial"/>
              </a:rPr>
              <a:t>XGBoost: 13.5 → 6.1 (reversed)</a:t>
            </a:r>
          </a:p>
        </p:txBody>
      </p:sp>
      <p:sp>
        <p:nvSpPr>
          <p:cNvPr id="35" name="TextBox 35"/>
          <p:cNvSpPr txBox="1"/>
          <p:nvPr/>
        </p:nvSpPr>
        <p:spPr>
          <a:xfrm>
            <a:off x="7080885" y="3853339"/>
            <a:ext cx="3199686" cy="228600"/>
          </a:xfrm>
          <a:prstGeom prst="rect">
            <a:avLst/>
          </a:prstGeom>
          <a:noFill/>
          <a:ln>
            <a:noFill/>
          </a:ln>
        </p:spPr>
        <p:txBody>
          <a:bodyPr wrap="none" lIns="0" tIns="0" rIns="0" bIns="0" anchor="t" anchorCtr="0">
            <a:spAutoFit/>
          </a:bodyPr>
          <a:lstStyle/>
          <a:p>
            <a:pPr algn="l"/>
            <a:r>
              <a:rPr lang="zh-CN" sz="1125" dirty="0">
                <a:solidFill>
                  <a:srgbClr val="5F6670"/>
                </a:solidFill>
                <a:latin typeface="Arial"/>
                <a:ea typeface="Microsoft YaHei"/>
                <a:cs typeface="Arial"/>
              </a:rPr>
              <a:t>Yet all agree on where (ρ = 0.62–0.90)</a:t>
            </a:r>
          </a:p>
        </p:txBody>
      </p:sp>
      <p:sp>
        <p:nvSpPr>
          <p:cNvPr id="36" name="Rectangle 36"/>
          <p:cNvSpPr/>
          <p:nvPr/>
        </p:nvSpPr>
        <p:spPr>
          <a:xfrm>
            <a:off x="6904672" y="4940618"/>
            <a:ext cx="4906328" cy="1422082"/>
          </a:xfrm>
          <a:prstGeom prst="roundRect">
            <a:avLst>
              <a:gd name="adj" fmla="val 4019"/>
            </a:avLst>
          </a:prstGeom>
          <a:solidFill>
            <a:srgbClr val="1F4E45"/>
          </a:solidFill>
          <a:ln>
            <a:noFill/>
          </a:ln>
        </p:spPr>
      </p:sp>
      <p:sp>
        <p:nvSpPr>
          <p:cNvPr id="37" name="TextBox 37"/>
          <p:cNvSpPr txBox="1"/>
          <p:nvPr/>
        </p:nvSpPr>
        <p:spPr>
          <a:xfrm>
            <a:off x="7916036" y="5332571"/>
            <a:ext cx="2882647" cy="259080"/>
          </a:xfrm>
          <a:prstGeom prst="rect">
            <a:avLst/>
          </a:prstGeom>
          <a:noFill/>
          <a:ln>
            <a:noFill/>
          </a:ln>
        </p:spPr>
        <p:txBody>
          <a:bodyPr wrap="none" lIns="0" tIns="0" rIns="0" bIns="0" anchor="t" anchorCtr="0">
            <a:spAutoFit/>
          </a:bodyPr>
          <a:lstStyle/>
          <a:p>
            <a:pPr algn="ctr"/>
            <a:r>
              <a:rPr lang="zh-CN" sz="1275" b="1" dirty="0">
                <a:solidFill>
                  <a:srgbClr val="FFFFFF"/>
                </a:solidFill>
                <a:latin typeface="Arial"/>
                <a:ea typeface="Microsoft YaHei"/>
                <a:cs typeface="Arial"/>
              </a:rPr>
              <a:t>Not a contest between models</a:t>
            </a:r>
          </a:p>
        </p:txBody>
      </p:sp>
      <p:sp>
        <p:nvSpPr>
          <p:cNvPr id="38" name="TextBox 38"/>
          <p:cNvSpPr txBox="1"/>
          <p:nvPr/>
        </p:nvSpPr>
        <p:spPr>
          <a:xfrm>
            <a:off x="7575137" y="5615464"/>
            <a:ext cx="3564445" cy="228600"/>
          </a:xfrm>
          <a:prstGeom prst="rect">
            <a:avLst/>
          </a:prstGeom>
          <a:noFill/>
          <a:ln>
            <a:noFill/>
          </a:ln>
        </p:spPr>
        <p:txBody>
          <a:bodyPr wrap="none" lIns="0" tIns="0" rIns="0" bIns="0" anchor="t" anchorCtr="0">
            <a:spAutoFit/>
          </a:bodyPr>
          <a:lstStyle/>
          <a:p>
            <a:pPr algn="ctr"/>
            <a:r>
              <a:rPr lang="zh-CN" sz="1125" dirty="0">
                <a:solidFill>
                  <a:srgbClr val="E7F0ED"/>
                </a:solidFill>
                <a:latin typeface="Arial"/>
                <a:ea typeface="Microsoft YaHei"/>
                <a:cs typeface="Arial"/>
              </a:rPr>
              <a:t>Outside the data, trees return edge values;</a:t>
            </a:r>
          </a:p>
        </p:txBody>
      </p:sp>
      <p:sp>
        <p:nvSpPr>
          <p:cNvPr id="39" name="TextBox 39"/>
          <p:cNvSpPr txBox="1"/>
          <p:nvPr/>
        </p:nvSpPr>
        <p:spPr>
          <a:xfrm>
            <a:off x="8087773" y="5844064"/>
            <a:ext cx="2539175" cy="228600"/>
          </a:xfrm>
          <a:prstGeom prst="rect">
            <a:avLst/>
          </a:prstGeom>
          <a:noFill/>
          <a:ln>
            <a:noFill/>
          </a:ln>
        </p:spPr>
        <p:txBody>
          <a:bodyPr wrap="none" lIns="0" tIns="0" rIns="0" bIns="0" anchor="t" anchorCtr="0">
            <a:spAutoFit/>
          </a:bodyPr>
          <a:lstStyle/>
          <a:p>
            <a:pPr algn="ctr"/>
            <a:r>
              <a:rPr lang="zh-CN" sz="1125" dirty="0">
                <a:solidFill>
                  <a:srgbClr val="E7F0ED"/>
                </a:solidFill>
                <a:latin typeface="Arial"/>
                <a:ea typeface="Microsoft YaHei"/>
                <a:cs typeface="Arial"/>
              </a:rPr>
              <a:t>nobody can check the direction</a:t>
            </a:r>
          </a:p>
        </p:txBody>
      </p:sp>
    </p:spTree>
  </p:cSld>
  <p:clrMapOvr>
    <a:masterClrMapping/>
  </p:clrMapOvr>
  <p:transition xmlns:p14="http://schemas.microsoft.com/office/powerpoint/2010/main" p14:dur="400">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BFAF7"/>
          </a:solidFill>
          <a:ln>
            <a:noFill/>
          </a:ln>
        </p:spPr>
      </p:sp>
      <p:sp>
        <p:nvSpPr>
          <p:cNvPr id="3" name="Rectangle 3"/>
          <p:cNvSpPr/>
          <p:nvPr/>
        </p:nvSpPr>
        <p:spPr>
          <a:xfrm>
            <a:off x="0" y="0"/>
            <a:ext cx="609600" cy="6858000"/>
          </a:xfrm>
          <a:prstGeom prst="rect">
            <a:avLst/>
          </a:prstGeom>
          <a:solidFill>
            <a:srgbClr val="1F4E45"/>
          </a:solidFill>
          <a:ln>
            <a:noFill/>
          </a:ln>
        </p:spPr>
      </p:sp>
      <p:sp>
        <p:nvSpPr>
          <p:cNvPr id="4" name="Ellipse 4"/>
          <p:cNvSpPr/>
          <p:nvPr/>
        </p:nvSpPr>
        <p:spPr>
          <a:xfrm>
            <a:off x="272415" y="1091565"/>
            <a:ext cx="64770" cy="64770"/>
          </a:xfrm>
          <a:prstGeom prst="ellipse">
            <a:avLst/>
          </a:prstGeom>
          <a:solidFill>
            <a:srgbClr val="FFFFFF">
              <a:alpha val="42000"/>
            </a:srgbClr>
          </a:solidFill>
          <a:ln>
            <a:noFill/>
          </a:ln>
        </p:spPr>
      </p:sp>
      <p:sp>
        <p:nvSpPr>
          <p:cNvPr id="5" name="TextBox 5"/>
          <p:cNvSpPr txBox="1"/>
          <p:nvPr/>
        </p:nvSpPr>
        <p:spPr>
          <a:xfrm>
            <a:off x="17336" y="1245870"/>
            <a:ext cx="574929" cy="182880"/>
          </a:xfrm>
          <a:prstGeom prst="rect">
            <a:avLst/>
          </a:prstGeom>
          <a:noFill/>
          <a:ln>
            <a:noFill/>
          </a:ln>
        </p:spPr>
        <p:txBody>
          <a:bodyPr wrap="none" lIns="0" tIns="0" rIns="0" bIns="0" anchor="t" anchorCtr="0">
            <a:spAutoFit/>
          </a:bodyPr>
          <a:lstStyle/>
          <a:p>
            <a:pPr algn="ctr"/>
            <a:r>
              <a:rPr lang="zh-CN" sz="900" dirty="0">
                <a:solidFill>
                  <a:srgbClr val="FFFFFF">
                    <a:alphaMod val="60000"/>
                  </a:srgbClr>
                </a:solidFill>
                <a:latin typeface="Arial"/>
                <a:ea typeface="Microsoft YaHei"/>
                <a:cs typeface="Arial"/>
              </a:rPr>
              <a:t>Question</a:t>
            </a:r>
          </a:p>
        </p:txBody>
      </p:sp>
      <p:sp>
        <p:nvSpPr>
          <p:cNvPr id="6" name="Ellipse 6"/>
          <p:cNvSpPr/>
          <p:nvPr/>
        </p:nvSpPr>
        <p:spPr>
          <a:xfrm>
            <a:off x="272415" y="1948815"/>
            <a:ext cx="64770" cy="64770"/>
          </a:xfrm>
          <a:prstGeom prst="ellipse">
            <a:avLst/>
          </a:prstGeom>
          <a:solidFill>
            <a:srgbClr val="FFFFFF">
              <a:alpha val="42000"/>
            </a:srgbClr>
          </a:solidFill>
          <a:ln>
            <a:noFill/>
          </a:ln>
        </p:spPr>
      </p:sp>
      <p:sp>
        <p:nvSpPr>
          <p:cNvPr id="7" name="TextBox 7"/>
          <p:cNvSpPr txBox="1"/>
          <p:nvPr/>
        </p:nvSpPr>
        <p:spPr>
          <a:xfrm>
            <a:off x="146152" y="2103120"/>
            <a:ext cx="317297" cy="182880"/>
          </a:xfrm>
          <a:prstGeom prst="rect">
            <a:avLst/>
          </a:prstGeom>
          <a:noFill/>
          <a:ln>
            <a:noFill/>
          </a:ln>
        </p:spPr>
        <p:txBody>
          <a:bodyPr wrap="none" lIns="0" tIns="0" rIns="0" bIns="0" anchor="t" anchorCtr="0">
            <a:spAutoFit/>
          </a:bodyPr>
          <a:lstStyle/>
          <a:p>
            <a:pPr algn="ctr"/>
            <a:r>
              <a:rPr lang="zh-CN" sz="900" dirty="0">
                <a:solidFill>
                  <a:srgbClr val="FFFFFF">
                    <a:alphaMod val="60000"/>
                  </a:srgbClr>
                </a:solidFill>
                <a:latin typeface="Arial"/>
                <a:ea typeface="Microsoft YaHei"/>
                <a:cs typeface="Arial"/>
              </a:rPr>
              <a:t>Data</a:t>
            </a:r>
          </a:p>
        </p:txBody>
      </p:sp>
      <p:sp>
        <p:nvSpPr>
          <p:cNvPr id="8" name="Ellipse 8"/>
          <p:cNvSpPr/>
          <p:nvPr/>
        </p:nvSpPr>
        <p:spPr>
          <a:xfrm>
            <a:off x="272415" y="2806065"/>
            <a:ext cx="64770" cy="64770"/>
          </a:xfrm>
          <a:prstGeom prst="ellipse">
            <a:avLst/>
          </a:prstGeom>
          <a:solidFill>
            <a:srgbClr val="FFFFFF">
              <a:alpha val="42000"/>
            </a:srgbClr>
          </a:solidFill>
          <a:ln>
            <a:noFill/>
          </a:ln>
        </p:spPr>
      </p:sp>
      <p:sp>
        <p:nvSpPr>
          <p:cNvPr id="9" name="TextBox 9"/>
          <p:cNvSpPr txBox="1"/>
          <p:nvPr/>
        </p:nvSpPr>
        <p:spPr>
          <a:xfrm>
            <a:off x="35738" y="2960370"/>
            <a:ext cx="538124" cy="182880"/>
          </a:xfrm>
          <a:prstGeom prst="rect">
            <a:avLst/>
          </a:prstGeom>
          <a:noFill/>
          <a:ln>
            <a:noFill/>
          </a:ln>
        </p:spPr>
        <p:txBody>
          <a:bodyPr wrap="none" lIns="0" tIns="0" rIns="0" bIns="0" anchor="t" anchorCtr="0">
            <a:spAutoFit/>
          </a:bodyPr>
          <a:lstStyle/>
          <a:p>
            <a:pPr algn="ctr"/>
            <a:r>
              <a:rPr lang="zh-CN" sz="900" dirty="0">
                <a:solidFill>
                  <a:srgbClr val="FFFFFF">
                    <a:alphaMod val="60000"/>
                  </a:srgbClr>
                </a:solidFill>
                <a:latin typeface="Arial"/>
                <a:ea typeface="Microsoft YaHei"/>
                <a:cs typeface="Arial"/>
              </a:rPr>
              <a:t>Findings</a:t>
            </a:r>
          </a:p>
        </p:txBody>
      </p:sp>
      <p:sp>
        <p:nvSpPr>
          <p:cNvPr id="10" name="Ellipse 10"/>
          <p:cNvSpPr/>
          <p:nvPr/>
        </p:nvSpPr>
        <p:spPr>
          <a:xfrm>
            <a:off x="272415" y="3663315"/>
            <a:ext cx="64770" cy="64770"/>
          </a:xfrm>
          <a:prstGeom prst="ellipse">
            <a:avLst/>
          </a:prstGeom>
          <a:solidFill>
            <a:srgbClr val="FFFFFF">
              <a:alpha val="42000"/>
            </a:srgbClr>
          </a:solidFill>
          <a:ln>
            <a:noFill/>
          </a:ln>
        </p:spPr>
      </p:sp>
      <p:sp>
        <p:nvSpPr>
          <p:cNvPr id="11" name="TextBox 11"/>
          <p:cNvSpPr txBox="1"/>
          <p:nvPr/>
        </p:nvSpPr>
        <p:spPr>
          <a:xfrm>
            <a:off x="72542" y="3817620"/>
            <a:ext cx="464515" cy="182880"/>
          </a:xfrm>
          <a:prstGeom prst="rect">
            <a:avLst/>
          </a:prstGeom>
          <a:noFill/>
          <a:ln>
            <a:noFill/>
          </a:ln>
        </p:spPr>
        <p:txBody>
          <a:bodyPr wrap="none" lIns="0" tIns="0" rIns="0" bIns="0" anchor="t" anchorCtr="0">
            <a:spAutoFit/>
          </a:bodyPr>
          <a:lstStyle/>
          <a:p>
            <a:pPr algn="ctr"/>
            <a:r>
              <a:rPr lang="zh-CN" sz="900" dirty="0">
                <a:solidFill>
                  <a:srgbClr val="FFFFFF">
                    <a:alphaMod val="60000"/>
                  </a:srgbClr>
                </a:solidFill>
                <a:latin typeface="Arial"/>
                <a:ea typeface="Microsoft YaHei"/>
                <a:cs typeface="Arial"/>
              </a:rPr>
              <a:t>Robust</a:t>
            </a:r>
          </a:p>
        </p:txBody>
      </p:sp>
      <p:sp>
        <p:nvSpPr>
          <p:cNvPr id="12" name="Ellipse 12"/>
          <p:cNvSpPr/>
          <p:nvPr/>
        </p:nvSpPr>
        <p:spPr>
          <a:xfrm>
            <a:off x="257175" y="4505325"/>
            <a:ext cx="95250" cy="95250"/>
          </a:xfrm>
          <a:prstGeom prst="ellipse">
            <a:avLst/>
          </a:prstGeom>
          <a:solidFill>
            <a:srgbClr val="FFFFFF"/>
          </a:solidFill>
          <a:ln>
            <a:noFill/>
          </a:ln>
        </p:spPr>
      </p:sp>
      <p:sp>
        <p:nvSpPr>
          <p:cNvPr id="13" name="TextBox 13"/>
          <p:cNvSpPr txBox="1"/>
          <p:nvPr/>
        </p:nvSpPr>
        <p:spPr>
          <a:xfrm>
            <a:off x="146152" y="4674870"/>
            <a:ext cx="317297" cy="182880"/>
          </a:xfrm>
          <a:prstGeom prst="rect">
            <a:avLst/>
          </a:prstGeom>
          <a:noFill/>
          <a:ln>
            <a:noFill/>
          </a:ln>
        </p:spPr>
        <p:txBody>
          <a:bodyPr wrap="none" lIns="0" tIns="0" rIns="0" bIns="0" anchor="t" anchorCtr="0">
            <a:spAutoFit/>
          </a:bodyPr>
          <a:lstStyle/>
          <a:p>
            <a:pPr algn="ctr"/>
            <a:r>
              <a:rPr lang="zh-CN" sz="900" dirty="0">
                <a:solidFill>
                  <a:srgbClr val="FFFFFF"/>
                </a:solidFill>
                <a:latin typeface="Arial"/>
                <a:ea typeface="Microsoft YaHei"/>
                <a:cs typeface="Arial"/>
              </a:rPr>
              <a:t>Uses</a:t>
            </a:r>
          </a:p>
        </p:txBody>
      </p:sp>
      <p:sp>
        <p:nvSpPr>
          <p:cNvPr id="14" name="Ellipse 14"/>
          <p:cNvSpPr/>
          <p:nvPr/>
        </p:nvSpPr>
        <p:spPr>
          <a:xfrm>
            <a:off x="272415" y="5377815"/>
            <a:ext cx="64770" cy="64770"/>
          </a:xfrm>
          <a:prstGeom prst="ellipse">
            <a:avLst/>
          </a:prstGeom>
          <a:solidFill>
            <a:srgbClr val="FFFFFF">
              <a:alpha val="42000"/>
            </a:srgbClr>
          </a:solidFill>
          <a:ln>
            <a:noFill/>
          </a:ln>
        </p:spPr>
      </p:sp>
      <p:sp>
        <p:nvSpPr>
          <p:cNvPr id="15" name="TextBox 15"/>
          <p:cNvSpPr txBox="1"/>
          <p:nvPr/>
        </p:nvSpPr>
        <p:spPr>
          <a:xfrm>
            <a:off x="16678" y="5532120"/>
            <a:ext cx="576243" cy="182880"/>
          </a:xfrm>
          <a:prstGeom prst="rect">
            <a:avLst/>
          </a:prstGeom>
          <a:noFill/>
          <a:ln>
            <a:noFill/>
          </a:ln>
        </p:spPr>
        <p:txBody>
          <a:bodyPr wrap="none" lIns="0" tIns="0" rIns="0" bIns="0" anchor="t" anchorCtr="0">
            <a:spAutoFit/>
          </a:bodyPr>
          <a:lstStyle/>
          <a:p>
            <a:pPr algn="ctr"/>
            <a:r>
              <a:rPr lang="zh-CN" sz="900" dirty="0">
                <a:solidFill>
                  <a:srgbClr val="FFFFFF">
                    <a:alphaMod val="60000"/>
                  </a:srgbClr>
                </a:solidFill>
                <a:latin typeface="Arial"/>
                <a:ea typeface="Microsoft YaHei"/>
                <a:cs typeface="Arial"/>
              </a:rPr>
              <a:t>Wrap-up</a:t>
            </a:r>
          </a:p>
        </p:txBody>
      </p:sp>
      <p:sp>
        <p:nvSpPr>
          <p:cNvPr id="16" name="Rectangle 16"/>
          <p:cNvSpPr/>
          <p:nvPr/>
        </p:nvSpPr>
        <p:spPr>
          <a:xfrm>
            <a:off x="914400" y="304800"/>
            <a:ext cx="419100" cy="47625"/>
          </a:xfrm>
          <a:prstGeom prst="rect">
            <a:avLst/>
          </a:prstGeom>
          <a:solidFill>
            <a:srgbClr val="B45309"/>
          </a:solidFill>
          <a:ln>
            <a:noFill/>
          </a:ln>
        </p:spPr>
      </p:sp>
      <p:sp>
        <p:nvSpPr>
          <p:cNvPr id="17" name="TextBox 17"/>
          <p:cNvSpPr txBox="1"/>
          <p:nvPr/>
        </p:nvSpPr>
        <p:spPr>
          <a:xfrm>
            <a:off x="889635" y="456248"/>
            <a:ext cx="9344580" cy="396240"/>
          </a:xfrm>
          <a:prstGeom prst="rect">
            <a:avLst/>
          </a:prstGeom>
          <a:noFill/>
          <a:ln>
            <a:noFill/>
          </a:ln>
        </p:spPr>
        <p:txBody>
          <a:bodyPr wrap="none" lIns="0" tIns="0" rIns="0" bIns="0" anchor="t" anchorCtr="0">
            <a:spAutoFit/>
          </a:bodyPr>
          <a:lstStyle/>
          <a:p>
            <a:pPr algn="l"/>
            <a:r>
              <a:rPr lang="zh-CN" sz="1950" b="1" dirty="0">
                <a:solidFill>
                  <a:srgbClr val="17332D"/>
                </a:solidFill>
                <a:latin typeface="Arial"/>
                <a:ea typeface="Microsoft YaHei"/>
                <a:cs typeface="Arial"/>
              </a:rPr>
              <a:t>Use 3 · Data support, not ambition, sets the forecast horizon</a:t>
            </a:r>
          </a:p>
        </p:txBody>
      </p:sp>
      <p:sp>
        <p:nvSpPr>
          <p:cNvPr id="18" name="TextBox 18"/>
          <p:cNvSpPr txBox="1"/>
          <p:nvPr/>
        </p:nvSpPr>
        <p:spPr>
          <a:xfrm>
            <a:off x="9855498" y="283845"/>
            <a:ext cx="1966932" cy="182880"/>
          </a:xfrm>
          <a:prstGeom prst="rect">
            <a:avLst/>
          </a:prstGeom>
          <a:noFill/>
          <a:ln>
            <a:noFill/>
          </a:ln>
        </p:spPr>
        <p:txBody>
          <a:bodyPr wrap="none" lIns="0" tIns="0" rIns="0" bIns="0" anchor="t" anchorCtr="0">
            <a:spAutoFit/>
          </a:bodyPr>
          <a:lstStyle/>
          <a:p>
            <a:pPr algn="r"/>
            <a:r>
              <a:rPr lang="zh-CN" sz="900" dirty="0">
                <a:solidFill>
                  <a:srgbClr val="8A919B"/>
                </a:solidFill>
                <a:latin typeface="Arial"/>
                <a:ea typeface="Microsoft YaHei"/>
                <a:cs typeface="Arial"/>
              </a:rPr>
              <a:t>Figure 7 · SI Figs S6–S8, S10</a:t>
            </a:r>
          </a:p>
        </p:txBody>
      </p:sp>
      <p:sp>
        <p:nvSpPr>
          <p:cNvPr id="19" name="Line 19"/>
          <p:cNvSpPr/>
          <p:nvPr/>
        </p:nvSpPr>
        <p:spPr>
          <a:xfrm>
            <a:off x="914400" y="6515100"/>
            <a:ext cx="10896600" cy="9525"/>
          </a:xfrm>
          <a:custGeom>
            <a:avLst/>
            <a:gdLst/>
            <a:ahLst/>
            <a:cxnLst/>
            <a:rect l="l" t="t" r="r" b="b"/>
            <a:pathLst>
              <a:path w="10896600" h="9525">
                <a:moveTo>
                  <a:pt x="0" y="0"/>
                </a:moveTo>
                <a:lnTo>
                  <a:pt x="10896600" y="0"/>
                </a:lnTo>
              </a:path>
            </a:pathLst>
          </a:custGeom>
          <a:noFill/>
          <a:ln w="9525">
            <a:solidFill>
              <a:srgbClr val="D6D3CD"/>
            </a:solidFill>
          </a:ln>
        </p:spPr>
      </p:sp>
      <p:sp>
        <p:nvSpPr>
          <p:cNvPr id="20" name="TextBox 20"/>
          <p:cNvSpPr txBox="1"/>
          <p:nvPr/>
        </p:nvSpPr>
        <p:spPr>
          <a:xfrm>
            <a:off x="902970" y="6617970"/>
            <a:ext cx="2609698" cy="182880"/>
          </a:xfrm>
          <a:prstGeom prst="rect">
            <a:avLst/>
          </a:prstGeom>
          <a:noFill/>
          <a:ln>
            <a:noFill/>
          </a:ln>
        </p:spPr>
        <p:txBody>
          <a:bodyPr wrap="none" lIns="0" tIns="0" rIns="0" bIns="0" anchor="t" anchorCtr="0">
            <a:spAutoFit/>
          </a:bodyPr>
          <a:lstStyle/>
          <a:p>
            <a:pPr algn="l"/>
            <a:r>
              <a:rPr lang="zh-CN" sz="900" dirty="0">
                <a:solidFill>
                  <a:srgbClr val="8A919B"/>
                </a:solidFill>
                <a:latin typeface="Arial"/>
                <a:ea typeface="Microsoft YaHei"/>
                <a:cs typeface="Arial"/>
              </a:rPr>
              <a:t>Birds or birders? · AOC 2026, Singapore</a:t>
            </a:r>
          </a:p>
        </p:txBody>
      </p:sp>
      <p:sp>
        <p:nvSpPr>
          <p:cNvPr id="21" name="TextBox 21"/>
          <p:cNvSpPr txBox="1"/>
          <p:nvPr/>
        </p:nvSpPr>
        <p:spPr>
          <a:xfrm>
            <a:off x="11352657" y="6617970"/>
            <a:ext cx="469773" cy="182880"/>
          </a:xfrm>
          <a:prstGeom prst="rect">
            <a:avLst/>
          </a:prstGeom>
          <a:noFill/>
          <a:ln>
            <a:noFill/>
          </a:ln>
        </p:spPr>
        <p:txBody>
          <a:bodyPr wrap="none" lIns="0" tIns="0" rIns="0" bIns="0" anchor="t" anchorCtr="0">
            <a:spAutoFit/>
          </a:bodyPr>
          <a:lstStyle/>
          <a:p>
            <a:pPr algn="r"/>
            <a:r>
              <a:rPr lang="zh-CN" sz="900" dirty="0">
                <a:solidFill>
                  <a:srgbClr val="5F6670"/>
                </a:solidFill>
                <a:latin typeface="Arial"/>
                <a:ea typeface="Microsoft YaHei"/>
                <a:cs typeface="Arial"/>
              </a:rPr>
              <a:t>17 / 20</a:t>
            </a:r>
          </a:p>
        </p:txBody>
      </p:sp>
      <p:sp>
        <p:nvSpPr>
          <p:cNvPr id="22" name="Rectangle 22"/>
          <p:cNvSpPr/>
          <p:nvPr/>
        </p:nvSpPr>
        <p:spPr>
          <a:xfrm>
            <a:off x="838200" y="876300"/>
            <a:ext cx="6819900" cy="4858702"/>
          </a:xfrm>
          <a:prstGeom prst="roundRect">
            <a:avLst>
              <a:gd name="adj" fmla="val 1176"/>
            </a:avLst>
          </a:prstGeom>
          <a:solidFill>
            <a:srgbClr val="FFFFFF"/>
          </a:solidFill>
          <a:ln w="9525">
            <a:solidFill>
              <a:srgbClr val="D6D3CD"/>
            </a:solidFill>
          </a:ln>
        </p:spPr>
      </p:sp>
      <p:pic>
        <p:nvPicPr>
          <p:cNvPr id="23" name="Image 23"/>
          <p:cNvPicPr>
            <a:picLocks noChangeAspect="1"/>
          </p:cNvPicPr>
          <p:nvPr/>
        </p:nvPicPr>
        <p:blipFill>
          <a:blip r:embed="rId2"/>
          <a:stretch>
            <a:fillRect/>
          </a:stretch>
        </p:blipFill>
        <p:spPr>
          <a:xfrm>
            <a:off x="914400" y="952500"/>
            <a:ext cx="6667500" cy="4706302"/>
          </a:xfrm>
          <a:prstGeom prst="rect">
            <a:avLst/>
          </a:prstGeom>
        </p:spPr>
      </p:pic>
      <p:sp>
        <p:nvSpPr>
          <p:cNvPr id="24" name="Rectangle 24"/>
          <p:cNvSpPr/>
          <p:nvPr/>
        </p:nvSpPr>
        <p:spPr>
          <a:xfrm>
            <a:off x="7924800" y="876300"/>
            <a:ext cx="3886200" cy="1442085"/>
          </a:xfrm>
          <a:prstGeom prst="roundRect">
            <a:avLst>
              <a:gd name="adj" fmla="val 3963"/>
            </a:avLst>
          </a:prstGeom>
          <a:solidFill>
            <a:srgbClr val="FFFFFF"/>
          </a:solidFill>
          <a:ln w="9525">
            <a:solidFill>
              <a:srgbClr val="D6D3CD"/>
            </a:solidFill>
          </a:ln>
        </p:spPr>
      </p:sp>
      <p:sp>
        <p:nvSpPr>
          <p:cNvPr id="25" name="Rectangle 25"/>
          <p:cNvSpPr/>
          <p:nvPr/>
        </p:nvSpPr>
        <p:spPr>
          <a:xfrm>
            <a:off x="7924800" y="876300"/>
            <a:ext cx="3886200" cy="38100"/>
          </a:xfrm>
          <a:prstGeom prst="rect">
            <a:avLst/>
          </a:prstGeom>
          <a:solidFill>
            <a:srgbClr val="1F4E45"/>
          </a:solidFill>
          <a:ln>
            <a:noFill/>
          </a:ln>
        </p:spPr>
      </p:sp>
      <p:sp>
        <p:nvSpPr>
          <p:cNvPr id="26" name="TextBox 26"/>
          <p:cNvSpPr txBox="1"/>
          <p:nvPr/>
        </p:nvSpPr>
        <p:spPr>
          <a:xfrm>
            <a:off x="8099108" y="1052989"/>
            <a:ext cx="3705749" cy="259080"/>
          </a:xfrm>
          <a:prstGeom prst="rect">
            <a:avLst/>
          </a:prstGeom>
          <a:noFill/>
          <a:ln>
            <a:noFill/>
          </a:ln>
        </p:spPr>
        <p:txBody>
          <a:bodyPr wrap="none" lIns="0" tIns="0" rIns="0" bIns="0" anchor="t" anchorCtr="0">
            <a:spAutoFit/>
          </a:bodyPr>
          <a:lstStyle/>
          <a:p>
            <a:pPr algn="l"/>
            <a:r>
              <a:rPr lang="zh-CN" sz="1275" b="1" dirty="0">
                <a:solidFill>
                  <a:srgbClr val="1F4E45"/>
                </a:solidFill>
                <a:latin typeface="Arial"/>
                <a:ea typeface="Microsoft YaHei"/>
                <a:cs typeface="Arial"/>
              </a:rPr>
              <a:t>Data support shrinks fast (SSP2-4.5)</a:t>
            </a:r>
          </a:p>
        </p:txBody>
      </p:sp>
      <p:sp>
        <p:nvSpPr>
          <p:cNvPr id="27" name="TextBox 27"/>
          <p:cNvSpPr txBox="1"/>
          <p:nvPr/>
        </p:nvSpPr>
        <p:spPr>
          <a:xfrm>
            <a:off x="8101012" y="1345406"/>
            <a:ext cx="3860197" cy="228600"/>
          </a:xfrm>
          <a:prstGeom prst="rect">
            <a:avLst/>
          </a:prstGeom>
          <a:noFill/>
          <a:ln>
            <a:noFill/>
          </a:ln>
        </p:spPr>
        <p:txBody>
          <a:bodyPr wrap="none" lIns="0" tIns="0" rIns="0" bIns="0" anchor="t" anchorCtr="0">
            <a:spAutoFit/>
          </a:bodyPr>
          <a:lstStyle/>
          <a:p>
            <a:pPr algn="l"/>
            <a:r>
              <a:rPr lang="zh-CN" sz="1125" dirty="0">
                <a:solidFill>
                  <a:srgbClr val="17332D"/>
                </a:solidFill>
                <a:latin typeface="Arial"/>
                <a:ea typeface="Microsoft YaHei"/>
                <a:cs typeface="Arial"/>
              </a:rPr>
              <a:t>Species–province cells inside the fitted range:</a:t>
            </a:r>
          </a:p>
        </p:txBody>
      </p:sp>
      <p:sp>
        <p:nvSpPr>
          <p:cNvPr id="28" name="TextBox 28"/>
          <p:cNvSpPr txBox="1"/>
          <p:nvPr/>
        </p:nvSpPr>
        <p:spPr>
          <a:xfrm>
            <a:off x="8101012" y="1583531"/>
            <a:ext cx="3419560" cy="228600"/>
          </a:xfrm>
          <a:prstGeom prst="rect">
            <a:avLst/>
          </a:prstGeom>
          <a:noFill/>
          <a:ln>
            <a:noFill/>
          </a:ln>
        </p:spPr>
        <p:txBody>
          <a:bodyPr wrap="none" lIns="0" tIns="0" rIns="0" bIns="0" anchor="t" anchorCtr="0">
            <a:spAutoFit/>
          </a:bodyPr>
          <a:lstStyle/>
          <a:p>
            <a:pPr algn="l"/>
            <a:r>
              <a:rPr lang="zh-CN" sz="1125" b="1" dirty="0">
                <a:solidFill>
                  <a:srgbClr val="17332D"/>
                </a:solidFill>
                <a:latin typeface="Arial"/>
                <a:ea typeface="Microsoft YaHei"/>
                <a:cs typeface="Arial"/>
              </a:rPr>
              <a:t>2030: 47.8% → 2050: 10.4% → 2080: 2.1%</a:t>
            </a:r>
          </a:p>
        </p:txBody>
      </p:sp>
      <p:sp>
        <p:nvSpPr>
          <p:cNvPr id="29" name="TextBox 29"/>
          <p:cNvSpPr txBox="1"/>
          <p:nvPr/>
        </p:nvSpPr>
        <p:spPr>
          <a:xfrm>
            <a:off x="8101012" y="1821656"/>
            <a:ext cx="3257193" cy="228600"/>
          </a:xfrm>
          <a:prstGeom prst="rect">
            <a:avLst/>
          </a:prstGeom>
          <a:noFill/>
          <a:ln>
            <a:noFill/>
          </a:ln>
        </p:spPr>
        <p:txBody>
          <a:bodyPr wrap="none" lIns="0" tIns="0" rIns="0" bIns="0" anchor="t" anchorCtr="0">
            <a:spAutoFit/>
          </a:bodyPr>
          <a:lstStyle/>
          <a:p>
            <a:pPr algn="l"/>
            <a:r>
              <a:rPr lang="zh-CN" sz="1125" dirty="0">
                <a:solidFill>
                  <a:srgbClr val="5F6670"/>
                </a:solidFill>
                <a:latin typeface="Arial"/>
                <a:ea typeface="Microsoft YaHei"/>
                <a:cs typeface="Arial"/>
              </a:rPr>
              <a:t>Masked HR 0.79–2.94; unmasked up to 78</a:t>
            </a:r>
          </a:p>
        </p:txBody>
      </p:sp>
      <p:sp>
        <p:nvSpPr>
          <p:cNvPr id="30" name="Rectangle 30"/>
          <p:cNvSpPr/>
          <p:nvPr/>
        </p:nvSpPr>
        <p:spPr>
          <a:xfrm>
            <a:off x="7924800" y="2699385"/>
            <a:ext cx="3886200" cy="1442085"/>
          </a:xfrm>
          <a:prstGeom prst="roundRect">
            <a:avLst>
              <a:gd name="adj" fmla="val 3963"/>
            </a:avLst>
          </a:prstGeom>
          <a:solidFill>
            <a:srgbClr val="FFFFFF"/>
          </a:solidFill>
          <a:ln w="9525">
            <a:solidFill>
              <a:srgbClr val="D6D3CD"/>
            </a:solidFill>
          </a:ln>
        </p:spPr>
      </p:sp>
      <p:sp>
        <p:nvSpPr>
          <p:cNvPr id="31" name="Rectangle 31"/>
          <p:cNvSpPr/>
          <p:nvPr/>
        </p:nvSpPr>
        <p:spPr>
          <a:xfrm>
            <a:off x="7924800" y="2699385"/>
            <a:ext cx="3886200" cy="38100"/>
          </a:xfrm>
          <a:prstGeom prst="rect">
            <a:avLst/>
          </a:prstGeom>
          <a:solidFill>
            <a:srgbClr val="0072B2"/>
          </a:solidFill>
          <a:ln>
            <a:noFill/>
          </a:ln>
        </p:spPr>
      </p:sp>
      <p:sp>
        <p:nvSpPr>
          <p:cNvPr id="32" name="TextBox 32"/>
          <p:cNvSpPr txBox="1"/>
          <p:nvPr/>
        </p:nvSpPr>
        <p:spPr>
          <a:xfrm>
            <a:off x="8099108" y="2876074"/>
            <a:ext cx="3500467" cy="259080"/>
          </a:xfrm>
          <a:prstGeom prst="rect">
            <a:avLst/>
          </a:prstGeom>
          <a:noFill/>
          <a:ln>
            <a:noFill/>
          </a:ln>
        </p:spPr>
        <p:txBody>
          <a:bodyPr wrap="none" lIns="0" tIns="0" rIns="0" bIns="0" anchor="t" anchorCtr="0">
            <a:spAutoFit/>
          </a:bodyPr>
          <a:lstStyle/>
          <a:p>
            <a:pPr algn="l"/>
            <a:r>
              <a:rPr lang="zh-CN" sz="1275" b="1" dirty="0">
                <a:solidFill>
                  <a:srgbClr val="0072B2"/>
                </a:solidFill>
                <a:latin typeface="Arial"/>
                <a:ea typeface="Microsoft YaHei"/>
                <a:cs typeface="Arial"/>
              </a:rPr>
              <a:t>Machine learning does not rescue it</a:t>
            </a:r>
          </a:p>
        </p:txBody>
      </p:sp>
      <p:sp>
        <p:nvSpPr>
          <p:cNvPr id="33" name="TextBox 33"/>
          <p:cNvSpPr txBox="1"/>
          <p:nvPr/>
        </p:nvSpPr>
        <p:spPr>
          <a:xfrm>
            <a:off x="8101012" y="3168491"/>
            <a:ext cx="2803708" cy="228600"/>
          </a:xfrm>
          <a:prstGeom prst="rect">
            <a:avLst/>
          </a:prstGeom>
          <a:noFill/>
          <a:ln>
            <a:noFill/>
          </a:ln>
        </p:spPr>
        <p:txBody>
          <a:bodyPr wrap="none" lIns="0" tIns="0" rIns="0" bIns="0" anchor="t" anchorCtr="0">
            <a:spAutoFit/>
          </a:bodyPr>
          <a:lstStyle/>
          <a:p>
            <a:pPr algn="l"/>
            <a:r>
              <a:rPr lang="zh-CN" sz="1125" dirty="0">
                <a:solidFill>
                  <a:srgbClr val="17332D"/>
                </a:solidFill>
                <a:latin typeface="Arial"/>
                <a:ea typeface="Microsoft YaHei"/>
                <a:cs typeface="Arial"/>
              </a:rPr>
              <a:t>Agree inside the range (ρ = 0.54),</a:t>
            </a:r>
          </a:p>
        </p:txBody>
      </p:sp>
      <p:sp>
        <p:nvSpPr>
          <p:cNvPr id="34" name="TextBox 34"/>
          <p:cNvSpPr txBox="1"/>
          <p:nvPr/>
        </p:nvSpPr>
        <p:spPr>
          <a:xfrm>
            <a:off x="8101012" y="3406616"/>
            <a:ext cx="1467898" cy="228600"/>
          </a:xfrm>
          <a:prstGeom prst="rect">
            <a:avLst/>
          </a:prstGeom>
          <a:noFill/>
          <a:ln>
            <a:noFill/>
          </a:ln>
        </p:spPr>
        <p:txBody>
          <a:bodyPr wrap="none" lIns="0" tIns="0" rIns="0" bIns="0" anchor="t" anchorCtr="0">
            <a:spAutoFit/>
          </a:bodyPr>
          <a:lstStyle/>
          <a:p>
            <a:pPr algn="l"/>
            <a:r>
              <a:rPr lang="zh-CN" sz="1125" dirty="0">
                <a:solidFill>
                  <a:srgbClr val="17332D"/>
                </a:solidFill>
                <a:latin typeface="Arial"/>
                <a:ea typeface="Microsoft YaHei"/>
                <a:cs typeface="Arial"/>
              </a:rPr>
              <a:t>diverge outside it</a:t>
            </a:r>
          </a:p>
        </p:txBody>
      </p:sp>
      <p:sp>
        <p:nvSpPr>
          <p:cNvPr id="35" name="TextBox 35"/>
          <p:cNvSpPr txBox="1"/>
          <p:nvPr/>
        </p:nvSpPr>
        <p:spPr>
          <a:xfrm>
            <a:off x="8101012" y="3644741"/>
            <a:ext cx="3474077" cy="228600"/>
          </a:xfrm>
          <a:prstGeom prst="rect">
            <a:avLst/>
          </a:prstGeom>
          <a:noFill/>
          <a:ln>
            <a:noFill/>
          </a:ln>
        </p:spPr>
        <p:txBody>
          <a:bodyPr wrap="none" lIns="0" tIns="0" rIns="0" bIns="0" anchor="t" anchorCtr="0">
            <a:spAutoFit/>
          </a:bodyPr>
          <a:lstStyle/>
          <a:p>
            <a:pPr algn="l"/>
            <a:r>
              <a:rPr lang="zh-CN" sz="1125" dirty="0">
                <a:solidFill>
                  <a:srgbClr val="5F6670"/>
                </a:solidFill>
                <a:latin typeface="Arial"/>
                <a:ea typeface="Microsoft YaHei"/>
                <a:cs typeface="Arial"/>
              </a:rPr>
              <a:t>Random forest saturates at 6.7% by 2.9 SD</a:t>
            </a:r>
          </a:p>
        </p:txBody>
      </p:sp>
      <p:sp>
        <p:nvSpPr>
          <p:cNvPr id="36" name="Rectangle 36"/>
          <p:cNvSpPr/>
          <p:nvPr/>
        </p:nvSpPr>
        <p:spPr>
          <a:xfrm>
            <a:off x="7924800" y="4521518"/>
            <a:ext cx="3886200" cy="1213485"/>
          </a:xfrm>
          <a:prstGeom prst="roundRect">
            <a:avLst>
              <a:gd name="adj" fmla="val 4710"/>
            </a:avLst>
          </a:prstGeom>
          <a:solidFill>
            <a:srgbClr val="1F4E45"/>
          </a:solidFill>
          <a:ln>
            <a:noFill/>
          </a:ln>
        </p:spPr>
      </p:sp>
      <p:sp>
        <p:nvSpPr>
          <p:cNvPr id="37" name="TextBox 37"/>
          <p:cNvSpPr txBox="1"/>
          <p:nvPr/>
        </p:nvSpPr>
        <p:spPr>
          <a:xfrm>
            <a:off x="8481845" y="4809649"/>
            <a:ext cx="2772111" cy="259080"/>
          </a:xfrm>
          <a:prstGeom prst="rect">
            <a:avLst/>
          </a:prstGeom>
          <a:noFill/>
          <a:ln>
            <a:noFill/>
          </a:ln>
        </p:spPr>
        <p:txBody>
          <a:bodyPr wrap="none" lIns="0" tIns="0" rIns="0" bIns="0" anchor="t" anchorCtr="0">
            <a:spAutoFit/>
          </a:bodyPr>
          <a:lstStyle/>
          <a:p>
            <a:pPr algn="ctr"/>
            <a:r>
              <a:rPr lang="zh-CN" sz="1275" b="1" dirty="0">
                <a:solidFill>
                  <a:srgbClr val="FFFFFF"/>
                </a:solidFill>
                <a:latin typeface="Arial"/>
                <a:ea typeface="Microsoft YaHei"/>
                <a:cs typeface="Arial"/>
              </a:rPr>
              <a:t>Report where a model breaks</a:t>
            </a:r>
          </a:p>
        </p:txBody>
      </p:sp>
      <p:sp>
        <p:nvSpPr>
          <p:cNvPr id="38" name="TextBox 38"/>
          <p:cNvSpPr txBox="1"/>
          <p:nvPr/>
        </p:nvSpPr>
        <p:spPr>
          <a:xfrm>
            <a:off x="9370552" y="5092541"/>
            <a:ext cx="994696" cy="228600"/>
          </a:xfrm>
          <a:prstGeom prst="rect">
            <a:avLst/>
          </a:prstGeom>
          <a:noFill/>
          <a:ln>
            <a:noFill/>
          </a:ln>
        </p:spPr>
        <p:txBody>
          <a:bodyPr wrap="none" lIns="0" tIns="0" rIns="0" bIns="0" anchor="t" anchorCtr="0">
            <a:spAutoFit/>
          </a:bodyPr>
          <a:lstStyle/>
          <a:p>
            <a:pPr algn="ctr"/>
            <a:r>
              <a:rPr lang="zh-CN" sz="1125" dirty="0">
                <a:solidFill>
                  <a:srgbClr val="E7F0ED"/>
                </a:solidFill>
                <a:latin typeface="Arial"/>
                <a:ea typeface="Microsoft YaHei"/>
                <a:cs typeface="Arial"/>
              </a:rPr>
              <a:t>2030: usable</a:t>
            </a:r>
          </a:p>
        </p:txBody>
      </p:sp>
      <p:sp>
        <p:nvSpPr>
          <p:cNvPr id="39" name="TextBox 39"/>
          <p:cNvSpPr txBox="1"/>
          <p:nvPr/>
        </p:nvSpPr>
        <p:spPr>
          <a:xfrm>
            <a:off x="8157972" y="5321141"/>
            <a:ext cx="3419856" cy="228600"/>
          </a:xfrm>
          <a:prstGeom prst="rect">
            <a:avLst/>
          </a:prstGeom>
          <a:noFill/>
          <a:ln>
            <a:noFill/>
          </a:ln>
        </p:spPr>
        <p:txBody>
          <a:bodyPr wrap="none" lIns="0" tIns="0" rIns="0" bIns="0" anchor="t" anchorCtr="0">
            <a:spAutoFit/>
          </a:bodyPr>
          <a:lstStyle/>
          <a:p>
            <a:pPr algn="ctr"/>
            <a:r>
              <a:rPr lang="zh-CN" sz="1125" dirty="0">
                <a:solidFill>
                  <a:srgbClr val="E7F0ED"/>
                </a:solidFill>
                <a:latin typeface="Arial"/>
                <a:ea typeface="Microsoft YaHei"/>
                <a:cs typeface="Arial"/>
              </a:rPr>
              <a:t>End of century: illustration, not forecast</a:t>
            </a:r>
          </a:p>
        </p:txBody>
      </p:sp>
    </p:spTree>
  </p:cSld>
  <p:clrMapOvr>
    <a:masterClrMapping/>
  </p:clrMapOvr>
  <p:transition xmlns:p14="http://schemas.microsoft.com/office/powerpoint/2010/main" p14:dur="400">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BFAF7"/>
          </a:solidFill>
          <a:ln>
            <a:noFill/>
          </a:ln>
        </p:spPr>
      </p:sp>
      <p:sp>
        <p:nvSpPr>
          <p:cNvPr id="3" name="Rectangle 3"/>
          <p:cNvSpPr/>
          <p:nvPr/>
        </p:nvSpPr>
        <p:spPr>
          <a:xfrm>
            <a:off x="0" y="0"/>
            <a:ext cx="609600" cy="6858000"/>
          </a:xfrm>
          <a:prstGeom prst="rect">
            <a:avLst/>
          </a:prstGeom>
          <a:solidFill>
            <a:srgbClr val="1F4E45"/>
          </a:solidFill>
          <a:ln>
            <a:noFill/>
          </a:ln>
        </p:spPr>
      </p:sp>
      <p:sp>
        <p:nvSpPr>
          <p:cNvPr id="4" name="Ellipse 4"/>
          <p:cNvSpPr/>
          <p:nvPr/>
        </p:nvSpPr>
        <p:spPr>
          <a:xfrm>
            <a:off x="272415" y="1091565"/>
            <a:ext cx="64770" cy="64770"/>
          </a:xfrm>
          <a:prstGeom prst="ellipse">
            <a:avLst/>
          </a:prstGeom>
          <a:solidFill>
            <a:srgbClr val="FFFFFF">
              <a:alpha val="42000"/>
            </a:srgbClr>
          </a:solidFill>
          <a:ln>
            <a:noFill/>
          </a:ln>
        </p:spPr>
      </p:sp>
      <p:sp>
        <p:nvSpPr>
          <p:cNvPr id="5" name="TextBox 5"/>
          <p:cNvSpPr txBox="1"/>
          <p:nvPr/>
        </p:nvSpPr>
        <p:spPr>
          <a:xfrm>
            <a:off x="17336" y="1245870"/>
            <a:ext cx="574929" cy="182880"/>
          </a:xfrm>
          <a:prstGeom prst="rect">
            <a:avLst/>
          </a:prstGeom>
          <a:noFill/>
          <a:ln>
            <a:noFill/>
          </a:ln>
        </p:spPr>
        <p:txBody>
          <a:bodyPr wrap="none" lIns="0" tIns="0" rIns="0" bIns="0" anchor="t" anchorCtr="0">
            <a:spAutoFit/>
          </a:bodyPr>
          <a:lstStyle/>
          <a:p>
            <a:pPr algn="ctr"/>
            <a:r>
              <a:rPr lang="zh-CN" sz="900" dirty="0">
                <a:solidFill>
                  <a:srgbClr val="FFFFFF">
                    <a:alphaMod val="60000"/>
                  </a:srgbClr>
                </a:solidFill>
                <a:latin typeface="Arial"/>
                <a:ea typeface="Microsoft YaHei"/>
                <a:cs typeface="Arial"/>
              </a:rPr>
              <a:t>Question</a:t>
            </a:r>
          </a:p>
        </p:txBody>
      </p:sp>
      <p:sp>
        <p:nvSpPr>
          <p:cNvPr id="6" name="Ellipse 6"/>
          <p:cNvSpPr/>
          <p:nvPr/>
        </p:nvSpPr>
        <p:spPr>
          <a:xfrm>
            <a:off x="272415" y="1948815"/>
            <a:ext cx="64770" cy="64770"/>
          </a:xfrm>
          <a:prstGeom prst="ellipse">
            <a:avLst/>
          </a:prstGeom>
          <a:solidFill>
            <a:srgbClr val="FFFFFF">
              <a:alpha val="42000"/>
            </a:srgbClr>
          </a:solidFill>
          <a:ln>
            <a:noFill/>
          </a:ln>
        </p:spPr>
      </p:sp>
      <p:sp>
        <p:nvSpPr>
          <p:cNvPr id="7" name="TextBox 7"/>
          <p:cNvSpPr txBox="1"/>
          <p:nvPr/>
        </p:nvSpPr>
        <p:spPr>
          <a:xfrm>
            <a:off x="146152" y="2103120"/>
            <a:ext cx="317297" cy="182880"/>
          </a:xfrm>
          <a:prstGeom prst="rect">
            <a:avLst/>
          </a:prstGeom>
          <a:noFill/>
          <a:ln>
            <a:noFill/>
          </a:ln>
        </p:spPr>
        <p:txBody>
          <a:bodyPr wrap="none" lIns="0" tIns="0" rIns="0" bIns="0" anchor="t" anchorCtr="0">
            <a:spAutoFit/>
          </a:bodyPr>
          <a:lstStyle/>
          <a:p>
            <a:pPr algn="ctr"/>
            <a:r>
              <a:rPr lang="zh-CN" sz="900" dirty="0">
                <a:solidFill>
                  <a:srgbClr val="FFFFFF">
                    <a:alphaMod val="60000"/>
                  </a:srgbClr>
                </a:solidFill>
                <a:latin typeface="Arial"/>
                <a:ea typeface="Microsoft YaHei"/>
                <a:cs typeface="Arial"/>
              </a:rPr>
              <a:t>Data</a:t>
            </a:r>
          </a:p>
        </p:txBody>
      </p:sp>
      <p:sp>
        <p:nvSpPr>
          <p:cNvPr id="8" name="Ellipse 8"/>
          <p:cNvSpPr/>
          <p:nvPr/>
        </p:nvSpPr>
        <p:spPr>
          <a:xfrm>
            <a:off x="272415" y="2806065"/>
            <a:ext cx="64770" cy="64770"/>
          </a:xfrm>
          <a:prstGeom prst="ellipse">
            <a:avLst/>
          </a:prstGeom>
          <a:solidFill>
            <a:srgbClr val="FFFFFF">
              <a:alpha val="42000"/>
            </a:srgbClr>
          </a:solidFill>
          <a:ln>
            <a:noFill/>
          </a:ln>
        </p:spPr>
      </p:sp>
      <p:sp>
        <p:nvSpPr>
          <p:cNvPr id="9" name="TextBox 9"/>
          <p:cNvSpPr txBox="1"/>
          <p:nvPr/>
        </p:nvSpPr>
        <p:spPr>
          <a:xfrm>
            <a:off x="35738" y="2960370"/>
            <a:ext cx="538124" cy="182880"/>
          </a:xfrm>
          <a:prstGeom prst="rect">
            <a:avLst/>
          </a:prstGeom>
          <a:noFill/>
          <a:ln>
            <a:noFill/>
          </a:ln>
        </p:spPr>
        <p:txBody>
          <a:bodyPr wrap="none" lIns="0" tIns="0" rIns="0" bIns="0" anchor="t" anchorCtr="0">
            <a:spAutoFit/>
          </a:bodyPr>
          <a:lstStyle/>
          <a:p>
            <a:pPr algn="ctr"/>
            <a:r>
              <a:rPr lang="zh-CN" sz="900" dirty="0">
                <a:solidFill>
                  <a:srgbClr val="FFFFFF">
                    <a:alphaMod val="60000"/>
                  </a:srgbClr>
                </a:solidFill>
                <a:latin typeface="Arial"/>
                <a:ea typeface="Microsoft YaHei"/>
                <a:cs typeface="Arial"/>
              </a:rPr>
              <a:t>Findings</a:t>
            </a:r>
          </a:p>
        </p:txBody>
      </p:sp>
      <p:sp>
        <p:nvSpPr>
          <p:cNvPr id="10" name="Ellipse 10"/>
          <p:cNvSpPr/>
          <p:nvPr/>
        </p:nvSpPr>
        <p:spPr>
          <a:xfrm>
            <a:off x="272415" y="3663315"/>
            <a:ext cx="64770" cy="64770"/>
          </a:xfrm>
          <a:prstGeom prst="ellipse">
            <a:avLst/>
          </a:prstGeom>
          <a:solidFill>
            <a:srgbClr val="FFFFFF">
              <a:alpha val="42000"/>
            </a:srgbClr>
          </a:solidFill>
          <a:ln>
            <a:noFill/>
          </a:ln>
        </p:spPr>
      </p:sp>
      <p:sp>
        <p:nvSpPr>
          <p:cNvPr id="11" name="TextBox 11"/>
          <p:cNvSpPr txBox="1"/>
          <p:nvPr/>
        </p:nvSpPr>
        <p:spPr>
          <a:xfrm>
            <a:off x="72542" y="3817620"/>
            <a:ext cx="464515" cy="182880"/>
          </a:xfrm>
          <a:prstGeom prst="rect">
            <a:avLst/>
          </a:prstGeom>
          <a:noFill/>
          <a:ln>
            <a:noFill/>
          </a:ln>
        </p:spPr>
        <p:txBody>
          <a:bodyPr wrap="none" lIns="0" tIns="0" rIns="0" bIns="0" anchor="t" anchorCtr="0">
            <a:spAutoFit/>
          </a:bodyPr>
          <a:lstStyle/>
          <a:p>
            <a:pPr algn="ctr"/>
            <a:r>
              <a:rPr lang="zh-CN" sz="900" dirty="0">
                <a:solidFill>
                  <a:srgbClr val="FFFFFF">
                    <a:alphaMod val="60000"/>
                  </a:srgbClr>
                </a:solidFill>
                <a:latin typeface="Arial"/>
                <a:ea typeface="Microsoft YaHei"/>
                <a:cs typeface="Arial"/>
              </a:rPr>
              <a:t>Robust</a:t>
            </a:r>
          </a:p>
        </p:txBody>
      </p:sp>
      <p:sp>
        <p:nvSpPr>
          <p:cNvPr id="12" name="Ellipse 12"/>
          <p:cNvSpPr/>
          <p:nvPr/>
        </p:nvSpPr>
        <p:spPr>
          <a:xfrm>
            <a:off x="272415" y="4520565"/>
            <a:ext cx="64770" cy="64770"/>
          </a:xfrm>
          <a:prstGeom prst="ellipse">
            <a:avLst/>
          </a:prstGeom>
          <a:solidFill>
            <a:srgbClr val="FFFFFF">
              <a:alpha val="42000"/>
            </a:srgbClr>
          </a:solidFill>
          <a:ln>
            <a:noFill/>
          </a:ln>
        </p:spPr>
      </p:sp>
      <p:sp>
        <p:nvSpPr>
          <p:cNvPr id="13" name="TextBox 13"/>
          <p:cNvSpPr txBox="1"/>
          <p:nvPr/>
        </p:nvSpPr>
        <p:spPr>
          <a:xfrm>
            <a:off x="146152" y="4674870"/>
            <a:ext cx="317297" cy="182880"/>
          </a:xfrm>
          <a:prstGeom prst="rect">
            <a:avLst/>
          </a:prstGeom>
          <a:noFill/>
          <a:ln>
            <a:noFill/>
          </a:ln>
        </p:spPr>
        <p:txBody>
          <a:bodyPr wrap="none" lIns="0" tIns="0" rIns="0" bIns="0" anchor="t" anchorCtr="0">
            <a:spAutoFit/>
          </a:bodyPr>
          <a:lstStyle/>
          <a:p>
            <a:pPr algn="ctr"/>
            <a:r>
              <a:rPr lang="zh-CN" sz="900" dirty="0">
                <a:solidFill>
                  <a:srgbClr val="FFFFFF">
                    <a:alphaMod val="60000"/>
                  </a:srgbClr>
                </a:solidFill>
                <a:latin typeface="Arial"/>
                <a:ea typeface="Microsoft YaHei"/>
                <a:cs typeface="Arial"/>
              </a:rPr>
              <a:t>Uses</a:t>
            </a:r>
          </a:p>
        </p:txBody>
      </p:sp>
      <p:sp>
        <p:nvSpPr>
          <p:cNvPr id="14" name="Ellipse 14"/>
          <p:cNvSpPr/>
          <p:nvPr/>
        </p:nvSpPr>
        <p:spPr>
          <a:xfrm>
            <a:off x="257175" y="5362575"/>
            <a:ext cx="95250" cy="95250"/>
          </a:xfrm>
          <a:prstGeom prst="ellipse">
            <a:avLst/>
          </a:prstGeom>
          <a:solidFill>
            <a:srgbClr val="FFFFFF"/>
          </a:solidFill>
          <a:ln>
            <a:noFill/>
          </a:ln>
        </p:spPr>
      </p:sp>
      <p:sp>
        <p:nvSpPr>
          <p:cNvPr id="15" name="TextBox 15"/>
          <p:cNvSpPr txBox="1"/>
          <p:nvPr/>
        </p:nvSpPr>
        <p:spPr>
          <a:xfrm>
            <a:off x="16678" y="5532120"/>
            <a:ext cx="576243" cy="182880"/>
          </a:xfrm>
          <a:prstGeom prst="rect">
            <a:avLst/>
          </a:prstGeom>
          <a:noFill/>
          <a:ln>
            <a:noFill/>
          </a:ln>
        </p:spPr>
        <p:txBody>
          <a:bodyPr wrap="none" lIns="0" tIns="0" rIns="0" bIns="0" anchor="t" anchorCtr="0">
            <a:spAutoFit/>
          </a:bodyPr>
          <a:lstStyle/>
          <a:p>
            <a:pPr algn="ctr"/>
            <a:r>
              <a:rPr lang="zh-CN" sz="900" dirty="0">
                <a:solidFill>
                  <a:srgbClr val="FFFFFF"/>
                </a:solidFill>
                <a:latin typeface="Arial"/>
                <a:ea typeface="Microsoft YaHei"/>
                <a:cs typeface="Arial"/>
              </a:rPr>
              <a:t>Wrap-up</a:t>
            </a:r>
          </a:p>
        </p:txBody>
      </p:sp>
      <p:sp>
        <p:nvSpPr>
          <p:cNvPr id="16" name="Rectangle 16"/>
          <p:cNvSpPr/>
          <p:nvPr/>
        </p:nvSpPr>
        <p:spPr>
          <a:xfrm>
            <a:off x="914400" y="304800"/>
            <a:ext cx="419100" cy="47625"/>
          </a:xfrm>
          <a:prstGeom prst="rect">
            <a:avLst/>
          </a:prstGeom>
          <a:solidFill>
            <a:srgbClr val="B45309"/>
          </a:solidFill>
          <a:ln>
            <a:noFill/>
          </a:ln>
        </p:spPr>
      </p:sp>
      <p:sp>
        <p:nvSpPr>
          <p:cNvPr id="17" name="TextBox 17"/>
          <p:cNvSpPr txBox="1"/>
          <p:nvPr/>
        </p:nvSpPr>
        <p:spPr>
          <a:xfrm>
            <a:off x="889635" y="456248"/>
            <a:ext cx="6461575" cy="396240"/>
          </a:xfrm>
          <a:prstGeom prst="rect">
            <a:avLst/>
          </a:prstGeom>
          <a:noFill/>
          <a:ln>
            <a:noFill/>
          </a:ln>
        </p:spPr>
        <p:txBody>
          <a:bodyPr wrap="none" lIns="0" tIns="0" rIns="0" bIns="0" anchor="t" anchorCtr="0">
            <a:spAutoFit/>
          </a:bodyPr>
          <a:lstStyle/>
          <a:p>
            <a:pPr algn="l"/>
            <a:r>
              <a:rPr lang="zh-CN" sz="1950" b="1" dirty="0">
                <a:solidFill>
                  <a:srgbClr val="17332D"/>
                </a:solidFill>
                <a:latin typeface="Arial"/>
                <a:ea typeface="Microsoft YaHei"/>
                <a:cs typeface="Arial"/>
              </a:rPr>
              <a:t>Four limits that travel with the conclusions</a:t>
            </a:r>
          </a:p>
        </p:txBody>
      </p:sp>
      <p:sp>
        <p:nvSpPr>
          <p:cNvPr id="18" name="TextBox 18"/>
          <p:cNvSpPr txBox="1"/>
          <p:nvPr/>
        </p:nvSpPr>
        <p:spPr>
          <a:xfrm>
            <a:off x="11137087" y="283845"/>
            <a:ext cx="685343" cy="182880"/>
          </a:xfrm>
          <a:prstGeom prst="rect">
            <a:avLst/>
          </a:prstGeom>
          <a:noFill/>
          <a:ln>
            <a:noFill/>
          </a:ln>
        </p:spPr>
        <p:txBody>
          <a:bodyPr wrap="none" lIns="0" tIns="0" rIns="0" bIns="0" anchor="t" anchorCtr="0">
            <a:spAutoFit/>
          </a:bodyPr>
          <a:lstStyle/>
          <a:p>
            <a:pPr algn="r"/>
            <a:r>
              <a:rPr lang="zh-CN" sz="900" dirty="0">
                <a:solidFill>
                  <a:srgbClr val="8A919B"/>
                </a:solidFill>
                <a:latin typeface="Arial"/>
                <a:ea typeface="Microsoft YaHei"/>
                <a:cs typeface="Arial"/>
              </a:rPr>
              <a:t>Discussion</a:t>
            </a:r>
          </a:p>
        </p:txBody>
      </p:sp>
      <p:sp>
        <p:nvSpPr>
          <p:cNvPr id="19" name="Line 19"/>
          <p:cNvSpPr/>
          <p:nvPr/>
        </p:nvSpPr>
        <p:spPr>
          <a:xfrm>
            <a:off x="914400" y="6515100"/>
            <a:ext cx="10896600" cy="9525"/>
          </a:xfrm>
          <a:custGeom>
            <a:avLst/>
            <a:gdLst/>
            <a:ahLst/>
            <a:cxnLst/>
            <a:rect l="l" t="t" r="r" b="b"/>
            <a:pathLst>
              <a:path w="10896600" h="9525">
                <a:moveTo>
                  <a:pt x="0" y="0"/>
                </a:moveTo>
                <a:lnTo>
                  <a:pt x="10896600" y="0"/>
                </a:lnTo>
              </a:path>
            </a:pathLst>
          </a:custGeom>
          <a:noFill/>
          <a:ln w="9525">
            <a:solidFill>
              <a:srgbClr val="D6D3CD"/>
            </a:solidFill>
          </a:ln>
        </p:spPr>
      </p:sp>
      <p:sp>
        <p:nvSpPr>
          <p:cNvPr id="20" name="TextBox 20"/>
          <p:cNvSpPr txBox="1"/>
          <p:nvPr/>
        </p:nvSpPr>
        <p:spPr>
          <a:xfrm>
            <a:off x="902970" y="6617970"/>
            <a:ext cx="2609698" cy="182880"/>
          </a:xfrm>
          <a:prstGeom prst="rect">
            <a:avLst/>
          </a:prstGeom>
          <a:noFill/>
          <a:ln>
            <a:noFill/>
          </a:ln>
        </p:spPr>
        <p:txBody>
          <a:bodyPr wrap="none" lIns="0" tIns="0" rIns="0" bIns="0" anchor="t" anchorCtr="0">
            <a:spAutoFit/>
          </a:bodyPr>
          <a:lstStyle/>
          <a:p>
            <a:pPr algn="l"/>
            <a:r>
              <a:rPr lang="zh-CN" sz="900" dirty="0">
                <a:solidFill>
                  <a:srgbClr val="8A919B"/>
                </a:solidFill>
                <a:latin typeface="Arial"/>
                <a:ea typeface="Microsoft YaHei"/>
                <a:cs typeface="Arial"/>
              </a:rPr>
              <a:t>Birds or birders? · AOC 2026, Singapore</a:t>
            </a:r>
          </a:p>
        </p:txBody>
      </p:sp>
      <p:sp>
        <p:nvSpPr>
          <p:cNvPr id="21" name="TextBox 21"/>
          <p:cNvSpPr txBox="1"/>
          <p:nvPr/>
        </p:nvSpPr>
        <p:spPr>
          <a:xfrm>
            <a:off x="11352657" y="6617970"/>
            <a:ext cx="469773" cy="182880"/>
          </a:xfrm>
          <a:prstGeom prst="rect">
            <a:avLst/>
          </a:prstGeom>
          <a:noFill/>
          <a:ln>
            <a:noFill/>
          </a:ln>
        </p:spPr>
        <p:txBody>
          <a:bodyPr wrap="none" lIns="0" tIns="0" rIns="0" bIns="0" anchor="t" anchorCtr="0">
            <a:spAutoFit/>
          </a:bodyPr>
          <a:lstStyle/>
          <a:p>
            <a:pPr algn="r"/>
            <a:r>
              <a:rPr lang="zh-CN" sz="900" dirty="0">
                <a:solidFill>
                  <a:srgbClr val="5F6670"/>
                </a:solidFill>
                <a:latin typeface="Arial"/>
                <a:ea typeface="Microsoft YaHei"/>
                <a:cs typeface="Arial"/>
              </a:rPr>
              <a:t>18 / 20</a:t>
            </a:r>
          </a:p>
        </p:txBody>
      </p:sp>
      <p:sp>
        <p:nvSpPr>
          <p:cNvPr id="22" name="Rectangle 22"/>
          <p:cNvSpPr/>
          <p:nvPr/>
        </p:nvSpPr>
        <p:spPr>
          <a:xfrm>
            <a:off x="914400" y="952500"/>
            <a:ext cx="10896600" cy="1104900"/>
          </a:xfrm>
          <a:prstGeom prst="roundRect">
            <a:avLst>
              <a:gd name="adj" fmla="val 5172"/>
            </a:avLst>
          </a:prstGeom>
          <a:solidFill>
            <a:srgbClr val="FFFFFF"/>
          </a:solidFill>
          <a:ln w="9525">
            <a:solidFill>
              <a:srgbClr val="D6D3CD"/>
            </a:solidFill>
          </a:ln>
        </p:spPr>
      </p:sp>
      <p:sp>
        <p:nvSpPr>
          <p:cNvPr id="23" name="Rectangle 23"/>
          <p:cNvSpPr/>
          <p:nvPr/>
        </p:nvSpPr>
        <p:spPr>
          <a:xfrm>
            <a:off x="914400" y="952500"/>
            <a:ext cx="57150" cy="1104900"/>
          </a:xfrm>
          <a:prstGeom prst="rect">
            <a:avLst/>
          </a:prstGeom>
          <a:solidFill>
            <a:srgbClr val="B45309"/>
          </a:solidFill>
          <a:ln>
            <a:noFill/>
          </a:ln>
        </p:spPr>
      </p:sp>
      <p:sp>
        <p:nvSpPr>
          <p:cNvPr id="24" name="TextBox 24"/>
          <p:cNvSpPr txBox="1"/>
          <p:nvPr/>
        </p:nvSpPr>
        <p:spPr>
          <a:xfrm>
            <a:off x="1201102" y="1217771"/>
            <a:ext cx="4960177" cy="289560"/>
          </a:xfrm>
          <a:prstGeom prst="rect">
            <a:avLst/>
          </a:prstGeom>
          <a:noFill/>
          <a:ln>
            <a:noFill/>
          </a:ln>
        </p:spPr>
        <p:txBody>
          <a:bodyPr wrap="none" lIns="0" tIns="0" rIns="0" bIns="0" anchor="t" anchorCtr="0">
            <a:spAutoFit/>
          </a:bodyPr>
          <a:lstStyle/>
          <a:p>
            <a:pPr algn="l"/>
            <a:r>
              <a:rPr lang="zh-CN" sz="1425" b="1" dirty="0">
                <a:solidFill>
                  <a:srgbClr val="17332D"/>
                </a:solidFill>
                <a:latin typeface="Arial"/>
                <a:ea typeface="Microsoft YaHei"/>
                <a:cs typeface="Arial"/>
              </a:rPr>
              <a:t>Events are published records, not detections</a:t>
            </a:r>
          </a:p>
        </p:txBody>
      </p:sp>
      <p:sp>
        <p:nvSpPr>
          <p:cNvPr id="25" name="TextBox 25"/>
          <p:cNvSpPr txBox="1"/>
          <p:nvPr/>
        </p:nvSpPr>
        <p:spPr>
          <a:xfrm>
            <a:off x="1203960" y="1604010"/>
            <a:ext cx="8963482" cy="243840"/>
          </a:xfrm>
          <a:prstGeom prst="rect">
            <a:avLst/>
          </a:prstGeom>
          <a:noFill/>
          <a:ln>
            <a:noFill/>
          </a:ln>
        </p:spPr>
        <p:txBody>
          <a:bodyPr wrap="none" lIns="0" tIns="0" rIns="0" bIns="0" anchor="t" anchorCtr="0">
            <a:spAutoFit/>
          </a:bodyPr>
          <a:lstStyle/>
          <a:p>
            <a:pPr algn="l"/>
            <a:r>
              <a:rPr lang="zh-CN" sz="1200" dirty="0">
                <a:solidFill>
                  <a:srgbClr val="5F6670"/>
                </a:solidFill>
                <a:latin typeface="Arial"/>
                <a:ea typeface="Microsoft YaHei"/>
                <a:cs typeface="Arial"/>
              </a:rPr>
              <a:t>We explain how records are documented, not range expansion itself; single cases need occupancy models.</a:t>
            </a:r>
          </a:p>
        </p:txBody>
      </p:sp>
      <p:sp>
        <p:nvSpPr>
          <p:cNvPr id="26" name="Rectangle 26"/>
          <p:cNvSpPr/>
          <p:nvPr/>
        </p:nvSpPr>
        <p:spPr>
          <a:xfrm>
            <a:off x="914400" y="2228850"/>
            <a:ext cx="10896600" cy="1104900"/>
          </a:xfrm>
          <a:prstGeom prst="roundRect">
            <a:avLst>
              <a:gd name="adj" fmla="val 5172"/>
            </a:avLst>
          </a:prstGeom>
          <a:solidFill>
            <a:srgbClr val="FFFFFF"/>
          </a:solidFill>
          <a:ln w="9525">
            <a:solidFill>
              <a:srgbClr val="D6D3CD"/>
            </a:solidFill>
          </a:ln>
        </p:spPr>
      </p:sp>
      <p:sp>
        <p:nvSpPr>
          <p:cNvPr id="27" name="Rectangle 27"/>
          <p:cNvSpPr/>
          <p:nvPr/>
        </p:nvSpPr>
        <p:spPr>
          <a:xfrm>
            <a:off x="914400" y="2228850"/>
            <a:ext cx="57150" cy="1104900"/>
          </a:xfrm>
          <a:prstGeom prst="rect">
            <a:avLst/>
          </a:prstGeom>
          <a:solidFill>
            <a:srgbClr val="B45309"/>
          </a:solidFill>
          <a:ln>
            <a:noFill/>
          </a:ln>
        </p:spPr>
      </p:sp>
      <p:sp>
        <p:nvSpPr>
          <p:cNvPr id="28" name="TextBox 28"/>
          <p:cNvSpPr txBox="1"/>
          <p:nvPr/>
        </p:nvSpPr>
        <p:spPr>
          <a:xfrm>
            <a:off x="1201102" y="2494121"/>
            <a:ext cx="5046215" cy="289560"/>
          </a:xfrm>
          <a:prstGeom prst="rect">
            <a:avLst/>
          </a:prstGeom>
          <a:noFill/>
          <a:ln>
            <a:noFill/>
          </a:ln>
        </p:spPr>
        <p:txBody>
          <a:bodyPr wrap="none" lIns="0" tIns="0" rIns="0" bIns="0" anchor="t" anchorCtr="0">
            <a:spAutoFit/>
          </a:bodyPr>
          <a:lstStyle/>
          <a:p>
            <a:pPr algn="l"/>
            <a:r>
              <a:rPr lang="zh-CN" sz="1425" b="1" dirty="0">
                <a:solidFill>
                  <a:srgbClr val="17332D"/>
                </a:solidFill>
                <a:latin typeface="Arial"/>
                <a:ea typeface="Microsoft YaHei"/>
                <a:cs typeface="Arial"/>
              </a:rPr>
              <a:t>Coordinates are precise to about 1 km at best</a:t>
            </a:r>
          </a:p>
        </p:txBody>
      </p:sp>
      <p:sp>
        <p:nvSpPr>
          <p:cNvPr id="29" name="TextBox 29"/>
          <p:cNvSpPr txBox="1"/>
          <p:nvPr/>
        </p:nvSpPr>
        <p:spPr>
          <a:xfrm>
            <a:off x="1203960" y="2880360"/>
            <a:ext cx="6700876" cy="243840"/>
          </a:xfrm>
          <a:prstGeom prst="rect">
            <a:avLst/>
          </a:prstGeom>
          <a:noFill/>
          <a:ln>
            <a:noFill/>
          </a:ln>
        </p:spPr>
        <p:txBody>
          <a:bodyPr wrap="none" lIns="0" tIns="0" rIns="0" bIns="0" anchor="t" anchorCtr="0">
            <a:spAutoFit/>
          </a:bodyPr>
          <a:lstStyle/>
          <a:p>
            <a:pPr algn="l"/>
            <a:r>
              <a:rPr lang="zh-CN" sz="1200" dirty="0">
                <a:solidFill>
                  <a:srgbClr val="5F6670"/>
                </a:solidFill>
                <a:latin typeface="Arial"/>
                <a:ea typeface="Microsoft YaHei"/>
                <a:cs typeface="Arial"/>
              </a:rPr>
              <a:t>Reserve-overlap tests therefore use 0–5 km buffers as a sensitivity check.</a:t>
            </a:r>
          </a:p>
        </p:txBody>
      </p:sp>
      <p:sp>
        <p:nvSpPr>
          <p:cNvPr id="30" name="Rectangle 30"/>
          <p:cNvSpPr/>
          <p:nvPr/>
        </p:nvSpPr>
        <p:spPr>
          <a:xfrm>
            <a:off x="914400" y="3505200"/>
            <a:ext cx="10896600" cy="1104900"/>
          </a:xfrm>
          <a:prstGeom prst="roundRect">
            <a:avLst>
              <a:gd name="adj" fmla="val 5172"/>
            </a:avLst>
          </a:prstGeom>
          <a:solidFill>
            <a:srgbClr val="FFFFFF"/>
          </a:solidFill>
          <a:ln w="9525">
            <a:solidFill>
              <a:srgbClr val="D6D3CD"/>
            </a:solidFill>
          </a:ln>
        </p:spPr>
      </p:sp>
      <p:sp>
        <p:nvSpPr>
          <p:cNvPr id="31" name="Rectangle 31"/>
          <p:cNvSpPr/>
          <p:nvPr/>
        </p:nvSpPr>
        <p:spPr>
          <a:xfrm>
            <a:off x="914400" y="3505200"/>
            <a:ext cx="57150" cy="1104900"/>
          </a:xfrm>
          <a:prstGeom prst="rect">
            <a:avLst/>
          </a:prstGeom>
          <a:solidFill>
            <a:srgbClr val="B45309"/>
          </a:solidFill>
          <a:ln>
            <a:noFill/>
          </a:ln>
        </p:spPr>
      </p:sp>
      <p:sp>
        <p:nvSpPr>
          <p:cNvPr id="32" name="TextBox 32"/>
          <p:cNvSpPr txBox="1"/>
          <p:nvPr/>
        </p:nvSpPr>
        <p:spPr>
          <a:xfrm>
            <a:off x="1201102" y="3770471"/>
            <a:ext cx="6160288" cy="289560"/>
          </a:xfrm>
          <a:prstGeom prst="rect">
            <a:avLst/>
          </a:prstGeom>
          <a:noFill/>
          <a:ln>
            <a:noFill/>
          </a:ln>
        </p:spPr>
        <p:txBody>
          <a:bodyPr wrap="none" lIns="0" tIns="0" rIns="0" bIns="0" anchor="t" anchorCtr="0">
            <a:spAutoFit/>
          </a:bodyPr>
          <a:lstStyle/>
          <a:p>
            <a:pPr algn="l"/>
            <a:r>
              <a:rPr lang="zh-CN" sz="1425" b="1" dirty="0">
                <a:solidFill>
                  <a:srgbClr val="17332D"/>
                </a:solidFill>
                <a:latin typeface="Arial"/>
                <a:ea typeface="Microsoft YaHei"/>
                <a:cs typeface="Arial"/>
              </a:rPr>
              <a:t>Reserve polygons cover about a third of listed reserves</a:t>
            </a:r>
          </a:p>
        </p:txBody>
      </p:sp>
      <p:sp>
        <p:nvSpPr>
          <p:cNvPr id="33" name="TextBox 33"/>
          <p:cNvSpPr txBox="1"/>
          <p:nvPr/>
        </p:nvSpPr>
        <p:spPr>
          <a:xfrm>
            <a:off x="1203960" y="4156710"/>
            <a:ext cx="7146036" cy="243840"/>
          </a:xfrm>
          <a:prstGeom prst="rect">
            <a:avLst/>
          </a:prstGeom>
          <a:noFill/>
          <a:ln>
            <a:noFill/>
          </a:ln>
        </p:spPr>
        <p:txBody>
          <a:bodyPr wrap="none" lIns="0" tIns="0" rIns="0" bIns="0" anchor="t" anchorCtr="0">
            <a:spAutoFit/>
          </a:bodyPr>
          <a:lstStyle/>
          <a:p>
            <a:pPr algn="l"/>
            <a:r>
              <a:rPr lang="zh-CN" sz="1200" dirty="0">
                <a:solidFill>
                  <a:srgbClr val="5F6670"/>
                </a:solidFill>
                <a:latin typeface="Arial"/>
                <a:ea typeface="Microsoft YaHei"/>
                <a:cs typeface="Arial"/>
              </a:rPr>
              <a:t>1,028 mapped, mostly national, set up before 2012: no gap analysis, no 30×30 claims.</a:t>
            </a:r>
          </a:p>
        </p:txBody>
      </p:sp>
      <p:sp>
        <p:nvSpPr>
          <p:cNvPr id="34" name="Rectangle 34"/>
          <p:cNvSpPr/>
          <p:nvPr/>
        </p:nvSpPr>
        <p:spPr>
          <a:xfrm>
            <a:off x="914400" y="4781550"/>
            <a:ext cx="10896600" cy="1104900"/>
          </a:xfrm>
          <a:prstGeom prst="roundRect">
            <a:avLst>
              <a:gd name="adj" fmla="val 5172"/>
            </a:avLst>
          </a:prstGeom>
          <a:solidFill>
            <a:srgbClr val="FFFFFF"/>
          </a:solidFill>
          <a:ln w="9525">
            <a:solidFill>
              <a:srgbClr val="D6D3CD"/>
            </a:solidFill>
          </a:ln>
        </p:spPr>
      </p:sp>
      <p:sp>
        <p:nvSpPr>
          <p:cNvPr id="35" name="Rectangle 35"/>
          <p:cNvSpPr/>
          <p:nvPr/>
        </p:nvSpPr>
        <p:spPr>
          <a:xfrm>
            <a:off x="914400" y="4781550"/>
            <a:ext cx="57150" cy="1104900"/>
          </a:xfrm>
          <a:prstGeom prst="rect">
            <a:avLst/>
          </a:prstGeom>
          <a:solidFill>
            <a:srgbClr val="B45309"/>
          </a:solidFill>
          <a:ln>
            <a:noFill/>
          </a:ln>
        </p:spPr>
      </p:sp>
      <p:sp>
        <p:nvSpPr>
          <p:cNvPr id="36" name="TextBox 36"/>
          <p:cNvSpPr txBox="1"/>
          <p:nvPr/>
        </p:nvSpPr>
        <p:spPr>
          <a:xfrm>
            <a:off x="1201102" y="5046821"/>
            <a:ext cx="6425018" cy="289560"/>
          </a:xfrm>
          <a:prstGeom prst="rect">
            <a:avLst/>
          </a:prstGeom>
          <a:noFill/>
          <a:ln>
            <a:noFill/>
          </a:ln>
        </p:spPr>
        <p:txBody>
          <a:bodyPr wrap="none" lIns="0" tIns="0" rIns="0" bIns="0" anchor="t" anchorCtr="0">
            <a:spAutoFit/>
          </a:bodyPr>
          <a:lstStyle/>
          <a:p>
            <a:pPr algn="l"/>
            <a:r>
              <a:rPr lang="zh-CN" sz="1425" b="1" dirty="0">
                <a:solidFill>
                  <a:srgbClr val="17332D"/>
                </a:solidFill>
                <a:latin typeface="Arial"/>
                <a:ea typeface="Microsoft YaHei"/>
                <a:cs typeface="Arial"/>
              </a:rPr>
              <a:t>Direction and reserve tests are only as good as their nulls</a:t>
            </a:r>
          </a:p>
        </p:txBody>
      </p:sp>
      <p:sp>
        <p:nvSpPr>
          <p:cNvPr id="37" name="TextBox 37"/>
          <p:cNvSpPr txBox="1"/>
          <p:nvPr/>
        </p:nvSpPr>
        <p:spPr>
          <a:xfrm>
            <a:off x="1203960" y="5433060"/>
            <a:ext cx="7959242" cy="243840"/>
          </a:xfrm>
          <a:prstGeom prst="rect">
            <a:avLst/>
          </a:prstGeom>
          <a:noFill/>
          <a:ln>
            <a:noFill/>
          </a:ln>
        </p:spPr>
        <p:txBody>
          <a:bodyPr wrap="none" lIns="0" tIns="0" rIns="0" bIns="0" anchor="t" anchorCtr="0">
            <a:spAutoFit/>
          </a:bodyPr>
          <a:lstStyle/>
          <a:p>
            <a:pPr algn="l"/>
            <a:r>
              <a:rPr lang="zh-CN" sz="1200" dirty="0">
                <a:solidFill>
                  <a:srgbClr val="5F6670"/>
                </a:solidFill>
                <a:latin typeface="Arial"/>
                <a:ea typeface="Microsoft YaHei"/>
                <a:cs typeface="Arial"/>
              </a:rPr>
              <a:t>Direction uses province-level geometric nulls; no null removes observer bias inside reserves.</a:t>
            </a:r>
          </a:p>
        </p:txBody>
      </p:sp>
    </p:spTree>
  </p:cSld>
  <p:clrMapOvr>
    <a:masterClrMapping/>
  </p:clrMapOvr>
  <p:transition xmlns:p14="http://schemas.microsoft.com/office/powerpoint/2010/main" p14:dur="400">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BFAF7"/>
          </a:solidFill>
          <a:ln>
            <a:noFill/>
          </a:ln>
        </p:spPr>
      </p:sp>
      <p:sp>
        <p:nvSpPr>
          <p:cNvPr id="3" name="Rectangle 3"/>
          <p:cNvSpPr/>
          <p:nvPr/>
        </p:nvSpPr>
        <p:spPr>
          <a:xfrm>
            <a:off x="0" y="0"/>
            <a:ext cx="609600" cy="6858000"/>
          </a:xfrm>
          <a:prstGeom prst="rect">
            <a:avLst/>
          </a:prstGeom>
          <a:solidFill>
            <a:srgbClr val="1F4E45"/>
          </a:solidFill>
          <a:ln>
            <a:noFill/>
          </a:ln>
        </p:spPr>
      </p:sp>
      <p:sp>
        <p:nvSpPr>
          <p:cNvPr id="4" name="Ellipse 4"/>
          <p:cNvSpPr/>
          <p:nvPr/>
        </p:nvSpPr>
        <p:spPr>
          <a:xfrm>
            <a:off x="272415" y="1091565"/>
            <a:ext cx="64770" cy="64770"/>
          </a:xfrm>
          <a:prstGeom prst="ellipse">
            <a:avLst/>
          </a:prstGeom>
          <a:solidFill>
            <a:srgbClr val="FFFFFF">
              <a:alpha val="42000"/>
            </a:srgbClr>
          </a:solidFill>
          <a:ln>
            <a:noFill/>
          </a:ln>
        </p:spPr>
      </p:sp>
      <p:sp>
        <p:nvSpPr>
          <p:cNvPr id="5" name="TextBox 5"/>
          <p:cNvSpPr txBox="1"/>
          <p:nvPr/>
        </p:nvSpPr>
        <p:spPr>
          <a:xfrm>
            <a:off x="17336" y="1245870"/>
            <a:ext cx="574929" cy="182880"/>
          </a:xfrm>
          <a:prstGeom prst="rect">
            <a:avLst/>
          </a:prstGeom>
          <a:noFill/>
          <a:ln>
            <a:noFill/>
          </a:ln>
        </p:spPr>
        <p:txBody>
          <a:bodyPr wrap="none" lIns="0" tIns="0" rIns="0" bIns="0" anchor="t" anchorCtr="0">
            <a:spAutoFit/>
          </a:bodyPr>
          <a:lstStyle/>
          <a:p>
            <a:pPr algn="ctr"/>
            <a:r>
              <a:rPr lang="zh-CN" sz="900" dirty="0">
                <a:solidFill>
                  <a:srgbClr val="FFFFFF">
                    <a:alphaMod val="60000"/>
                  </a:srgbClr>
                </a:solidFill>
                <a:latin typeface="Arial"/>
                <a:ea typeface="Microsoft YaHei"/>
                <a:cs typeface="Arial"/>
              </a:rPr>
              <a:t>Question</a:t>
            </a:r>
          </a:p>
        </p:txBody>
      </p:sp>
      <p:sp>
        <p:nvSpPr>
          <p:cNvPr id="6" name="Ellipse 6"/>
          <p:cNvSpPr/>
          <p:nvPr/>
        </p:nvSpPr>
        <p:spPr>
          <a:xfrm>
            <a:off x="272415" y="1948815"/>
            <a:ext cx="64770" cy="64770"/>
          </a:xfrm>
          <a:prstGeom prst="ellipse">
            <a:avLst/>
          </a:prstGeom>
          <a:solidFill>
            <a:srgbClr val="FFFFFF">
              <a:alpha val="42000"/>
            </a:srgbClr>
          </a:solidFill>
          <a:ln>
            <a:noFill/>
          </a:ln>
        </p:spPr>
      </p:sp>
      <p:sp>
        <p:nvSpPr>
          <p:cNvPr id="7" name="TextBox 7"/>
          <p:cNvSpPr txBox="1"/>
          <p:nvPr/>
        </p:nvSpPr>
        <p:spPr>
          <a:xfrm>
            <a:off x="146152" y="2103120"/>
            <a:ext cx="317297" cy="182880"/>
          </a:xfrm>
          <a:prstGeom prst="rect">
            <a:avLst/>
          </a:prstGeom>
          <a:noFill/>
          <a:ln>
            <a:noFill/>
          </a:ln>
        </p:spPr>
        <p:txBody>
          <a:bodyPr wrap="none" lIns="0" tIns="0" rIns="0" bIns="0" anchor="t" anchorCtr="0">
            <a:spAutoFit/>
          </a:bodyPr>
          <a:lstStyle/>
          <a:p>
            <a:pPr algn="ctr"/>
            <a:r>
              <a:rPr lang="zh-CN" sz="900" dirty="0">
                <a:solidFill>
                  <a:srgbClr val="FFFFFF">
                    <a:alphaMod val="60000"/>
                  </a:srgbClr>
                </a:solidFill>
                <a:latin typeface="Arial"/>
                <a:ea typeface="Microsoft YaHei"/>
                <a:cs typeface="Arial"/>
              </a:rPr>
              <a:t>Data</a:t>
            </a:r>
          </a:p>
        </p:txBody>
      </p:sp>
      <p:sp>
        <p:nvSpPr>
          <p:cNvPr id="8" name="Ellipse 8"/>
          <p:cNvSpPr/>
          <p:nvPr/>
        </p:nvSpPr>
        <p:spPr>
          <a:xfrm>
            <a:off x="272415" y="2806065"/>
            <a:ext cx="64770" cy="64770"/>
          </a:xfrm>
          <a:prstGeom prst="ellipse">
            <a:avLst/>
          </a:prstGeom>
          <a:solidFill>
            <a:srgbClr val="FFFFFF">
              <a:alpha val="42000"/>
            </a:srgbClr>
          </a:solidFill>
          <a:ln>
            <a:noFill/>
          </a:ln>
        </p:spPr>
      </p:sp>
      <p:sp>
        <p:nvSpPr>
          <p:cNvPr id="9" name="TextBox 9"/>
          <p:cNvSpPr txBox="1"/>
          <p:nvPr/>
        </p:nvSpPr>
        <p:spPr>
          <a:xfrm>
            <a:off x="35738" y="2960370"/>
            <a:ext cx="538124" cy="182880"/>
          </a:xfrm>
          <a:prstGeom prst="rect">
            <a:avLst/>
          </a:prstGeom>
          <a:noFill/>
          <a:ln>
            <a:noFill/>
          </a:ln>
        </p:spPr>
        <p:txBody>
          <a:bodyPr wrap="none" lIns="0" tIns="0" rIns="0" bIns="0" anchor="t" anchorCtr="0">
            <a:spAutoFit/>
          </a:bodyPr>
          <a:lstStyle/>
          <a:p>
            <a:pPr algn="ctr"/>
            <a:r>
              <a:rPr lang="zh-CN" sz="900" dirty="0">
                <a:solidFill>
                  <a:srgbClr val="FFFFFF">
                    <a:alphaMod val="60000"/>
                  </a:srgbClr>
                </a:solidFill>
                <a:latin typeface="Arial"/>
                <a:ea typeface="Microsoft YaHei"/>
                <a:cs typeface="Arial"/>
              </a:rPr>
              <a:t>Findings</a:t>
            </a:r>
          </a:p>
        </p:txBody>
      </p:sp>
      <p:sp>
        <p:nvSpPr>
          <p:cNvPr id="10" name="Ellipse 10"/>
          <p:cNvSpPr/>
          <p:nvPr/>
        </p:nvSpPr>
        <p:spPr>
          <a:xfrm>
            <a:off x="272415" y="3663315"/>
            <a:ext cx="64770" cy="64770"/>
          </a:xfrm>
          <a:prstGeom prst="ellipse">
            <a:avLst/>
          </a:prstGeom>
          <a:solidFill>
            <a:srgbClr val="FFFFFF">
              <a:alpha val="42000"/>
            </a:srgbClr>
          </a:solidFill>
          <a:ln>
            <a:noFill/>
          </a:ln>
        </p:spPr>
      </p:sp>
      <p:sp>
        <p:nvSpPr>
          <p:cNvPr id="11" name="TextBox 11"/>
          <p:cNvSpPr txBox="1"/>
          <p:nvPr/>
        </p:nvSpPr>
        <p:spPr>
          <a:xfrm>
            <a:off x="72542" y="3817620"/>
            <a:ext cx="464515" cy="182880"/>
          </a:xfrm>
          <a:prstGeom prst="rect">
            <a:avLst/>
          </a:prstGeom>
          <a:noFill/>
          <a:ln>
            <a:noFill/>
          </a:ln>
        </p:spPr>
        <p:txBody>
          <a:bodyPr wrap="none" lIns="0" tIns="0" rIns="0" bIns="0" anchor="t" anchorCtr="0">
            <a:spAutoFit/>
          </a:bodyPr>
          <a:lstStyle/>
          <a:p>
            <a:pPr algn="ctr"/>
            <a:r>
              <a:rPr lang="zh-CN" sz="900" dirty="0">
                <a:solidFill>
                  <a:srgbClr val="FFFFFF">
                    <a:alphaMod val="60000"/>
                  </a:srgbClr>
                </a:solidFill>
                <a:latin typeface="Arial"/>
                <a:ea typeface="Microsoft YaHei"/>
                <a:cs typeface="Arial"/>
              </a:rPr>
              <a:t>Robust</a:t>
            </a:r>
          </a:p>
        </p:txBody>
      </p:sp>
      <p:sp>
        <p:nvSpPr>
          <p:cNvPr id="12" name="Ellipse 12"/>
          <p:cNvSpPr/>
          <p:nvPr/>
        </p:nvSpPr>
        <p:spPr>
          <a:xfrm>
            <a:off x="272415" y="4520565"/>
            <a:ext cx="64770" cy="64770"/>
          </a:xfrm>
          <a:prstGeom prst="ellipse">
            <a:avLst/>
          </a:prstGeom>
          <a:solidFill>
            <a:srgbClr val="FFFFFF">
              <a:alpha val="42000"/>
            </a:srgbClr>
          </a:solidFill>
          <a:ln>
            <a:noFill/>
          </a:ln>
        </p:spPr>
      </p:sp>
      <p:sp>
        <p:nvSpPr>
          <p:cNvPr id="13" name="TextBox 13"/>
          <p:cNvSpPr txBox="1"/>
          <p:nvPr/>
        </p:nvSpPr>
        <p:spPr>
          <a:xfrm>
            <a:off x="146152" y="4674870"/>
            <a:ext cx="317297" cy="182880"/>
          </a:xfrm>
          <a:prstGeom prst="rect">
            <a:avLst/>
          </a:prstGeom>
          <a:noFill/>
          <a:ln>
            <a:noFill/>
          </a:ln>
        </p:spPr>
        <p:txBody>
          <a:bodyPr wrap="none" lIns="0" tIns="0" rIns="0" bIns="0" anchor="t" anchorCtr="0">
            <a:spAutoFit/>
          </a:bodyPr>
          <a:lstStyle/>
          <a:p>
            <a:pPr algn="ctr"/>
            <a:r>
              <a:rPr lang="zh-CN" sz="900" dirty="0">
                <a:solidFill>
                  <a:srgbClr val="FFFFFF">
                    <a:alphaMod val="60000"/>
                  </a:srgbClr>
                </a:solidFill>
                <a:latin typeface="Arial"/>
                <a:ea typeface="Microsoft YaHei"/>
                <a:cs typeface="Arial"/>
              </a:rPr>
              <a:t>Uses</a:t>
            </a:r>
          </a:p>
        </p:txBody>
      </p:sp>
      <p:sp>
        <p:nvSpPr>
          <p:cNvPr id="14" name="Ellipse 14"/>
          <p:cNvSpPr/>
          <p:nvPr/>
        </p:nvSpPr>
        <p:spPr>
          <a:xfrm>
            <a:off x="257175" y="5362575"/>
            <a:ext cx="95250" cy="95250"/>
          </a:xfrm>
          <a:prstGeom prst="ellipse">
            <a:avLst/>
          </a:prstGeom>
          <a:solidFill>
            <a:srgbClr val="FFFFFF"/>
          </a:solidFill>
          <a:ln>
            <a:noFill/>
          </a:ln>
        </p:spPr>
      </p:sp>
      <p:sp>
        <p:nvSpPr>
          <p:cNvPr id="15" name="TextBox 15"/>
          <p:cNvSpPr txBox="1"/>
          <p:nvPr/>
        </p:nvSpPr>
        <p:spPr>
          <a:xfrm>
            <a:off x="16678" y="5532120"/>
            <a:ext cx="576243" cy="182880"/>
          </a:xfrm>
          <a:prstGeom prst="rect">
            <a:avLst/>
          </a:prstGeom>
          <a:noFill/>
          <a:ln>
            <a:noFill/>
          </a:ln>
        </p:spPr>
        <p:txBody>
          <a:bodyPr wrap="none" lIns="0" tIns="0" rIns="0" bIns="0" anchor="t" anchorCtr="0">
            <a:spAutoFit/>
          </a:bodyPr>
          <a:lstStyle/>
          <a:p>
            <a:pPr algn="ctr"/>
            <a:r>
              <a:rPr lang="zh-CN" sz="900" dirty="0">
                <a:solidFill>
                  <a:srgbClr val="FFFFFF"/>
                </a:solidFill>
                <a:latin typeface="Arial"/>
                <a:ea typeface="Microsoft YaHei"/>
                <a:cs typeface="Arial"/>
              </a:rPr>
              <a:t>Wrap-up</a:t>
            </a:r>
          </a:p>
        </p:txBody>
      </p:sp>
      <p:sp>
        <p:nvSpPr>
          <p:cNvPr id="16" name="Rectangle 16"/>
          <p:cNvSpPr/>
          <p:nvPr/>
        </p:nvSpPr>
        <p:spPr>
          <a:xfrm>
            <a:off x="914400" y="304800"/>
            <a:ext cx="419100" cy="47625"/>
          </a:xfrm>
          <a:prstGeom prst="rect">
            <a:avLst/>
          </a:prstGeom>
          <a:solidFill>
            <a:srgbClr val="B45309"/>
          </a:solidFill>
          <a:ln>
            <a:noFill/>
          </a:ln>
        </p:spPr>
      </p:sp>
      <p:sp>
        <p:nvSpPr>
          <p:cNvPr id="17" name="TextBox 17"/>
          <p:cNvSpPr txBox="1"/>
          <p:nvPr/>
        </p:nvSpPr>
        <p:spPr>
          <a:xfrm>
            <a:off x="889635" y="456248"/>
            <a:ext cx="3792908" cy="396240"/>
          </a:xfrm>
          <a:prstGeom prst="rect">
            <a:avLst/>
          </a:prstGeom>
          <a:noFill/>
          <a:ln>
            <a:noFill/>
          </a:ln>
        </p:spPr>
        <p:txBody>
          <a:bodyPr wrap="none" lIns="0" tIns="0" rIns="0" bIns="0" anchor="t" anchorCtr="0">
            <a:spAutoFit/>
          </a:bodyPr>
          <a:lstStyle/>
          <a:p>
            <a:pPr algn="l"/>
            <a:r>
              <a:rPr lang="zh-CN" sz="1950" b="1" dirty="0">
                <a:solidFill>
                  <a:srgbClr val="17332D"/>
                </a:solidFill>
                <a:latin typeface="Arial"/>
                <a:ea typeface="Microsoft YaHei"/>
                <a:cs typeface="Arial"/>
              </a:rPr>
              <a:t>Four take-home messages</a:t>
            </a:r>
          </a:p>
        </p:txBody>
      </p:sp>
      <p:sp>
        <p:nvSpPr>
          <p:cNvPr id="18" name="TextBox 18"/>
          <p:cNvSpPr txBox="1"/>
          <p:nvPr/>
        </p:nvSpPr>
        <p:spPr>
          <a:xfrm>
            <a:off x="11063478" y="283845"/>
            <a:ext cx="758952" cy="182880"/>
          </a:xfrm>
          <a:prstGeom prst="rect">
            <a:avLst/>
          </a:prstGeom>
          <a:noFill/>
          <a:ln>
            <a:noFill/>
          </a:ln>
        </p:spPr>
        <p:txBody>
          <a:bodyPr wrap="none" lIns="0" tIns="0" rIns="0" bIns="0" anchor="t" anchorCtr="0">
            <a:spAutoFit/>
          </a:bodyPr>
          <a:lstStyle/>
          <a:p>
            <a:pPr algn="r"/>
            <a:r>
              <a:rPr lang="zh-CN" sz="900" dirty="0">
                <a:solidFill>
                  <a:srgbClr val="8A919B"/>
                </a:solidFill>
                <a:latin typeface="Arial"/>
                <a:ea typeface="Microsoft YaHei"/>
                <a:cs typeface="Arial"/>
              </a:rPr>
              <a:t>Conclusions</a:t>
            </a:r>
          </a:p>
        </p:txBody>
      </p:sp>
      <p:sp>
        <p:nvSpPr>
          <p:cNvPr id="19" name="Line 19"/>
          <p:cNvSpPr/>
          <p:nvPr/>
        </p:nvSpPr>
        <p:spPr>
          <a:xfrm>
            <a:off x="914400" y="6515100"/>
            <a:ext cx="10896600" cy="9525"/>
          </a:xfrm>
          <a:custGeom>
            <a:avLst/>
            <a:gdLst/>
            <a:ahLst/>
            <a:cxnLst/>
            <a:rect l="l" t="t" r="r" b="b"/>
            <a:pathLst>
              <a:path w="10896600" h="9525">
                <a:moveTo>
                  <a:pt x="0" y="0"/>
                </a:moveTo>
                <a:lnTo>
                  <a:pt x="10896600" y="0"/>
                </a:lnTo>
              </a:path>
            </a:pathLst>
          </a:custGeom>
          <a:noFill/>
          <a:ln w="9525">
            <a:solidFill>
              <a:srgbClr val="D6D3CD"/>
            </a:solidFill>
          </a:ln>
        </p:spPr>
      </p:sp>
      <p:sp>
        <p:nvSpPr>
          <p:cNvPr id="20" name="TextBox 20"/>
          <p:cNvSpPr txBox="1"/>
          <p:nvPr/>
        </p:nvSpPr>
        <p:spPr>
          <a:xfrm>
            <a:off x="902970" y="6617970"/>
            <a:ext cx="2609698" cy="182880"/>
          </a:xfrm>
          <a:prstGeom prst="rect">
            <a:avLst/>
          </a:prstGeom>
          <a:noFill/>
          <a:ln>
            <a:noFill/>
          </a:ln>
        </p:spPr>
        <p:txBody>
          <a:bodyPr wrap="none" lIns="0" tIns="0" rIns="0" bIns="0" anchor="t" anchorCtr="0">
            <a:spAutoFit/>
          </a:bodyPr>
          <a:lstStyle/>
          <a:p>
            <a:pPr algn="l"/>
            <a:r>
              <a:rPr lang="zh-CN" sz="900" dirty="0">
                <a:solidFill>
                  <a:srgbClr val="8A919B"/>
                </a:solidFill>
                <a:latin typeface="Arial"/>
                <a:ea typeface="Microsoft YaHei"/>
                <a:cs typeface="Arial"/>
              </a:rPr>
              <a:t>Birds or birders? · AOC 2026, Singapore</a:t>
            </a:r>
          </a:p>
        </p:txBody>
      </p:sp>
      <p:sp>
        <p:nvSpPr>
          <p:cNvPr id="21" name="TextBox 21"/>
          <p:cNvSpPr txBox="1"/>
          <p:nvPr/>
        </p:nvSpPr>
        <p:spPr>
          <a:xfrm>
            <a:off x="11352657" y="6617970"/>
            <a:ext cx="469773" cy="182880"/>
          </a:xfrm>
          <a:prstGeom prst="rect">
            <a:avLst/>
          </a:prstGeom>
          <a:noFill/>
          <a:ln>
            <a:noFill/>
          </a:ln>
        </p:spPr>
        <p:txBody>
          <a:bodyPr wrap="none" lIns="0" tIns="0" rIns="0" bIns="0" anchor="t" anchorCtr="0">
            <a:spAutoFit/>
          </a:bodyPr>
          <a:lstStyle/>
          <a:p>
            <a:pPr algn="r"/>
            <a:r>
              <a:rPr lang="zh-CN" sz="900" dirty="0">
                <a:solidFill>
                  <a:srgbClr val="5F6670"/>
                </a:solidFill>
                <a:latin typeface="Arial"/>
                <a:ea typeface="Microsoft YaHei"/>
                <a:cs typeface="Arial"/>
              </a:rPr>
              <a:t>19 / 20</a:t>
            </a:r>
          </a:p>
        </p:txBody>
      </p:sp>
      <p:sp>
        <p:nvSpPr>
          <p:cNvPr id="22" name="Rectangle 22"/>
          <p:cNvSpPr/>
          <p:nvPr/>
        </p:nvSpPr>
        <p:spPr>
          <a:xfrm>
            <a:off x="914400" y="933450"/>
            <a:ext cx="5334000" cy="1000125"/>
          </a:xfrm>
          <a:prstGeom prst="roundRect">
            <a:avLst>
              <a:gd name="adj" fmla="val 5714"/>
            </a:avLst>
          </a:prstGeom>
          <a:solidFill>
            <a:srgbClr val="FFFFFF"/>
          </a:solidFill>
          <a:ln w="9525">
            <a:solidFill>
              <a:srgbClr val="D6D3CD"/>
            </a:solidFill>
          </a:ln>
        </p:spPr>
      </p:sp>
      <p:sp>
        <p:nvSpPr>
          <p:cNvPr id="23" name="Rectangle 23"/>
          <p:cNvSpPr/>
          <p:nvPr/>
        </p:nvSpPr>
        <p:spPr>
          <a:xfrm>
            <a:off x="914400" y="933450"/>
            <a:ext cx="5334000" cy="38100"/>
          </a:xfrm>
          <a:prstGeom prst="rect">
            <a:avLst/>
          </a:prstGeom>
          <a:solidFill>
            <a:srgbClr val="B45309"/>
          </a:solidFill>
          <a:ln>
            <a:noFill/>
          </a:ln>
        </p:spPr>
      </p:sp>
      <p:sp>
        <p:nvSpPr>
          <p:cNvPr id="24" name="TextBox 24"/>
          <p:cNvSpPr txBox="1"/>
          <p:nvPr/>
        </p:nvSpPr>
        <p:spPr>
          <a:xfrm>
            <a:off x="1087755" y="1102042"/>
            <a:ext cx="3117004" cy="274320"/>
          </a:xfrm>
          <a:prstGeom prst="rect">
            <a:avLst/>
          </a:prstGeom>
          <a:noFill/>
          <a:ln>
            <a:noFill/>
          </a:ln>
        </p:spPr>
        <p:txBody>
          <a:bodyPr wrap="none" lIns="0" tIns="0" rIns="0" bIns="0" anchor="t" anchorCtr="0">
            <a:spAutoFit/>
          </a:bodyPr>
          <a:lstStyle/>
          <a:p>
            <a:pPr algn="l"/>
            <a:r>
              <a:rPr lang="zh-CN" sz="1350" b="1" dirty="0">
                <a:solidFill>
                  <a:srgbClr val="B45309"/>
                </a:solidFill>
                <a:latin typeface="Arial"/>
                <a:ea typeface="Microsoft YaHei"/>
                <a:cs typeface="Arial"/>
              </a:rPr>
              <a:t>1 Dating is a modelling decision</a:t>
            </a:r>
          </a:p>
        </p:txBody>
      </p:sp>
      <p:sp>
        <p:nvSpPr>
          <p:cNvPr id="25" name="TextBox 25"/>
          <p:cNvSpPr txBox="1"/>
          <p:nvPr/>
        </p:nvSpPr>
        <p:spPr>
          <a:xfrm>
            <a:off x="1089660" y="1394460"/>
            <a:ext cx="3597021" cy="243840"/>
          </a:xfrm>
          <a:prstGeom prst="rect">
            <a:avLst/>
          </a:prstGeom>
          <a:noFill/>
          <a:ln>
            <a:noFill/>
          </a:ln>
        </p:spPr>
        <p:txBody>
          <a:bodyPr wrap="none" lIns="0" tIns="0" rIns="0" bIns="0" anchor="t" anchorCtr="0">
            <a:spAutoFit/>
          </a:bodyPr>
          <a:lstStyle/>
          <a:p>
            <a:pPr algn="l"/>
            <a:r>
              <a:rPr lang="zh-CN" sz="1200" dirty="0">
                <a:solidFill>
                  <a:srgbClr val="17332D"/>
                </a:solidFill>
                <a:latin typeface="Arial"/>
                <a:ea typeface="Microsoft YaHei"/>
                <a:cs typeface="Arial"/>
              </a:rPr>
              <a:t>Publication dating inflates effort by 37%</a:t>
            </a:r>
          </a:p>
        </p:txBody>
      </p:sp>
      <p:sp>
        <p:nvSpPr>
          <p:cNvPr id="26" name="TextBox 26"/>
          <p:cNvSpPr txBox="1"/>
          <p:nvPr/>
        </p:nvSpPr>
        <p:spPr>
          <a:xfrm>
            <a:off x="1089660" y="1632585"/>
            <a:ext cx="2610307" cy="243840"/>
          </a:xfrm>
          <a:prstGeom prst="rect">
            <a:avLst/>
          </a:prstGeom>
          <a:noFill/>
          <a:ln>
            <a:noFill/>
          </a:ln>
        </p:spPr>
        <p:txBody>
          <a:bodyPr wrap="none" lIns="0" tIns="0" rIns="0" bIns="0" anchor="t" anchorCtr="0">
            <a:spAutoFit/>
          </a:bodyPr>
          <a:lstStyle/>
          <a:p>
            <a:pPr algn="l"/>
            <a:r>
              <a:rPr lang="zh-CN" sz="1200" dirty="0">
                <a:solidFill>
                  <a:srgbClr val="5F6670"/>
                </a:solidFill>
                <a:latin typeface="Arial"/>
                <a:ea typeface="Microsoft YaHei"/>
                <a:cs typeface="Arial"/>
              </a:rPr>
              <a:t>and creates a phantom effect</a:t>
            </a:r>
          </a:p>
        </p:txBody>
      </p:sp>
      <p:sp>
        <p:nvSpPr>
          <p:cNvPr id="27" name="Rectangle 27"/>
          <p:cNvSpPr/>
          <p:nvPr/>
        </p:nvSpPr>
        <p:spPr>
          <a:xfrm>
            <a:off x="6477000" y="933450"/>
            <a:ext cx="5334000" cy="1000125"/>
          </a:xfrm>
          <a:prstGeom prst="roundRect">
            <a:avLst>
              <a:gd name="adj" fmla="val 5714"/>
            </a:avLst>
          </a:prstGeom>
          <a:solidFill>
            <a:srgbClr val="FFFFFF"/>
          </a:solidFill>
          <a:ln w="9525">
            <a:solidFill>
              <a:srgbClr val="D6D3CD"/>
            </a:solidFill>
          </a:ln>
        </p:spPr>
      </p:sp>
      <p:sp>
        <p:nvSpPr>
          <p:cNvPr id="28" name="Rectangle 28"/>
          <p:cNvSpPr/>
          <p:nvPr/>
        </p:nvSpPr>
        <p:spPr>
          <a:xfrm>
            <a:off x="6477000" y="933450"/>
            <a:ext cx="5334000" cy="38100"/>
          </a:xfrm>
          <a:prstGeom prst="rect">
            <a:avLst/>
          </a:prstGeom>
          <a:solidFill>
            <a:srgbClr val="009E73"/>
          </a:solidFill>
          <a:ln>
            <a:noFill/>
          </a:ln>
        </p:spPr>
      </p:sp>
      <p:sp>
        <p:nvSpPr>
          <p:cNvPr id="29" name="TextBox 29"/>
          <p:cNvSpPr txBox="1"/>
          <p:nvPr/>
        </p:nvSpPr>
        <p:spPr>
          <a:xfrm>
            <a:off x="6650355" y="1102042"/>
            <a:ext cx="4404429" cy="274320"/>
          </a:xfrm>
          <a:prstGeom prst="rect">
            <a:avLst/>
          </a:prstGeom>
          <a:noFill/>
          <a:ln>
            <a:noFill/>
          </a:ln>
        </p:spPr>
        <p:txBody>
          <a:bodyPr wrap="none" lIns="0" tIns="0" rIns="0" bIns="0" anchor="t" anchorCtr="0">
            <a:spAutoFit/>
          </a:bodyPr>
          <a:lstStyle/>
          <a:p>
            <a:pPr algn="l"/>
            <a:r>
              <a:rPr lang="zh-CN" sz="1350" b="1" dirty="0">
                <a:solidFill>
                  <a:srgbClr val="009E73"/>
                </a:solidFill>
                <a:latin typeface="Arial"/>
                <a:ea typeface="Microsoft YaHei"/>
                <a:cs typeface="Arial"/>
              </a:rPr>
              <a:t>2 Two processes, comparable and separable</a:t>
            </a:r>
          </a:p>
        </p:txBody>
      </p:sp>
      <p:sp>
        <p:nvSpPr>
          <p:cNvPr id="30" name="TextBox 30"/>
          <p:cNvSpPr txBox="1"/>
          <p:nvPr/>
        </p:nvSpPr>
        <p:spPr>
          <a:xfrm>
            <a:off x="6652260" y="1394460"/>
            <a:ext cx="2384222" cy="243840"/>
          </a:xfrm>
          <a:prstGeom prst="rect">
            <a:avLst/>
          </a:prstGeom>
          <a:noFill/>
          <a:ln>
            <a:noFill/>
          </a:ln>
        </p:spPr>
        <p:txBody>
          <a:bodyPr wrap="none" lIns="0" tIns="0" rIns="0" bIns="0" anchor="t" anchorCtr="0">
            <a:spAutoFit/>
          </a:bodyPr>
          <a:lstStyle/>
          <a:p>
            <a:pPr algn="l"/>
            <a:r>
              <a:rPr lang="zh-CN" sz="1200" dirty="0">
                <a:solidFill>
                  <a:srgbClr val="17332D"/>
                </a:solidFill>
                <a:latin typeface="Arial"/>
                <a:ea typeface="Microsoft YaHei"/>
                <a:cs typeface="Arial"/>
              </a:rPr>
              <a:t>Warming 1.36 · effort 1.40</a:t>
            </a:r>
          </a:p>
        </p:txBody>
      </p:sp>
      <p:sp>
        <p:nvSpPr>
          <p:cNvPr id="31" name="TextBox 31"/>
          <p:cNvSpPr txBox="1"/>
          <p:nvPr/>
        </p:nvSpPr>
        <p:spPr>
          <a:xfrm>
            <a:off x="6652260" y="1632585"/>
            <a:ext cx="2233498" cy="243840"/>
          </a:xfrm>
          <a:prstGeom prst="rect">
            <a:avLst/>
          </a:prstGeom>
          <a:noFill/>
          <a:ln>
            <a:noFill/>
          </a:ln>
        </p:spPr>
        <p:txBody>
          <a:bodyPr wrap="none" lIns="0" tIns="0" rIns="0" bIns="0" anchor="t" anchorCtr="0">
            <a:spAutoFit/>
          </a:bodyPr>
          <a:lstStyle/>
          <a:p>
            <a:pPr algn="l"/>
            <a:r>
              <a:rPr lang="zh-CN" sz="1200" dirty="0">
                <a:solidFill>
                  <a:srgbClr val="5F6670"/>
                </a:solidFill>
                <a:latin typeface="Arial"/>
                <a:ea typeface="Microsoft YaHei"/>
                <a:cs typeface="Arial"/>
              </a:rPr>
              <a:t>increment over null ×1.18</a:t>
            </a:r>
          </a:p>
        </p:txBody>
      </p:sp>
      <p:sp>
        <p:nvSpPr>
          <p:cNvPr id="32" name="Rectangle 32"/>
          <p:cNvSpPr/>
          <p:nvPr/>
        </p:nvSpPr>
        <p:spPr>
          <a:xfrm>
            <a:off x="914400" y="2324100"/>
            <a:ext cx="5334000" cy="1000125"/>
          </a:xfrm>
          <a:prstGeom prst="roundRect">
            <a:avLst>
              <a:gd name="adj" fmla="val 5714"/>
            </a:avLst>
          </a:prstGeom>
          <a:solidFill>
            <a:srgbClr val="FFFFFF"/>
          </a:solidFill>
          <a:ln w="9525">
            <a:solidFill>
              <a:srgbClr val="D6D3CD"/>
            </a:solidFill>
          </a:ln>
        </p:spPr>
      </p:sp>
      <p:sp>
        <p:nvSpPr>
          <p:cNvPr id="33" name="Rectangle 33"/>
          <p:cNvSpPr/>
          <p:nvPr/>
        </p:nvSpPr>
        <p:spPr>
          <a:xfrm>
            <a:off x="914400" y="2324100"/>
            <a:ext cx="5334000" cy="38100"/>
          </a:xfrm>
          <a:prstGeom prst="rect">
            <a:avLst/>
          </a:prstGeom>
          <a:solidFill>
            <a:srgbClr val="0072B2"/>
          </a:solidFill>
          <a:ln>
            <a:noFill/>
          </a:ln>
        </p:spPr>
      </p:sp>
      <p:sp>
        <p:nvSpPr>
          <p:cNvPr id="34" name="TextBox 34"/>
          <p:cNvSpPr txBox="1"/>
          <p:nvPr/>
        </p:nvSpPr>
        <p:spPr>
          <a:xfrm>
            <a:off x="1087755" y="2492692"/>
            <a:ext cx="3403331" cy="274320"/>
          </a:xfrm>
          <a:prstGeom prst="rect">
            <a:avLst/>
          </a:prstGeom>
          <a:noFill/>
          <a:ln>
            <a:noFill/>
          </a:ln>
        </p:spPr>
        <p:txBody>
          <a:bodyPr wrap="none" lIns="0" tIns="0" rIns="0" bIns="0" anchor="t" anchorCtr="0">
            <a:spAutoFit/>
          </a:bodyPr>
          <a:lstStyle/>
          <a:p>
            <a:pPr algn="l"/>
            <a:r>
              <a:rPr lang="zh-CN" sz="1350" b="1" dirty="0">
                <a:solidFill>
                  <a:srgbClr val="0072B2"/>
                </a:solidFill>
                <a:latin typeface="Arial"/>
                <a:ea typeface="Microsoft YaHei"/>
                <a:cs typeface="Arial"/>
              </a:rPr>
              <a:t>3 Model the observation process</a:t>
            </a:r>
          </a:p>
        </p:txBody>
      </p:sp>
      <p:sp>
        <p:nvSpPr>
          <p:cNvPr id="35" name="TextBox 35"/>
          <p:cNvSpPr txBox="1"/>
          <p:nvPr/>
        </p:nvSpPr>
        <p:spPr>
          <a:xfrm>
            <a:off x="1089660" y="2785110"/>
            <a:ext cx="3761765" cy="243840"/>
          </a:xfrm>
          <a:prstGeom prst="rect">
            <a:avLst/>
          </a:prstGeom>
          <a:noFill/>
          <a:ln>
            <a:noFill/>
          </a:ln>
        </p:spPr>
        <p:txBody>
          <a:bodyPr wrap="none" lIns="0" tIns="0" rIns="0" bIns="0" anchor="t" anchorCtr="0">
            <a:spAutoFit/>
          </a:bodyPr>
          <a:lstStyle/>
          <a:p>
            <a:pPr algn="l"/>
            <a:r>
              <a:rPr lang="zh-CN" sz="1200" dirty="0">
                <a:solidFill>
                  <a:srgbClr val="17332D"/>
                </a:solidFill>
                <a:latin typeface="Arial"/>
                <a:ea typeface="Microsoft YaHei"/>
                <a:cs typeface="Arial"/>
              </a:rPr>
              <a:t>Province × year ×2.23 is the largest part;</a:t>
            </a:r>
          </a:p>
        </p:txBody>
      </p:sp>
      <p:sp>
        <p:nvSpPr>
          <p:cNvPr id="36" name="TextBox 36"/>
          <p:cNvSpPr txBox="1"/>
          <p:nvPr/>
        </p:nvSpPr>
        <p:spPr>
          <a:xfrm>
            <a:off x="1089660" y="3023235"/>
            <a:ext cx="4096512" cy="243840"/>
          </a:xfrm>
          <a:prstGeom prst="rect">
            <a:avLst/>
          </a:prstGeom>
          <a:noFill/>
          <a:ln>
            <a:noFill/>
          </a:ln>
        </p:spPr>
        <p:txBody>
          <a:bodyPr wrap="none" lIns="0" tIns="0" rIns="0" bIns="0" anchor="t" anchorCtr="0">
            <a:spAutoFit/>
          </a:bodyPr>
          <a:lstStyle/>
          <a:p>
            <a:pPr algn="l"/>
            <a:r>
              <a:rPr lang="zh-CN" sz="1200" dirty="0">
                <a:solidFill>
                  <a:srgbClr val="5F6670"/>
                </a:solidFill>
                <a:latin typeface="Arial"/>
                <a:ea typeface="Microsoft YaHei"/>
                <a:cs typeface="Arial"/>
              </a:rPr>
              <a:t>effort saturates; warming shows no such trend</a:t>
            </a:r>
          </a:p>
        </p:txBody>
      </p:sp>
      <p:sp>
        <p:nvSpPr>
          <p:cNvPr id="37" name="Rectangle 37"/>
          <p:cNvSpPr/>
          <p:nvPr/>
        </p:nvSpPr>
        <p:spPr>
          <a:xfrm>
            <a:off x="6477000" y="2324100"/>
            <a:ext cx="5334000" cy="1000125"/>
          </a:xfrm>
          <a:prstGeom prst="roundRect">
            <a:avLst>
              <a:gd name="adj" fmla="val 5714"/>
            </a:avLst>
          </a:prstGeom>
          <a:solidFill>
            <a:srgbClr val="FFFFFF"/>
          </a:solidFill>
          <a:ln w="9525">
            <a:solidFill>
              <a:srgbClr val="D6D3CD"/>
            </a:solidFill>
          </a:ln>
        </p:spPr>
      </p:sp>
      <p:sp>
        <p:nvSpPr>
          <p:cNvPr id="38" name="Rectangle 38"/>
          <p:cNvSpPr/>
          <p:nvPr/>
        </p:nvSpPr>
        <p:spPr>
          <a:xfrm>
            <a:off x="6477000" y="2324100"/>
            <a:ext cx="5334000" cy="38100"/>
          </a:xfrm>
          <a:prstGeom prst="rect">
            <a:avLst/>
          </a:prstGeom>
          <a:solidFill>
            <a:srgbClr val="1F4E45"/>
          </a:solidFill>
          <a:ln>
            <a:noFill/>
          </a:ln>
        </p:spPr>
      </p:sp>
      <p:sp>
        <p:nvSpPr>
          <p:cNvPr id="39" name="TextBox 39"/>
          <p:cNvSpPr txBox="1"/>
          <p:nvPr/>
        </p:nvSpPr>
        <p:spPr>
          <a:xfrm>
            <a:off x="6650355" y="2492692"/>
            <a:ext cx="3994794" cy="274320"/>
          </a:xfrm>
          <a:prstGeom prst="rect">
            <a:avLst/>
          </a:prstGeom>
          <a:noFill/>
          <a:ln>
            <a:noFill/>
          </a:ln>
        </p:spPr>
        <p:txBody>
          <a:bodyPr wrap="none" lIns="0" tIns="0" rIns="0" bIns="0" anchor="t" anchorCtr="0">
            <a:spAutoFit/>
          </a:bodyPr>
          <a:lstStyle/>
          <a:p>
            <a:pPr algn="l"/>
            <a:r>
              <a:rPr lang="zh-CN" sz="1350" b="1" dirty="0">
                <a:solidFill>
                  <a:srgbClr val="1F4E45"/>
                </a:solidFill>
                <a:latin typeface="Arial"/>
                <a:ea typeface="Microsoft YaHei"/>
                <a:cs typeface="Arial"/>
              </a:rPr>
              <a:t>4 Keep applications inside the evidence</a:t>
            </a:r>
          </a:p>
        </p:txBody>
      </p:sp>
      <p:sp>
        <p:nvSpPr>
          <p:cNvPr id="40" name="TextBox 40"/>
          <p:cNvSpPr txBox="1"/>
          <p:nvPr/>
        </p:nvSpPr>
        <p:spPr>
          <a:xfrm>
            <a:off x="6652260" y="2785110"/>
            <a:ext cx="3774034" cy="243840"/>
          </a:xfrm>
          <a:prstGeom prst="rect">
            <a:avLst/>
          </a:prstGeom>
          <a:noFill/>
          <a:ln>
            <a:noFill/>
          </a:ln>
        </p:spPr>
        <p:txBody>
          <a:bodyPr wrap="none" lIns="0" tIns="0" rIns="0" bIns="0" anchor="t" anchorCtr="0">
            <a:spAutoFit/>
          </a:bodyPr>
          <a:lstStyle/>
          <a:p>
            <a:pPr algn="l"/>
            <a:r>
              <a:rPr lang="zh-CN" sz="1200" dirty="0">
                <a:solidFill>
                  <a:srgbClr val="17332D"/>
                </a:solidFill>
                <a:latin typeface="Arial"/>
                <a:ea typeface="Microsoft YaHei"/>
                <a:cs typeface="Arial"/>
              </a:rPr>
              <a:t>Records ≠ reserve success; counties work;</a:t>
            </a:r>
          </a:p>
        </p:txBody>
      </p:sp>
      <p:sp>
        <p:nvSpPr>
          <p:cNvPr id="41" name="TextBox 41"/>
          <p:cNvSpPr txBox="1"/>
          <p:nvPr/>
        </p:nvSpPr>
        <p:spPr>
          <a:xfrm>
            <a:off x="6652260" y="3023235"/>
            <a:ext cx="2610307" cy="243840"/>
          </a:xfrm>
          <a:prstGeom prst="rect">
            <a:avLst/>
          </a:prstGeom>
          <a:noFill/>
          <a:ln>
            <a:noFill/>
          </a:ln>
        </p:spPr>
        <p:txBody>
          <a:bodyPr wrap="none" lIns="0" tIns="0" rIns="0" bIns="0" anchor="t" anchorCtr="0">
            <a:spAutoFit/>
          </a:bodyPr>
          <a:lstStyle/>
          <a:p>
            <a:pPr algn="l"/>
            <a:r>
              <a:rPr lang="zh-CN" sz="1200" dirty="0">
                <a:solidFill>
                  <a:srgbClr val="5F6670"/>
                </a:solidFill>
                <a:latin typeface="Arial"/>
                <a:ea typeface="Microsoft YaHei"/>
                <a:cs typeface="Arial"/>
              </a:rPr>
              <a:t>the future depends on effort</a:t>
            </a:r>
          </a:p>
        </p:txBody>
      </p:sp>
      <p:sp>
        <p:nvSpPr>
          <p:cNvPr id="42" name="Rectangle 42"/>
          <p:cNvSpPr/>
          <p:nvPr/>
        </p:nvSpPr>
        <p:spPr>
          <a:xfrm>
            <a:off x="914400" y="3848100"/>
            <a:ext cx="10896600" cy="1066800"/>
          </a:xfrm>
          <a:prstGeom prst="roundRect">
            <a:avLst>
              <a:gd name="adj" fmla="val 5357"/>
            </a:avLst>
          </a:prstGeom>
          <a:solidFill>
            <a:srgbClr val="1F4E45"/>
          </a:solidFill>
          <a:ln>
            <a:noFill/>
          </a:ln>
        </p:spPr>
      </p:sp>
      <p:sp>
        <p:nvSpPr>
          <p:cNvPr id="43" name="TextBox 43"/>
          <p:cNvSpPr txBox="1"/>
          <p:nvPr/>
        </p:nvSpPr>
        <p:spPr>
          <a:xfrm>
            <a:off x="4453383" y="4010025"/>
            <a:ext cx="3818633" cy="304800"/>
          </a:xfrm>
          <a:prstGeom prst="rect">
            <a:avLst/>
          </a:prstGeom>
          <a:noFill/>
          <a:ln>
            <a:noFill/>
          </a:ln>
        </p:spPr>
        <p:txBody>
          <a:bodyPr wrap="none" lIns="0" tIns="0" rIns="0" bIns="0" anchor="t" anchorCtr="0">
            <a:spAutoFit/>
          </a:bodyPr>
          <a:lstStyle/>
          <a:p>
            <a:pPr algn="ctr"/>
            <a:r>
              <a:rPr lang="zh-CN" sz="1500" b="1" dirty="0">
                <a:solidFill>
                  <a:srgbClr val="FFFFFF"/>
                </a:solidFill>
                <a:latin typeface="Arial"/>
                <a:ea typeface="Microsoft YaHei"/>
                <a:cs typeface="Arial"/>
              </a:rPr>
              <a:t>Birds or birders? Not either–or.</a:t>
            </a:r>
          </a:p>
        </p:txBody>
      </p:sp>
      <p:sp>
        <p:nvSpPr>
          <p:cNvPr id="44" name="TextBox 44"/>
          <p:cNvSpPr txBox="1"/>
          <p:nvPr/>
        </p:nvSpPr>
        <p:spPr>
          <a:xfrm>
            <a:off x="2983487" y="4329589"/>
            <a:ext cx="6758426" cy="259080"/>
          </a:xfrm>
          <a:prstGeom prst="rect">
            <a:avLst/>
          </a:prstGeom>
          <a:noFill/>
          <a:ln>
            <a:noFill/>
          </a:ln>
        </p:spPr>
        <p:txBody>
          <a:bodyPr wrap="none" lIns="0" tIns="0" rIns="0" bIns="0" anchor="t" anchorCtr="0">
            <a:spAutoFit/>
          </a:bodyPr>
          <a:lstStyle/>
          <a:p>
            <a:pPr algn="ctr"/>
            <a:r>
              <a:rPr lang="zh-CN" sz="1275" dirty="0">
                <a:solidFill>
                  <a:srgbClr val="E7F0ED"/>
                </a:solidFill>
                <a:latin typeface="Arial"/>
                <a:ea typeface="Microsoft YaHei"/>
                <a:cs typeface="Arial"/>
              </a:rPr>
              <a:t>Both matter about equally — but the climate signal becomes interpretable</a:t>
            </a:r>
          </a:p>
        </p:txBody>
      </p:sp>
      <p:sp>
        <p:nvSpPr>
          <p:cNvPr id="45" name="TextBox 45"/>
          <p:cNvSpPr txBox="1"/>
          <p:nvPr/>
        </p:nvSpPr>
        <p:spPr>
          <a:xfrm>
            <a:off x="4968526" y="4586764"/>
            <a:ext cx="2788348" cy="259080"/>
          </a:xfrm>
          <a:prstGeom prst="rect">
            <a:avLst/>
          </a:prstGeom>
          <a:noFill/>
          <a:ln>
            <a:noFill/>
          </a:ln>
        </p:spPr>
        <p:txBody>
          <a:bodyPr wrap="none" lIns="0" tIns="0" rIns="0" bIns="0" anchor="t" anchorCtr="0">
            <a:spAutoFit/>
          </a:bodyPr>
          <a:lstStyle/>
          <a:p>
            <a:pPr algn="ctr"/>
            <a:r>
              <a:rPr lang="zh-CN" sz="1275" dirty="0">
                <a:solidFill>
                  <a:srgbClr val="E7F0ED"/>
                </a:solidFill>
                <a:latin typeface="Arial"/>
                <a:ea typeface="Microsoft YaHei"/>
                <a:cs typeface="Arial"/>
              </a:rPr>
              <a:t>only once we model how we look.</a:t>
            </a:r>
          </a:p>
        </p:txBody>
      </p:sp>
      <p:sp>
        <p:nvSpPr>
          <p:cNvPr id="46" name="TextBox 46"/>
          <p:cNvSpPr txBox="1"/>
          <p:nvPr/>
        </p:nvSpPr>
        <p:spPr>
          <a:xfrm>
            <a:off x="898208" y="5310664"/>
            <a:ext cx="1090377" cy="259080"/>
          </a:xfrm>
          <a:prstGeom prst="rect">
            <a:avLst/>
          </a:prstGeom>
          <a:noFill/>
          <a:ln>
            <a:noFill/>
          </a:ln>
        </p:spPr>
        <p:txBody>
          <a:bodyPr wrap="none" lIns="0" tIns="0" rIns="0" bIns="0" anchor="t" anchorCtr="0">
            <a:spAutoFit/>
          </a:bodyPr>
          <a:lstStyle/>
          <a:p>
            <a:pPr algn="l"/>
            <a:r>
              <a:rPr lang="zh-CN" sz="1275" b="1" dirty="0">
                <a:solidFill>
                  <a:srgbClr val="17332D"/>
                </a:solidFill>
                <a:latin typeface="Arial"/>
                <a:ea typeface="Microsoft YaHei"/>
                <a:cs typeface="Arial"/>
              </a:rPr>
              <a:t>Next steps</a:t>
            </a:r>
          </a:p>
        </p:txBody>
      </p:sp>
      <p:sp>
        <p:nvSpPr>
          <p:cNvPr id="47" name="TextBox 47"/>
          <p:cNvSpPr txBox="1"/>
          <p:nvPr/>
        </p:nvSpPr>
        <p:spPr>
          <a:xfrm>
            <a:off x="900112" y="5612606"/>
            <a:ext cx="8506777" cy="228600"/>
          </a:xfrm>
          <a:prstGeom prst="rect">
            <a:avLst/>
          </a:prstGeom>
          <a:noFill/>
          <a:ln>
            <a:noFill/>
          </a:ln>
        </p:spPr>
        <p:txBody>
          <a:bodyPr wrap="none" lIns="0" tIns="0" rIns="0" bIns="0" anchor="t" anchorCtr="0">
            <a:spAutoFit/>
          </a:bodyPr>
          <a:lstStyle/>
          <a:p>
            <a:pPr algn="l"/>
            <a:r>
              <a:rPr lang="zh-CN" sz="1125" dirty="0">
                <a:solidFill>
                  <a:srgbClr val="5F6670"/>
                </a:solidFill>
                <a:latin typeface="Arial"/>
                <a:ea typeface="Microsoft YaHei"/>
                <a:cs typeface="Arial"/>
              </a:rPr>
              <a:t>Reptiles and amphibians · test the direction mechanism across taxa · occupancy models for single cases</a:t>
            </a:r>
          </a:p>
        </p:txBody>
      </p:sp>
      <p:sp>
        <p:nvSpPr>
          <p:cNvPr id="48" name="TextBox 48"/>
          <p:cNvSpPr txBox="1"/>
          <p:nvPr/>
        </p:nvSpPr>
        <p:spPr>
          <a:xfrm>
            <a:off x="900112" y="5879306"/>
            <a:ext cx="7014877" cy="228600"/>
          </a:xfrm>
          <a:prstGeom prst="rect">
            <a:avLst/>
          </a:prstGeom>
          <a:noFill/>
          <a:ln>
            <a:noFill/>
          </a:ln>
        </p:spPr>
        <p:txBody>
          <a:bodyPr wrap="none" lIns="0" tIns="0" rIns="0" bIns="0" anchor="t" anchorCtr="0">
            <a:spAutoFit/>
          </a:bodyPr>
          <a:lstStyle/>
          <a:p>
            <a:pPr algn="l"/>
            <a:r>
              <a:rPr lang="zh-CN" sz="1125" dirty="0">
                <a:solidFill>
                  <a:srgbClr val="5F6670"/>
                </a:solidFill>
                <a:latin typeface="Arial"/>
                <a:ea typeface="Microsoft YaHei"/>
                <a:cs typeface="Arial"/>
              </a:rPr>
              <a:t>Monitoring priority = climate exposure × (1 − current coverage), mapped to counties</a:t>
            </a:r>
          </a:p>
        </p:txBody>
      </p:sp>
    </p:spTree>
  </p:cSld>
  <p:clrMapOvr>
    <a:masterClrMapping/>
  </p:clrMapOvr>
  <p:transition xmlns:p14="http://schemas.microsoft.com/office/powerpoint/2010/main" p14:dur="400">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BFAF7"/>
          </a:solidFill>
          <a:ln>
            <a:noFill/>
          </a:ln>
        </p:spPr>
      </p:sp>
      <p:sp>
        <p:nvSpPr>
          <p:cNvPr id="3" name="Rectangle 3"/>
          <p:cNvSpPr/>
          <p:nvPr/>
        </p:nvSpPr>
        <p:spPr>
          <a:xfrm>
            <a:off x="0" y="0"/>
            <a:ext cx="609600" cy="6858000"/>
          </a:xfrm>
          <a:prstGeom prst="rect">
            <a:avLst/>
          </a:prstGeom>
          <a:solidFill>
            <a:srgbClr val="1F4E45"/>
          </a:solidFill>
          <a:ln>
            <a:noFill/>
          </a:ln>
        </p:spPr>
      </p:sp>
      <p:sp>
        <p:nvSpPr>
          <p:cNvPr id="4" name="Ellipse 4"/>
          <p:cNvSpPr/>
          <p:nvPr/>
        </p:nvSpPr>
        <p:spPr>
          <a:xfrm>
            <a:off x="272415" y="1091565"/>
            <a:ext cx="64770" cy="64770"/>
          </a:xfrm>
          <a:prstGeom prst="ellipse">
            <a:avLst/>
          </a:prstGeom>
          <a:solidFill>
            <a:srgbClr val="FFFFFF">
              <a:alpha val="42000"/>
            </a:srgbClr>
          </a:solidFill>
          <a:ln>
            <a:noFill/>
          </a:ln>
        </p:spPr>
      </p:sp>
      <p:sp>
        <p:nvSpPr>
          <p:cNvPr id="5" name="TextBox 5"/>
          <p:cNvSpPr txBox="1"/>
          <p:nvPr/>
        </p:nvSpPr>
        <p:spPr>
          <a:xfrm>
            <a:off x="17336" y="1245870"/>
            <a:ext cx="574929" cy="182880"/>
          </a:xfrm>
          <a:prstGeom prst="rect">
            <a:avLst/>
          </a:prstGeom>
          <a:noFill/>
          <a:ln>
            <a:noFill/>
          </a:ln>
        </p:spPr>
        <p:txBody>
          <a:bodyPr wrap="none" lIns="0" tIns="0" rIns="0" bIns="0" anchor="t" anchorCtr="0">
            <a:spAutoFit/>
          </a:bodyPr>
          <a:lstStyle/>
          <a:p>
            <a:pPr algn="ctr"/>
            <a:r>
              <a:rPr lang="zh-CN" sz="900" dirty="0">
                <a:solidFill>
                  <a:srgbClr val="FFFFFF">
                    <a:alphaMod val="60000"/>
                  </a:srgbClr>
                </a:solidFill>
                <a:latin typeface="Arial"/>
                <a:ea typeface="Microsoft YaHei"/>
                <a:cs typeface="Arial"/>
              </a:rPr>
              <a:t>Question</a:t>
            </a:r>
          </a:p>
        </p:txBody>
      </p:sp>
      <p:sp>
        <p:nvSpPr>
          <p:cNvPr id="6" name="Ellipse 6"/>
          <p:cNvSpPr/>
          <p:nvPr/>
        </p:nvSpPr>
        <p:spPr>
          <a:xfrm>
            <a:off x="272415" y="1948815"/>
            <a:ext cx="64770" cy="64770"/>
          </a:xfrm>
          <a:prstGeom prst="ellipse">
            <a:avLst/>
          </a:prstGeom>
          <a:solidFill>
            <a:srgbClr val="FFFFFF">
              <a:alpha val="42000"/>
            </a:srgbClr>
          </a:solidFill>
          <a:ln>
            <a:noFill/>
          </a:ln>
        </p:spPr>
      </p:sp>
      <p:sp>
        <p:nvSpPr>
          <p:cNvPr id="7" name="TextBox 7"/>
          <p:cNvSpPr txBox="1"/>
          <p:nvPr/>
        </p:nvSpPr>
        <p:spPr>
          <a:xfrm>
            <a:off x="146152" y="2103120"/>
            <a:ext cx="317297" cy="182880"/>
          </a:xfrm>
          <a:prstGeom prst="rect">
            <a:avLst/>
          </a:prstGeom>
          <a:noFill/>
          <a:ln>
            <a:noFill/>
          </a:ln>
        </p:spPr>
        <p:txBody>
          <a:bodyPr wrap="none" lIns="0" tIns="0" rIns="0" bIns="0" anchor="t" anchorCtr="0">
            <a:spAutoFit/>
          </a:bodyPr>
          <a:lstStyle/>
          <a:p>
            <a:pPr algn="ctr"/>
            <a:r>
              <a:rPr lang="zh-CN" sz="900" dirty="0">
                <a:solidFill>
                  <a:srgbClr val="FFFFFF">
                    <a:alphaMod val="60000"/>
                  </a:srgbClr>
                </a:solidFill>
                <a:latin typeface="Arial"/>
                <a:ea typeface="Microsoft YaHei"/>
                <a:cs typeface="Arial"/>
              </a:rPr>
              <a:t>Data</a:t>
            </a:r>
          </a:p>
        </p:txBody>
      </p:sp>
      <p:sp>
        <p:nvSpPr>
          <p:cNvPr id="8" name="Ellipse 8"/>
          <p:cNvSpPr/>
          <p:nvPr/>
        </p:nvSpPr>
        <p:spPr>
          <a:xfrm>
            <a:off x="272415" y="2806065"/>
            <a:ext cx="64770" cy="64770"/>
          </a:xfrm>
          <a:prstGeom prst="ellipse">
            <a:avLst/>
          </a:prstGeom>
          <a:solidFill>
            <a:srgbClr val="FFFFFF">
              <a:alpha val="42000"/>
            </a:srgbClr>
          </a:solidFill>
          <a:ln>
            <a:noFill/>
          </a:ln>
        </p:spPr>
      </p:sp>
      <p:sp>
        <p:nvSpPr>
          <p:cNvPr id="9" name="TextBox 9"/>
          <p:cNvSpPr txBox="1"/>
          <p:nvPr/>
        </p:nvSpPr>
        <p:spPr>
          <a:xfrm>
            <a:off x="35738" y="2960370"/>
            <a:ext cx="538124" cy="182880"/>
          </a:xfrm>
          <a:prstGeom prst="rect">
            <a:avLst/>
          </a:prstGeom>
          <a:noFill/>
          <a:ln>
            <a:noFill/>
          </a:ln>
        </p:spPr>
        <p:txBody>
          <a:bodyPr wrap="none" lIns="0" tIns="0" rIns="0" bIns="0" anchor="t" anchorCtr="0">
            <a:spAutoFit/>
          </a:bodyPr>
          <a:lstStyle/>
          <a:p>
            <a:pPr algn="ctr"/>
            <a:r>
              <a:rPr lang="zh-CN" sz="900" dirty="0">
                <a:solidFill>
                  <a:srgbClr val="FFFFFF">
                    <a:alphaMod val="60000"/>
                  </a:srgbClr>
                </a:solidFill>
                <a:latin typeface="Arial"/>
                <a:ea typeface="Microsoft YaHei"/>
                <a:cs typeface="Arial"/>
              </a:rPr>
              <a:t>Findings</a:t>
            </a:r>
          </a:p>
        </p:txBody>
      </p:sp>
      <p:sp>
        <p:nvSpPr>
          <p:cNvPr id="10" name="Ellipse 10"/>
          <p:cNvSpPr/>
          <p:nvPr/>
        </p:nvSpPr>
        <p:spPr>
          <a:xfrm>
            <a:off x="272415" y="3663315"/>
            <a:ext cx="64770" cy="64770"/>
          </a:xfrm>
          <a:prstGeom prst="ellipse">
            <a:avLst/>
          </a:prstGeom>
          <a:solidFill>
            <a:srgbClr val="FFFFFF">
              <a:alpha val="42000"/>
            </a:srgbClr>
          </a:solidFill>
          <a:ln>
            <a:noFill/>
          </a:ln>
        </p:spPr>
      </p:sp>
      <p:sp>
        <p:nvSpPr>
          <p:cNvPr id="11" name="TextBox 11"/>
          <p:cNvSpPr txBox="1"/>
          <p:nvPr/>
        </p:nvSpPr>
        <p:spPr>
          <a:xfrm>
            <a:off x="72542" y="3817620"/>
            <a:ext cx="464515" cy="182880"/>
          </a:xfrm>
          <a:prstGeom prst="rect">
            <a:avLst/>
          </a:prstGeom>
          <a:noFill/>
          <a:ln>
            <a:noFill/>
          </a:ln>
        </p:spPr>
        <p:txBody>
          <a:bodyPr wrap="none" lIns="0" tIns="0" rIns="0" bIns="0" anchor="t" anchorCtr="0">
            <a:spAutoFit/>
          </a:bodyPr>
          <a:lstStyle/>
          <a:p>
            <a:pPr algn="ctr"/>
            <a:r>
              <a:rPr lang="zh-CN" sz="900" dirty="0">
                <a:solidFill>
                  <a:srgbClr val="FFFFFF">
                    <a:alphaMod val="60000"/>
                  </a:srgbClr>
                </a:solidFill>
                <a:latin typeface="Arial"/>
                <a:ea typeface="Microsoft YaHei"/>
                <a:cs typeface="Arial"/>
              </a:rPr>
              <a:t>Robust</a:t>
            </a:r>
          </a:p>
        </p:txBody>
      </p:sp>
      <p:sp>
        <p:nvSpPr>
          <p:cNvPr id="12" name="Ellipse 12"/>
          <p:cNvSpPr/>
          <p:nvPr/>
        </p:nvSpPr>
        <p:spPr>
          <a:xfrm>
            <a:off x="272415" y="4520565"/>
            <a:ext cx="64770" cy="64770"/>
          </a:xfrm>
          <a:prstGeom prst="ellipse">
            <a:avLst/>
          </a:prstGeom>
          <a:solidFill>
            <a:srgbClr val="FFFFFF">
              <a:alpha val="42000"/>
            </a:srgbClr>
          </a:solidFill>
          <a:ln>
            <a:noFill/>
          </a:ln>
        </p:spPr>
      </p:sp>
      <p:sp>
        <p:nvSpPr>
          <p:cNvPr id="13" name="TextBox 13"/>
          <p:cNvSpPr txBox="1"/>
          <p:nvPr/>
        </p:nvSpPr>
        <p:spPr>
          <a:xfrm>
            <a:off x="146152" y="4674870"/>
            <a:ext cx="317297" cy="182880"/>
          </a:xfrm>
          <a:prstGeom prst="rect">
            <a:avLst/>
          </a:prstGeom>
          <a:noFill/>
          <a:ln>
            <a:noFill/>
          </a:ln>
        </p:spPr>
        <p:txBody>
          <a:bodyPr wrap="none" lIns="0" tIns="0" rIns="0" bIns="0" anchor="t" anchorCtr="0">
            <a:spAutoFit/>
          </a:bodyPr>
          <a:lstStyle/>
          <a:p>
            <a:pPr algn="ctr"/>
            <a:r>
              <a:rPr lang="zh-CN" sz="900" dirty="0">
                <a:solidFill>
                  <a:srgbClr val="FFFFFF">
                    <a:alphaMod val="60000"/>
                  </a:srgbClr>
                </a:solidFill>
                <a:latin typeface="Arial"/>
                <a:ea typeface="Microsoft YaHei"/>
                <a:cs typeface="Arial"/>
              </a:rPr>
              <a:t>Uses</a:t>
            </a:r>
          </a:p>
        </p:txBody>
      </p:sp>
      <p:sp>
        <p:nvSpPr>
          <p:cNvPr id="14" name="Ellipse 14"/>
          <p:cNvSpPr/>
          <p:nvPr/>
        </p:nvSpPr>
        <p:spPr>
          <a:xfrm>
            <a:off x="257175" y="5362575"/>
            <a:ext cx="95250" cy="95250"/>
          </a:xfrm>
          <a:prstGeom prst="ellipse">
            <a:avLst/>
          </a:prstGeom>
          <a:solidFill>
            <a:srgbClr val="FFFFFF"/>
          </a:solidFill>
          <a:ln>
            <a:noFill/>
          </a:ln>
        </p:spPr>
      </p:sp>
      <p:sp>
        <p:nvSpPr>
          <p:cNvPr id="15" name="TextBox 15"/>
          <p:cNvSpPr txBox="1"/>
          <p:nvPr/>
        </p:nvSpPr>
        <p:spPr>
          <a:xfrm>
            <a:off x="16678" y="5532120"/>
            <a:ext cx="576243" cy="182880"/>
          </a:xfrm>
          <a:prstGeom prst="rect">
            <a:avLst/>
          </a:prstGeom>
          <a:noFill/>
          <a:ln>
            <a:noFill/>
          </a:ln>
        </p:spPr>
        <p:txBody>
          <a:bodyPr wrap="none" lIns="0" tIns="0" rIns="0" bIns="0" anchor="t" anchorCtr="0">
            <a:spAutoFit/>
          </a:bodyPr>
          <a:lstStyle/>
          <a:p>
            <a:pPr algn="ctr"/>
            <a:r>
              <a:rPr lang="zh-CN" sz="900" dirty="0">
                <a:solidFill>
                  <a:srgbClr val="FFFFFF"/>
                </a:solidFill>
                <a:latin typeface="Arial"/>
                <a:ea typeface="Microsoft YaHei"/>
                <a:cs typeface="Arial"/>
              </a:rPr>
              <a:t>Wrap-up</a:t>
            </a:r>
          </a:p>
        </p:txBody>
      </p:sp>
      <p:sp>
        <p:nvSpPr>
          <p:cNvPr id="16" name="Rectangle 16"/>
          <p:cNvSpPr/>
          <p:nvPr/>
        </p:nvSpPr>
        <p:spPr>
          <a:xfrm>
            <a:off x="914400" y="304800"/>
            <a:ext cx="419100" cy="47625"/>
          </a:xfrm>
          <a:prstGeom prst="rect">
            <a:avLst/>
          </a:prstGeom>
          <a:solidFill>
            <a:srgbClr val="B45309"/>
          </a:solidFill>
          <a:ln>
            <a:noFill/>
          </a:ln>
        </p:spPr>
      </p:sp>
      <p:sp>
        <p:nvSpPr>
          <p:cNvPr id="17" name="TextBox 17"/>
          <p:cNvSpPr txBox="1"/>
          <p:nvPr/>
        </p:nvSpPr>
        <p:spPr>
          <a:xfrm>
            <a:off x="889635" y="456248"/>
            <a:ext cx="5676673" cy="396240"/>
          </a:xfrm>
          <a:prstGeom prst="rect">
            <a:avLst/>
          </a:prstGeom>
          <a:noFill/>
          <a:ln>
            <a:noFill/>
          </a:ln>
        </p:spPr>
        <p:txBody>
          <a:bodyPr wrap="none" lIns="0" tIns="0" rIns="0" bIns="0" anchor="t" anchorCtr="0">
            <a:spAutoFit/>
          </a:bodyPr>
          <a:lstStyle/>
          <a:p>
            <a:pPr algn="l"/>
            <a:r>
              <a:rPr lang="zh-CN" sz="1950" b="1" dirty="0">
                <a:solidFill>
                  <a:srgbClr val="17332D"/>
                </a:solidFill>
                <a:latin typeface="Arial"/>
                <a:ea typeface="Microsoft YaHei"/>
                <a:cs typeface="Arial"/>
              </a:rPr>
              <a:t>Open data, open code — and thank you</a:t>
            </a:r>
          </a:p>
        </p:txBody>
      </p:sp>
      <p:sp>
        <p:nvSpPr>
          <p:cNvPr id="18" name="TextBox 18"/>
          <p:cNvSpPr txBox="1"/>
          <p:nvPr/>
        </p:nvSpPr>
        <p:spPr>
          <a:xfrm>
            <a:off x="10763783" y="283845"/>
            <a:ext cx="1058647" cy="182880"/>
          </a:xfrm>
          <a:prstGeom prst="rect">
            <a:avLst/>
          </a:prstGeom>
          <a:noFill/>
          <a:ln>
            <a:noFill/>
          </a:ln>
        </p:spPr>
        <p:txBody>
          <a:bodyPr wrap="none" lIns="0" tIns="0" rIns="0" bIns="0" anchor="t" anchorCtr="0">
            <a:spAutoFit/>
          </a:bodyPr>
          <a:lstStyle/>
          <a:p>
            <a:pPr algn="r"/>
            <a:r>
              <a:rPr lang="zh-CN" sz="900" dirty="0">
                <a:solidFill>
                  <a:srgbClr val="8A919B"/>
                </a:solidFill>
                <a:latin typeface="Arial"/>
                <a:ea typeface="Microsoft YaHei"/>
                <a:cs typeface="Arial"/>
              </a:rPr>
              <a:t>Data availability</a:t>
            </a:r>
          </a:p>
        </p:txBody>
      </p:sp>
      <p:sp>
        <p:nvSpPr>
          <p:cNvPr id="19" name="Line 19"/>
          <p:cNvSpPr/>
          <p:nvPr/>
        </p:nvSpPr>
        <p:spPr>
          <a:xfrm>
            <a:off x="914400" y="6515100"/>
            <a:ext cx="10896600" cy="9525"/>
          </a:xfrm>
          <a:custGeom>
            <a:avLst/>
            <a:gdLst/>
            <a:ahLst/>
            <a:cxnLst/>
            <a:rect l="l" t="t" r="r" b="b"/>
            <a:pathLst>
              <a:path w="10896600" h="9525">
                <a:moveTo>
                  <a:pt x="0" y="0"/>
                </a:moveTo>
                <a:lnTo>
                  <a:pt x="10896600" y="0"/>
                </a:lnTo>
              </a:path>
            </a:pathLst>
          </a:custGeom>
          <a:noFill/>
          <a:ln w="9525">
            <a:solidFill>
              <a:srgbClr val="D6D3CD"/>
            </a:solidFill>
          </a:ln>
        </p:spPr>
      </p:sp>
      <p:sp>
        <p:nvSpPr>
          <p:cNvPr id="20" name="TextBox 20"/>
          <p:cNvSpPr txBox="1"/>
          <p:nvPr/>
        </p:nvSpPr>
        <p:spPr>
          <a:xfrm>
            <a:off x="902970" y="6617970"/>
            <a:ext cx="2609698" cy="182880"/>
          </a:xfrm>
          <a:prstGeom prst="rect">
            <a:avLst/>
          </a:prstGeom>
          <a:noFill/>
          <a:ln>
            <a:noFill/>
          </a:ln>
        </p:spPr>
        <p:txBody>
          <a:bodyPr wrap="none" lIns="0" tIns="0" rIns="0" bIns="0" anchor="t" anchorCtr="0">
            <a:spAutoFit/>
          </a:bodyPr>
          <a:lstStyle/>
          <a:p>
            <a:pPr algn="l"/>
            <a:r>
              <a:rPr lang="zh-CN" sz="900" dirty="0">
                <a:solidFill>
                  <a:srgbClr val="8A919B"/>
                </a:solidFill>
                <a:latin typeface="Arial"/>
                <a:ea typeface="Microsoft YaHei"/>
                <a:cs typeface="Arial"/>
              </a:rPr>
              <a:t>Birds or birders? · AOC 2026, Singapore</a:t>
            </a:r>
          </a:p>
        </p:txBody>
      </p:sp>
      <p:sp>
        <p:nvSpPr>
          <p:cNvPr id="21" name="TextBox 21"/>
          <p:cNvSpPr txBox="1"/>
          <p:nvPr/>
        </p:nvSpPr>
        <p:spPr>
          <a:xfrm>
            <a:off x="11352657" y="6617970"/>
            <a:ext cx="469773" cy="182880"/>
          </a:xfrm>
          <a:prstGeom prst="rect">
            <a:avLst/>
          </a:prstGeom>
          <a:noFill/>
          <a:ln>
            <a:noFill/>
          </a:ln>
        </p:spPr>
        <p:txBody>
          <a:bodyPr wrap="none" lIns="0" tIns="0" rIns="0" bIns="0" anchor="t" anchorCtr="0">
            <a:spAutoFit/>
          </a:bodyPr>
          <a:lstStyle/>
          <a:p>
            <a:pPr algn="r"/>
            <a:r>
              <a:rPr lang="zh-CN" sz="900" dirty="0">
                <a:solidFill>
                  <a:srgbClr val="5F6670"/>
                </a:solidFill>
                <a:latin typeface="Arial"/>
                <a:ea typeface="Microsoft YaHei"/>
                <a:cs typeface="Arial"/>
              </a:rPr>
              <a:t>20 / 20</a:t>
            </a:r>
          </a:p>
        </p:txBody>
      </p:sp>
      <p:sp>
        <p:nvSpPr>
          <p:cNvPr id="22" name="Rectangle 22"/>
          <p:cNvSpPr/>
          <p:nvPr/>
        </p:nvSpPr>
        <p:spPr>
          <a:xfrm>
            <a:off x="914400" y="952500"/>
            <a:ext cx="5295900" cy="1828800"/>
          </a:xfrm>
          <a:prstGeom prst="roundRect">
            <a:avLst>
              <a:gd name="adj" fmla="val 3125"/>
            </a:avLst>
          </a:prstGeom>
          <a:solidFill>
            <a:srgbClr val="FFFFFF"/>
          </a:solidFill>
          <a:ln w="9525">
            <a:solidFill>
              <a:srgbClr val="D6D3CD"/>
            </a:solidFill>
          </a:ln>
        </p:spPr>
      </p:sp>
      <p:sp>
        <p:nvSpPr>
          <p:cNvPr id="23" name="Rectangle 23"/>
          <p:cNvSpPr/>
          <p:nvPr/>
        </p:nvSpPr>
        <p:spPr>
          <a:xfrm>
            <a:off x="914400" y="952500"/>
            <a:ext cx="5295900" cy="38100"/>
          </a:xfrm>
          <a:prstGeom prst="rect">
            <a:avLst/>
          </a:prstGeom>
          <a:solidFill>
            <a:srgbClr val="1F4E45"/>
          </a:solidFill>
          <a:ln>
            <a:noFill/>
          </a:ln>
        </p:spPr>
      </p:sp>
      <p:sp>
        <p:nvSpPr>
          <p:cNvPr id="24" name="TextBox 24"/>
          <p:cNvSpPr txBox="1"/>
          <p:nvPr/>
        </p:nvSpPr>
        <p:spPr>
          <a:xfrm>
            <a:off x="1088708" y="1129189"/>
            <a:ext cx="1879923" cy="259080"/>
          </a:xfrm>
          <a:prstGeom prst="rect">
            <a:avLst/>
          </a:prstGeom>
          <a:noFill/>
          <a:ln>
            <a:noFill/>
          </a:ln>
        </p:spPr>
        <p:txBody>
          <a:bodyPr wrap="none" lIns="0" tIns="0" rIns="0" bIns="0" anchor="t" anchorCtr="0">
            <a:spAutoFit/>
          </a:bodyPr>
          <a:lstStyle/>
          <a:p>
            <a:pPr algn="l"/>
            <a:r>
              <a:rPr lang="zh-CN" sz="1275" b="1" dirty="0">
                <a:solidFill>
                  <a:srgbClr val="1F4E45"/>
                </a:solidFill>
                <a:latin typeface="Arial"/>
                <a:ea typeface="Microsoft YaHei"/>
                <a:cs typeface="Arial"/>
              </a:rPr>
              <a:t>Open data and code</a:t>
            </a:r>
          </a:p>
        </p:txBody>
      </p:sp>
      <p:sp>
        <p:nvSpPr>
          <p:cNvPr id="25" name="TextBox 25"/>
          <p:cNvSpPr txBox="1"/>
          <p:nvPr/>
        </p:nvSpPr>
        <p:spPr>
          <a:xfrm>
            <a:off x="1090612" y="1421606"/>
            <a:ext cx="1411442" cy="228600"/>
          </a:xfrm>
          <a:prstGeom prst="rect">
            <a:avLst/>
          </a:prstGeom>
          <a:noFill/>
          <a:ln>
            <a:noFill/>
          </a:ln>
        </p:spPr>
        <p:txBody>
          <a:bodyPr wrap="none" lIns="0" tIns="0" rIns="0" bIns="0" anchor="t" anchorCtr="0">
            <a:spAutoFit/>
          </a:bodyPr>
          <a:lstStyle/>
          <a:p>
            <a:pPr algn="l"/>
            <a:r>
              <a:rPr lang="zh-CN" sz="1125" b="1" dirty="0">
                <a:solidFill>
                  <a:srgbClr val="17332D"/>
                </a:solidFill>
                <a:latin typeface="Arial"/>
                <a:ea typeface="Microsoft YaHei"/>
                <a:cs typeface="Arial"/>
              </a:rPr>
              <a:t>CBNR (CC BY 4.0)</a:t>
            </a:r>
          </a:p>
        </p:txBody>
      </p:sp>
      <p:sp>
        <p:nvSpPr>
          <p:cNvPr id="26" name="TextBox 26"/>
          <p:cNvSpPr txBox="1"/>
          <p:nvPr/>
        </p:nvSpPr>
        <p:spPr>
          <a:xfrm>
            <a:off x="1090612" y="1688306"/>
            <a:ext cx="2673906" cy="228600"/>
          </a:xfrm>
          <a:prstGeom prst="rect">
            <a:avLst/>
          </a:prstGeom>
          <a:noFill/>
          <a:ln>
            <a:noFill/>
          </a:ln>
        </p:spPr>
        <p:txBody>
          <a:bodyPr wrap="none" lIns="0" tIns="0" rIns="0" bIns="0" anchor="t" anchorCtr="0">
            <a:spAutoFit/>
          </a:bodyPr>
          <a:lstStyle/>
          <a:p>
            <a:pPr algn="l"/>
            <a:r>
              <a:rPr lang="zh-CN" sz="1125" dirty="0">
                <a:solidFill>
                  <a:srgbClr val="0072B2"/>
                </a:solidFill>
                <a:latin typeface="Arial"/>
                <a:ea typeface="Microsoft YaHei"/>
                <a:cs typeface="Arial"/>
              </a:rPr>
              <a:t>doi.org/10.5281/zenodo.20809949</a:t>
            </a:r>
          </a:p>
        </p:txBody>
      </p:sp>
      <p:sp>
        <p:nvSpPr>
          <p:cNvPr id="27" name="TextBox 27"/>
          <p:cNvSpPr txBox="1"/>
          <p:nvPr/>
        </p:nvSpPr>
        <p:spPr>
          <a:xfrm>
            <a:off x="1090612" y="1955006"/>
            <a:ext cx="2655832" cy="228600"/>
          </a:xfrm>
          <a:prstGeom prst="rect">
            <a:avLst/>
          </a:prstGeom>
          <a:noFill/>
          <a:ln>
            <a:noFill/>
          </a:ln>
        </p:spPr>
        <p:txBody>
          <a:bodyPr wrap="none" lIns="0" tIns="0" rIns="0" bIns="0" anchor="t" anchorCtr="0">
            <a:spAutoFit/>
          </a:bodyPr>
          <a:lstStyle/>
          <a:p>
            <a:pPr algn="l"/>
            <a:r>
              <a:rPr lang="zh-CN" sz="1125" dirty="0">
                <a:solidFill>
                  <a:srgbClr val="0072B2"/>
                </a:solidFill>
                <a:latin typeface="Arial"/>
                <a:ea typeface="Microsoft YaHei"/>
                <a:cs typeface="Arial"/>
              </a:rPr>
              <a:t>Code: github.com/dingchenchen6/</a:t>
            </a:r>
          </a:p>
        </p:txBody>
      </p:sp>
      <p:sp>
        <p:nvSpPr>
          <p:cNvPr id="28" name="TextBox 28"/>
          <p:cNvSpPr txBox="1"/>
          <p:nvPr/>
        </p:nvSpPr>
        <p:spPr>
          <a:xfrm>
            <a:off x="1090612" y="2221706"/>
            <a:ext cx="2696909" cy="228600"/>
          </a:xfrm>
          <a:prstGeom prst="rect">
            <a:avLst/>
          </a:prstGeom>
          <a:noFill/>
          <a:ln>
            <a:noFill/>
          </a:ln>
        </p:spPr>
        <p:txBody>
          <a:bodyPr wrap="none" lIns="0" tIns="0" rIns="0" bIns="0" anchor="t" anchorCtr="0">
            <a:spAutoFit/>
          </a:bodyPr>
          <a:lstStyle/>
          <a:p>
            <a:pPr algn="l"/>
            <a:r>
              <a:rPr lang="zh-CN" sz="1125" dirty="0">
                <a:solidFill>
                  <a:srgbClr val="0072B2"/>
                </a:solidFill>
                <a:latin typeface="Arial"/>
                <a:ea typeface="Microsoft YaHei"/>
                <a:cs typeface="Arial"/>
              </a:rPr>
              <a:t>bird-newrecord-discovery-dated</a:t>
            </a:r>
          </a:p>
        </p:txBody>
      </p:sp>
      <p:sp>
        <p:nvSpPr>
          <p:cNvPr id="29" name="TextBox 29"/>
          <p:cNvSpPr txBox="1"/>
          <p:nvPr/>
        </p:nvSpPr>
        <p:spPr>
          <a:xfrm>
            <a:off x="1090612" y="2488406"/>
            <a:ext cx="3617023" cy="228600"/>
          </a:xfrm>
          <a:prstGeom prst="rect">
            <a:avLst/>
          </a:prstGeom>
          <a:noFill/>
          <a:ln>
            <a:noFill/>
          </a:ln>
        </p:spPr>
        <p:txBody>
          <a:bodyPr wrap="none" lIns="0" tIns="0" rIns="0" bIns="0" anchor="t" anchorCtr="0">
            <a:spAutoFit/>
          </a:bodyPr>
          <a:lstStyle/>
          <a:p>
            <a:pPr algn="l"/>
            <a:r>
              <a:rPr lang="zh-CN" sz="1125" dirty="0">
                <a:solidFill>
                  <a:srgbClr val="5F6670"/>
                </a:solidFill>
                <a:latin typeface="Arial"/>
                <a:ea typeface="Microsoft YaHei"/>
                <a:cs typeface="Arial"/>
              </a:rPr>
              <a:t>Every number traces back to a results table</a:t>
            </a:r>
          </a:p>
        </p:txBody>
      </p:sp>
      <p:sp>
        <p:nvSpPr>
          <p:cNvPr id="30" name="Rectangle 30"/>
          <p:cNvSpPr/>
          <p:nvPr/>
        </p:nvSpPr>
        <p:spPr>
          <a:xfrm>
            <a:off x="6515100" y="952500"/>
            <a:ext cx="5295900" cy="1828800"/>
          </a:xfrm>
          <a:prstGeom prst="roundRect">
            <a:avLst>
              <a:gd name="adj" fmla="val 3125"/>
            </a:avLst>
          </a:prstGeom>
          <a:solidFill>
            <a:srgbClr val="FFFFFF"/>
          </a:solidFill>
          <a:ln w="9525">
            <a:solidFill>
              <a:srgbClr val="D6D3CD"/>
            </a:solidFill>
          </a:ln>
        </p:spPr>
      </p:sp>
      <p:sp>
        <p:nvSpPr>
          <p:cNvPr id="31" name="Rectangle 31"/>
          <p:cNvSpPr/>
          <p:nvPr/>
        </p:nvSpPr>
        <p:spPr>
          <a:xfrm>
            <a:off x="6515100" y="952500"/>
            <a:ext cx="5295900" cy="38100"/>
          </a:xfrm>
          <a:prstGeom prst="rect">
            <a:avLst/>
          </a:prstGeom>
          <a:solidFill>
            <a:srgbClr val="0072B2"/>
          </a:solidFill>
          <a:ln>
            <a:noFill/>
          </a:ln>
        </p:spPr>
      </p:sp>
      <p:sp>
        <p:nvSpPr>
          <p:cNvPr id="32" name="TextBox 32"/>
          <p:cNvSpPr txBox="1"/>
          <p:nvPr/>
        </p:nvSpPr>
        <p:spPr>
          <a:xfrm>
            <a:off x="6689408" y="1129189"/>
            <a:ext cx="1090377" cy="259080"/>
          </a:xfrm>
          <a:prstGeom prst="rect">
            <a:avLst/>
          </a:prstGeom>
          <a:noFill/>
          <a:ln>
            <a:noFill/>
          </a:ln>
        </p:spPr>
        <p:txBody>
          <a:bodyPr wrap="none" lIns="0" tIns="0" rIns="0" bIns="0" anchor="t" anchorCtr="0">
            <a:spAutoFit/>
          </a:bodyPr>
          <a:lstStyle/>
          <a:p>
            <a:pPr algn="l"/>
            <a:r>
              <a:rPr lang="zh-CN" sz="1275" b="1" dirty="0">
                <a:solidFill>
                  <a:srgbClr val="0072B2"/>
                </a:solidFill>
                <a:latin typeface="Arial"/>
                <a:ea typeface="Microsoft YaHei"/>
                <a:cs typeface="Arial"/>
              </a:rPr>
              <a:t>Other data</a:t>
            </a:r>
          </a:p>
        </p:txBody>
      </p:sp>
      <p:sp>
        <p:nvSpPr>
          <p:cNvPr id="33" name="TextBox 33"/>
          <p:cNvSpPr txBox="1"/>
          <p:nvPr/>
        </p:nvSpPr>
        <p:spPr>
          <a:xfrm>
            <a:off x="6691312" y="1421606"/>
            <a:ext cx="2480024" cy="228600"/>
          </a:xfrm>
          <a:prstGeom prst="rect">
            <a:avLst/>
          </a:prstGeom>
          <a:noFill/>
          <a:ln>
            <a:noFill/>
          </a:ln>
        </p:spPr>
        <p:txBody>
          <a:bodyPr wrap="none" lIns="0" tIns="0" rIns="0" bIns="0" anchor="t" anchorCtr="0">
            <a:spAutoFit/>
          </a:bodyPr>
          <a:lstStyle/>
          <a:p>
            <a:pPr algn="l"/>
            <a:r>
              <a:rPr lang="zh-CN" sz="1125" dirty="0">
                <a:solidFill>
                  <a:srgbClr val="17332D"/>
                </a:solidFill>
                <a:latin typeface="Arial"/>
                <a:ea typeface="Microsoft YaHei"/>
                <a:cs typeface="Arial"/>
              </a:rPr>
              <a:t>Ranges: BirdLife International</a:t>
            </a:r>
          </a:p>
        </p:txBody>
      </p:sp>
      <p:sp>
        <p:nvSpPr>
          <p:cNvPr id="34" name="TextBox 34"/>
          <p:cNvSpPr txBox="1"/>
          <p:nvPr/>
        </p:nvSpPr>
        <p:spPr>
          <a:xfrm>
            <a:off x="6691312" y="1688306"/>
            <a:ext cx="3623596" cy="228600"/>
          </a:xfrm>
          <a:prstGeom prst="rect">
            <a:avLst/>
          </a:prstGeom>
          <a:noFill/>
          <a:ln>
            <a:noFill/>
          </a:ln>
        </p:spPr>
        <p:txBody>
          <a:bodyPr wrap="none" lIns="0" tIns="0" rIns="0" bIns="0" anchor="t" anchorCtr="0">
            <a:spAutoFit/>
          </a:bodyPr>
          <a:lstStyle/>
          <a:p>
            <a:pPr algn="l"/>
            <a:r>
              <a:rPr lang="zh-CN" sz="1125" dirty="0">
                <a:solidFill>
                  <a:srgbClr val="17332D"/>
                </a:solidFill>
                <a:latin typeface="Arial"/>
                <a:ea typeface="Microsoft YaHei"/>
                <a:cs typeface="Arial"/>
              </a:rPr>
              <a:t>Climate: CRU TS 4.09 · WorldClim 2.1 · CMIP6</a:t>
            </a:r>
          </a:p>
        </p:txBody>
      </p:sp>
      <p:sp>
        <p:nvSpPr>
          <p:cNvPr id="35" name="TextBox 35"/>
          <p:cNvSpPr txBox="1"/>
          <p:nvPr/>
        </p:nvSpPr>
        <p:spPr>
          <a:xfrm>
            <a:off x="6691312" y="1955006"/>
            <a:ext cx="3237476" cy="228600"/>
          </a:xfrm>
          <a:prstGeom prst="rect">
            <a:avLst/>
          </a:prstGeom>
          <a:noFill/>
          <a:ln>
            <a:noFill/>
          </a:ln>
        </p:spPr>
        <p:txBody>
          <a:bodyPr wrap="none" lIns="0" tIns="0" rIns="0" bIns="0" anchor="t" anchorCtr="0">
            <a:spAutoFit/>
          </a:bodyPr>
          <a:lstStyle/>
          <a:p>
            <a:pPr algn="l"/>
            <a:r>
              <a:rPr lang="zh-CN" sz="1125" dirty="0">
                <a:solidFill>
                  <a:srgbClr val="17332D"/>
                </a:solidFill>
                <a:latin typeface="Arial"/>
                <a:ea typeface="Microsoft YaHei"/>
                <a:cs typeface="Arial"/>
              </a:rPr>
              <a:t>Effort: 2.86 million GBIF / eBird records</a:t>
            </a:r>
          </a:p>
        </p:txBody>
      </p:sp>
      <p:sp>
        <p:nvSpPr>
          <p:cNvPr id="36" name="TextBox 36"/>
          <p:cNvSpPr txBox="1"/>
          <p:nvPr/>
        </p:nvSpPr>
        <p:spPr>
          <a:xfrm>
            <a:off x="6691312" y="2221706"/>
            <a:ext cx="3728752" cy="228600"/>
          </a:xfrm>
          <a:prstGeom prst="rect">
            <a:avLst/>
          </a:prstGeom>
          <a:noFill/>
          <a:ln>
            <a:noFill/>
          </a:ln>
        </p:spPr>
        <p:txBody>
          <a:bodyPr wrap="none" lIns="0" tIns="0" rIns="0" bIns="0" anchor="t" anchorCtr="0">
            <a:spAutoFit/>
          </a:bodyPr>
          <a:lstStyle/>
          <a:p>
            <a:pPr algn="l"/>
            <a:r>
              <a:rPr lang="zh-CN" sz="1125" dirty="0">
                <a:solidFill>
                  <a:srgbClr val="17332D"/>
                </a:solidFill>
                <a:latin typeface="Arial"/>
                <a:ea typeface="Microsoft YaHei"/>
                <a:cs typeface="Arial"/>
              </a:rPr>
              <a:t>Reserves: 1,028 national nature-reserve maps</a:t>
            </a:r>
          </a:p>
        </p:txBody>
      </p:sp>
      <p:sp>
        <p:nvSpPr>
          <p:cNvPr id="37" name="TextBox 37"/>
          <p:cNvSpPr txBox="1"/>
          <p:nvPr/>
        </p:nvSpPr>
        <p:spPr>
          <a:xfrm>
            <a:off x="6691312" y="2488406"/>
            <a:ext cx="2940082" cy="228600"/>
          </a:xfrm>
          <a:prstGeom prst="rect">
            <a:avLst/>
          </a:prstGeom>
          <a:noFill/>
          <a:ln>
            <a:noFill/>
          </a:ln>
        </p:spPr>
        <p:txBody>
          <a:bodyPr wrap="none" lIns="0" tIns="0" rIns="0" bIns="0" anchor="t" anchorCtr="0">
            <a:spAutoFit/>
          </a:bodyPr>
          <a:lstStyle/>
          <a:p>
            <a:pPr algn="l"/>
            <a:r>
              <a:rPr lang="zh-CN" sz="1125" dirty="0">
                <a:solidFill>
                  <a:srgbClr val="5F6670"/>
                </a:solidFill>
                <a:latin typeface="Arial"/>
                <a:ea typeface="Microsoft YaHei"/>
                <a:cs typeface="Arial"/>
              </a:rPr>
              <a:t>Base map: approval no. GS(2019)1822</a:t>
            </a:r>
          </a:p>
        </p:txBody>
      </p:sp>
      <p:sp>
        <p:nvSpPr>
          <p:cNvPr id="38" name="Rectangle 38"/>
          <p:cNvSpPr/>
          <p:nvPr/>
        </p:nvSpPr>
        <p:spPr>
          <a:xfrm>
            <a:off x="914400" y="2990850"/>
            <a:ext cx="10896600" cy="914400"/>
          </a:xfrm>
          <a:prstGeom prst="roundRect">
            <a:avLst>
              <a:gd name="adj" fmla="val 6250"/>
            </a:avLst>
          </a:prstGeom>
          <a:solidFill>
            <a:srgbClr val="F3F4F6"/>
          </a:solidFill>
          <a:ln>
            <a:noFill/>
          </a:ln>
        </p:spPr>
      </p:sp>
      <p:sp>
        <p:nvSpPr>
          <p:cNvPr id="39" name="TextBox 39"/>
          <p:cNvSpPr txBox="1"/>
          <p:nvPr/>
        </p:nvSpPr>
        <p:spPr>
          <a:xfrm>
            <a:off x="1126808" y="3215164"/>
            <a:ext cx="1745700" cy="259080"/>
          </a:xfrm>
          <a:prstGeom prst="rect">
            <a:avLst/>
          </a:prstGeom>
          <a:noFill/>
          <a:ln>
            <a:noFill/>
          </a:ln>
        </p:spPr>
        <p:txBody>
          <a:bodyPr wrap="none" lIns="0" tIns="0" rIns="0" bIns="0" anchor="t" anchorCtr="0">
            <a:spAutoFit/>
          </a:bodyPr>
          <a:lstStyle/>
          <a:p>
            <a:pPr algn="l"/>
            <a:r>
              <a:rPr lang="zh-CN" sz="1275" b="1" dirty="0">
                <a:solidFill>
                  <a:srgbClr val="17332D"/>
                </a:solidFill>
                <a:latin typeface="Arial"/>
                <a:ea typeface="Microsoft YaHei"/>
                <a:cs typeface="Arial"/>
              </a:rPr>
              <a:t>Acknowledgements</a:t>
            </a:r>
          </a:p>
        </p:txBody>
      </p:sp>
      <p:sp>
        <p:nvSpPr>
          <p:cNvPr id="40" name="TextBox 40"/>
          <p:cNvSpPr txBox="1"/>
          <p:nvPr/>
        </p:nvSpPr>
        <p:spPr>
          <a:xfrm>
            <a:off x="1127760" y="3528060"/>
            <a:ext cx="6872630" cy="243840"/>
          </a:xfrm>
          <a:prstGeom prst="rect">
            <a:avLst/>
          </a:prstGeom>
          <a:noFill/>
          <a:ln>
            <a:noFill/>
          </a:ln>
        </p:spPr>
        <p:txBody>
          <a:bodyPr wrap="none" lIns="0" tIns="0" rIns="0" bIns="0" anchor="t" anchorCtr="0">
            <a:spAutoFit/>
          </a:bodyPr>
          <a:lstStyle/>
          <a:p>
            <a:pPr algn="l"/>
            <a:r>
              <a:rPr lang="zh-CN" sz="1200" dirty="0">
                <a:solidFill>
                  <a:srgbClr val="5F6670"/>
                </a:solidFill>
                <a:latin typeface="Arial"/>
                <a:ea typeface="Microsoft YaHei"/>
                <a:cs typeface="Arial"/>
              </a:rPr>
              <a:t>Birdwatchers across China, and every author whose records made CBNR possible.</a:t>
            </a:r>
          </a:p>
        </p:txBody>
      </p:sp>
      <p:pic>
        <p:nvPicPr>
          <p:cNvPr id="41" name="Image 41"/>
          <p:cNvPicPr>
            <a:picLocks noChangeAspect="1"/>
          </p:cNvPicPr>
          <p:nvPr/>
        </p:nvPicPr>
        <p:blipFill>
          <a:blip r:embed="rId2"/>
          <a:stretch>
            <a:fillRect/>
          </a:stretch>
        </p:blipFill>
        <p:spPr>
          <a:xfrm>
            <a:off x="10382250" y="4152900"/>
            <a:ext cx="1428750" cy="1428750"/>
          </a:xfrm>
          <a:prstGeom prst="rect">
            <a:avLst/>
          </a:prstGeom>
        </p:spPr>
      </p:pic>
      <p:sp>
        <p:nvSpPr>
          <p:cNvPr id="42" name="TextBox 42"/>
          <p:cNvSpPr txBox="1"/>
          <p:nvPr/>
        </p:nvSpPr>
        <p:spPr>
          <a:xfrm>
            <a:off x="9354312" y="4652010"/>
            <a:ext cx="871728" cy="243840"/>
          </a:xfrm>
          <a:prstGeom prst="rect">
            <a:avLst/>
          </a:prstGeom>
          <a:noFill/>
          <a:ln>
            <a:noFill/>
          </a:ln>
        </p:spPr>
        <p:txBody>
          <a:bodyPr wrap="none" lIns="0" tIns="0" rIns="0" bIns="0" anchor="t" anchorCtr="0">
            <a:spAutoFit/>
          </a:bodyPr>
          <a:lstStyle/>
          <a:p>
            <a:pPr algn="r"/>
            <a:r>
              <a:rPr lang="zh-CN" sz="1200" dirty="0">
                <a:solidFill>
                  <a:srgbClr val="5F6670"/>
                </a:solidFill>
                <a:latin typeface="Arial"/>
                <a:ea typeface="Microsoft YaHei"/>
                <a:cs typeface="Arial"/>
              </a:rPr>
              <a:t>CBNR data</a:t>
            </a:r>
          </a:p>
        </p:txBody>
      </p:sp>
      <p:sp>
        <p:nvSpPr>
          <p:cNvPr id="43" name="TextBox 43"/>
          <p:cNvSpPr txBox="1"/>
          <p:nvPr/>
        </p:nvSpPr>
        <p:spPr>
          <a:xfrm>
            <a:off x="8939974" y="4896802"/>
            <a:ext cx="1284161" cy="213360"/>
          </a:xfrm>
          <a:prstGeom prst="rect">
            <a:avLst/>
          </a:prstGeom>
          <a:noFill/>
          <a:ln>
            <a:noFill/>
          </a:ln>
        </p:spPr>
        <p:txBody>
          <a:bodyPr wrap="none" lIns="0" tIns="0" rIns="0" bIns="0" anchor="t" anchorCtr="0">
            <a:spAutoFit/>
          </a:bodyPr>
          <a:lstStyle/>
          <a:p>
            <a:pPr algn="r"/>
            <a:r>
              <a:rPr lang="zh-CN" sz="1050" dirty="0">
                <a:solidFill>
                  <a:srgbClr val="8A919B"/>
                </a:solidFill>
                <a:latin typeface="Arial"/>
                <a:ea typeface="Microsoft YaHei"/>
                <a:cs typeface="Arial"/>
              </a:rPr>
              <a:t>scan to download</a:t>
            </a:r>
          </a:p>
        </p:txBody>
      </p:sp>
      <p:sp>
        <p:nvSpPr>
          <p:cNvPr id="44" name="TextBox 44"/>
          <p:cNvSpPr txBox="1"/>
          <p:nvPr/>
        </p:nvSpPr>
        <p:spPr>
          <a:xfrm>
            <a:off x="882015" y="4544378"/>
            <a:ext cx="6049531" cy="518160"/>
          </a:xfrm>
          <a:prstGeom prst="rect">
            <a:avLst/>
          </a:prstGeom>
          <a:noFill/>
          <a:ln>
            <a:noFill/>
          </a:ln>
        </p:spPr>
        <p:txBody>
          <a:bodyPr wrap="none" lIns="0" tIns="0" rIns="0" bIns="0" anchor="t" anchorCtr="0">
            <a:spAutoFit/>
          </a:bodyPr>
          <a:lstStyle/>
          <a:p>
            <a:pPr algn="l"/>
            <a:r>
              <a:rPr lang="zh-CN" sz="2550" b="1" dirty="0">
                <a:solidFill>
                  <a:srgbClr val="17332D"/>
                </a:solidFill>
                <a:latin typeface="Arial"/>
                <a:ea typeface="Microsoft YaHei"/>
                <a:cs typeface="Arial"/>
              </a:rPr>
              <a:t>Thank you — questions welcome</a:t>
            </a:r>
          </a:p>
        </p:txBody>
      </p:sp>
      <p:sp>
        <p:nvSpPr>
          <p:cNvPr id="45" name="TextBox 45"/>
          <p:cNvSpPr txBox="1"/>
          <p:nvPr/>
        </p:nvSpPr>
        <p:spPr>
          <a:xfrm>
            <a:off x="895350" y="5038725"/>
            <a:ext cx="2800636" cy="304800"/>
          </a:xfrm>
          <a:prstGeom prst="rect">
            <a:avLst/>
          </a:prstGeom>
          <a:noFill/>
          <a:ln>
            <a:noFill/>
          </a:ln>
        </p:spPr>
        <p:txBody>
          <a:bodyPr wrap="none" lIns="0" tIns="0" rIns="0" bIns="0" anchor="t" anchorCtr="0">
            <a:spAutoFit/>
          </a:bodyPr>
          <a:lstStyle/>
          <a:p>
            <a:pPr algn="l"/>
            <a:r>
              <a:rPr lang="zh-CN" sz="1500" dirty="0">
                <a:solidFill>
                  <a:srgbClr val="0072B2"/>
                </a:solidFill>
                <a:latin typeface="Arial"/>
                <a:ea typeface="Microsoft YaHei"/>
                <a:cs typeface="Arial"/>
              </a:rPr>
              <a:t>chenchen.ding@pku.edu.cn</a:t>
            </a: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Steve Canny</cp:lastModifiedBy>
  <cp:revision>1</cp:revision>
  <dcterms:created xsi:type="dcterms:W3CDTF">2013-01-27T09:14:16Z</dcterms:created>
  <dcterms:modified xsi:type="dcterms:W3CDTF">2013-01-27T09:15:58Z</dcterms:modified>
  <cp:category/>
</cp:coreProperties>
</file>