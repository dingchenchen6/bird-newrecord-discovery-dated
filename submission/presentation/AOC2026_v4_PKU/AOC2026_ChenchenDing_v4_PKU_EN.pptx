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Good morning, everyone. I'm Chenchen Ding, from Peking University. Today I'd like to ask a simple question about new bird records. When a species turns up in a new province, is that the bird moving, or is it us looking harder? Our answer is: both, in roughly equal measure, and I'll show you how a single model can tell the two apart.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A new distribution record is the first documented occurrence of a species in a province where it had not been recorded before. But a record is not an observation of movement. It is the last link in a chain of three events: the bird is there, someone looks and finds it, and the find is published. Only the first link is ecological. The other two leave exactly the same trace in the data, so imperfect detection and uneven sampling can create apparent range changes where none occurred.</a:t>
            </a:r>
          </a:p>
          <a:p>
            <a:endParaRPr lang="zh-CN" dirty="0"/>
          </a:p>
          <a:p>
            <a:r>
              <a:rPr lang="zh-CN" dirty="0"/>
              <a:t>If asked: Is this specific to China? No; the chain applies to any dated compilation of first records.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This is why the question is hard in China. On the left, accumulated warming: the fifteen-year mean temperature relative to 1980 to 2000. The country turns red, from about 0.2 degrees in 2002 to almost 0.8 by 2024, most strongly across the north and northwest. On the right, survey effort: birding visits per province, which rose about 175-fold over the same years and spread from the east coast inland. The amber dots are new records, appearing in the year they were discovered: 657 of them. Everything rises together, so a trend in new records cannot, on its own, tell us which process is behind it.</a:t>
            </a:r>
          </a:p>
          <a:p>
            <a:endParaRPr lang="zh-CN" dirty="0"/>
          </a:p>
          <a:p>
            <a:r>
              <a:rPr lang="zh-CN" dirty="0"/>
              <a:t>If asked: Why are Yunnan and Guangdong grey in 2024? Their visit counts in the source download fall by more than 90% from 2023 while record counts do not, so the map shows them as incomplete; national totals and the model input are unchanged.</a:t>
            </a:r>
          </a:p>
          <a:p>
            <a:endParaRPr lang="zh-CN" dirty="0"/>
          </a:p>
          <a:p>
            <a:r>
              <a:rPr lang="zh-CN" dirty="0"/>
              <a:t>If asked: Is this the warming variable in the model? It is the provincial side; the model uses the difference from the same quantity over each species' range.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55 s]</a:t>
            </a:r>
          </a:p>
          <a:p>
            <a:endParaRPr lang="zh-CN" dirty="0"/>
          </a:p>
          <a:p>
            <a:r>
              <a:rPr lang="zh-CN" dirty="0"/>
              <a:t>Here is the gap. When the original papers explain their own records, sixty-one percent say range shift, and only seven percent mention survey effort, although birding visits rose about 175-fold. Three things have not been separated. Warming and observation grew together, so a model with only one of them gives it the credit for both. Survey pulses, such as campaigns, festivals and new reserves, and the set of species that could have been recorded where, are rarely part of the model. And a warming effect needs a benchmark: what shared regional climate would produce anyway. Projections, finally, are rarely checked against the range of data the model was fitted to.</a:t>
            </a:r>
          </a:p>
          <a:p>
            <a:endParaRPr lang="zh-CN" dirty="0"/>
          </a:p>
          <a:p>
            <a:r>
              <a:rPr lang="zh-CN" dirty="0"/>
              <a:t>If asked: Where do these percentages come from? From CBNR's 'inferred discovery reason' field, which records the reason given in each source paper; 31% of papers give none.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So we asked four questions. One: does warming raise the rate of new records once observation is modelled, beyond what shared regional climate alone would produce? Two: how large is the observation process itself? We expected province-year survey pulses to be the largest source of variation. Three: do warming and effort interact? We expected a negative interaction, because where effort has long been high, the species that warming favours are already on the list. Four: are the returns stable? We expected the return on effort to decline as the stock of gaps is drawn down, but not the return on warming, which keeps adding new candidates.</a:t>
            </a:r>
          </a:p>
          <a:p>
            <a:endParaRPr lang="zh-CN" dirty="0"/>
          </a:p>
          <a:p>
            <a:r>
              <a:rPr lang="zh-CN" dirty="0"/>
              <a:t>If asked: Were these hypotheses pre-specified? H2 to H4 are among the four predictions written down before the robustness analyses; H1 is tested against permutation nulls.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The framework has four steps. Records come from CBNR, our compilation of provincial first records from the literature: 1,029 in the published version, each dated to its discovery, 657 of them between 2002 and 2024. We then build a risk set of every species, province and year in which a first record could have happened: 175,901 cells. Each cell carries accumulated warming, survey effort, annual climate variability, and an offset for how complete recent reporting is. Finally, a discrete-time hazard model, tested with permutation nulls, twelve alternative specifications, time-varying effects, and scenario projections that report their own data support.</a:t>
            </a:r>
          </a:p>
          <a:p>
            <a:endParaRPr lang="zh-CN" dirty="0"/>
          </a:p>
          <a:p>
            <a:r>
              <a:rPr lang="zh-CN" dirty="0"/>
              <a:t>If asked: Why does the model use v2 and not v1.1? v2 is the citable Zenodo release; v1.1 adds 47 records and is not yet on Zenodo.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60 s]</a:t>
            </a:r>
          </a:p>
          <a:p>
            <a:endParaRPr lang="zh-CN" dirty="0"/>
          </a:p>
          <a:p>
            <a:r>
              <a:rPr lang="zh-CN" dirty="0"/>
              <a:t>For every species, in every province it could reach, in every year, we ask: is this the year of its first record? Each pair stays in the risk set until its first record and then leaves it; pairs that are never recorded stay to the end. The model is a binomial mixed model with a complementary log-log link, the discrete-time form of a proportional-hazards model, so exp of beta is a hazard ratio. Warming is measured relative to each species' own range over fifteen years; one standard deviation is 0.18 degrees. Effort is provincial birding visits; one standard deviation is a 7.7-fold difference. A province-by-year random effect absorbs survey campaigns, and an offset corrects the latest years, which are still being published.</a:t>
            </a:r>
          </a:p>
          <a:p>
            <a:endParaRPr lang="zh-CN" dirty="0"/>
          </a:p>
          <a:p>
            <a:r>
              <a:rPr lang="zh-CN" dirty="0"/>
              <a:t>If asked: How is 'could reach' defined? Provinces with at least 50 suitable cells in the species' distribution model; results are the same at 100 and 200.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First finding. Warming and survey effort contribute about equally: a hazard ratio of 1.36 per standard deviation for warming, and 1.40 for effort. And they interact negatively. On the right you can see what that means: where few people are looking, the warming curve is steep; where many people are looking, it flattens out. Annual climate variability has no effect at all. So the answer to question one is yes, and to question three, the interaction is negative, as we expected.</a:t>
            </a:r>
          </a:p>
          <a:p>
            <a:endParaRPr lang="zh-CN" dirty="0"/>
          </a:p>
          <a:p>
            <a:r>
              <a:rPr lang="zh-CN" dirty="0"/>
              <a:t>If asked: How big is the warming effect, really? A permutation null puts the baseline at 1.16, so the species-specific increment is about ×1.18 per SD.</a:t>
            </a:r>
          </a:p>
          <a:p>
            <a:endParaRPr lang="zh-CN" dirty="0"/>
          </a:p>
          <a:p>
            <a:r>
              <a:rPr lang="zh-CN" dirty="0"/>
              <a:t>If asked: What does 1 SD of warming mean? 0.18 °C of species-referenced accumulated warming.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  [optional: can be cut]</a:t>
            </a:r>
          </a:p>
          <a:p>
            <a:endParaRPr lang="zh-CN" dirty="0"/>
          </a:p>
          <a:p>
            <a:r>
              <a:rPr lang="zh-CN" dirty="0"/>
              <a:t>This balance is not fragile. Drop either term and the model loses about the same, around 29 AIC units each. Across twelve specifications, with different distribution-model thresholds, effort proxies and missing-data rules, the numbers stay put. And against design-preserving nulls, both effects stand: the warming increment over its null is about 1.18, and effort collapses to 0.98 if we break its timing.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Second finding. The biggest single component is not a driver at all. It is the province-by-year effect: one standard deviation multiplies the hazard by 2.23, more than warming or effort. This is where a provincial bird survey, a big birding event or a new reserve shows up. Adding this layer lifts conditional AUC from 0.72 to 0.85, and leaves the fixed effects unchanged. Treat it as noise, and survey history reads as range change.</a:t>
            </a:r>
          </a:p>
          <a:p>
            <a:endParaRPr lang="zh-CN" dirty="0"/>
          </a:p>
          <a:p>
            <a:r>
              <a:rPr lang="zh-CN" dirty="0"/>
              <a:t>If asked: Could the province-by-year effect absorb climate anomalies too? Partly; that protects the fixed effects at some cost in climatic signal, and we say so in the paper.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Third finding. Effort is saturating. Its hazard ratio fell from 2.2 in 2002 to about 1.1 in 2024, and after 2022 it is no longer different from one. The easy gaps have been filled. Warming shows no such trend. One way to read this is a stock and a flow: effort mines a finite stock of undocumented occurrences, while warming keeps adding new candidates. We haven't tested the two trends against each other, so I'd call it consistent, not proven.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  [optional: can be cut]</a:t>
            </a:r>
          </a:p>
          <a:p>
            <a:endParaRPr lang="zh-CN" dirty="0"/>
          </a:p>
          <a:p>
            <a:r>
              <a:rPr lang="zh-CN" dirty="0"/>
              <a:t>Fourth: direction. Measured from each species' range centre, new records look strongly biased to the east. But most of these species have ranges centred west or south of China, so almost any record inside China lands to the east. If we place each record at random among its species' possible provinces, geography alone reproduces the eastward pattern. Only when we also weight provinces by where birders go does a signal remain, and it points north: a modest poleward lean, visible only with the right null.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55 s]  [optional: can be cut]</a:t>
            </a:r>
          </a:p>
          <a:p>
            <a:endParaRPr lang="zh-CN" dirty="0"/>
          </a:p>
          <a:p>
            <a:r>
              <a:rPr lang="zh-CN" dirty="0"/>
              <a:t>A first use. Nature reserves look like hot spots for new records: twenty-six percent of records fall inside reserves that cover ten percent of the land, a two-and-a-half-fold enrichment. Birding effort is not concentrated there, and matching each record to two hundred control locations that birders visited in the same province and year reduces the enrichment to an odds ratio of 1.7, or 1.6 with environmental covariates. But that residual rests on two reserves; without them it is 1.16. It appears only after birding boomed in 2013, and checklists inside reserves record a quarter more species per visit, an observation bias we cannot condition out. So record counts should not be used to judge how well reserves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What about the future? We crossed two climate scenarios with two effort scenarios. Switching from SSP2-4.5 to SSP5-8.5 changes the expected national count from 23.2 to 23.1 records a year: essentially nothing. If effort keeps growing, the count more than doubles by 2050. What we will record depends on how we look, more than on how the climate changes. But most of that increase lies outside the data we fitted.</a:t>
            </a:r>
          </a:p>
          <a:p>
            <a:endParaRPr lang="zh-CN" dirty="0"/>
          </a:p>
          <a:p>
            <a:r>
              <a:rPr lang="zh-CN" dirty="0"/>
              <a:t>If asked: Is 57 to 62 records a year a forecast? No. At 2050 only 2 percent of cells are inside the fitted support; the credible statement is about 23 to 27 records a year in 2030, under any scenario.</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  [optional: can be cut]</a:t>
            </a:r>
          </a:p>
          <a:p>
            <a:endParaRPr lang="zh-CN" dirty="0"/>
          </a:p>
          <a:p>
            <a:r>
              <a:rPr lang="zh-CN" dirty="0"/>
              <a:t>So our rule is simple: report where the model breaks. Under SSP2-4.5, the share of species-province combinations inside the fitted range drops from 48 percent in 2030, to 10 percent in 2050, and 2 percent by 2080. Machine learning does not rescue it: inside the range the two model families agree, outside it they diverge. So 2030 is usable; end-of-century maps are illustrations, not forecasts.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  [optional: can be cut]</a:t>
            </a:r>
          </a:p>
          <a:p>
            <a:endParaRPr lang="zh-CN" dirty="0"/>
          </a:p>
          <a:p>
            <a:r>
              <a:rPr lang="zh-CN" dirty="0"/>
              <a:t>Four limits travel with these results. Our events are published records, not detections, so we explain how records get documented, not how ranges expand. Coordinates are precise to about a kilometre at best. Our reserve map covers about a third of listed reserves. And projections leave the data after 2030, so late-century maps are illustrations.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To sum up, four points. One: new records carry a climate signal; warming and survey effort contribute comparably, 1.36 against 1.40 per standard deviation, and one model can separate them. Two: warming matters most where few people are looking. Three: the observation process is the largest single component, and the return on effort is falling. Four: future record counts depend on how we look, and most projected change is extrapolation. For monitoring, send effort to climatically exposed, under-surveyed regions; that is where new records carry the most climate information. Birds or birders? Both. Model how we look, and the records tell us how ranges change.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Everything is open: the CBNR data on Zenodo, and all of the analysis code on GitHub, where every number in this talk traces back to a table. My thanks to my co-authors, to birdwatchers across China, and to every author whose records made this possible. Thank you. I'm happy to take your questions.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If asked about dating. Dated to publication year, as most compilations do, the effort hazard ratio is 1.79 instead of 1.31, inflated by 37 percent, and an annual climate-variability effect appears at 0.85 with P below 0.001. Dated to discovery it vanishes, and warming barely moves. Publication lags discovery by about two years.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15 s]</a:t>
            </a:r>
          </a:p>
          <a:p>
            <a:endParaRPr lang="zh-CN" dirty="0"/>
          </a:p>
          <a:p>
            <a:r>
              <a:rPr lang="zh-CN" dirty="0"/>
              <a:t>If asked about specifications: the signal is strongest for annual mean temperature over 15 to 20 years, and the coefficients are stable across effort proxies and missing-data rules.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15 s]</a:t>
            </a:r>
          </a:p>
          <a:p>
            <a:endParaRPr lang="zh-CN" dirty="0"/>
          </a:p>
          <a:p>
            <a:r>
              <a:rPr lang="zh-CN" dirty="0"/>
              <a:t>If asked how warming is measured: the same province in the same year can warm more or less than a given species' range; that species-specific difference is the climate covariate.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20 s]</a:t>
            </a:r>
          </a:p>
          <a:p>
            <a:endParaRPr lang="zh-CN" dirty="0"/>
          </a:p>
          <a:p>
            <a:r>
              <a:rPr lang="zh-CN" dirty="0"/>
              <a:t>If asked about finer scales: we split the problem into whether a province gets a new record and, if so, which county. Tested on 2019 to 2024, the top-ranked county was right 16 percent of the time, against about 1 percent by chance.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f493a65566bb8f6.png"/><Relationship Id="rId3" Type="http://schemas.openxmlformats.org/officeDocument/2006/relationships/image" Target="../media/image_c7ef4c2a55677e7e.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anim_slide3.gi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582f5b337129e964.png"/><Relationship Id="rId4" Type="http://schemas.openxmlformats.org/officeDocument/2006/relationships/image" Target="../media/image_59a010da15edc166.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9eceb8047ae5746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8889d446b47cde48.png"/><Relationship Id="rId4" Type="http://schemas.openxmlformats.org/officeDocument/2006/relationships/image" Target="../media/image_94acc12a4c2aae39.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634b940c83d4cb0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387b06e4749a4c9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8ae65c5956cb6f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ab39142e67679a80.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b0d94034425a7dde.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b1e9b3abf655a71d.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1cb03d411865e55c.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7ef4c2a55677e7e.png"/><Relationship Id="rId3" Type="http://schemas.openxmlformats.org/officeDocument/2006/relationships/image" Target="../media/image_d4be9f55c9151a50.png"/><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3534" y="341888"/>
            <a:ext cx="358006" cy="315340"/>
            <a:chOff x="513534" y="341888"/>
            <a:chExt cx="358006" cy="315340"/>
          </a:xfrm>
        </p:grpSpPr>
        <p:sp>
          <p:nvSpPr>
            <p:cNvPr id="3" name="Freeform 3"/>
            <p:cNvSpPr/>
            <p:nvPr/>
          </p:nvSpPr>
          <p:spPr>
            <a:xfrm>
              <a:off x="526256" y="355189"/>
              <a:ext cx="333375" cy="290129"/>
            </a:xfrm>
            <a:custGeom>
              <a:avLst/>
              <a:gdLst/>
              <a:ahLst/>
              <a:cxnLst/>
              <a:rect l="l" t="t" r="r" b="b"/>
              <a:pathLst>
                <a:path w="333375" h="290129">
                  <a:moveTo>
                    <a:pt x="333375" y="87723"/>
                  </a:moveTo>
                  <a:lnTo>
                    <a:pt x="297656" y="111536"/>
                  </a:lnTo>
                  <a:lnTo>
                    <a:pt x="297656" y="147254"/>
                  </a:lnTo>
                  <a:cubicBezTo>
                    <a:pt x="297656" y="226162"/>
                    <a:pt x="233689" y="290129"/>
                    <a:pt x="154781" y="290129"/>
                  </a:cubicBezTo>
                  <a:lnTo>
                    <a:pt x="0" y="290129"/>
                  </a:lnTo>
                  <a:lnTo>
                    <a:pt x="142875" y="111536"/>
                  </a:lnTo>
                  <a:lnTo>
                    <a:pt x="142875" y="81770"/>
                  </a:lnTo>
                  <a:cubicBezTo>
                    <a:pt x="142847" y="42809"/>
                    <a:pt x="171786" y="9902"/>
                    <a:pt x="210431" y="4951"/>
                  </a:cubicBezTo>
                  <a:cubicBezTo>
                    <a:pt x="249076" y="0"/>
                    <a:pt x="285376" y="24549"/>
                    <a:pt x="295171" y="62259"/>
                  </a:cubicBezTo>
                  <a:close/>
                </a:path>
              </a:pathLst>
            </a:custGeom>
            <a:solidFill>
              <a:srgbClr val="8B0012">
                <a:alpha val="20000"/>
              </a:srgbClr>
            </a:solidFill>
            <a:ln>
              <a:noFill/>
            </a:ln>
          </p:spPr>
        </p:sp>
        <p:sp>
          <p:nvSpPr>
            <p:cNvPr id="4" name="Freeform 4"/>
            <p:cNvSpPr/>
            <p:nvPr/>
          </p:nvSpPr>
          <p:spPr>
            <a:xfrm>
              <a:off x="513534" y="341888"/>
              <a:ext cx="358006" cy="315340"/>
            </a:xfrm>
            <a:custGeom>
              <a:avLst/>
              <a:gdLst/>
              <a:ahLst/>
              <a:cxnLst/>
              <a:rect l="l" t="t" r="r" b="b"/>
              <a:pathLst>
                <a:path w="358006" h="315340">
                  <a:moveTo>
                    <a:pt x="262753" y="83165"/>
                  </a:moveTo>
                  <a:cubicBezTo>
                    <a:pt x="262753" y="93029"/>
                    <a:pt x="254757" y="101025"/>
                    <a:pt x="244894" y="101025"/>
                  </a:cubicBezTo>
                  <a:cubicBezTo>
                    <a:pt x="235030" y="101025"/>
                    <a:pt x="227035" y="93029"/>
                    <a:pt x="227035" y="83165"/>
                  </a:cubicBezTo>
                  <a:cubicBezTo>
                    <a:pt x="227035" y="73302"/>
                    <a:pt x="235030" y="65306"/>
                    <a:pt x="244894" y="65306"/>
                  </a:cubicBezTo>
                  <a:cubicBezTo>
                    <a:pt x="254757" y="65306"/>
                    <a:pt x="262753" y="73302"/>
                    <a:pt x="262753" y="83165"/>
                  </a:cubicBezTo>
                  <a:close/>
                  <a:moveTo>
                    <a:pt x="187030" y="175215"/>
                  </a:moveTo>
                  <a:cubicBezTo>
                    <a:pt x="184608" y="173188"/>
                    <a:pt x="181480" y="172206"/>
                    <a:pt x="178335" y="172486"/>
                  </a:cubicBezTo>
                  <a:cubicBezTo>
                    <a:pt x="175189" y="172765"/>
                    <a:pt x="172283" y="174282"/>
                    <a:pt x="170257" y="176704"/>
                  </a:cubicBezTo>
                  <a:lnTo>
                    <a:pt x="110725" y="248141"/>
                  </a:lnTo>
                  <a:cubicBezTo>
                    <a:pt x="106517" y="253196"/>
                    <a:pt x="107203" y="260706"/>
                    <a:pt x="112258" y="264914"/>
                  </a:cubicBezTo>
                  <a:cubicBezTo>
                    <a:pt x="117313" y="269123"/>
                    <a:pt x="124823" y="268436"/>
                    <a:pt x="129031" y="263381"/>
                  </a:cubicBezTo>
                  <a:lnTo>
                    <a:pt x="188562" y="191944"/>
                  </a:lnTo>
                  <a:cubicBezTo>
                    <a:pt x="192743" y="186896"/>
                    <a:pt x="192057" y="179419"/>
                    <a:pt x="187030" y="175215"/>
                  </a:cubicBezTo>
                  <a:close/>
                  <a:moveTo>
                    <a:pt x="358003" y="101025"/>
                  </a:moveTo>
                  <a:cubicBezTo>
                    <a:pt x="358006" y="105007"/>
                    <a:pt x="356018" y="108727"/>
                    <a:pt x="352705" y="110937"/>
                  </a:cubicBezTo>
                  <a:lnTo>
                    <a:pt x="322285" y="131207"/>
                  </a:lnTo>
                  <a:lnTo>
                    <a:pt x="322285" y="160556"/>
                  </a:lnTo>
                  <a:cubicBezTo>
                    <a:pt x="322194" y="246002"/>
                    <a:pt x="252949" y="315247"/>
                    <a:pt x="167503" y="315337"/>
                  </a:cubicBezTo>
                  <a:lnTo>
                    <a:pt x="12722" y="315337"/>
                  </a:lnTo>
                  <a:cubicBezTo>
                    <a:pt x="8143" y="315340"/>
                    <a:pt x="3968" y="312717"/>
                    <a:pt x="1984" y="308590"/>
                  </a:cubicBezTo>
                  <a:cubicBezTo>
                    <a:pt x="0" y="304463"/>
                    <a:pt x="558" y="299564"/>
                    <a:pt x="3420" y="295989"/>
                  </a:cubicBezTo>
                  <a:lnTo>
                    <a:pt x="143691" y="120655"/>
                  </a:lnTo>
                  <a:lnTo>
                    <a:pt x="143691" y="95072"/>
                  </a:lnTo>
                  <a:cubicBezTo>
                    <a:pt x="143649" y="50996"/>
                    <a:pt x="175773" y="13482"/>
                    <a:pt x="219330" y="6741"/>
                  </a:cubicBezTo>
                  <a:cubicBezTo>
                    <a:pt x="262887" y="0"/>
                    <a:pt x="304848" y="26048"/>
                    <a:pt x="318132" y="68074"/>
                  </a:cubicBezTo>
                  <a:lnTo>
                    <a:pt x="352705" y="91113"/>
                  </a:lnTo>
                  <a:cubicBezTo>
                    <a:pt x="356018" y="93323"/>
                    <a:pt x="358006" y="97043"/>
                    <a:pt x="358003" y="101025"/>
                  </a:cubicBezTo>
                  <a:close/>
                  <a:moveTo>
                    <a:pt x="324636" y="101025"/>
                  </a:moveTo>
                  <a:lnTo>
                    <a:pt x="301300" y="85457"/>
                  </a:lnTo>
                  <a:cubicBezTo>
                    <a:pt x="298866" y="83838"/>
                    <a:pt x="297112" y="81380"/>
                    <a:pt x="296374" y="78552"/>
                  </a:cubicBezTo>
                  <a:cubicBezTo>
                    <a:pt x="288093" y="46633"/>
                    <a:pt x="257369" y="25851"/>
                    <a:pt x="224661" y="30043"/>
                  </a:cubicBezTo>
                  <a:cubicBezTo>
                    <a:pt x="191953" y="34236"/>
                    <a:pt x="167465" y="62096"/>
                    <a:pt x="167503" y="95072"/>
                  </a:cubicBezTo>
                  <a:lnTo>
                    <a:pt x="167503" y="124837"/>
                  </a:lnTo>
                  <a:cubicBezTo>
                    <a:pt x="167505" y="127541"/>
                    <a:pt x="166587" y="130166"/>
                    <a:pt x="164899" y="132279"/>
                  </a:cubicBezTo>
                  <a:lnTo>
                    <a:pt x="37487" y="291525"/>
                  </a:lnTo>
                  <a:lnTo>
                    <a:pt x="167503" y="291525"/>
                  </a:lnTo>
                  <a:cubicBezTo>
                    <a:pt x="239801" y="291443"/>
                    <a:pt x="298390" y="232854"/>
                    <a:pt x="298472" y="160556"/>
                  </a:cubicBezTo>
                  <a:lnTo>
                    <a:pt x="298472" y="124837"/>
                  </a:lnTo>
                  <a:cubicBezTo>
                    <a:pt x="298469" y="120855"/>
                    <a:pt x="300458" y="117135"/>
                    <a:pt x="303770" y="114925"/>
                  </a:cubicBezTo>
                  <a:close/>
                </a:path>
              </a:pathLst>
            </a:custGeom>
            <a:solidFill>
              <a:srgbClr val="8B0012"/>
            </a:solidFill>
            <a:ln>
              <a:noFill/>
            </a:ln>
          </p:spPr>
        </p:sp>
      </p:grpSp>
      <p:sp>
        <p:nvSpPr>
          <p:cNvPr id="6" name="TextBox 6"/>
          <p:cNvSpPr txBox="1"/>
          <p:nvPr/>
        </p:nvSpPr>
        <p:spPr>
          <a:xfrm>
            <a:off x="969645" y="412432"/>
            <a:ext cx="1114764" cy="335280"/>
          </a:xfrm>
          <a:prstGeom prst="rect">
            <a:avLst/>
          </a:prstGeom>
          <a:noFill/>
          <a:ln>
            <a:noFill/>
          </a:ln>
        </p:spPr>
        <p:txBody>
          <a:bodyPr wrap="none" lIns="0" tIns="0" rIns="0" bIns="0" anchor="t" anchorCtr="0">
            <a:spAutoFit/>
          </a:bodyPr>
          <a:lstStyle/>
          <a:p>
            <a:pPr algn="l"/>
            <a:r>
              <a:rPr lang="zh-CN" sz="1650" b="1" dirty="0">
                <a:solidFill>
                  <a:srgbClr val="8B0012"/>
                </a:solidFill>
                <a:latin typeface="Arial"/>
                <a:ea typeface="Microsoft YaHei"/>
                <a:cs typeface="Arial"/>
              </a:rPr>
              <a:t>AOC 2026</a:t>
            </a:r>
          </a:p>
        </p:txBody>
      </p:sp>
      <p:sp>
        <p:nvSpPr>
          <p:cNvPr id="7" name="TextBox 7"/>
          <p:cNvSpPr txBox="1"/>
          <p:nvPr/>
        </p:nvSpPr>
        <p:spPr>
          <a:xfrm>
            <a:off x="2021205" y="444818"/>
            <a:ext cx="972807" cy="274320"/>
          </a:xfrm>
          <a:prstGeom prst="rect">
            <a:avLst/>
          </a:prstGeom>
          <a:noFill/>
          <a:ln>
            <a:noFill/>
          </a:ln>
        </p:spPr>
        <p:txBody>
          <a:bodyPr wrap="none" lIns="0" tIns="0" rIns="0" bIns="0" anchor="t" anchorCtr="0">
            <a:spAutoFit/>
          </a:bodyPr>
          <a:lstStyle/>
          <a:p>
            <a:pPr algn="l"/>
            <a:r>
              <a:rPr lang="zh-CN" sz="1350" dirty="0">
                <a:solidFill>
                  <a:srgbClr val="6B6B6B"/>
                </a:solidFill>
                <a:latin typeface="Arial"/>
                <a:ea typeface="Microsoft YaHei"/>
                <a:cs typeface="Arial"/>
              </a:rPr>
              <a:t>Singapore</a:t>
            </a:r>
          </a:p>
        </p:txBody>
      </p:sp>
      <p:pic>
        <p:nvPicPr>
          <p:cNvPr id="8" name="Image 8"/>
          <p:cNvPicPr>
            <a:picLocks noChangeAspect="1"/>
          </p:cNvPicPr>
          <p:nvPr/>
        </p:nvPicPr>
        <p:blipFill>
          <a:blip r:embed="rId2"/>
          <a:stretch>
            <a:fillRect/>
          </a:stretch>
        </p:blipFill>
        <p:spPr>
          <a:xfrm>
            <a:off x="9867900" y="285750"/>
            <a:ext cx="1809750" cy="509588"/>
          </a:xfrm>
          <a:prstGeom prst="rect">
            <a:avLst/>
          </a:prstGeom>
        </p:spPr>
      </p:pic>
      <p:sp>
        <p:nvSpPr>
          <p:cNvPr id="9" name="Line 9"/>
          <p:cNvSpPr/>
          <p:nvPr/>
        </p:nvSpPr>
        <p:spPr>
          <a:xfrm>
            <a:off x="0" y="1247775"/>
            <a:ext cx="12192000" cy="9525"/>
          </a:xfrm>
          <a:custGeom>
            <a:avLst/>
            <a:gdLst/>
            <a:ahLst/>
            <a:cxnLst/>
            <a:rect l="l" t="t" r="r" b="b"/>
            <a:pathLst>
              <a:path w="12192000" h="9525">
                <a:moveTo>
                  <a:pt x="0" y="0"/>
                </a:moveTo>
                <a:lnTo>
                  <a:pt x="12192000" y="0"/>
                </a:lnTo>
              </a:path>
            </a:pathLst>
          </a:custGeom>
          <a:noFill/>
          <a:ln w="14288">
            <a:solidFill>
              <a:srgbClr val="8B0012"/>
            </a:solidFill>
          </a:ln>
        </p:spPr>
      </p:sp>
      <p:sp>
        <p:nvSpPr>
          <p:cNvPr id="10" name="Rectangle 10"/>
          <p:cNvSpPr/>
          <p:nvPr/>
        </p:nvSpPr>
        <p:spPr>
          <a:xfrm>
            <a:off x="0" y="1333500"/>
            <a:ext cx="12192000" cy="3810000"/>
          </a:xfrm>
          <a:prstGeom prst="rect">
            <a:avLst/>
          </a:prstGeom>
          <a:solidFill>
            <a:srgbClr val="8B0012"/>
          </a:solidFill>
          <a:ln>
            <a:noFill/>
          </a:ln>
        </p:spPr>
      </p:sp>
      <p:sp>
        <p:nvSpPr>
          <p:cNvPr id="11" name="Ellipse 11"/>
          <p:cNvSpPr/>
          <p:nvPr/>
        </p:nvSpPr>
        <p:spPr>
          <a:xfrm>
            <a:off x="5676900" y="895350"/>
            <a:ext cx="838200" cy="838200"/>
          </a:xfrm>
          <a:prstGeom prst="ellipse">
            <a:avLst/>
          </a:prstGeom>
          <a:solidFill>
            <a:srgbClr val="FFFFFF"/>
          </a:solidFill>
          <a:ln w="19050">
            <a:solidFill>
              <a:srgbClr val="8B0012"/>
            </a:solidFill>
          </a:ln>
        </p:spPr>
      </p:sp>
      <p:pic>
        <p:nvPicPr>
          <p:cNvPr id="12" name="Image 12"/>
          <p:cNvPicPr>
            <a:picLocks noChangeAspect="1"/>
          </p:cNvPicPr>
          <p:nvPr/>
        </p:nvPicPr>
        <p:blipFill>
          <a:blip r:embed="rId3"/>
          <a:stretch>
            <a:fillRect/>
          </a:stretch>
        </p:blipFill>
        <p:spPr>
          <a:xfrm>
            <a:off x="5734050" y="952500"/>
            <a:ext cx="723900" cy="723900"/>
          </a:xfrm>
          <a:prstGeom prst="rect">
            <a:avLst/>
          </a:prstGeom>
        </p:spPr>
      </p:pic>
      <p:grpSp>
        <p:nvGrpSpPr>
          <p:cNvPr id="15" name="Group 15"/>
          <p:cNvGrpSpPr/>
          <p:nvPr/>
        </p:nvGrpSpPr>
        <p:grpSpPr>
          <a:xfrm>
            <a:off x="9981180" y="1889447"/>
            <a:ext cx="447507" cy="394175"/>
            <a:chOff x="9981180" y="1889447"/>
            <a:chExt cx="447507" cy="394175"/>
          </a:xfrm>
        </p:grpSpPr>
        <p:sp>
          <p:nvSpPr>
            <p:cNvPr id="13" name="Freeform 13"/>
            <p:cNvSpPr/>
            <p:nvPr/>
          </p:nvSpPr>
          <p:spPr>
            <a:xfrm>
              <a:off x="9997083" y="1906074"/>
              <a:ext cx="416719" cy="362662"/>
            </a:xfrm>
            <a:custGeom>
              <a:avLst/>
              <a:gdLst/>
              <a:ahLst/>
              <a:cxnLst/>
              <a:rect l="l" t="t" r="r" b="b"/>
              <a:pathLst>
                <a:path w="416719" h="362662">
                  <a:moveTo>
                    <a:pt x="416719" y="109654"/>
                  </a:moveTo>
                  <a:lnTo>
                    <a:pt x="372070" y="139420"/>
                  </a:lnTo>
                  <a:lnTo>
                    <a:pt x="372070" y="184068"/>
                  </a:lnTo>
                  <a:cubicBezTo>
                    <a:pt x="372070" y="282703"/>
                    <a:pt x="292111" y="362662"/>
                    <a:pt x="193477" y="362662"/>
                  </a:cubicBezTo>
                  <a:lnTo>
                    <a:pt x="0" y="362662"/>
                  </a:lnTo>
                  <a:lnTo>
                    <a:pt x="178594" y="139420"/>
                  </a:lnTo>
                  <a:lnTo>
                    <a:pt x="178594" y="102213"/>
                  </a:lnTo>
                  <a:cubicBezTo>
                    <a:pt x="178559" y="53512"/>
                    <a:pt x="214733" y="12377"/>
                    <a:pt x="263039" y="6189"/>
                  </a:cubicBezTo>
                  <a:cubicBezTo>
                    <a:pt x="311345" y="0"/>
                    <a:pt x="356720" y="30686"/>
                    <a:pt x="368964" y="77823"/>
                  </a:cubicBezTo>
                  <a:close/>
                </a:path>
              </a:pathLst>
            </a:custGeom>
            <a:solidFill>
              <a:srgbClr val="FFFFFF">
                <a:alpha val="20000"/>
              </a:srgbClr>
            </a:solidFill>
            <a:ln>
              <a:noFill/>
            </a:ln>
          </p:spPr>
        </p:sp>
        <p:sp>
          <p:nvSpPr>
            <p:cNvPr id="14" name="Freeform 14"/>
            <p:cNvSpPr/>
            <p:nvPr/>
          </p:nvSpPr>
          <p:spPr>
            <a:xfrm>
              <a:off x="9981180" y="1889447"/>
              <a:ext cx="447507" cy="394175"/>
            </a:xfrm>
            <a:custGeom>
              <a:avLst/>
              <a:gdLst/>
              <a:ahLst/>
              <a:cxnLst/>
              <a:rect l="l" t="t" r="r" b="b"/>
              <a:pathLst>
                <a:path w="447507" h="394175">
                  <a:moveTo>
                    <a:pt x="328442" y="103957"/>
                  </a:moveTo>
                  <a:cubicBezTo>
                    <a:pt x="328442" y="116286"/>
                    <a:pt x="318447" y="126281"/>
                    <a:pt x="306117" y="126281"/>
                  </a:cubicBezTo>
                  <a:cubicBezTo>
                    <a:pt x="293788" y="126281"/>
                    <a:pt x="283793" y="116286"/>
                    <a:pt x="283793" y="103957"/>
                  </a:cubicBezTo>
                  <a:cubicBezTo>
                    <a:pt x="283793" y="91627"/>
                    <a:pt x="293788" y="81632"/>
                    <a:pt x="306117" y="81632"/>
                  </a:cubicBezTo>
                  <a:cubicBezTo>
                    <a:pt x="318447" y="81632"/>
                    <a:pt x="328442" y="91627"/>
                    <a:pt x="328442" y="103957"/>
                  </a:cubicBezTo>
                  <a:close/>
                  <a:moveTo>
                    <a:pt x="233787" y="219019"/>
                  </a:moveTo>
                  <a:cubicBezTo>
                    <a:pt x="230760" y="216486"/>
                    <a:pt x="226851" y="215258"/>
                    <a:pt x="222919" y="215607"/>
                  </a:cubicBezTo>
                  <a:cubicBezTo>
                    <a:pt x="218987" y="215956"/>
                    <a:pt x="215354" y="217853"/>
                    <a:pt x="212821" y="220880"/>
                  </a:cubicBezTo>
                  <a:lnTo>
                    <a:pt x="138407" y="310177"/>
                  </a:lnTo>
                  <a:cubicBezTo>
                    <a:pt x="133146" y="316495"/>
                    <a:pt x="134004" y="325882"/>
                    <a:pt x="140323" y="331143"/>
                  </a:cubicBezTo>
                  <a:cubicBezTo>
                    <a:pt x="146642" y="336403"/>
                    <a:pt x="156029" y="335545"/>
                    <a:pt x="161289" y="329227"/>
                  </a:cubicBezTo>
                  <a:lnTo>
                    <a:pt x="235703" y="239930"/>
                  </a:lnTo>
                  <a:cubicBezTo>
                    <a:pt x="240928" y="233620"/>
                    <a:pt x="240072" y="224274"/>
                    <a:pt x="233787" y="219019"/>
                  </a:cubicBezTo>
                  <a:close/>
                  <a:moveTo>
                    <a:pt x="447504" y="126281"/>
                  </a:moveTo>
                  <a:cubicBezTo>
                    <a:pt x="447507" y="131258"/>
                    <a:pt x="445022" y="135908"/>
                    <a:pt x="440881" y="138671"/>
                  </a:cubicBezTo>
                  <a:lnTo>
                    <a:pt x="402856" y="164009"/>
                  </a:lnTo>
                  <a:lnTo>
                    <a:pt x="402856" y="200695"/>
                  </a:lnTo>
                  <a:cubicBezTo>
                    <a:pt x="402743" y="307502"/>
                    <a:pt x="316187" y="394059"/>
                    <a:pt x="209379" y="394171"/>
                  </a:cubicBezTo>
                  <a:lnTo>
                    <a:pt x="15903" y="394171"/>
                  </a:lnTo>
                  <a:cubicBezTo>
                    <a:pt x="10179" y="394175"/>
                    <a:pt x="4960" y="390896"/>
                    <a:pt x="2480" y="385737"/>
                  </a:cubicBezTo>
                  <a:cubicBezTo>
                    <a:pt x="0" y="380579"/>
                    <a:pt x="698" y="374455"/>
                    <a:pt x="4275" y="369987"/>
                  </a:cubicBezTo>
                  <a:lnTo>
                    <a:pt x="179613" y="150819"/>
                  </a:lnTo>
                  <a:lnTo>
                    <a:pt x="179613" y="118839"/>
                  </a:lnTo>
                  <a:cubicBezTo>
                    <a:pt x="179562" y="63745"/>
                    <a:pt x="219716" y="16853"/>
                    <a:pt x="274163" y="8426"/>
                  </a:cubicBezTo>
                  <a:cubicBezTo>
                    <a:pt x="328609" y="0"/>
                    <a:pt x="381060" y="32560"/>
                    <a:pt x="397665" y="85093"/>
                  </a:cubicBezTo>
                  <a:lnTo>
                    <a:pt x="440881" y="113891"/>
                  </a:lnTo>
                  <a:cubicBezTo>
                    <a:pt x="445022" y="116653"/>
                    <a:pt x="447507" y="121303"/>
                    <a:pt x="447504" y="126281"/>
                  </a:cubicBezTo>
                  <a:close/>
                  <a:moveTo>
                    <a:pt x="405795" y="126281"/>
                  </a:moveTo>
                  <a:lnTo>
                    <a:pt x="376625" y="106822"/>
                  </a:lnTo>
                  <a:cubicBezTo>
                    <a:pt x="373582" y="104798"/>
                    <a:pt x="371390" y="101725"/>
                    <a:pt x="370467" y="98189"/>
                  </a:cubicBezTo>
                  <a:cubicBezTo>
                    <a:pt x="360116" y="58291"/>
                    <a:pt x="321712" y="32313"/>
                    <a:pt x="280827" y="37554"/>
                  </a:cubicBezTo>
                  <a:cubicBezTo>
                    <a:pt x="239942" y="42795"/>
                    <a:pt x="209332" y="77620"/>
                    <a:pt x="209379" y="118839"/>
                  </a:cubicBezTo>
                  <a:lnTo>
                    <a:pt x="209379" y="156046"/>
                  </a:lnTo>
                  <a:cubicBezTo>
                    <a:pt x="209382" y="159427"/>
                    <a:pt x="208234" y="162707"/>
                    <a:pt x="206123" y="165348"/>
                  </a:cubicBezTo>
                  <a:lnTo>
                    <a:pt x="46859" y="364406"/>
                  </a:lnTo>
                  <a:lnTo>
                    <a:pt x="209379" y="364406"/>
                  </a:lnTo>
                  <a:cubicBezTo>
                    <a:pt x="299752" y="364303"/>
                    <a:pt x="372988" y="291067"/>
                    <a:pt x="373090" y="200695"/>
                  </a:cubicBezTo>
                  <a:lnTo>
                    <a:pt x="373090" y="156046"/>
                  </a:lnTo>
                  <a:cubicBezTo>
                    <a:pt x="373087" y="151069"/>
                    <a:pt x="375572" y="146419"/>
                    <a:pt x="379713" y="143656"/>
                  </a:cubicBezTo>
                  <a:close/>
                </a:path>
              </a:pathLst>
            </a:custGeom>
            <a:solidFill>
              <a:srgbClr val="FFFFFF"/>
            </a:solidFill>
            <a:ln>
              <a:noFill/>
            </a:ln>
          </p:spPr>
        </p:sp>
      </p:grpSp>
      <p:grpSp>
        <p:nvGrpSpPr>
          <p:cNvPr id="18" name="Group 18"/>
          <p:cNvGrpSpPr/>
          <p:nvPr/>
        </p:nvGrpSpPr>
        <p:grpSpPr>
          <a:xfrm>
            <a:off x="10648216" y="2187934"/>
            <a:ext cx="322205" cy="283806"/>
            <a:chOff x="10648216" y="2187934"/>
            <a:chExt cx="322205" cy="283806"/>
          </a:xfrm>
        </p:grpSpPr>
        <p:sp>
          <p:nvSpPr>
            <p:cNvPr id="16" name="Freeform 16"/>
            <p:cNvSpPr/>
            <p:nvPr/>
          </p:nvSpPr>
          <p:spPr>
            <a:xfrm>
              <a:off x="10659666" y="2199905"/>
              <a:ext cx="300038" cy="261116"/>
            </a:xfrm>
            <a:custGeom>
              <a:avLst/>
              <a:gdLst/>
              <a:ahLst/>
              <a:cxnLst/>
              <a:rect l="l" t="t" r="r" b="b"/>
              <a:pathLst>
                <a:path w="300038" h="261116">
                  <a:moveTo>
                    <a:pt x="300038" y="78951"/>
                  </a:moveTo>
                  <a:lnTo>
                    <a:pt x="267891" y="100382"/>
                  </a:lnTo>
                  <a:lnTo>
                    <a:pt x="267891" y="132529"/>
                  </a:lnTo>
                  <a:cubicBezTo>
                    <a:pt x="267891" y="203546"/>
                    <a:pt x="210320" y="261116"/>
                    <a:pt x="139303" y="261116"/>
                  </a:cubicBezTo>
                  <a:lnTo>
                    <a:pt x="0" y="261116"/>
                  </a:lnTo>
                  <a:lnTo>
                    <a:pt x="128588" y="100382"/>
                  </a:lnTo>
                  <a:lnTo>
                    <a:pt x="128588" y="73593"/>
                  </a:lnTo>
                  <a:cubicBezTo>
                    <a:pt x="128562" y="38528"/>
                    <a:pt x="154608" y="8912"/>
                    <a:pt x="189388" y="4456"/>
                  </a:cubicBezTo>
                  <a:cubicBezTo>
                    <a:pt x="224168" y="0"/>
                    <a:pt x="256839" y="22094"/>
                    <a:pt x="265654" y="56033"/>
                  </a:cubicBezTo>
                  <a:close/>
                </a:path>
              </a:pathLst>
            </a:custGeom>
            <a:solidFill>
              <a:srgbClr val="FFFFFF">
                <a:alpha val="20000"/>
              </a:srgbClr>
            </a:solidFill>
            <a:ln>
              <a:noFill/>
            </a:ln>
          </p:spPr>
        </p:sp>
        <p:sp>
          <p:nvSpPr>
            <p:cNvPr id="17" name="Freeform 17"/>
            <p:cNvSpPr/>
            <p:nvPr/>
          </p:nvSpPr>
          <p:spPr>
            <a:xfrm>
              <a:off x="10648216" y="2187934"/>
              <a:ext cx="322205" cy="283806"/>
            </a:xfrm>
            <a:custGeom>
              <a:avLst/>
              <a:gdLst/>
              <a:ahLst/>
              <a:cxnLst/>
              <a:rect l="l" t="t" r="r" b="b"/>
              <a:pathLst>
                <a:path w="322205" h="283806">
                  <a:moveTo>
                    <a:pt x="236478" y="74849"/>
                  </a:moveTo>
                  <a:cubicBezTo>
                    <a:pt x="236478" y="83726"/>
                    <a:pt x="229282" y="90922"/>
                    <a:pt x="220405" y="90922"/>
                  </a:cubicBezTo>
                  <a:cubicBezTo>
                    <a:pt x="211527" y="90922"/>
                    <a:pt x="204331" y="83726"/>
                    <a:pt x="204331" y="74849"/>
                  </a:cubicBezTo>
                  <a:cubicBezTo>
                    <a:pt x="204331" y="65972"/>
                    <a:pt x="211527" y="58775"/>
                    <a:pt x="220405" y="58775"/>
                  </a:cubicBezTo>
                  <a:cubicBezTo>
                    <a:pt x="229282" y="58775"/>
                    <a:pt x="236478" y="65972"/>
                    <a:pt x="236478" y="74849"/>
                  </a:cubicBezTo>
                  <a:close/>
                  <a:moveTo>
                    <a:pt x="168327" y="157694"/>
                  </a:moveTo>
                  <a:cubicBezTo>
                    <a:pt x="166147" y="155870"/>
                    <a:pt x="163332" y="154986"/>
                    <a:pt x="160501" y="155237"/>
                  </a:cubicBezTo>
                  <a:cubicBezTo>
                    <a:pt x="157670" y="155488"/>
                    <a:pt x="155055" y="156854"/>
                    <a:pt x="153231" y="159033"/>
                  </a:cubicBezTo>
                  <a:lnTo>
                    <a:pt x="99653" y="223327"/>
                  </a:lnTo>
                  <a:cubicBezTo>
                    <a:pt x="95865" y="227877"/>
                    <a:pt x="96483" y="234635"/>
                    <a:pt x="101032" y="238423"/>
                  </a:cubicBezTo>
                  <a:cubicBezTo>
                    <a:pt x="105582" y="242210"/>
                    <a:pt x="112341" y="241593"/>
                    <a:pt x="116128" y="237043"/>
                  </a:cubicBezTo>
                  <a:lnTo>
                    <a:pt x="169706" y="172749"/>
                  </a:lnTo>
                  <a:cubicBezTo>
                    <a:pt x="173468" y="168207"/>
                    <a:pt x="172852" y="161477"/>
                    <a:pt x="168327" y="157694"/>
                  </a:cubicBezTo>
                  <a:close/>
                  <a:moveTo>
                    <a:pt x="322203" y="90922"/>
                  </a:moveTo>
                  <a:cubicBezTo>
                    <a:pt x="322205" y="94506"/>
                    <a:pt x="320416" y="97854"/>
                    <a:pt x="317435" y="99843"/>
                  </a:cubicBezTo>
                  <a:lnTo>
                    <a:pt x="290056" y="118086"/>
                  </a:lnTo>
                  <a:lnTo>
                    <a:pt x="290056" y="144500"/>
                  </a:lnTo>
                  <a:cubicBezTo>
                    <a:pt x="289975" y="221402"/>
                    <a:pt x="227654" y="283722"/>
                    <a:pt x="150753" y="283803"/>
                  </a:cubicBezTo>
                  <a:lnTo>
                    <a:pt x="11450" y="283803"/>
                  </a:lnTo>
                  <a:cubicBezTo>
                    <a:pt x="7329" y="283806"/>
                    <a:pt x="3571" y="281445"/>
                    <a:pt x="1786" y="277731"/>
                  </a:cubicBezTo>
                  <a:cubicBezTo>
                    <a:pt x="0" y="274017"/>
                    <a:pt x="503" y="269608"/>
                    <a:pt x="3078" y="266391"/>
                  </a:cubicBezTo>
                  <a:lnTo>
                    <a:pt x="129322" y="108590"/>
                  </a:lnTo>
                  <a:lnTo>
                    <a:pt x="129322" y="85564"/>
                  </a:lnTo>
                  <a:cubicBezTo>
                    <a:pt x="129284" y="45896"/>
                    <a:pt x="158196" y="12134"/>
                    <a:pt x="197397" y="6067"/>
                  </a:cubicBezTo>
                  <a:cubicBezTo>
                    <a:pt x="236599" y="0"/>
                    <a:pt x="274363" y="23443"/>
                    <a:pt x="286319" y="61267"/>
                  </a:cubicBezTo>
                  <a:lnTo>
                    <a:pt x="317435" y="82001"/>
                  </a:lnTo>
                  <a:cubicBezTo>
                    <a:pt x="320416" y="83990"/>
                    <a:pt x="322205" y="87338"/>
                    <a:pt x="322203" y="90922"/>
                  </a:cubicBezTo>
                  <a:close/>
                  <a:moveTo>
                    <a:pt x="292172" y="90922"/>
                  </a:moveTo>
                  <a:lnTo>
                    <a:pt x="271170" y="76911"/>
                  </a:lnTo>
                  <a:cubicBezTo>
                    <a:pt x="268979" y="75454"/>
                    <a:pt x="267401" y="73242"/>
                    <a:pt x="266736" y="70696"/>
                  </a:cubicBezTo>
                  <a:cubicBezTo>
                    <a:pt x="259283" y="41969"/>
                    <a:pt x="231632" y="23265"/>
                    <a:pt x="202195" y="27039"/>
                  </a:cubicBezTo>
                  <a:cubicBezTo>
                    <a:pt x="172758" y="30813"/>
                    <a:pt x="150719" y="55886"/>
                    <a:pt x="150753" y="85564"/>
                  </a:cubicBezTo>
                  <a:lnTo>
                    <a:pt x="150753" y="112353"/>
                  </a:lnTo>
                  <a:cubicBezTo>
                    <a:pt x="150755" y="114787"/>
                    <a:pt x="149928" y="117149"/>
                    <a:pt x="148409" y="119051"/>
                  </a:cubicBezTo>
                  <a:lnTo>
                    <a:pt x="33738" y="262372"/>
                  </a:lnTo>
                  <a:lnTo>
                    <a:pt x="150753" y="262372"/>
                  </a:lnTo>
                  <a:cubicBezTo>
                    <a:pt x="215821" y="262298"/>
                    <a:pt x="268551" y="209569"/>
                    <a:pt x="268625" y="144500"/>
                  </a:cubicBezTo>
                  <a:lnTo>
                    <a:pt x="268625" y="112353"/>
                  </a:lnTo>
                  <a:cubicBezTo>
                    <a:pt x="268623" y="108770"/>
                    <a:pt x="270412" y="105422"/>
                    <a:pt x="273393" y="103433"/>
                  </a:cubicBezTo>
                  <a:close/>
                </a:path>
              </a:pathLst>
            </a:custGeom>
            <a:solidFill>
              <a:srgbClr val="FFFFFF"/>
            </a:solidFill>
            <a:ln>
              <a:noFill/>
            </a:ln>
          </p:spPr>
        </p:sp>
      </p:grpSp>
      <p:grpSp>
        <p:nvGrpSpPr>
          <p:cNvPr id="21" name="Group 21"/>
          <p:cNvGrpSpPr/>
          <p:nvPr/>
        </p:nvGrpSpPr>
        <p:grpSpPr>
          <a:xfrm>
            <a:off x="11124629" y="1936676"/>
            <a:ext cx="250604" cy="220738"/>
            <a:chOff x="11124629" y="1936676"/>
            <a:chExt cx="250604" cy="220738"/>
          </a:xfrm>
        </p:grpSpPr>
        <p:sp>
          <p:nvSpPr>
            <p:cNvPr id="19" name="Freeform 19"/>
            <p:cNvSpPr/>
            <p:nvPr/>
          </p:nvSpPr>
          <p:spPr>
            <a:xfrm>
              <a:off x="11133534" y="1945988"/>
              <a:ext cx="233362" cy="203091"/>
            </a:xfrm>
            <a:custGeom>
              <a:avLst/>
              <a:gdLst/>
              <a:ahLst/>
              <a:cxnLst/>
              <a:rect l="l" t="t" r="r" b="b"/>
              <a:pathLst>
                <a:path w="233362" h="203091">
                  <a:moveTo>
                    <a:pt x="233362" y="61406"/>
                  </a:moveTo>
                  <a:lnTo>
                    <a:pt x="208359" y="78075"/>
                  </a:lnTo>
                  <a:lnTo>
                    <a:pt x="208359" y="103078"/>
                  </a:lnTo>
                  <a:cubicBezTo>
                    <a:pt x="208359" y="158313"/>
                    <a:pt x="163582" y="203091"/>
                    <a:pt x="108347" y="203091"/>
                  </a:cubicBezTo>
                  <a:lnTo>
                    <a:pt x="0" y="203091"/>
                  </a:lnTo>
                  <a:lnTo>
                    <a:pt x="100012" y="78075"/>
                  </a:lnTo>
                  <a:lnTo>
                    <a:pt x="100012" y="57239"/>
                  </a:lnTo>
                  <a:cubicBezTo>
                    <a:pt x="99993" y="29966"/>
                    <a:pt x="120250" y="6931"/>
                    <a:pt x="147302" y="3466"/>
                  </a:cubicBezTo>
                  <a:cubicBezTo>
                    <a:pt x="174353" y="0"/>
                    <a:pt x="199763" y="17184"/>
                    <a:pt x="206620" y="43581"/>
                  </a:cubicBezTo>
                  <a:close/>
                </a:path>
              </a:pathLst>
            </a:custGeom>
            <a:solidFill>
              <a:srgbClr val="FFFFFF">
                <a:alpha val="20000"/>
              </a:srgbClr>
            </a:solidFill>
            <a:ln>
              <a:noFill/>
            </a:ln>
          </p:spPr>
        </p:sp>
        <p:sp>
          <p:nvSpPr>
            <p:cNvPr id="20" name="Freeform 20"/>
            <p:cNvSpPr/>
            <p:nvPr/>
          </p:nvSpPr>
          <p:spPr>
            <a:xfrm>
              <a:off x="11124629" y="1936676"/>
              <a:ext cx="250604" cy="220738"/>
            </a:xfrm>
            <a:custGeom>
              <a:avLst/>
              <a:gdLst/>
              <a:ahLst/>
              <a:cxnLst/>
              <a:rect l="l" t="t" r="r" b="b"/>
              <a:pathLst>
                <a:path w="250604" h="220738">
                  <a:moveTo>
                    <a:pt x="183927" y="58216"/>
                  </a:moveTo>
                  <a:cubicBezTo>
                    <a:pt x="183927" y="65120"/>
                    <a:pt x="178330" y="70717"/>
                    <a:pt x="171426" y="70717"/>
                  </a:cubicBezTo>
                  <a:cubicBezTo>
                    <a:pt x="164521" y="70717"/>
                    <a:pt x="158924" y="65120"/>
                    <a:pt x="158924" y="58216"/>
                  </a:cubicBezTo>
                  <a:cubicBezTo>
                    <a:pt x="158924" y="51311"/>
                    <a:pt x="164521" y="45714"/>
                    <a:pt x="171426" y="45714"/>
                  </a:cubicBezTo>
                  <a:cubicBezTo>
                    <a:pt x="178330" y="45714"/>
                    <a:pt x="183927" y="51311"/>
                    <a:pt x="183927" y="58216"/>
                  </a:cubicBezTo>
                  <a:close/>
                  <a:moveTo>
                    <a:pt x="130921" y="122651"/>
                  </a:moveTo>
                  <a:cubicBezTo>
                    <a:pt x="129226" y="121232"/>
                    <a:pt x="127036" y="120545"/>
                    <a:pt x="124834" y="120740"/>
                  </a:cubicBezTo>
                  <a:cubicBezTo>
                    <a:pt x="122632" y="120935"/>
                    <a:pt x="120598" y="121997"/>
                    <a:pt x="119180" y="123693"/>
                  </a:cubicBezTo>
                  <a:lnTo>
                    <a:pt x="77508" y="173699"/>
                  </a:lnTo>
                  <a:cubicBezTo>
                    <a:pt x="74562" y="177237"/>
                    <a:pt x="75042" y="182494"/>
                    <a:pt x="78581" y="185440"/>
                  </a:cubicBezTo>
                  <a:cubicBezTo>
                    <a:pt x="82119" y="188386"/>
                    <a:pt x="87376" y="187905"/>
                    <a:pt x="90322" y="184367"/>
                  </a:cubicBezTo>
                  <a:lnTo>
                    <a:pt x="131994" y="134361"/>
                  </a:lnTo>
                  <a:cubicBezTo>
                    <a:pt x="134920" y="130827"/>
                    <a:pt x="134440" y="125594"/>
                    <a:pt x="130921" y="122651"/>
                  </a:cubicBezTo>
                  <a:close/>
                  <a:moveTo>
                    <a:pt x="250602" y="70717"/>
                  </a:moveTo>
                  <a:cubicBezTo>
                    <a:pt x="250604" y="73505"/>
                    <a:pt x="249212" y="76109"/>
                    <a:pt x="246894" y="77656"/>
                  </a:cubicBezTo>
                  <a:lnTo>
                    <a:pt x="225599" y="91845"/>
                  </a:lnTo>
                  <a:lnTo>
                    <a:pt x="225599" y="112389"/>
                  </a:lnTo>
                  <a:cubicBezTo>
                    <a:pt x="225536" y="172201"/>
                    <a:pt x="177064" y="220673"/>
                    <a:pt x="117252" y="220736"/>
                  </a:cubicBezTo>
                  <a:lnTo>
                    <a:pt x="8905" y="220736"/>
                  </a:lnTo>
                  <a:cubicBezTo>
                    <a:pt x="5700" y="220738"/>
                    <a:pt x="2778" y="218902"/>
                    <a:pt x="1389" y="216013"/>
                  </a:cubicBezTo>
                  <a:cubicBezTo>
                    <a:pt x="0" y="213124"/>
                    <a:pt x="391" y="209695"/>
                    <a:pt x="2394" y="207193"/>
                  </a:cubicBezTo>
                  <a:lnTo>
                    <a:pt x="100584" y="84459"/>
                  </a:lnTo>
                  <a:lnTo>
                    <a:pt x="100584" y="66550"/>
                  </a:lnTo>
                  <a:cubicBezTo>
                    <a:pt x="100554" y="35697"/>
                    <a:pt x="123041" y="9438"/>
                    <a:pt x="153531" y="4719"/>
                  </a:cubicBezTo>
                  <a:cubicBezTo>
                    <a:pt x="184021" y="0"/>
                    <a:pt x="213394" y="18233"/>
                    <a:pt x="222693" y="47652"/>
                  </a:cubicBezTo>
                  <a:lnTo>
                    <a:pt x="246894" y="63779"/>
                  </a:lnTo>
                  <a:cubicBezTo>
                    <a:pt x="249212" y="65326"/>
                    <a:pt x="250604" y="67930"/>
                    <a:pt x="250602" y="70717"/>
                  </a:cubicBezTo>
                  <a:close/>
                  <a:moveTo>
                    <a:pt x="227245" y="70717"/>
                  </a:moveTo>
                  <a:lnTo>
                    <a:pt x="210910" y="59820"/>
                  </a:lnTo>
                  <a:cubicBezTo>
                    <a:pt x="209206" y="58687"/>
                    <a:pt x="207979" y="56966"/>
                    <a:pt x="207461" y="54986"/>
                  </a:cubicBezTo>
                  <a:cubicBezTo>
                    <a:pt x="201665" y="32643"/>
                    <a:pt x="180159" y="18095"/>
                    <a:pt x="157263" y="21030"/>
                  </a:cubicBezTo>
                  <a:cubicBezTo>
                    <a:pt x="134367" y="23965"/>
                    <a:pt x="117226" y="43467"/>
                    <a:pt x="117252" y="66550"/>
                  </a:cubicBezTo>
                  <a:lnTo>
                    <a:pt x="117252" y="87386"/>
                  </a:lnTo>
                  <a:cubicBezTo>
                    <a:pt x="117254" y="89279"/>
                    <a:pt x="116611" y="91116"/>
                    <a:pt x="115429" y="92595"/>
                  </a:cubicBezTo>
                  <a:lnTo>
                    <a:pt x="26241" y="204067"/>
                  </a:lnTo>
                  <a:lnTo>
                    <a:pt x="117252" y="204067"/>
                  </a:lnTo>
                  <a:cubicBezTo>
                    <a:pt x="167861" y="204010"/>
                    <a:pt x="208873" y="162998"/>
                    <a:pt x="208930" y="112389"/>
                  </a:cubicBezTo>
                  <a:lnTo>
                    <a:pt x="208930" y="87386"/>
                  </a:lnTo>
                  <a:cubicBezTo>
                    <a:pt x="208929" y="84599"/>
                    <a:pt x="210320" y="81995"/>
                    <a:pt x="212639" y="80448"/>
                  </a:cubicBezTo>
                  <a:close/>
                </a:path>
              </a:pathLst>
            </a:custGeom>
            <a:solidFill>
              <a:srgbClr val="FFFFFF"/>
            </a:solidFill>
            <a:ln>
              <a:noFill/>
            </a:ln>
          </p:spPr>
        </p:sp>
      </p:grpSp>
      <p:grpSp>
        <p:nvGrpSpPr>
          <p:cNvPr id="24" name="Group 24"/>
          <p:cNvGrpSpPr/>
          <p:nvPr/>
        </p:nvGrpSpPr>
        <p:grpSpPr>
          <a:xfrm>
            <a:off x="875688" y="4242628"/>
            <a:ext cx="268504" cy="236505"/>
            <a:chOff x="875688" y="4242628"/>
            <a:chExt cx="268504" cy="236505"/>
          </a:xfrm>
        </p:grpSpPr>
        <p:sp>
          <p:nvSpPr>
            <p:cNvPr id="22" name="Freeform 22"/>
            <p:cNvSpPr/>
            <p:nvPr/>
          </p:nvSpPr>
          <p:spPr>
            <a:xfrm>
              <a:off x="885230" y="4252604"/>
              <a:ext cx="250031" cy="217597"/>
            </a:xfrm>
            <a:custGeom>
              <a:avLst/>
              <a:gdLst/>
              <a:ahLst/>
              <a:cxnLst/>
              <a:rect l="l" t="t" r="r" b="b"/>
              <a:pathLst>
                <a:path w="250031" h="217597">
                  <a:moveTo>
                    <a:pt x="250031" y="65792"/>
                  </a:moveTo>
                  <a:lnTo>
                    <a:pt x="223242" y="83652"/>
                  </a:lnTo>
                  <a:lnTo>
                    <a:pt x="223242" y="110441"/>
                  </a:lnTo>
                  <a:cubicBezTo>
                    <a:pt x="223242" y="169622"/>
                    <a:pt x="175267" y="217597"/>
                    <a:pt x="116086" y="217597"/>
                  </a:cubicBezTo>
                  <a:lnTo>
                    <a:pt x="0" y="217597"/>
                  </a:lnTo>
                  <a:lnTo>
                    <a:pt x="107156" y="83652"/>
                  </a:lnTo>
                  <a:lnTo>
                    <a:pt x="107156" y="61328"/>
                  </a:lnTo>
                  <a:cubicBezTo>
                    <a:pt x="107135" y="32107"/>
                    <a:pt x="128840" y="7426"/>
                    <a:pt x="157823" y="3713"/>
                  </a:cubicBezTo>
                  <a:cubicBezTo>
                    <a:pt x="186807" y="0"/>
                    <a:pt x="214032" y="18412"/>
                    <a:pt x="221378" y="46694"/>
                  </a:cubicBezTo>
                  <a:close/>
                </a:path>
              </a:pathLst>
            </a:custGeom>
            <a:solidFill>
              <a:srgbClr val="FFFFFF">
                <a:alpha val="20000"/>
              </a:srgbClr>
            </a:solidFill>
            <a:ln>
              <a:noFill/>
            </a:ln>
          </p:spPr>
        </p:sp>
        <p:sp>
          <p:nvSpPr>
            <p:cNvPr id="23" name="Freeform 23"/>
            <p:cNvSpPr/>
            <p:nvPr/>
          </p:nvSpPr>
          <p:spPr>
            <a:xfrm>
              <a:off x="875688" y="4242628"/>
              <a:ext cx="268504" cy="236505"/>
            </a:xfrm>
            <a:custGeom>
              <a:avLst/>
              <a:gdLst/>
              <a:ahLst/>
              <a:cxnLst/>
              <a:rect l="l" t="t" r="r" b="b"/>
              <a:pathLst>
                <a:path w="268504" h="236505">
                  <a:moveTo>
                    <a:pt x="197065" y="62374"/>
                  </a:moveTo>
                  <a:cubicBezTo>
                    <a:pt x="197065" y="69772"/>
                    <a:pt x="191068" y="75768"/>
                    <a:pt x="183670" y="75768"/>
                  </a:cubicBezTo>
                  <a:cubicBezTo>
                    <a:pt x="176273" y="75768"/>
                    <a:pt x="170276" y="69772"/>
                    <a:pt x="170276" y="62374"/>
                  </a:cubicBezTo>
                  <a:cubicBezTo>
                    <a:pt x="170276" y="54976"/>
                    <a:pt x="176273" y="48979"/>
                    <a:pt x="183670" y="48979"/>
                  </a:cubicBezTo>
                  <a:cubicBezTo>
                    <a:pt x="191068" y="48979"/>
                    <a:pt x="197065" y="54976"/>
                    <a:pt x="197065" y="62374"/>
                  </a:cubicBezTo>
                  <a:close/>
                  <a:moveTo>
                    <a:pt x="140272" y="131412"/>
                  </a:moveTo>
                  <a:cubicBezTo>
                    <a:pt x="138456" y="129891"/>
                    <a:pt x="136110" y="129155"/>
                    <a:pt x="133751" y="129364"/>
                  </a:cubicBezTo>
                  <a:cubicBezTo>
                    <a:pt x="131392" y="129574"/>
                    <a:pt x="129213" y="130712"/>
                    <a:pt x="127692" y="132528"/>
                  </a:cubicBezTo>
                  <a:lnTo>
                    <a:pt x="83044" y="186106"/>
                  </a:lnTo>
                  <a:cubicBezTo>
                    <a:pt x="79888" y="189897"/>
                    <a:pt x="80402" y="195529"/>
                    <a:pt x="84194" y="198686"/>
                  </a:cubicBezTo>
                  <a:cubicBezTo>
                    <a:pt x="87985" y="201842"/>
                    <a:pt x="93617" y="201327"/>
                    <a:pt x="96773" y="197536"/>
                  </a:cubicBezTo>
                  <a:lnTo>
                    <a:pt x="141422" y="143958"/>
                  </a:lnTo>
                  <a:cubicBezTo>
                    <a:pt x="144557" y="140172"/>
                    <a:pt x="144043" y="134564"/>
                    <a:pt x="140272" y="131412"/>
                  </a:cubicBezTo>
                  <a:close/>
                  <a:moveTo>
                    <a:pt x="268502" y="75768"/>
                  </a:moveTo>
                  <a:cubicBezTo>
                    <a:pt x="268504" y="78755"/>
                    <a:pt x="267013" y="81545"/>
                    <a:pt x="264529" y="83202"/>
                  </a:cubicBezTo>
                  <a:lnTo>
                    <a:pt x="241713" y="98405"/>
                  </a:lnTo>
                  <a:lnTo>
                    <a:pt x="241713" y="120417"/>
                  </a:lnTo>
                  <a:cubicBezTo>
                    <a:pt x="241646" y="184501"/>
                    <a:pt x="189712" y="236435"/>
                    <a:pt x="125627" y="236503"/>
                  </a:cubicBezTo>
                  <a:lnTo>
                    <a:pt x="9542" y="236503"/>
                  </a:lnTo>
                  <a:cubicBezTo>
                    <a:pt x="6107" y="236505"/>
                    <a:pt x="2976" y="234537"/>
                    <a:pt x="1488" y="231442"/>
                  </a:cubicBezTo>
                  <a:cubicBezTo>
                    <a:pt x="0" y="228347"/>
                    <a:pt x="419" y="224673"/>
                    <a:pt x="2565" y="221992"/>
                  </a:cubicBezTo>
                  <a:lnTo>
                    <a:pt x="107768" y="90491"/>
                  </a:lnTo>
                  <a:lnTo>
                    <a:pt x="107768" y="71304"/>
                  </a:lnTo>
                  <a:cubicBezTo>
                    <a:pt x="107737" y="38247"/>
                    <a:pt x="131830" y="10112"/>
                    <a:pt x="164498" y="5056"/>
                  </a:cubicBezTo>
                  <a:cubicBezTo>
                    <a:pt x="197166" y="0"/>
                    <a:pt x="228636" y="19536"/>
                    <a:pt x="238599" y="51056"/>
                  </a:cubicBezTo>
                  <a:lnTo>
                    <a:pt x="264529" y="68335"/>
                  </a:lnTo>
                  <a:cubicBezTo>
                    <a:pt x="267013" y="69992"/>
                    <a:pt x="268504" y="72782"/>
                    <a:pt x="268502" y="75768"/>
                  </a:cubicBezTo>
                  <a:close/>
                  <a:moveTo>
                    <a:pt x="243477" y="75768"/>
                  </a:moveTo>
                  <a:lnTo>
                    <a:pt x="225975" y="64093"/>
                  </a:lnTo>
                  <a:cubicBezTo>
                    <a:pt x="224149" y="62879"/>
                    <a:pt x="222834" y="61035"/>
                    <a:pt x="222280" y="58914"/>
                  </a:cubicBezTo>
                  <a:cubicBezTo>
                    <a:pt x="216069" y="34974"/>
                    <a:pt x="193027" y="19388"/>
                    <a:pt x="168496" y="22533"/>
                  </a:cubicBezTo>
                  <a:cubicBezTo>
                    <a:pt x="143965" y="25677"/>
                    <a:pt x="125599" y="46572"/>
                    <a:pt x="125627" y="71304"/>
                  </a:cubicBezTo>
                  <a:lnTo>
                    <a:pt x="125627" y="93628"/>
                  </a:lnTo>
                  <a:cubicBezTo>
                    <a:pt x="125629" y="95656"/>
                    <a:pt x="124940" y="97624"/>
                    <a:pt x="123674" y="99209"/>
                  </a:cubicBezTo>
                  <a:lnTo>
                    <a:pt x="28115" y="218643"/>
                  </a:lnTo>
                  <a:lnTo>
                    <a:pt x="125627" y="218643"/>
                  </a:lnTo>
                  <a:cubicBezTo>
                    <a:pt x="179851" y="218582"/>
                    <a:pt x="223793" y="174640"/>
                    <a:pt x="223854" y="120417"/>
                  </a:cubicBezTo>
                  <a:lnTo>
                    <a:pt x="223854" y="93628"/>
                  </a:lnTo>
                  <a:cubicBezTo>
                    <a:pt x="223852" y="90641"/>
                    <a:pt x="225343" y="87851"/>
                    <a:pt x="227828" y="86194"/>
                  </a:cubicBezTo>
                  <a:close/>
                </a:path>
              </a:pathLst>
            </a:custGeom>
            <a:solidFill>
              <a:srgbClr val="FFFFFF"/>
            </a:solidFill>
            <a:ln>
              <a:noFill/>
            </a:ln>
          </p:spPr>
        </p:sp>
      </p:grpSp>
      <p:grpSp>
        <p:nvGrpSpPr>
          <p:cNvPr id="27" name="Group 27"/>
          <p:cNvGrpSpPr/>
          <p:nvPr/>
        </p:nvGrpSpPr>
        <p:grpSpPr>
          <a:xfrm>
            <a:off x="1314001" y="4486671"/>
            <a:ext cx="196903" cy="173437"/>
            <a:chOff x="1314001" y="4486671"/>
            <a:chExt cx="196903" cy="173437"/>
          </a:xfrm>
        </p:grpSpPr>
        <p:sp>
          <p:nvSpPr>
            <p:cNvPr id="25" name="Freeform 25"/>
            <p:cNvSpPr/>
            <p:nvPr/>
          </p:nvSpPr>
          <p:spPr>
            <a:xfrm>
              <a:off x="1320998" y="4493987"/>
              <a:ext cx="183356" cy="159571"/>
            </a:xfrm>
            <a:custGeom>
              <a:avLst/>
              <a:gdLst/>
              <a:ahLst/>
              <a:cxnLst/>
              <a:rect l="l" t="t" r="r" b="b"/>
              <a:pathLst>
                <a:path w="183356" h="159571">
                  <a:moveTo>
                    <a:pt x="183356" y="48248"/>
                  </a:moveTo>
                  <a:lnTo>
                    <a:pt x="163711" y="61345"/>
                  </a:lnTo>
                  <a:lnTo>
                    <a:pt x="163711" y="80990"/>
                  </a:lnTo>
                  <a:cubicBezTo>
                    <a:pt x="163711" y="124389"/>
                    <a:pt x="128529" y="159571"/>
                    <a:pt x="85130" y="159571"/>
                  </a:cubicBezTo>
                  <a:lnTo>
                    <a:pt x="0" y="159571"/>
                  </a:lnTo>
                  <a:lnTo>
                    <a:pt x="78581" y="61345"/>
                  </a:lnTo>
                  <a:lnTo>
                    <a:pt x="78581" y="44974"/>
                  </a:lnTo>
                  <a:cubicBezTo>
                    <a:pt x="78566" y="23545"/>
                    <a:pt x="94482" y="5446"/>
                    <a:pt x="115737" y="2723"/>
                  </a:cubicBezTo>
                  <a:cubicBezTo>
                    <a:pt x="136992" y="0"/>
                    <a:pt x="156957" y="13502"/>
                    <a:pt x="162344" y="34242"/>
                  </a:cubicBezTo>
                  <a:close/>
                </a:path>
              </a:pathLst>
            </a:custGeom>
            <a:solidFill>
              <a:srgbClr val="FFFFFF">
                <a:alpha val="20000"/>
              </a:srgbClr>
            </a:solidFill>
            <a:ln>
              <a:noFill/>
            </a:ln>
          </p:spPr>
        </p:sp>
        <p:sp>
          <p:nvSpPr>
            <p:cNvPr id="26" name="Freeform 26"/>
            <p:cNvSpPr/>
            <p:nvPr/>
          </p:nvSpPr>
          <p:spPr>
            <a:xfrm>
              <a:off x="1314001" y="4486671"/>
              <a:ext cx="196903" cy="173437"/>
            </a:xfrm>
            <a:custGeom>
              <a:avLst/>
              <a:gdLst/>
              <a:ahLst/>
              <a:cxnLst/>
              <a:rect l="l" t="t" r="r" b="b"/>
              <a:pathLst>
                <a:path w="196903" h="173437">
                  <a:moveTo>
                    <a:pt x="144514" y="45741"/>
                  </a:moveTo>
                  <a:cubicBezTo>
                    <a:pt x="144514" y="51166"/>
                    <a:pt x="140117" y="55564"/>
                    <a:pt x="134692" y="55564"/>
                  </a:cubicBezTo>
                  <a:cubicBezTo>
                    <a:pt x="129267" y="55564"/>
                    <a:pt x="124869" y="51166"/>
                    <a:pt x="124869" y="45741"/>
                  </a:cubicBezTo>
                  <a:cubicBezTo>
                    <a:pt x="124869" y="40316"/>
                    <a:pt x="129267" y="35918"/>
                    <a:pt x="134692" y="35918"/>
                  </a:cubicBezTo>
                  <a:cubicBezTo>
                    <a:pt x="140117" y="35918"/>
                    <a:pt x="144514" y="40316"/>
                    <a:pt x="144514" y="45741"/>
                  </a:cubicBezTo>
                  <a:close/>
                  <a:moveTo>
                    <a:pt x="102866" y="96369"/>
                  </a:moveTo>
                  <a:cubicBezTo>
                    <a:pt x="101534" y="95254"/>
                    <a:pt x="99814" y="94714"/>
                    <a:pt x="98084" y="94867"/>
                  </a:cubicBezTo>
                  <a:cubicBezTo>
                    <a:pt x="96354" y="95021"/>
                    <a:pt x="94756" y="95855"/>
                    <a:pt x="93641" y="97187"/>
                  </a:cubicBezTo>
                  <a:lnTo>
                    <a:pt x="60899" y="136478"/>
                  </a:lnTo>
                  <a:cubicBezTo>
                    <a:pt x="58584" y="139258"/>
                    <a:pt x="58962" y="143388"/>
                    <a:pt x="61742" y="145703"/>
                  </a:cubicBezTo>
                  <a:cubicBezTo>
                    <a:pt x="64522" y="148017"/>
                    <a:pt x="68653" y="147640"/>
                    <a:pt x="70967" y="144860"/>
                  </a:cubicBezTo>
                  <a:lnTo>
                    <a:pt x="103709" y="105569"/>
                  </a:lnTo>
                  <a:cubicBezTo>
                    <a:pt x="106008" y="102793"/>
                    <a:pt x="105632" y="98681"/>
                    <a:pt x="102866" y="96369"/>
                  </a:cubicBezTo>
                  <a:close/>
                  <a:moveTo>
                    <a:pt x="196902" y="55564"/>
                  </a:moveTo>
                  <a:cubicBezTo>
                    <a:pt x="196903" y="57754"/>
                    <a:pt x="195810" y="59800"/>
                    <a:pt x="193988" y="61015"/>
                  </a:cubicBezTo>
                  <a:lnTo>
                    <a:pt x="177256" y="72164"/>
                  </a:lnTo>
                  <a:lnTo>
                    <a:pt x="177256" y="88306"/>
                  </a:lnTo>
                  <a:cubicBezTo>
                    <a:pt x="177207" y="135301"/>
                    <a:pt x="139122" y="173386"/>
                    <a:pt x="92127" y="173435"/>
                  </a:cubicBezTo>
                  <a:lnTo>
                    <a:pt x="6997" y="173435"/>
                  </a:lnTo>
                  <a:cubicBezTo>
                    <a:pt x="4479" y="173437"/>
                    <a:pt x="2182" y="171994"/>
                    <a:pt x="1091" y="169724"/>
                  </a:cubicBezTo>
                  <a:cubicBezTo>
                    <a:pt x="0" y="167455"/>
                    <a:pt x="307" y="164760"/>
                    <a:pt x="1881" y="162794"/>
                  </a:cubicBezTo>
                  <a:lnTo>
                    <a:pt x="79030" y="66360"/>
                  </a:lnTo>
                  <a:lnTo>
                    <a:pt x="79030" y="52289"/>
                  </a:lnTo>
                  <a:cubicBezTo>
                    <a:pt x="79007" y="28048"/>
                    <a:pt x="96675" y="7415"/>
                    <a:pt x="120632" y="3708"/>
                  </a:cubicBezTo>
                  <a:cubicBezTo>
                    <a:pt x="144588" y="0"/>
                    <a:pt x="167666" y="14326"/>
                    <a:pt x="174973" y="37441"/>
                  </a:cubicBezTo>
                  <a:lnTo>
                    <a:pt x="193988" y="50112"/>
                  </a:lnTo>
                  <a:cubicBezTo>
                    <a:pt x="195810" y="51328"/>
                    <a:pt x="196903" y="53373"/>
                    <a:pt x="196902" y="55564"/>
                  </a:cubicBezTo>
                  <a:close/>
                  <a:moveTo>
                    <a:pt x="178550" y="55564"/>
                  </a:moveTo>
                  <a:lnTo>
                    <a:pt x="165715" y="47001"/>
                  </a:lnTo>
                  <a:cubicBezTo>
                    <a:pt x="164376" y="46111"/>
                    <a:pt x="163412" y="44759"/>
                    <a:pt x="163005" y="43203"/>
                  </a:cubicBezTo>
                  <a:cubicBezTo>
                    <a:pt x="158451" y="25648"/>
                    <a:pt x="141553" y="14218"/>
                    <a:pt x="123564" y="16524"/>
                  </a:cubicBezTo>
                  <a:cubicBezTo>
                    <a:pt x="105574" y="18830"/>
                    <a:pt x="92106" y="34153"/>
                    <a:pt x="92127" y="52289"/>
                  </a:cubicBezTo>
                  <a:lnTo>
                    <a:pt x="92127" y="68660"/>
                  </a:lnTo>
                  <a:cubicBezTo>
                    <a:pt x="92128" y="70148"/>
                    <a:pt x="91623" y="71591"/>
                    <a:pt x="90694" y="72753"/>
                  </a:cubicBezTo>
                  <a:lnTo>
                    <a:pt x="20618" y="160339"/>
                  </a:lnTo>
                  <a:lnTo>
                    <a:pt x="92127" y="160339"/>
                  </a:lnTo>
                  <a:cubicBezTo>
                    <a:pt x="131891" y="160293"/>
                    <a:pt x="164115" y="128070"/>
                    <a:pt x="164160" y="88306"/>
                  </a:cubicBezTo>
                  <a:lnTo>
                    <a:pt x="164160" y="68660"/>
                  </a:lnTo>
                  <a:cubicBezTo>
                    <a:pt x="164158" y="66470"/>
                    <a:pt x="165252" y="64424"/>
                    <a:pt x="167074" y="63209"/>
                  </a:cubicBezTo>
                  <a:close/>
                </a:path>
              </a:pathLst>
            </a:custGeom>
            <a:solidFill>
              <a:srgbClr val="FFFFFF"/>
            </a:solidFill>
            <a:ln>
              <a:noFill/>
            </a:ln>
          </p:spPr>
        </p:sp>
      </p:grpSp>
      <p:sp>
        <p:nvSpPr>
          <p:cNvPr id="28" name="TextBox 28"/>
          <p:cNvSpPr txBox="1"/>
          <p:nvPr/>
        </p:nvSpPr>
        <p:spPr>
          <a:xfrm>
            <a:off x="571500" y="2419350"/>
            <a:ext cx="11049000" cy="571500"/>
          </a:xfrm>
          <a:prstGeom prst="rect">
            <a:avLst/>
          </a:prstGeom>
          <a:noFill/>
          <a:ln>
            <a:noFill/>
          </a:ln>
        </p:spPr>
        <p:txBody>
          <a:bodyPr wrap="square" lIns="0" tIns="0" rIns="0" bIns="0" anchor="t" anchorCtr="0">
            <a:normAutofit/>
          </a:bodyPr>
          <a:lstStyle/>
          <a:p>
            <a:pPr algn="ctr"/>
            <a:r>
              <a:rPr lang="zh-CN" sz="3000" b="1" dirty="0">
                <a:solidFill>
                  <a:srgbClr val="FFFFFF"/>
                </a:solidFill>
                <a:latin typeface="Arial"/>
                <a:ea typeface="Microsoft YaHei"/>
                <a:cs typeface="Arial"/>
              </a:rPr>
              <a:t>Disentangling climate signals from survey effort</a:t>
            </a:r>
          </a:p>
        </p:txBody>
      </p:sp>
      <p:sp>
        <p:nvSpPr>
          <p:cNvPr id="29" name="TextBox 29"/>
          <p:cNvSpPr txBox="1"/>
          <p:nvPr/>
        </p:nvSpPr>
        <p:spPr>
          <a:xfrm>
            <a:off x="571500" y="2933700"/>
            <a:ext cx="11049000" cy="571500"/>
          </a:xfrm>
          <a:prstGeom prst="rect">
            <a:avLst/>
          </a:prstGeom>
          <a:noFill/>
          <a:ln>
            <a:noFill/>
          </a:ln>
        </p:spPr>
        <p:txBody>
          <a:bodyPr wrap="square" lIns="0" tIns="0" rIns="0" bIns="0" anchor="t" anchorCtr="0">
            <a:normAutofit/>
          </a:bodyPr>
          <a:lstStyle/>
          <a:p>
            <a:pPr algn="ctr"/>
            <a:r>
              <a:rPr lang="zh-CN" sz="3000" b="1" dirty="0">
                <a:solidFill>
                  <a:srgbClr val="FFFFFF"/>
                </a:solidFill>
                <a:latin typeface="Arial"/>
                <a:ea typeface="Microsoft YaHei"/>
                <a:cs typeface="Arial"/>
              </a:rPr>
              <a:t>in new bird distribution records across China</a:t>
            </a:r>
          </a:p>
        </p:txBody>
      </p:sp>
      <p:sp>
        <p:nvSpPr>
          <p:cNvPr id="30" name="Line 30"/>
          <p:cNvSpPr/>
          <p:nvPr/>
        </p:nvSpPr>
        <p:spPr>
          <a:xfrm>
            <a:off x="1905000" y="3486150"/>
            <a:ext cx="8382000" cy="9525"/>
          </a:xfrm>
          <a:custGeom>
            <a:avLst/>
            <a:gdLst/>
            <a:ahLst/>
            <a:cxnLst/>
            <a:rect l="l" t="t" r="r" b="b"/>
            <a:pathLst>
              <a:path w="8382000" h="9525">
                <a:moveTo>
                  <a:pt x="0" y="0"/>
                </a:moveTo>
                <a:lnTo>
                  <a:pt x="8382000" y="0"/>
                </a:lnTo>
              </a:path>
            </a:pathLst>
          </a:custGeom>
          <a:noFill/>
          <a:ln w="9525">
            <a:solidFill>
              <a:srgbClr val="C46A78"/>
            </a:solidFill>
          </a:ln>
        </p:spPr>
      </p:sp>
      <p:sp>
        <p:nvSpPr>
          <p:cNvPr id="31" name="TextBox 31"/>
          <p:cNvSpPr txBox="1"/>
          <p:nvPr/>
        </p:nvSpPr>
        <p:spPr>
          <a:xfrm>
            <a:off x="571500" y="3725228"/>
            <a:ext cx="11049000" cy="314325"/>
          </a:xfrm>
          <a:prstGeom prst="rect">
            <a:avLst/>
          </a:prstGeom>
          <a:noFill/>
          <a:ln>
            <a:noFill/>
          </a:ln>
        </p:spPr>
        <p:txBody>
          <a:bodyPr wrap="square" lIns="0" tIns="0" rIns="0" bIns="0" anchor="t" anchorCtr="0">
            <a:normAutofit/>
          </a:bodyPr>
          <a:lstStyle/>
          <a:p>
            <a:pPr algn="ctr"/>
            <a:r>
              <a:rPr lang="zh-CN" sz="1650" dirty="0">
                <a:solidFill>
                  <a:srgbClr val="FFFFFF"/>
                </a:solidFill>
                <a:latin typeface="Arial"/>
                <a:ea typeface="Microsoft YaHei"/>
                <a:cs typeface="Arial"/>
              </a:rPr>
              <a:t>Birds or birders? A discrete-time hazard model of first records, 2002–2024</a:t>
            </a:r>
          </a:p>
        </p:txBody>
      </p:sp>
      <p:grpSp>
        <p:nvGrpSpPr>
          <p:cNvPr id="34" name="Group 34"/>
          <p:cNvGrpSpPr/>
          <p:nvPr/>
        </p:nvGrpSpPr>
        <p:grpSpPr>
          <a:xfrm>
            <a:off x="1779404" y="5500530"/>
            <a:ext cx="269342" cy="198170"/>
            <a:chOff x="1779404" y="5500530"/>
            <a:chExt cx="269342" cy="198170"/>
          </a:xfrm>
        </p:grpSpPr>
        <p:sp>
          <p:nvSpPr>
            <p:cNvPr id="32" name="Freeform 32"/>
            <p:cNvSpPr/>
            <p:nvPr/>
          </p:nvSpPr>
          <p:spPr>
            <a:xfrm>
              <a:off x="1807369" y="5510808"/>
              <a:ext cx="214312" cy="142875"/>
            </a:xfrm>
            <a:custGeom>
              <a:avLst/>
              <a:gdLst/>
              <a:ahLst/>
              <a:cxnLst/>
              <a:rect l="l" t="t" r="r" b="b"/>
              <a:pathLst>
                <a:path w="214312" h="142875">
                  <a:moveTo>
                    <a:pt x="151805" y="98227"/>
                  </a:moveTo>
                  <a:cubicBezTo>
                    <a:pt x="151805" y="122885"/>
                    <a:pt x="131815" y="142875"/>
                    <a:pt x="107156" y="142875"/>
                  </a:cubicBezTo>
                  <a:cubicBezTo>
                    <a:pt x="82498" y="142875"/>
                    <a:pt x="62508" y="122885"/>
                    <a:pt x="62508" y="98227"/>
                  </a:cubicBezTo>
                  <a:cubicBezTo>
                    <a:pt x="62508" y="73568"/>
                    <a:pt x="82498" y="53578"/>
                    <a:pt x="107156" y="53578"/>
                  </a:cubicBezTo>
                  <a:cubicBezTo>
                    <a:pt x="131815" y="53578"/>
                    <a:pt x="151805" y="73568"/>
                    <a:pt x="151805" y="98227"/>
                  </a:cubicBezTo>
                  <a:close/>
                  <a:moveTo>
                    <a:pt x="35719" y="0"/>
                  </a:moveTo>
                  <a:cubicBezTo>
                    <a:pt x="15992" y="0"/>
                    <a:pt x="0" y="15992"/>
                    <a:pt x="0" y="35719"/>
                  </a:cubicBezTo>
                  <a:cubicBezTo>
                    <a:pt x="0" y="55446"/>
                    <a:pt x="15992" y="71438"/>
                    <a:pt x="35719" y="71438"/>
                  </a:cubicBezTo>
                  <a:cubicBezTo>
                    <a:pt x="55446" y="71438"/>
                    <a:pt x="71438" y="55446"/>
                    <a:pt x="71438" y="35719"/>
                  </a:cubicBezTo>
                  <a:cubicBezTo>
                    <a:pt x="71438" y="15992"/>
                    <a:pt x="55446" y="0"/>
                    <a:pt x="35719" y="0"/>
                  </a:cubicBezTo>
                  <a:close/>
                  <a:moveTo>
                    <a:pt x="178594" y="0"/>
                  </a:moveTo>
                  <a:cubicBezTo>
                    <a:pt x="158867" y="0"/>
                    <a:pt x="142875" y="15992"/>
                    <a:pt x="142875" y="35719"/>
                  </a:cubicBezTo>
                  <a:cubicBezTo>
                    <a:pt x="142875" y="55446"/>
                    <a:pt x="158867" y="71438"/>
                    <a:pt x="178594" y="71438"/>
                  </a:cubicBezTo>
                  <a:cubicBezTo>
                    <a:pt x="198321" y="71438"/>
                    <a:pt x="214312" y="55446"/>
                    <a:pt x="214312" y="35719"/>
                  </a:cubicBezTo>
                  <a:cubicBezTo>
                    <a:pt x="214312" y="15992"/>
                    <a:pt x="198321" y="0"/>
                    <a:pt x="178594" y="0"/>
                  </a:cubicBezTo>
                  <a:close/>
                </a:path>
              </a:pathLst>
            </a:custGeom>
            <a:solidFill>
              <a:srgbClr val="8B0012">
                <a:alpha val="20000"/>
              </a:srgbClr>
            </a:solidFill>
            <a:ln>
              <a:noFill/>
            </a:ln>
          </p:spPr>
        </p:sp>
        <p:sp>
          <p:nvSpPr>
            <p:cNvPr id="33" name="Freeform 33"/>
            <p:cNvSpPr/>
            <p:nvPr/>
          </p:nvSpPr>
          <p:spPr>
            <a:xfrm>
              <a:off x="1779404" y="5500530"/>
              <a:ext cx="269342" cy="198170"/>
            </a:xfrm>
            <a:custGeom>
              <a:avLst/>
              <a:gdLst/>
              <a:ahLst/>
              <a:cxnLst/>
              <a:rect l="l" t="t" r="r" b="b"/>
              <a:pathLst>
                <a:path w="269342" h="198170">
                  <a:moveTo>
                    <a:pt x="265495" y="115648"/>
                  </a:moveTo>
                  <a:cubicBezTo>
                    <a:pt x="261550" y="118607"/>
                    <a:pt x="255952" y="117807"/>
                    <a:pt x="252993" y="113862"/>
                  </a:cubicBezTo>
                  <a:cubicBezTo>
                    <a:pt x="242078" y="99190"/>
                    <a:pt x="224845" y="90574"/>
                    <a:pt x="206559" y="90645"/>
                  </a:cubicBezTo>
                  <a:cubicBezTo>
                    <a:pt x="201627" y="90645"/>
                    <a:pt x="197629" y="86647"/>
                    <a:pt x="197629" y="81715"/>
                  </a:cubicBezTo>
                  <a:cubicBezTo>
                    <a:pt x="197629" y="76783"/>
                    <a:pt x="201627" y="72785"/>
                    <a:pt x="206559" y="72785"/>
                  </a:cubicBezTo>
                  <a:cubicBezTo>
                    <a:pt x="220480" y="72784"/>
                    <a:pt x="232081" y="62120"/>
                    <a:pt x="233251" y="48248"/>
                  </a:cubicBezTo>
                  <a:cubicBezTo>
                    <a:pt x="234421" y="34377"/>
                    <a:pt x="224772" y="21920"/>
                    <a:pt x="211047" y="19586"/>
                  </a:cubicBezTo>
                  <a:cubicBezTo>
                    <a:pt x="197323" y="17253"/>
                    <a:pt x="184099" y="25820"/>
                    <a:pt x="180618" y="39299"/>
                  </a:cubicBezTo>
                  <a:cubicBezTo>
                    <a:pt x="179385" y="44077"/>
                    <a:pt x="174513" y="46950"/>
                    <a:pt x="169735" y="45717"/>
                  </a:cubicBezTo>
                  <a:cubicBezTo>
                    <a:pt x="164958" y="44484"/>
                    <a:pt x="162084" y="39612"/>
                    <a:pt x="163317" y="34834"/>
                  </a:cubicBezTo>
                  <a:cubicBezTo>
                    <a:pt x="168086" y="16381"/>
                    <a:pt x="184042" y="2990"/>
                    <a:pt x="203043" y="1495"/>
                  </a:cubicBezTo>
                  <a:cubicBezTo>
                    <a:pt x="222043" y="0"/>
                    <a:pt x="239898" y="10731"/>
                    <a:pt x="247494" y="28210"/>
                  </a:cubicBezTo>
                  <a:cubicBezTo>
                    <a:pt x="255090" y="45690"/>
                    <a:pt x="250753" y="66065"/>
                    <a:pt x="236697" y="78936"/>
                  </a:cubicBezTo>
                  <a:cubicBezTo>
                    <a:pt x="248839" y="84193"/>
                    <a:pt x="259394" y="92536"/>
                    <a:pt x="267314" y="103135"/>
                  </a:cubicBezTo>
                  <a:cubicBezTo>
                    <a:pt x="268735" y="105035"/>
                    <a:pt x="269342" y="107421"/>
                    <a:pt x="269001" y="109769"/>
                  </a:cubicBezTo>
                  <a:cubicBezTo>
                    <a:pt x="268659" y="112116"/>
                    <a:pt x="267398" y="114232"/>
                    <a:pt x="265495" y="115648"/>
                  </a:cubicBezTo>
                  <a:close/>
                  <a:moveTo>
                    <a:pt x="205353" y="184406"/>
                  </a:moveTo>
                  <a:cubicBezTo>
                    <a:pt x="207051" y="187174"/>
                    <a:pt x="207112" y="190644"/>
                    <a:pt x="205514" y="193470"/>
                  </a:cubicBezTo>
                  <a:cubicBezTo>
                    <a:pt x="203917" y="196296"/>
                    <a:pt x="200911" y="198032"/>
                    <a:pt x="197665" y="198004"/>
                  </a:cubicBezTo>
                  <a:cubicBezTo>
                    <a:pt x="194419" y="197976"/>
                    <a:pt x="191443" y="196189"/>
                    <a:pt x="189894" y="193336"/>
                  </a:cubicBezTo>
                  <a:cubicBezTo>
                    <a:pt x="178448" y="173962"/>
                    <a:pt x="157619" y="162075"/>
                    <a:pt x="135116" y="162075"/>
                  </a:cubicBezTo>
                  <a:cubicBezTo>
                    <a:pt x="112613" y="162075"/>
                    <a:pt x="91784" y="173962"/>
                    <a:pt x="80338" y="193336"/>
                  </a:cubicBezTo>
                  <a:cubicBezTo>
                    <a:pt x="78817" y="196243"/>
                    <a:pt x="75826" y="198081"/>
                    <a:pt x="72546" y="198126"/>
                  </a:cubicBezTo>
                  <a:cubicBezTo>
                    <a:pt x="69266" y="198170"/>
                    <a:pt x="66226" y="196413"/>
                    <a:pt x="64628" y="193549"/>
                  </a:cubicBezTo>
                  <a:cubicBezTo>
                    <a:pt x="63029" y="190685"/>
                    <a:pt x="63130" y="187175"/>
                    <a:pt x="64890" y="184406"/>
                  </a:cubicBezTo>
                  <a:cubicBezTo>
                    <a:pt x="73547" y="169532"/>
                    <a:pt x="86747" y="157826"/>
                    <a:pt x="102550" y="151009"/>
                  </a:cubicBezTo>
                  <a:cubicBezTo>
                    <a:pt x="84317" y="137049"/>
                    <a:pt x="77008" y="113022"/>
                    <a:pt x="84378" y="91273"/>
                  </a:cubicBezTo>
                  <a:cubicBezTo>
                    <a:pt x="91747" y="69524"/>
                    <a:pt x="112158" y="54890"/>
                    <a:pt x="135121" y="54890"/>
                  </a:cubicBezTo>
                  <a:cubicBezTo>
                    <a:pt x="158085" y="54890"/>
                    <a:pt x="178496" y="69524"/>
                    <a:pt x="185865" y="91273"/>
                  </a:cubicBezTo>
                  <a:cubicBezTo>
                    <a:pt x="193235" y="113022"/>
                    <a:pt x="185926" y="137049"/>
                    <a:pt x="167693" y="151009"/>
                  </a:cubicBezTo>
                  <a:cubicBezTo>
                    <a:pt x="183496" y="157826"/>
                    <a:pt x="196696" y="169532"/>
                    <a:pt x="205353" y="184406"/>
                  </a:cubicBezTo>
                  <a:close/>
                  <a:moveTo>
                    <a:pt x="135121" y="144223"/>
                  </a:moveTo>
                  <a:cubicBezTo>
                    <a:pt x="154848" y="144223"/>
                    <a:pt x="170840" y="128231"/>
                    <a:pt x="170840" y="108504"/>
                  </a:cubicBezTo>
                  <a:cubicBezTo>
                    <a:pt x="170840" y="88777"/>
                    <a:pt x="154848" y="72785"/>
                    <a:pt x="135121" y="72785"/>
                  </a:cubicBezTo>
                  <a:cubicBezTo>
                    <a:pt x="115395" y="72785"/>
                    <a:pt x="99403" y="88777"/>
                    <a:pt x="99403" y="108504"/>
                  </a:cubicBezTo>
                  <a:cubicBezTo>
                    <a:pt x="99403" y="128231"/>
                    <a:pt x="115395" y="144223"/>
                    <a:pt x="135121" y="144223"/>
                  </a:cubicBezTo>
                  <a:close/>
                  <a:moveTo>
                    <a:pt x="72614" y="81715"/>
                  </a:moveTo>
                  <a:cubicBezTo>
                    <a:pt x="72614" y="76783"/>
                    <a:pt x="68616" y="72785"/>
                    <a:pt x="63684" y="72785"/>
                  </a:cubicBezTo>
                  <a:cubicBezTo>
                    <a:pt x="49763" y="72784"/>
                    <a:pt x="38162" y="62120"/>
                    <a:pt x="36992" y="48248"/>
                  </a:cubicBezTo>
                  <a:cubicBezTo>
                    <a:pt x="35822" y="34377"/>
                    <a:pt x="45471" y="21920"/>
                    <a:pt x="59196" y="19586"/>
                  </a:cubicBezTo>
                  <a:cubicBezTo>
                    <a:pt x="72920" y="17253"/>
                    <a:pt x="86144" y="25820"/>
                    <a:pt x="89625" y="39299"/>
                  </a:cubicBezTo>
                  <a:cubicBezTo>
                    <a:pt x="90858" y="44077"/>
                    <a:pt x="95730" y="46950"/>
                    <a:pt x="100508" y="45717"/>
                  </a:cubicBezTo>
                  <a:cubicBezTo>
                    <a:pt x="105285" y="44484"/>
                    <a:pt x="108159" y="39612"/>
                    <a:pt x="106926" y="34834"/>
                  </a:cubicBezTo>
                  <a:cubicBezTo>
                    <a:pt x="102157" y="16381"/>
                    <a:pt x="86201" y="2990"/>
                    <a:pt x="67200" y="1495"/>
                  </a:cubicBezTo>
                  <a:cubicBezTo>
                    <a:pt x="48200" y="0"/>
                    <a:pt x="30345" y="10731"/>
                    <a:pt x="22749" y="28210"/>
                  </a:cubicBezTo>
                  <a:cubicBezTo>
                    <a:pt x="15153" y="45690"/>
                    <a:pt x="19490" y="66065"/>
                    <a:pt x="33546" y="78936"/>
                  </a:cubicBezTo>
                  <a:cubicBezTo>
                    <a:pt x="21416" y="84198"/>
                    <a:pt x="10873" y="92540"/>
                    <a:pt x="2962" y="103135"/>
                  </a:cubicBezTo>
                  <a:cubicBezTo>
                    <a:pt x="0" y="107081"/>
                    <a:pt x="797" y="112680"/>
                    <a:pt x="4742" y="115642"/>
                  </a:cubicBezTo>
                  <a:cubicBezTo>
                    <a:pt x="8688" y="118604"/>
                    <a:pt x="14288" y="117807"/>
                    <a:pt x="17250" y="113862"/>
                  </a:cubicBezTo>
                  <a:cubicBezTo>
                    <a:pt x="28165" y="99190"/>
                    <a:pt x="45398" y="90574"/>
                    <a:pt x="63684" y="90645"/>
                  </a:cubicBezTo>
                  <a:cubicBezTo>
                    <a:pt x="68616" y="90645"/>
                    <a:pt x="72614" y="86647"/>
                    <a:pt x="72614" y="81715"/>
                  </a:cubicBezTo>
                  <a:close/>
                </a:path>
              </a:pathLst>
            </a:custGeom>
            <a:solidFill>
              <a:srgbClr val="8B0012"/>
            </a:solidFill>
            <a:ln>
              <a:noFill/>
            </a:ln>
          </p:spPr>
        </p:sp>
      </p:grpSp>
      <p:sp>
        <p:nvSpPr>
          <p:cNvPr id="35" name="TextBox 35"/>
          <p:cNvSpPr txBox="1"/>
          <p:nvPr/>
        </p:nvSpPr>
        <p:spPr>
          <a:xfrm>
            <a:off x="2133600" y="5505450"/>
            <a:ext cx="7861575" cy="304800"/>
          </a:xfrm>
          <a:prstGeom prst="rect">
            <a:avLst/>
          </a:prstGeom>
          <a:noFill/>
          <a:ln>
            <a:noFill/>
          </a:ln>
        </p:spPr>
        <p:txBody>
          <a:bodyPr wrap="none" lIns="0" tIns="0" rIns="0" bIns="0" anchor="t" anchorCtr="0">
            <a:spAutoFit/>
          </a:bodyPr>
          <a:lstStyle/>
          <a:p>
            <a:pPr algn="l"/>
            <a:r>
              <a:rPr lang="zh-CN" sz="1500" b="1" dirty="0">
                <a:solidFill>
                  <a:srgbClr val="111111"/>
                </a:solidFill>
                <a:latin typeface="Arial"/>
                <a:ea typeface="Microsoft YaHei"/>
                <a:cs typeface="Arial"/>
              </a:rPr>
              <a:t>Chenchen Ding¹, Zhengwang Zhang², Zhigang Jiang³, Zhiheng Wang¹</a:t>
            </a:r>
          </a:p>
        </p:txBody>
      </p:sp>
      <p:sp>
        <p:nvSpPr>
          <p:cNvPr id="36" name="TextBox 36"/>
          <p:cNvSpPr txBox="1"/>
          <p:nvPr/>
        </p:nvSpPr>
        <p:spPr>
          <a:xfrm>
            <a:off x="2138362" y="5831681"/>
            <a:ext cx="8204454"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¹ Peking University ² Beijing Normal University ³ Institute of Zoology, Chinese Academy of Sciences</a:t>
            </a:r>
          </a:p>
        </p:txBody>
      </p:sp>
      <p:grpSp>
        <p:nvGrpSpPr>
          <p:cNvPr id="39" name="Group 39"/>
          <p:cNvGrpSpPr/>
          <p:nvPr/>
        </p:nvGrpSpPr>
        <p:grpSpPr>
          <a:xfrm>
            <a:off x="1802606" y="6206728"/>
            <a:ext cx="185738" cy="201216"/>
            <a:chOff x="1802606" y="6206728"/>
            <a:chExt cx="185738" cy="201216"/>
          </a:xfrm>
        </p:grpSpPr>
        <p:sp>
          <p:nvSpPr>
            <p:cNvPr id="37" name="Freeform 37"/>
            <p:cNvSpPr/>
            <p:nvPr/>
          </p:nvSpPr>
          <p:spPr>
            <a:xfrm>
              <a:off x="1810345" y="6229945"/>
              <a:ext cx="170259" cy="46434"/>
            </a:xfrm>
            <a:custGeom>
              <a:avLst/>
              <a:gdLst/>
              <a:ahLst/>
              <a:cxnLst/>
              <a:rect l="l" t="t" r="r" b="b"/>
              <a:pathLst>
                <a:path w="170259" h="46434">
                  <a:moveTo>
                    <a:pt x="170259" y="7739"/>
                  </a:moveTo>
                  <a:lnTo>
                    <a:pt x="170259" y="46434"/>
                  </a:lnTo>
                  <a:lnTo>
                    <a:pt x="0" y="46434"/>
                  </a:lnTo>
                  <a:lnTo>
                    <a:pt x="0" y="7739"/>
                  </a:lnTo>
                  <a:cubicBezTo>
                    <a:pt x="0" y="3465"/>
                    <a:pt x="3465" y="0"/>
                    <a:pt x="7739" y="0"/>
                  </a:cubicBezTo>
                  <a:lnTo>
                    <a:pt x="162520" y="0"/>
                  </a:lnTo>
                  <a:cubicBezTo>
                    <a:pt x="166794" y="0"/>
                    <a:pt x="170259" y="3465"/>
                    <a:pt x="170259" y="7739"/>
                  </a:cubicBezTo>
                  <a:close/>
                </a:path>
              </a:pathLst>
            </a:custGeom>
            <a:solidFill>
              <a:srgbClr val="8B0012">
                <a:alpha val="20000"/>
              </a:srgbClr>
            </a:solidFill>
            <a:ln>
              <a:noFill/>
            </a:ln>
          </p:spPr>
        </p:sp>
        <p:sp>
          <p:nvSpPr>
            <p:cNvPr id="38" name="Freeform 38"/>
            <p:cNvSpPr/>
            <p:nvPr/>
          </p:nvSpPr>
          <p:spPr>
            <a:xfrm>
              <a:off x="1802606" y="6206728"/>
              <a:ext cx="185738" cy="201216"/>
            </a:xfrm>
            <a:custGeom>
              <a:avLst/>
              <a:gdLst/>
              <a:ahLst/>
              <a:cxnLst/>
              <a:rect l="l" t="t" r="r" b="b"/>
              <a:pathLst>
                <a:path w="185738" h="201216">
                  <a:moveTo>
                    <a:pt x="170259" y="15478"/>
                  </a:moveTo>
                  <a:lnTo>
                    <a:pt x="147042" y="15478"/>
                  </a:lnTo>
                  <a:lnTo>
                    <a:pt x="147042" y="7739"/>
                  </a:lnTo>
                  <a:cubicBezTo>
                    <a:pt x="147042" y="3465"/>
                    <a:pt x="143577" y="0"/>
                    <a:pt x="139303" y="0"/>
                  </a:cubicBezTo>
                  <a:cubicBezTo>
                    <a:pt x="135029" y="0"/>
                    <a:pt x="131564" y="3465"/>
                    <a:pt x="131564" y="7739"/>
                  </a:cubicBezTo>
                  <a:lnTo>
                    <a:pt x="131564" y="15478"/>
                  </a:lnTo>
                  <a:lnTo>
                    <a:pt x="54173" y="15478"/>
                  </a:lnTo>
                  <a:lnTo>
                    <a:pt x="54173" y="7739"/>
                  </a:lnTo>
                  <a:cubicBezTo>
                    <a:pt x="54173" y="3465"/>
                    <a:pt x="50709" y="0"/>
                    <a:pt x="46434" y="0"/>
                  </a:cubicBezTo>
                  <a:cubicBezTo>
                    <a:pt x="42160" y="0"/>
                    <a:pt x="38695" y="3465"/>
                    <a:pt x="38695" y="7739"/>
                  </a:cubicBezTo>
                  <a:lnTo>
                    <a:pt x="38695" y="15478"/>
                  </a:lnTo>
                  <a:lnTo>
                    <a:pt x="15478" y="15478"/>
                  </a:lnTo>
                  <a:cubicBezTo>
                    <a:pt x="6930" y="15478"/>
                    <a:pt x="0" y="22408"/>
                    <a:pt x="0" y="30956"/>
                  </a:cubicBezTo>
                  <a:lnTo>
                    <a:pt x="0" y="185738"/>
                  </a:lnTo>
                  <a:cubicBezTo>
                    <a:pt x="0" y="194286"/>
                    <a:pt x="6930" y="201216"/>
                    <a:pt x="15478" y="201216"/>
                  </a:cubicBezTo>
                  <a:lnTo>
                    <a:pt x="170259" y="201216"/>
                  </a:lnTo>
                  <a:cubicBezTo>
                    <a:pt x="178808" y="201216"/>
                    <a:pt x="185738" y="194286"/>
                    <a:pt x="185738" y="185738"/>
                  </a:cubicBezTo>
                  <a:lnTo>
                    <a:pt x="185738" y="30956"/>
                  </a:lnTo>
                  <a:cubicBezTo>
                    <a:pt x="185738" y="22408"/>
                    <a:pt x="178808" y="15478"/>
                    <a:pt x="170259" y="15478"/>
                  </a:cubicBezTo>
                  <a:close/>
                  <a:moveTo>
                    <a:pt x="38695" y="30956"/>
                  </a:moveTo>
                  <a:lnTo>
                    <a:pt x="38695" y="38695"/>
                  </a:lnTo>
                  <a:cubicBezTo>
                    <a:pt x="38695" y="42969"/>
                    <a:pt x="42160" y="46434"/>
                    <a:pt x="46434" y="46434"/>
                  </a:cubicBezTo>
                  <a:cubicBezTo>
                    <a:pt x="50709" y="46434"/>
                    <a:pt x="54173" y="42969"/>
                    <a:pt x="54173" y="38695"/>
                  </a:cubicBezTo>
                  <a:lnTo>
                    <a:pt x="54173" y="30956"/>
                  </a:lnTo>
                  <a:lnTo>
                    <a:pt x="131564" y="30956"/>
                  </a:lnTo>
                  <a:lnTo>
                    <a:pt x="131564" y="38695"/>
                  </a:lnTo>
                  <a:cubicBezTo>
                    <a:pt x="131564" y="42969"/>
                    <a:pt x="135029" y="46434"/>
                    <a:pt x="139303" y="46434"/>
                  </a:cubicBezTo>
                  <a:cubicBezTo>
                    <a:pt x="143577" y="46434"/>
                    <a:pt x="147042" y="42969"/>
                    <a:pt x="147042" y="38695"/>
                  </a:cubicBezTo>
                  <a:lnTo>
                    <a:pt x="147042" y="30956"/>
                  </a:lnTo>
                  <a:lnTo>
                    <a:pt x="170259" y="30956"/>
                  </a:lnTo>
                  <a:lnTo>
                    <a:pt x="170259" y="61912"/>
                  </a:lnTo>
                  <a:lnTo>
                    <a:pt x="15478" y="61912"/>
                  </a:lnTo>
                  <a:lnTo>
                    <a:pt x="15478" y="30956"/>
                  </a:lnTo>
                  <a:close/>
                  <a:moveTo>
                    <a:pt x="170259" y="185738"/>
                  </a:moveTo>
                  <a:lnTo>
                    <a:pt x="15478" y="185738"/>
                  </a:lnTo>
                  <a:lnTo>
                    <a:pt x="15478" y="77391"/>
                  </a:lnTo>
                  <a:lnTo>
                    <a:pt x="170259" y="77391"/>
                  </a:lnTo>
                  <a:lnTo>
                    <a:pt x="170259" y="185738"/>
                  </a:lnTo>
                  <a:close/>
                </a:path>
              </a:pathLst>
            </a:custGeom>
            <a:solidFill>
              <a:srgbClr val="8B0012"/>
            </a:solidFill>
            <a:ln>
              <a:noFill/>
            </a:ln>
          </p:spPr>
        </p:sp>
      </p:grpSp>
      <p:sp>
        <p:nvSpPr>
          <p:cNvPr id="40" name="TextBox 40"/>
          <p:cNvSpPr txBox="1"/>
          <p:nvPr/>
        </p:nvSpPr>
        <p:spPr>
          <a:xfrm>
            <a:off x="2138362" y="6260306"/>
            <a:ext cx="7762470"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3rd Asian Ornithological Conference · National University of Singapore · 14–17 November 2026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Rectangle 6"/>
          <p:cNvSpPr/>
          <p:nvPr/>
        </p:nvSpPr>
        <p:spPr>
          <a:xfrm>
            <a:off x="914400" y="0"/>
            <a:ext cx="1866900" cy="609600"/>
          </a:xfrm>
          <a:prstGeom prst="rect">
            <a:avLst/>
          </a:prstGeom>
          <a:solidFill>
            <a:srgbClr val="FFFFFF"/>
          </a:solidFill>
          <a:ln>
            <a:noFill/>
          </a:ln>
        </p:spPr>
      </p:sp>
      <p:sp>
        <p:nvSpPr>
          <p:cNvPr id="7" name="TextBox 7"/>
          <p:cNvSpPr txBox="1"/>
          <p:nvPr/>
        </p:nvSpPr>
        <p:spPr>
          <a:xfrm>
            <a:off x="9525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Background</a:t>
            </a:r>
          </a:p>
        </p:txBody>
      </p:sp>
      <p:sp>
        <p:nvSpPr>
          <p:cNvPr id="8" name="TextBox 8"/>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9" name="TextBox 9"/>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10" name="TextBox 10"/>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1" name="TextBox 11"/>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673162"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Background</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6261583"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A new record is the last link in a chain of three events</a:t>
            </a:r>
          </a:p>
        </p:txBody>
      </p:sp>
      <p:sp>
        <p:nvSpPr>
          <p:cNvPr id="17" name="Rectangle 17"/>
          <p:cNvSpPr/>
          <p:nvPr/>
        </p:nvSpPr>
        <p:spPr>
          <a:xfrm>
            <a:off x="514350" y="1390650"/>
            <a:ext cx="11163300" cy="697230"/>
          </a:xfrm>
          <a:prstGeom prst="roundRect">
            <a:avLst>
              <a:gd name="adj" fmla="val 10929"/>
            </a:avLst>
          </a:prstGeom>
          <a:solidFill>
            <a:srgbClr val="8B0012"/>
          </a:solidFill>
          <a:ln>
            <a:noFill/>
          </a:ln>
        </p:spPr>
      </p:sp>
      <p:sp>
        <p:nvSpPr>
          <p:cNvPr id="18" name="TextBox 18"/>
          <p:cNvSpPr txBox="1"/>
          <p:nvPr/>
        </p:nvSpPr>
        <p:spPr>
          <a:xfrm>
            <a:off x="609600" y="1498282"/>
            <a:ext cx="10972800" cy="271462"/>
          </a:xfrm>
          <a:prstGeom prst="rect">
            <a:avLst/>
          </a:prstGeom>
          <a:noFill/>
          <a:ln>
            <a:noFill/>
          </a:ln>
        </p:spPr>
        <p:txBody>
          <a:bodyPr wrap="square" lIns="0" tIns="0" rIns="0" bIns="0" anchor="t" anchorCtr="0">
            <a:normAutofit/>
          </a:bodyPr>
          <a:lstStyle/>
          <a:p>
            <a:pPr algn="ctr"/>
            <a:r>
              <a:rPr lang="zh-CN" sz="1425" b="1" dirty="0">
                <a:solidFill>
                  <a:srgbClr val="FFFFFF"/>
                </a:solidFill>
                <a:latin typeface="Arial"/>
                <a:ea typeface="Microsoft YaHei"/>
                <a:cs typeface="Arial"/>
              </a:rPr>
              <a:t>New distribution record: the first documented occurrence of a species</a:t>
            </a:r>
          </a:p>
        </p:txBody>
      </p:sp>
      <p:sp>
        <p:nvSpPr>
          <p:cNvPr id="19" name="TextBox 19"/>
          <p:cNvSpPr txBox="1"/>
          <p:nvPr/>
        </p:nvSpPr>
        <p:spPr>
          <a:xfrm>
            <a:off x="609600" y="1751648"/>
            <a:ext cx="10972800" cy="271462"/>
          </a:xfrm>
          <a:prstGeom prst="rect">
            <a:avLst/>
          </a:prstGeom>
          <a:noFill/>
          <a:ln>
            <a:noFill/>
          </a:ln>
        </p:spPr>
        <p:txBody>
          <a:bodyPr wrap="square" lIns="0" tIns="0" rIns="0" bIns="0" anchor="t" anchorCtr="0">
            <a:normAutofit/>
          </a:bodyPr>
          <a:lstStyle/>
          <a:p>
            <a:pPr algn="ctr"/>
            <a:r>
              <a:rPr lang="zh-CN" sz="1425" b="1" dirty="0">
                <a:solidFill>
                  <a:srgbClr val="FFFFFF"/>
                </a:solidFill>
                <a:latin typeface="Arial"/>
                <a:ea typeface="Microsoft YaHei"/>
                <a:cs typeface="Arial"/>
              </a:rPr>
              <a:t>in a province where it had not been recorded before</a:t>
            </a:r>
          </a:p>
        </p:txBody>
      </p:sp>
      <p:sp>
        <p:nvSpPr>
          <p:cNvPr id="20" name="Rectangle 20"/>
          <p:cNvSpPr/>
          <p:nvPr/>
        </p:nvSpPr>
        <p:spPr>
          <a:xfrm>
            <a:off x="514350" y="2335530"/>
            <a:ext cx="2705100" cy="2495550"/>
          </a:xfrm>
          <a:prstGeom prst="roundRect">
            <a:avLst>
              <a:gd name="adj" fmla="val 3817"/>
            </a:avLst>
          </a:prstGeom>
          <a:solidFill>
            <a:srgbClr val="FFFFFF"/>
          </a:solidFill>
          <a:ln>
            <a:noFill/>
          </a:ln>
        </p:spPr>
      </p:sp>
      <p:sp>
        <p:nvSpPr>
          <p:cNvPr id="21" name="Rectangle 21"/>
          <p:cNvSpPr/>
          <p:nvPr/>
        </p:nvSpPr>
        <p:spPr>
          <a:xfrm>
            <a:off x="514350" y="2335530"/>
            <a:ext cx="2705100" cy="419100"/>
          </a:xfrm>
          <a:prstGeom prst="roundRect">
            <a:avLst>
              <a:gd name="adj" fmla="val 22727"/>
            </a:avLst>
          </a:prstGeom>
          <a:solidFill>
            <a:srgbClr val="F9EBE6"/>
          </a:solidFill>
          <a:ln>
            <a:noFill/>
          </a:ln>
        </p:spPr>
      </p:sp>
      <p:sp>
        <p:nvSpPr>
          <p:cNvPr id="22" name="Rectangle 22"/>
          <p:cNvSpPr/>
          <p:nvPr/>
        </p:nvSpPr>
        <p:spPr>
          <a:xfrm>
            <a:off x="514350" y="2621280"/>
            <a:ext cx="2705100" cy="133350"/>
          </a:xfrm>
          <a:prstGeom prst="rect">
            <a:avLst/>
          </a:prstGeom>
          <a:solidFill>
            <a:srgbClr val="F9EBE6"/>
          </a:solidFill>
          <a:ln>
            <a:noFill/>
          </a:ln>
        </p:spPr>
      </p:sp>
      <p:sp>
        <p:nvSpPr>
          <p:cNvPr id="23" name="Rectangle 23"/>
          <p:cNvSpPr/>
          <p:nvPr/>
        </p:nvSpPr>
        <p:spPr>
          <a:xfrm>
            <a:off x="514350" y="2335530"/>
            <a:ext cx="2705100" cy="2495550"/>
          </a:xfrm>
          <a:prstGeom prst="roundRect">
            <a:avLst>
              <a:gd name="adj" fmla="val 3817"/>
            </a:avLst>
          </a:prstGeom>
          <a:noFill/>
          <a:ln w="17145">
            <a:solidFill>
              <a:srgbClr val="D1552C"/>
            </a:solidFill>
          </a:ln>
        </p:spPr>
      </p:sp>
      <p:sp>
        <p:nvSpPr>
          <p:cNvPr id="24" name="Ellipse 24"/>
          <p:cNvSpPr/>
          <p:nvPr/>
        </p:nvSpPr>
        <p:spPr>
          <a:xfrm>
            <a:off x="666750" y="2411730"/>
            <a:ext cx="266700" cy="266700"/>
          </a:xfrm>
          <a:prstGeom prst="ellipse">
            <a:avLst/>
          </a:prstGeom>
          <a:solidFill>
            <a:srgbClr val="D1552C"/>
          </a:solidFill>
          <a:ln>
            <a:noFill/>
          </a:ln>
        </p:spPr>
      </p:sp>
      <p:sp>
        <p:nvSpPr>
          <p:cNvPr id="25" name="TextBox 25"/>
          <p:cNvSpPr txBox="1"/>
          <p:nvPr/>
        </p:nvSpPr>
        <p:spPr>
          <a:xfrm>
            <a:off x="685800" y="2457450"/>
            <a:ext cx="228600" cy="228600"/>
          </a:xfrm>
          <a:prstGeom prst="rect">
            <a:avLst/>
          </a:prstGeom>
          <a:noFill/>
          <a:ln>
            <a:noFill/>
          </a:ln>
        </p:spPr>
        <p:txBody>
          <a:bodyPr wrap="square" lIns="0" tIns="0" rIns="0" bIns="0" anchor="t" anchorCtr="0">
            <a:normAutofit/>
          </a:bodyPr>
          <a:lstStyle/>
          <a:p>
            <a:pPr algn="ctr"/>
            <a:r>
              <a:rPr lang="zh-CN" sz="1200" b="1" dirty="0">
                <a:solidFill>
                  <a:srgbClr val="FFFFFF"/>
                </a:solidFill>
                <a:latin typeface="Arial"/>
                <a:ea typeface="Microsoft YaHei"/>
                <a:cs typeface="Arial"/>
              </a:rPr>
              <a:t>1</a:t>
            </a:r>
          </a:p>
        </p:txBody>
      </p:sp>
      <p:sp>
        <p:nvSpPr>
          <p:cNvPr id="26" name="TextBox 26"/>
          <p:cNvSpPr txBox="1"/>
          <p:nvPr/>
        </p:nvSpPr>
        <p:spPr>
          <a:xfrm>
            <a:off x="1010602" y="2457926"/>
            <a:ext cx="1854009" cy="289560"/>
          </a:xfrm>
          <a:prstGeom prst="rect">
            <a:avLst/>
          </a:prstGeom>
          <a:noFill/>
          <a:ln>
            <a:noFill/>
          </a:ln>
        </p:spPr>
        <p:txBody>
          <a:bodyPr wrap="none" lIns="0" tIns="0" rIns="0" bIns="0" anchor="t" anchorCtr="0">
            <a:spAutoFit/>
          </a:bodyPr>
          <a:lstStyle/>
          <a:p>
            <a:pPr algn="l"/>
            <a:r>
              <a:rPr lang="zh-CN" sz="1425" b="1" dirty="0">
                <a:solidFill>
                  <a:srgbClr val="D1552C"/>
                </a:solidFill>
                <a:latin typeface="Arial"/>
                <a:ea typeface="Microsoft YaHei"/>
                <a:cs typeface="Arial"/>
              </a:rPr>
              <a:t>The bird is there</a:t>
            </a:r>
          </a:p>
        </p:txBody>
      </p:sp>
      <p:grpSp>
        <p:nvGrpSpPr>
          <p:cNvPr id="29" name="Group 29"/>
          <p:cNvGrpSpPr/>
          <p:nvPr/>
        </p:nvGrpSpPr>
        <p:grpSpPr>
          <a:xfrm>
            <a:off x="703871" y="2928675"/>
            <a:ext cx="429607" cy="378408"/>
            <a:chOff x="703871" y="2928675"/>
            <a:chExt cx="429607" cy="378408"/>
          </a:xfrm>
        </p:grpSpPr>
        <p:sp>
          <p:nvSpPr>
            <p:cNvPr id="27" name="Freeform 27"/>
            <p:cNvSpPr/>
            <p:nvPr/>
          </p:nvSpPr>
          <p:spPr>
            <a:xfrm>
              <a:off x="719138" y="2944637"/>
              <a:ext cx="400050" cy="348155"/>
            </a:xfrm>
            <a:custGeom>
              <a:avLst/>
              <a:gdLst/>
              <a:ahLst/>
              <a:cxnLst/>
              <a:rect l="l" t="t" r="r" b="b"/>
              <a:pathLst>
                <a:path w="400050" h="348155">
                  <a:moveTo>
                    <a:pt x="400050" y="105268"/>
                  </a:moveTo>
                  <a:lnTo>
                    <a:pt x="357188" y="133843"/>
                  </a:lnTo>
                  <a:lnTo>
                    <a:pt x="357188" y="176705"/>
                  </a:lnTo>
                  <a:cubicBezTo>
                    <a:pt x="357188" y="271395"/>
                    <a:pt x="280427" y="348155"/>
                    <a:pt x="185738" y="348155"/>
                  </a:cubicBezTo>
                  <a:lnTo>
                    <a:pt x="0" y="348155"/>
                  </a:lnTo>
                  <a:lnTo>
                    <a:pt x="171450" y="133843"/>
                  </a:lnTo>
                  <a:lnTo>
                    <a:pt x="171450" y="98124"/>
                  </a:lnTo>
                  <a:cubicBezTo>
                    <a:pt x="171416" y="51371"/>
                    <a:pt x="206143" y="11882"/>
                    <a:pt x="252517" y="5941"/>
                  </a:cubicBezTo>
                  <a:cubicBezTo>
                    <a:pt x="298891" y="0"/>
                    <a:pt x="342452" y="29459"/>
                    <a:pt x="354205" y="74710"/>
                  </a:cubicBezTo>
                  <a:close/>
                </a:path>
              </a:pathLst>
            </a:custGeom>
            <a:solidFill>
              <a:srgbClr val="A86A00">
                <a:alpha val="20000"/>
              </a:srgbClr>
            </a:solidFill>
            <a:ln>
              <a:noFill/>
            </a:ln>
          </p:spPr>
        </p:sp>
        <p:sp>
          <p:nvSpPr>
            <p:cNvPr id="28" name="Freeform 28"/>
            <p:cNvSpPr/>
            <p:nvPr/>
          </p:nvSpPr>
          <p:spPr>
            <a:xfrm>
              <a:off x="703871" y="2928675"/>
              <a:ext cx="429607" cy="378408"/>
            </a:xfrm>
            <a:custGeom>
              <a:avLst/>
              <a:gdLst/>
              <a:ahLst/>
              <a:cxnLst/>
              <a:rect l="l" t="t" r="r" b="b"/>
              <a:pathLst>
                <a:path w="429607" h="378408">
                  <a:moveTo>
                    <a:pt x="315304" y="99798"/>
                  </a:moveTo>
                  <a:cubicBezTo>
                    <a:pt x="315304" y="111634"/>
                    <a:pt x="305709" y="121230"/>
                    <a:pt x="293873" y="121230"/>
                  </a:cubicBezTo>
                  <a:cubicBezTo>
                    <a:pt x="282037" y="121230"/>
                    <a:pt x="272441" y="111634"/>
                    <a:pt x="272441" y="99798"/>
                  </a:cubicBezTo>
                  <a:cubicBezTo>
                    <a:pt x="272441" y="87962"/>
                    <a:pt x="282037" y="78367"/>
                    <a:pt x="293873" y="78367"/>
                  </a:cubicBezTo>
                  <a:cubicBezTo>
                    <a:pt x="305709" y="78367"/>
                    <a:pt x="315304" y="87962"/>
                    <a:pt x="315304" y="99798"/>
                  </a:cubicBezTo>
                  <a:close/>
                  <a:moveTo>
                    <a:pt x="224435" y="210259"/>
                  </a:moveTo>
                  <a:cubicBezTo>
                    <a:pt x="221530" y="207826"/>
                    <a:pt x="217776" y="206648"/>
                    <a:pt x="214002" y="206983"/>
                  </a:cubicBezTo>
                  <a:cubicBezTo>
                    <a:pt x="210227" y="207318"/>
                    <a:pt x="206740" y="209138"/>
                    <a:pt x="204308" y="212044"/>
                  </a:cubicBezTo>
                  <a:lnTo>
                    <a:pt x="132870" y="297769"/>
                  </a:lnTo>
                  <a:cubicBezTo>
                    <a:pt x="127820" y="303836"/>
                    <a:pt x="128644" y="312847"/>
                    <a:pt x="134710" y="317897"/>
                  </a:cubicBezTo>
                  <a:cubicBezTo>
                    <a:pt x="140776" y="322947"/>
                    <a:pt x="149787" y="322124"/>
                    <a:pt x="154837" y="316057"/>
                  </a:cubicBezTo>
                  <a:lnTo>
                    <a:pt x="226275" y="230332"/>
                  </a:lnTo>
                  <a:cubicBezTo>
                    <a:pt x="231291" y="224275"/>
                    <a:pt x="230469" y="215303"/>
                    <a:pt x="224435" y="210259"/>
                  </a:cubicBezTo>
                  <a:close/>
                  <a:moveTo>
                    <a:pt x="429604" y="121230"/>
                  </a:moveTo>
                  <a:cubicBezTo>
                    <a:pt x="429607" y="126008"/>
                    <a:pt x="427221" y="130472"/>
                    <a:pt x="423246" y="133124"/>
                  </a:cubicBezTo>
                  <a:lnTo>
                    <a:pt x="386741" y="157448"/>
                  </a:lnTo>
                  <a:lnTo>
                    <a:pt x="386741" y="192667"/>
                  </a:lnTo>
                  <a:cubicBezTo>
                    <a:pt x="386633" y="295202"/>
                    <a:pt x="303539" y="378296"/>
                    <a:pt x="201004" y="378405"/>
                  </a:cubicBezTo>
                  <a:lnTo>
                    <a:pt x="15266" y="378405"/>
                  </a:lnTo>
                  <a:cubicBezTo>
                    <a:pt x="9772" y="378408"/>
                    <a:pt x="4762" y="375260"/>
                    <a:pt x="2381" y="370308"/>
                  </a:cubicBezTo>
                  <a:cubicBezTo>
                    <a:pt x="0" y="365356"/>
                    <a:pt x="670" y="359477"/>
                    <a:pt x="4104" y="355187"/>
                  </a:cubicBezTo>
                  <a:lnTo>
                    <a:pt x="172429" y="144786"/>
                  </a:lnTo>
                  <a:lnTo>
                    <a:pt x="172429" y="114086"/>
                  </a:lnTo>
                  <a:cubicBezTo>
                    <a:pt x="172379" y="61195"/>
                    <a:pt x="210927" y="16179"/>
                    <a:pt x="263196" y="8089"/>
                  </a:cubicBezTo>
                  <a:cubicBezTo>
                    <a:pt x="315465" y="0"/>
                    <a:pt x="365818" y="31257"/>
                    <a:pt x="381759" y="81689"/>
                  </a:cubicBezTo>
                  <a:lnTo>
                    <a:pt x="423246" y="109335"/>
                  </a:lnTo>
                  <a:cubicBezTo>
                    <a:pt x="427221" y="111987"/>
                    <a:pt x="429607" y="116451"/>
                    <a:pt x="429604" y="121230"/>
                  </a:cubicBezTo>
                  <a:close/>
                  <a:moveTo>
                    <a:pt x="389563" y="121230"/>
                  </a:moveTo>
                  <a:lnTo>
                    <a:pt x="361560" y="102549"/>
                  </a:lnTo>
                  <a:cubicBezTo>
                    <a:pt x="358639" y="100606"/>
                    <a:pt x="356535" y="97656"/>
                    <a:pt x="355648" y="94262"/>
                  </a:cubicBezTo>
                  <a:cubicBezTo>
                    <a:pt x="345711" y="55959"/>
                    <a:pt x="308843" y="31021"/>
                    <a:pt x="269594" y="36052"/>
                  </a:cubicBezTo>
                  <a:cubicBezTo>
                    <a:pt x="230344" y="41083"/>
                    <a:pt x="200958" y="74515"/>
                    <a:pt x="201004" y="114086"/>
                  </a:cubicBezTo>
                  <a:lnTo>
                    <a:pt x="201004" y="149805"/>
                  </a:lnTo>
                  <a:cubicBezTo>
                    <a:pt x="201006" y="153050"/>
                    <a:pt x="199904" y="156199"/>
                    <a:pt x="197879" y="158734"/>
                  </a:cubicBezTo>
                  <a:lnTo>
                    <a:pt x="44984" y="349830"/>
                  </a:lnTo>
                  <a:lnTo>
                    <a:pt x="201004" y="349830"/>
                  </a:lnTo>
                  <a:cubicBezTo>
                    <a:pt x="287762" y="349731"/>
                    <a:pt x="358068" y="279425"/>
                    <a:pt x="358166" y="192667"/>
                  </a:cubicBezTo>
                  <a:lnTo>
                    <a:pt x="358166" y="149805"/>
                  </a:lnTo>
                  <a:cubicBezTo>
                    <a:pt x="358163" y="145026"/>
                    <a:pt x="360549" y="140562"/>
                    <a:pt x="364524" y="137910"/>
                  </a:cubicBezTo>
                  <a:close/>
                </a:path>
              </a:pathLst>
            </a:custGeom>
            <a:solidFill>
              <a:srgbClr val="A86A00"/>
            </a:solidFill>
            <a:ln>
              <a:noFill/>
            </a:ln>
          </p:spPr>
        </p:sp>
      </p:grpSp>
      <p:grpSp>
        <p:nvGrpSpPr>
          <p:cNvPr id="32" name="Group 32"/>
          <p:cNvGrpSpPr/>
          <p:nvPr/>
        </p:nvGrpSpPr>
        <p:grpSpPr>
          <a:xfrm>
            <a:off x="1345512" y="2921318"/>
            <a:ext cx="356089" cy="437552"/>
            <a:chOff x="1345512" y="2921318"/>
            <a:chExt cx="356089" cy="437552"/>
          </a:xfrm>
        </p:grpSpPr>
        <p:sp>
          <p:nvSpPr>
            <p:cNvPr id="30" name="Freeform 30"/>
            <p:cNvSpPr/>
            <p:nvPr/>
          </p:nvSpPr>
          <p:spPr>
            <a:xfrm>
              <a:off x="1363104" y="2935605"/>
              <a:ext cx="217017" cy="399972"/>
            </a:xfrm>
            <a:custGeom>
              <a:avLst/>
              <a:gdLst/>
              <a:ahLst/>
              <a:cxnLst/>
              <a:rect l="l" t="t" r="r" b="b"/>
              <a:pathLst>
                <a:path w="217017" h="399972">
                  <a:moveTo>
                    <a:pt x="165659" y="217884"/>
                  </a:moveTo>
                  <a:lnTo>
                    <a:pt x="165659" y="57150"/>
                  </a:lnTo>
                  <a:cubicBezTo>
                    <a:pt x="165659" y="25587"/>
                    <a:pt x="140072" y="0"/>
                    <a:pt x="108509" y="0"/>
                  </a:cubicBezTo>
                  <a:cubicBezTo>
                    <a:pt x="76946" y="0"/>
                    <a:pt x="51359" y="25587"/>
                    <a:pt x="51359" y="57150"/>
                  </a:cubicBezTo>
                  <a:lnTo>
                    <a:pt x="51359" y="217884"/>
                  </a:lnTo>
                  <a:cubicBezTo>
                    <a:pt x="15498" y="242855"/>
                    <a:pt x="0" y="288216"/>
                    <a:pt x="13086" y="329909"/>
                  </a:cubicBezTo>
                  <a:cubicBezTo>
                    <a:pt x="26171" y="371602"/>
                    <a:pt x="64810" y="399972"/>
                    <a:pt x="108509" y="399972"/>
                  </a:cubicBezTo>
                  <a:cubicBezTo>
                    <a:pt x="152207" y="399972"/>
                    <a:pt x="190846" y="371602"/>
                    <a:pt x="203932" y="329909"/>
                  </a:cubicBezTo>
                  <a:cubicBezTo>
                    <a:pt x="217017" y="288216"/>
                    <a:pt x="201520" y="242855"/>
                    <a:pt x="165659" y="217884"/>
                  </a:cubicBezTo>
                  <a:close/>
                  <a:moveTo>
                    <a:pt x="108509" y="342900"/>
                  </a:moveTo>
                  <a:cubicBezTo>
                    <a:pt x="84836" y="342900"/>
                    <a:pt x="65646" y="323710"/>
                    <a:pt x="65646" y="300038"/>
                  </a:cubicBezTo>
                  <a:cubicBezTo>
                    <a:pt x="65646" y="276365"/>
                    <a:pt x="84836" y="257175"/>
                    <a:pt x="108509" y="257175"/>
                  </a:cubicBezTo>
                  <a:cubicBezTo>
                    <a:pt x="132181" y="257175"/>
                    <a:pt x="151371" y="276365"/>
                    <a:pt x="151371" y="300038"/>
                  </a:cubicBezTo>
                  <a:cubicBezTo>
                    <a:pt x="151371" y="323710"/>
                    <a:pt x="132181" y="342900"/>
                    <a:pt x="108509" y="342900"/>
                  </a:cubicBezTo>
                  <a:close/>
                </a:path>
              </a:pathLst>
            </a:custGeom>
            <a:solidFill>
              <a:srgbClr val="D1552C">
                <a:alpha val="20000"/>
              </a:srgbClr>
            </a:solidFill>
            <a:ln>
              <a:noFill/>
            </a:ln>
          </p:spPr>
        </p:sp>
        <p:sp>
          <p:nvSpPr>
            <p:cNvPr id="31" name="Freeform 31"/>
            <p:cNvSpPr/>
            <p:nvPr/>
          </p:nvSpPr>
          <p:spPr>
            <a:xfrm>
              <a:off x="1345512" y="2921318"/>
              <a:ext cx="356089" cy="437552"/>
            </a:xfrm>
            <a:custGeom>
              <a:avLst/>
              <a:gdLst/>
              <a:ahLst/>
              <a:cxnLst/>
              <a:rect l="l" t="t" r="r" b="b"/>
              <a:pathLst>
                <a:path w="356089" h="437552">
                  <a:moveTo>
                    <a:pt x="228632" y="129552"/>
                  </a:moveTo>
                  <a:cubicBezTo>
                    <a:pt x="224163" y="123056"/>
                    <a:pt x="225802" y="114168"/>
                    <a:pt x="232293" y="109692"/>
                  </a:cubicBezTo>
                  <a:cubicBezTo>
                    <a:pt x="250866" y="96869"/>
                    <a:pt x="279942" y="96869"/>
                    <a:pt x="298515" y="109692"/>
                  </a:cubicBezTo>
                  <a:cubicBezTo>
                    <a:pt x="307445" y="115889"/>
                    <a:pt x="323304" y="115889"/>
                    <a:pt x="332305" y="109692"/>
                  </a:cubicBezTo>
                  <a:cubicBezTo>
                    <a:pt x="338787" y="105574"/>
                    <a:pt x="347366" y="107316"/>
                    <a:pt x="351727" y="113637"/>
                  </a:cubicBezTo>
                  <a:cubicBezTo>
                    <a:pt x="356089" y="119959"/>
                    <a:pt x="354673" y="128597"/>
                    <a:pt x="348522" y="133195"/>
                  </a:cubicBezTo>
                  <a:cubicBezTo>
                    <a:pt x="328306" y="146004"/>
                    <a:pt x="302515" y="146004"/>
                    <a:pt x="282299" y="133195"/>
                  </a:cubicBezTo>
                  <a:cubicBezTo>
                    <a:pt x="273369" y="126998"/>
                    <a:pt x="257510" y="126998"/>
                    <a:pt x="248509" y="133195"/>
                  </a:cubicBezTo>
                  <a:cubicBezTo>
                    <a:pt x="245390" y="135349"/>
                    <a:pt x="241543" y="136174"/>
                    <a:pt x="237816" y="135491"/>
                  </a:cubicBezTo>
                  <a:cubicBezTo>
                    <a:pt x="234088" y="134808"/>
                    <a:pt x="230784" y="132671"/>
                    <a:pt x="228632" y="129552"/>
                  </a:cubicBezTo>
                  <a:close/>
                  <a:moveTo>
                    <a:pt x="332305" y="166842"/>
                  </a:moveTo>
                  <a:cubicBezTo>
                    <a:pt x="323376" y="173039"/>
                    <a:pt x="307516" y="173039"/>
                    <a:pt x="298515" y="166842"/>
                  </a:cubicBezTo>
                  <a:cubicBezTo>
                    <a:pt x="279942" y="154019"/>
                    <a:pt x="250866" y="154019"/>
                    <a:pt x="232293" y="166842"/>
                  </a:cubicBezTo>
                  <a:cubicBezTo>
                    <a:pt x="227875" y="169649"/>
                    <a:pt x="225346" y="174647"/>
                    <a:pt x="225700" y="179868"/>
                  </a:cubicBezTo>
                  <a:cubicBezTo>
                    <a:pt x="226054" y="185090"/>
                    <a:pt x="229235" y="189700"/>
                    <a:pt x="233991" y="191885"/>
                  </a:cubicBezTo>
                  <a:cubicBezTo>
                    <a:pt x="238747" y="194069"/>
                    <a:pt x="244317" y="193479"/>
                    <a:pt x="248509" y="190345"/>
                  </a:cubicBezTo>
                  <a:cubicBezTo>
                    <a:pt x="257439" y="184148"/>
                    <a:pt x="273298" y="184148"/>
                    <a:pt x="282299" y="190345"/>
                  </a:cubicBezTo>
                  <a:cubicBezTo>
                    <a:pt x="302515" y="203154"/>
                    <a:pt x="328306" y="203154"/>
                    <a:pt x="348522" y="190345"/>
                  </a:cubicBezTo>
                  <a:cubicBezTo>
                    <a:pt x="354673" y="185747"/>
                    <a:pt x="356089" y="177109"/>
                    <a:pt x="351727" y="170787"/>
                  </a:cubicBezTo>
                  <a:cubicBezTo>
                    <a:pt x="347366" y="164466"/>
                    <a:pt x="338787" y="162724"/>
                    <a:pt x="332305" y="166842"/>
                  </a:cubicBezTo>
                  <a:close/>
                  <a:moveTo>
                    <a:pt x="183251" y="314325"/>
                  </a:moveTo>
                  <a:cubicBezTo>
                    <a:pt x="183236" y="344021"/>
                    <a:pt x="160481" y="368757"/>
                    <a:pt x="130890" y="371245"/>
                  </a:cubicBezTo>
                  <a:cubicBezTo>
                    <a:pt x="101298" y="373733"/>
                    <a:pt x="74732" y="353144"/>
                    <a:pt x="69758" y="323868"/>
                  </a:cubicBezTo>
                  <a:cubicBezTo>
                    <a:pt x="64784" y="294592"/>
                    <a:pt x="83061" y="266385"/>
                    <a:pt x="111813" y="258961"/>
                  </a:cubicBezTo>
                  <a:lnTo>
                    <a:pt x="111813" y="71438"/>
                  </a:lnTo>
                  <a:cubicBezTo>
                    <a:pt x="111813" y="63547"/>
                    <a:pt x="118210" y="57150"/>
                    <a:pt x="126101" y="57150"/>
                  </a:cubicBezTo>
                  <a:cubicBezTo>
                    <a:pt x="133992" y="57150"/>
                    <a:pt x="140388" y="63547"/>
                    <a:pt x="140388" y="71438"/>
                  </a:cubicBezTo>
                  <a:lnTo>
                    <a:pt x="140388" y="258961"/>
                  </a:lnTo>
                  <a:cubicBezTo>
                    <a:pt x="165610" y="265512"/>
                    <a:pt x="183226" y="288267"/>
                    <a:pt x="183251" y="314325"/>
                  </a:cubicBezTo>
                  <a:close/>
                  <a:moveTo>
                    <a:pt x="154676" y="314325"/>
                  </a:moveTo>
                  <a:cubicBezTo>
                    <a:pt x="154676" y="298543"/>
                    <a:pt x="141882" y="285750"/>
                    <a:pt x="126101" y="285750"/>
                  </a:cubicBezTo>
                  <a:cubicBezTo>
                    <a:pt x="110319" y="285750"/>
                    <a:pt x="97526" y="298543"/>
                    <a:pt x="97526" y="314325"/>
                  </a:cubicBezTo>
                  <a:cubicBezTo>
                    <a:pt x="97526" y="330107"/>
                    <a:pt x="110319" y="342900"/>
                    <a:pt x="126101" y="342900"/>
                  </a:cubicBezTo>
                  <a:cubicBezTo>
                    <a:pt x="141882" y="342900"/>
                    <a:pt x="154676" y="330107"/>
                    <a:pt x="154676" y="314325"/>
                  </a:cubicBezTo>
                  <a:close/>
                  <a:moveTo>
                    <a:pt x="240401" y="314325"/>
                  </a:moveTo>
                  <a:cubicBezTo>
                    <a:pt x="240368" y="367616"/>
                    <a:pt x="203512" y="413812"/>
                    <a:pt x="151560" y="425682"/>
                  </a:cubicBezTo>
                  <a:cubicBezTo>
                    <a:pt x="99609" y="437552"/>
                    <a:pt x="46348" y="411946"/>
                    <a:pt x="23174" y="363958"/>
                  </a:cubicBezTo>
                  <a:cubicBezTo>
                    <a:pt x="0" y="315970"/>
                    <a:pt x="13063" y="258335"/>
                    <a:pt x="54663" y="225028"/>
                  </a:cubicBezTo>
                  <a:lnTo>
                    <a:pt x="54663" y="71438"/>
                  </a:lnTo>
                  <a:cubicBezTo>
                    <a:pt x="54663" y="31984"/>
                    <a:pt x="86647" y="0"/>
                    <a:pt x="126101" y="0"/>
                  </a:cubicBezTo>
                  <a:cubicBezTo>
                    <a:pt x="165555" y="0"/>
                    <a:pt x="197538" y="31984"/>
                    <a:pt x="197538" y="71438"/>
                  </a:cubicBezTo>
                  <a:lnTo>
                    <a:pt x="197538" y="225028"/>
                  </a:lnTo>
                  <a:cubicBezTo>
                    <a:pt x="224634" y="246749"/>
                    <a:pt x="240402" y="279598"/>
                    <a:pt x="240401" y="314325"/>
                  </a:cubicBezTo>
                  <a:close/>
                  <a:moveTo>
                    <a:pt x="211826" y="314325"/>
                  </a:moveTo>
                  <a:cubicBezTo>
                    <a:pt x="211803" y="286274"/>
                    <a:pt x="198081" y="260003"/>
                    <a:pt x="175071" y="243959"/>
                  </a:cubicBezTo>
                  <a:cubicBezTo>
                    <a:pt x="171223" y="241272"/>
                    <a:pt x="168939" y="236866"/>
                    <a:pt x="168963" y="232172"/>
                  </a:cubicBezTo>
                  <a:lnTo>
                    <a:pt x="168963" y="71438"/>
                  </a:lnTo>
                  <a:cubicBezTo>
                    <a:pt x="168963" y="47765"/>
                    <a:pt x="149773" y="28575"/>
                    <a:pt x="126101" y="28575"/>
                  </a:cubicBezTo>
                  <a:cubicBezTo>
                    <a:pt x="102429" y="28575"/>
                    <a:pt x="83238" y="47765"/>
                    <a:pt x="83238" y="71438"/>
                  </a:cubicBezTo>
                  <a:lnTo>
                    <a:pt x="83238" y="232172"/>
                  </a:lnTo>
                  <a:cubicBezTo>
                    <a:pt x="83239" y="236840"/>
                    <a:pt x="80958" y="241215"/>
                    <a:pt x="77130" y="243888"/>
                  </a:cubicBezTo>
                  <a:cubicBezTo>
                    <a:pt x="43738" y="267128"/>
                    <a:pt x="31280" y="310639"/>
                    <a:pt x="47313" y="348030"/>
                  </a:cubicBezTo>
                  <a:cubicBezTo>
                    <a:pt x="63345" y="385422"/>
                    <a:pt x="103451" y="406395"/>
                    <a:pt x="143307" y="398229"/>
                  </a:cubicBezTo>
                  <a:cubicBezTo>
                    <a:pt x="183163" y="390064"/>
                    <a:pt x="211790" y="355009"/>
                    <a:pt x="211826" y="314325"/>
                  </a:cubicBezTo>
                  <a:close/>
                </a:path>
              </a:pathLst>
            </a:custGeom>
            <a:solidFill>
              <a:srgbClr val="D1552C"/>
            </a:solidFill>
            <a:ln>
              <a:noFill/>
            </a:ln>
          </p:spPr>
        </p:sp>
      </p:grpSp>
      <p:sp>
        <p:nvSpPr>
          <p:cNvPr id="33" name="TextBox 33"/>
          <p:cNvSpPr txBox="1"/>
          <p:nvPr/>
        </p:nvSpPr>
        <p:spPr>
          <a:xfrm>
            <a:off x="688658" y="3607594"/>
            <a:ext cx="2296744"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The species occupies the</a:t>
            </a:r>
          </a:p>
        </p:txBody>
      </p:sp>
      <p:sp>
        <p:nvSpPr>
          <p:cNvPr id="34" name="TextBox 34"/>
          <p:cNvSpPr txBox="1"/>
          <p:nvPr/>
        </p:nvSpPr>
        <p:spPr>
          <a:xfrm>
            <a:off x="688658" y="3845719"/>
            <a:ext cx="1976457"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province; warming can</a:t>
            </a:r>
          </a:p>
        </p:txBody>
      </p:sp>
      <p:sp>
        <p:nvSpPr>
          <p:cNvPr id="35" name="TextBox 35"/>
          <p:cNvSpPr txBox="1"/>
          <p:nvPr/>
        </p:nvSpPr>
        <p:spPr>
          <a:xfrm>
            <a:off x="688658" y="4083844"/>
            <a:ext cx="1134770"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move ranges</a:t>
            </a:r>
          </a:p>
        </p:txBody>
      </p:sp>
      <p:sp>
        <p:nvSpPr>
          <p:cNvPr id="36" name="Rectangle 36"/>
          <p:cNvSpPr/>
          <p:nvPr/>
        </p:nvSpPr>
        <p:spPr>
          <a:xfrm>
            <a:off x="704850" y="4411980"/>
            <a:ext cx="2324100" cy="285750"/>
          </a:xfrm>
          <a:prstGeom prst="roundRect">
            <a:avLst>
              <a:gd name="adj" fmla="val 50000"/>
            </a:avLst>
          </a:prstGeom>
          <a:solidFill>
            <a:srgbClr val="FAEEEA"/>
          </a:solidFill>
          <a:ln>
            <a:noFill/>
          </a:ln>
        </p:spPr>
      </p:sp>
      <p:sp>
        <p:nvSpPr>
          <p:cNvPr id="37" name="TextBox 37"/>
          <p:cNvSpPr txBox="1"/>
          <p:nvPr/>
        </p:nvSpPr>
        <p:spPr>
          <a:xfrm>
            <a:off x="723900" y="4466272"/>
            <a:ext cx="2286000" cy="214312"/>
          </a:xfrm>
          <a:prstGeom prst="rect">
            <a:avLst/>
          </a:prstGeom>
          <a:noFill/>
          <a:ln>
            <a:noFill/>
          </a:ln>
        </p:spPr>
        <p:txBody>
          <a:bodyPr wrap="square" lIns="0" tIns="0" rIns="0" bIns="0" anchor="t" anchorCtr="0">
            <a:normAutofit/>
          </a:bodyPr>
          <a:lstStyle/>
          <a:p>
            <a:pPr algn="ctr"/>
            <a:r>
              <a:rPr lang="zh-CN" sz="1125" b="1" dirty="0">
                <a:solidFill>
                  <a:srgbClr val="D1552C"/>
                </a:solidFill>
                <a:latin typeface="Arial"/>
                <a:ea typeface="Microsoft YaHei"/>
                <a:cs typeface="Arial"/>
              </a:rPr>
              <a:t>Ecological process</a:t>
            </a:r>
          </a:p>
        </p:txBody>
      </p:sp>
      <p:sp>
        <p:nvSpPr>
          <p:cNvPr id="38" name="Freeform 38"/>
          <p:cNvSpPr/>
          <p:nvPr/>
        </p:nvSpPr>
        <p:spPr>
          <a:xfrm>
            <a:off x="3352800" y="3459480"/>
            <a:ext cx="148590" cy="247650"/>
          </a:xfrm>
          <a:custGeom>
            <a:avLst/>
            <a:gdLst/>
            <a:ahLst/>
            <a:cxnLst/>
            <a:rect l="l" t="t" r="r" b="b"/>
            <a:pathLst>
              <a:path w="148590" h="247650">
                <a:moveTo>
                  <a:pt x="0" y="0"/>
                </a:moveTo>
                <a:lnTo>
                  <a:pt x="148590" y="123825"/>
                </a:lnTo>
                <a:lnTo>
                  <a:pt x="0" y="247650"/>
                </a:lnTo>
                <a:close/>
              </a:path>
            </a:pathLst>
          </a:custGeom>
          <a:solidFill>
            <a:srgbClr val="E8CDD1"/>
          </a:solidFill>
          <a:ln>
            <a:noFill/>
          </a:ln>
        </p:spPr>
      </p:sp>
      <p:sp>
        <p:nvSpPr>
          <p:cNvPr id="39" name="Rectangle 39"/>
          <p:cNvSpPr/>
          <p:nvPr/>
        </p:nvSpPr>
        <p:spPr>
          <a:xfrm>
            <a:off x="3657600" y="2335530"/>
            <a:ext cx="2705100" cy="2495550"/>
          </a:xfrm>
          <a:prstGeom prst="roundRect">
            <a:avLst>
              <a:gd name="adj" fmla="val 3817"/>
            </a:avLst>
          </a:prstGeom>
          <a:solidFill>
            <a:srgbClr val="FFFFFF"/>
          </a:solidFill>
          <a:ln>
            <a:noFill/>
          </a:ln>
        </p:spPr>
      </p:sp>
      <p:sp>
        <p:nvSpPr>
          <p:cNvPr id="40" name="Rectangle 40"/>
          <p:cNvSpPr/>
          <p:nvPr/>
        </p:nvSpPr>
        <p:spPr>
          <a:xfrm>
            <a:off x="3657600" y="2335530"/>
            <a:ext cx="2705100" cy="419100"/>
          </a:xfrm>
          <a:prstGeom prst="roundRect">
            <a:avLst>
              <a:gd name="adj" fmla="val 22727"/>
            </a:avLst>
          </a:prstGeom>
          <a:solidFill>
            <a:srgbClr val="E4ECF3"/>
          </a:solidFill>
          <a:ln>
            <a:noFill/>
          </a:ln>
        </p:spPr>
      </p:sp>
      <p:sp>
        <p:nvSpPr>
          <p:cNvPr id="41" name="Rectangle 41"/>
          <p:cNvSpPr/>
          <p:nvPr/>
        </p:nvSpPr>
        <p:spPr>
          <a:xfrm>
            <a:off x="3657600" y="2621280"/>
            <a:ext cx="2705100" cy="133350"/>
          </a:xfrm>
          <a:prstGeom prst="rect">
            <a:avLst/>
          </a:prstGeom>
          <a:solidFill>
            <a:srgbClr val="E4ECF3"/>
          </a:solidFill>
          <a:ln>
            <a:noFill/>
          </a:ln>
        </p:spPr>
      </p:sp>
      <p:sp>
        <p:nvSpPr>
          <p:cNvPr id="42" name="Rectangle 42"/>
          <p:cNvSpPr/>
          <p:nvPr/>
        </p:nvSpPr>
        <p:spPr>
          <a:xfrm>
            <a:off x="3657600" y="2335530"/>
            <a:ext cx="2705100" cy="2495550"/>
          </a:xfrm>
          <a:prstGeom prst="roundRect">
            <a:avLst>
              <a:gd name="adj" fmla="val 3817"/>
            </a:avLst>
          </a:prstGeom>
          <a:noFill/>
          <a:ln w="17145">
            <a:solidFill>
              <a:srgbClr val="1F5F9E"/>
            </a:solidFill>
          </a:ln>
        </p:spPr>
      </p:sp>
      <p:sp>
        <p:nvSpPr>
          <p:cNvPr id="43" name="Ellipse 43"/>
          <p:cNvSpPr/>
          <p:nvPr/>
        </p:nvSpPr>
        <p:spPr>
          <a:xfrm>
            <a:off x="3810000" y="2411730"/>
            <a:ext cx="266700" cy="266700"/>
          </a:xfrm>
          <a:prstGeom prst="ellipse">
            <a:avLst/>
          </a:prstGeom>
          <a:solidFill>
            <a:srgbClr val="1F5F9E"/>
          </a:solidFill>
          <a:ln>
            <a:noFill/>
          </a:ln>
        </p:spPr>
      </p:sp>
      <p:sp>
        <p:nvSpPr>
          <p:cNvPr id="44" name="TextBox 44"/>
          <p:cNvSpPr txBox="1"/>
          <p:nvPr/>
        </p:nvSpPr>
        <p:spPr>
          <a:xfrm>
            <a:off x="3829050" y="2457450"/>
            <a:ext cx="228600" cy="228600"/>
          </a:xfrm>
          <a:prstGeom prst="rect">
            <a:avLst/>
          </a:prstGeom>
          <a:noFill/>
          <a:ln>
            <a:noFill/>
          </a:ln>
        </p:spPr>
        <p:txBody>
          <a:bodyPr wrap="square" lIns="0" tIns="0" rIns="0" bIns="0" anchor="t" anchorCtr="0">
            <a:normAutofit/>
          </a:bodyPr>
          <a:lstStyle/>
          <a:p>
            <a:pPr algn="ctr"/>
            <a:r>
              <a:rPr lang="zh-CN" sz="1200" b="1" dirty="0">
                <a:solidFill>
                  <a:srgbClr val="FFFFFF"/>
                </a:solidFill>
                <a:latin typeface="Arial"/>
                <a:ea typeface="Microsoft YaHei"/>
                <a:cs typeface="Arial"/>
              </a:rPr>
              <a:t>2</a:t>
            </a:r>
          </a:p>
        </p:txBody>
      </p:sp>
      <p:sp>
        <p:nvSpPr>
          <p:cNvPr id="45" name="TextBox 45"/>
          <p:cNvSpPr txBox="1"/>
          <p:nvPr/>
        </p:nvSpPr>
        <p:spPr>
          <a:xfrm>
            <a:off x="4153852" y="2457926"/>
            <a:ext cx="1527509" cy="289560"/>
          </a:xfrm>
          <a:prstGeom prst="rect">
            <a:avLst/>
          </a:prstGeom>
          <a:noFill/>
          <a:ln>
            <a:noFill/>
          </a:ln>
        </p:spPr>
        <p:txBody>
          <a:bodyPr wrap="none" lIns="0" tIns="0" rIns="0" bIns="0" anchor="t" anchorCtr="0">
            <a:spAutoFit/>
          </a:bodyPr>
          <a:lstStyle/>
          <a:p>
            <a:pPr algn="l"/>
            <a:r>
              <a:rPr lang="zh-CN" sz="1425" b="1" dirty="0">
                <a:solidFill>
                  <a:srgbClr val="1F5F9E"/>
                </a:solidFill>
                <a:latin typeface="Arial"/>
                <a:ea typeface="Microsoft YaHei"/>
                <a:cs typeface="Arial"/>
              </a:rPr>
              <a:t>Someone looks</a:t>
            </a:r>
          </a:p>
        </p:txBody>
      </p:sp>
      <p:grpSp>
        <p:nvGrpSpPr>
          <p:cNvPr id="48" name="Group 48"/>
          <p:cNvGrpSpPr/>
          <p:nvPr/>
        </p:nvGrpSpPr>
        <p:grpSpPr>
          <a:xfrm>
            <a:off x="3870179" y="2978405"/>
            <a:ext cx="413043" cy="320946"/>
            <a:chOff x="3870179" y="2978405"/>
            <a:chExt cx="413043" cy="320946"/>
          </a:xfrm>
        </p:grpSpPr>
        <p:sp>
          <p:nvSpPr>
            <p:cNvPr id="46" name="Freeform 46"/>
            <p:cNvSpPr/>
            <p:nvPr/>
          </p:nvSpPr>
          <p:spPr>
            <a:xfrm>
              <a:off x="3890962" y="3135630"/>
              <a:ext cx="371475" cy="142875"/>
            </a:xfrm>
            <a:custGeom>
              <a:avLst/>
              <a:gdLst/>
              <a:ahLst/>
              <a:cxnLst/>
              <a:rect l="l" t="t" r="r" b="b"/>
              <a:pathLst>
                <a:path w="3714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moveTo>
                    <a:pt x="300038" y="0"/>
                  </a:moveTo>
                  <a:cubicBezTo>
                    <a:pt x="260584" y="0"/>
                    <a:pt x="228600" y="31984"/>
                    <a:pt x="228600" y="71438"/>
                  </a:cubicBezTo>
                  <a:cubicBezTo>
                    <a:pt x="228600" y="110891"/>
                    <a:pt x="260584" y="142875"/>
                    <a:pt x="300038" y="142875"/>
                  </a:cubicBezTo>
                  <a:cubicBezTo>
                    <a:pt x="339491" y="142875"/>
                    <a:pt x="371475" y="110891"/>
                    <a:pt x="371475" y="71438"/>
                  </a:cubicBezTo>
                  <a:cubicBezTo>
                    <a:pt x="371475" y="31984"/>
                    <a:pt x="339491" y="0"/>
                    <a:pt x="300038" y="0"/>
                  </a:cubicBezTo>
                  <a:close/>
                </a:path>
              </a:pathLst>
            </a:custGeom>
            <a:solidFill>
              <a:srgbClr val="1F5F9E">
                <a:alpha val="20000"/>
              </a:srgbClr>
            </a:solidFill>
            <a:ln>
              <a:noFill/>
            </a:ln>
          </p:spPr>
        </p:sp>
        <p:sp>
          <p:nvSpPr>
            <p:cNvPr id="47" name="Freeform 47"/>
            <p:cNvSpPr/>
            <p:nvPr/>
          </p:nvSpPr>
          <p:spPr>
            <a:xfrm>
              <a:off x="3870179" y="2978405"/>
              <a:ext cx="413043" cy="320946"/>
            </a:xfrm>
            <a:custGeom>
              <a:avLst/>
              <a:gdLst/>
              <a:ahLst/>
              <a:cxnLst/>
              <a:rect l="l" t="t" r="r" b="b"/>
              <a:pathLst>
                <a:path w="413043" h="320946">
                  <a:moveTo>
                    <a:pt x="401545" y="199856"/>
                  </a:moveTo>
                  <a:lnTo>
                    <a:pt x="401545" y="199856"/>
                  </a:lnTo>
                  <a:cubicBezTo>
                    <a:pt x="400352" y="196526"/>
                    <a:pt x="398950" y="193275"/>
                    <a:pt x="397348" y="190122"/>
                  </a:cubicBezTo>
                  <a:lnTo>
                    <a:pt x="323071" y="21137"/>
                  </a:lnTo>
                  <a:cubicBezTo>
                    <a:pt x="322368" y="19509"/>
                    <a:pt x="321362" y="18030"/>
                    <a:pt x="320106" y="16779"/>
                  </a:cubicBezTo>
                  <a:cubicBezTo>
                    <a:pt x="309388" y="6059"/>
                    <a:pt x="294850" y="36"/>
                    <a:pt x="279691" y="36"/>
                  </a:cubicBezTo>
                  <a:cubicBezTo>
                    <a:pt x="264531" y="36"/>
                    <a:pt x="249993" y="6059"/>
                    <a:pt x="239275" y="16779"/>
                  </a:cubicBezTo>
                  <a:cubicBezTo>
                    <a:pt x="236605" y="19452"/>
                    <a:pt x="235102" y="23074"/>
                    <a:pt x="235096" y="26852"/>
                  </a:cubicBezTo>
                  <a:lnTo>
                    <a:pt x="235096" y="71500"/>
                  </a:lnTo>
                  <a:lnTo>
                    <a:pt x="177946" y="71500"/>
                  </a:lnTo>
                  <a:lnTo>
                    <a:pt x="177946" y="26852"/>
                  </a:lnTo>
                  <a:cubicBezTo>
                    <a:pt x="177949" y="23061"/>
                    <a:pt x="176445" y="19425"/>
                    <a:pt x="173767" y="16743"/>
                  </a:cubicBezTo>
                  <a:cubicBezTo>
                    <a:pt x="163049" y="6023"/>
                    <a:pt x="148510" y="0"/>
                    <a:pt x="133351" y="0"/>
                  </a:cubicBezTo>
                  <a:cubicBezTo>
                    <a:pt x="118191" y="0"/>
                    <a:pt x="103653" y="6023"/>
                    <a:pt x="92935" y="16743"/>
                  </a:cubicBezTo>
                  <a:cubicBezTo>
                    <a:pt x="91679" y="17995"/>
                    <a:pt x="90673" y="19474"/>
                    <a:pt x="89970" y="21101"/>
                  </a:cubicBezTo>
                  <a:lnTo>
                    <a:pt x="15693" y="190087"/>
                  </a:lnTo>
                  <a:cubicBezTo>
                    <a:pt x="14091" y="193240"/>
                    <a:pt x="12689" y="196490"/>
                    <a:pt x="11496" y="199820"/>
                  </a:cubicBezTo>
                  <a:lnTo>
                    <a:pt x="11496" y="199820"/>
                  </a:lnTo>
                  <a:cubicBezTo>
                    <a:pt x="0" y="231987"/>
                    <a:pt x="8699" y="267909"/>
                    <a:pt x="33637" y="291254"/>
                  </a:cubicBezTo>
                  <a:cubicBezTo>
                    <a:pt x="58575" y="314598"/>
                    <a:pt x="94993" y="320909"/>
                    <a:pt x="126332" y="307316"/>
                  </a:cubicBezTo>
                  <a:cubicBezTo>
                    <a:pt x="157671" y="293724"/>
                    <a:pt x="177949" y="262823"/>
                    <a:pt x="177946" y="228663"/>
                  </a:cubicBezTo>
                  <a:lnTo>
                    <a:pt x="177946" y="100075"/>
                  </a:lnTo>
                  <a:lnTo>
                    <a:pt x="235096" y="100075"/>
                  </a:lnTo>
                  <a:lnTo>
                    <a:pt x="235096" y="228663"/>
                  </a:lnTo>
                  <a:cubicBezTo>
                    <a:pt x="235078" y="262827"/>
                    <a:pt x="255349" y="293740"/>
                    <a:pt x="286688" y="307343"/>
                  </a:cubicBezTo>
                  <a:cubicBezTo>
                    <a:pt x="318027" y="320946"/>
                    <a:pt x="354451" y="314642"/>
                    <a:pt x="379396" y="291298"/>
                  </a:cubicBezTo>
                  <a:cubicBezTo>
                    <a:pt x="404341" y="267954"/>
                    <a:pt x="413043" y="232027"/>
                    <a:pt x="401545" y="199856"/>
                  </a:cubicBezTo>
                  <a:close/>
                  <a:moveTo>
                    <a:pt x="114920" y="35335"/>
                  </a:moveTo>
                  <a:cubicBezTo>
                    <a:pt x="124708" y="27093"/>
                    <a:pt x="138783" y="26364"/>
                    <a:pt x="149371" y="33549"/>
                  </a:cubicBezTo>
                  <a:lnTo>
                    <a:pt x="149371" y="164833"/>
                  </a:lnTo>
                  <a:cubicBezTo>
                    <a:pt x="126669" y="144448"/>
                    <a:pt x="94828" y="137698"/>
                    <a:pt x="65807" y="147117"/>
                  </a:cubicBezTo>
                  <a:close/>
                  <a:moveTo>
                    <a:pt x="92221" y="285813"/>
                  </a:moveTo>
                  <a:cubicBezTo>
                    <a:pt x="60658" y="285813"/>
                    <a:pt x="35071" y="260226"/>
                    <a:pt x="35071" y="228663"/>
                  </a:cubicBezTo>
                  <a:cubicBezTo>
                    <a:pt x="35071" y="197100"/>
                    <a:pt x="60658" y="171513"/>
                    <a:pt x="92221" y="171513"/>
                  </a:cubicBezTo>
                  <a:cubicBezTo>
                    <a:pt x="123784" y="171513"/>
                    <a:pt x="149371" y="197100"/>
                    <a:pt x="149371" y="228663"/>
                  </a:cubicBezTo>
                  <a:cubicBezTo>
                    <a:pt x="149371" y="260226"/>
                    <a:pt x="123784" y="285813"/>
                    <a:pt x="92221" y="285813"/>
                  </a:cubicBezTo>
                  <a:close/>
                  <a:moveTo>
                    <a:pt x="263671" y="33531"/>
                  </a:moveTo>
                  <a:cubicBezTo>
                    <a:pt x="274259" y="26346"/>
                    <a:pt x="288333" y="27075"/>
                    <a:pt x="298121" y="35317"/>
                  </a:cubicBezTo>
                  <a:lnTo>
                    <a:pt x="347235" y="147081"/>
                  </a:lnTo>
                  <a:cubicBezTo>
                    <a:pt x="318211" y="137667"/>
                    <a:pt x="286369" y="144424"/>
                    <a:pt x="263671" y="164816"/>
                  </a:cubicBezTo>
                  <a:close/>
                  <a:moveTo>
                    <a:pt x="320821" y="285813"/>
                  </a:moveTo>
                  <a:cubicBezTo>
                    <a:pt x="289258" y="285813"/>
                    <a:pt x="263671" y="260226"/>
                    <a:pt x="263671" y="228663"/>
                  </a:cubicBezTo>
                  <a:cubicBezTo>
                    <a:pt x="263671" y="197100"/>
                    <a:pt x="289258" y="171513"/>
                    <a:pt x="320821" y="171513"/>
                  </a:cubicBezTo>
                  <a:cubicBezTo>
                    <a:pt x="352384" y="171513"/>
                    <a:pt x="377971" y="197100"/>
                    <a:pt x="377971" y="228663"/>
                  </a:cubicBezTo>
                  <a:cubicBezTo>
                    <a:pt x="377971" y="260226"/>
                    <a:pt x="352384" y="285813"/>
                    <a:pt x="320821" y="285813"/>
                  </a:cubicBezTo>
                  <a:close/>
                </a:path>
              </a:pathLst>
            </a:custGeom>
            <a:solidFill>
              <a:srgbClr val="1F5F9E"/>
            </a:solidFill>
            <a:ln>
              <a:noFill/>
            </a:ln>
          </p:spPr>
        </p:sp>
      </p:grpSp>
      <p:grpSp>
        <p:nvGrpSpPr>
          <p:cNvPr id="51" name="Group 51"/>
          <p:cNvGrpSpPr/>
          <p:nvPr/>
        </p:nvGrpSpPr>
        <p:grpSpPr>
          <a:xfrm>
            <a:off x="4412956" y="2990598"/>
            <a:ext cx="430947" cy="317072"/>
            <a:chOff x="4412956" y="2990598"/>
            <a:chExt cx="430947" cy="317072"/>
          </a:xfrm>
        </p:grpSpPr>
        <p:sp>
          <p:nvSpPr>
            <p:cNvPr id="49" name="Freeform 49"/>
            <p:cNvSpPr/>
            <p:nvPr/>
          </p:nvSpPr>
          <p:spPr>
            <a:xfrm>
              <a:off x="4457700" y="3007042"/>
              <a:ext cx="342900" cy="228600"/>
            </a:xfrm>
            <a:custGeom>
              <a:avLst/>
              <a:gdLst/>
              <a:ahLst/>
              <a:cxnLst/>
              <a:rect l="l" t="t" r="r" b="b"/>
              <a:pathLst>
                <a:path w="342900" h="228600">
                  <a:moveTo>
                    <a:pt x="242888" y="157162"/>
                  </a:moveTo>
                  <a:cubicBezTo>
                    <a:pt x="242888" y="196616"/>
                    <a:pt x="210904" y="228600"/>
                    <a:pt x="171450" y="228600"/>
                  </a:cubicBezTo>
                  <a:cubicBezTo>
                    <a:pt x="131996" y="228600"/>
                    <a:pt x="100012" y="196616"/>
                    <a:pt x="100012" y="157162"/>
                  </a:cubicBezTo>
                  <a:cubicBezTo>
                    <a:pt x="100012" y="117709"/>
                    <a:pt x="131996" y="85725"/>
                    <a:pt x="171450" y="85725"/>
                  </a:cubicBezTo>
                  <a:cubicBezTo>
                    <a:pt x="210904" y="85725"/>
                    <a:pt x="242888" y="117709"/>
                    <a:pt x="242888" y="157162"/>
                  </a:cubicBezTo>
                  <a:close/>
                  <a:moveTo>
                    <a:pt x="57150" y="0"/>
                  </a:moveTo>
                  <a:cubicBezTo>
                    <a:pt x="25587" y="0"/>
                    <a:pt x="0" y="25587"/>
                    <a:pt x="0" y="57150"/>
                  </a:cubicBezTo>
                  <a:cubicBezTo>
                    <a:pt x="0" y="88713"/>
                    <a:pt x="25587" y="114300"/>
                    <a:pt x="57150" y="114300"/>
                  </a:cubicBezTo>
                  <a:cubicBezTo>
                    <a:pt x="88713" y="114300"/>
                    <a:pt x="114300" y="88713"/>
                    <a:pt x="114300" y="57150"/>
                  </a:cubicBezTo>
                  <a:cubicBezTo>
                    <a:pt x="114300" y="25587"/>
                    <a:pt x="88713" y="0"/>
                    <a:pt x="57150" y="0"/>
                  </a:cubicBezTo>
                  <a:close/>
                  <a:moveTo>
                    <a:pt x="285750" y="0"/>
                  </a:moveTo>
                  <a:cubicBezTo>
                    <a:pt x="254187" y="0"/>
                    <a:pt x="228600" y="25587"/>
                    <a:pt x="228600" y="57150"/>
                  </a:cubicBezTo>
                  <a:cubicBezTo>
                    <a:pt x="228600" y="88713"/>
                    <a:pt x="254187" y="114300"/>
                    <a:pt x="285750" y="114300"/>
                  </a:cubicBezTo>
                  <a:cubicBezTo>
                    <a:pt x="317313" y="114300"/>
                    <a:pt x="342900" y="88713"/>
                    <a:pt x="342900" y="57150"/>
                  </a:cubicBezTo>
                  <a:cubicBezTo>
                    <a:pt x="342900" y="25587"/>
                    <a:pt x="317313" y="0"/>
                    <a:pt x="285750" y="0"/>
                  </a:cubicBezTo>
                  <a:close/>
                </a:path>
              </a:pathLst>
            </a:custGeom>
            <a:solidFill>
              <a:srgbClr val="1F5F9E">
                <a:alpha val="20000"/>
              </a:srgbClr>
            </a:solidFill>
            <a:ln>
              <a:noFill/>
            </a:ln>
          </p:spPr>
        </p:sp>
        <p:sp>
          <p:nvSpPr>
            <p:cNvPr id="50" name="Freeform 50"/>
            <p:cNvSpPr/>
            <p:nvPr/>
          </p:nvSpPr>
          <p:spPr>
            <a:xfrm>
              <a:off x="4412956" y="2990598"/>
              <a:ext cx="430947" cy="317072"/>
            </a:xfrm>
            <a:custGeom>
              <a:avLst/>
              <a:gdLst/>
              <a:ahLst/>
              <a:cxnLst/>
              <a:rect l="l" t="t" r="r" b="b"/>
              <a:pathLst>
                <a:path w="430947" h="317072">
                  <a:moveTo>
                    <a:pt x="424792" y="185037"/>
                  </a:moveTo>
                  <a:cubicBezTo>
                    <a:pt x="418479" y="189771"/>
                    <a:pt x="409524" y="188492"/>
                    <a:pt x="404789" y="182179"/>
                  </a:cubicBezTo>
                  <a:cubicBezTo>
                    <a:pt x="387326" y="158705"/>
                    <a:pt x="359752" y="144918"/>
                    <a:pt x="330494" y="145032"/>
                  </a:cubicBezTo>
                  <a:cubicBezTo>
                    <a:pt x="322604" y="145032"/>
                    <a:pt x="316207" y="138635"/>
                    <a:pt x="316207" y="130744"/>
                  </a:cubicBezTo>
                  <a:cubicBezTo>
                    <a:pt x="316207" y="122853"/>
                    <a:pt x="322604" y="116457"/>
                    <a:pt x="330494" y="116457"/>
                  </a:cubicBezTo>
                  <a:cubicBezTo>
                    <a:pt x="352768" y="116455"/>
                    <a:pt x="371329" y="99393"/>
                    <a:pt x="373201" y="77198"/>
                  </a:cubicBezTo>
                  <a:cubicBezTo>
                    <a:pt x="375074" y="55002"/>
                    <a:pt x="359634" y="35072"/>
                    <a:pt x="337676" y="31338"/>
                  </a:cubicBezTo>
                  <a:cubicBezTo>
                    <a:pt x="315717" y="27604"/>
                    <a:pt x="294558" y="41312"/>
                    <a:pt x="288989" y="62878"/>
                  </a:cubicBezTo>
                  <a:cubicBezTo>
                    <a:pt x="287017" y="70523"/>
                    <a:pt x="279220" y="75120"/>
                    <a:pt x="271576" y="73148"/>
                  </a:cubicBezTo>
                  <a:cubicBezTo>
                    <a:pt x="263932" y="71175"/>
                    <a:pt x="259334" y="63379"/>
                    <a:pt x="261307" y="55735"/>
                  </a:cubicBezTo>
                  <a:cubicBezTo>
                    <a:pt x="268937" y="26210"/>
                    <a:pt x="294468" y="4784"/>
                    <a:pt x="324868" y="2392"/>
                  </a:cubicBezTo>
                  <a:cubicBezTo>
                    <a:pt x="355269" y="0"/>
                    <a:pt x="383836" y="17169"/>
                    <a:pt x="395990" y="45137"/>
                  </a:cubicBezTo>
                  <a:cubicBezTo>
                    <a:pt x="408145" y="73105"/>
                    <a:pt x="401205" y="105704"/>
                    <a:pt x="378715" y="126297"/>
                  </a:cubicBezTo>
                  <a:cubicBezTo>
                    <a:pt x="398142" y="134709"/>
                    <a:pt x="415031" y="148057"/>
                    <a:pt x="427703" y="165016"/>
                  </a:cubicBezTo>
                  <a:cubicBezTo>
                    <a:pt x="429976" y="168055"/>
                    <a:pt x="430947" y="171874"/>
                    <a:pt x="430401" y="175630"/>
                  </a:cubicBezTo>
                  <a:cubicBezTo>
                    <a:pt x="429855" y="179386"/>
                    <a:pt x="427837" y="182771"/>
                    <a:pt x="424792" y="185037"/>
                  </a:cubicBezTo>
                  <a:close/>
                  <a:moveTo>
                    <a:pt x="328566" y="295050"/>
                  </a:moveTo>
                  <a:cubicBezTo>
                    <a:pt x="331281" y="299478"/>
                    <a:pt x="331380" y="305031"/>
                    <a:pt x="328823" y="309552"/>
                  </a:cubicBezTo>
                  <a:cubicBezTo>
                    <a:pt x="326267" y="314074"/>
                    <a:pt x="321458" y="316851"/>
                    <a:pt x="316264" y="316807"/>
                  </a:cubicBezTo>
                  <a:cubicBezTo>
                    <a:pt x="311070" y="316762"/>
                    <a:pt x="306309" y="313902"/>
                    <a:pt x="303830" y="309338"/>
                  </a:cubicBezTo>
                  <a:cubicBezTo>
                    <a:pt x="285516" y="278339"/>
                    <a:pt x="252190" y="259321"/>
                    <a:pt x="216185" y="259321"/>
                  </a:cubicBezTo>
                  <a:cubicBezTo>
                    <a:pt x="180181" y="259321"/>
                    <a:pt x="146855" y="278339"/>
                    <a:pt x="128541" y="309338"/>
                  </a:cubicBezTo>
                  <a:cubicBezTo>
                    <a:pt x="126108" y="313988"/>
                    <a:pt x="121322" y="316930"/>
                    <a:pt x="116074" y="317001"/>
                  </a:cubicBezTo>
                  <a:cubicBezTo>
                    <a:pt x="110826" y="317072"/>
                    <a:pt x="105962" y="314261"/>
                    <a:pt x="103405" y="309678"/>
                  </a:cubicBezTo>
                  <a:cubicBezTo>
                    <a:pt x="100847" y="305095"/>
                    <a:pt x="101008" y="299479"/>
                    <a:pt x="103823" y="295050"/>
                  </a:cubicBezTo>
                  <a:cubicBezTo>
                    <a:pt x="117675" y="271251"/>
                    <a:pt x="138795" y="252521"/>
                    <a:pt x="164081" y="241615"/>
                  </a:cubicBezTo>
                  <a:cubicBezTo>
                    <a:pt x="134908" y="219279"/>
                    <a:pt x="123212" y="180836"/>
                    <a:pt x="135004" y="146037"/>
                  </a:cubicBezTo>
                  <a:cubicBezTo>
                    <a:pt x="146796" y="111239"/>
                    <a:pt x="179452" y="87824"/>
                    <a:pt x="216194" y="87824"/>
                  </a:cubicBezTo>
                  <a:cubicBezTo>
                    <a:pt x="252936" y="87824"/>
                    <a:pt x="285593" y="111239"/>
                    <a:pt x="297385" y="146037"/>
                  </a:cubicBezTo>
                  <a:cubicBezTo>
                    <a:pt x="309176" y="180836"/>
                    <a:pt x="297481" y="219279"/>
                    <a:pt x="268308" y="241615"/>
                  </a:cubicBezTo>
                  <a:cubicBezTo>
                    <a:pt x="293593" y="252521"/>
                    <a:pt x="314714" y="271251"/>
                    <a:pt x="328566" y="295050"/>
                  </a:cubicBezTo>
                  <a:close/>
                  <a:moveTo>
                    <a:pt x="216194" y="230757"/>
                  </a:moveTo>
                  <a:cubicBezTo>
                    <a:pt x="247757" y="230757"/>
                    <a:pt x="273344" y="205170"/>
                    <a:pt x="273344" y="173607"/>
                  </a:cubicBezTo>
                  <a:cubicBezTo>
                    <a:pt x="273344" y="142044"/>
                    <a:pt x="247757" y="116457"/>
                    <a:pt x="216194" y="116457"/>
                  </a:cubicBezTo>
                  <a:cubicBezTo>
                    <a:pt x="184631" y="116457"/>
                    <a:pt x="159044" y="142044"/>
                    <a:pt x="159044" y="173607"/>
                  </a:cubicBezTo>
                  <a:cubicBezTo>
                    <a:pt x="159044" y="205170"/>
                    <a:pt x="184631" y="230757"/>
                    <a:pt x="216194" y="230757"/>
                  </a:cubicBezTo>
                  <a:close/>
                  <a:moveTo>
                    <a:pt x="116182" y="130744"/>
                  </a:moveTo>
                  <a:cubicBezTo>
                    <a:pt x="116182" y="122853"/>
                    <a:pt x="109785" y="116457"/>
                    <a:pt x="101894" y="116457"/>
                  </a:cubicBezTo>
                  <a:cubicBezTo>
                    <a:pt x="79620" y="116455"/>
                    <a:pt x="61060" y="99393"/>
                    <a:pt x="59187" y="77198"/>
                  </a:cubicBezTo>
                  <a:cubicBezTo>
                    <a:pt x="57315" y="55002"/>
                    <a:pt x="72754" y="35072"/>
                    <a:pt x="94713" y="31338"/>
                  </a:cubicBezTo>
                  <a:cubicBezTo>
                    <a:pt x="116672" y="27604"/>
                    <a:pt x="137831" y="41312"/>
                    <a:pt x="143400" y="62878"/>
                  </a:cubicBezTo>
                  <a:cubicBezTo>
                    <a:pt x="145372" y="70523"/>
                    <a:pt x="153168" y="75120"/>
                    <a:pt x="160812" y="73148"/>
                  </a:cubicBezTo>
                  <a:cubicBezTo>
                    <a:pt x="168457" y="71175"/>
                    <a:pt x="173054" y="63379"/>
                    <a:pt x="171082" y="55735"/>
                  </a:cubicBezTo>
                  <a:cubicBezTo>
                    <a:pt x="163451" y="26210"/>
                    <a:pt x="137921" y="4784"/>
                    <a:pt x="107520" y="2392"/>
                  </a:cubicBezTo>
                  <a:cubicBezTo>
                    <a:pt x="77120" y="0"/>
                    <a:pt x="48553" y="17169"/>
                    <a:pt x="36398" y="45137"/>
                  </a:cubicBezTo>
                  <a:cubicBezTo>
                    <a:pt x="24244" y="73105"/>
                    <a:pt x="31183" y="105704"/>
                    <a:pt x="53674" y="126297"/>
                  </a:cubicBezTo>
                  <a:cubicBezTo>
                    <a:pt x="34266" y="134717"/>
                    <a:pt x="17397" y="148065"/>
                    <a:pt x="4739" y="165016"/>
                  </a:cubicBezTo>
                  <a:cubicBezTo>
                    <a:pt x="0" y="171329"/>
                    <a:pt x="1275" y="180288"/>
                    <a:pt x="7588" y="185028"/>
                  </a:cubicBezTo>
                  <a:cubicBezTo>
                    <a:pt x="13901" y="189767"/>
                    <a:pt x="22860" y="188492"/>
                    <a:pt x="27599" y="182179"/>
                  </a:cubicBezTo>
                  <a:cubicBezTo>
                    <a:pt x="45063" y="158705"/>
                    <a:pt x="72637" y="144918"/>
                    <a:pt x="101894" y="145032"/>
                  </a:cubicBezTo>
                  <a:cubicBezTo>
                    <a:pt x="109785" y="145032"/>
                    <a:pt x="116182" y="138635"/>
                    <a:pt x="116182" y="130744"/>
                  </a:cubicBezTo>
                  <a:close/>
                </a:path>
              </a:pathLst>
            </a:custGeom>
            <a:solidFill>
              <a:srgbClr val="1F5F9E"/>
            </a:solidFill>
            <a:ln>
              <a:noFill/>
            </a:ln>
          </p:spPr>
        </p:sp>
      </p:grpSp>
      <p:sp>
        <p:nvSpPr>
          <p:cNvPr id="52" name="TextBox 52"/>
          <p:cNvSpPr txBox="1"/>
          <p:nvPr/>
        </p:nvSpPr>
        <p:spPr>
          <a:xfrm>
            <a:off x="3831908" y="3607594"/>
            <a:ext cx="1887074"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A birder or a survey</a:t>
            </a:r>
          </a:p>
        </p:txBody>
      </p:sp>
      <p:sp>
        <p:nvSpPr>
          <p:cNvPr id="53" name="TextBox 53"/>
          <p:cNvSpPr txBox="1"/>
          <p:nvPr/>
        </p:nvSpPr>
        <p:spPr>
          <a:xfrm>
            <a:off x="3831908" y="3845719"/>
            <a:ext cx="2192465"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detects it; effort grew</a:t>
            </a:r>
          </a:p>
        </p:txBody>
      </p:sp>
      <p:sp>
        <p:nvSpPr>
          <p:cNvPr id="54" name="TextBox 54"/>
          <p:cNvSpPr txBox="1"/>
          <p:nvPr/>
        </p:nvSpPr>
        <p:spPr>
          <a:xfrm>
            <a:off x="3831908" y="4083844"/>
            <a:ext cx="1499749"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fast after 2000</a:t>
            </a:r>
          </a:p>
        </p:txBody>
      </p:sp>
      <p:sp>
        <p:nvSpPr>
          <p:cNvPr id="55" name="Rectangle 55"/>
          <p:cNvSpPr/>
          <p:nvPr/>
        </p:nvSpPr>
        <p:spPr>
          <a:xfrm>
            <a:off x="3848100" y="4411980"/>
            <a:ext cx="2324100" cy="285750"/>
          </a:xfrm>
          <a:prstGeom prst="roundRect">
            <a:avLst>
              <a:gd name="adj" fmla="val 50000"/>
            </a:avLst>
          </a:prstGeom>
          <a:solidFill>
            <a:srgbClr val="E9EFF5"/>
          </a:solidFill>
          <a:ln>
            <a:noFill/>
          </a:ln>
        </p:spPr>
      </p:sp>
      <p:sp>
        <p:nvSpPr>
          <p:cNvPr id="56" name="TextBox 56"/>
          <p:cNvSpPr txBox="1"/>
          <p:nvPr/>
        </p:nvSpPr>
        <p:spPr>
          <a:xfrm>
            <a:off x="3867150" y="4466272"/>
            <a:ext cx="2286000" cy="214312"/>
          </a:xfrm>
          <a:prstGeom prst="rect">
            <a:avLst/>
          </a:prstGeom>
          <a:noFill/>
          <a:ln>
            <a:noFill/>
          </a:ln>
        </p:spPr>
        <p:txBody>
          <a:bodyPr wrap="square" lIns="0" tIns="0" rIns="0" bIns="0" anchor="t" anchorCtr="0">
            <a:normAutofit/>
          </a:bodyPr>
          <a:lstStyle/>
          <a:p>
            <a:pPr algn="ctr"/>
            <a:r>
              <a:rPr lang="zh-CN" sz="1125" b="1" dirty="0">
                <a:solidFill>
                  <a:srgbClr val="1F5F9E"/>
                </a:solidFill>
                <a:latin typeface="Arial"/>
                <a:ea typeface="Microsoft YaHei"/>
                <a:cs typeface="Arial"/>
              </a:rPr>
              <a:t>Observation process</a:t>
            </a:r>
          </a:p>
        </p:txBody>
      </p:sp>
      <p:sp>
        <p:nvSpPr>
          <p:cNvPr id="57" name="Freeform 57"/>
          <p:cNvSpPr/>
          <p:nvPr/>
        </p:nvSpPr>
        <p:spPr>
          <a:xfrm>
            <a:off x="6496050" y="3459480"/>
            <a:ext cx="148590" cy="247650"/>
          </a:xfrm>
          <a:custGeom>
            <a:avLst/>
            <a:gdLst/>
            <a:ahLst/>
            <a:cxnLst/>
            <a:rect l="l" t="t" r="r" b="b"/>
            <a:pathLst>
              <a:path w="148590" h="247650">
                <a:moveTo>
                  <a:pt x="0" y="0"/>
                </a:moveTo>
                <a:lnTo>
                  <a:pt x="148590" y="123825"/>
                </a:lnTo>
                <a:lnTo>
                  <a:pt x="0" y="247650"/>
                </a:lnTo>
                <a:close/>
              </a:path>
            </a:pathLst>
          </a:custGeom>
          <a:solidFill>
            <a:srgbClr val="E8CDD1"/>
          </a:solidFill>
          <a:ln>
            <a:noFill/>
          </a:ln>
        </p:spPr>
      </p:sp>
      <p:sp>
        <p:nvSpPr>
          <p:cNvPr id="58" name="Rectangle 58"/>
          <p:cNvSpPr/>
          <p:nvPr/>
        </p:nvSpPr>
        <p:spPr>
          <a:xfrm>
            <a:off x="6800850" y="2335530"/>
            <a:ext cx="2705100" cy="2495550"/>
          </a:xfrm>
          <a:prstGeom prst="roundRect">
            <a:avLst>
              <a:gd name="adj" fmla="val 3817"/>
            </a:avLst>
          </a:prstGeom>
          <a:solidFill>
            <a:srgbClr val="FFFFFF"/>
          </a:solidFill>
          <a:ln>
            <a:noFill/>
          </a:ln>
        </p:spPr>
      </p:sp>
      <p:sp>
        <p:nvSpPr>
          <p:cNvPr id="59" name="Rectangle 59"/>
          <p:cNvSpPr/>
          <p:nvPr/>
        </p:nvSpPr>
        <p:spPr>
          <a:xfrm>
            <a:off x="6800850" y="2335530"/>
            <a:ext cx="2705100" cy="419100"/>
          </a:xfrm>
          <a:prstGeom prst="roundRect">
            <a:avLst>
              <a:gd name="adj" fmla="val 22727"/>
            </a:avLst>
          </a:prstGeom>
          <a:solidFill>
            <a:srgbClr val="E6E9ED"/>
          </a:solidFill>
          <a:ln>
            <a:noFill/>
          </a:ln>
        </p:spPr>
      </p:sp>
      <p:sp>
        <p:nvSpPr>
          <p:cNvPr id="60" name="Rectangle 60"/>
          <p:cNvSpPr/>
          <p:nvPr/>
        </p:nvSpPr>
        <p:spPr>
          <a:xfrm>
            <a:off x="6800850" y="2621280"/>
            <a:ext cx="2705100" cy="133350"/>
          </a:xfrm>
          <a:prstGeom prst="rect">
            <a:avLst/>
          </a:prstGeom>
          <a:solidFill>
            <a:srgbClr val="E6E9ED"/>
          </a:solidFill>
          <a:ln>
            <a:noFill/>
          </a:ln>
        </p:spPr>
      </p:sp>
      <p:sp>
        <p:nvSpPr>
          <p:cNvPr id="61" name="Rectangle 61"/>
          <p:cNvSpPr/>
          <p:nvPr/>
        </p:nvSpPr>
        <p:spPr>
          <a:xfrm>
            <a:off x="6800850" y="2335530"/>
            <a:ext cx="2705100" cy="2495550"/>
          </a:xfrm>
          <a:prstGeom prst="roundRect">
            <a:avLst>
              <a:gd name="adj" fmla="val 3817"/>
            </a:avLst>
          </a:prstGeom>
          <a:noFill/>
          <a:ln w="17145">
            <a:solidFill>
              <a:srgbClr val="2F4A6D"/>
            </a:solidFill>
          </a:ln>
        </p:spPr>
      </p:sp>
      <p:sp>
        <p:nvSpPr>
          <p:cNvPr id="62" name="Ellipse 62"/>
          <p:cNvSpPr/>
          <p:nvPr/>
        </p:nvSpPr>
        <p:spPr>
          <a:xfrm>
            <a:off x="6953250" y="2411730"/>
            <a:ext cx="266700" cy="266700"/>
          </a:xfrm>
          <a:prstGeom prst="ellipse">
            <a:avLst/>
          </a:prstGeom>
          <a:solidFill>
            <a:srgbClr val="2F4A6D"/>
          </a:solidFill>
          <a:ln>
            <a:noFill/>
          </a:ln>
        </p:spPr>
      </p:sp>
      <p:sp>
        <p:nvSpPr>
          <p:cNvPr id="63" name="TextBox 63"/>
          <p:cNvSpPr txBox="1"/>
          <p:nvPr/>
        </p:nvSpPr>
        <p:spPr>
          <a:xfrm>
            <a:off x="6972300" y="2457450"/>
            <a:ext cx="228600" cy="228600"/>
          </a:xfrm>
          <a:prstGeom prst="rect">
            <a:avLst/>
          </a:prstGeom>
          <a:noFill/>
          <a:ln>
            <a:noFill/>
          </a:ln>
        </p:spPr>
        <p:txBody>
          <a:bodyPr wrap="square" lIns="0" tIns="0" rIns="0" bIns="0" anchor="t" anchorCtr="0">
            <a:normAutofit/>
          </a:bodyPr>
          <a:lstStyle/>
          <a:p>
            <a:pPr algn="ctr"/>
            <a:r>
              <a:rPr lang="zh-CN" sz="1200" b="1" dirty="0">
                <a:solidFill>
                  <a:srgbClr val="FFFFFF"/>
                </a:solidFill>
                <a:latin typeface="Arial"/>
                <a:ea typeface="Microsoft YaHei"/>
                <a:cs typeface="Arial"/>
              </a:rPr>
              <a:t>3</a:t>
            </a:r>
          </a:p>
        </p:txBody>
      </p:sp>
      <p:sp>
        <p:nvSpPr>
          <p:cNvPr id="64" name="TextBox 64"/>
          <p:cNvSpPr txBox="1"/>
          <p:nvPr/>
        </p:nvSpPr>
        <p:spPr>
          <a:xfrm>
            <a:off x="7297102" y="2457926"/>
            <a:ext cx="2224632" cy="289560"/>
          </a:xfrm>
          <a:prstGeom prst="rect">
            <a:avLst/>
          </a:prstGeom>
          <a:noFill/>
          <a:ln>
            <a:noFill/>
          </a:ln>
        </p:spPr>
        <p:txBody>
          <a:bodyPr wrap="none" lIns="0" tIns="0" rIns="0" bIns="0" anchor="t" anchorCtr="0">
            <a:spAutoFit/>
          </a:bodyPr>
          <a:lstStyle/>
          <a:p>
            <a:pPr algn="l"/>
            <a:r>
              <a:rPr lang="zh-CN" sz="1425" b="1" dirty="0">
                <a:solidFill>
                  <a:srgbClr val="2F4A6D"/>
                </a:solidFill>
                <a:latin typeface="Arial"/>
                <a:ea typeface="Microsoft YaHei"/>
                <a:cs typeface="Arial"/>
              </a:rPr>
              <a:t>The find is published</a:t>
            </a:r>
          </a:p>
        </p:txBody>
      </p:sp>
      <p:grpSp>
        <p:nvGrpSpPr>
          <p:cNvPr id="67" name="Group 67"/>
          <p:cNvGrpSpPr/>
          <p:nvPr/>
        </p:nvGrpSpPr>
        <p:grpSpPr>
          <a:xfrm>
            <a:off x="7019925" y="2992755"/>
            <a:ext cx="400050" cy="342900"/>
            <a:chOff x="7019925" y="2992755"/>
            <a:chExt cx="400050" cy="342900"/>
          </a:xfrm>
        </p:grpSpPr>
        <p:sp>
          <p:nvSpPr>
            <p:cNvPr id="65" name="Freeform 65"/>
            <p:cNvSpPr/>
            <p:nvPr/>
          </p:nvSpPr>
          <p:spPr>
            <a:xfrm>
              <a:off x="7034212" y="3007042"/>
              <a:ext cx="371475" cy="314325"/>
            </a:xfrm>
            <a:custGeom>
              <a:avLst/>
              <a:gdLst/>
              <a:ahLst/>
              <a:cxnLst/>
              <a:rect l="l" t="t" r="r" b="b"/>
              <a:pathLst>
                <a:path w="371475" h="314325">
                  <a:moveTo>
                    <a:pt x="371475" y="14288"/>
                  </a:moveTo>
                  <a:lnTo>
                    <a:pt x="371475" y="242888"/>
                  </a:lnTo>
                  <a:cubicBezTo>
                    <a:pt x="371475" y="250778"/>
                    <a:pt x="365078" y="257175"/>
                    <a:pt x="357188" y="257175"/>
                  </a:cubicBezTo>
                  <a:lnTo>
                    <a:pt x="242888" y="257175"/>
                  </a:lnTo>
                  <a:cubicBezTo>
                    <a:pt x="211324" y="257175"/>
                    <a:pt x="185738" y="282762"/>
                    <a:pt x="185738" y="314325"/>
                  </a:cubicBezTo>
                  <a:cubicBezTo>
                    <a:pt x="185738" y="282762"/>
                    <a:pt x="160151" y="257175"/>
                    <a:pt x="128588" y="257175"/>
                  </a:cubicBezTo>
                  <a:lnTo>
                    <a:pt x="14288" y="257175"/>
                  </a:lnTo>
                  <a:cubicBezTo>
                    <a:pt x="6397" y="257175"/>
                    <a:pt x="0" y="250778"/>
                    <a:pt x="0" y="242888"/>
                  </a:cubicBezTo>
                  <a:lnTo>
                    <a:pt x="0" y="14288"/>
                  </a:lnTo>
                  <a:cubicBezTo>
                    <a:pt x="0" y="6397"/>
                    <a:pt x="6397" y="0"/>
                    <a:pt x="14288" y="0"/>
                  </a:cubicBezTo>
                  <a:lnTo>
                    <a:pt x="128588" y="0"/>
                  </a:lnTo>
                  <a:cubicBezTo>
                    <a:pt x="160151" y="0"/>
                    <a:pt x="185738" y="25587"/>
                    <a:pt x="185738" y="57150"/>
                  </a:cubicBezTo>
                  <a:cubicBezTo>
                    <a:pt x="185738" y="25587"/>
                    <a:pt x="211324" y="0"/>
                    <a:pt x="242888" y="0"/>
                  </a:cubicBezTo>
                  <a:lnTo>
                    <a:pt x="357188" y="0"/>
                  </a:lnTo>
                  <a:cubicBezTo>
                    <a:pt x="365078" y="0"/>
                    <a:pt x="371475" y="6397"/>
                    <a:pt x="371475" y="14288"/>
                  </a:cubicBezTo>
                  <a:close/>
                </a:path>
              </a:pathLst>
            </a:custGeom>
            <a:solidFill>
              <a:srgbClr val="2F4A6D">
                <a:alpha val="20000"/>
              </a:srgbClr>
            </a:solidFill>
            <a:ln>
              <a:noFill/>
            </a:ln>
          </p:spPr>
        </p:sp>
        <p:sp>
          <p:nvSpPr>
            <p:cNvPr id="66" name="Freeform 66"/>
            <p:cNvSpPr/>
            <p:nvPr/>
          </p:nvSpPr>
          <p:spPr>
            <a:xfrm>
              <a:off x="7019925" y="2992755"/>
              <a:ext cx="400050" cy="342900"/>
            </a:xfrm>
            <a:custGeom>
              <a:avLst/>
              <a:gdLst/>
              <a:ahLst/>
              <a:cxnLst/>
              <a:rect l="l" t="t" r="r" b="b"/>
              <a:pathLst>
                <a:path w="400050" h="342900">
                  <a:moveTo>
                    <a:pt x="371475" y="0"/>
                  </a:moveTo>
                  <a:lnTo>
                    <a:pt x="257175" y="0"/>
                  </a:lnTo>
                  <a:cubicBezTo>
                    <a:pt x="234690" y="0"/>
                    <a:pt x="213516" y="10587"/>
                    <a:pt x="200025" y="28575"/>
                  </a:cubicBezTo>
                  <a:cubicBezTo>
                    <a:pt x="186534" y="10587"/>
                    <a:pt x="165360" y="0"/>
                    <a:pt x="142875" y="0"/>
                  </a:cubicBezTo>
                  <a:lnTo>
                    <a:pt x="28575" y="0"/>
                  </a:lnTo>
                  <a:cubicBezTo>
                    <a:pt x="12793" y="0"/>
                    <a:pt x="0" y="12793"/>
                    <a:pt x="0" y="28575"/>
                  </a:cubicBezTo>
                  <a:lnTo>
                    <a:pt x="0" y="257175"/>
                  </a:lnTo>
                  <a:cubicBezTo>
                    <a:pt x="0" y="272957"/>
                    <a:pt x="12793" y="285750"/>
                    <a:pt x="28575" y="285750"/>
                  </a:cubicBezTo>
                  <a:lnTo>
                    <a:pt x="142875" y="285750"/>
                  </a:lnTo>
                  <a:cubicBezTo>
                    <a:pt x="166547" y="285750"/>
                    <a:pt x="185738" y="304940"/>
                    <a:pt x="185738" y="328612"/>
                  </a:cubicBezTo>
                  <a:cubicBezTo>
                    <a:pt x="185738" y="336503"/>
                    <a:pt x="192134" y="342900"/>
                    <a:pt x="200025" y="342900"/>
                  </a:cubicBezTo>
                  <a:cubicBezTo>
                    <a:pt x="207916" y="342900"/>
                    <a:pt x="214312" y="336503"/>
                    <a:pt x="214312" y="328612"/>
                  </a:cubicBezTo>
                  <a:cubicBezTo>
                    <a:pt x="214312" y="304940"/>
                    <a:pt x="233503" y="285750"/>
                    <a:pt x="257175" y="285750"/>
                  </a:cubicBezTo>
                  <a:lnTo>
                    <a:pt x="371475" y="285750"/>
                  </a:lnTo>
                  <a:cubicBezTo>
                    <a:pt x="387257" y="285750"/>
                    <a:pt x="400050" y="272957"/>
                    <a:pt x="400050" y="257175"/>
                  </a:cubicBezTo>
                  <a:lnTo>
                    <a:pt x="400050" y="28575"/>
                  </a:lnTo>
                  <a:cubicBezTo>
                    <a:pt x="400050" y="12793"/>
                    <a:pt x="387257" y="0"/>
                    <a:pt x="371475" y="0"/>
                  </a:cubicBezTo>
                  <a:close/>
                  <a:moveTo>
                    <a:pt x="142875" y="257175"/>
                  </a:moveTo>
                  <a:lnTo>
                    <a:pt x="28575" y="257175"/>
                  </a:lnTo>
                  <a:lnTo>
                    <a:pt x="28575" y="28575"/>
                  </a:lnTo>
                  <a:lnTo>
                    <a:pt x="142875" y="28575"/>
                  </a:lnTo>
                  <a:cubicBezTo>
                    <a:pt x="166547" y="28575"/>
                    <a:pt x="185738" y="47765"/>
                    <a:pt x="185738" y="71438"/>
                  </a:cubicBezTo>
                  <a:lnTo>
                    <a:pt x="185738" y="271462"/>
                  </a:lnTo>
                  <a:cubicBezTo>
                    <a:pt x="173384" y="262166"/>
                    <a:pt x="158336" y="257150"/>
                    <a:pt x="142875" y="257175"/>
                  </a:cubicBezTo>
                  <a:close/>
                  <a:moveTo>
                    <a:pt x="371475" y="257175"/>
                  </a:moveTo>
                  <a:lnTo>
                    <a:pt x="257175" y="257175"/>
                  </a:lnTo>
                  <a:cubicBezTo>
                    <a:pt x="241714" y="257150"/>
                    <a:pt x="226666" y="262166"/>
                    <a:pt x="214312" y="271462"/>
                  </a:cubicBezTo>
                  <a:lnTo>
                    <a:pt x="214312" y="71438"/>
                  </a:lnTo>
                  <a:cubicBezTo>
                    <a:pt x="214312" y="47765"/>
                    <a:pt x="233503" y="28575"/>
                    <a:pt x="257175" y="28575"/>
                  </a:cubicBezTo>
                  <a:lnTo>
                    <a:pt x="371475" y="28575"/>
                  </a:lnTo>
                  <a:close/>
                </a:path>
              </a:pathLst>
            </a:custGeom>
            <a:solidFill>
              <a:srgbClr val="2F4A6D"/>
            </a:solidFill>
            <a:ln>
              <a:noFill/>
            </a:ln>
          </p:spPr>
        </p:sp>
      </p:grpSp>
      <p:sp>
        <p:nvSpPr>
          <p:cNvPr id="68" name="TextBox 68"/>
          <p:cNvSpPr txBox="1"/>
          <p:nvPr/>
        </p:nvSpPr>
        <p:spPr>
          <a:xfrm>
            <a:off x="6975158" y="3607594"/>
            <a:ext cx="2244604"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The detection is written</a:t>
            </a:r>
          </a:p>
        </p:txBody>
      </p:sp>
      <p:sp>
        <p:nvSpPr>
          <p:cNvPr id="69" name="TextBox 69"/>
          <p:cNvSpPr txBox="1"/>
          <p:nvPr/>
        </p:nvSpPr>
        <p:spPr>
          <a:xfrm>
            <a:off x="6975158" y="3845719"/>
            <a:ext cx="1574235"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up and dated in a</a:t>
            </a:r>
          </a:p>
        </p:txBody>
      </p:sp>
      <p:sp>
        <p:nvSpPr>
          <p:cNvPr id="70" name="TextBox 70"/>
          <p:cNvSpPr txBox="1"/>
          <p:nvPr/>
        </p:nvSpPr>
        <p:spPr>
          <a:xfrm>
            <a:off x="6975158" y="4083844"/>
            <a:ext cx="1507198"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paper or report</a:t>
            </a:r>
          </a:p>
        </p:txBody>
      </p:sp>
      <p:sp>
        <p:nvSpPr>
          <p:cNvPr id="71" name="Rectangle 71"/>
          <p:cNvSpPr/>
          <p:nvPr/>
        </p:nvSpPr>
        <p:spPr>
          <a:xfrm>
            <a:off x="6991350" y="4411980"/>
            <a:ext cx="2324100" cy="285750"/>
          </a:xfrm>
          <a:prstGeom prst="roundRect">
            <a:avLst>
              <a:gd name="adj" fmla="val 50000"/>
            </a:avLst>
          </a:prstGeom>
          <a:solidFill>
            <a:srgbClr val="EAEDF0"/>
          </a:solidFill>
          <a:ln>
            <a:noFill/>
          </a:ln>
        </p:spPr>
      </p:sp>
      <p:sp>
        <p:nvSpPr>
          <p:cNvPr id="72" name="TextBox 72"/>
          <p:cNvSpPr txBox="1"/>
          <p:nvPr/>
        </p:nvSpPr>
        <p:spPr>
          <a:xfrm>
            <a:off x="7010400" y="4466272"/>
            <a:ext cx="2286000" cy="214312"/>
          </a:xfrm>
          <a:prstGeom prst="rect">
            <a:avLst/>
          </a:prstGeom>
          <a:noFill/>
          <a:ln>
            <a:noFill/>
          </a:ln>
        </p:spPr>
        <p:txBody>
          <a:bodyPr wrap="square" lIns="0" tIns="0" rIns="0" bIns="0" anchor="t" anchorCtr="0">
            <a:normAutofit/>
          </a:bodyPr>
          <a:lstStyle/>
          <a:p>
            <a:pPr algn="ctr"/>
            <a:r>
              <a:rPr lang="zh-CN" sz="1125" b="1" dirty="0">
                <a:solidFill>
                  <a:srgbClr val="2F4A6D"/>
                </a:solidFill>
                <a:latin typeface="Arial"/>
                <a:ea typeface="Microsoft YaHei"/>
                <a:cs typeface="Arial"/>
              </a:rPr>
              <a:t>Documentation</a:t>
            </a:r>
          </a:p>
        </p:txBody>
      </p:sp>
      <p:sp>
        <p:nvSpPr>
          <p:cNvPr id="73" name="Freeform 73"/>
          <p:cNvSpPr/>
          <p:nvPr/>
        </p:nvSpPr>
        <p:spPr>
          <a:xfrm>
            <a:off x="9639300" y="3459480"/>
            <a:ext cx="148590" cy="247650"/>
          </a:xfrm>
          <a:custGeom>
            <a:avLst/>
            <a:gdLst/>
            <a:ahLst/>
            <a:cxnLst/>
            <a:rect l="l" t="t" r="r" b="b"/>
            <a:pathLst>
              <a:path w="148590" h="247650">
                <a:moveTo>
                  <a:pt x="0" y="0"/>
                </a:moveTo>
                <a:lnTo>
                  <a:pt x="148590" y="123825"/>
                </a:lnTo>
                <a:lnTo>
                  <a:pt x="0" y="247650"/>
                </a:lnTo>
                <a:close/>
              </a:path>
            </a:pathLst>
          </a:custGeom>
          <a:solidFill>
            <a:srgbClr val="8B0012"/>
          </a:solidFill>
          <a:ln>
            <a:noFill/>
          </a:ln>
        </p:spPr>
      </p:sp>
      <p:sp>
        <p:nvSpPr>
          <p:cNvPr id="74" name="Rectangle 74"/>
          <p:cNvSpPr/>
          <p:nvPr/>
        </p:nvSpPr>
        <p:spPr>
          <a:xfrm>
            <a:off x="9944100" y="2335530"/>
            <a:ext cx="1733550" cy="2495550"/>
          </a:xfrm>
          <a:prstGeom prst="roundRect">
            <a:avLst>
              <a:gd name="adj" fmla="val 5495"/>
            </a:avLst>
          </a:prstGeom>
          <a:solidFill>
            <a:srgbClr val="8B0012"/>
          </a:solidFill>
          <a:ln>
            <a:noFill/>
          </a:ln>
        </p:spPr>
      </p:sp>
      <p:grpSp>
        <p:nvGrpSpPr>
          <p:cNvPr id="77" name="Group 77"/>
          <p:cNvGrpSpPr/>
          <p:nvPr/>
        </p:nvGrpSpPr>
        <p:grpSpPr>
          <a:xfrm>
            <a:off x="10614422" y="2809399"/>
            <a:ext cx="392906" cy="501135"/>
            <a:chOff x="10614422" y="2809399"/>
            <a:chExt cx="392906" cy="501135"/>
          </a:xfrm>
        </p:grpSpPr>
        <p:sp>
          <p:nvSpPr>
            <p:cNvPr id="75" name="Freeform 75"/>
            <p:cNvSpPr/>
            <p:nvPr/>
          </p:nvSpPr>
          <p:spPr>
            <a:xfrm>
              <a:off x="10632281" y="2827258"/>
              <a:ext cx="357188" cy="464344"/>
            </a:xfrm>
            <a:custGeom>
              <a:avLst/>
              <a:gdLst/>
              <a:ahLst/>
              <a:cxnLst/>
              <a:rect l="l" t="t" r="r" b="b"/>
              <a:pathLst>
                <a:path w="357188" h="464344">
                  <a:moveTo>
                    <a:pt x="178594" y="0"/>
                  </a:moveTo>
                  <a:cubicBezTo>
                    <a:pt x="79959" y="0"/>
                    <a:pt x="0" y="79959"/>
                    <a:pt x="0" y="178594"/>
                  </a:cubicBezTo>
                  <a:cubicBezTo>
                    <a:pt x="0" y="339328"/>
                    <a:pt x="178594" y="464344"/>
                    <a:pt x="178594" y="464344"/>
                  </a:cubicBezTo>
                  <a:cubicBezTo>
                    <a:pt x="178594" y="464344"/>
                    <a:pt x="357188" y="339328"/>
                    <a:pt x="357188" y="178594"/>
                  </a:cubicBezTo>
                  <a:cubicBezTo>
                    <a:pt x="357188" y="79959"/>
                    <a:pt x="277228" y="0"/>
                    <a:pt x="178594" y="0"/>
                  </a:cubicBezTo>
                  <a:close/>
                  <a:moveTo>
                    <a:pt x="178594" y="250031"/>
                  </a:moveTo>
                  <a:cubicBezTo>
                    <a:pt x="139140" y="250031"/>
                    <a:pt x="107156" y="218048"/>
                    <a:pt x="107156" y="178594"/>
                  </a:cubicBezTo>
                  <a:cubicBezTo>
                    <a:pt x="107156" y="139140"/>
                    <a:pt x="139140" y="107156"/>
                    <a:pt x="178594" y="107156"/>
                  </a:cubicBezTo>
                  <a:cubicBezTo>
                    <a:pt x="218048" y="107156"/>
                    <a:pt x="250031" y="139140"/>
                    <a:pt x="250031" y="178594"/>
                  </a:cubicBezTo>
                  <a:cubicBezTo>
                    <a:pt x="250031" y="218048"/>
                    <a:pt x="218048" y="250031"/>
                    <a:pt x="178594" y="250031"/>
                  </a:cubicBezTo>
                  <a:close/>
                </a:path>
              </a:pathLst>
            </a:custGeom>
            <a:solidFill>
              <a:srgbClr val="FFFFFF">
                <a:alpha val="20000"/>
              </a:srgbClr>
            </a:solidFill>
            <a:ln>
              <a:noFill/>
            </a:ln>
          </p:spPr>
        </p:sp>
        <p:sp>
          <p:nvSpPr>
            <p:cNvPr id="76" name="Freeform 76"/>
            <p:cNvSpPr/>
            <p:nvPr/>
          </p:nvSpPr>
          <p:spPr>
            <a:xfrm>
              <a:off x="10614422" y="2809399"/>
              <a:ext cx="392906" cy="501135"/>
            </a:xfrm>
            <a:custGeom>
              <a:avLst/>
              <a:gdLst/>
              <a:ahLst/>
              <a:cxnLst/>
              <a:rect l="l" t="t" r="r" b="b"/>
              <a:pathLst>
                <a:path w="392906" h="501135">
                  <a:moveTo>
                    <a:pt x="196453" y="107156"/>
                  </a:moveTo>
                  <a:cubicBezTo>
                    <a:pt x="147136" y="107156"/>
                    <a:pt x="107156" y="147136"/>
                    <a:pt x="107156" y="196453"/>
                  </a:cubicBezTo>
                  <a:cubicBezTo>
                    <a:pt x="107156" y="245770"/>
                    <a:pt x="147136" y="285750"/>
                    <a:pt x="196453" y="285750"/>
                  </a:cubicBezTo>
                  <a:cubicBezTo>
                    <a:pt x="245770" y="285750"/>
                    <a:pt x="285750" y="245770"/>
                    <a:pt x="285750" y="196453"/>
                  </a:cubicBezTo>
                  <a:cubicBezTo>
                    <a:pt x="285750" y="147136"/>
                    <a:pt x="245770" y="107156"/>
                    <a:pt x="196453" y="107156"/>
                  </a:cubicBezTo>
                  <a:close/>
                  <a:moveTo>
                    <a:pt x="196453" y="250031"/>
                  </a:moveTo>
                  <a:cubicBezTo>
                    <a:pt x="166863" y="250031"/>
                    <a:pt x="142875" y="226044"/>
                    <a:pt x="142875" y="196453"/>
                  </a:cubicBezTo>
                  <a:cubicBezTo>
                    <a:pt x="142875" y="166863"/>
                    <a:pt x="166863" y="142875"/>
                    <a:pt x="196453" y="142875"/>
                  </a:cubicBezTo>
                  <a:cubicBezTo>
                    <a:pt x="226044" y="142875"/>
                    <a:pt x="250031" y="166863"/>
                    <a:pt x="250031" y="196453"/>
                  </a:cubicBezTo>
                  <a:cubicBezTo>
                    <a:pt x="250031" y="226044"/>
                    <a:pt x="226044" y="250031"/>
                    <a:pt x="196453" y="250031"/>
                  </a:cubicBezTo>
                  <a:close/>
                  <a:moveTo>
                    <a:pt x="196453" y="0"/>
                  </a:moveTo>
                  <a:cubicBezTo>
                    <a:pt x="88006" y="123"/>
                    <a:pt x="123" y="88006"/>
                    <a:pt x="0" y="196453"/>
                  </a:cubicBezTo>
                  <a:cubicBezTo>
                    <a:pt x="0" y="266551"/>
                    <a:pt x="32392" y="340846"/>
                    <a:pt x="93762" y="411324"/>
                  </a:cubicBezTo>
                  <a:cubicBezTo>
                    <a:pt x="121337" y="443171"/>
                    <a:pt x="152373" y="471848"/>
                    <a:pt x="186296" y="496825"/>
                  </a:cubicBezTo>
                  <a:cubicBezTo>
                    <a:pt x="192447" y="501135"/>
                    <a:pt x="200638" y="501135"/>
                    <a:pt x="206789" y="496825"/>
                  </a:cubicBezTo>
                  <a:cubicBezTo>
                    <a:pt x="240649" y="471838"/>
                    <a:pt x="271625" y="443161"/>
                    <a:pt x="299145" y="411324"/>
                  </a:cubicBezTo>
                  <a:cubicBezTo>
                    <a:pt x="360425" y="340846"/>
                    <a:pt x="392906" y="266551"/>
                    <a:pt x="392906" y="196453"/>
                  </a:cubicBezTo>
                  <a:cubicBezTo>
                    <a:pt x="392783" y="88006"/>
                    <a:pt x="304900" y="123"/>
                    <a:pt x="196453" y="0"/>
                  </a:cubicBezTo>
                  <a:close/>
                  <a:moveTo>
                    <a:pt x="196453" y="459879"/>
                  </a:moveTo>
                  <a:cubicBezTo>
                    <a:pt x="159551" y="430857"/>
                    <a:pt x="35719" y="324259"/>
                    <a:pt x="35719" y="196453"/>
                  </a:cubicBezTo>
                  <a:cubicBezTo>
                    <a:pt x="35719" y="107682"/>
                    <a:pt x="107682" y="35719"/>
                    <a:pt x="196453" y="35719"/>
                  </a:cubicBezTo>
                  <a:cubicBezTo>
                    <a:pt x="285224" y="35719"/>
                    <a:pt x="357188" y="107682"/>
                    <a:pt x="357188" y="196453"/>
                  </a:cubicBezTo>
                  <a:cubicBezTo>
                    <a:pt x="357188" y="324215"/>
                    <a:pt x="233355" y="430857"/>
                    <a:pt x="196453" y="459879"/>
                  </a:cubicBezTo>
                  <a:close/>
                </a:path>
              </a:pathLst>
            </a:custGeom>
            <a:solidFill>
              <a:srgbClr val="FFFFFF"/>
            </a:solidFill>
            <a:ln>
              <a:noFill/>
            </a:ln>
          </p:spPr>
        </p:sp>
      </p:grpSp>
      <p:sp>
        <p:nvSpPr>
          <p:cNvPr id="78" name="TextBox 78"/>
          <p:cNvSpPr txBox="1"/>
          <p:nvPr/>
        </p:nvSpPr>
        <p:spPr>
          <a:xfrm>
            <a:off x="9991725" y="3547110"/>
            <a:ext cx="1638300" cy="342900"/>
          </a:xfrm>
          <a:prstGeom prst="rect">
            <a:avLst/>
          </a:prstGeom>
          <a:noFill/>
          <a:ln>
            <a:noFill/>
          </a:ln>
        </p:spPr>
        <p:txBody>
          <a:bodyPr wrap="square" lIns="0" tIns="0" rIns="0" bIns="0" anchor="t" anchorCtr="0">
            <a:normAutofit/>
          </a:bodyPr>
          <a:lstStyle/>
          <a:p>
            <a:pPr algn="ctr"/>
            <a:r>
              <a:rPr lang="zh-CN" sz="1800" b="1" dirty="0">
                <a:solidFill>
                  <a:srgbClr val="FFFFFF"/>
                </a:solidFill>
                <a:latin typeface="Arial"/>
                <a:ea typeface="Microsoft YaHei"/>
                <a:cs typeface="Arial"/>
              </a:rPr>
              <a:t>New</a:t>
            </a:r>
          </a:p>
        </p:txBody>
      </p:sp>
      <p:sp>
        <p:nvSpPr>
          <p:cNvPr id="79" name="TextBox 79"/>
          <p:cNvSpPr txBox="1"/>
          <p:nvPr/>
        </p:nvSpPr>
        <p:spPr>
          <a:xfrm>
            <a:off x="9991725" y="3832860"/>
            <a:ext cx="1638300" cy="342900"/>
          </a:xfrm>
          <a:prstGeom prst="rect">
            <a:avLst/>
          </a:prstGeom>
          <a:noFill/>
          <a:ln>
            <a:noFill/>
          </a:ln>
        </p:spPr>
        <p:txBody>
          <a:bodyPr wrap="square" lIns="0" tIns="0" rIns="0" bIns="0" anchor="t" anchorCtr="0">
            <a:normAutofit/>
          </a:bodyPr>
          <a:lstStyle/>
          <a:p>
            <a:pPr algn="ctr"/>
            <a:r>
              <a:rPr lang="zh-CN" sz="1800" b="1" dirty="0">
                <a:solidFill>
                  <a:srgbClr val="FFFFFF"/>
                </a:solidFill>
                <a:latin typeface="Arial"/>
                <a:ea typeface="Microsoft YaHei"/>
                <a:cs typeface="Arial"/>
              </a:rPr>
              <a:t>record</a:t>
            </a:r>
          </a:p>
        </p:txBody>
      </p:sp>
      <p:sp>
        <p:nvSpPr>
          <p:cNvPr id="80" name="Line 80"/>
          <p:cNvSpPr/>
          <p:nvPr/>
        </p:nvSpPr>
        <p:spPr>
          <a:xfrm>
            <a:off x="514350" y="5002530"/>
            <a:ext cx="2705100" cy="9525"/>
          </a:xfrm>
          <a:custGeom>
            <a:avLst/>
            <a:gdLst/>
            <a:ahLst/>
            <a:cxnLst/>
            <a:rect l="l" t="t" r="r" b="b"/>
            <a:pathLst>
              <a:path w="2705100" h="9525">
                <a:moveTo>
                  <a:pt x="0" y="0"/>
                </a:moveTo>
                <a:lnTo>
                  <a:pt x="2705100" y="0"/>
                </a:lnTo>
              </a:path>
            </a:pathLst>
          </a:custGeom>
          <a:noFill/>
          <a:ln w="19050">
            <a:solidFill>
              <a:srgbClr val="D1552C"/>
            </a:solidFill>
          </a:ln>
        </p:spPr>
      </p:sp>
      <p:sp>
        <p:nvSpPr>
          <p:cNvPr id="81" name="Line 81"/>
          <p:cNvSpPr/>
          <p:nvPr/>
        </p:nvSpPr>
        <p:spPr>
          <a:xfrm>
            <a:off x="514350" y="4935855"/>
            <a:ext cx="9525" cy="66675"/>
          </a:xfrm>
          <a:custGeom>
            <a:avLst/>
            <a:gdLst/>
            <a:ahLst/>
            <a:cxnLst/>
            <a:rect l="l" t="t" r="r" b="b"/>
            <a:pathLst>
              <a:path w="9525" h="66675">
                <a:moveTo>
                  <a:pt x="0" y="0"/>
                </a:moveTo>
                <a:lnTo>
                  <a:pt x="0" y="66675"/>
                </a:lnTo>
              </a:path>
            </a:pathLst>
          </a:custGeom>
          <a:noFill/>
          <a:ln w="19050">
            <a:solidFill>
              <a:srgbClr val="D1552C"/>
            </a:solidFill>
          </a:ln>
        </p:spPr>
      </p:sp>
      <p:sp>
        <p:nvSpPr>
          <p:cNvPr id="82" name="Line 82"/>
          <p:cNvSpPr/>
          <p:nvPr/>
        </p:nvSpPr>
        <p:spPr>
          <a:xfrm>
            <a:off x="3219450" y="4935855"/>
            <a:ext cx="9525" cy="66675"/>
          </a:xfrm>
          <a:custGeom>
            <a:avLst/>
            <a:gdLst/>
            <a:ahLst/>
            <a:cxnLst/>
            <a:rect l="l" t="t" r="r" b="b"/>
            <a:pathLst>
              <a:path w="9525" h="66675">
                <a:moveTo>
                  <a:pt x="0" y="0"/>
                </a:moveTo>
                <a:lnTo>
                  <a:pt x="0" y="66675"/>
                </a:lnTo>
              </a:path>
            </a:pathLst>
          </a:custGeom>
          <a:noFill/>
          <a:ln w="19050">
            <a:solidFill>
              <a:srgbClr val="D1552C"/>
            </a:solidFill>
          </a:ln>
        </p:spPr>
      </p:sp>
      <p:sp>
        <p:nvSpPr>
          <p:cNvPr id="83" name="TextBox 83"/>
          <p:cNvSpPr txBox="1"/>
          <p:nvPr/>
        </p:nvSpPr>
        <p:spPr>
          <a:xfrm>
            <a:off x="323850" y="5086350"/>
            <a:ext cx="3086100" cy="228600"/>
          </a:xfrm>
          <a:prstGeom prst="rect">
            <a:avLst/>
          </a:prstGeom>
          <a:noFill/>
          <a:ln>
            <a:noFill/>
          </a:ln>
        </p:spPr>
        <p:txBody>
          <a:bodyPr wrap="square" lIns="0" tIns="0" rIns="0" bIns="0" anchor="t" anchorCtr="0">
            <a:normAutofit/>
          </a:bodyPr>
          <a:lstStyle/>
          <a:p>
            <a:pPr algn="ctr"/>
            <a:r>
              <a:rPr lang="zh-CN" sz="1200" b="1" dirty="0">
                <a:solidFill>
                  <a:srgbClr val="D1552C"/>
                </a:solidFill>
                <a:latin typeface="Arial"/>
                <a:ea typeface="Microsoft YaHei"/>
                <a:cs typeface="Arial"/>
              </a:rPr>
              <a:t>Only this link is ecological</a:t>
            </a:r>
          </a:p>
        </p:txBody>
      </p:sp>
      <p:sp>
        <p:nvSpPr>
          <p:cNvPr id="84" name="Line 84"/>
          <p:cNvSpPr/>
          <p:nvPr/>
        </p:nvSpPr>
        <p:spPr>
          <a:xfrm>
            <a:off x="3657600" y="5002530"/>
            <a:ext cx="5848350" cy="9525"/>
          </a:xfrm>
          <a:custGeom>
            <a:avLst/>
            <a:gdLst/>
            <a:ahLst/>
            <a:cxnLst/>
            <a:rect l="l" t="t" r="r" b="b"/>
            <a:pathLst>
              <a:path w="5848350" h="9525">
                <a:moveTo>
                  <a:pt x="0" y="0"/>
                </a:moveTo>
                <a:lnTo>
                  <a:pt x="5848350" y="0"/>
                </a:lnTo>
              </a:path>
            </a:pathLst>
          </a:custGeom>
          <a:noFill/>
          <a:ln w="19050">
            <a:solidFill>
              <a:srgbClr val="1F5F9E"/>
            </a:solidFill>
          </a:ln>
        </p:spPr>
      </p:sp>
      <p:sp>
        <p:nvSpPr>
          <p:cNvPr id="85" name="Line 85"/>
          <p:cNvSpPr/>
          <p:nvPr/>
        </p:nvSpPr>
        <p:spPr>
          <a:xfrm>
            <a:off x="3657600" y="4935855"/>
            <a:ext cx="9525" cy="66675"/>
          </a:xfrm>
          <a:custGeom>
            <a:avLst/>
            <a:gdLst/>
            <a:ahLst/>
            <a:cxnLst/>
            <a:rect l="l" t="t" r="r" b="b"/>
            <a:pathLst>
              <a:path w="9525" h="66675">
                <a:moveTo>
                  <a:pt x="0" y="0"/>
                </a:moveTo>
                <a:lnTo>
                  <a:pt x="0" y="66675"/>
                </a:lnTo>
              </a:path>
            </a:pathLst>
          </a:custGeom>
          <a:noFill/>
          <a:ln w="19050">
            <a:solidFill>
              <a:srgbClr val="1F5F9E"/>
            </a:solidFill>
          </a:ln>
        </p:spPr>
      </p:sp>
      <p:sp>
        <p:nvSpPr>
          <p:cNvPr id="86" name="Line 86"/>
          <p:cNvSpPr/>
          <p:nvPr/>
        </p:nvSpPr>
        <p:spPr>
          <a:xfrm>
            <a:off x="9505950" y="4935855"/>
            <a:ext cx="9525" cy="66675"/>
          </a:xfrm>
          <a:custGeom>
            <a:avLst/>
            <a:gdLst/>
            <a:ahLst/>
            <a:cxnLst/>
            <a:rect l="l" t="t" r="r" b="b"/>
            <a:pathLst>
              <a:path w="9525" h="66675">
                <a:moveTo>
                  <a:pt x="0" y="0"/>
                </a:moveTo>
                <a:lnTo>
                  <a:pt x="0" y="66675"/>
                </a:lnTo>
              </a:path>
            </a:pathLst>
          </a:custGeom>
          <a:noFill/>
          <a:ln w="19050">
            <a:solidFill>
              <a:srgbClr val="1F5F9E"/>
            </a:solidFill>
          </a:ln>
        </p:spPr>
      </p:sp>
      <p:sp>
        <p:nvSpPr>
          <p:cNvPr id="87" name="TextBox 87"/>
          <p:cNvSpPr txBox="1"/>
          <p:nvPr/>
        </p:nvSpPr>
        <p:spPr>
          <a:xfrm>
            <a:off x="3657600" y="5086350"/>
            <a:ext cx="5848350" cy="228600"/>
          </a:xfrm>
          <a:prstGeom prst="rect">
            <a:avLst/>
          </a:prstGeom>
          <a:noFill/>
          <a:ln>
            <a:noFill/>
          </a:ln>
        </p:spPr>
        <p:txBody>
          <a:bodyPr wrap="square" lIns="0" tIns="0" rIns="0" bIns="0" anchor="t" anchorCtr="0">
            <a:normAutofit/>
          </a:bodyPr>
          <a:lstStyle/>
          <a:p>
            <a:pPr algn="ctr"/>
            <a:r>
              <a:rPr lang="zh-CN" sz="1200" b="1" dirty="0">
                <a:solidFill>
                  <a:srgbClr val="1F5F9E"/>
                </a:solidFill>
                <a:latin typeface="Arial"/>
                <a:ea typeface="Microsoft YaHei"/>
                <a:cs typeface="Arial"/>
              </a:rPr>
              <a:t>These two leave the same trace in the data</a:t>
            </a:r>
          </a:p>
        </p:txBody>
      </p:sp>
      <p:sp>
        <p:nvSpPr>
          <p:cNvPr id="88" name="Rectangle 88"/>
          <p:cNvSpPr/>
          <p:nvPr/>
        </p:nvSpPr>
        <p:spPr>
          <a:xfrm>
            <a:off x="514350" y="5759768"/>
            <a:ext cx="123825" cy="123825"/>
          </a:xfrm>
          <a:prstGeom prst="roundRect">
            <a:avLst>
              <a:gd name="adj" fmla="val 11538"/>
            </a:avLst>
          </a:prstGeom>
          <a:solidFill>
            <a:srgbClr val="FFFFFF"/>
          </a:solidFill>
          <a:ln w="19050">
            <a:solidFill>
              <a:srgbClr val="8B0012"/>
            </a:solidFill>
          </a:ln>
        </p:spPr>
      </p:sp>
      <p:sp>
        <p:nvSpPr>
          <p:cNvPr id="89" name="TextBox 89"/>
          <p:cNvSpPr txBox="1"/>
          <p:nvPr/>
        </p:nvSpPr>
        <p:spPr>
          <a:xfrm>
            <a:off x="726758" y="5748814"/>
            <a:ext cx="9037682"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Imperfect detection and uneven sampling can create apparent range changes where none occurred</a:t>
            </a:r>
          </a:p>
        </p:txBody>
      </p:sp>
      <p:sp>
        <p:nvSpPr>
          <p:cNvPr id="90" name="Rectangle 90"/>
          <p:cNvSpPr/>
          <p:nvPr/>
        </p:nvSpPr>
        <p:spPr>
          <a:xfrm>
            <a:off x="514350" y="6055042"/>
            <a:ext cx="123825" cy="123825"/>
          </a:xfrm>
          <a:prstGeom prst="roundRect">
            <a:avLst>
              <a:gd name="adj" fmla="val 11538"/>
            </a:avLst>
          </a:prstGeom>
          <a:solidFill>
            <a:srgbClr val="FFFFFF"/>
          </a:solidFill>
          <a:ln w="19050">
            <a:solidFill>
              <a:srgbClr val="8B0012"/>
            </a:solidFill>
          </a:ln>
        </p:spPr>
      </p:sp>
      <p:sp>
        <p:nvSpPr>
          <p:cNvPr id="91" name="TextBox 91"/>
          <p:cNvSpPr txBox="1"/>
          <p:nvPr/>
        </p:nvSpPr>
        <p:spPr>
          <a:xfrm>
            <a:off x="726758" y="6044089"/>
            <a:ext cx="7637355"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In China, provincial new bird records have been read as evidence of poleward shifts</a:t>
            </a:r>
          </a:p>
        </p:txBody>
      </p:sp>
      <p:sp>
        <p:nvSpPr>
          <p:cNvPr id="92" name="TextBox 92"/>
          <p:cNvSpPr txBox="1"/>
          <p:nvPr/>
        </p:nvSpPr>
        <p:spPr>
          <a:xfrm>
            <a:off x="6713372" y="6341745"/>
            <a:ext cx="4975708" cy="182880"/>
          </a:xfrm>
          <a:prstGeom prst="rect">
            <a:avLst/>
          </a:prstGeom>
          <a:noFill/>
          <a:ln>
            <a:noFill/>
          </a:ln>
        </p:spPr>
        <p:txBody>
          <a:bodyPr wrap="none" lIns="0" tIns="0" rIns="0" bIns="0" anchor="t" anchorCtr="0">
            <a:spAutoFit/>
          </a:bodyPr>
          <a:lstStyle/>
          <a:p>
            <a:pPr algn="r"/>
            <a:r>
              <a:rPr lang="zh-CN" sz="900" dirty="0">
                <a:solidFill>
                  <a:srgbClr val="6B6B6B"/>
                </a:solidFill>
                <a:latin typeface="Arial"/>
                <a:ea typeface="Microsoft YaHei"/>
                <a:cs typeface="Arial"/>
              </a:rPr>
              <a:t>Tingley &amp; Beissinger 2009; Hughes et al. 2021; Xing et al. 2024; Chen et al. 2025</a:t>
            </a:r>
          </a:p>
        </p:txBody>
      </p:sp>
      <p:sp>
        <p:nvSpPr>
          <p:cNvPr id="93" name="TextBox 93"/>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94" name="TextBox 94"/>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02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Rectangle 6"/>
          <p:cNvSpPr/>
          <p:nvPr/>
        </p:nvSpPr>
        <p:spPr>
          <a:xfrm>
            <a:off x="914400" y="0"/>
            <a:ext cx="1866900" cy="609600"/>
          </a:xfrm>
          <a:prstGeom prst="rect">
            <a:avLst/>
          </a:prstGeom>
          <a:solidFill>
            <a:srgbClr val="FFFFFF"/>
          </a:solidFill>
          <a:ln>
            <a:noFill/>
          </a:ln>
        </p:spPr>
      </p:sp>
      <p:sp>
        <p:nvSpPr>
          <p:cNvPr id="7" name="TextBox 7"/>
          <p:cNvSpPr txBox="1"/>
          <p:nvPr/>
        </p:nvSpPr>
        <p:spPr>
          <a:xfrm>
            <a:off x="9525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Background</a:t>
            </a:r>
          </a:p>
        </p:txBody>
      </p:sp>
      <p:sp>
        <p:nvSpPr>
          <p:cNvPr id="8" name="TextBox 8"/>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9" name="TextBox 9"/>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10" name="TextBox 10"/>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1" name="TextBox 11"/>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673162"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Background</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7134728"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After 2002, warming, birding and new records all rose together</a:t>
            </a:r>
          </a:p>
        </p:txBody>
      </p:sp>
      <p:sp>
        <p:nvSpPr>
          <p:cNvPr id="17" name="Rectangle 17"/>
          <p:cNvSpPr/>
          <p:nvPr/>
        </p:nvSpPr>
        <p:spPr>
          <a:xfrm>
            <a:off x="933450" y="1295400"/>
            <a:ext cx="10325100" cy="5181600"/>
          </a:xfrm>
          <a:prstGeom prst="roundRect">
            <a:avLst>
              <a:gd name="adj" fmla="val 1471"/>
            </a:avLst>
          </a:prstGeom>
          <a:solidFill>
            <a:srgbClr val="FFFFFF"/>
          </a:solidFill>
          <a:ln w="11430">
            <a:solidFill>
              <a:srgbClr val="D9C7CA"/>
            </a:solidFill>
          </a:ln>
        </p:spPr>
      </p:sp>
      <p:pic>
        <p:nvPicPr>
          <p:cNvPr id="18" name="Image 18"/>
          <p:cNvPicPr>
            <a:picLocks noChangeAspect="1"/>
          </p:cNvPicPr>
          <p:nvPr/>
        </p:nvPicPr>
        <p:blipFill>
          <a:blip r:embed="rId3"/>
          <a:stretch>
            <a:fillRect/>
          </a:stretch>
        </p:blipFill>
        <p:spPr>
          <a:xfrm>
            <a:off x="990600" y="1333500"/>
            <a:ext cx="10210800" cy="5105400"/>
          </a:xfrm>
          <a:prstGeom prst="rect">
            <a:avLst/>
          </a:prstGeom>
        </p:spPr>
      </p:pic>
      <p:sp>
        <p:nvSpPr>
          <p:cNvPr id="19" name="TextBox 19"/>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20" name="TextBox 20"/>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03</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Rectangle 7"/>
          <p:cNvSpPr/>
          <p:nvPr/>
        </p:nvSpPr>
        <p:spPr>
          <a:xfrm>
            <a:off x="2781300" y="0"/>
            <a:ext cx="1866900" cy="609600"/>
          </a:xfrm>
          <a:prstGeom prst="rect">
            <a:avLst/>
          </a:prstGeom>
          <a:solidFill>
            <a:srgbClr val="FFFFFF"/>
          </a:solidFill>
          <a:ln>
            <a:noFill/>
          </a:ln>
        </p:spPr>
      </p:sp>
      <p:sp>
        <p:nvSpPr>
          <p:cNvPr id="8" name="TextBox 8"/>
          <p:cNvSpPr txBox="1"/>
          <p:nvPr/>
        </p:nvSpPr>
        <p:spPr>
          <a:xfrm>
            <a:off x="28194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Research gaps</a:t>
            </a:r>
          </a:p>
        </p:txBody>
      </p:sp>
      <p:sp>
        <p:nvSpPr>
          <p:cNvPr id="9" name="TextBox 9"/>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10" name="TextBox 10"/>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1" name="TextBox 11"/>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2091157"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Research gaps</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8054317"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Analyses of new records have not separated ecology from observation</a:t>
            </a:r>
          </a:p>
        </p:txBody>
      </p:sp>
      <p:sp>
        <p:nvSpPr>
          <p:cNvPr id="17" name="Rectangle 17"/>
          <p:cNvSpPr/>
          <p:nvPr/>
        </p:nvSpPr>
        <p:spPr>
          <a:xfrm>
            <a:off x="514350" y="1390650"/>
            <a:ext cx="5295900" cy="3638550"/>
          </a:xfrm>
          <a:prstGeom prst="roundRect">
            <a:avLst>
              <a:gd name="adj" fmla="val 2618"/>
            </a:avLst>
          </a:prstGeom>
          <a:solidFill>
            <a:srgbClr val="FFFFFF"/>
          </a:solidFill>
          <a:ln w="14288">
            <a:solidFill>
              <a:srgbClr val="D9C7CA"/>
            </a:solidFill>
          </a:ln>
        </p:spPr>
      </p:sp>
      <p:grpSp>
        <p:nvGrpSpPr>
          <p:cNvPr id="20" name="Group 20"/>
          <p:cNvGrpSpPr/>
          <p:nvPr/>
        </p:nvGrpSpPr>
        <p:grpSpPr>
          <a:xfrm>
            <a:off x="703659" y="1577578"/>
            <a:ext cx="250031" cy="214312"/>
            <a:chOff x="703659" y="1577578"/>
            <a:chExt cx="250031" cy="214312"/>
          </a:xfrm>
        </p:grpSpPr>
        <p:sp>
          <p:nvSpPr>
            <p:cNvPr id="18" name="Freeform 18"/>
            <p:cNvSpPr/>
            <p:nvPr/>
          </p:nvSpPr>
          <p:spPr>
            <a:xfrm>
              <a:off x="712589" y="1586508"/>
              <a:ext cx="232172" cy="196453"/>
            </a:xfrm>
            <a:custGeom>
              <a:avLst/>
              <a:gdLst/>
              <a:ahLst/>
              <a:cxnLst/>
              <a:rect l="l" t="t" r="r" b="b"/>
              <a:pathLst>
                <a:path w="232172" h="196453">
                  <a:moveTo>
                    <a:pt x="232172" y="8930"/>
                  </a:moveTo>
                  <a:lnTo>
                    <a:pt x="232172" y="151805"/>
                  </a:lnTo>
                  <a:cubicBezTo>
                    <a:pt x="232172" y="156736"/>
                    <a:pt x="228174" y="160734"/>
                    <a:pt x="223242" y="160734"/>
                  </a:cubicBezTo>
                  <a:lnTo>
                    <a:pt x="151805" y="160734"/>
                  </a:lnTo>
                  <a:cubicBezTo>
                    <a:pt x="132078" y="160734"/>
                    <a:pt x="116086" y="176726"/>
                    <a:pt x="116086" y="196453"/>
                  </a:cubicBezTo>
                  <a:cubicBezTo>
                    <a:pt x="116086" y="176726"/>
                    <a:pt x="100094" y="160734"/>
                    <a:pt x="80367" y="160734"/>
                  </a:cubicBezTo>
                  <a:lnTo>
                    <a:pt x="8930" y="160734"/>
                  </a:lnTo>
                  <a:cubicBezTo>
                    <a:pt x="3998" y="160734"/>
                    <a:pt x="0" y="156736"/>
                    <a:pt x="0" y="151805"/>
                  </a:cubicBezTo>
                  <a:lnTo>
                    <a:pt x="0" y="8930"/>
                  </a:lnTo>
                  <a:cubicBezTo>
                    <a:pt x="0" y="3998"/>
                    <a:pt x="3998" y="0"/>
                    <a:pt x="8930" y="0"/>
                  </a:cubicBezTo>
                  <a:lnTo>
                    <a:pt x="80367" y="0"/>
                  </a:lnTo>
                  <a:cubicBezTo>
                    <a:pt x="100094" y="0"/>
                    <a:pt x="116086" y="15992"/>
                    <a:pt x="116086" y="35719"/>
                  </a:cubicBezTo>
                  <a:cubicBezTo>
                    <a:pt x="116086" y="15992"/>
                    <a:pt x="132078" y="0"/>
                    <a:pt x="151805" y="0"/>
                  </a:cubicBezTo>
                  <a:lnTo>
                    <a:pt x="223242" y="0"/>
                  </a:lnTo>
                  <a:cubicBezTo>
                    <a:pt x="228174" y="0"/>
                    <a:pt x="232172" y="3998"/>
                    <a:pt x="232172" y="8930"/>
                  </a:cubicBezTo>
                  <a:close/>
                </a:path>
              </a:pathLst>
            </a:custGeom>
            <a:solidFill>
              <a:srgbClr val="2F4A6D">
                <a:alpha val="20000"/>
              </a:srgbClr>
            </a:solidFill>
            <a:ln>
              <a:noFill/>
            </a:ln>
          </p:spPr>
        </p:sp>
        <p:sp>
          <p:nvSpPr>
            <p:cNvPr id="19" name="Freeform 19"/>
            <p:cNvSpPr/>
            <p:nvPr/>
          </p:nvSpPr>
          <p:spPr>
            <a:xfrm>
              <a:off x="703659" y="1577578"/>
              <a:ext cx="250031" cy="214312"/>
            </a:xfrm>
            <a:custGeom>
              <a:avLst/>
              <a:gdLst/>
              <a:ahLst/>
              <a:cxnLst/>
              <a:rect l="l" t="t" r="r" b="b"/>
              <a:pathLst>
                <a:path w="250031" h="214312">
                  <a:moveTo>
                    <a:pt x="232172" y="0"/>
                  </a:moveTo>
                  <a:lnTo>
                    <a:pt x="160734" y="0"/>
                  </a:lnTo>
                  <a:cubicBezTo>
                    <a:pt x="146681" y="0"/>
                    <a:pt x="133448" y="6617"/>
                    <a:pt x="125016" y="17859"/>
                  </a:cubicBezTo>
                  <a:cubicBezTo>
                    <a:pt x="116584" y="6617"/>
                    <a:pt x="103350" y="0"/>
                    <a:pt x="89297" y="0"/>
                  </a:cubicBezTo>
                  <a:lnTo>
                    <a:pt x="17859" y="0"/>
                  </a:lnTo>
                  <a:cubicBezTo>
                    <a:pt x="7996" y="0"/>
                    <a:pt x="0" y="7996"/>
                    <a:pt x="0" y="17859"/>
                  </a:cubicBezTo>
                  <a:lnTo>
                    <a:pt x="0" y="160734"/>
                  </a:lnTo>
                  <a:cubicBezTo>
                    <a:pt x="0" y="170598"/>
                    <a:pt x="7996" y="178594"/>
                    <a:pt x="17859" y="178594"/>
                  </a:cubicBezTo>
                  <a:lnTo>
                    <a:pt x="89297" y="178594"/>
                  </a:lnTo>
                  <a:cubicBezTo>
                    <a:pt x="104092" y="178594"/>
                    <a:pt x="116086" y="190588"/>
                    <a:pt x="116086" y="205383"/>
                  </a:cubicBezTo>
                  <a:cubicBezTo>
                    <a:pt x="116086" y="210315"/>
                    <a:pt x="120084" y="214312"/>
                    <a:pt x="125016" y="214312"/>
                  </a:cubicBezTo>
                  <a:cubicBezTo>
                    <a:pt x="129947" y="214312"/>
                    <a:pt x="133945" y="210315"/>
                    <a:pt x="133945" y="205383"/>
                  </a:cubicBezTo>
                  <a:cubicBezTo>
                    <a:pt x="133945" y="190588"/>
                    <a:pt x="145939" y="178594"/>
                    <a:pt x="160734" y="178594"/>
                  </a:cubicBezTo>
                  <a:lnTo>
                    <a:pt x="232172" y="178594"/>
                  </a:lnTo>
                  <a:cubicBezTo>
                    <a:pt x="242035" y="178594"/>
                    <a:pt x="250031" y="170598"/>
                    <a:pt x="250031" y="160734"/>
                  </a:cubicBezTo>
                  <a:lnTo>
                    <a:pt x="250031" y="17859"/>
                  </a:lnTo>
                  <a:cubicBezTo>
                    <a:pt x="250031" y="7996"/>
                    <a:pt x="242035" y="0"/>
                    <a:pt x="232172" y="0"/>
                  </a:cubicBezTo>
                  <a:close/>
                  <a:moveTo>
                    <a:pt x="89297" y="160734"/>
                  </a:moveTo>
                  <a:lnTo>
                    <a:pt x="17859" y="160734"/>
                  </a:lnTo>
                  <a:lnTo>
                    <a:pt x="17859" y="17859"/>
                  </a:lnTo>
                  <a:lnTo>
                    <a:pt x="89297" y="17859"/>
                  </a:lnTo>
                  <a:cubicBezTo>
                    <a:pt x="104092" y="17859"/>
                    <a:pt x="116086" y="29853"/>
                    <a:pt x="116086" y="44648"/>
                  </a:cubicBezTo>
                  <a:lnTo>
                    <a:pt x="116086" y="169664"/>
                  </a:lnTo>
                  <a:cubicBezTo>
                    <a:pt x="108365" y="163854"/>
                    <a:pt x="98960" y="160719"/>
                    <a:pt x="89297" y="160734"/>
                  </a:cubicBezTo>
                  <a:close/>
                  <a:moveTo>
                    <a:pt x="232172" y="160734"/>
                  </a:moveTo>
                  <a:lnTo>
                    <a:pt x="160734" y="160734"/>
                  </a:lnTo>
                  <a:cubicBezTo>
                    <a:pt x="151071" y="160719"/>
                    <a:pt x="141667" y="163854"/>
                    <a:pt x="133945" y="169664"/>
                  </a:cubicBezTo>
                  <a:lnTo>
                    <a:pt x="133945" y="44648"/>
                  </a:lnTo>
                  <a:cubicBezTo>
                    <a:pt x="133945" y="29853"/>
                    <a:pt x="145939" y="17859"/>
                    <a:pt x="160734" y="17859"/>
                  </a:cubicBezTo>
                  <a:lnTo>
                    <a:pt x="232172" y="17859"/>
                  </a:lnTo>
                  <a:close/>
                </a:path>
              </a:pathLst>
            </a:custGeom>
            <a:solidFill>
              <a:srgbClr val="2F4A6D"/>
            </a:solidFill>
            <a:ln>
              <a:noFill/>
            </a:ln>
          </p:spPr>
        </p:sp>
      </p:grpSp>
      <p:sp>
        <p:nvSpPr>
          <p:cNvPr id="21" name="TextBox 21"/>
          <p:cNvSpPr txBox="1"/>
          <p:nvPr/>
        </p:nvSpPr>
        <p:spPr>
          <a:xfrm>
            <a:off x="1049655" y="1587818"/>
            <a:ext cx="4172441" cy="274320"/>
          </a:xfrm>
          <a:prstGeom prst="rect">
            <a:avLst/>
          </a:prstGeom>
          <a:noFill/>
          <a:ln>
            <a:noFill/>
          </a:ln>
        </p:spPr>
        <p:txBody>
          <a:bodyPr wrap="none" lIns="0" tIns="0" rIns="0" bIns="0" anchor="t" anchorCtr="0">
            <a:spAutoFit/>
          </a:bodyPr>
          <a:lstStyle/>
          <a:p>
            <a:pPr algn="l"/>
            <a:r>
              <a:rPr lang="zh-CN" sz="1350" b="1" dirty="0">
                <a:solidFill>
                  <a:srgbClr val="68000D"/>
                </a:solidFill>
                <a:latin typeface="Arial"/>
                <a:ea typeface="Microsoft YaHei"/>
                <a:cs typeface="Arial"/>
              </a:rPr>
              <a:t>How source papers explain their records</a:t>
            </a:r>
          </a:p>
        </p:txBody>
      </p:sp>
      <p:sp>
        <p:nvSpPr>
          <p:cNvPr id="22" name="TextBox 22"/>
          <p:cNvSpPr txBox="1"/>
          <p:nvPr/>
        </p:nvSpPr>
        <p:spPr>
          <a:xfrm>
            <a:off x="1053465" y="1829752"/>
            <a:ext cx="3196466"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CBNR v2, n = 1,029 provincial first records</a:t>
            </a:r>
          </a:p>
        </p:txBody>
      </p:sp>
      <p:sp>
        <p:nvSpPr>
          <p:cNvPr id="23" name="TextBox 23"/>
          <p:cNvSpPr txBox="1"/>
          <p:nvPr/>
        </p:nvSpPr>
        <p:spPr>
          <a:xfrm>
            <a:off x="708660" y="2356485"/>
            <a:ext cx="1018946"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Range shift</a:t>
            </a:r>
          </a:p>
        </p:txBody>
      </p:sp>
      <p:sp>
        <p:nvSpPr>
          <p:cNvPr id="24" name="Rectangle 24"/>
          <p:cNvSpPr/>
          <p:nvPr/>
        </p:nvSpPr>
        <p:spPr>
          <a:xfrm>
            <a:off x="723900" y="2590800"/>
            <a:ext cx="4000500" cy="190500"/>
          </a:xfrm>
          <a:prstGeom prst="roundRect">
            <a:avLst>
              <a:gd name="adj" fmla="val 15000"/>
            </a:avLst>
          </a:prstGeom>
          <a:solidFill>
            <a:srgbClr val="D1552C"/>
          </a:solidFill>
          <a:ln>
            <a:noFill/>
          </a:ln>
        </p:spPr>
      </p:sp>
      <p:sp>
        <p:nvSpPr>
          <p:cNvPr id="25" name="TextBox 25"/>
          <p:cNvSpPr txBox="1"/>
          <p:nvPr/>
        </p:nvSpPr>
        <p:spPr>
          <a:xfrm>
            <a:off x="4804410" y="2613660"/>
            <a:ext cx="546936" cy="243840"/>
          </a:xfrm>
          <a:prstGeom prst="rect">
            <a:avLst/>
          </a:prstGeom>
          <a:noFill/>
          <a:ln>
            <a:noFill/>
          </a:ln>
        </p:spPr>
        <p:txBody>
          <a:bodyPr wrap="none" lIns="0" tIns="0" rIns="0" bIns="0" anchor="t" anchorCtr="0">
            <a:spAutoFit/>
          </a:bodyPr>
          <a:lstStyle/>
          <a:p>
            <a:pPr algn="l"/>
            <a:r>
              <a:rPr lang="zh-CN" sz="1200" b="1" dirty="0">
                <a:solidFill>
                  <a:srgbClr val="111111"/>
                </a:solidFill>
                <a:latin typeface="Arial"/>
                <a:ea typeface="Microsoft YaHei"/>
                <a:cs typeface="Arial"/>
              </a:rPr>
              <a:t>61.1%</a:t>
            </a:r>
          </a:p>
        </p:txBody>
      </p:sp>
      <p:sp>
        <p:nvSpPr>
          <p:cNvPr id="26" name="TextBox 26"/>
          <p:cNvSpPr txBox="1"/>
          <p:nvPr/>
        </p:nvSpPr>
        <p:spPr>
          <a:xfrm>
            <a:off x="708660" y="2947035"/>
            <a:ext cx="2063496"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Survey effort, alone or</a:t>
            </a:r>
          </a:p>
        </p:txBody>
      </p:sp>
      <p:sp>
        <p:nvSpPr>
          <p:cNvPr id="27" name="Rectangle 27"/>
          <p:cNvSpPr/>
          <p:nvPr/>
        </p:nvSpPr>
        <p:spPr>
          <a:xfrm>
            <a:off x="723900" y="3181350"/>
            <a:ext cx="478155" cy="190500"/>
          </a:xfrm>
          <a:prstGeom prst="roundRect">
            <a:avLst>
              <a:gd name="adj" fmla="val 15000"/>
            </a:avLst>
          </a:prstGeom>
          <a:solidFill>
            <a:srgbClr val="1F5F9E"/>
          </a:solidFill>
          <a:ln>
            <a:noFill/>
          </a:ln>
        </p:spPr>
      </p:sp>
      <p:sp>
        <p:nvSpPr>
          <p:cNvPr id="28" name="TextBox 28"/>
          <p:cNvSpPr txBox="1"/>
          <p:nvPr/>
        </p:nvSpPr>
        <p:spPr>
          <a:xfrm>
            <a:off x="1282065" y="3204210"/>
            <a:ext cx="444760" cy="243840"/>
          </a:xfrm>
          <a:prstGeom prst="rect">
            <a:avLst/>
          </a:prstGeom>
          <a:noFill/>
          <a:ln>
            <a:noFill/>
          </a:ln>
        </p:spPr>
        <p:txBody>
          <a:bodyPr wrap="none" lIns="0" tIns="0" rIns="0" bIns="0" anchor="t" anchorCtr="0">
            <a:spAutoFit/>
          </a:bodyPr>
          <a:lstStyle/>
          <a:p>
            <a:pPr algn="l"/>
            <a:r>
              <a:rPr lang="zh-CN" sz="1200" b="1" dirty="0">
                <a:solidFill>
                  <a:srgbClr val="111111"/>
                </a:solidFill>
                <a:latin typeface="Arial"/>
                <a:ea typeface="Microsoft YaHei"/>
                <a:cs typeface="Arial"/>
              </a:rPr>
              <a:t>7.3%</a:t>
            </a:r>
          </a:p>
        </p:txBody>
      </p:sp>
      <p:sp>
        <p:nvSpPr>
          <p:cNvPr id="29" name="TextBox 29"/>
          <p:cNvSpPr txBox="1"/>
          <p:nvPr/>
        </p:nvSpPr>
        <p:spPr>
          <a:xfrm>
            <a:off x="2252662" y="2947035"/>
            <a:ext cx="1418539"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with range shift</a:t>
            </a:r>
          </a:p>
        </p:txBody>
      </p:sp>
      <p:sp>
        <p:nvSpPr>
          <p:cNvPr id="30" name="TextBox 30"/>
          <p:cNvSpPr txBox="1"/>
          <p:nvPr/>
        </p:nvSpPr>
        <p:spPr>
          <a:xfrm>
            <a:off x="708660" y="3537585"/>
            <a:ext cx="969874"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Not stated</a:t>
            </a:r>
          </a:p>
        </p:txBody>
      </p:sp>
      <p:sp>
        <p:nvSpPr>
          <p:cNvPr id="31" name="Rectangle 31"/>
          <p:cNvSpPr/>
          <p:nvPr/>
        </p:nvSpPr>
        <p:spPr>
          <a:xfrm>
            <a:off x="723900" y="3771900"/>
            <a:ext cx="2029778" cy="190500"/>
          </a:xfrm>
          <a:prstGeom prst="roundRect">
            <a:avLst>
              <a:gd name="adj" fmla="val 15000"/>
            </a:avLst>
          </a:prstGeom>
          <a:solidFill>
            <a:srgbClr val="6B6B6B"/>
          </a:solidFill>
          <a:ln>
            <a:noFill/>
          </a:ln>
        </p:spPr>
      </p:sp>
      <p:sp>
        <p:nvSpPr>
          <p:cNvPr id="32" name="TextBox 32"/>
          <p:cNvSpPr txBox="1"/>
          <p:nvPr/>
        </p:nvSpPr>
        <p:spPr>
          <a:xfrm>
            <a:off x="2833688" y="3794760"/>
            <a:ext cx="546936" cy="243840"/>
          </a:xfrm>
          <a:prstGeom prst="rect">
            <a:avLst/>
          </a:prstGeom>
          <a:noFill/>
          <a:ln>
            <a:noFill/>
          </a:ln>
        </p:spPr>
        <p:txBody>
          <a:bodyPr wrap="none" lIns="0" tIns="0" rIns="0" bIns="0" anchor="t" anchorCtr="0">
            <a:spAutoFit/>
          </a:bodyPr>
          <a:lstStyle/>
          <a:p>
            <a:pPr algn="l"/>
            <a:r>
              <a:rPr lang="zh-CN" sz="1200" b="1" dirty="0">
                <a:solidFill>
                  <a:srgbClr val="111111"/>
                </a:solidFill>
                <a:latin typeface="Arial"/>
                <a:ea typeface="Microsoft YaHei"/>
                <a:cs typeface="Arial"/>
              </a:rPr>
              <a:t>31.0%</a:t>
            </a:r>
          </a:p>
        </p:txBody>
      </p:sp>
      <p:sp>
        <p:nvSpPr>
          <p:cNvPr id="33" name="TextBox 33"/>
          <p:cNvSpPr txBox="1"/>
          <p:nvPr/>
        </p:nvSpPr>
        <p:spPr>
          <a:xfrm>
            <a:off x="708660" y="4128135"/>
            <a:ext cx="1909267"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Other (e.g. taxonomy)</a:t>
            </a:r>
          </a:p>
        </p:txBody>
      </p:sp>
      <p:sp>
        <p:nvSpPr>
          <p:cNvPr id="34" name="Rectangle 34"/>
          <p:cNvSpPr/>
          <p:nvPr/>
        </p:nvSpPr>
        <p:spPr>
          <a:xfrm>
            <a:off x="723900" y="4362450"/>
            <a:ext cx="39052" cy="190500"/>
          </a:xfrm>
          <a:prstGeom prst="roundRect">
            <a:avLst>
              <a:gd name="adj" fmla="val 50000"/>
            </a:avLst>
          </a:prstGeom>
          <a:solidFill>
            <a:srgbClr val="6B6B6B"/>
          </a:solidFill>
          <a:ln>
            <a:noFill/>
          </a:ln>
        </p:spPr>
      </p:sp>
      <p:sp>
        <p:nvSpPr>
          <p:cNvPr id="35" name="TextBox 35"/>
          <p:cNvSpPr txBox="1"/>
          <p:nvPr/>
        </p:nvSpPr>
        <p:spPr>
          <a:xfrm>
            <a:off x="842962" y="4385310"/>
            <a:ext cx="444760" cy="243840"/>
          </a:xfrm>
          <a:prstGeom prst="rect">
            <a:avLst/>
          </a:prstGeom>
          <a:noFill/>
          <a:ln>
            <a:noFill/>
          </a:ln>
        </p:spPr>
        <p:txBody>
          <a:bodyPr wrap="none" lIns="0" tIns="0" rIns="0" bIns="0" anchor="t" anchorCtr="0">
            <a:spAutoFit/>
          </a:bodyPr>
          <a:lstStyle/>
          <a:p>
            <a:pPr algn="l"/>
            <a:r>
              <a:rPr lang="zh-CN" sz="1200" b="1" dirty="0">
                <a:solidFill>
                  <a:srgbClr val="111111"/>
                </a:solidFill>
                <a:latin typeface="Arial"/>
                <a:ea typeface="Microsoft YaHei"/>
                <a:cs typeface="Arial"/>
              </a:rPr>
              <a:t>0.6%</a:t>
            </a:r>
          </a:p>
        </p:txBody>
      </p:sp>
      <p:sp>
        <p:nvSpPr>
          <p:cNvPr id="36" name="Rectangle 36"/>
          <p:cNvSpPr/>
          <p:nvPr/>
        </p:nvSpPr>
        <p:spPr>
          <a:xfrm>
            <a:off x="514350" y="5181600"/>
            <a:ext cx="5295900" cy="609600"/>
          </a:xfrm>
          <a:prstGeom prst="roundRect">
            <a:avLst>
              <a:gd name="adj" fmla="val 15625"/>
            </a:avLst>
          </a:prstGeom>
          <a:solidFill>
            <a:srgbClr val="E9EFF5"/>
          </a:solidFill>
          <a:ln>
            <a:noFill/>
          </a:ln>
        </p:spPr>
      </p:sp>
      <p:grpSp>
        <p:nvGrpSpPr>
          <p:cNvPr id="39" name="Group 39"/>
          <p:cNvGrpSpPr/>
          <p:nvPr/>
        </p:nvGrpSpPr>
        <p:grpSpPr>
          <a:xfrm>
            <a:off x="684229" y="5352405"/>
            <a:ext cx="326992" cy="254082"/>
            <a:chOff x="684229" y="5352405"/>
            <a:chExt cx="326992" cy="254082"/>
          </a:xfrm>
        </p:grpSpPr>
        <p:sp>
          <p:nvSpPr>
            <p:cNvPr id="37" name="Freeform 37"/>
            <p:cNvSpPr/>
            <p:nvPr/>
          </p:nvSpPr>
          <p:spPr>
            <a:xfrm>
              <a:off x="700683" y="5476875"/>
              <a:ext cx="294084" cy="113109"/>
            </a:xfrm>
            <a:custGeom>
              <a:avLst/>
              <a:gdLst/>
              <a:ahLst/>
              <a:cxnLst/>
              <a:rect l="l" t="t" r="r" b="b"/>
              <a:pathLst>
                <a:path w="294084" h="113109">
                  <a:moveTo>
                    <a:pt x="113109" y="56555"/>
                  </a:moveTo>
                  <a:cubicBezTo>
                    <a:pt x="113109" y="87789"/>
                    <a:pt x="87789" y="113109"/>
                    <a:pt x="56555" y="113109"/>
                  </a:cubicBezTo>
                  <a:cubicBezTo>
                    <a:pt x="25320" y="113109"/>
                    <a:pt x="0" y="87789"/>
                    <a:pt x="0" y="56555"/>
                  </a:cubicBezTo>
                  <a:cubicBezTo>
                    <a:pt x="0" y="25320"/>
                    <a:pt x="25320" y="0"/>
                    <a:pt x="56555" y="0"/>
                  </a:cubicBezTo>
                  <a:cubicBezTo>
                    <a:pt x="87789" y="0"/>
                    <a:pt x="113109" y="25320"/>
                    <a:pt x="113109" y="56555"/>
                  </a:cubicBezTo>
                  <a:close/>
                  <a:moveTo>
                    <a:pt x="237530" y="0"/>
                  </a:moveTo>
                  <a:cubicBezTo>
                    <a:pt x="206295" y="0"/>
                    <a:pt x="180975" y="25320"/>
                    <a:pt x="180975" y="56555"/>
                  </a:cubicBezTo>
                  <a:cubicBezTo>
                    <a:pt x="180975" y="87789"/>
                    <a:pt x="206295" y="113109"/>
                    <a:pt x="237530" y="113109"/>
                  </a:cubicBezTo>
                  <a:cubicBezTo>
                    <a:pt x="268764" y="113109"/>
                    <a:pt x="294084" y="87789"/>
                    <a:pt x="294084" y="56555"/>
                  </a:cubicBezTo>
                  <a:cubicBezTo>
                    <a:pt x="294084" y="25320"/>
                    <a:pt x="268764" y="0"/>
                    <a:pt x="237530" y="0"/>
                  </a:cubicBezTo>
                  <a:close/>
                </a:path>
              </a:pathLst>
            </a:custGeom>
            <a:solidFill>
              <a:srgbClr val="1F5F9E">
                <a:alpha val="20000"/>
              </a:srgbClr>
            </a:solidFill>
            <a:ln>
              <a:noFill/>
            </a:ln>
          </p:spPr>
        </p:sp>
        <p:sp>
          <p:nvSpPr>
            <p:cNvPr id="38" name="Freeform 38"/>
            <p:cNvSpPr/>
            <p:nvPr/>
          </p:nvSpPr>
          <p:spPr>
            <a:xfrm>
              <a:off x="684229" y="5352405"/>
              <a:ext cx="326992" cy="254082"/>
            </a:xfrm>
            <a:custGeom>
              <a:avLst/>
              <a:gdLst/>
              <a:ahLst/>
              <a:cxnLst/>
              <a:rect l="l" t="t" r="r" b="b"/>
              <a:pathLst>
                <a:path w="326992" h="254082">
                  <a:moveTo>
                    <a:pt x="317890" y="158219"/>
                  </a:moveTo>
                  <a:lnTo>
                    <a:pt x="317890" y="158219"/>
                  </a:lnTo>
                  <a:cubicBezTo>
                    <a:pt x="316945" y="155583"/>
                    <a:pt x="315836" y="153010"/>
                    <a:pt x="314567" y="150513"/>
                  </a:cubicBezTo>
                  <a:lnTo>
                    <a:pt x="255765" y="16733"/>
                  </a:lnTo>
                  <a:cubicBezTo>
                    <a:pt x="255208" y="15445"/>
                    <a:pt x="254412" y="14274"/>
                    <a:pt x="253418" y="13284"/>
                  </a:cubicBezTo>
                  <a:cubicBezTo>
                    <a:pt x="244932" y="4796"/>
                    <a:pt x="233423" y="28"/>
                    <a:pt x="221422" y="28"/>
                  </a:cubicBezTo>
                  <a:cubicBezTo>
                    <a:pt x="209421" y="28"/>
                    <a:pt x="197911" y="4796"/>
                    <a:pt x="189426" y="13284"/>
                  </a:cubicBezTo>
                  <a:cubicBezTo>
                    <a:pt x="187312" y="15400"/>
                    <a:pt x="186123" y="18267"/>
                    <a:pt x="186117" y="21258"/>
                  </a:cubicBezTo>
                  <a:lnTo>
                    <a:pt x="186117" y="56604"/>
                  </a:lnTo>
                  <a:lnTo>
                    <a:pt x="140874" y="56604"/>
                  </a:lnTo>
                  <a:lnTo>
                    <a:pt x="140874" y="21258"/>
                  </a:lnTo>
                  <a:cubicBezTo>
                    <a:pt x="140876" y="18257"/>
                    <a:pt x="139686" y="15378"/>
                    <a:pt x="137565" y="13255"/>
                  </a:cubicBezTo>
                  <a:cubicBezTo>
                    <a:pt x="129080" y="4768"/>
                    <a:pt x="117571" y="0"/>
                    <a:pt x="105569" y="0"/>
                  </a:cubicBezTo>
                  <a:cubicBezTo>
                    <a:pt x="93568" y="0"/>
                    <a:pt x="82059" y="4768"/>
                    <a:pt x="73574" y="13255"/>
                  </a:cubicBezTo>
                  <a:cubicBezTo>
                    <a:pt x="72579" y="14246"/>
                    <a:pt x="71783" y="15417"/>
                    <a:pt x="71227" y="16705"/>
                  </a:cubicBezTo>
                  <a:lnTo>
                    <a:pt x="12424" y="150485"/>
                  </a:lnTo>
                  <a:cubicBezTo>
                    <a:pt x="11155" y="152981"/>
                    <a:pt x="10046" y="155555"/>
                    <a:pt x="9101" y="158191"/>
                  </a:cubicBezTo>
                  <a:lnTo>
                    <a:pt x="9101" y="158191"/>
                  </a:lnTo>
                  <a:cubicBezTo>
                    <a:pt x="0" y="183656"/>
                    <a:pt x="6886" y="212095"/>
                    <a:pt x="26629" y="230576"/>
                  </a:cubicBezTo>
                  <a:cubicBezTo>
                    <a:pt x="46372" y="249057"/>
                    <a:pt x="75203" y="254053"/>
                    <a:pt x="100013" y="243292"/>
                  </a:cubicBezTo>
                  <a:cubicBezTo>
                    <a:pt x="124823" y="232531"/>
                    <a:pt x="140876" y="208068"/>
                    <a:pt x="140874" y="181025"/>
                  </a:cubicBezTo>
                  <a:lnTo>
                    <a:pt x="140874" y="79226"/>
                  </a:lnTo>
                  <a:lnTo>
                    <a:pt x="186117" y="79226"/>
                  </a:lnTo>
                  <a:lnTo>
                    <a:pt x="186117" y="181025"/>
                  </a:lnTo>
                  <a:cubicBezTo>
                    <a:pt x="186104" y="208071"/>
                    <a:pt x="202151" y="232544"/>
                    <a:pt x="226961" y="243313"/>
                  </a:cubicBezTo>
                  <a:cubicBezTo>
                    <a:pt x="251771" y="254082"/>
                    <a:pt x="280607" y="249091"/>
                    <a:pt x="300355" y="230611"/>
                  </a:cubicBezTo>
                  <a:cubicBezTo>
                    <a:pt x="320103" y="212130"/>
                    <a:pt x="326992" y="183688"/>
                    <a:pt x="317890" y="158219"/>
                  </a:cubicBezTo>
                  <a:close/>
                  <a:moveTo>
                    <a:pt x="90978" y="27974"/>
                  </a:moveTo>
                  <a:cubicBezTo>
                    <a:pt x="98727" y="21449"/>
                    <a:pt x="109870" y="20871"/>
                    <a:pt x="118252" y="26560"/>
                  </a:cubicBezTo>
                  <a:lnTo>
                    <a:pt x="118252" y="130493"/>
                  </a:lnTo>
                  <a:cubicBezTo>
                    <a:pt x="100279" y="114355"/>
                    <a:pt x="75072" y="109011"/>
                    <a:pt x="52097" y="116468"/>
                  </a:cubicBezTo>
                  <a:close/>
                  <a:moveTo>
                    <a:pt x="73008" y="226268"/>
                  </a:moveTo>
                  <a:cubicBezTo>
                    <a:pt x="48021" y="226268"/>
                    <a:pt x="27764" y="206012"/>
                    <a:pt x="27764" y="181025"/>
                  </a:cubicBezTo>
                  <a:cubicBezTo>
                    <a:pt x="27764" y="156037"/>
                    <a:pt x="48021" y="135781"/>
                    <a:pt x="73008" y="135781"/>
                  </a:cubicBezTo>
                  <a:cubicBezTo>
                    <a:pt x="97996" y="135781"/>
                    <a:pt x="118252" y="156037"/>
                    <a:pt x="118252" y="181025"/>
                  </a:cubicBezTo>
                  <a:cubicBezTo>
                    <a:pt x="118252" y="206012"/>
                    <a:pt x="97996" y="226268"/>
                    <a:pt x="73008" y="226268"/>
                  </a:cubicBezTo>
                  <a:close/>
                  <a:moveTo>
                    <a:pt x="208739" y="26546"/>
                  </a:moveTo>
                  <a:cubicBezTo>
                    <a:pt x="217122" y="20857"/>
                    <a:pt x="228264" y="21435"/>
                    <a:pt x="236013" y="27959"/>
                  </a:cubicBezTo>
                  <a:lnTo>
                    <a:pt x="274894" y="116439"/>
                  </a:lnTo>
                  <a:cubicBezTo>
                    <a:pt x="251917" y="108986"/>
                    <a:pt x="226709" y="114336"/>
                    <a:pt x="208739" y="130479"/>
                  </a:cubicBezTo>
                  <a:close/>
                  <a:moveTo>
                    <a:pt x="253983" y="226268"/>
                  </a:moveTo>
                  <a:cubicBezTo>
                    <a:pt x="228996" y="226268"/>
                    <a:pt x="208739" y="206012"/>
                    <a:pt x="208739" y="181025"/>
                  </a:cubicBezTo>
                  <a:cubicBezTo>
                    <a:pt x="208739" y="156037"/>
                    <a:pt x="228996" y="135781"/>
                    <a:pt x="253983" y="135781"/>
                  </a:cubicBezTo>
                  <a:cubicBezTo>
                    <a:pt x="278971" y="135781"/>
                    <a:pt x="299227" y="156037"/>
                    <a:pt x="299227" y="181025"/>
                  </a:cubicBezTo>
                  <a:cubicBezTo>
                    <a:pt x="299227" y="206012"/>
                    <a:pt x="278971" y="226268"/>
                    <a:pt x="253983" y="226268"/>
                  </a:cubicBezTo>
                  <a:close/>
                </a:path>
              </a:pathLst>
            </a:custGeom>
            <a:solidFill>
              <a:srgbClr val="1F5F9E"/>
            </a:solidFill>
            <a:ln>
              <a:noFill/>
            </a:ln>
          </p:spPr>
        </p:sp>
      </p:grpSp>
      <p:sp>
        <p:nvSpPr>
          <p:cNvPr id="40" name="TextBox 40"/>
          <p:cNvSpPr txBox="1"/>
          <p:nvPr/>
        </p:nvSpPr>
        <p:spPr>
          <a:xfrm>
            <a:off x="1127760" y="5299710"/>
            <a:ext cx="5211761" cy="243840"/>
          </a:xfrm>
          <a:prstGeom prst="rect">
            <a:avLst/>
          </a:prstGeom>
          <a:noFill/>
          <a:ln>
            <a:noFill/>
          </a:ln>
        </p:spPr>
        <p:txBody>
          <a:bodyPr wrap="none" lIns="0" tIns="0" rIns="0" bIns="0" anchor="t" anchorCtr="0">
            <a:spAutoFit/>
          </a:bodyPr>
          <a:lstStyle/>
          <a:p>
            <a:pPr algn="l"/>
            <a:r>
              <a:rPr lang="zh-CN" sz="1200" b="1" dirty="0">
                <a:solidFill>
                  <a:srgbClr val="1F5F9E"/>
                </a:solidFill>
                <a:latin typeface="Arial"/>
                <a:ea typeface="Microsoft YaHei"/>
                <a:cs typeface="Arial"/>
              </a:rPr>
              <a:t>Birding visits rose about 175-fold, 2002–04 to 2022–24,</a:t>
            </a:r>
          </a:p>
        </p:txBody>
      </p:sp>
      <p:sp>
        <p:nvSpPr>
          <p:cNvPr id="41" name="TextBox 41"/>
          <p:cNvSpPr txBox="1"/>
          <p:nvPr/>
        </p:nvSpPr>
        <p:spPr>
          <a:xfrm>
            <a:off x="1127760" y="5528310"/>
            <a:ext cx="3723699" cy="243840"/>
          </a:xfrm>
          <a:prstGeom prst="rect">
            <a:avLst/>
          </a:prstGeom>
          <a:noFill/>
          <a:ln>
            <a:noFill/>
          </a:ln>
        </p:spPr>
        <p:txBody>
          <a:bodyPr wrap="none" lIns="0" tIns="0" rIns="0" bIns="0" anchor="t" anchorCtr="0">
            <a:spAutoFit/>
          </a:bodyPr>
          <a:lstStyle/>
          <a:p>
            <a:pPr algn="l"/>
            <a:r>
              <a:rPr lang="zh-CN" sz="1200" b="1" dirty="0">
                <a:solidFill>
                  <a:srgbClr val="1F5F9E"/>
                </a:solidFill>
                <a:latin typeface="Arial"/>
                <a:ea typeface="Microsoft YaHei"/>
                <a:cs typeface="Arial"/>
              </a:rPr>
              <a:t>yet effort is rarely given as the reason</a:t>
            </a:r>
          </a:p>
        </p:txBody>
      </p:sp>
      <p:sp>
        <p:nvSpPr>
          <p:cNvPr id="42" name="Rectangle 42"/>
          <p:cNvSpPr/>
          <p:nvPr/>
        </p:nvSpPr>
        <p:spPr>
          <a:xfrm>
            <a:off x="6096000" y="1390650"/>
            <a:ext cx="5581650" cy="1333500"/>
          </a:xfrm>
          <a:prstGeom prst="roundRect">
            <a:avLst>
              <a:gd name="adj" fmla="val 7143"/>
            </a:avLst>
          </a:prstGeom>
          <a:solidFill>
            <a:srgbClr val="FFFFFF"/>
          </a:solidFill>
          <a:ln>
            <a:noFill/>
          </a:ln>
        </p:spPr>
      </p:sp>
      <p:sp>
        <p:nvSpPr>
          <p:cNvPr id="43" name="Rectangle 43"/>
          <p:cNvSpPr/>
          <p:nvPr/>
        </p:nvSpPr>
        <p:spPr>
          <a:xfrm>
            <a:off x="6096000" y="1390650"/>
            <a:ext cx="609600" cy="1333500"/>
          </a:xfrm>
          <a:prstGeom prst="roundRect">
            <a:avLst>
              <a:gd name="adj" fmla="val 15625"/>
            </a:avLst>
          </a:prstGeom>
          <a:solidFill>
            <a:srgbClr val="F9EBE6"/>
          </a:solidFill>
          <a:ln>
            <a:noFill/>
          </a:ln>
        </p:spPr>
      </p:sp>
      <p:sp>
        <p:nvSpPr>
          <p:cNvPr id="44" name="Rectangle 44"/>
          <p:cNvSpPr/>
          <p:nvPr/>
        </p:nvSpPr>
        <p:spPr>
          <a:xfrm>
            <a:off x="6610350" y="1390650"/>
            <a:ext cx="95250" cy="1333500"/>
          </a:xfrm>
          <a:prstGeom prst="rect">
            <a:avLst/>
          </a:prstGeom>
          <a:solidFill>
            <a:srgbClr val="F9EBE6"/>
          </a:solidFill>
          <a:ln>
            <a:noFill/>
          </a:ln>
        </p:spPr>
      </p:sp>
      <p:sp>
        <p:nvSpPr>
          <p:cNvPr id="45" name="Rectangle 45"/>
          <p:cNvSpPr/>
          <p:nvPr/>
        </p:nvSpPr>
        <p:spPr>
          <a:xfrm>
            <a:off x="6096000" y="1390650"/>
            <a:ext cx="5581650" cy="1333500"/>
          </a:xfrm>
          <a:prstGeom prst="roundRect">
            <a:avLst>
              <a:gd name="adj" fmla="val 7143"/>
            </a:avLst>
          </a:prstGeom>
          <a:noFill/>
          <a:ln w="15240">
            <a:solidFill>
              <a:srgbClr val="D1552C"/>
            </a:solidFill>
          </a:ln>
        </p:spPr>
      </p:sp>
      <p:sp>
        <p:nvSpPr>
          <p:cNvPr id="46" name="TextBox 46"/>
          <p:cNvSpPr txBox="1"/>
          <p:nvPr/>
        </p:nvSpPr>
        <p:spPr>
          <a:xfrm>
            <a:off x="6162675" y="1614488"/>
            <a:ext cx="476250" cy="428625"/>
          </a:xfrm>
          <a:prstGeom prst="rect">
            <a:avLst/>
          </a:prstGeom>
          <a:noFill/>
          <a:ln>
            <a:noFill/>
          </a:ln>
        </p:spPr>
        <p:txBody>
          <a:bodyPr wrap="square" lIns="0" tIns="0" rIns="0" bIns="0" anchor="t" anchorCtr="0">
            <a:normAutofit/>
          </a:bodyPr>
          <a:lstStyle/>
          <a:p>
            <a:pPr algn="ctr"/>
            <a:r>
              <a:rPr lang="zh-CN" sz="2250" b="1" dirty="0">
                <a:solidFill>
                  <a:srgbClr val="D1552C"/>
                </a:solidFill>
                <a:latin typeface="Arial"/>
                <a:ea typeface="Microsoft YaHei"/>
                <a:cs typeface="Arial"/>
              </a:rPr>
              <a:t>1</a:t>
            </a:r>
          </a:p>
        </p:txBody>
      </p:sp>
      <p:sp>
        <p:nvSpPr>
          <p:cNvPr id="47" name="TextBox 47"/>
          <p:cNvSpPr txBox="1"/>
          <p:nvPr/>
        </p:nvSpPr>
        <p:spPr>
          <a:xfrm>
            <a:off x="6162675" y="2005965"/>
            <a:ext cx="476250" cy="171450"/>
          </a:xfrm>
          <a:prstGeom prst="rect">
            <a:avLst/>
          </a:prstGeom>
          <a:noFill/>
          <a:ln>
            <a:noFill/>
          </a:ln>
        </p:spPr>
        <p:txBody>
          <a:bodyPr wrap="square" lIns="0" tIns="0" rIns="0" bIns="0" anchor="t" anchorCtr="0">
            <a:normAutofit/>
          </a:bodyPr>
          <a:lstStyle/>
          <a:p>
            <a:pPr algn="ctr"/>
            <a:r>
              <a:rPr lang="zh-CN" sz="900" b="1" dirty="0">
                <a:solidFill>
                  <a:srgbClr val="D1552C"/>
                </a:solidFill>
                <a:latin typeface="Arial"/>
                <a:ea typeface="Microsoft YaHei"/>
                <a:cs typeface="Arial"/>
              </a:rPr>
              <a:t>GAP</a:t>
            </a:r>
          </a:p>
        </p:txBody>
      </p:sp>
      <p:grpSp>
        <p:nvGrpSpPr>
          <p:cNvPr id="50" name="Group 50"/>
          <p:cNvGrpSpPr/>
          <p:nvPr/>
        </p:nvGrpSpPr>
        <p:grpSpPr>
          <a:xfrm>
            <a:off x="6200931" y="2274689"/>
            <a:ext cx="192882" cy="237007"/>
            <a:chOff x="6200931" y="2274689"/>
            <a:chExt cx="192882" cy="237007"/>
          </a:xfrm>
        </p:grpSpPr>
        <p:sp>
          <p:nvSpPr>
            <p:cNvPr id="48" name="Freeform 48"/>
            <p:cNvSpPr/>
            <p:nvPr/>
          </p:nvSpPr>
          <p:spPr>
            <a:xfrm>
              <a:off x="6210460" y="2282428"/>
              <a:ext cx="117551" cy="216652"/>
            </a:xfrm>
            <a:custGeom>
              <a:avLst/>
              <a:gdLst/>
              <a:ahLst/>
              <a:cxnLst/>
              <a:rect l="l" t="t" r="r" b="b"/>
              <a:pathLst>
                <a:path w="117551" h="216652">
                  <a:moveTo>
                    <a:pt x="89732" y="118021"/>
                  </a:moveTo>
                  <a:lnTo>
                    <a:pt x="89732" y="30956"/>
                  </a:lnTo>
                  <a:cubicBezTo>
                    <a:pt x="89732" y="13860"/>
                    <a:pt x="75872" y="0"/>
                    <a:pt x="58776" y="0"/>
                  </a:cubicBezTo>
                  <a:cubicBezTo>
                    <a:pt x="41679" y="0"/>
                    <a:pt x="27819" y="13860"/>
                    <a:pt x="27819" y="30956"/>
                  </a:cubicBezTo>
                  <a:lnTo>
                    <a:pt x="27819" y="118021"/>
                  </a:lnTo>
                  <a:cubicBezTo>
                    <a:pt x="8395" y="131546"/>
                    <a:pt x="0" y="156117"/>
                    <a:pt x="7088" y="178701"/>
                  </a:cubicBezTo>
                  <a:cubicBezTo>
                    <a:pt x="14176" y="201284"/>
                    <a:pt x="35106" y="216652"/>
                    <a:pt x="58776" y="216652"/>
                  </a:cubicBezTo>
                  <a:cubicBezTo>
                    <a:pt x="82445" y="216652"/>
                    <a:pt x="103375" y="201284"/>
                    <a:pt x="110463" y="178701"/>
                  </a:cubicBezTo>
                  <a:cubicBezTo>
                    <a:pt x="117551" y="156117"/>
                    <a:pt x="109157" y="131546"/>
                    <a:pt x="89732" y="118021"/>
                  </a:cubicBezTo>
                  <a:close/>
                  <a:moveTo>
                    <a:pt x="58776" y="185738"/>
                  </a:moveTo>
                  <a:cubicBezTo>
                    <a:pt x="45953" y="185738"/>
                    <a:pt x="35558" y="175343"/>
                    <a:pt x="35558" y="162520"/>
                  </a:cubicBezTo>
                  <a:cubicBezTo>
                    <a:pt x="35558" y="149698"/>
                    <a:pt x="45953" y="139303"/>
                    <a:pt x="58776" y="139303"/>
                  </a:cubicBezTo>
                  <a:cubicBezTo>
                    <a:pt x="71598" y="139303"/>
                    <a:pt x="81993" y="149698"/>
                    <a:pt x="81993" y="162520"/>
                  </a:cubicBezTo>
                  <a:cubicBezTo>
                    <a:pt x="81993" y="175343"/>
                    <a:pt x="71598" y="185738"/>
                    <a:pt x="58776" y="185738"/>
                  </a:cubicBezTo>
                  <a:close/>
                </a:path>
              </a:pathLst>
            </a:custGeom>
            <a:solidFill>
              <a:srgbClr val="D1552C">
                <a:alpha val="20000"/>
              </a:srgbClr>
            </a:solidFill>
            <a:ln>
              <a:noFill/>
            </a:ln>
          </p:spPr>
        </p:sp>
        <p:sp>
          <p:nvSpPr>
            <p:cNvPr id="49" name="Freeform 49"/>
            <p:cNvSpPr/>
            <p:nvPr/>
          </p:nvSpPr>
          <p:spPr>
            <a:xfrm>
              <a:off x="6200931" y="2274689"/>
              <a:ext cx="192882" cy="237007"/>
            </a:xfrm>
            <a:custGeom>
              <a:avLst/>
              <a:gdLst/>
              <a:ahLst/>
              <a:cxnLst/>
              <a:rect l="l" t="t" r="r" b="b"/>
              <a:pathLst>
                <a:path w="192882" h="237007">
                  <a:moveTo>
                    <a:pt x="123842" y="70174"/>
                  </a:moveTo>
                  <a:cubicBezTo>
                    <a:pt x="121422" y="66655"/>
                    <a:pt x="122309" y="61841"/>
                    <a:pt x="125825" y="59417"/>
                  </a:cubicBezTo>
                  <a:cubicBezTo>
                    <a:pt x="135886" y="52471"/>
                    <a:pt x="151635" y="52471"/>
                    <a:pt x="161696" y="59417"/>
                  </a:cubicBezTo>
                  <a:cubicBezTo>
                    <a:pt x="166533" y="62773"/>
                    <a:pt x="175123" y="62773"/>
                    <a:pt x="179999" y="59417"/>
                  </a:cubicBezTo>
                  <a:cubicBezTo>
                    <a:pt x="183510" y="57186"/>
                    <a:pt x="188157" y="58130"/>
                    <a:pt x="190519" y="61554"/>
                  </a:cubicBezTo>
                  <a:cubicBezTo>
                    <a:pt x="192882" y="64978"/>
                    <a:pt x="192115" y="69657"/>
                    <a:pt x="188782" y="72147"/>
                  </a:cubicBezTo>
                  <a:cubicBezTo>
                    <a:pt x="177832" y="79086"/>
                    <a:pt x="163862" y="79086"/>
                    <a:pt x="152912" y="72147"/>
                  </a:cubicBezTo>
                  <a:cubicBezTo>
                    <a:pt x="148075" y="68791"/>
                    <a:pt x="139485" y="68791"/>
                    <a:pt x="134609" y="72147"/>
                  </a:cubicBezTo>
                  <a:cubicBezTo>
                    <a:pt x="132920" y="73314"/>
                    <a:pt x="130836" y="73761"/>
                    <a:pt x="128817" y="73391"/>
                  </a:cubicBezTo>
                  <a:cubicBezTo>
                    <a:pt x="126797" y="73021"/>
                    <a:pt x="125008" y="71864"/>
                    <a:pt x="123842" y="70174"/>
                  </a:cubicBezTo>
                  <a:close/>
                  <a:moveTo>
                    <a:pt x="179999" y="90373"/>
                  </a:moveTo>
                  <a:cubicBezTo>
                    <a:pt x="175162" y="93730"/>
                    <a:pt x="166571" y="93730"/>
                    <a:pt x="161696" y="90373"/>
                  </a:cubicBezTo>
                  <a:cubicBezTo>
                    <a:pt x="151635" y="83427"/>
                    <a:pt x="135886" y="83427"/>
                    <a:pt x="125825" y="90373"/>
                  </a:cubicBezTo>
                  <a:cubicBezTo>
                    <a:pt x="123432" y="91893"/>
                    <a:pt x="122062" y="94600"/>
                    <a:pt x="122254" y="97429"/>
                  </a:cubicBezTo>
                  <a:cubicBezTo>
                    <a:pt x="122446" y="100257"/>
                    <a:pt x="124169" y="102754"/>
                    <a:pt x="126745" y="103938"/>
                  </a:cubicBezTo>
                  <a:cubicBezTo>
                    <a:pt x="129321" y="105121"/>
                    <a:pt x="132338" y="104801"/>
                    <a:pt x="134609" y="103104"/>
                  </a:cubicBezTo>
                  <a:cubicBezTo>
                    <a:pt x="139446" y="99747"/>
                    <a:pt x="148036" y="99747"/>
                    <a:pt x="152912" y="103104"/>
                  </a:cubicBezTo>
                  <a:cubicBezTo>
                    <a:pt x="163862" y="110042"/>
                    <a:pt x="177832" y="110042"/>
                    <a:pt x="188782" y="103104"/>
                  </a:cubicBezTo>
                  <a:cubicBezTo>
                    <a:pt x="192115" y="100613"/>
                    <a:pt x="192882" y="95934"/>
                    <a:pt x="190519" y="92510"/>
                  </a:cubicBezTo>
                  <a:cubicBezTo>
                    <a:pt x="188157" y="89086"/>
                    <a:pt x="183510" y="88142"/>
                    <a:pt x="179999" y="90373"/>
                  </a:cubicBezTo>
                  <a:close/>
                  <a:moveTo>
                    <a:pt x="99261" y="170259"/>
                  </a:moveTo>
                  <a:cubicBezTo>
                    <a:pt x="99253" y="186344"/>
                    <a:pt x="86927" y="199743"/>
                    <a:pt x="70899" y="201091"/>
                  </a:cubicBezTo>
                  <a:cubicBezTo>
                    <a:pt x="54870" y="202439"/>
                    <a:pt x="40480" y="191287"/>
                    <a:pt x="37786" y="175429"/>
                  </a:cubicBezTo>
                  <a:cubicBezTo>
                    <a:pt x="35092" y="159571"/>
                    <a:pt x="44991" y="144292"/>
                    <a:pt x="60566" y="140271"/>
                  </a:cubicBezTo>
                  <a:lnTo>
                    <a:pt x="60566" y="38695"/>
                  </a:lnTo>
                  <a:cubicBezTo>
                    <a:pt x="60566" y="34421"/>
                    <a:pt x="64030" y="30956"/>
                    <a:pt x="68305" y="30956"/>
                  </a:cubicBezTo>
                  <a:cubicBezTo>
                    <a:pt x="72579" y="30956"/>
                    <a:pt x="76044" y="34421"/>
                    <a:pt x="76044" y="38695"/>
                  </a:cubicBezTo>
                  <a:lnTo>
                    <a:pt x="76044" y="140271"/>
                  </a:lnTo>
                  <a:cubicBezTo>
                    <a:pt x="89705" y="143819"/>
                    <a:pt x="99248" y="156145"/>
                    <a:pt x="99261" y="170259"/>
                  </a:cubicBezTo>
                  <a:close/>
                  <a:moveTo>
                    <a:pt x="83783" y="170259"/>
                  </a:moveTo>
                  <a:cubicBezTo>
                    <a:pt x="83783" y="161711"/>
                    <a:pt x="76853" y="154781"/>
                    <a:pt x="68305" y="154781"/>
                  </a:cubicBezTo>
                  <a:cubicBezTo>
                    <a:pt x="59756" y="154781"/>
                    <a:pt x="52827" y="161711"/>
                    <a:pt x="52827" y="170259"/>
                  </a:cubicBezTo>
                  <a:cubicBezTo>
                    <a:pt x="52827" y="178808"/>
                    <a:pt x="59756" y="185738"/>
                    <a:pt x="68305" y="185738"/>
                  </a:cubicBezTo>
                  <a:cubicBezTo>
                    <a:pt x="76853" y="185738"/>
                    <a:pt x="83783" y="178808"/>
                    <a:pt x="83783" y="170259"/>
                  </a:cubicBezTo>
                  <a:close/>
                  <a:moveTo>
                    <a:pt x="130217" y="170259"/>
                  </a:moveTo>
                  <a:cubicBezTo>
                    <a:pt x="130199" y="199125"/>
                    <a:pt x="110236" y="224148"/>
                    <a:pt x="82095" y="230578"/>
                  </a:cubicBezTo>
                  <a:cubicBezTo>
                    <a:pt x="53955" y="237007"/>
                    <a:pt x="25105" y="223137"/>
                    <a:pt x="12552" y="197144"/>
                  </a:cubicBezTo>
                  <a:cubicBezTo>
                    <a:pt x="0" y="171150"/>
                    <a:pt x="7076" y="139931"/>
                    <a:pt x="29609" y="121890"/>
                  </a:cubicBezTo>
                  <a:lnTo>
                    <a:pt x="29609" y="38695"/>
                  </a:lnTo>
                  <a:cubicBezTo>
                    <a:pt x="29609" y="17324"/>
                    <a:pt x="46934" y="0"/>
                    <a:pt x="68305" y="0"/>
                  </a:cubicBezTo>
                  <a:cubicBezTo>
                    <a:pt x="89675" y="0"/>
                    <a:pt x="107000" y="17324"/>
                    <a:pt x="107000" y="38695"/>
                  </a:cubicBezTo>
                  <a:lnTo>
                    <a:pt x="107000" y="121890"/>
                  </a:lnTo>
                  <a:cubicBezTo>
                    <a:pt x="121677" y="133656"/>
                    <a:pt x="130218" y="151449"/>
                    <a:pt x="130217" y="170259"/>
                  </a:cubicBezTo>
                  <a:close/>
                  <a:moveTo>
                    <a:pt x="114739" y="170259"/>
                  </a:moveTo>
                  <a:cubicBezTo>
                    <a:pt x="114727" y="155065"/>
                    <a:pt x="107294" y="140835"/>
                    <a:pt x="94830" y="132144"/>
                  </a:cubicBezTo>
                  <a:cubicBezTo>
                    <a:pt x="92746" y="130689"/>
                    <a:pt x="91509" y="128302"/>
                    <a:pt x="91522" y="125760"/>
                  </a:cubicBezTo>
                  <a:lnTo>
                    <a:pt x="91522" y="38695"/>
                  </a:lnTo>
                  <a:cubicBezTo>
                    <a:pt x="91522" y="25873"/>
                    <a:pt x="81127" y="15478"/>
                    <a:pt x="68305" y="15478"/>
                  </a:cubicBezTo>
                  <a:cubicBezTo>
                    <a:pt x="55482" y="15478"/>
                    <a:pt x="45087" y="25873"/>
                    <a:pt x="45087" y="38695"/>
                  </a:cubicBezTo>
                  <a:lnTo>
                    <a:pt x="45087" y="125760"/>
                  </a:lnTo>
                  <a:cubicBezTo>
                    <a:pt x="45088" y="128289"/>
                    <a:pt x="43852" y="130658"/>
                    <a:pt x="41779" y="132106"/>
                  </a:cubicBezTo>
                  <a:cubicBezTo>
                    <a:pt x="23692" y="144694"/>
                    <a:pt x="16944" y="168263"/>
                    <a:pt x="25628" y="188516"/>
                  </a:cubicBezTo>
                  <a:cubicBezTo>
                    <a:pt x="34312" y="208770"/>
                    <a:pt x="56036" y="220131"/>
                    <a:pt x="77624" y="215707"/>
                  </a:cubicBezTo>
                  <a:cubicBezTo>
                    <a:pt x="99213" y="211284"/>
                    <a:pt x="114719" y="192296"/>
                    <a:pt x="114739" y="170259"/>
                  </a:cubicBezTo>
                  <a:close/>
                </a:path>
              </a:pathLst>
            </a:custGeom>
            <a:solidFill>
              <a:srgbClr val="D1552C"/>
            </a:solidFill>
            <a:ln>
              <a:noFill/>
            </a:ln>
          </p:spPr>
        </p:sp>
      </p:grpSp>
      <p:grpSp>
        <p:nvGrpSpPr>
          <p:cNvPr id="53" name="Group 53"/>
          <p:cNvGrpSpPr/>
          <p:nvPr/>
        </p:nvGrpSpPr>
        <p:grpSpPr>
          <a:xfrm>
            <a:off x="6412760" y="2305611"/>
            <a:ext cx="223732" cy="173846"/>
            <a:chOff x="6412760" y="2305611"/>
            <a:chExt cx="223732" cy="173846"/>
          </a:xfrm>
        </p:grpSpPr>
        <p:sp>
          <p:nvSpPr>
            <p:cNvPr id="51" name="Freeform 51"/>
            <p:cNvSpPr/>
            <p:nvPr/>
          </p:nvSpPr>
          <p:spPr>
            <a:xfrm>
              <a:off x="6424017" y="2390775"/>
              <a:ext cx="201216" cy="77391"/>
            </a:xfrm>
            <a:custGeom>
              <a:avLst/>
              <a:gdLst/>
              <a:ahLst/>
              <a:cxnLst/>
              <a:rect l="l" t="t" r="r" b="b"/>
              <a:pathLst>
                <a:path w="201216" h="77391">
                  <a:moveTo>
                    <a:pt x="77391" y="38695"/>
                  </a:moveTo>
                  <a:cubicBezTo>
                    <a:pt x="77391" y="60066"/>
                    <a:pt x="60066" y="77391"/>
                    <a:pt x="38695" y="77391"/>
                  </a:cubicBezTo>
                  <a:cubicBezTo>
                    <a:pt x="17324" y="77391"/>
                    <a:pt x="0" y="60066"/>
                    <a:pt x="0" y="38695"/>
                  </a:cubicBezTo>
                  <a:cubicBezTo>
                    <a:pt x="0" y="17324"/>
                    <a:pt x="17324" y="0"/>
                    <a:pt x="38695" y="0"/>
                  </a:cubicBezTo>
                  <a:cubicBezTo>
                    <a:pt x="60066" y="0"/>
                    <a:pt x="77391" y="17324"/>
                    <a:pt x="77391" y="38695"/>
                  </a:cubicBezTo>
                  <a:close/>
                  <a:moveTo>
                    <a:pt x="162520" y="0"/>
                  </a:moveTo>
                  <a:cubicBezTo>
                    <a:pt x="141149" y="0"/>
                    <a:pt x="123825" y="17324"/>
                    <a:pt x="123825" y="38695"/>
                  </a:cubicBezTo>
                  <a:cubicBezTo>
                    <a:pt x="123825" y="60066"/>
                    <a:pt x="141149" y="77391"/>
                    <a:pt x="162520" y="77391"/>
                  </a:cubicBezTo>
                  <a:cubicBezTo>
                    <a:pt x="183891" y="77391"/>
                    <a:pt x="201216" y="60066"/>
                    <a:pt x="201216" y="38695"/>
                  </a:cubicBezTo>
                  <a:cubicBezTo>
                    <a:pt x="201216" y="17324"/>
                    <a:pt x="183891" y="0"/>
                    <a:pt x="162520" y="0"/>
                  </a:cubicBezTo>
                  <a:close/>
                </a:path>
              </a:pathLst>
            </a:custGeom>
            <a:solidFill>
              <a:srgbClr val="D1552C">
                <a:alpha val="20000"/>
              </a:srgbClr>
            </a:solidFill>
            <a:ln>
              <a:noFill/>
            </a:ln>
          </p:spPr>
        </p:sp>
        <p:sp>
          <p:nvSpPr>
            <p:cNvPr id="52" name="Freeform 52"/>
            <p:cNvSpPr/>
            <p:nvPr/>
          </p:nvSpPr>
          <p:spPr>
            <a:xfrm>
              <a:off x="6412760" y="2305611"/>
              <a:ext cx="223732" cy="173846"/>
            </a:xfrm>
            <a:custGeom>
              <a:avLst/>
              <a:gdLst/>
              <a:ahLst/>
              <a:cxnLst/>
              <a:rect l="l" t="t" r="r" b="b"/>
              <a:pathLst>
                <a:path w="223732" h="173846">
                  <a:moveTo>
                    <a:pt x="217504" y="108255"/>
                  </a:moveTo>
                  <a:lnTo>
                    <a:pt x="217504" y="108255"/>
                  </a:lnTo>
                  <a:cubicBezTo>
                    <a:pt x="216857" y="106452"/>
                    <a:pt x="216098" y="104691"/>
                    <a:pt x="215230" y="102983"/>
                  </a:cubicBezTo>
                  <a:lnTo>
                    <a:pt x="174997" y="11449"/>
                  </a:lnTo>
                  <a:cubicBezTo>
                    <a:pt x="174616" y="10568"/>
                    <a:pt x="174071" y="9766"/>
                    <a:pt x="173391" y="9089"/>
                  </a:cubicBezTo>
                  <a:cubicBezTo>
                    <a:pt x="167585" y="3282"/>
                    <a:pt x="159710" y="19"/>
                    <a:pt x="151499" y="19"/>
                  </a:cubicBezTo>
                  <a:cubicBezTo>
                    <a:pt x="143288" y="19"/>
                    <a:pt x="135413" y="3282"/>
                    <a:pt x="129607" y="9089"/>
                  </a:cubicBezTo>
                  <a:cubicBezTo>
                    <a:pt x="128161" y="10537"/>
                    <a:pt x="127347" y="12498"/>
                    <a:pt x="127344" y="14545"/>
                  </a:cubicBezTo>
                  <a:lnTo>
                    <a:pt x="127344" y="38729"/>
                  </a:lnTo>
                  <a:lnTo>
                    <a:pt x="96387" y="38729"/>
                  </a:lnTo>
                  <a:lnTo>
                    <a:pt x="96387" y="14545"/>
                  </a:lnTo>
                  <a:cubicBezTo>
                    <a:pt x="96389" y="12492"/>
                    <a:pt x="95575" y="10522"/>
                    <a:pt x="94124" y="9069"/>
                  </a:cubicBezTo>
                  <a:cubicBezTo>
                    <a:pt x="88318" y="3262"/>
                    <a:pt x="80443" y="0"/>
                    <a:pt x="72232" y="0"/>
                  </a:cubicBezTo>
                  <a:cubicBezTo>
                    <a:pt x="64020" y="0"/>
                    <a:pt x="56145" y="3262"/>
                    <a:pt x="50340" y="9069"/>
                  </a:cubicBezTo>
                  <a:cubicBezTo>
                    <a:pt x="49660" y="9747"/>
                    <a:pt x="49115" y="10548"/>
                    <a:pt x="48734" y="11430"/>
                  </a:cubicBezTo>
                  <a:lnTo>
                    <a:pt x="8501" y="102964"/>
                  </a:lnTo>
                  <a:cubicBezTo>
                    <a:pt x="7633" y="104671"/>
                    <a:pt x="6873" y="106432"/>
                    <a:pt x="6227" y="108236"/>
                  </a:cubicBezTo>
                  <a:lnTo>
                    <a:pt x="6227" y="108236"/>
                  </a:lnTo>
                  <a:cubicBezTo>
                    <a:pt x="0" y="125660"/>
                    <a:pt x="4712" y="145118"/>
                    <a:pt x="18220" y="157763"/>
                  </a:cubicBezTo>
                  <a:cubicBezTo>
                    <a:pt x="31728" y="170408"/>
                    <a:pt x="51455" y="173826"/>
                    <a:pt x="68430" y="166463"/>
                  </a:cubicBezTo>
                  <a:cubicBezTo>
                    <a:pt x="85405" y="159100"/>
                    <a:pt x="96389" y="142362"/>
                    <a:pt x="96387" y="123859"/>
                  </a:cubicBezTo>
                  <a:lnTo>
                    <a:pt x="96387" y="54207"/>
                  </a:lnTo>
                  <a:lnTo>
                    <a:pt x="127344" y="54207"/>
                  </a:lnTo>
                  <a:lnTo>
                    <a:pt x="127344" y="123859"/>
                  </a:lnTo>
                  <a:cubicBezTo>
                    <a:pt x="127334" y="142365"/>
                    <a:pt x="138314" y="159109"/>
                    <a:pt x="155289" y="166477"/>
                  </a:cubicBezTo>
                  <a:cubicBezTo>
                    <a:pt x="172265" y="173846"/>
                    <a:pt x="191994" y="170431"/>
                    <a:pt x="205506" y="157786"/>
                  </a:cubicBezTo>
                  <a:cubicBezTo>
                    <a:pt x="219018" y="145142"/>
                    <a:pt x="223732" y="125681"/>
                    <a:pt x="217504" y="108255"/>
                  </a:cubicBezTo>
                  <a:close/>
                  <a:moveTo>
                    <a:pt x="62248" y="19140"/>
                  </a:moveTo>
                  <a:cubicBezTo>
                    <a:pt x="67550" y="14676"/>
                    <a:pt x="75174" y="14280"/>
                    <a:pt x="80909" y="18172"/>
                  </a:cubicBezTo>
                  <a:lnTo>
                    <a:pt x="80909" y="89285"/>
                  </a:lnTo>
                  <a:cubicBezTo>
                    <a:pt x="68612" y="78243"/>
                    <a:pt x="51365" y="74586"/>
                    <a:pt x="35645" y="79688"/>
                  </a:cubicBezTo>
                  <a:close/>
                  <a:moveTo>
                    <a:pt x="49953" y="154815"/>
                  </a:moveTo>
                  <a:cubicBezTo>
                    <a:pt x="32856" y="154815"/>
                    <a:pt x="18997" y="140956"/>
                    <a:pt x="18997" y="123859"/>
                  </a:cubicBezTo>
                  <a:cubicBezTo>
                    <a:pt x="18997" y="106762"/>
                    <a:pt x="32856" y="92903"/>
                    <a:pt x="49953" y="92903"/>
                  </a:cubicBezTo>
                  <a:cubicBezTo>
                    <a:pt x="67050" y="92903"/>
                    <a:pt x="80909" y="106762"/>
                    <a:pt x="80909" y="123859"/>
                  </a:cubicBezTo>
                  <a:cubicBezTo>
                    <a:pt x="80909" y="140956"/>
                    <a:pt x="67050" y="154815"/>
                    <a:pt x="49953" y="154815"/>
                  </a:cubicBezTo>
                  <a:close/>
                  <a:moveTo>
                    <a:pt x="142822" y="18163"/>
                  </a:moveTo>
                  <a:cubicBezTo>
                    <a:pt x="148557" y="14271"/>
                    <a:pt x="156180" y="14666"/>
                    <a:pt x="161482" y="19130"/>
                  </a:cubicBezTo>
                  <a:lnTo>
                    <a:pt x="188085" y="79669"/>
                  </a:lnTo>
                  <a:cubicBezTo>
                    <a:pt x="172364" y="74569"/>
                    <a:pt x="155117" y="78230"/>
                    <a:pt x="142822" y="89275"/>
                  </a:cubicBezTo>
                  <a:close/>
                  <a:moveTo>
                    <a:pt x="173778" y="154815"/>
                  </a:moveTo>
                  <a:cubicBezTo>
                    <a:pt x="156681" y="154815"/>
                    <a:pt x="142822" y="140956"/>
                    <a:pt x="142822" y="123859"/>
                  </a:cubicBezTo>
                  <a:cubicBezTo>
                    <a:pt x="142822" y="106762"/>
                    <a:pt x="156681" y="92903"/>
                    <a:pt x="173778" y="92903"/>
                  </a:cubicBezTo>
                  <a:cubicBezTo>
                    <a:pt x="190875" y="92903"/>
                    <a:pt x="204734" y="106762"/>
                    <a:pt x="204734" y="123859"/>
                  </a:cubicBezTo>
                  <a:cubicBezTo>
                    <a:pt x="204734" y="140956"/>
                    <a:pt x="190875" y="154815"/>
                    <a:pt x="173778" y="154815"/>
                  </a:cubicBezTo>
                  <a:close/>
                </a:path>
              </a:pathLst>
            </a:custGeom>
            <a:solidFill>
              <a:srgbClr val="D1552C"/>
            </a:solidFill>
            <a:ln>
              <a:noFill/>
            </a:ln>
          </p:spPr>
        </p:sp>
      </p:grpSp>
      <p:sp>
        <p:nvSpPr>
          <p:cNvPr id="54" name="TextBox 54"/>
          <p:cNvSpPr txBox="1"/>
          <p:nvPr/>
        </p:nvSpPr>
        <p:spPr>
          <a:xfrm>
            <a:off x="6878002" y="1617821"/>
            <a:ext cx="2145212" cy="289560"/>
          </a:xfrm>
          <a:prstGeom prst="rect">
            <a:avLst/>
          </a:prstGeom>
          <a:noFill/>
          <a:ln>
            <a:noFill/>
          </a:ln>
        </p:spPr>
        <p:txBody>
          <a:bodyPr wrap="none" lIns="0" tIns="0" rIns="0" bIns="0" anchor="t" anchorCtr="0">
            <a:spAutoFit/>
          </a:bodyPr>
          <a:lstStyle/>
          <a:p>
            <a:pPr algn="l"/>
            <a:r>
              <a:rPr lang="zh-CN" sz="1425" b="1" dirty="0">
                <a:solidFill>
                  <a:srgbClr val="D1552C"/>
                </a:solidFill>
                <a:latin typeface="Arial"/>
                <a:ea typeface="Microsoft YaHei"/>
                <a:cs typeface="Arial"/>
              </a:rPr>
              <a:t>Confounded drivers</a:t>
            </a:r>
          </a:p>
        </p:txBody>
      </p:sp>
      <p:sp>
        <p:nvSpPr>
          <p:cNvPr id="55" name="TextBox 55"/>
          <p:cNvSpPr txBox="1"/>
          <p:nvPr/>
        </p:nvSpPr>
        <p:spPr>
          <a:xfrm>
            <a:off x="6879908" y="1957864"/>
            <a:ext cx="4406546"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Warming and observation grew together; a model</a:t>
            </a:r>
          </a:p>
        </p:txBody>
      </p:sp>
      <p:sp>
        <p:nvSpPr>
          <p:cNvPr id="56" name="TextBox 56"/>
          <p:cNvSpPr txBox="1"/>
          <p:nvPr/>
        </p:nvSpPr>
        <p:spPr>
          <a:xfrm>
            <a:off x="6879908" y="2205514"/>
            <a:ext cx="3793903"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with only one of them credits it with both</a:t>
            </a:r>
          </a:p>
        </p:txBody>
      </p:sp>
      <p:sp>
        <p:nvSpPr>
          <p:cNvPr id="57" name="Rectangle 57"/>
          <p:cNvSpPr/>
          <p:nvPr/>
        </p:nvSpPr>
        <p:spPr>
          <a:xfrm>
            <a:off x="6096000" y="2876550"/>
            <a:ext cx="5581650" cy="1333500"/>
          </a:xfrm>
          <a:prstGeom prst="roundRect">
            <a:avLst>
              <a:gd name="adj" fmla="val 7143"/>
            </a:avLst>
          </a:prstGeom>
          <a:solidFill>
            <a:srgbClr val="FFFFFF"/>
          </a:solidFill>
          <a:ln>
            <a:noFill/>
          </a:ln>
        </p:spPr>
      </p:sp>
      <p:sp>
        <p:nvSpPr>
          <p:cNvPr id="58" name="Rectangle 58"/>
          <p:cNvSpPr/>
          <p:nvPr/>
        </p:nvSpPr>
        <p:spPr>
          <a:xfrm>
            <a:off x="6096000" y="2876550"/>
            <a:ext cx="609600" cy="1333500"/>
          </a:xfrm>
          <a:prstGeom prst="roundRect">
            <a:avLst>
              <a:gd name="adj" fmla="val 15625"/>
            </a:avLst>
          </a:prstGeom>
          <a:solidFill>
            <a:srgbClr val="E5F3F2"/>
          </a:solidFill>
          <a:ln>
            <a:noFill/>
          </a:ln>
        </p:spPr>
      </p:sp>
      <p:sp>
        <p:nvSpPr>
          <p:cNvPr id="59" name="Rectangle 59"/>
          <p:cNvSpPr/>
          <p:nvPr/>
        </p:nvSpPr>
        <p:spPr>
          <a:xfrm>
            <a:off x="6610350" y="2876550"/>
            <a:ext cx="95250" cy="1333500"/>
          </a:xfrm>
          <a:prstGeom prst="rect">
            <a:avLst/>
          </a:prstGeom>
          <a:solidFill>
            <a:srgbClr val="E5F3F2"/>
          </a:solidFill>
          <a:ln>
            <a:noFill/>
          </a:ln>
        </p:spPr>
      </p:sp>
      <p:sp>
        <p:nvSpPr>
          <p:cNvPr id="60" name="Rectangle 60"/>
          <p:cNvSpPr/>
          <p:nvPr/>
        </p:nvSpPr>
        <p:spPr>
          <a:xfrm>
            <a:off x="6096000" y="2876550"/>
            <a:ext cx="5581650" cy="1333500"/>
          </a:xfrm>
          <a:prstGeom prst="roundRect">
            <a:avLst>
              <a:gd name="adj" fmla="val 7143"/>
            </a:avLst>
          </a:prstGeom>
          <a:noFill/>
          <a:ln w="15240">
            <a:solidFill>
              <a:srgbClr val="2A9D8F"/>
            </a:solidFill>
          </a:ln>
        </p:spPr>
      </p:sp>
      <p:sp>
        <p:nvSpPr>
          <p:cNvPr id="61" name="TextBox 61"/>
          <p:cNvSpPr txBox="1"/>
          <p:nvPr/>
        </p:nvSpPr>
        <p:spPr>
          <a:xfrm>
            <a:off x="6162675" y="3100388"/>
            <a:ext cx="476250" cy="428625"/>
          </a:xfrm>
          <a:prstGeom prst="rect">
            <a:avLst/>
          </a:prstGeom>
          <a:noFill/>
          <a:ln>
            <a:noFill/>
          </a:ln>
        </p:spPr>
        <p:txBody>
          <a:bodyPr wrap="square" lIns="0" tIns="0" rIns="0" bIns="0" anchor="t" anchorCtr="0">
            <a:normAutofit/>
          </a:bodyPr>
          <a:lstStyle/>
          <a:p>
            <a:pPr algn="ctr"/>
            <a:r>
              <a:rPr lang="zh-CN" sz="2250" b="1" dirty="0">
                <a:solidFill>
                  <a:srgbClr val="2A9D8F"/>
                </a:solidFill>
                <a:latin typeface="Arial"/>
                <a:ea typeface="Microsoft YaHei"/>
                <a:cs typeface="Arial"/>
              </a:rPr>
              <a:t>2</a:t>
            </a:r>
          </a:p>
        </p:txBody>
      </p:sp>
      <p:sp>
        <p:nvSpPr>
          <p:cNvPr id="62" name="TextBox 62"/>
          <p:cNvSpPr txBox="1"/>
          <p:nvPr/>
        </p:nvSpPr>
        <p:spPr>
          <a:xfrm>
            <a:off x="6162675" y="3491865"/>
            <a:ext cx="476250" cy="171450"/>
          </a:xfrm>
          <a:prstGeom prst="rect">
            <a:avLst/>
          </a:prstGeom>
          <a:noFill/>
          <a:ln>
            <a:noFill/>
          </a:ln>
        </p:spPr>
        <p:txBody>
          <a:bodyPr wrap="square" lIns="0" tIns="0" rIns="0" bIns="0" anchor="t" anchorCtr="0">
            <a:normAutofit/>
          </a:bodyPr>
          <a:lstStyle/>
          <a:p>
            <a:pPr algn="ctr"/>
            <a:r>
              <a:rPr lang="zh-CN" sz="900" b="1" dirty="0">
                <a:solidFill>
                  <a:srgbClr val="2A9D8F"/>
                </a:solidFill>
                <a:latin typeface="Arial"/>
                <a:ea typeface="Microsoft YaHei"/>
                <a:cs typeface="Arial"/>
              </a:rPr>
              <a:t>GAP</a:t>
            </a:r>
          </a:p>
        </p:txBody>
      </p:sp>
      <p:grpSp>
        <p:nvGrpSpPr>
          <p:cNvPr id="65" name="Group 65"/>
          <p:cNvGrpSpPr/>
          <p:nvPr/>
        </p:nvGrpSpPr>
        <p:grpSpPr>
          <a:xfrm>
            <a:off x="6238654" y="3777426"/>
            <a:ext cx="323210" cy="237804"/>
            <a:chOff x="6238654" y="3777426"/>
            <a:chExt cx="323210" cy="237804"/>
          </a:xfrm>
        </p:grpSpPr>
        <p:sp>
          <p:nvSpPr>
            <p:cNvPr id="63" name="Freeform 63"/>
            <p:cNvSpPr/>
            <p:nvPr/>
          </p:nvSpPr>
          <p:spPr>
            <a:xfrm>
              <a:off x="6272212" y="3789759"/>
              <a:ext cx="257175" cy="171450"/>
            </a:xfrm>
            <a:custGeom>
              <a:avLst/>
              <a:gdLst/>
              <a:ahLst/>
              <a:cxnLst/>
              <a:rect l="l" t="t" r="r" b="b"/>
              <a:pathLst>
                <a:path w="257175" h="171450">
                  <a:moveTo>
                    <a:pt x="182166" y="117872"/>
                  </a:moveTo>
                  <a:cubicBezTo>
                    <a:pt x="182166" y="147462"/>
                    <a:pt x="158178" y="171450"/>
                    <a:pt x="128588" y="171450"/>
                  </a:cubicBezTo>
                  <a:cubicBezTo>
                    <a:pt x="98997" y="171450"/>
                    <a:pt x="75009" y="147462"/>
                    <a:pt x="75009" y="117872"/>
                  </a:cubicBezTo>
                  <a:cubicBezTo>
                    <a:pt x="75009" y="88281"/>
                    <a:pt x="98997" y="64294"/>
                    <a:pt x="128588" y="64294"/>
                  </a:cubicBezTo>
                  <a:cubicBezTo>
                    <a:pt x="158178" y="64294"/>
                    <a:pt x="182166" y="88281"/>
                    <a:pt x="182166" y="117872"/>
                  </a:cubicBezTo>
                  <a:close/>
                  <a:moveTo>
                    <a:pt x="42862" y="0"/>
                  </a:moveTo>
                  <a:cubicBezTo>
                    <a:pt x="19190" y="0"/>
                    <a:pt x="0" y="19190"/>
                    <a:pt x="0" y="42862"/>
                  </a:cubicBezTo>
                  <a:cubicBezTo>
                    <a:pt x="0" y="66535"/>
                    <a:pt x="19190" y="85725"/>
                    <a:pt x="42862" y="85725"/>
                  </a:cubicBezTo>
                  <a:cubicBezTo>
                    <a:pt x="66535" y="85725"/>
                    <a:pt x="85725" y="66535"/>
                    <a:pt x="85725" y="42862"/>
                  </a:cubicBezTo>
                  <a:cubicBezTo>
                    <a:pt x="85725" y="19190"/>
                    <a:pt x="66535" y="0"/>
                    <a:pt x="42862" y="0"/>
                  </a:cubicBezTo>
                  <a:close/>
                  <a:moveTo>
                    <a:pt x="214312" y="0"/>
                  </a:moveTo>
                  <a:cubicBezTo>
                    <a:pt x="190640" y="0"/>
                    <a:pt x="171450" y="19190"/>
                    <a:pt x="171450" y="42862"/>
                  </a:cubicBezTo>
                  <a:cubicBezTo>
                    <a:pt x="171450" y="66535"/>
                    <a:pt x="190640" y="85725"/>
                    <a:pt x="214312" y="85725"/>
                  </a:cubicBezTo>
                  <a:cubicBezTo>
                    <a:pt x="237985" y="85725"/>
                    <a:pt x="257175" y="66535"/>
                    <a:pt x="257175" y="42862"/>
                  </a:cubicBezTo>
                  <a:cubicBezTo>
                    <a:pt x="257175" y="19190"/>
                    <a:pt x="237985" y="0"/>
                    <a:pt x="214312" y="0"/>
                  </a:cubicBezTo>
                  <a:close/>
                </a:path>
              </a:pathLst>
            </a:custGeom>
            <a:solidFill>
              <a:srgbClr val="2A9D8F">
                <a:alpha val="20000"/>
              </a:srgbClr>
            </a:solidFill>
            <a:ln>
              <a:noFill/>
            </a:ln>
          </p:spPr>
        </p:sp>
        <p:sp>
          <p:nvSpPr>
            <p:cNvPr id="64" name="Freeform 64"/>
            <p:cNvSpPr/>
            <p:nvPr/>
          </p:nvSpPr>
          <p:spPr>
            <a:xfrm>
              <a:off x="6238654" y="3777426"/>
              <a:ext cx="323210" cy="237804"/>
            </a:xfrm>
            <a:custGeom>
              <a:avLst/>
              <a:gdLst/>
              <a:ahLst/>
              <a:cxnLst/>
              <a:rect l="l" t="t" r="r" b="b"/>
              <a:pathLst>
                <a:path w="323210" h="237804">
                  <a:moveTo>
                    <a:pt x="318594" y="138777"/>
                  </a:moveTo>
                  <a:cubicBezTo>
                    <a:pt x="313859" y="142328"/>
                    <a:pt x="307143" y="141369"/>
                    <a:pt x="303592" y="136634"/>
                  </a:cubicBezTo>
                  <a:cubicBezTo>
                    <a:pt x="290494" y="119029"/>
                    <a:pt x="269814" y="108689"/>
                    <a:pt x="247871" y="108774"/>
                  </a:cubicBezTo>
                  <a:cubicBezTo>
                    <a:pt x="241953" y="108774"/>
                    <a:pt x="237155" y="103976"/>
                    <a:pt x="237155" y="98058"/>
                  </a:cubicBezTo>
                  <a:cubicBezTo>
                    <a:pt x="237155" y="92140"/>
                    <a:pt x="241953" y="87342"/>
                    <a:pt x="247871" y="87342"/>
                  </a:cubicBezTo>
                  <a:cubicBezTo>
                    <a:pt x="264576" y="87341"/>
                    <a:pt x="278497" y="74544"/>
                    <a:pt x="279901" y="57898"/>
                  </a:cubicBezTo>
                  <a:cubicBezTo>
                    <a:pt x="281305" y="41252"/>
                    <a:pt x="269726" y="26304"/>
                    <a:pt x="253257" y="23504"/>
                  </a:cubicBezTo>
                  <a:cubicBezTo>
                    <a:pt x="236788" y="20703"/>
                    <a:pt x="220918" y="30984"/>
                    <a:pt x="216742" y="47159"/>
                  </a:cubicBezTo>
                  <a:cubicBezTo>
                    <a:pt x="215262" y="52892"/>
                    <a:pt x="209415" y="56340"/>
                    <a:pt x="203682" y="54861"/>
                  </a:cubicBezTo>
                  <a:cubicBezTo>
                    <a:pt x="197949" y="53381"/>
                    <a:pt x="194501" y="47534"/>
                    <a:pt x="195980" y="41801"/>
                  </a:cubicBezTo>
                  <a:cubicBezTo>
                    <a:pt x="201703" y="19658"/>
                    <a:pt x="220851" y="3588"/>
                    <a:pt x="243651" y="1794"/>
                  </a:cubicBezTo>
                  <a:cubicBezTo>
                    <a:pt x="266452" y="0"/>
                    <a:pt x="287877" y="12877"/>
                    <a:pt x="296993" y="33853"/>
                  </a:cubicBezTo>
                  <a:cubicBezTo>
                    <a:pt x="306108" y="54828"/>
                    <a:pt x="300904" y="79278"/>
                    <a:pt x="284036" y="94723"/>
                  </a:cubicBezTo>
                  <a:cubicBezTo>
                    <a:pt x="298607" y="101032"/>
                    <a:pt x="311273" y="111043"/>
                    <a:pt x="320777" y="123762"/>
                  </a:cubicBezTo>
                  <a:cubicBezTo>
                    <a:pt x="322482" y="126042"/>
                    <a:pt x="323210" y="128906"/>
                    <a:pt x="322801" y="131723"/>
                  </a:cubicBezTo>
                  <a:cubicBezTo>
                    <a:pt x="322391" y="134540"/>
                    <a:pt x="320878" y="137078"/>
                    <a:pt x="318594" y="138777"/>
                  </a:cubicBezTo>
                  <a:close/>
                  <a:moveTo>
                    <a:pt x="246424" y="221288"/>
                  </a:moveTo>
                  <a:cubicBezTo>
                    <a:pt x="248461" y="224609"/>
                    <a:pt x="248535" y="228773"/>
                    <a:pt x="246617" y="232164"/>
                  </a:cubicBezTo>
                  <a:cubicBezTo>
                    <a:pt x="244700" y="235555"/>
                    <a:pt x="241093" y="237639"/>
                    <a:pt x="237198" y="237605"/>
                  </a:cubicBezTo>
                  <a:cubicBezTo>
                    <a:pt x="233302" y="237572"/>
                    <a:pt x="229732" y="235427"/>
                    <a:pt x="227873" y="232003"/>
                  </a:cubicBezTo>
                  <a:cubicBezTo>
                    <a:pt x="214137" y="208754"/>
                    <a:pt x="189142" y="194490"/>
                    <a:pt x="162139" y="194490"/>
                  </a:cubicBezTo>
                  <a:cubicBezTo>
                    <a:pt x="135136" y="194490"/>
                    <a:pt x="110141" y="208754"/>
                    <a:pt x="96405" y="232003"/>
                  </a:cubicBezTo>
                  <a:cubicBezTo>
                    <a:pt x="94581" y="235491"/>
                    <a:pt x="90991" y="237698"/>
                    <a:pt x="87056" y="237751"/>
                  </a:cubicBezTo>
                  <a:cubicBezTo>
                    <a:pt x="83120" y="237804"/>
                    <a:pt x="79472" y="235696"/>
                    <a:pt x="77553" y="232259"/>
                  </a:cubicBezTo>
                  <a:cubicBezTo>
                    <a:pt x="75635" y="228822"/>
                    <a:pt x="75756" y="224609"/>
                    <a:pt x="77867" y="221288"/>
                  </a:cubicBezTo>
                  <a:cubicBezTo>
                    <a:pt x="88256" y="203438"/>
                    <a:pt x="104096" y="189391"/>
                    <a:pt x="123061" y="181211"/>
                  </a:cubicBezTo>
                  <a:cubicBezTo>
                    <a:pt x="101181" y="164459"/>
                    <a:pt x="92409" y="135627"/>
                    <a:pt x="101253" y="109528"/>
                  </a:cubicBezTo>
                  <a:cubicBezTo>
                    <a:pt x="110097" y="83429"/>
                    <a:pt x="134589" y="65868"/>
                    <a:pt x="162146" y="65868"/>
                  </a:cubicBezTo>
                  <a:cubicBezTo>
                    <a:pt x="189702" y="65868"/>
                    <a:pt x="214195" y="83429"/>
                    <a:pt x="223038" y="109528"/>
                  </a:cubicBezTo>
                  <a:cubicBezTo>
                    <a:pt x="231882" y="135627"/>
                    <a:pt x="223111" y="164459"/>
                    <a:pt x="201231" y="181211"/>
                  </a:cubicBezTo>
                  <a:cubicBezTo>
                    <a:pt x="220195" y="189391"/>
                    <a:pt x="236035" y="203438"/>
                    <a:pt x="246424" y="221288"/>
                  </a:cubicBezTo>
                  <a:close/>
                  <a:moveTo>
                    <a:pt x="162146" y="173067"/>
                  </a:moveTo>
                  <a:cubicBezTo>
                    <a:pt x="185818" y="173067"/>
                    <a:pt x="205008" y="153877"/>
                    <a:pt x="205008" y="130205"/>
                  </a:cubicBezTo>
                  <a:cubicBezTo>
                    <a:pt x="205008" y="106533"/>
                    <a:pt x="185818" y="87342"/>
                    <a:pt x="162146" y="87342"/>
                  </a:cubicBezTo>
                  <a:cubicBezTo>
                    <a:pt x="138473" y="87342"/>
                    <a:pt x="119283" y="106533"/>
                    <a:pt x="119283" y="130205"/>
                  </a:cubicBezTo>
                  <a:cubicBezTo>
                    <a:pt x="119283" y="153877"/>
                    <a:pt x="138473" y="173067"/>
                    <a:pt x="162146" y="173067"/>
                  </a:cubicBezTo>
                  <a:close/>
                  <a:moveTo>
                    <a:pt x="87136" y="98058"/>
                  </a:moveTo>
                  <a:cubicBezTo>
                    <a:pt x="87136" y="92140"/>
                    <a:pt x="82339" y="87342"/>
                    <a:pt x="76421" y="87342"/>
                  </a:cubicBezTo>
                  <a:cubicBezTo>
                    <a:pt x="59715" y="87341"/>
                    <a:pt x="45795" y="74544"/>
                    <a:pt x="44391" y="57898"/>
                  </a:cubicBezTo>
                  <a:cubicBezTo>
                    <a:pt x="42986" y="41252"/>
                    <a:pt x="54566" y="26304"/>
                    <a:pt x="71035" y="23504"/>
                  </a:cubicBezTo>
                  <a:cubicBezTo>
                    <a:pt x="87504" y="20703"/>
                    <a:pt x="103373" y="30984"/>
                    <a:pt x="107550" y="47159"/>
                  </a:cubicBezTo>
                  <a:cubicBezTo>
                    <a:pt x="109029" y="52892"/>
                    <a:pt x="114876" y="56340"/>
                    <a:pt x="120609" y="54861"/>
                  </a:cubicBezTo>
                  <a:cubicBezTo>
                    <a:pt x="126342" y="53381"/>
                    <a:pt x="129791" y="47534"/>
                    <a:pt x="128311" y="41801"/>
                  </a:cubicBezTo>
                  <a:cubicBezTo>
                    <a:pt x="122589" y="19658"/>
                    <a:pt x="103441" y="3588"/>
                    <a:pt x="80640" y="1794"/>
                  </a:cubicBezTo>
                  <a:cubicBezTo>
                    <a:pt x="57840" y="0"/>
                    <a:pt x="36414" y="12877"/>
                    <a:pt x="27299" y="33853"/>
                  </a:cubicBezTo>
                  <a:cubicBezTo>
                    <a:pt x="18183" y="54828"/>
                    <a:pt x="23387" y="79278"/>
                    <a:pt x="40256" y="94723"/>
                  </a:cubicBezTo>
                  <a:cubicBezTo>
                    <a:pt x="25699" y="101038"/>
                    <a:pt x="13047" y="111048"/>
                    <a:pt x="3555" y="123762"/>
                  </a:cubicBezTo>
                  <a:cubicBezTo>
                    <a:pt x="0" y="128497"/>
                    <a:pt x="957" y="135216"/>
                    <a:pt x="5691" y="138771"/>
                  </a:cubicBezTo>
                  <a:cubicBezTo>
                    <a:pt x="10425" y="142325"/>
                    <a:pt x="17145" y="141369"/>
                    <a:pt x="20700" y="136634"/>
                  </a:cubicBezTo>
                  <a:cubicBezTo>
                    <a:pt x="33797" y="119029"/>
                    <a:pt x="54477" y="108689"/>
                    <a:pt x="76421" y="108774"/>
                  </a:cubicBezTo>
                  <a:cubicBezTo>
                    <a:pt x="82339" y="108774"/>
                    <a:pt x="87136" y="103976"/>
                    <a:pt x="87136" y="98058"/>
                  </a:cubicBezTo>
                  <a:close/>
                </a:path>
              </a:pathLst>
            </a:custGeom>
            <a:solidFill>
              <a:srgbClr val="2A9D8F"/>
            </a:solidFill>
            <a:ln>
              <a:noFill/>
            </a:ln>
          </p:spPr>
        </p:sp>
      </p:grpSp>
      <p:sp>
        <p:nvSpPr>
          <p:cNvPr id="66" name="TextBox 66"/>
          <p:cNvSpPr txBox="1"/>
          <p:nvPr/>
        </p:nvSpPr>
        <p:spPr>
          <a:xfrm>
            <a:off x="6878002" y="3103721"/>
            <a:ext cx="2515835" cy="289560"/>
          </a:xfrm>
          <a:prstGeom prst="rect">
            <a:avLst/>
          </a:prstGeom>
          <a:noFill/>
          <a:ln>
            <a:noFill/>
          </a:ln>
        </p:spPr>
        <p:txBody>
          <a:bodyPr wrap="none" lIns="0" tIns="0" rIns="0" bIns="0" anchor="t" anchorCtr="0">
            <a:spAutoFit/>
          </a:bodyPr>
          <a:lstStyle/>
          <a:p>
            <a:pPr algn="l"/>
            <a:r>
              <a:rPr lang="zh-CN" sz="1425" b="1" dirty="0">
                <a:solidFill>
                  <a:srgbClr val="2A9D8F"/>
                </a:solidFill>
                <a:latin typeface="Arial"/>
                <a:ea typeface="Microsoft YaHei"/>
                <a:cs typeface="Arial"/>
              </a:rPr>
              <a:t>Unmodelled observation</a:t>
            </a:r>
          </a:p>
        </p:txBody>
      </p:sp>
      <p:sp>
        <p:nvSpPr>
          <p:cNvPr id="67" name="TextBox 67"/>
          <p:cNvSpPr txBox="1"/>
          <p:nvPr/>
        </p:nvSpPr>
        <p:spPr>
          <a:xfrm>
            <a:off x="6879908" y="3443764"/>
            <a:ext cx="3779006"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Survey pulses, and which species could be</a:t>
            </a:r>
          </a:p>
        </p:txBody>
      </p:sp>
      <p:sp>
        <p:nvSpPr>
          <p:cNvPr id="68" name="TextBox 68"/>
          <p:cNvSpPr txBox="1"/>
          <p:nvPr/>
        </p:nvSpPr>
        <p:spPr>
          <a:xfrm>
            <a:off x="6879908" y="3691414"/>
            <a:ext cx="3622586"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recorded where, are rarely in the model</a:t>
            </a:r>
          </a:p>
        </p:txBody>
      </p:sp>
      <p:sp>
        <p:nvSpPr>
          <p:cNvPr id="69" name="Rectangle 69"/>
          <p:cNvSpPr/>
          <p:nvPr/>
        </p:nvSpPr>
        <p:spPr>
          <a:xfrm>
            <a:off x="6096000" y="4362450"/>
            <a:ext cx="5581650" cy="1333500"/>
          </a:xfrm>
          <a:prstGeom prst="roundRect">
            <a:avLst>
              <a:gd name="adj" fmla="val 7143"/>
            </a:avLst>
          </a:prstGeom>
          <a:solidFill>
            <a:srgbClr val="FFFFFF"/>
          </a:solidFill>
          <a:ln>
            <a:noFill/>
          </a:ln>
        </p:spPr>
      </p:sp>
      <p:sp>
        <p:nvSpPr>
          <p:cNvPr id="70" name="Rectangle 70"/>
          <p:cNvSpPr/>
          <p:nvPr/>
        </p:nvSpPr>
        <p:spPr>
          <a:xfrm>
            <a:off x="6096000" y="4362450"/>
            <a:ext cx="609600" cy="1333500"/>
          </a:xfrm>
          <a:prstGeom prst="roundRect">
            <a:avLst>
              <a:gd name="adj" fmla="val 15625"/>
            </a:avLst>
          </a:prstGeom>
          <a:solidFill>
            <a:srgbClr val="F1E0E3"/>
          </a:solidFill>
          <a:ln>
            <a:noFill/>
          </a:ln>
        </p:spPr>
      </p:sp>
      <p:sp>
        <p:nvSpPr>
          <p:cNvPr id="71" name="Rectangle 71"/>
          <p:cNvSpPr/>
          <p:nvPr/>
        </p:nvSpPr>
        <p:spPr>
          <a:xfrm>
            <a:off x="6610350" y="4362450"/>
            <a:ext cx="95250" cy="1333500"/>
          </a:xfrm>
          <a:prstGeom prst="rect">
            <a:avLst/>
          </a:prstGeom>
          <a:solidFill>
            <a:srgbClr val="F1E0E3"/>
          </a:solidFill>
          <a:ln>
            <a:noFill/>
          </a:ln>
        </p:spPr>
      </p:sp>
      <p:sp>
        <p:nvSpPr>
          <p:cNvPr id="72" name="Rectangle 72"/>
          <p:cNvSpPr/>
          <p:nvPr/>
        </p:nvSpPr>
        <p:spPr>
          <a:xfrm>
            <a:off x="6096000" y="4362450"/>
            <a:ext cx="5581650" cy="1333500"/>
          </a:xfrm>
          <a:prstGeom prst="roundRect">
            <a:avLst>
              <a:gd name="adj" fmla="val 7143"/>
            </a:avLst>
          </a:prstGeom>
          <a:noFill/>
          <a:ln w="15240">
            <a:solidFill>
              <a:srgbClr val="8B0012"/>
            </a:solidFill>
          </a:ln>
        </p:spPr>
      </p:sp>
      <p:sp>
        <p:nvSpPr>
          <p:cNvPr id="73" name="TextBox 73"/>
          <p:cNvSpPr txBox="1"/>
          <p:nvPr/>
        </p:nvSpPr>
        <p:spPr>
          <a:xfrm>
            <a:off x="6162675" y="4586288"/>
            <a:ext cx="476250" cy="428625"/>
          </a:xfrm>
          <a:prstGeom prst="rect">
            <a:avLst/>
          </a:prstGeom>
          <a:noFill/>
          <a:ln>
            <a:noFill/>
          </a:ln>
        </p:spPr>
        <p:txBody>
          <a:bodyPr wrap="square" lIns="0" tIns="0" rIns="0" bIns="0" anchor="t" anchorCtr="0">
            <a:normAutofit/>
          </a:bodyPr>
          <a:lstStyle/>
          <a:p>
            <a:pPr algn="ctr"/>
            <a:r>
              <a:rPr lang="zh-CN" sz="2250" b="1" dirty="0">
                <a:solidFill>
                  <a:srgbClr val="8B0012"/>
                </a:solidFill>
                <a:latin typeface="Arial"/>
                <a:ea typeface="Microsoft YaHei"/>
                <a:cs typeface="Arial"/>
              </a:rPr>
              <a:t>3</a:t>
            </a:r>
          </a:p>
        </p:txBody>
      </p:sp>
      <p:sp>
        <p:nvSpPr>
          <p:cNvPr id="74" name="TextBox 74"/>
          <p:cNvSpPr txBox="1"/>
          <p:nvPr/>
        </p:nvSpPr>
        <p:spPr>
          <a:xfrm>
            <a:off x="6162675" y="4977765"/>
            <a:ext cx="476250" cy="171450"/>
          </a:xfrm>
          <a:prstGeom prst="rect">
            <a:avLst/>
          </a:prstGeom>
          <a:noFill/>
          <a:ln>
            <a:noFill/>
          </a:ln>
        </p:spPr>
        <p:txBody>
          <a:bodyPr wrap="square" lIns="0" tIns="0" rIns="0" bIns="0" anchor="t" anchorCtr="0">
            <a:normAutofit/>
          </a:bodyPr>
          <a:lstStyle/>
          <a:p>
            <a:pPr algn="ctr"/>
            <a:r>
              <a:rPr lang="zh-CN" sz="900" b="1" dirty="0">
                <a:solidFill>
                  <a:srgbClr val="8B0012"/>
                </a:solidFill>
                <a:latin typeface="Arial"/>
                <a:ea typeface="Microsoft YaHei"/>
                <a:cs typeface="Arial"/>
              </a:rPr>
              <a:t>GAP</a:t>
            </a:r>
          </a:p>
        </p:txBody>
      </p:sp>
      <p:grpSp>
        <p:nvGrpSpPr>
          <p:cNvPr id="77" name="Group 77"/>
          <p:cNvGrpSpPr/>
          <p:nvPr/>
        </p:nvGrpSpPr>
        <p:grpSpPr>
          <a:xfrm>
            <a:off x="6246644" y="5219839"/>
            <a:ext cx="310688" cy="308538"/>
            <a:chOff x="6246644" y="5219839"/>
            <a:chExt cx="310688" cy="308538"/>
          </a:xfrm>
        </p:grpSpPr>
        <p:sp>
          <p:nvSpPr>
            <p:cNvPr id="75" name="Freeform 75"/>
            <p:cNvSpPr/>
            <p:nvPr/>
          </p:nvSpPr>
          <p:spPr>
            <a:xfrm>
              <a:off x="6336506" y="530780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8B0012">
                <a:alpha val="20000"/>
              </a:srgbClr>
            </a:solidFill>
            <a:ln>
              <a:noFill/>
            </a:ln>
          </p:spPr>
        </p:sp>
        <p:sp>
          <p:nvSpPr>
            <p:cNvPr id="76" name="Freeform 76"/>
            <p:cNvSpPr/>
            <p:nvPr/>
          </p:nvSpPr>
          <p:spPr>
            <a:xfrm>
              <a:off x="6246644" y="5219839"/>
              <a:ext cx="310688" cy="308538"/>
            </a:xfrm>
            <a:custGeom>
              <a:avLst/>
              <a:gdLst/>
              <a:ahLst/>
              <a:cxnLst/>
              <a:rect l="l" t="t" r="r" b="b"/>
              <a:pathLst>
                <a:path w="310688" h="308538">
                  <a:moveTo>
                    <a:pt x="279890" y="92200"/>
                  </a:moveTo>
                  <a:cubicBezTo>
                    <a:pt x="310688" y="156613"/>
                    <a:pt x="287855" y="233884"/>
                    <a:pt x="226992" y="271211"/>
                  </a:cubicBezTo>
                  <a:cubicBezTo>
                    <a:pt x="166129" y="308538"/>
                    <a:pt x="86903" y="293860"/>
                    <a:pt x="43452" y="237207"/>
                  </a:cubicBezTo>
                  <a:cubicBezTo>
                    <a:pt x="0" y="180554"/>
                    <a:pt x="6363" y="100232"/>
                    <a:pt x="58192" y="51127"/>
                  </a:cubicBezTo>
                  <a:cubicBezTo>
                    <a:pt x="110021" y="2021"/>
                    <a:pt x="190570" y="0"/>
                    <a:pt x="244797" y="46444"/>
                  </a:cubicBezTo>
                  <a:lnTo>
                    <a:pt x="275162" y="16065"/>
                  </a:lnTo>
                  <a:cubicBezTo>
                    <a:pt x="279349" y="11878"/>
                    <a:pt x="286138" y="11878"/>
                    <a:pt x="290325" y="16065"/>
                  </a:cubicBezTo>
                  <a:cubicBezTo>
                    <a:pt x="294512" y="20252"/>
                    <a:pt x="294512" y="27041"/>
                    <a:pt x="290325" y="31228"/>
                  </a:cubicBezTo>
                  <a:lnTo>
                    <a:pt x="161737" y="159815"/>
                  </a:lnTo>
                  <a:cubicBezTo>
                    <a:pt x="157550" y="164002"/>
                    <a:pt x="150762" y="164002"/>
                    <a:pt x="146574" y="159815"/>
                  </a:cubicBezTo>
                  <a:cubicBezTo>
                    <a:pt x="142387" y="155628"/>
                    <a:pt x="142387" y="148840"/>
                    <a:pt x="146574" y="144653"/>
                  </a:cubicBezTo>
                  <a:lnTo>
                    <a:pt x="183704" y="107523"/>
                  </a:lnTo>
                  <a:cubicBezTo>
                    <a:pt x="162988" y="93822"/>
                    <a:pt x="135572" y="96155"/>
                    <a:pt x="117468" y="113158"/>
                  </a:cubicBezTo>
                  <a:cubicBezTo>
                    <a:pt x="99365" y="130162"/>
                    <a:pt x="95320" y="157378"/>
                    <a:pt x="107697" y="178911"/>
                  </a:cubicBezTo>
                  <a:cubicBezTo>
                    <a:pt x="120074" y="200445"/>
                    <a:pt x="145627" y="210649"/>
                    <a:pt x="169432" y="203564"/>
                  </a:cubicBezTo>
                  <a:cubicBezTo>
                    <a:pt x="193237" y="196479"/>
                    <a:pt x="209052" y="173963"/>
                    <a:pt x="207640" y="149167"/>
                  </a:cubicBezTo>
                  <a:cubicBezTo>
                    <a:pt x="207307" y="143248"/>
                    <a:pt x="211835" y="138181"/>
                    <a:pt x="217753" y="137848"/>
                  </a:cubicBezTo>
                  <a:cubicBezTo>
                    <a:pt x="223671" y="137515"/>
                    <a:pt x="228739" y="142043"/>
                    <a:pt x="229071" y="147961"/>
                  </a:cubicBezTo>
                  <a:cubicBezTo>
                    <a:pt x="231084" y="183081"/>
                    <a:pt x="208419" y="214882"/>
                    <a:pt x="174565" y="224440"/>
                  </a:cubicBezTo>
                  <a:cubicBezTo>
                    <a:pt x="140710" y="233998"/>
                    <a:pt x="104761" y="218744"/>
                    <a:pt x="88110" y="187756"/>
                  </a:cubicBezTo>
                  <a:cubicBezTo>
                    <a:pt x="71459" y="156769"/>
                    <a:pt x="78580" y="118372"/>
                    <a:pt x="105235" y="95416"/>
                  </a:cubicBezTo>
                  <a:cubicBezTo>
                    <a:pt x="131891" y="72460"/>
                    <a:pt x="170918" y="71111"/>
                    <a:pt x="199094" y="92173"/>
                  </a:cubicBezTo>
                  <a:lnTo>
                    <a:pt x="229567" y="61700"/>
                  </a:lnTo>
                  <a:cubicBezTo>
                    <a:pt x="183323" y="23306"/>
                    <a:pt x="115580" y="25918"/>
                    <a:pt x="72430" y="67761"/>
                  </a:cubicBezTo>
                  <a:cubicBezTo>
                    <a:pt x="29281" y="109603"/>
                    <a:pt x="24586" y="177234"/>
                    <a:pt x="61540" y="224637"/>
                  </a:cubicBezTo>
                  <a:cubicBezTo>
                    <a:pt x="98494" y="272040"/>
                    <a:pt x="165227" y="283988"/>
                    <a:pt x="216332" y="252351"/>
                  </a:cubicBezTo>
                  <a:cubicBezTo>
                    <a:pt x="267438" y="220714"/>
                    <a:pt x="286500" y="155656"/>
                    <a:pt x="260549" y="101442"/>
                  </a:cubicBezTo>
                  <a:cubicBezTo>
                    <a:pt x="257996" y="96101"/>
                    <a:pt x="260257" y="89702"/>
                    <a:pt x="265598" y="87150"/>
                  </a:cubicBezTo>
                  <a:cubicBezTo>
                    <a:pt x="270939" y="84598"/>
                    <a:pt x="277338" y="86859"/>
                    <a:pt x="279890" y="92200"/>
                  </a:cubicBezTo>
                  <a:close/>
                </a:path>
              </a:pathLst>
            </a:custGeom>
            <a:solidFill>
              <a:srgbClr val="8B0012"/>
            </a:solidFill>
            <a:ln>
              <a:noFill/>
            </a:ln>
          </p:spPr>
        </p:sp>
      </p:grpSp>
      <p:sp>
        <p:nvSpPr>
          <p:cNvPr id="78" name="TextBox 78"/>
          <p:cNvSpPr txBox="1"/>
          <p:nvPr/>
        </p:nvSpPr>
        <p:spPr>
          <a:xfrm>
            <a:off x="6878002" y="4589621"/>
            <a:ext cx="3468864" cy="289560"/>
          </a:xfrm>
          <a:prstGeom prst="rect">
            <a:avLst/>
          </a:prstGeom>
          <a:noFill/>
          <a:ln>
            <a:noFill/>
          </a:ln>
        </p:spPr>
        <p:txBody>
          <a:bodyPr wrap="none" lIns="0" tIns="0" rIns="0" bIns="0" anchor="t" anchorCtr="0">
            <a:spAutoFit/>
          </a:bodyPr>
          <a:lstStyle/>
          <a:p>
            <a:pPr algn="l"/>
            <a:r>
              <a:rPr lang="zh-CN" sz="1425" b="1" dirty="0">
                <a:solidFill>
                  <a:srgbClr val="8B0012"/>
                </a:solidFill>
                <a:latin typeface="Arial"/>
                <a:ea typeface="Microsoft YaHei"/>
                <a:cs typeface="Arial"/>
              </a:rPr>
              <a:t>No benchmark, no support check</a:t>
            </a:r>
          </a:p>
        </p:txBody>
      </p:sp>
      <p:sp>
        <p:nvSpPr>
          <p:cNvPr id="79" name="TextBox 79"/>
          <p:cNvSpPr txBox="1"/>
          <p:nvPr/>
        </p:nvSpPr>
        <p:spPr>
          <a:xfrm>
            <a:off x="6879908" y="4929664"/>
            <a:ext cx="4034118"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Warming lacks a null benchmark; projections</a:t>
            </a:r>
          </a:p>
        </p:txBody>
      </p:sp>
      <p:sp>
        <p:nvSpPr>
          <p:cNvPr id="80" name="TextBox 80"/>
          <p:cNvSpPr txBox="1"/>
          <p:nvPr/>
        </p:nvSpPr>
        <p:spPr>
          <a:xfrm>
            <a:off x="6879908" y="5177314"/>
            <a:ext cx="3987565"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are rarely checked against the fitted data</a:t>
            </a:r>
          </a:p>
        </p:txBody>
      </p:sp>
      <p:sp>
        <p:nvSpPr>
          <p:cNvPr id="81" name="Rectangle 81"/>
          <p:cNvSpPr/>
          <p:nvPr/>
        </p:nvSpPr>
        <p:spPr>
          <a:xfrm>
            <a:off x="514350" y="5943600"/>
            <a:ext cx="11163300" cy="457200"/>
          </a:xfrm>
          <a:prstGeom prst="roundRect">
            <a:avLst>
              <a:gd name="adj" fmla="val 16667"/>
            </a:avLst>
          </a:prstGeom>
          <a:solidFill>
            <a:srgbClr val="8B0012"/>
          </a:solidFill>
          <a:ln>
            <a:noFill/>
          </a:ln>
        </p:spPr>
      </p:sp>
      <p:sp>
        <p:nvSpPr>
          <p:cNvPr id="82" name="TextBox 82"/>
          <p:cNvSpPr txBox="1"/>
          <p:nvPr/>
        </p:nvSpPr>
        <p:spPr>
          <a:xfrm>
            <a:off x="609600" y="6057900"/>
            <a:ext cx="10972800" cy="271462"/>
          </a:xfrm>
          <a:prstGeom prst="rect">
            <a:avLst/>
          </a:prstGeom>
          <a:noFill/>
          <a:ln>
            <a:noFill/>
          </a:ln>
        </p:spPr>
        <p:txBody>
          <a:bodyPr wrap="square" lIns="0" tIns="0" rIns="0" bIns="0" anchor="t" anchorCtr="0">
            <a:normAutofit/>
          </a:bodyPr>
          <a:lstStyle/>
          <a:p>
            <a:pPr algn="ctr"/>
            <a:r>
              <a:rPr lang="zh-CN" sz="1425" b="1" dirty="0">
                <a:solidFill>
                  <a:srgbClr val="FFFFFF"/>
                </a:solidFill>
                <a:latin typeface="Arial"/>
                <a:ea typeface="Microsoft YaHei"/>
                <a:cs typeface="Arial"/>
              </a:rPr>
              <a:t>Needed: one model that treats each record as the product of ecology and observation</a:t>
            </a:r>
          </a:p>
        </p:txBody>
      </p:sp>
      <p:sp>
        <p:nvSpPr>
          <p:cNvPr id="83" name="TextBox 83"/>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84" name="TextBox 84"/>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Rectangle 8"/>
          <p:cNvSpPr/>
          <p:nvPr/>
        </p:nvSpPr>
        <p:spPr>
          <a:xfrm>
            <a:off x="4648200" y="0"/>
            <a:ext cx="1866900" cy="609600"/>
          </a:xfrm>
          <a:prstGeom prst="rect">
            <a:avLst/>
          </a:prstGeom>
          <a:solidFill>
            <a:srgbClr val="FFFFFF"/>
          </a:solidFill>
          <a:ln>
            <a:noFill/>
          </a:ln>
        </p:spPr>
      </p:sp>
      <p:sp>
        <p:nvSpPr>
          <p:cNvPr id="9" name="TextBox 9"/>
          <p:cNvSpPr txBox="1"/>
          <p:nvPr/>
        </p:nvSpPr>
        <p:spPr>
          <a:xfrm>
            <a:off x="46863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Questions</a:t>
            </a:r>
          </a:p>
        </p:txBody>
      </p:sp>
      <p:sp>
        <p:nvSpPr>
          <p:cNvPr id="10" name="TextBox 10"/>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1" name="TextBox 11"/>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429331"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Questions</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5620657"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Four questions, each with a testable expectation</a:t>
            </a:r>
          </a:p>
        </p:txBody>
      </p:sp>
      <p:sp>
        <p:nvSpPr>
          <p:cNvPr id="17" name="Rectangle 17"/>
          <p:cNvSpPr/>
          <p:nvPr/>
        </p:nvSpPr>
        <p:spPr>
          <a:xfrm>
            <a:off x="514350" y="1390650"/>
            <a:ext cx="11163300" cy="1123950"/>
          </a:xfrm>
          <a:prstGeom prst="roundRect">
            <a:avLst>
              <a:gd name="adj" fmla="val 8475"/>
            </a:avLst>
          </a:prstGeom>
          <a:solidFill>
            <a:srgbClr val="F8F2F3"/>
          </a:solidFill>
          <a:ln>
            <a:noFill/>
          </a:ln>
        </p:spPr>
      </p:sp>
      <p:sp>
        <p:nvSpPr>
          <p:cNvPr id="18" name="Rectangle 18"/>
          <p:cNvSpPr/>
          <p:nvPr/>
        </p:nvSpPr>
        <p:spPr>
          <a:xfrm>
            <a:off x="704850" y="1562100"/>
            <a:ext cx="514350" cy="361950"/>
          </a:xfrm>
          <a:prstGeom prst="roundRect">
            <a:avLst>
              <a:gd name="adj" fmla="val 21053"/>
            </a:avLst>
          </a:prstGeom>
          <a:solidFill>
            <a:srgbClr val="8B0012"/>
          </a:solidFill>
          <a:ln>
            <a:noFill/>
          </a:ln>
        </p:spPr>
      </p:sp>
      <p:sp>
        <p:nvSpPr>
          <p:cNvPr id="19" name="TextBox 19"/>
          <p:cNvSpPr txBox="1"/>
          <p:nvPr/>
        </p:nvSpPr>
        <p:spPr>
          <a:xfrm>
            <a:off x="723900" y="1628775"/>
            <a:ext cx="476250" cy="285750"/>
          </a:xfrm>
          <a:prstGeom prst="rect">
            <a:avLst/>
          </a:prstGeom>
          <a:noFill/>
          <a:ln>
            <a:noFill/>
          </a:ln>
        </p:spPr>
        <p:txBody>
          <a:bodyPr wrap="square" lIns="0" tIns="0" rIns="0" bIns="0" anchor="t" anchorCtr="0">
            <a:normAutofit/>
          </a:bodyPr>
          <a:lstStyle/>
          <a:p>
            <a:pPr algn="ctr"/>
            <a:r>
              <a:rPr lang="zh-CN" sz="1500" b="1" dirty="0">
                <a:solidFill>
                  <a:srgbClr val="FFFFFF"/>
                </a:solidFill>
                <a:latin typeface="Arial"/>
                <a:ea typeface="Microsoft YaHei"/>
                <a:cs typeface="Arial"/>
              </a:rPr>
              <a:t>Q1</a:t>
            </a:r>
          </a:p>
        </p:txBody>
      </p:sp>
      <p:sp>
        <p:nvSpPr>
          <p:cNvPr id="20" name="TextBox 20"/>
          <p:cNvSpPr txBox="1"/>
          <p:nvPr/>
        </p:nvSpPr>
        <p:spPr>
          <a:xfrm>
            <a:off x="1389698" y="1649254"/>
            <a:ext cx="8817902" cy="320040"/>
          </a:xfrm>
          <a:prstGeom prst="rect">
            <a:avLst/>
          </a:prstGeom>
          <a:noFill/>
          <a:ln>
            <a:noFill/>
          </a:ln>
        </p:spPr>
        <p:txBody>
          <a:bodyPr wrap="none" lIns="0" tIns="0" rIns="0" bIns="0" anchor="t" anchorCtr="0">
            <a:spAutoFit/>
          </a:bodyPr>
          <a:lstStyle/>
          <a:p>
            <a:pPr algn="l"/>
            <a:r>
              <a:rPr lang="zh-CN" sz="1575" b="1" dirty="0">
                <a:solidFill>
                  <a:srgbClr val="68000D"/>
                </a:solidFill>
                <a:latin typeface="Arial"/>
                <a:ea typeface="Microsoft YaHei"/>
                <a:cs typeface="Arial"/>
              </a:rPr>
              <a:t>Does warming raise the rate of new records once observation is modelled?</a:t>
            </a:r>
          </a:p>
        </p:txBody>
      </p:sp>
      <p:sp>
        <p:nvSpPr>
          <p:cNvPr id="21" name="Rectangle 21"/>
          <p:cNvSpPr/>
          <p:nvPr/>
        </p:nvSpPr>
        <p:spPr>
          <a:xfrm>
            <a:off x="762000" y="2038350"/>
            <a:ext cx="400050" cy="285750"/>
          </a:xfrm>
          <a:prstGeom prst="roundRect">
            <a:avLst>
              <a:gd name="adj" fmla="val 20000"/>
            </a:avLst>
          </a:prstGeom>
          <a:solidFill>
            <a:srgbClr val="FFFFFF"/>
          </a:solidFill>
          <a:ln w="15240">
            <a:solidFill>
              <a:srgbClr val="2F4A6D"/>
            </a:solidFill>
          </a:ln>
        </p:spPr>
      </p:sp>
      <p:sp>
        <p:nvSpPr>
          <p:cNvPr id="22" name="TextBox 22"/>
          <p:cNvSpPr txBox="1"/>
          <p:nvPr/>
        </p:nvSpPr>
        <p:spPr>
          <a:xfrm>
            <a:off x="771525" y="2093595"/>
            <a:ext cx="381000" cy="242888"/>
          </a:xfrm>
          <a:prstGeom prst="rect">
            <a:avLst/>
          </a:prstGeom>
          <a:noFill/>
          <a:ln>
            <a:noFill/>
          </a:ln>
        </p:spPr>
        <p:txBody>
          <a:bodyPr wrap="square" lIns="0" tIns="0" rIns="0" bIns="0" anchor="t" anchorCtr="0">
            <a:normAutofit/>
          </a:bodyPr>
          <a:lstStyle/>
          <a:p>
            <a:pPr algn="ctr"/>
            <a:r>
              <a:rPr lang="zh-CN" sz="1275" b="1" dirty="0">
                <a:solidFill>
                  <a:srgbClr val="2F4A6D"/>
                </a:solidFill>
                <a:latin typeface="Arial"/>
                <a:ea typeface="Microsoft YaHei"/>
                <a:cs typeface="Arial"/>
              </a:rPr>
              <a:t>H1</a:t>
            </a:r>
          </a:p>
        </p:txBody>
      </p:sp>
      <p:sp>
        <p:nvSpPr>
          <p:cNvPr id="23" name="TextBox 23"/>
          <p:cNvSpPr txBox="1"/>
          <p:nvPr/>
        </p:nvSpPr>
        <p:spPr>
          <a:xfrm>
            <a:off x="1392555" y="2102168"/>
            <a:ext cx="6895719" cy="274320"/>
          </a:xfrm>
          <a:prstGeom prst="rect">
            <a:avLst/>
          </a:prstGeom>
          <a:noFill/>
          <a:ln>
            <a:noFill/>
          </a:ln>
        </p:spPr>
        <p:txBody>
          <a:bodyPr wrap="none" lIns="0" tIns="0" rIns="0" bIns="0" anchor="t" anchorCtr="0">
            <a:spAutoFit/>
          </a:bodyPr>
          <a:lstStyle/>
          <a:p>
            <a:pPr algn="l"/>
            <a:r>
              <a:rPr lang="zh-CN" sz="1350" dirty="0">
                <a:solidFill>
                  <a:srgbClr val="2F4A6D"/>
                </a:solidFill>
                <a:latin typeface="Arial"/>
                <a:ea typeface="Microsoft YaHei"/>
                <a:cs typeface="Arial"/>
              </a:rPr>
              <a:t>Yes, beyond the benchmark that shared regional climate alone produces</a:t>
            </a:r>
          </a:p>
        </p:txBody>
      </p:sp>
      <p:sp>
        <p:nvSpPr>
          <p:cNvPr id="24" name="Ellipse 24"/>
          <p:cNvSpPr/>
          <p:nvPr/>
        </p:nvSpPr>
        <p:spPr>
          <a:xfrm>
            <a:off x="10858500" y="1647825"/>
            <a:ext cx="609600" cy="609600"/>
          </a:xfrm>
          <a:prstGeom prst="ellipse">
            <a:avLst/>
          </a:prstGeom>
          <a:solidFill>
            <a:srgbClr val="FFFFFF"/>
          </a:solidFill>
          <a:ln w="14288">
            <a:solidFill>
              <a:srgbClr val="EDBBAB"/>
            </a:solidFill>
          </a:ln>
        </p:spPr>
      </p:sp>
      <p:grpSp>
        <p:nvGrpSpPr>
          <p:cNvPr id="27" name="Group 27"/>
          <p:cNvGrpSpPr/>
          <p:nvPr/>
        </p:nvGrpSpPr>
        <p:grpSpPr>
          <a:xfrm>
            <a:off x="11034611" y="1756172"/>
            <a:ext cx="326415" cy="401089"/>
            <a:chOff x="11034611" y="1756172"/>
            <a:chExt cx="326415" cy="401089"/>
          </a:xfrm>
        </p:grpSpPr>
        <p:sp>
          <p:nvSpPr>
            <p:cNvPr id="25" name="Freeform 25"/>
            <p:cNvSpPr/>
            <p:nvPr/>
          </p:nvSpPr>
          <p:spPr>
            <a:xfrm>
              <a:off x="11050737" y="1769269"/>
              <a:ext cx="198933" cy="366641"/>
            </a:xfrm>
            <a:custGeom>
              <a:avLst/>
              <a:gdLst/>
              <a:ahLst/>
              <a:cxnLst/>
              <a:rect l="l" t="t" r="r" b="b"/>
              <a:pathLst>
                <a:path w="198933" h="366641">
                  <a:moveTo>
                    <a:pt x="151854" y="199727"/>
                  </a:moveTo>
                  <a:lnTo>
                    <a:pt x="151854" y="52388"/>
                  </a:lnTo>
                  <a:cubicBezTo>
                    <a:pt x="151854" y="23455"/>
                    <a:pt x="128399" y="0"/>
                    <a:pt x="99466" y="0"/>
                  </a:cubicBezTo>
                  <a:cubicBezTo>
                    <a:pt x="70533" y="0"/>
                    <a:pt x="47079" y="23455"/>
                    <a:pt x="47079" y="52388"/>
                  </a:cubicBezTo>
                  <a:lnTo>
                    <a:pt x="47079" y="199727"/>
                  </a:lnTo>
                  <a:cubicBezTo>
                    <a:pt x="14206" y="222617"/>
                    <a:pt x="0" y="264198"/>
                    <a:pt x="11995" y="302417"/>
                  </a:cubicBezTo>
                  <a:cubicBezTo>
                    <a:pt x="23990" y="340635"/>
                    <a:pt x="59410" y="366641"/>
                    <a:pt x="99466" y="366641"/>
                  </a:cubicBezTo>
                  <a:cubicBezTo>
                    <a:pt x="139523" y="366641"/>
                    <a:pt x="174942" y="340635"/>
                    <a:pt x="186937" y="302417"/>
                  </a:cubicBezTo>
                  <a:cubicBezTo>
                    <a:pt x="198933" y="264198"/>
                    <a:pt x="184726" y="222617"/>
                    <a:pt x="151854" y="199727"/>
                  </a:cubicBezTo>
                  <a:close/>
                  <a:moveTo>
                    <a:pt x="99466" y="314325"/>
                  </a:moveTo>
                  <a:cubicBezTo>
                    <a:pt x="77767" y="314325"/>
                    <a:pt x="60176" y="296734"/>
                    <a:pt x="60176" y="275034"/>
                  </a:cubicBezTo>
                  <a:cubicBezTo>
                    <a:pt x="60176" y="253335"/>
                    <a:pt x="77767" y="235744"/>
                    <a:pt x="99466" y="235744"/>
                  </a:cubicBezTo>
                  <a:cubicBezTo>
                    <a:pt x="121166" y="235744"/>
                    <a:pt x="138757" y="253335"/>
                    <a:pt x="138757" y="275034"/>
                  </a:cubicBezTo>
                  <a:cubicBezTo>
                    <a:pt x="138757" y="296734"/>
                    <a:pt x="121166" y="314325"/>
                    <a:pt x="99466" y="314325"/>
                  </a:cubicBezTo>
                  <a:close/>
                </a:path>
              </a:pathLst>
            </a:custGeom>
            <a:solidFill>
              <a:srgbClr val="D1552C">
                <a:alpha val="20000"/>
              </a:srgbClr>
            </a:solidFill>
            <a:ln>
              <a:noFill/>
            </a:ln>
          </p:spPr>
        </p:sp>
        <p:sp>
          <p:nvSpPr>
            <p:cNvPr id="26" name="Freeform 26"/>
            <p:cNvSpPr/>
            <p:nvPr/>
          </p:nvSpPr>
          <p:spPr>
            <a:xfrm>
              <a:off x="11034611" y="1756172"/>
              <a:ext cx="326415" cy="401089"/>
            </a:xfrm>
            <a:custGeom>
              <a:avLst/>
              <a:gdLst/>
              <a:ahLst/>
              <a:cxnLst/>
              <a:rect l="l" t="t" r="r" b="b"/>
              <a:pathLst>
                <a:path w="326415" h="401089">
                  <a:moveTo>
                    <a:pt x="209579" y="118756"/>
                  </a:moveTo>
                  <a:cubicBezTo>
                    <a:pt x="205483" y="112801"/>
                    <a:pt x="206985" y="104654"/>
                    <a:pt x="212935" y="100551"/>
                  </a:cubicBezTo>
                  <a:cubicBezTo>
                    <a:pt x="229961" y="88797"/>
                    <a:pt x="256613" y="88797"/>
                    <a:pt x="273639" y="100551"/>
                  </a:cubicBezTo>
                  <a:cubicBezTo>
                    <a:pt x="281825" y="106232"/>
                    <a:pt x="296362" y="106232"/>
                    <a:pt x="304613" y="100551"/>
                  </a:cubicBezTo>
                  <a:cubicBezTo>
                    <a:pt x="310555" y="96776"/>
                    <a:pt x="318419" y="98373"/>
                    <a:pt x="322417" y="104168"/>
                  </a:cubicBezTo>
                  <a:cubicBezTo>
                    <a:pt x="326415" y="109962"/>
                    <a:pt x="325117" y="117881"/>
                    <a:pt x="319478" y="122096"/>
                  </a:cubicBezTo>
                  <a:cubicBezTo>
                    <a:pt x="300947" y="133837"/>
                    <a:pt x="277305" y="133837"/>
                    <a:pt x="258774" y="122096"/>
                  </a:cubicBezTo>
                  <a:cubicBezTo>
                    <a:pt x="250588" y="116415"/>
                    <a:pt x="236051" y="116415"/>
                    <a:pt x="227800" y="122096"/>
                  </a:cubicBezTo>
                  <a:cubicBezTo>
                    <a:pt x="224941" y="124070"/>
                    <a:pt x="221415" y="124827"/>
                    <a:pt x="217998" y="124200"/>
                  </a:cubicBezTo>
                  <a:cubicBezTo>
                    <a:pt x="214580" y="123574"/>
                    <a:pt x="211552" y="121615"/>
                    <a:pt x="209579" y="118756"/>
                  </a:cubicBezTo>
                  <a:close/>
                  <a:moveTo>
                    <a:pt x="304613" y="152939"/>
                  </a:moveTo>
                  <a:cubicBezTo>
                    <a:pt x="296428" y="158620"/>
                    <a:pt x="281890" y="158620"/>
                    <a:pt x="273639" y="152939"/>
                  </a:cubicBezTo>
                  <a:cubicBezTo>
                    <a:pt x="256613" y="141184"/>
                    <a:pt x="229961" y="141184"/>
                    <a:pt x="212935" y="152939"/>
                  </a:cubicBezTo>
                  <a:cubicBezTo>
                    <a:pt x="208886" y="155512"/>
                    <a:pt x="206567" y="160093"/>
                    <a:pt x="206892" y="164879"/>
                  </a:cubicBezTo>
                  <a:cubicBezTo>
                    <a:pt x="207217" y="169666"/>
                    <a:pt x="210132" y="173892"/>
                    <a:pt x="214492" y="175894"/>
                  </a:cubicBezTo>
                  <a:cubicBezTo>
                    <a:pt x="218852" y="177897"/>
                    <a:pt x="223957" y="177355"/>
                    <a:pt x="227800" y="174483"/>
                  </a:cubicBezTo>
                  <a:cubicBezTo>
                    <a:pt x="235985" y="168802"/>
                    <a:pt x="250523" y="168802"/>
                    <a:pt x="258774" y="174483"/>
                  </a:cubicBezTo>
                  <a:cubicBezTo>
                    <a:pt x="277305" y="186225"/>
                    <a:pt x="300947" y="186225"/>
                    <a:pt x="319478" y="174483"/>
                  </a:cubicBezTo>
                  <a:cubicBezTo>
                    <a:pt x="325117" y="170268"/>
                    <a:pt x="326415" y="162350"/>
                    <a:pt x="322417" y="156555"/>
                  </a:cubicBezTo>
                  <a:cubicBezTo>
                    <a:pt x="318419" y="150761"/>
                    <a:pt x="310555" y="149163"/>
                    <a:pt x="304613" y="152939"/>
                  </a:cubicBezTo>
                  <a:close/>
                  <a:moveTo>
                    <a:pt x="167980" y="288131"/>
                  </a:moveTo>
                  <a:cubicBezTo>
                    <a:pt x="167966" y="315352"/>
                    <a:pt x="147107" y="338027"/>
                    <a:pt x="119982" y="340308"/>
                  </a:cubicBezTo>
                  <a:cubicBezTo>
                    <a:pt x="92857" y="342589"/>
                    <a:pt x="68504" y="323716"/>
                    <a:pt x="63945" y="296879"/>
                  </a:cubicBezTo>
                  <a:cubicBezTo>
                    <a:pt x="59386" y="270043"/>
                    <a:pt x="76139" y="244186"/>
                    <a:pt x="102496" y="237381"/>
                  </a:cubicBezTo>
                  <a:lnTo>
                    <a:pt x="102496" y="65484"/>
                  </a:lnTo>
                  <a:cubicBezTo>
                    <a:pt x="102496" y="58251"/>
                    <a:pt x="108359" y="52388"/>
                    <a:pt x="115592" y="52388"/>
                  </a:cubicBezTo>
                  <a:cubicBezTo>
                    <a:pt x="122826" y="52388"/>
                    <a:pt x="128689" y="58251"/>
                    <a:pt x="128689" y="65484"/>
                  </a:cubicBezTo>
                  <a:lnTo>
                    <a:pt x="128689" y="237381"/>
                  </a:lnTo>
                  <a:cubicBezTo>
                    <a:pt x="151809" y="243386"/>
                    <a:pt x="167957" y="264245"/>
                    <a:pt x="167980" y="288131"/>
                  </a:cubicBezTo>
                  <a:close/>
                  <a:moveTo>
                    <a:pt x="141786" y="288131"/>
                  </a:moveTo>
                  <a:cubicBezTo>
                    <a:pt x="141786" y="273665"/>
                    <a:pt x="130059" y="261938"/>
                    <a:pt x="115592" y="261938"/>
                  </a:cubicBezTo>
                  <a:cubicBezTo>
                    <a:pt x="101126" y="261938"/>
                    <a:pt x="89399" y="273665"/>
                    <a:pt x="89399" y="288131"/>
                  </a:cubicBezTo>
                  <a:cubicBezTo>
                    <a:pt x="89399" y="302598"/>
                    <a:pt x="101126" y="314325"/>
                    <a:pt x="115592" y="314325"/>
                  </a:cubicBezTo>
                  <a:cubicBezTo>
                    <a:pt x="130059" y="314325"/>
                    <a:pt x="141786" y="302598"/>
                    <a:pt x="141786" y="288131"/>
                  </a:cubicBezTo>
                  <a:close/>
                  <a:moveTo>
                    <a:pt x="220367" y="288131"/>
                  </a:moveTo>
                  <a:cubicBezTo>
                    <a:pt x="220337" y="336981"/>
                    <a:pt x="186553" y="379328"/>
                    <a:pt x="138930" y="390208"/>
                  </a:cubicBezTo>
                  <a:cubicBezTo>
                    <a:pt x="91308" y="401089"/>
                    <a:pt x="42485" y="377617"/>
                    <a:pt x="21243" y="333628"/>
                  </a:cubicBezTo>
                  <a:cubicBezTo>
                    <a:pt x="0" y="289639"/>
                    <a:pt x="11975" y="236807"/>
                    <a:pt x="50108" y="206276"/>
                  </a:cubicBezTo>
                  <a:lnTo>
                    <a:pt x="50108" y="65484"/>
                  </a:lnTo>
                  <a:cubicBezTo>
                    <a:pt x="50108" y="29318"/>
                    <a:pt x="79426" y="0"/>
                    <a:pt x="115592" y="0"/>
                  </a:cubicBezTo>
                  <a:cubicBezTo>
                    <a:pt x="151758" y="0"/>
                    <a:pt x="181077" y="29318"/>
                    <a:pt x="181077" y="65484"/>
                  </a:cubicBezTo>
                  <a:lnTo>
                    <a:pt x="181077" y="206276"/>
                  </a:lnTo>
                  <a:cubicBezTo>
                    <a:pt x="205915" y="226186"/>
                    <a:pt x="220368" y="256298"/>
                    <a:pt x="220367" y="288131"/>
                  </a:cubicBezTo>
                  <a:close/>
                  <a:moveTo>
                    <a:pt x="194174" y="288131"/>
                  </a:moveTo>
                  <a:cubicBezTo>
                    <a:pt x="194153" y="262418"/>
                    <a:pt x="181574" y="238336"/>
                    <a:pt x="160482" y="223629"/>
                  </a:cubicBezTo>
                  <a:cubicBezTo>
                    <a:pt x="156954" y="221166"/>
                    <a:pt x="154861" y="217127"/>
                    <a:pt x="154883" y="212824"/>
                  </a:cubicBezTo>
                  <a:lnTo>
                    <a:pt x="154883" y="65484"/>
                  </a:lnTo>
                  <a:cubicBezTo>
                    <a:pt x="154883" y="43785"/>
                    <a:pt x="137292" y="26194"/>
                    <a:pt x="115592" y="26194"/>
                  </a:cubicBezTo>
                  <a:cubicBezTo>
                    <a:pt x="93893" y="26194"/>
                    <a:pt x="76302" y="43785"/>
                    <a:pt x="76302" y="65484"/>
                  </a:cubicBezTo>
                  <a:lnTo>
                    <a:pt x="76302" y="212824"/>
                  </a:lnTo>
                  <a:cubicBezTo>
                    <a:pt x="76302" y="217104"/>
                    <a:pt x="74212" y="221114"/>
                    <a:pt x="70703" y="223564"/>
                  </a:cubicBezTo>
                  <a:cubicBezTo>
                    <a:pt x="40093" y="244868"/>
                    <a:pt x="28674" y="284752"/>
                    <a:pt x="43370" y="319028"/>
                  </a:cubicBezTo>
                  <a:cubicBezTo>
                    <a:pt x="58066" y="353303"/>
                    <a:pt x="94830" y="372529"/>
                    <a:pt x="131365" y="365043"/>
                  </a:cubicBezTo>
                  <a:cubicBezTo>
                    <a:pt x="167899" y="357558"/>
                    <a:pt x="194140" y="325425"/>
                    <a:pt x="194174" y="288131"/>
                  </a:cubicBezTo>
                  <a:close/>
                </a:path>
              </a:pathLst>
            </a:custGeom>
            <a:solidFill>
              <a:srgbClr val="D1552C"/>
            </a:solidFill>
            <a:ln>
              <a:noFill/>
            </a:ln>
          </p:spPr>
        </p:sp>
      </p:grpSp>
      <p:sp>
        <p:nvSpPr>
          <p:cNvPr id="28" name="Rectangle 28"/>
          <p:cNvSpPr/>
          <p:nvPr/>
        </p:nvSpPr>
        <p:spPr>
          <a:xfrm>
            <a:off x="514350" y="2647950"/>
            <a:ext cx="11163300" cy="1123950"/>
          </a:xfrm>
          <a:prstGeom prst="roundRect">
            <a:avLst>
              <a:gd name="adj" fmla="val 8475"/>
            </a:avLst>
          </a:prstGeom>
          <a:solidFill>
            <a:srgbClr val="FFFFFF"/>
          </a:solidFill>
          <a:ln w="9525">
            <a:solidFill>
              <a:srgbClr val="E7E2E3"/>
            </a:solidFill>
          </a:ln>
        </p:spPr>
      </p:sp>
      <p:sp>
        <p:nvSpPr>
          <p:cNvPr id="29" name="Rectangle 29"/>
          <p:cNvSpPr/>
          <p:nvPr/>
        </p:nvSpPr>
        <p:spPr>
          <a:xfrm>
            <a:off x="704850" y="2819400"/>
            <a:ext cx="514350" cy="361950"/>
          </a:xfrm>
          <a:prstGeom prst="roundRect">
            <a:avLst>
              <a:gd name="adj" fmla="val 21053"/>
            </a:avLst>
          </a:prstGeom>
          <a:solidFill>
            <a:srgbClr val="8B0012"/>
          </a:solidFill>
          <a:ln>
            <a:noFill/>
          </a:ln>
        </p:spPr>
      </p:sp>
      <p:sp>
        <p:nvSpPr>
          <p:cNvPr id="30" name="TextBox 30"/>
          <p:cNvSpPr txBox="1"/>
          <p:nvPr/>
        </p:nvSpPr>
        <p:spPr>
          <a:xfrm>
            <a:off x="723900" y="2886075"/>
            <a:ext cx="476250" cy="285750"/>
          </a:xfrm>
          <a:prstGeom prst="rect">
            <a:avLst/>
          </a:prstGeom>
          <a:noFill/>
          <a:ln>
            <a:noFill/>
          </a:ln>
        </p:spPr>
        <p:txBody>
          <a:bodyPr wrap="square" lIns="0" tIns="0" rIns="0" bIns="0" anchor="t" anchorCtr="0">
            <a:normAutofit/>
          </a:bodyPr>
          <a:lstStyle/>
          <a:p>
            <a:pPr algn="ctr"/>
            <a:r>
              <a:rPr lang="zh-CN" sz="1500" b="1" dirty="0">
                <a:solidFill>
                  <a:srgbClr val="FFFFFF"/>
                </a:solidFill>
                <a:latin typeface="Arial"/>
                <a:ea typeface="Microsoft YaHei"/>
                <a:cs typeface="Arial"/>
              </a:rPr>
              <a:t>Q2</a:t>
            </a:r>
          </a:p>
        </p:txBody>
      </p:sp>
      <p:sp>
        <p:nvSpPr>
          <p:cNvPr id="31" name="TextBox 31"/>
          <p:cNvSpPr txBox="1"/>
          <p:nvPr/>
        </p:nvSpPr>
        <p:spPr>
          <a:xfrm>
            <a:off x="1389698" y="2906554"/>
            <a:ext cx="5355509" cy="320040"/>
          </a:xfrm>
          <a:prstGeom prst="rect">
            <a:avLst/>
          </a:prstGeom>
          <a:noFill/>
          <a:ln>
            <a:noFill/>
          </a:ln>
        </p:spPr>
        <p:txBody>
          <a:bodyPr wrap="none" lIns="0" tIns="0" rIns="0" bIns="0" anchor="t" anchorCtr="0">
            <a:spAutoFit/>
          </a:bodyPr>
          <a:lstStyle/>
          <a:p>
            <a:pPr algn="l"/>
            <a:r>
              <a:rPr lang="zh-CN" sz="1575" b="1" dirty="0">
                <a:solidFill>
                  <a:srgbClr val="68000D"/>
                </a:solidFill>
                <a:latin typeface="Arial"/>
                <a:ea typeface="Microsoft YaHei"/>
                <a:cs typeface="Arial"/>
              </a:rPr>
              <a:t>How large is the observation process itself?</a:t>
            </a:r>
          </a:p>
        </p:txBody>
      </p:sp>
      <p:sp>
        <p:nvSpPr>
          <p:cNvPr id="32" name="Rectangle 32"/>
          <p:cNvSpPr/>
          <p:nvPr/>
        </p:nvSpPr>
        <p:spPr>
          <a:xfrm>
            <a:off x="762000" y="3295650"/>
            <a:ext cx="400050" cy="285750"/>
          </a:xfrm>
          <a:prstGeom prst="roundRect">
            <a:avLst>
              <a:gd name="adj" fmla="val 20000"/>
            </a:avLst>
          </a:prstGeom>
          <a:solidFill>
            <a:srgbClr val="FFFFFF"/>
          </a:solidFill>
          <a:ln w="15240">
            <a:solidFill>
              <a:srgbClr val="2F4A6D"/>
            </a:solidFill>
          </a:ln>
        </p:spPr>
      </p:sp>
      <p:sp>
        <p:nvSpPr>
          <p:cNvPr id="33" name="TextBox 33"/>
          <p:cNvSpPr txBox="1"/>
          <p:nvPr/>
        </p:nvSpPr>
        <p:spPr>
          <a:xfrm>
            <a:off x="771525" y="3351848"/>
            <a:ext cx="381000" cy="242888"/>
          </a:xfrm>
          <a:prstGeom prst="rect">
            <a:avLst/>
          </a:prstGeom>
          <a:noFill/>
          <a:ln>
            <a:noFill/>
          </a:ln>
        </p:spPr>
        <p:txBody>
          <a:bodyPr wrap="square" lIns="0" tIns="0" rIns="0" bIns="0" anchor="t" anchorCtr="0">
            <a:normAutofit/>
          </a:bodyPr>
          <a:lstStyle/>
          <a:p>
            <a:pPr algn="ctr"/>
            <a:r>
              <a:rPr lang="zh-CN" sz="1275" b="1" dirty="0">
                <a:solidFill>
                  <a:srgbClr val="2F4A6D"/>
                </a:solidFill>
                <a:latin typeface="Arial"/>
                <a:ea typeface="Microsoft YaHei"/>
                <a:cs typeface="Arial"/>
              </a:rPr>
              <a:t>H2</a:t>
            </a:r>
          </a:p>
        </p:txBody>
      </p:sp>
      <p:sp>
        <p:nvSpPr>
          <p:cNvPr id="34" name="TextBox 34"/>
          <p:cNvSpPr txBox="1"/>
          <p:nvPr/>
        </p:nvSpPr>
        <p:spPr>
          <a:xfrm>
            <a:off x="1392555" y="3359468"/>
            <a:ext cx="6335763" cy="274320"/>
          </a:xfrm>
          <a:prstGeom prst="rect">
            <a:avLst/>
          </a:prstGeom>
          <a:noFill/>
          <a:ln>
            <a:noFill/>
          </a:ln>
        </p:spPr>
        <p:txBody>
          <a:bodyPr wrap="none" lIns="0" tIns="0" rIns="0" bIns="0" anchor="t" anchorCtr="0">
            <a:spAutoFit/>
          </a:bodyPr>
          <a:lstStyle/>
          <a:p>
            <a:pPr algn="l"/>
            <a:r>
              <a:rPr lang="zh-CN" sz="1350" dirty="0">
                <a:solidFill>
                  <a:srgbClr val="2F4A6D"/>
                </a:solidFill>
                <a:latin typeface="Arial"/>
                <a:ea typeface="Microsoft YaHei"/>
                <a:cs typeface="Arial"/>
              </a:rPr>
              <a:t>Province-year survey pulses are the largest source of variation</a:t>
            </a:r>
          </a:p>
        </p:txBody>
      </p:sp>
      <p:sp>
        <p:nvSpPr>
          <p:cNvPr id="35" name="Ellipse 35"/>
          <p:cNvSpPr/>
          <p:nvPr/>
        </p:nvSpPr>
        <p:spPr>
          <a:xfrm>
            <a:off x="10858500" y="2905125"/>
            <a:ext cx="609600" cy="609600"/>
          </a:xfrm>
          <a:prstGeom prst="ellipse">
            <a:avLst/>
          </a:prstGeom>
          <a:solidFill>
            <a:srgbClr val="FFFFFF"/>
          </a:solidFill>
          <a:ln w="14288">
            <a:solidFill>
              <a:srgbClr val="AAD8D2"/>
            </a:solidFill>
          </a:ln>
        </p:spPr>
      </p:sp>
      <p:grpSp>
        <p:nvGrpSpPr>
          <p:cNvPr id="38" name="Group 38"/>
          <p:cNvGrpSpPr/>
          <p:nvPr/>
        </p:nvGrpSpPr>
        <p:grpSpPr>
          <a:xfrm>
            <a:off x="10965122" y="3076979"/>
            <a:ext cx="395035" cy="290650"/>
            <a:chOff x="10965122" y="3076979"/>
            <a:chExt cx="395035" cy="290650"/>
          </a:xfrm>
        </p:grpSpPr>
        <p:sp>
          <p:nvSpPr>
            <p:cNvPr id="36" name="Freeform 36"/>
            <p:cNvSpPr/>
            <p:nvPr/>
          </p:nvSpPr>
          <p:spPr>
            <a:xfrm>
              <a:off x="11006138" y="3092053"/>
              <a:ext cx="314325" cy="209550"/>
            </a:xfrm>
            <a:custGeom>
              <a:avLst/>
              <a:gdLst/>
              <a:ahLst/>
              <a:cxnLst/>
              <a:rect l="l" t="t" r="r" b="b"/>
              <a:pathLst>
                <a:path w="314325" h="209550">
                  <a:moveTo>
                    <a:pt x="222647" y="144066"/>
                  </a:moveTo>
                  <a:cubicBezTo>
                    <a:pt x="222647" y="180232"/>
                    <a:pt x="193329" y="209550"/>
                    <a:pt x="157162" y="209550"/>
                  </a:cubicBezTo>
                  <a:cubicBezTo>
                    <a:pt x="120996" y="209550"/>
                    <a:pt x="91678" y="180232"/>
                    <a:pt x="91678" y="144066"/>
                  </a:cubicBezTo>
                  <a:cubicBezTo>
                    <a:pt x="91678" y="107900"/>
                    <a:pt x="120996" y="78581"/>
                    <a:pt x="157162" y="78581"/>
                  </a:cubicBezTo>
                  <a:cubicBezTo>
                    <a:pt x="193329" y="78581"/>
                    <a:pt x="222647" y="107900"/>
                    <a:pt x="222647" y="144066"/>
                  </a:cubicBezTo>
                  <a:close/>
                  <a:moveTo>
                    <a:pt x="52388" y="0"/>
                  </a:moveTo>
                  <a:cubicBezTo>
                    <a:pt x="23455" y="0"/>
                    <a:pt x="0" y="23455"/>
                    <a:pt x="0" y="52388"/>
                  </a:cubicBezTo>
                  <a:cubicBezTo>
                    <a:pt x="0" y="81320"/>
                    <a:pt x="23455" y="104775"/>
                    <a:pt x="52388" y="104775"/>
                  </a:cubicBezTo>
                  <a:cubicBezTo>
                    <a:pt x="81320" y="104775"/>
                    <a:pt x="104775" y="81320"/>
                    <a:pt x="104775" y="52388"/>
                  </a:cubicBezTo>
                  <a:cubicBezTo>
                    <a:pt x="104775" y="23455"/>
                    <a:pt x="81320" y="0"/>
                    <a:pt x="52388" y="0"/>
                  </a:cubicBezTo>
                  <a:close/>
                  <a:moveTo>
                    <a:pt x="261938" y="0"/>
                  </a:moveTo>
                  <a:cubicBezTo>
                    <a:pt x="233005" y="0"/>
                    <a:pt x="209550" y="23455"/>
                    <a:pt x="209550" y="52388"/>
                  </a:cubicBezTo>
                  <a:cubicBezTo>
                    <a:pt x="209550" y="81320"/>
                    <a:pt x="233005" y="104775"/>
                    <a:pt x="261938" y="104775"/>
                  </a:cubicBezTo>
                  <a:cubicBezTo>
                    <a:pt x="290870" y="104775"/>
                    <a:pt x="314325" y="81320"/>
                    <a:pt x="314325" y="52388"/>
                  </a:cubicBezTo>
                  <a:cubicBezTo>
                    <a:pt x="314325" y="23455"/>
                    <a:pt x="290870" y="0"/>
                    <a:pt x="261938" y="0"/>
                  </a:cubicBezTo>
                  <a:close/>
                </a:path>
              </a:pathLst>
            </a:custGeom>
            <a:solidFill>
              <a:srgbClr val="2A9D8F">
                <a:alpha val="20000"/>
              </a:srgbClr>
            </a:solidFill>
            <a:ln>
              <a:noFill/>
            </a:ln>
          </p:spPr>
        </p:sp>
        <p:sp>
          <p:nvSpPr>
            <p:cNvPr id="37" name="Freeform 37"/>
            <p:cNvSpPr/>
            <p:nvPr/>
          </p:nvSpPr>
          <p:spPr>
            <a:xfrm>
              <a:off x="10965122" y="3076979"/>
              <a:ext cx="395035" cy="290650"/>
            </a:xfrm>
            <a:custGeom>
              <a:avLst/>
              <a:gdLst/>
              <a:ahLst/>
              <a:cxnLst/>
              <a:rect l="l" t="t" r="r" b="b"/>
              <a:pathLst>
                <a:path w="395035" h="290650">
                  <a:moveTo>
                    <a:pt x="389393" y="169617"/>
                  </a:moveTo>
                  <a:cubicBezTo>
                    <a:pt x="383606" y="173957"/>
                    <a:pt x="375397" y="172784"/>
                    <a:pt x="371057" y="166998"/>
                  </a:cubicBezTo>
                  <a:cubicBezTo>
                    <a:pt x="355048" y="145479"/>
                    <a:pt x="329773" y="132842"/>
                    <a:pt x="302953" y="132946"/>
                  </a:cubicBezTo>
                  <a:cubicBezTo>
                    <a:pt x="295720" y="132946"/>
                    <a:pt x="289856" y="127082"/>
                    <a:pt x="289856" y="119849"/>
                  </a:cubicBezTo>
                  <a:cubicBezTo>
                    <a:pt x="289856" y="112616"/>
                    <a:pt x="295720" y="106752"/>
                    <a:pt x="302953" y="106752"/>
                  </a:cubicBezTo>
                  <a:cubicBezTo>
                    <a:pt x="323371" y="106750"/>
                    <a:pt x="340385" y="91110"/>
                    <a:pt x="342101" y="70764"/>
                  </a:cubicBezTo>
                  <a:cubicBezTo>
                    <a:pt x="343818" y="50419"/>
                    <a:pt x="329665" y="32149"/>
                    <a:pt x="309536" y="28727"/>
                  </a:cubicBezTo>
                  <a:cubicBezTo>
                    <a:pt x="289407" y="25304"/>
                    <a:pt x="270011" y="37869"/>
                    <a:pt x="264907" y="57639"/>
                  </a:cubicBezTo>
                  <a:cubicBezTo>
                    <a:pt x="263098" y="64646"/>
                    <a:pt x="255952" y="68860"/>
                    <a:pt x="248945" y="67052"/>
                  </a:cubicBezTo>
                  <a:cubicBezTo>
                    <a:pt x="241938" y="65244"/>
                    <a:pt x="237723" y="58097"/>
                    <a:pt x="239532" y="51090"/>
                  </a:cubicBezTo>
                  <a:cubicBezTo>
                    <a:pt x="246526" y="24026"/>
                    <a:pt x="269929" y="4386"/>
                    <a:pt x="297796" y="2193"/>
                  </a:cubicBezTo>
                  <a:cubicBezTo>
                    <a:pt x="325663" y="0"/>
                    <a:pt x="351850" y="15738"/>
                    <a:pt x="362991" y="41375"/>
                  </a:cubicBezTo>
                  <a:cubicBezTo>
                    <a:pt x="374132" y="67012"/>
                    <a:pt x="367772" y="96895"/>
                    <a:pt x="347155" y="115772"/>
                  </a:cubicBezTo>
                  <a:cubicBezTo>
                    <a:pt x="364964" y="123483"/>
                    <a:pt x="380445" y="135719"/>
                    <a:pt x="392061" y="151265"/>
                  </a:cubicBezTo>
                  <a:cubicBezTo>
                    <a:pt x="394145" y="154051"/>
                    <a:pt x="395035" y="157552"/>
                    <a:pt x="394534" y="160995"/>
                  </a:cubicBezTo>
                  <a:cubicBezTo>
                    <a:pt x="394034" y="164438"/>
                    <a:pt x="392184" y="167540"/>
                    <a:pt x="389393" y="169617"/>
                  </a:cubicBezTo>
                  <a:close/>
                  <a:moveTo>
                    <a:pt x="301185" y="270463"/>
                  </a:moveTo>
                  <a:cubicBezTo>
                    <a:pt x="303674" y="274522"/>
                    <a:pt x="303765" y="279612"/>
                    <a:pt x="301421" y="283756"/>
                  </a:cubicBezTo>
                  <a:cubicBezTo>
                    <a:pt x="299078" y="287901"/>
                    <a:pt x="294669" y="290447"/>
                    <a:pt x="289908" y="290406"/>
                  </a:cubicBezTo>
                  <a:cubicBezTo>
                    <a:pt x="285147" y="290365"/>
                    <a:pt x="280783" y="287744"/>
                    <a:pt x="278511" y="283560"/>
                  </a:cubicBezTo>
                  <a:cubicBezTo>
                    <a:pt x="261723" y="255144"/>
                    <a:pt x="231174" y="237711"/>
                    <a:pt x="198170" y="237711"/>
                  </a:cubicBezTo>
                  <a:cubicBezTo>
                    <a:pt x="165166" y="237711"/>
                    <a:pt x="134617" y="255144"/>
                    <a:pt x="117829" y="283560"/>
                  </a:cubicBezTo>
                  <a:cubicBezTo>
                    <a:pt x="115599" y="287822"/>
                    <a:pt x="111212" y="290520"/>
                    <a:pt x="106401" y="290585"/>
                  </a:cubicBezTo>
                  <a:cubicBezTo>
                    <a:pt x="101591" y="290650"/>
                    <a:pt x="97132" y="288072"/>
                    <a:pt x="94788" y="283872"/>
                  </a:cubicBezTo>
                  <a:cubicBezTo>
                    <a:pt x="92443" y="279671"/>
                    <a:pt x="92590" y="274523"/>
                    <a:pt x="95171" y="270463"/>
                  </a:cubicBezTo>
                  <a:cubicBezTo>
                    <a:pt x="107869" y="248646"/>
                    <a:pt x="127229" y="231478"/>
                    <a:pt x="150407" y="221481"/>
                  </a:cubicBezTo>
                  <a:cubicBezTo>
                    <a:pt x="123665" y="201006"/>
                    <a:pt x="112945" y="165766"/>
                    <a:pt x="123754" y="133867"/>
                  </a:cubicBezTo>
                  <a:cubicBezTo>
                    <a:pt x="134563" y="101969"/>
                    <a:pt x="164498" y="80506"/>
                    <a:pt x="198178" y="80506"/>
                  </a:cubicBezTo>
                  <a:cubicBezTo>
                    <a:pt x="231858" y="80506"/>
                    <a:pt x="261793" y="101969"/>
                    <a:pt x="272603" y="133867"/>
                  </a:cubicBezTo>
                  <a:cubicBezTo>
                    <a:pt x="283412" y="165766"/>
                    <a:pt x="272691" y="201006"/>
                    <a:pt x="245949" y="221481"/>
                  </a:cubicBezTo>
                  <a:cubicBezTo>
                    <a:pt x="269127" y="231478"/>
                    <a:pt x="288488" y="248646"/>
                    <a:pt x="301185" y="270463"/>
                  </a:cubicBezTo>
                  <a:close/>
                  <a:moveTo>
                    <a:pt x="198178" y="211527"/>
                  </a:moveTo>
                  <a:cubicBezTo>
                    <a:pt x="227111" y="211527"/>
                    <a:pt x="250566" y="188072"/>
                    <a:pt x="250566" y="159139"/>
                  </a:cubicBezTo>
                  <a:cubicBezTo>
                    <a:pt x="250566" y="130207"/>
                    <a:pt x="227111" y="106752"/>
                    <a:pt x="198178" y="106752"/>
                  </a:cubicBezTo>
                  <a:cubicBezTo>
                    <a:pt x="169245" y="106752"/>
                    <a:pt x="145791" y="130207"/>
                    <a:pt x="145791" y="159139"/>
                  </a:cubicBezTo>
                  <a:cubicBezTo>
                    <a:pt x="145791" y="188072"/>
                    <a:pt x="169245" y="211527"/>
                    <a:pt x="198178" y="211527"/>
                  </a:cubicBezTo>
                  <a:close/>
                  <a:moveTo>
                    <a:pt x="106500" y="119849"/>
                  </a:moveTo>
                  <a:cubicBezTo>
                    <a:pt x="106500" y="112616"/>
                    <a:pt x="100636" y="106752"/>
                    <a:pt x="93403" y="106752"/>
                  </a:cubicBezTo>
                  <a:cubicBezTo>
                    <a:pt x="72985" y="106750"/>
                    <a:pt x="55972" y="91110"/>
                    <a:pt x="54255" y="70764"/>
                  </a:cubicBezTo>
                  <a:cubicBezTo>
                    <a:pt x="52539" y="50419"/>
                    <a:pt x="66691" y="32149"/>
                    <a:pt x="86820" y="28727"/>
                  </a:cubicBezTo>
                  <a:cubicBezTo>
                    <a:pt x="106949" y="25304"/>
                    <a:pt x="126345" y="37869"/>
                    <a:pt x="131450" y="57639"/>
                  </a:cubicBezTo>
                  <a:cubicBezTo>
                    <a:pt x="133258" y="64646"/>
                    <a:pt x="140404" y="68860"/>
                    <a:pt x="147411" y="67052"/>
                  </a:cubicBezTo>
                  <a:cubicBezTo>
                    <a:pt x="154419" y="65244"/>
                    <a:pt x="158633" y="58097"/>
                    <a:pt x="156825" y="51090"/>
                  </a:cubicBezTo>
                  <a:cubicBezTo>
                    <a:pt x="149830" y="24026"/>
                    <a:pt x="126428" y="4386"/>
                    <a:pt x="98560" y="2193"/>
                  </a:cubicBezTo>
                  <a:cubicBezTo>
                    <a:pt x="70693" y="0"/>
                    <a:pt x="44507" y="15738"/>
                    <a:pt x="33365" y="41375"/>
                  </a:cubicBezTo>
                  <a:cubicBezTo>
                    <a:pt x="22224" y="67012"/>
                    <a:pt x="28585" y="96895"/>
                    <a:pt x="49201" y="115772"/>
                  </a:cubicBezTo>
                  <a:cubicBezTo>
                    <a:pt x="31410" y="123490"/>
                    <a:pt x="15947" y="135726"/>
                    <a:pt x="4344" y="151265"/>
                  </a:cubicBezTo>
                  <a:cubicBezTo>
                    <a:pt x="0" y="157051"/>
                    <a:pt x="1169" y="165264"/>
                    <a:pt x="6956" y="169609"/>
                  </a:cubicBezTo>
                  <a:cubicBezTo>
                    <a:pt x="12742" y="173953"/>
                    <a:pt x="20955" y="172784"/>
                    <a:pt x="25299" y="166998"/>
                  </a:cubicBezTo>
                  <a:cubicBezTo>
                    <a:pt x="41308" y="145479"/>
                    <a:pt x="66584" y="132842"/>
                    <a:pt x="93403" y="132946"/>
                  </a:cubicBezTo>
                  <a:cubicBezTo>
                    <a:pt x="100636" y="132946"/>
                    <a:pt x="106500" y="127082"/>
                    <a:pt x="106500" y="119849"/>
                  </a:cubicBezTo>
                  <a:close/>
                </a:path>
              </a:pathLst>
            </a:custGeom>
            <a:solidFill>
              <a:srgbClr val="2A9D8F"/>
            </a:solidFill>
            <a:ln>
              <a:noFill/>
            </a:ln>
          </p:spPr>
        </p:sp>
      </p:grpSp>
      <p:sp>
        <p:nvSpPr>
          <p:cNvPr id="39" name="Rectangle 39"/>
          <p:cNvSpPr/>
          <p:nvPr/>
        </p:nvSpPr>
        <p:spPr>
          <a:xfrm>
            <a:off x="514350" y="3905250"/>
            <a:ext cx="11163300" cy="1123950"/>
          </a:xfrm>
          <a:prstGeom prst="roundRect">
            <a:avLst>
              <a:gd name="adj" fmla="val 8475"/>
            </a:avLst>
          </a:prstGeom>
          <a:solidFill>
            <a:srgbClr val="F8F2F3"/>
          </a:solidFill>
          <a:ln>
            <a:noFill/>
          </a:ln>
        </p:spPr>
      </p:sp>
      <p:sp>
        <p:nvSpPr>
          <p:cNvPr id="40" name="Rectangle 40"/>
          <p:cNvSpPr/>
          <p:nvPr/>
        </p:nvSpPr>
        <p:spPr>
          <a:xfrm>
            <a:off x="704850" y="4076700"/>
            <a:ext cx="514350" cy="361950"/>
          </a:xfrm>
          <a:prstGeom prst="roundRect">
            <a:avLst>
              <a:gd name="adj" fmla="val 21053"/>
            </a:avLst>
          </a:prstGeom>
          <a:solidFill>
            <a:srgbClr val="8B0012"/>
          </a:solidFill>
          <a:ln>
            <a:noFill/>
          </a:ln>
        </p:spPr>
      </p:sp>
      <p:sp>
        <p:nvSpPr>
          <p:cNvPr id="41" name="TextBox 41"/>
          <p:cNvSpPr txBox="1"/>
          <p:nvPr/>
        </p:nvSpPr>
        <p:spPr>
          <a:xfrm>
            <a:off x="723900" y="4143375"/>
            <a:ext cx="476250" cy="285750"/>
          </a:xfrm>
          <a:prstGeom prst="rect">
            <a:avLst/>
          </a:prstGeom>
          <a:noFill/>
          <a:ln>
            <a:noFill/>
          </a:ln>
        </p:spPr>
        <p:txBody>
          <a:bodyPr wrap="square" lIns="0" tIns="0" rIns="0" bIns="0" anchor="t" anchorCtr="0">
            <a:normAutofit/>
          </a:bodyPr>
          <a:lstStyle/>
          <a:p>
            <a:pPr algn="ctr"/>
            <a:r>
              <a:rPr lang="zh-CN" sz="1500" b="1" dirty="0">
                <a:solidFill>
                  <a:srgbClr val="FFFFFF"/>
                </a:solidFill>
                <a:latin typeface="Arial"/>
                <a:ea typeface="Microsoft YaHei"/>
                <a:cs typeface="Arial"/>
              </a:rPr>
              <a:t>Q3</a:t>
            </a:r>
          </a:p>
        </p:txBody>
      </p:sp>
      <p:sp>
        <p:nvSpPr>
          <p:cNvPr id="42" name="TextBox 42"/>
          <p:cNvSpPr txBox="1"/>
          <p:nvPr/>
        </p:nvSpPr>
        <p:spPr>
          <a:xfrm>
            <a:off x="1389698" y="4163854"/>
            <a:ext cx="4799576" cy="320040"/>
          </a:xfrm>
          <a:prstGeom prst="rect">
            <a:avLst/>
          </a:prstGeom>
          <a:noFill/>
          <a:ln>
            <a:noFill/>
          </a:ln>
        </p:spPr>
        <p:txBody>
          <a:bodyPr wrap="none" lIns="0" tIns="0" rIns="0" bIns="0" anchor="t" anchorCtr="0">
            <a:spAutoFit/>
          </a:bodyPr>
          <a:lstStyle/>
          <a:p>
            <a:pPr algn="l"/>
            <a:r>
              <a:rPr lang="zh-CN" sz="1575" b="1" dirty="0">
                <a:solidFill>
                  <a:srgbClr val="68000D"/>
                </a:solidFill>
                <a:latin typeface="Arial"/>
                <a:ea typeface="Microsoft YaHei"/>
                <a:cs typeface="Arial"/>
              </a:rPr>
              <a:t>Do warming and survey effort interact?</a:t>
            </a:r>
          </a:p>
        </p:txBody>
      </p:sp>
      <p:sp>
        <p:nvSpPr>
          <p:cNvPr id="43" name="Rectangle 43"/>
          <p:cNvSpPr/>
          <p:nvPr/>
        </p:nvSpPr>
        <p:spPr>
          <a:xfrm>
            <a:off x="762000" y="4552950"/>
            <a:ext cx="400050" cy="285750"/>
          </a:xfrm>
          <a:prstGeom prst="roundRect">
            <a:avLst>
              <a:gd name="adj" fmla="val 20000"/>
            </a:avLst>
          </a:prstGeom>
          <a:solidFill>
            <a:srgbClr val="FFFFFF"/>
          </a:solidFill>
          <a:ln w="15240">
            <a:solidFill>
              <a:srgbClr val="2F4A6D"/>
            </a:solidFill>
          </a:ln>
        </p:spPr>
      </p:sp>
      <p:sp>
        <p:nvSpPr>
          <p:cNvPr id="44" name="TextBox 44"/>
          <p:cNvSpPr txBox="1"/>
          <p:nvPr/>
        </p:nvSpPr>
        <p:spPr>
          <a:xfrm>
            <a:off x="771525" y="4609148"/>
            <a:ext cx="381000" cy="242888"/>
          </a:xfrm>
          <a:prstGeom prst="rect">
            <a:avLst/>
          </a:prstGeom>
          <a:noFill/>
          <a:ln>
            <a:noFill/>
          </a:ln>
        </p:spPr>
        <p:txBody>
          <a:bodyPr wrap="square" lIns="0" tIns="0" rIns="0" bIns="0" anchor="t" anchorCtr="0">
            <a:normAutofit/>
          </a:bodyPr>
          <a:lstStyle/>
          <a:p>
            <a:pPr algn="ctr"/>
            <a:r>
              <a:rPr lang="zh-CN" sz="1275" b="1" dirty="0">
                <a:solidFill>
                  <a:srgbClr val="2F4A6D"/>
                </a:solidFill>
                <a:latin typeface="Arial"/>
                <a:ea typeface="Microsoft YaHei"/>
                <a:cs typeface="Arial"/>
              </a:rPr>
              <a:t>H3</a:t>
            </a:r>
          </a:p>
        </p:txBody>
      </p:sp>
      <p:sp>
        <p:nvSpPr>
          <p:cNvPr id="45" name="TextBox 45"/>
          <p:cNvSpPr txBox="1"/>
          <p:nvPr/>
        </p:nvSpPr>
        <p:spPr>
          <a:xfrm>
            <a:off x="1392555" y="4616768"/>
            <a:ext cx="8070837" cy="274320"/>
          </a:xfrm>
          <a:prstGeom prst="rect">
            <a:avLst/>
          </a:prstGeom>
          <a:noFill/>
          <a:ln>
            <a:noFill/>
          </a:ln>
        </p:spPr>
        <p:txBody>
          <a:bodyPr wrap="none" lIns="0" tIns="0" rIns="0" bIns="0" anchor="t" anchorCtr="0">
            <a:spAutoFit/>
          </a:bodyPr>
          <a:lstStyle/>
          <a:p>
            <a:pPr algn="l"/>
            <a:r>
              <a:rPr lang="zh-CN" sz="1350" dirty="0">
                <a:solidFill>
                  <a:srgbClr val="2F4A6D"/>
                </a:solidFill>
                <a:latin typeface="Arial"/>
                <a:ea typeface="Microsoft YaHei"/>
                <a:cs typeface="Arial"/>
              </a:rPr>
              <a:t>Negatively: where effort is high, species favoured by warming are already recorded</a:t>
            </a:r>
          </a:p>
        </p:txBody>
      </p:sp>
      <p:sp>
        <p:nvSpPr>
          <p:cNvPr id="46" name="Ellipse 46"/>
          <p:cNvSpPr/>
          <p:nvPr/>
        </p:nvSpPr>
        <p:spPr>
          <a:xfrm>
            <a:off x="10858500" y="4162425"/>
            <a:ext cx="609600" cy="609600"/>
          </a:xfrm>
          <a:prstGeom prst="ellipse">
            <a:avLst/>
          </a:prstGeom>
          <a:solidFill>
            <a:srgbClr val="FFFFFF"/>
          </a:solidFill>
          <a:ln w="14288">
            <a:solidFill>
              <a:srgbClr val="A0A0A0"/>
            </a:solidFill>
          </a:ln>
        </p:spPr>
      </p:sp>
      <p:grpSp>
        <p:nvGrpSpPr>
          <p:cNvPr id="49" name="Group 49"/>
          <p:cNvGrpSpPr/>
          <p:nvPr/>
        </p:nvGrpSpPr>
        <p:grpSpPr>
          <a:xfrm>
            <a:off x="10976101" y="4280026"/>
            <a:ext cx="374397" cy="374397"/>
            <a:chOff x="10976101" y="4280026"/>
            <a:chExt cx="374397" cy="374397"/>
          </a:xfrm>
        </p:grpSpPr>
        <p:sp>
          <p:nvSpPr>
            <p:cNvPr id="47" name="Freeform 47"/>
            <p:cNvSpPr/>
            <p:nvPr/>
          </p:nvSpPr>
          <p:spPr>
            <a:xfrm>
              <a:off x="11097816" y="4401741"/>
              <a:ext cx="130969" cy="130969"/>
            </a:xfrm>
            <a:custGeom>
              <a:avLst/>
              <a:gdLst/>
              <a:ahLst/>
              <a:cxnLst/>
              <a:rect l="l" t="t" r="r" b="b"/>
              <a:pathLst>
                <a:path w="130969" h="130969">
                  <a:moveTo>
                    <a:pt x="130969" y="13097"/>
                  </a:moveTo>
                  <a:cubicBezTo>
                    <a:pt x="130969" y="78196"/>
                    <a:pt x="78196" y="130969"/>
                    <a:pt x="13097" y="130969"/>
                  </a:cubicBezTo>
                  <a:cubicBezTo>
                    <a:pt x="8941" y="130966"/>
                    <a:pt x="4788" y="130747"/>
                    <a:pt x="655" y="130314"/>
                  </a:cubicBezTo>
                  <a:cubicBezTo>
                    <a:pt x="221" y="126181"/>
                    <a:pt x="3" y="122028"/>
                    <a:pt x="0" y="117872"/>
                  </a:cubicBezTo>
                  <a:cubicBezTo>
                    <a:pt x="0" y="52773"/>
                    <a:pt x="52773" y="0"/>
                    <a:pt x="117872" y="0"/>
                  </a:cubicBezTo>
                  <a:cubicBezTo>
                    <a:pt x="122028" y="3"/>
                    <a:pt x="126181" y="221"/>
                    <a:pt x="130314" y="655"/>
                  </a:cubicBezTo>
                  <a:cubicBezTo>
                    <a:pt x="130747" y="4788"/>
                    <a:pt x="130966" y="8941"/>
                    <a:pt x="130969" y="13097"/>
                  </a:cubicBezTo>
                  <a:close/>
                </a:path>
              </a:pathLst>
            </a:custGeom>
            <a:solidFill>
              <a:srgbClr val="111111">
                <a:alpha val="20000"/>
              </a:srgbClr>
            </a:solidFill>
            <a:ln>
              <a:noFill/>
            </a:ln>
          </p:spPr>
        </p:sp>
        <p:sp>
          <p:nvSpPr>
            <p:cNvPr id="48" name="Freeform 48"/>
            <p:cNvSpPr/>
            <p:nvPr/>
          </p:nvSpPr>
          <p:spPr>
            <a:xfrm>
              <a:off x="10976101" y="4280026"/>
              <a:ext cx="374397" cy="374397"/>
            </a:xfrm>
            <a:custGeom>
              <a:avLst/>
              <a:gdLst/>
              <a:ahLst/>
              <a:cxnLst/>
              <a:rect l="l" t="t" r="r" b="b"/>
              <a:pathLst>
                <a:path w="374397" h="374397">
                  <a:moveTo>
                    <a:pt x="263537" y="110860"/>
                  </a:moveTo>
                  <a:cubicBezTo>
                    <a:pt x="251461" y="45823"/>
                    <a:pt x="192784" y="0"/>
                    <a:pt x="126759" y="4045"/>
                  </a:cubicBezTo>
                  <a:cubicBezTo>
                    <a:pt x="60735" y="8091"/>
                    <a:pt x="8091" y="60735"/>
                    <a:pt x="4045" y="126759"/>
                  </a:cubicBezTo>
                  <a:cubicBezTo>
                    <a:pt x="0" y="192784"/>
                    <a:pt x="45823" y="251461"/>
                    <a:pt x="110860" y="263537"/>
                  </a:cubicBezTo>
                  <a:cubicBezTo>
                    <a:pt x="122936" y="328574"/>
                    <a:pt x="181613" y="374397"/>
                    <a:pt x="247638" y="370352"/>
                  </a:cubicBezTo>
                  <a:cubicBezTo>
                    <a:pt x="313663" y="366306"/>
                    <a:pt x="366306" y="313663"/>
                    <a:pt x="370352" y="247638"/>
                  </a:cubicBezTo>
                  <a:cubicBezTo>
                    <a:pt x="374397" y="181613"/>
                    <a:pt x="328574" y="122936"/>
                    <a:pt x="263537" y="110860"/>
                  </a:cubicBezTo>
                  <a:close/>
                  <a:moveTo>
                    <a:pt x="30036" y="134811"/>
                  </a:moveTo>
                  <a:cubicBezTo>
                    <a:pt x="29932" y="81970"/>
                    <a:pt x="69192" y="37321"/>
                    <a:pt x="121612" y="30664"/>
                  </a:cubicBezTo>
                  <a:cubicBezTo>
                    <a:pt x="174032" y="24008"/>
                    <a:pt x="223206" y="57427"/>
                    <a:pt x="236312" y="108617"/>
                  </a:cubicBezTo>
                  <a:cubicBezTo>
                    <a:pt x="166575" y="110450"/>
                    <a:pt x="110487" y="166574"/>
                    <a:pt x="108699" y="236312"/>
                  </a:cubicBezTo>
                  <a:cubicBezTo>
                    <a:pt x="62424" y="224338"/>
                    <a:pt x="30085" y="182610"/>
                    <a:pt x="30036" y="134811"/>
                  </a:cubicBezTo>
                  <a:close/>
                  <a:moveTo>
                    <a:pt x="239586" y="134811"/>
                  </a:moveTo>
                  <a:cubicBezTo>
                    <a:pt x="239523" y="192650"/>
                    <a:pt x="192650" y="239523"/>
                    <a:pt x="134811" y="239586"/>
                  </a:cubicBezTo>
                  <a:cubicBezTo>
                    <a:pt x="134874" y="181747"/>
                    <a:pt x="181747" y="134874"/>
                    <a:pt x="239586" y="134811"/>
                  </a:cubicBezTo>
                  <a:close/>
                  <a:moveTo>
                    <a:pt x="239586" y="344361"/>
                  </a:moveTo>
                  <a:cubicBezTo>
                    <a:pt x="191811" y="344322"/>
                    <a:pt x="150091" y="312022"/>
                    <a:pt x="138085" y="265780"/>
                  </a:cubicBezTo>
                  <a:cubicBezTo>
                    <a:pt x="207854" y="263990"/>
                    <a:pt x="263990" y="207854"/>
                    <a:pt x="265780" y="138085"/>
                  </a:cubicBezTo>
                  <a:cubicBezTo>
                    <a:pt x="316970" y="151192"/>
                    <a:pt x="350389" y="200365"/>
                    <a:pt x="343733" y="252785"/>
                  </a:cubicBezTo>
                  <a:cubicBezTo>
                    <a:pt x="337076" y="305205"/>
                    <a:pt x="292427" y="344465"/>
                    <a:pt x="239586" y="344361"/>
                  </a:cubicBezTo>
                  <a:close/>
                </a:path>
              </a:pathLst>
            </a:custGeom>
            <a:solidFill>
              <a:srgbClr val="111111"/>
            </a:solidFill>
            <a:ln>
              <a:noFill/>
            </a:ln>
          </p:spPr>
        </p:sp>
      </p:grpSp>
      <p:sp>
        <p:nvSpPr>
          <p:cNvPr id="50" name="Rectangle 50"/>
          <p:cNvSpPr/>
          <p:nvPr/>
        </p:nvSpPr>
        <p:spPr>
          <a:xfrm>
            <a:off x="514350" y="5162550"/>
            <a:ext cx="11163300" cy="1123950"/>
          </a:xfrm>
          <a:prstGeom prst="roundRect">
            <a:avLst>
              <a:gd name="adj" fmla="val 8475"/>
            </a:avLst>
          </a:prstGeom>
          <a:solidFill>
            <a:srgbClr val="FFFFFF"/>
          </a:solidFill>
          <a:ln w="9525">
            <a:solidFill>
              <a:srgbClr val="E7E2E3"/>
            </a:solidFill>
          </a:ln>
        </p:spPr>
      </p:sp>
      <p:sp>
        <p:nvSpPr>
          <p:cNvPr id="51" name="Rectangle 51"/>
          <p:cNvSpPr/>
          <p:nvPr/>
        </p:nvSpPr>
        <p:spPr>
          <a:xfrm>
            <a:off x="704850" y="5334000"/>
            <a:ext cx="514350" cy="361950"/>
          </a:xfrm>
          <a:prstGeom prst="roundRect">
            <a:avLst>
              <a:gd name="adj" fmla="val 21053"/>
            </a:avLst>
          </a:prstGeom>
          <a:solidFill>
            <a:srgbClr val="8B0012"/>
          </a:solidFill>
          <a:ln>
            <a:noFill/>
          </a:ln>
        </p:spPr>
      </p:sp>
      <p:sp>
        <p:nvSpPr>
          <p:cNvPr id="52" name="TextBox 52"/>
          <p:cNvSpPr txBox="1"/>
          <p:nvPr/>
        </p:nvSpPr>
        <p:spPr>
          <a:xfrm>
            <a:off x="723900" y="5400675"/>
            <a:ext cx="476250" cy="285750"/>
          </a:xfrm>
          <a:prstGeom prst="rect">
            <a:avLst/>
          </a:prstGeom>
          <a:noFill/>
          <a:ln>
            <a:noFill/>
          </a:ln>
        </p:spPr>
        <p:txBody>
          <a:bodyPr wrap="square" lIns="0" tIns="0" rIns="0" bIns="0" anchor="t" anchorCtr="0">
            <a:normAutofit/>
          </a:bodyPr>
          <a:lstStyle/>
          <a:p>
            <a:pPr algn="ctr"/>
            <a:r>
              <a:rPr lang="zh-CN" sz="1500" b="1" dirty="0">
                <a:solidFill>
                  <a:srgbClr val="FFFFFF"/>
                </a:solidFill>
                <a:latin typeface="Arial"/>
                <a:ea typeface="Microsoft YaHei"/>
                <a:cs typeface="Arial"/>
              </a:rPr>
              <a:t>Q4</a:t>
            </a:r>
          </a:p>
        </p:txBody>
      </p:sp>
      <p:sp>
        <p:nvSpPr>
          <p:cNvPr id="53" name="TextBox 53"/>
          <p:cNvSpPr txBox="1"/>
          <p:nvPr/>
        </p:nvSpPr>
        <p:spPr>
          <a:xfrm>
            <a:off x="1389698" y="5421154"/>
            <a:ext cx="7579243" cy="320040"/>
          </a:xfrm>
          <a:prstGeom prst="rect">
            <a:avLst/>
          </a:prstGeom>
          <a:noFill/>
          <a:ln>
            <a:noFill/>
          </a:ln>
        </p:spPr>
        <p:txBody>
          <a:bodyPr wrap="none" lIns="0" tIns="0" rIns="0" bIns="0" anchor="t" anchorCtr="0">
            <a:spAutoFit/>
          </a:bodyPr>
          <a:lstStyle/>
          <a:p>
            <a:pPr algn="l"/>
            <a:r>
              <a:rPr lang="zh-CN" sz="1575" b="1" dirty="0">
                <a:solidFill>
                  <a:srgbClr val="68000D"/>
                </a:solidFill>
                <a:latin typeface="Arial"/>
                <a:ea typeface="Microsoft YaHei"/>
                <a:cs typeface="Arial"/>
              </a:rPr>
              <a:t>Are the returns on warming and on effort stable through time?</a:t>
            </a:r>
          </a:p>
        </p:txBody>
      </p:sp>
      <p:sp>
        <p:nvSpPr>
          <p:cNvPr id="54" name="Rectangle 54"/>
          <p:cNvSpPr/>
          <p:nvPr/>
        </p:nvSpPr>
        <p:spPr>
          <a:xfrm>
            <a:off x="762000" y="5810250"/>
            <a:ext cx="400050" cy="285750"/>
          </a:xfrm>
          <a:prstGeom prst="roundRect">
            <a:avLst>
              <a:gd name="adj" fmla="val 20000"/>
            </a:avLst>
          </a:prstGeom>
          <a:solidFill>
            <a:srgbClr val="FFFFFF"/>
          </a:solidFill>
          <a:ln w="15240">
            <a:solidFill>
              <a:srgbClr val="2F4A6D"/>
            </a:solidFill>
          </a:ln>
        </p:spPr>
      </p:sp>
      <p:sp>
        <p:nvSpPr>
          <p:cNvPr id="55" name="TextBox 55"/>
          <p:cNvSpPr txBox="1"/>
          <p:nvPr/>
        </p:nvSpPr>
        <p:spPr>
          <a:xfrm>
            <a:off x="771525" y="5866448"/>
            <a:ext cx="381000" cy="242888"/>
          </a:xfrm>
          <a:prstGeom prst="rect">
            <a:avLst/>
          </a:prstGeom>
          <a:noFill/>
          <a:ln>
            <a:noFill/>
          </a:ln>
        </p:spPr>
        <p:txBody>
          <a:bodyPr wrap="square" lIns="0" tIns="0" rIns="0" bIns="0" anchor="t" anchorCtr="0">
            <a:normAutofit/>
          </a:bodyPr>
          <a:lstStyle/>
          <a:p>
            <a:pPr algn="ctr"/>
            <a:r>
              <a:rPr lang="zh-CN" sz="1275" b="1" dirty="0">
                <a:solidFill>
                  <a:srgbClr val="2F4A6D"/>
                </a:solidFill>
                <a:latin typeface="Arial"/>
                <a:ea typeface="Microsoft YaHei"/>
                <a:cs typeface="Arial"/>
              </a:rPr>
              <a:t>H4</a:t>
            </a:r>
          </a:p>
        </p:txBody>
      </p:sp>
      <p:sp>
        <p:nvSpPr>
          <p:cNvPr id="56" name="TextBox 56"/>
          <p:cNvSpPr txBox="1"/>
          <p:nvPr/>
        </p:nvSpPr>
        <p:spPr>
          <a:xfrm>
            <a:off x="1392555" y="5874068"/>
            <a:ext cx="6919379" cy="274320"/>
          </a:xfrm>
          <a:prstGeom prst="rect">
            <a:avLst/>
          </a:prstGeom>
          <a:noFill/>
          <a:ln>
            <a:noFill/>
          </a:ln>
        </p:spPr>
        <p:txBody>
          <a:bodyPr wrap="none" lIns="0" tIns="0" rIns="0" bIns="0" anchor="t" anchorCtr="0">
            <a:spAutoFit/>
          </a:bodyPr>
          <a:lstStyle/>
          <a:p>
            <a:pPr algn="l"/>
            <a:r>
              <a:rPr lang="zh-CN" sz="1350" dirty="0">
                <a:solidFill>
                  <a:srgbClr val="2F4A6D"/>
                </a:solidFill>
                <a:latin typeface="Arial"/>
                <a:ea typeface="Microsoft YaHei"/>
                <a:cs typeface="Arial"/>
              </a:rPr>
              <a:t>Returns on effort decline as gaps are filled; returns on warming do not</a:t>
            </a:r>
          </a:p>
        </p:txBody>
      </p:sp>
      <p:sp>
        <p:nvSpPr>
          <p:cNvPr id="57" name="Ellipse 57"/>
          <p:cNvSpPr/>
          <p:nvPr/>
        </p:nvSpPr>
        <p:spPr>
          <a:xfrm>
            <a:off x="10858500" y="5419725"/>
            <a:ext cx="609600" cy="609600"/>
          </a:xfrm>
          <a:prstGeom prst="ellipse">
            <a:avLst/>
          </a:prstGeom>
          <a:solidFill>
            <a:srgbClr val="FFFFFF"/>
          </a:solidFill>
          <a:ln w="14288">
            <a:solidFill>
              <a:srgbClr val="A5BFD8"/>
            </a:solidFill>
          </a:ln>
        </p:spPr>
      </p:sp>
      <p:grpSp>
        <p:nvGrpSpPr>
          <p:cNvPr id="60" name="Group 60"/>
          <p:cNvGrpSpPr/>
          <p:nvPr/>
        </p:nvGrpSpPr>
        <p:grpSpPr>
          <a:xfrm>
            <a:off x="11045428" y="5554266"/>
            <a:ext cx="235744" cy="340519"/>
            <a:chOff x="11045428" y="5554266"/>
            <a:chExt cx="235744" cy="340519"/>
          </a:xfrm>
        </p:grpSpPr>
        <p:sp>
          <p:nvSpPr>
            <p:cNvPr id="58" name="Freeform 58"/>
            <p:cNvSpPr/>
            <p:nvPr/>
          </p:nvSpPr>
          <p:spPr>
            <a:xfrm>
              <a:off x="11075993" y="5659041"/>
              <a:ext cx="173943" cy="65484"/>
            </a:xfrm>
            <a:custGeom>
              <a:avLst/>
              <a:gdLst/>
              <a:ahLst/>
              <a:cxnLst/>
              <a:rect l="l" t="t" r="r" b="b"/>
              <a:pathLst>
                <a:path w="173943" h="65484">
                  <a:moveTo>
                    <a:pt x="173943" y="0"/>
                  </a:moveTo>
                  <a:lnTo>
                    <a:pt x="87307" y="65484"/>
                  </a:lnTo>
                  <a:lnTo>
                    <a:pt x="0" y="0"/>
                  </a:lnTo>
                  <a:close/>
                </a:path>
              </a:pathLst>
            </a:custGeom>
            <a:solidFill>
              <a:srgbClr val="1F5F9E">
                <a:alpha val="20000"/>
              </a:srgbClr>
            </a:solidFill>
            <a:ln>
              <a:noFill/>
            </a:ln>
          </p:spPr>
        </p:sp>
        <p:sp>
          <p:nvSpPr>
            <p:cNvPr id="59" name="Freeform 59"/>
            <p:cNvSpPr/>
            <p:nvPr/>
          </p:nvSpPr>
          <p:spPr>
            <a:xfrm>
              <a:off x="11045428" y="5554266"/>
              <a:ext cx="235744" cy="340519"/>
            </a:xfrm>
            <a:custGeom>
              <a:avLst/>
              <a:gdLst/>
              <a:ahLst/>
              <a:cxnLst/>
              <a:rect l="l" t="t" r="r" b="b"/>
              <a:pathLst>
                <a:path w="235744" h="340519">
                  <a:moveTo>
                    <a:pt x="235744" y="84540"/>
                  </a:moveTo>
                  <a:lnTo>
                    <a:pt x="235744" y="26194"/>
                  </a:lnTo>
                  <a:cubicBezTo>
                    <a:pt x="235744" y="11727"/>
                    <a:pt x="224016" y="0"/>
                    <a:pt x="209550" y="0"/>
                  </a:cubicBezTo>
                  <a:lnTo>
                    <a:pt x="26194" y="0"/>
                  </a:lnTo>
                  <a:cubicBezTo>
                    <a:pt x="11727" y="0"/>
                    <a:pt x="0" y="11727"/>
                    <a:pt x="0" y="26194"/>
                  </a:cubicBezTo>
                  <a:lnTo>
                    <a:pt x="0" y="85130"/>
                  </a:lnTo>
                  <a:cubicBezTo>
                    <a:pt x="18" y="93370"/>
                    <a:pt x="3896" y="101126"/>
                    <a:pt x="10477" y="106085"/>
                  </a:cubicBezTo>
                  <a:lnTo>
                    <a:pt x="96049" y="170259"/>
                  </a:lnTo>
                  <a:lnTo>
                    <a:pt x="10477" y="234434"/>
                  </a:lnTo>
                  <a:cubicBezTo>
                    <a:pt x="3896" y="239393"/>
                    <a:pt x="18" y="247149"/>
                    <a:pt x="0" y="255389"/>
                  </a:cubicBezTo>
                  <a:lnTo>
                    <a:pt x="0" y="314325"/>
                  </a:lnTo>
                  <a:cubicBezTo>
                    <a:pt x="0" y="328791"/>
                    <a:pt x="11727" y="340519"/>
                    <a:pt x="26194" y="340519"/>
                  </a:cubicBezTo>
                  <a:lnTo>
                    <a:pt x="209550" y="340519"/>
                  </a:lnTo>
                  <a:cubicBezTo>
                    <a:pt x="224016" y="340519"/>
                    <a:pt x="235744" y="328791"/>
                    <a:pt x="235744" y="314325"/>
                  </a:cubicBezTo>
                  <a:lnTo>
                    <a:pt x="235744" y="255978"/>
                  </a:lnTo>
                  <a:cubicBezTo>
                    <a:pt x="235725" y="247771"/>
                    <a:pt x="231881" y="240041"/>
                    <a:pt x="225348" y="235073"/>
                  </a:cubicBezTo>
                  <a:lnTo>
                    <a:pt x="139596" y="170259"/>
                  </a:lnTo>
                  <a:lnTo>
                    <a:pt x="225348" y="105446"/>
                  </a:lnTo>
                  <a:cubicBezTo>
                    <a:pt x="231881" y="100478"/>
                    <a:pt x="235725" y="92748"/>
                    <a:pt x="235744" y="84540"/>
                  </a:cubicBezTo>
                  <a:close/>
                  <a:moveTo>
                    <a:pt x="26194" y="26194"/>
                  </a:moveTo>
                  <a:lnTo>
                    <a:pt x="209550" y="26194"/>
                  </a:lnTo>
                  <a:lnTo>
                    <a:pt x="209550" y="84540"/>
                  </a:lnTo>
                  <a:lnTo>
                    <a:pt x="200104" y="91678"/>
                  </a:lnTo>
                  <a:lnTo>
                    <a:pt x="34920" y="91678"/>
                  </a:lnTo>
                  <a:lnTo>
                    <a:pt x="26194" y="85130"/>
                  </a:lnTo>
                  <a:close/>
                  <a:moveTo>
                    <a:pt x="117872" y="153888"/>
                  </a:moveTo>
                  <a:lnTo>
                    <a:pt x="69855" y="117872"/>
                  </a:lnTo>
                  <a:lnTo>
                    <a:pt x="165463" y="117872"/>
                  </a:lnTo>
                  <a:close/>
                  <a:moveTo>
                    <a:pt x="209550" y="314325"/>
                  </a:moveTo>
                  <a:lnTo>
                    <a:pt x="26194" y="314325"/>
                  </a:lnTo>
                  <a:lnTo>
                    <a:pt x="26194" y="255389"/>
                  </a:lnTo>
                  <a:lnTo>
                    <a:pt x="104775" y="196453"/>
                  </a:lnTo>
                  <a:lnTo>
                    <a:pt x="104775" y="235744"/>
                  </a:lnTo>
                  <a:cubicBezTo>
                    <a:pt x="104775" y="242977"/>
                    <a:pt x="110639" y="248841"/>
                    <a:pt x="117872" y="248841"/>
                  </a:cubicBezTo>
                  <a:cubicBezTo>
                    <a:pt x="125105" y="248841"/>
                    <a:pt x="130969" y="242977"/>
                    <a:pt x="130969" y="235744"/>
                  </a:cubicBezTo>
                  <a:lnTo>
                    <a:pt x="130969" y="196584"/>
                  </a:lnTo>
                  <a:lnTo>
                    <a:pt x="209550" y="255978"/>
                  </a:lnTo>
                  <a:close/>
                </a:path>
              </a:pathLst>
            </a:custGeom>
            <a:solidFill>
              <a:srgbClr val="1F5F9E"/>
            </a:solidFill>
            <a:ln>
              <a:noFill/>
            </a:ln>
          </p:spPr>
        </p:sp>
      </p:grpSp>
      <p:sp>
        <p:nvSpPr>
          <p:cNvPr id="61" name="TextBox 61"/>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62" name="TextBox 62"/>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05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Rectangle 9"/>
          <p:cNvSpPr/>
          <p:nvPr/>
        </p:nvSpPr>
        <p:spPr>
          <a:xfrm>
            <a:off x="6515100" y="0"/>
            <a:ext cx="1866900" cy="609600"/>
          </a:xfrm>
          <a:prstGeom prst="rect">
            <a:avLst/>
          </a:prstGeom>
          <a:solidFill>
            <a:srgbClr val="FFFFFF"/>
          </a:solidFill>
          <a:ln>
            <a:noFill/>
          </a:ln>
        </p:spPr>
      </p:sp>
      <p:sp>
        <p:nvSpPr>
          <p:cNvPr id="10" name="TextBox 10"/>
          <p:cNvSpPr txBox="1"/>
          <p:nvPr/>
        </p:nvSpPr>
        <p:spPr>
          <a:xfrm>
            <a:off x="65532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Approach</a:t>
            </a:r>
          </a:p>
        </p:txBody>
      </p:sp>
      <p:sp>
        <p:nvSpPr>
          <p:cNvPr id="11" name="TextBox 11"/>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348054"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Approach</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5249106"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From records to a hazard model, in four steps</a:t>
            </a:r>
          </a:p>
        </p:txBody>
      </p:sp>
      <p:sp>
        <p:nvSpPr>
          <p:cNvPr id="17" name="Rectangle 17"/>
          <p:cNvSpPr/>
          <p:nvPr/>
        </p:nvSpPr>
        <p:spPr>
          <a:xfrm>
            <a:off x="514350" y="1371600"/>
            <a:ext cx="1866900" cy="1028700"/>
          </a:xfrm>
          <a:prstGeom prst="roundRect">
            <a:avLst>
              <a:gd name="adj" fmla="val 9259"/>
            </a:avLst>
          </a:prstGeom>
          <a:solidFill>
            <a:srgbClr val="8B0012"/>
          </a:solidFill>
          <a:ln>
            <a:noFill/>
          </a:ln>
        </p:spPr>
      </p:sp>
      <p:sp>
        <p:nvSpPr>
          <p:cNvPr id="18" name="TextBox 18"/>
          <p:cNvSpPr txBox="1"/>
          <p:nvPr/>
        </p:nvSpPr>
        <p:spPr>
          <a:xfrm>
            <a:off x="714375" y="1604962"/>
            <a:ext cx="248731"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1</a:t>
            </a:r>
          </a:p>
        </p:txBody>
      </p:sp>
      <p:sp>
        <p:nvSpPr>
          <p:cNvPr id="19" name="TextBox 19"/>
          <p:cNvSpPr txBox="1"/>
          <p:nvPr/>
        </p:nvSpPr>
        <p:spPr>
          <a:xfrm>
            <a:off x="1027748" y="1668304"/>
            <a:ext cx="995820"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Records</a:t>
            </a:r>
          </a:p>
        </p:txBody>
      </p:sp>
      <p:sp>
        <p:nvSpPr>
          <p:cNvPr id="20" name="Rectangle 20"/>
          <p:cNvSpPr/>
          <p:nvPr/>
        </p:nvSpPr>
        <p:spPr>
          <a:xfrm>
            <a:off x="2381250" y="1371600"/>
            <a:ext cx="9296400" cy="1028700"/>
          </a:xfrm>
          <a:prstGeom prst="roundRect">
            <a:avLst>
              <a:gd name="adj" fmla="val 9259"/>
            </a:avLst>
          </a:prstGeom>
          <a:solidFill>
            <a:srgbClr val="F8F2F3"/>
          </a:solidFill>
          <a:ln>
            <a:noFill/>
          </a:ln>
        </p:spPr>
      </p:sp>
      <p:sp>
        <p:nvSpPr>
          <p:cNvPr id="21" name="Rectangle 21"/>
          <p:cNvSpPr/>
          <p:nvPr/>
        </p:nvSpPr>
        <p:spPr>
          <a:xfrm>
            <a:off x="2305050" y="1371600"/>
            <a:ext cx="152400" cy="1028700"/>
          </a:xfrm>
          <a:prstGeom prst="rect">
            <a:avLst/>
          </a:prstGeom>
          <a:solidFill>
            <a:srgbClr val="8B0012"/>
          </a:solidFill>
          <a:ln>
            <a:noFill/>
          </a:ln>
        </p:spPr>
      </p:sp>
      <p:grpSp>
        <p:nvGrpSpPr>
          <p:cNvPr id="24" name="Group 24"/>
          <p:cNvGrpSpPr/>
          <p:nvPr/>
        </p:nvGrpSpPr>
        <p:grpSpPr>
          <a:xfrm>
            <a:off x="2551762" y="1697144"/>
            <a:ext cx="411707" cy="362641"/>
            <a:chOff x="2551762" y="1697144"/>
            <a:chExt cx="411707" cy="362641"/>
          </a:xfrm>
        </p:grpSpPr>
        <p:sp>
          <p:nvSpPr>
            <p:cNvPr id="22" name="Freeform 22"/>
            <p:cNvSpPr/>
            <p:nvPr/>
          </p:nvSpPr>
          <p:spPr>
            <a:xfrm>
              <a:off x="2566392" y="1712440"/>
              <a:ext cx="383381" cy="333649"/>
            </a:xfrm>
            <a:custGeom>
              <a:avLst/>
              <a:gdLst/>
              <a:ahLst/>
              <a:cxnLst/>
              <a:rect l="l" t="t" r="r" b="b"/>
              <a:pathLst>
                <a:path w="383381" h="333649">
                  <a:moveTo>
                    <a:pt x="383381" y="100882"/>
                  </a:moveTo>
                  <a:lnTo>
                    <a:pt x="342305" y="128266"/>
                  </a:lnTo>
                  <a:lnTo>
                    <a:pt x="342305" y="169343"/>
                  </a:lnTo>
                  <a:cubicBezTo>
                    <a:pt x="342305" y="260086"/>
                    <a:pt x="268742" y="333649"/>
                    <a:pt x="177998" y="333649"/>
                  </a:cubicBezTo>
                  <a:lnTo>
                    <a:pt x="0" y="333649"/>
                  </a:lnTo>
                  <a:lnTo>
                    <a:pt x="164306" y="128266"/>
                  </a:lnTo>
                  <a:lnTo>
                    <a:pt x="164306" y="94036"/>
                  </a:lnTo>
                  <a:cubicBezTo>
                    <a:pt x="164274" y="49231"/>
                    <a:pt x="197554" y="11387"/>
                    <a:pt x="241996" y="5694"/>
                  </a:cubicBezTo>
                  <a:cubicBezTo>
                    <a:pt x="286437" y="0"/>
                    <a:pt x="328183" y="28231"/>
                    <a:pt x="339446" y="71597"/>
                  </a:cubicBezTo>
                  <a:close/>
                </a:path>
              </a:pathLst>
            </a:custGeom>
            <a:solidFill>
              <a:srgbClr val="A86A00">
                <a:alpha val="20000"/>
              </a:srgbClr>
            </a:solidFill>
            <a:ln>
              <a:noFill/>
            </a:ln>
          </p:spPr>
        </p:sp>
        <p:sp>
          <p:nvSpPr>
            <p:cNvPr id="23" name="Freeform 23"/>
            <p:cNvSpPr/>
            <p:nvPr/>
          </p:nvSpPr>
          <p:spPr>
            <a:xfrm>
              <a:off x="2551762" y="1697144"/>
              <a:ext cx="411707" cy="362641"/>
            </a:xfrm>
            <a:custGeom>
              <a:avLst/>
              <a:gdLst/>
              <a:ahLst/>
              <a:cxnLst/>
              <a:rect l="l" t="t" r="r" b="b"/>
              <a:pathLst>
                <a:path w="411707" h="362641">
                  <a:moveTo>
                    <a:pt x="302166" y="95640"/>
                  </a:moveTo>
                  <a:cubicBezTo>
                    <a:pt x="302166" y="106983"/>
                    <a:pt x="292971" y="116178"/>
                    <a:pt x="281628" y="116178"/>
                  </a:cubicBezTo>
                  <a:cubicBezTo>
                    <a:pt x="270285" y="116178"/>
                    <a:pt x="261090" y="106983"/>
                    <a:pt x="261090" y="95640"/>
                  </a:cubicBezTo>
                  <a:cubicBezTo>
                    <a:pt x="261090" y="84297"/>
                    <a:pt x="270285" y="75102"/>
                    <a:pt x="281628" y="75102"/>
                  </a:cubicBezTo>
                  <a:cubicBezTo>
                    <a:pt x="292971" y="75102"/>
                    <a:pt x="302166" y="84297"/>
                    <a:pt x="302166" y="95640"/>
                  </a:cubicBezTo>
                  <a:close/>
                  <a:moveTo>
                    <a:pt x="215084" y="201498"/>
                  </a:moveTo>
                  <a:cubicBezTo>
                    <a:pt x="212299" y="199167"/>
                    <a:pt x="208702" y="198037"/>
                    <a:pt x="205085" y="198358"/>
                  </a:cubicBezTo>
                  <a:cubicBezTo>
                    <a:pt x="201468" y="198679"/>
                    <a:pt x="198126" y="200424"/>
                    <a:pt x="195795" y="203209"/>
                  </a:cubicBezTo>
                  <a:lnTo>
                    <a:pt x="127334" y="285362"/>
                  </a:lnTo>
                  <a:cubicBezTo>
                    <a:pt x="122494" y="291176"/>
                    <a:pt x="123284" y="299812"/>
                    <a:pt x="129097" y="304651"/>
                  </a:cubicBezTo>
                  <a:cubicBezTo>
                    <a:pt x="134910" y="309491"/>
                    <a:pt x="143546" y="308702"/>
                    <a:pt x="148386" y="302888"/>
                  </a:cubicBezTo>
                  <a:lnTo>
                    <a:pt x="216847" y="220735"/>
                  </a:lnTo>
                  <a:cubicBezTo>
                    <a:pt x="221654" y="214931"/>
                    <a:pt x="220866" y="206332"/>
                    <a:pt x="215084" y="201498"/>
                  </a:cubicBezTo>
                  <a:close/>
                  <a:moveTo>
                    <a:pt x="411704" y="116178"/>
                  </a:moveTo>
                  <a:cubicBezTo>
                    <a:pt x="411707" y="120758"/>
                    <a:pt x="409420" y="125036"/>
                    <a:pt x="405611" y="127577"/>
                  </a:cubicBezTo>
                  <a:lnTo>
                    <a:pt x="370627" y="150888"/>
                  </a:lnTo>
                  <a:lnTo>
                    <a:pt x="370627" y="184639"/>
                  </a:lnTo>
                  <a:cubicBezTo>
                    <a:pt x="370523" y="282902"/>
                    <a:pt x="290892" y="362534"/>
                    <a:pt x="192629" y="362638"/>
                  </a:cubicBezTo>
                  <a:lnTo>
                    <a:pt x="14630" y="362638"/>
                  </a:lnTo>
                  <a:cubicBezTo>
                    <a:pt x="9364" y="362641"/>
                    <a:pt x="4563" y="359624"/>
                    <a:pt x="2282" y="354878"/>
                  </a:cubicBezTo>
                  <a:cubicBezTo>
                    <a:pt x="0" y="350132"/>
                    <a:pt x="642" y="344499"/>
                    <a:pt x="3933" y="340388"/>
                  </a:cubicBezTo>
                  <a:lnTo>
                    <a:pt x="165244" y="138753"/>
                  </a:lnTo>
                  <a:lnTo>
                    <a:pt x="165244" y="109332"/>
                  </a:lnTo>
                  <a:cubicBezTo>
                    <a:pt x="165197" y="58645"/>
                    <a:pt x="202139" y="15505"/>
                    <a:pt x="252230" y="7752"/>
                  </a:cubicBezTo>
                  <a:cubicBezTo>
                    <a:pt x="302321" y="0"/>
                    <a:pt x="350575" y="29955"/>
                    <a:pt x="365852" y="78285"/>
                  </a:cubicBezTo>
                  <a:lnTo>
                    <a:pt x="405611" y="104780"/>
                  </a:lnTo>
                  <a:cubicBezTo>
                    <a:pt x="409420" y="107321"/>
                    <a:pt x="411707" y="111599"/>
                    <a:pt x="411704" y="116178"/>
                  </a:cubicBezTo>
                  <a:close/>
                  <a:moveTo>
                    <a:pt x="373331" y="116178"/>
                  </a:moveTo>
                  <a:lnTo>
                    <a:pt x="346495" y="98276"/>
                  </a:lnTo>
                  <a:cubicBezTo>
                    <a:pt x="343695" y="96414"/>
                    <a:pt x="341679" y="93587"/>
                    <a:pt x="340830" y="90334"/>
                  </a:cubicBezTo>
                  <a:cubicBezTo>
                    <a:pt x="331307" y="53628"/>
                    <a:pt x="295975" y="29728"/>
                    <a:pt x="258360" y="34550"/>
                  </a:cubicBezTo>
                  <a:cubicBezTo>
                    <a:pt x="220746" y="39372"/>
                    <a:pt x="192585" y="71410"/>
                    <a:pt x="192629" y="109332"/>
                  </a:cubicBezTo>
                  <a:lnTo>
                    <a:pt x="192629" y="143563"/>
                  </a:lnTo>
                  <a:cubicBezTo>
                    <a:pt x="192631" y="146673"/>
                    <a:pt x="191575" y="149691"/>
                    <a:pt x="189634" y="152120"/>
                  </a:cubicBezTo>
                  <a:lnTo>
                    <a:pt x="43110" y="335253"/>
                  </a:lnTo>
                  <a:lnTo>
                    <a:pt x="192629" y="335253"/>
                  </a:lnTo>
                  <a:cubicBezTo>
                    <a:pt x="275772" y="335159"/>
                    <a:pt x="343149" y="267782"/>
                    <a:pt x="343243" y="184639"/>
                  </a:cubicBezTo>
                  <a:lnTo>
                    <a:pt x="343243" y="143563"/>
                  </a:lnTo>
                  <a:cubicBezTo>
                    <a:pt x="343240" y="138983"/>
                    <a:pt x="345526" y="134706"/>
                    <a:pt x="349336" y="132164"/>
                  </a:cubicBezTo>
                  <a:close/>
                </a:path>
              </a:pathLst>
            </a:custGeom>
            <a:solidFill>
              <a:srgbClr val="A86A00"/>
            </a:solidFill>
            <a:ln>
              <a:noFill/>
            </a:ln>
          </p:spPr>
        </p:sp>
      </p:grpSp>
      <p:sp>
        <p:nvSpPr>
          <p:cNvPr id="25" name="TextBox 25"/>
          <p:cNvSpPr txBox="1"/>
          <p:nvPr/>
        </p:nvSpPr>
        <p:spPr>
          <a:xfrm>
            <a:off x="3127058" y="1691164"/>
            <a:ext cx="756794"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CBNR v2</a:t>
            </a:r>
          </a:p>
        </p:txBody>
      </p:sp>
      <p:sp>
        <p:nvSpPr>
          <p:cNvPr id="26" name="TextBox 26"/>
          <p:cNvSpPr txBox="1"/>
          <p:nvPr/>
        </p:nvSpPr>
        <p:spPr>
          <a:xfrm>
            <a:off x="3128962" y="1955006"/>
            <a:ext cx="2434019"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1,029 provincial first records</a:t>
            </a:r>
          </a:p>
        </p:txBody>
      </p:sp>
      <p:grpSp>
        <p:nvGrpSpPr>
          <p:cNvPr id="29" name="Group 29"/>
          <p:cNvGrpSpPr/>
          <p:nvPr/>
        </p:nvGrpSpPr>
        <p:grpSpPr>
          <a:xfrm>
            <a:off x="5705951" y="1703784"/>
            <a:ext cx="328612" cy="355997"/>
            <a:chOff x="5705951" y="1703784"/>
            <a:chExt cx="328612" cy="355997"/>
          </a:xfrm>
        </p:grpSpPr>
        <p:sp>
          <p:nvSpPr>
            <p:cNvPr id="27" name="Freeform 27"/>
            <p:cNvSpPr/>
            <p:nvPr/>
          </p:nvSpPr>
          <p:spPr>
            <a:xfrm>
              <a:off x="5719643" y="1744861"/>
              <a:ext cx="301228" cy="82153"/>
            </a:xfrm>
            <a:custGeom>
              <a:avLst/>
              <a:gdLst/>
              <a:ahLst/>
              <a:cxnLst/>
              <a:rect l="l" t="t" r="r" b="b"/>
              <a:pathLst>
                <a:path w="301228" h="82153">
                  <a:moveTo>
                    <a:pt x="301228" y="13692"/>
                  </a:moveTo>
                  <a:lnTo>
                    <a:pt x="301228" y="82153"/>
                  </a:lnTo>
                  <a:lnTo>
                    <a:pt x="0" y="82153"/>
                  </a:lnTo>
                  <a:lnTo>
                    <a:pt x="0" y="13692"/>
                  </a:lnTo>
                  <a:cubicBezTo>
                    <a:pt x="0" y="6130"/>
                    <a:pt x="6130" y="0"/>
                    <a:pt x="13692" y="0"/>
                  </a:cubicBezTo>
                  <a:lnTo>
                    <a:pt x="287536" y="0"/>
                  </a:lnTo>
                  <a:cubicBezTo>
                    <a:pt x="295098" y="0"/>
                    <a:pt x="301228" y="6130"/>
                    <a:pt x="301228" y="13692"/>
                  </a:cubicBezTo>
                  <a:close/>
                </a:path>
              </a:pathLst>
            </a:custGeom>
            <a:solidFill>
              <a:srgbClr val="8B0012">
                <a:alpha val="20000"/>
              </a:srgbClr>
            </a:solidFill>
            <a:ln>
              <a:noFill/>
            </a:ln>
          </p:spPr>
        </p:sp>
        <p:sp>
          <p:nvSpPr>
            <p:cNvPr id="28" name="Freeform 28"/>
            <p:cNvSpPr/>
            <p:nvPr/>
          </p:nvSpPr>
          <p:spPr>
            <a:xfrm>
              <a:off x="5705951" y="1703784"/>
              <a:ext cx="328612" cy="355997"/>
            </a:xfrm>
            <a:custGeom>
              <a:avLst/>
              <a:gdLst/>
              <a:ahLst/>
              <a:cxnLst/>
              <a:rect l="l" t="t" r="r" b="b"/>
              <a:pathLst>
                <a:path w="328612" h="355997">
                  <a:moveTo>
                    <a:pt x="301228" y="27384"/>
                  </a:moveTo>
                  <a:lnTo>
                    <a:pt x="260152" y="27384"/>
                  </a:lnTo>
                  <a:lnTo>
                    <a:pt x="260152" y="13692"/>
                  </a:lnTo>
                  <a:cubicBezTo>
                    <a:pt x="260152" y="6130"/>
                    <a:pt x="254021" y="0"/>
                    <a:pt x="246459" y="0"/>
                  </a:cubicBezTo>
                  <a:cubicBezTo>
                    <a:pt x="238897" y="0"/>
                    <a:pt x="232767" y="6130"/>
                    <a:pt x="232767" y="13692"/>
                  </a:cubicBezTo>
                  <a:lnTo>
                    <a:pt x="232767" y="27384"/>
                  </a:lnTo>
                  <a:lnTo>
                    <a:pt x="95845" y="27384"/>
                  </a:lnTo>
                  <a:lnTo>
                    <a:pt x="95845" y="13692"/>
                  </a:lnTo>
                  <a:cubicBezTo>
                    <a:pt x="95845" y="6130"/>
                    <a:pt x="89715" y="0"/>
                    <a:pt x="82153" y="0"/>
                  </a:cubicBezTo>
                  <a:cubicBezTo>
                    <a:pt x="74591" y="0"/>
                    <a:pt x="68461" y="6130"/>
                    <a:pt x="68461" y="13692"/>
                  </a:cubicBezTo>
                  <a:lnTo>
                    <a:pt x="68461" y="27384"/>
                  </a:lnTo>
                  <a:lnTo>
                    <a:pt x="27384" y="27384"/>
                  </a:lnTo>
                  <a:cubicBezTo>
                    <a:pt x="12260" y="27384"/>
                    <a:pt x="0" y="39645"/>
                    <a:pt x="0" y="54769"/>
                  </a:cubicBezTo>
                  <a:lnTo>
                    <a:pt x="0" y="328612"/>
                  </a:lnTo>
                  <a:cubicBezTo>
                    <a:pt x="0" y="343736"/>
                    <a:pt x="12260" y="355997"/>
                    <a:pt x="27384" y="355997"/>
                  </a:cubicBezTo>
                  <a:lnTo>
                    <a:pt x="301228" y="355997"/>
                  </a:lnTo>
                  <a:cubicBezTo>
                    <a:pt x="316352" y="355997"/>
                    <a:pt x="328612" y="343736"/>
                    <a:pt x="328612" y="328612"/>
                  </a:cubicBezTo>
                  <a:lnTo>
                    <a:pt x="328612" y="54769"/>
                  </a:lnTo>
                  <a:cubicBezTo>
                    <a:pt x="328612" y="39645"/>
                    <a:pt x="316352" y="27384"/>
                    <a:pt x="301228" y="27384"/>
                  </a:cubicBezTo>
                  <a:close/>
                  <a:moveTo>
                    <a:pt x="68461" y="54769"/>
                  </a:moveTo>
                  <a:lnTo>
                    <a:pt x="68461" y="68461"/>
                  </a:lnTo>
                  <a:cubicBezTo>
                    <a:pt x="68461" y="76023"/>
                    <a:pt x="74591" y="82153"/>
                    <a:pt x="82153" y="82153"/>
                  </a:cubicBezTo>
                  <a:cubicBezTo>
                    <a:pt x="89715" y="82153"/>
                    <a:pt x="95845" y="76023"/>
                    <a:pt x="95845" y="68461"/>
                  </a:cubicBezTo>
                  <a:lnTo>
                    <a:pt x="95845" y="54769"/>
                  </a:lnTo>
                  <a:lnTo>
                    <a:pt x="232767" y="54769"/>
                  </a:lnTo>
                  <a:lnTo>
                    <a:pt x="232767" y="68461"/>
                  </a:lnTo>
                  <a:cubicBezTo>
                    <a:pt x="232767" y="76023"/>
                    <a:pt x="238897" y="82153"/>
                    <a:pt x="246459" y="82153"/>
                  </a:cubicBezTo>
                  <a:cubicBezTo>
                    <a:pt x="254021" y="82153"/>
                    <a:pt x="260152" y="76023"/>
                    <a:pt x="260152" y="68461"/>
                  </a:cubicBezTo>
                  <a:lnTo>
                    <a:pt x="260152" y="54769"/>
                  </a:lnTo>
                  <a:lnTo>
                    <a:pt x="301228" y="54769"/>
                  </a:lnTo>
                  <a:lnTo>
                    <a:pt x="301228" y="109538"/>
                  </a:lnTo>
                  <a:lnTo>
                    <a:pt x="27384" y="109538"/>
                  </a:lnTo>
                  <a:lnTo>
                    <a:pt x="27384" y="54769"/>
                  </a:lnTo>
                  <a:close/>
                  <a:moveTo>
                    <a:pt x="301228" y="328612"/>
                  </a:moveTo>
                  <a:lnTo>
                    <a:pt x="27384" y="328612"/>
                  </a:lnTo>
                  <a:lnTo>
                    <a:pt x="27384" y="136922"/>
                  </a:lnTo>
                  <a:lnTo>
                    <a:pt x="301228" y="136922"/>
                  </a:lnTo>
                  <a:lnTo>
                    <a:pt x="301228" y="328612"/>
                  </a:lnTo>
                  <a:close/>
                </a:path>
              </a:pathLst>
            </a:custGeom>
            <a:solidFill>
              <a:srgbClr val="8B0012"/>
            </a:solidFill>
            <a:ln>
              <a:noFill/>
            </a:ln>
          </p:spPr>
        </p:sp>
      </p:grpSp>
      <p:sp>
        <p:nvSpPr>
          <p:cNvPr id="30" name="TextBox 30"/>
          <p:cNvSpPr txBox="1"/>
          <p:nvPr/>
        </p:nvSpPr>
        <p:spPr>
          <a:xfrm>
            <a:off x="6225540" y="1691164"/>
            <a:ext cx="1872028"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Dated to discovery</a:t>
            </a:r>
          </a:p>
        </p:txBody>
      </p:sp>
      <p:sp>
        <p:nvSpPr>
          <p:cNvPr id="31" name="TextBox 31"/>
          <p:cNvSpPr txBox="1"/>
          <p:nvPr/>
        </p:nvSpPr>
        <p:spPr>
          <a:xfrm>
            <a:off x="6227445" y="1955006"/>
            <a:ext cx="2126766"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657 records in 2002–2024</a:t>
            </a:r>
          </a:p>
        </p:txBody>
      </p:sp>
      <p:sp>
        <p:nvSpPr>
          <p:cNvPr id="32" name="Line 32"/>
          <p:cNvSpPr/>
          <p:nvPr/>
        </p:nvSpPr>
        <p:spPr>
          <a:xfrm>
            <a:off x="5479732" y="1562100"/>
            <a:ext cx="9525" cy="647700"/>
          </a:xfrm>
          <a:custGeom>
            <a:avLst/>
            <a:gdLst/>
            <a:ahLst/>
            <a:cxnLst/>
            <a:rect l="l" t="t" r="r" b="b"/>
            <a:pathLst>
              <a:path w="9525" h="647700">
                <a:moveTo>
                  <a:pt x="0" y="0"/>
                </a:moveTo>
                <a:lnTo>
                  <a:pt x="0" y="647700"/>
                </a:lnTo>
              </a:path>
            </a:pathLst>
          </a:custGeom>
          <a:noFill/>
          <a:ln w="9525">
            <a:solidFill>
              <a:srgbClr val="E8CDD1"/>
            </a:solidFill>
          </a:ln>
        </p:spPr>
      </p:sp>
      <p:grpSp>
        <p:nvGrpSpPr>
          <p:cNvPr id="35" name="Group 35"/>
          <p:cNvGrpSpPr/>
          <p:nvPr/>
        </p:nvGrpSpPr>
        <p:grpSpPr>
          <a:xfrm>
            <a:off x="8805386" y="1717477"/>
            <a:ext cx="328612" cy="355997"/>
            <a:chOff x="8805386" y="1717477"/>
            <a:chExt cx="328612" cy="355997"/>
          </a:xfrm>
        </p:grpSpPr>
        <p:sp>
          <p:nvSpPr>
            <p:cNvPr id="33" name="Freeform 33"/>
            <p:cNvSpPr/>
            <p:nvPr/>
          </p:nvSpPr>
          <p:spPr>
            <a:xfrm>
              <a:off x="8819078" y="1731169"/>
              <a:ext cx="301228" cy="164306"/>
            </a:xfrm>
            <a:custGeom>
              <a:avLst/>
              <a:gdLst/>
              <a:ahLst/>
              <a:cxnLst/>
              <a:rect l="l" t="t" r="r" b="b"/>
              <a:pathLst>
                <a:path w="301228" h="164306">
                  <a:moveTo>
                    <a:pt x="301228" y="82153"/>
                  </a:moveTo>
                  <a:cubicBezTo>
                    <a:pt x="301228" y="127526"/>
                    <a:pt x="233794" y="164306"/>
                    <a:pt x="150614" y="164306"/>
                  </a:cubicBezTo>
                  <a:cubicBezTo>
                    <a:pt x="67434" y="164306"/>
                    <a:pt x="0" y="127526"/>
                    <a:pt x="0" y="82153"/>
                  </a:cubicBezTo>
                  <a:cubicBezTo>
                    <a:pt x="0" y="36781"/>
                    <a:pt x="67434" y="0"/>
                    <a:pt x="150614" y="0"/>
                  </a:cubicBezTo>
                  <a:cubicBezTo>
                    <a:pt x="233794" y="0"/>
                    <a:pt x="301228" y="36781"/>
                    <a:pt x="301228" y="82153"/>
                  </a:cubicBezTo>
                  <a:close/>
                </a:path>
              </a:pathLst>
            </a:custGeom>
            <a:solidFill>
              <a:srgbClr val="8B0012">
                <a:alpha val="20000"/>
              </a:srgbClr>
            </a:solidFill>
            <a:ln>
              <a:noFill/>
            </a:ln>
          </p:spPr>
        </p:sp>
        <p:sp>
          <p:nvSpPr>
            <p:cNvPr id="34" name="Freeform 34"/>
            <p:cNvSpPr/>
            <p:nvPr/>
          </p:nvSpPr>
          <p:spPr>
            <a:xfrm>
              <a:off x="8805386" y="1717477"/>
              <a:ext cx="328612" cy="355997"/>
            </a:xfrm>
            <a:custGeom>
              <a:avLst/>
              <a:gdLst/>
              <a:ahLst/>
              <a:cxnLst/>
              <a:rect l="l" t="t" r="r" b="b"/>
              <a:pathLst>
                <a:path w="328612" h="355997">
                  <a:moveTo>
                    <a:pt x="164306" y="0"/>
                  </a:moveTo>
                  <a:cubicBezTo>
                    <a:pt x="72175" y="0"/>
                    <a:pt x="0" y="42103"/>
                    <a:pt x="0" y="95845"/>
                  </a:cubicBezTo>
                  <a:lnTo>
                    <a:pt x="0" y="260152"/>
                  </a:lnTo>
                  <a:cubicBezTo>
                    <a:pt x="0" y="313893"/>
                    <a:pt x="72175" y="355997"/>
                    <a:pt x="164306" y="355997"/>
                  </a:cubicBezTo>
                  <a:cubicBezTo>
                    <a:pt x="256438" y="355997"/>
                    <a:pt x="328612" y="313893"/>
                    <a:pt x="328612" y="260152"/>
                  </a:cubicBezTo>
                  <a:lnTo>
                    <a:pt x="328612" y="95845"/>
                  </a:lnTo>
                  <a:cubicBezTo>
                    <a:pt x="328612" y="42103"/>
                    <a:pt x="256438" y="0"/>
                    <a:pt x="164306" y="0"/>
                  </a:cubicBezTo>
                  <a:close/>
                  <a:moveTo>
                    <a:pt x="301228" y="177998"/>
                  </a:moveTo>
                  <a:cubicBezTo>
                    <a:pt x="301228" y="194463"/>
                    <a:pt x="287741" y="211253"/>
                    <a:pt x="264242" y="224073"/>
                  </a:cubicBezTo>
                  <a:cubicBezTo>
                    <a:pt x="237782" y="238501"/>
                    <a:pt x="202285" y="246459"/>
                    <a:pt x="164306" y="246459"/>
                  </a:cubicBezTo>
                  <a:cubicBezTo>
                    <a:pt x="126328" y="246459"/>
                    <a:pt x="90831" y="238501"/>
                    <a:pt x="64370" y="224073"/>
                  </a:cubicBezTo>
                  <a:cubicBezTo>
                    <a:pt x="40871" y="211253"/>
                    <a:pt x="27384" y="194463"/>
                    <a:pt x="27384" y="177998"/>
                  </a:cubicBezTo>
                  <a:lnTo>
                    <a:pt x="27384" y="149519"/>
                  </a:lnTo>
                  <a:cubicBezTo>
                    <a:pt x="56583" y="175192"/>
                    <a:pt x="106508" y="191691"/>
                    <a:pt x="164306" y="191691"/>
                  </a:cubicBezTo>
                  <a:cubicBezTo>
                    <a:pt x="222104" y="191691"/>
                    <a:pt x="272030" y="175123"/>
                    <a:pt x="301228" y="149519"/>
                  </a:cubicBezTo>
                  <a:close/>
                  <a:moveTo>
                    <a:pt x="64370" y="49771"/>
                  </a:moveTo>
                  <a:cubicBezTo>
                    <a:pt x="90831" y="35343"/>
                    <a:pt x="126328" y="27384"/>
                    <a:pt x="164306" y="27384"/>
                  </a:cubicBezTo>
                  <a:cubicBezTo>
                    <a:pt x="202285" y="27384"/>
                    <a:pt x="237782" y="35343"/>
                    <a:pt x="264242" y="49771"/>
                  </a:cubicBezTo>
                  <a:cubicBezTo>
                    <a:pt x="287741" y="62590"/>
                    <a:pt x="301228" y="79380"/>
                    <a:pt x="301228" y="95845"/>
                  </a:cubicBezTo>
                  <a:cubicBezTo>
                    <a:pt x="301228" y="112310"/>
                    <a:pt x="287741" y="129100"/>
                    <a:pt x="264242" y="141920"/>
                  </a:cubicBezTo>
                  <a:cubicBezTo>
                    <a:pt x="237782" y="156348"/>
                    <a:pt x="202285" y="164306"/>
                    <a:pt x="164306" y="164306"/>
                  </a:cubicBezTo>
                  <a:cubicBezTo>
                    <a:pt x="126328" y="164306"/>
                    <a:pt x="90831" y="156348"/>
                    <a:pt x="64370" y="141920"/>
                  </a:cubicBezTo>
                  <a:cubicBezTo>
                    <a:pt x="40871" y="129100"/>
                    <a:pt x="27384" y="112310"/>
                    <a:pt x="27384" y="95845"/>
                  </a:cubicBezTo>
                  <a:cubicBezTo>
                    <a:pt x="27384" y="79380"/>
                    <a:pt x="40871" y="62590"/>
                    <a:pt x="64370" y="49771"/>
                  </a:cubicBezTo>
                  <a:close/>
                  <a:moveTo>
                    <a:pt x="264242" y="306226"/>
                  </a:moveTo>
                  <a:cubicBezTo>
                    <a:pt x="237782" y="320654"/>
                    <a:pt x="202285" y="328612"/>
                    <a:pt x="164306" y="328612"/>
                  </a:cubicBezTo>
                  <a:cubicBezTo>
                    <a:pt x="126328" y="328612"/>
                    <a:pt x="90831" y="320654"/>
                    <a:pt x="64370" y="306226"/>
                  </a:cubicBezTo>
                  <a:cubicBezTo>
                    <a:pt x="40871" y="293406"/>
                    <a:pt x="27384" y="276616"/>
                    <a:pt x="27384" y="260152"/>
                  </a:cubicBezTo>
                  <a:lnTo>
                    <a:pt x="27384" y="231672"/>
                  </a:lnTo>
                  <a:cubicBezTo>
                    <a:pt x="56583" y="257345"/>
                    <a:pt x="106508" y="273844"/>
                    <a:pt x="164306" y="273844"/>
                  </a:cubicBezTo>
                  <a:cubicBezTo>
                    <a:pt x="222104" y="273844"/>
                    <a:pt x="272030" y="257276"/>
                    <a:pt x="301228" y="231672"/>
                  </a:cubicBezTo>
                  <a:lnTo>
                    <a:pt x="301228" y="260152"/>
                  </a:lnTo>
                  <a:cubicBezTo>
                    <a:pt x="301228" y="276616"/>
                    <a:pt x="287741" y="293406"/>
                    <a:pt x="264242" y="306226"/>
                  </a:cubicBezTo>
                  <a:close/>
                </a:path>
              </a:pathLst>
            </a:custGeom>
            <a:solidFill>
              <a:srgbClr val="8B0012"/>
            </a:solidFill>
            <a:ln>
              <a:noFill/>
            </a:ln>
          </p:spPr>
        </p:sp>
      </p:grpSp>
      <p:sp>
        <p:nvSpPr>
          <p:cNvPr id="36" name="TextBox 36"/>
          <p:cNvSpPr txBox="1"/>
          <p:nvPr/>
        </p:nvSpPr>
        <p:spPr>
          <a:xfrm>
            <a:off x="9324975" y="1691164"/>
            <a:ext cx="2089153"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Current release, v1.1</a:t>
            </a:r>
          </a:p>
        </p:txBody>
      </p:sp>
      <p:sp>
        <p:nvSpPr>
          <p:cNvPr id="37" name="TextBox 37"/>
          <p:cNvSpPr txBox="1"/>
          <p:nvPr/>
        </p:nvSpPr>
        <p:spPr>
          <a:xfrm>
            <a:off x="9326880" y="1955006"/>
            <a:ext cx="2323933"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1,076 records · 588 species</a:t>
            </a:r>
          </a:p>
        </p:txBody>
      </p:sp>
      <p:sp>
        <p:nvSpPr>
          <p:cNvPr id="38" name="Line 38"/>
          <p:cNvSpPr/>
          <p:nvPr/>
        </p:nvSpPr>
        <p:spPr>
          <a:xfrm>
            <a:off x="8579168" y="1562100"/>
            <a:ext cx="9525" cy="647700"/>
          </a:xfrm>
          <a:custGeom>
            <a:avLst/>
            <a:gdLst/>
            <a:ahLst/>
            <a:cxnLst/>
            <a:rect l="l" t="t" r="r" b="b"/>
            <a:pathLst>
              <a:path w="9525" h="647700">
                <a:moveTo>
                  <a:pt x="0" y="0"/>
                </a:moveTo>
                <a:lnTo>
                  <a:pt x="0" y="647700"/>
                </a:lnTo>
              </a:path>
            </a:pathLst>
          </a:custGeom>
          <a:noFill/>
          <a:ln w="9525">
            <a:solidFill>
              <a:srgbClr val="E8CDD1"/>
            </a:solidFill>
          </a:ln>
        </p:spPr>
      </p:sp>
      <p:sp>
        <p:nvSpPr>
          <p:cNvPr id="39" name="Rectangle 39"/>
          <p:cNvSpPr/>
          <p:nvPr/>
        </p:nvSpPr>
        <p:spPr>
          <a:xfrm>
            <a:off x="514350" y="2514600"/>
            <a:ext cx="1866900" cy="1028700"/>
          </a:xfrm>
          <a:prstGeom prst="roundRect">
            <a:avLst>
              <a:gd name="adj" fmla="val 9259"/>
            </a:avLst>
          </a:prstGeom>
          <a:solidFill>
            <a:srgbClr val="8B0012"/>
          </a:solidFill>
          <a:ln>
            <a:noFill/>
          </a:ln>
        </p:spPr>
      </p:sp>
      <p:sp>
        <p:nvSpPr>
          <p:cNvPr id="40" name="TextBox 40"/>
          <p:cNvSpPr txBox="1"/>
          <p:nvPr/>
        </p:nvSpPr>
        <p:spPr>
          <a:xfrm>
            <a:off x="714375" y="2747962"/>
            <a:ext cx="248731"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2</a:t>
            </a:r>
          </a:p>
        </p:txBody>
      </p:sp>
      <p:sp>
        <p:nvSpPr>
          <p:cNvPr id="41" name="TextBox 41"/>
          <p:cNvSpPr txBox="1"/>
          <p:nvPr/>
        </p:nvSpPr>
        <p:spPr>
          <a:xfrm>
            <a:off x="1027748" y="2811304"/>
            <a:ext cx="1005574"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Risk set</a:t>
            </a:r>
          </a:p>
        </p:txBody>
      </p:sp>
      <p:sp>
        <p:nvSpPr>
          <p:cNvPr id="42" name="Rectangle 42"/>
          <p:cNvSpPr/>
          <p:nvPr/>
        </p:nvSpPr>
        <p:spPr>
          <a:xfrm>
            <a:off x="2381250" y="2514600"/>
            <a:ext cx="9296400" cy="1028700"/>
          </a:xfrm>
          <a:prstGeom prst="roundRect">
            <a:avLst>
              <a:gd name="adj" fmla="val 9259"/>
            </a:avLst>
          </a:prstGeom>
          <a:solidFill>
            <a:srgbClr val="F8F2F3"/>
          </a:solidFill>
          <a:ln>
            <a:noFill/>
          </a:ln>
        </p:spPr>
      </p:sp>
      <p:sp>
        <p:nvSpPr>
          <p:cNvPr id="43" name="Rectangle 43"/>
          <p:cNvSpPr/>
          <p:nvPr/>
        </p:nvSpPr>
        <p:spPr>
          <a:xfrm>
            <a:off x="2305050" y="2514600"/>
            <a:ext cx="152400" cy="1028700"/>
          </a:xfrm>
          <a:prstGeom prst="rect">
            <a:avLst/>
          </a:prstGeom>
          <a:solidFill>
            <a:srgbClr val="8B0012"/>
          </a:solidFill>
          <a:ln>
            <a:noFill/>
          </a:ln>
        </p:spPr>
      </p:sp>
      <p:grpSp>
        <p:nvGrpSpPr>
          <p:cNvPr id="46" name="Group 46"/>
          <p:cNvGrpSpPr/>
          <p:nvPr/>
        </p:nvGrpSpPr>
        <p:grpSpPr>
          <a:xfrm>
            <a:off x="2621161" y="2887861"/>
            <a:ext cx="301228" cy="301228"/>
            <a:chOff x="2621161" y="2887861"/>
            <a:chExt cx="301228" cy="301228"/>
          </a:xfrm>
        </p:grpSpPr>
        <p:sp>
          <p:nvSpPr>
            <p:cNvPr id="44" name="Freeform 44"/>
            <p:cNvSpPr/>
            <p:nvPr/>
          </p:nvSpPr>
          <p:spPr>
            <a:xfrm>
              <a:off x="2634853" y="2901553"/>
              <a:ext cx="273844" cy="273844"/>
            </a:xfrm>
            <a:custGeom>
              <a:avLst/>
              <a:gdLst/>
              <a:ahLst/>
              <a:cxnLst/>
              <a:rect l="l" t="t" r="r" b="b"/>
              <a:pathLst>
                <a:path w="273844" h="273844">
                  <a:moveTo>
                    <a:pt x="273844" y="13692"/>
                  </a:moveTo>
                  <a:lnTo>
                    <a:pt x="273844" y="260152"/>
                  </a:lnTo>
                  <a:cubicBezTo>
                    <a:pt x="273844" y="267714"/>
                    <a:pt x="267714" y="273844"/>
                    <a:pt x="260152" y="273844"/>
                  </a:cubicBezTo>
                  <a:lnTo>
                    <a:pt x="13692" y="273844"/>
                  </a:lnTo>
                  <a:cubicBezTo>
                    <a:pt x="6130" y="273844"/>
                    <a:pt x="0" y="267714"/>
                    <a:pt x="0" y="260152"/>
                  </a:cubicBezTo>
                  <a:lnTo>
                    <a:pt x="0" y="13692"/>
                  </a:lnTo>
                  <a:cubicBezTo>
                    <a:pt x="0" y="6130"/>
                    <a:pt x="6130" y="0"/>
                    <a:pt x="13692" y="0"/>
                  </a:cubicBezTo>
                  <a:lnTo>
                    <a:pt x="260152" y="0"/>
                  </a:lnTo>
                  <a:cubicBezTo>
                    <a:pt x="267714" y="0"/>
                    <a:pt x="273844" y="6130"/>
                    <a:pt x="273844" y="13692"/>
                  </a:cubicBezTo>
                  <a:close/>
                </a:path>
              </a:pathLst>
            </a:custGeom>
            <a:solidFill>
              <a:srgbClr val="8B0012">
                <a:alpha val="20000"/>
              </a:srgbClr>
            </a:solidFill>
            <a:ln>
              <a:noFill/>
            </a:ln>
          </p:spPr>
        </p:sp>
        <p:sp>
          <p:nvSpPr>
            <p:cNvPr id="45" name="Freeform 45"/>
            <p:cNvSpPr/>
            <p:nvPr/>
          </p:nvSpPr>
          <p:spPr>
            <a:xfrm>
              <a:off x="2621161" y="2887861"/>
              <a:ext cx="301228" cy="301228"/>
            </a:xfrm>
            <a:custGeom>
              <a:avLst/>
              <a:gdLst/>
              <a:ahLst/>
              <a:cxnLst/>
              <a:rect l="l" t="t" r="r" b="b"/>
              <a:pathLst>
                <a:path w="301228" h="301228">
                  <a:moveTo>
                    <a:pt x="273844" y="0"/>
                  </a:moveTo>
                  <a:lnTo>
                    <a:pt x="27384" y="0"/>
                  </a:lnTo>
                  <a:cubicBezTo>
                    <a:pt x="12260" y="0"/>
                    <a:pt x="0" y="12260"/>
                    <a:pt x="0" y="27384"/>
                  </a:cubicBezTo>
                  <a:lnTo>
                    <a:pt x="0" y="273844"/>
                  </a:lnTo>
                  <a:cubicBezTo>
                    <a:pt x="0" y="288968"/>
                    <a:pt x="12260" y="301228"/>
                    <a:pt x="27384" y="301228"/>
                  </a:cubicBezTo>
                  <a:lnTo>
                    <a:pt x="273844" y="301228"/>
                  </a:lnTo>
                  <a:cubicBezTo>
                    <a:pt x="288968" y="301228"/>
                    <a:pt x="301228" y="288968"/>
                    <a:pt x="301228" y="273844"/>
                  </a:cubicBezTo>
                  <a:lnTo>
                    <a:pt x="301228" y="27384"/>
                  </a:lnTo>
                  <a:cubicBezTo>
                    <a:pt x="301228" y="12260"/>
                    <a:pt x="288968" y="0"/>
                    <a:pt x="273844" y="0"/>
                  </a:cubicBezTo>
                  <a:close/>
                  <a:moveTo>
                    <a:pt x="273844" y="136922"/>
                  </a:moveTo>
                  <a:lnTo>
                    <a:pt x="164306" y="136922"/>
                  </a:lnTo>
                  <a:lnTo>
                    <a:pt x="164306" y="27384"/>
                  </a:lnTo>
                  <a:lnTo>
                    <a:pt x="273844" y="27384"/>
                  </a:lnTo>
                  <a:close/>
                  <a:moveTo>
                    <a:pt x="136922" y="27384"/>
                  </a:moveTo>
                  <a:lnTo>
                    <a:pt x="136922" y="136922"/>
                  </a:lnTo>
                  <a:lnTo>
                    <a:pt x="27384" y="136922"/>
                  </a:lnTo>
                  <a:lnTo>
                    <a:pt x="27384" y="27384"/>
                  </a:lnTo>
                  <a:close/>
                  <a:moveTo>
                    <a:pt x="27384" y="164306"/>
                  </a:moveTo>
                  <a:lnTo>
                    <a:pt x="136922" y="164306"/>
                  </a:lnTo>
                  <a:lnTo>
                    <a:pt x="136922" y="273844"/>
                  </a:lnTo>
                  <a:lnTo>
                    <a:pt x="27384" y="273844"/>
                  </a:lnTo>
                  <a:close/>
                  <a:moveTo>
                    <a:pt x="273844" y="273844"/>
                  </a:moveTo>
                  <a:lnTo>
                    <a:pt x="164306" y="273844"/>
                  </a:lnTo>
                  <a:lnTo>
                    <a:pt x="164306" y="164306"/>
                  </a:lnTo>
                  <a:lnTo>
                    <a:pt x="273844" y="164306"/>
                  </a:lnTo>
                  <a:lnTo>
                    <a:pt x="273844" y="273844"/>
                  </a:lnTo>
                  <a:close/>
                </a:path>
              </a:pathLst>
            </a:custGeom>
            <a:solidFill>
              <a:srgbClr val="8B0012"/>
            </a:solidFill>
            <a:ln>
              <a:noFill/>
            </a:ln>
          </p:spPr>
        </p:sp>
      </p:grpSp>
      <p:sp>
        <p:nvSpPr>
          <p:cNvPr id="47" name="TextBox 47"/>
          <p:cNvSpPr txBox="1"/>
          <p:nvPr/>
        </p:nvSpPr>
        <p:spPr>
          <a:xfrm>
            <a:off x="3127058" y="2834164"/>
            <a:ext cx="2669470"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Species × province × year</a:t>
            </a:r>
          </a:p>
        </p:txBody>
      </p:sp>
      <p:sp>
        <p:nvSpPr>
          <p:cNvPr id="48" name="TextBox 48"/>
          <p:cNvSpPr txBox="1"/>
          <p:nvPr/>
        </p:nvSpPr>
        <p:spPr>
          <a:xfrm>
            <a:off x="3128962" y="3098006"/>
            <a:ext cx="2023253"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175,901 cells, 2002–2024</a:t>
            </a:r>
          </a:p>
        </p:txBody>
      </p:sp>
      <p:grpSp>
        <p:nvGrpSpPr>
          <p:cNvPr id="51" name="Group 51"/>
          <p:cNvGrpSpPr/>
          <p:nvPr/>
        </p:nvGrpSpPr>
        <p:grpSpPr>
          <a:xfrm>
            <a:off x="5692259" y="2873783"/>
            <a:ext cx="355998" cy="328998"/>
            <a:chOff x="5692259" y="2873783"/>
            <a:chExt cx="355998" cy="328998"/>
          </a:xfrm>
        </p:grpSpPr>
        <p:sp>
          <p:nvSpPr>
            <p:cNvPr id="49" name="Freeform 49"/>
            <p:cNvSpPr/>
            <p:nvPr/>
          </p:nvSpPr>
          <p:spPr>
            <a:xfrm>
              <a:off x="5815489" y="2887861"/>
              <a:ext cx="109538" cy="301228"/>
            </a:xfrm>
            <a:custGeom>
              <a:avLst/>
              <a:gdLst/>
              <a:ahLst/>
              <a:cxnLst/>
              <a:rect l="l" t="t" r="r" b="b"/>
              <a:pathLst>
                <a:path w="109538" h="301228">
                  <a:moveTo>
                    <a:pt x="109538" y="54769"/>
                  </a:moveTo>
                  <a:lnTo>
                    <a:pt x="109538" y="301228"/>
                  </a:lnTo>
                  <a:lnTo>
                    <a:pt x="0" y="246459"/>
                  </a:lnTo>
                  <a:lnTo>
                    <a:pt x="0" y="0"/>
                  </a:lnTo>
                  <a:close/>
                </a:path>
              </a:pathLst>
            </a:custGeom>
            <a:solidFill>
              <a:srgbClr val="8B0012">
                <a:alpha val="20000"/>
              </a:srgbClr>
            </a:solidFill>
            <a:ln>
              <a:noFill/>
            </a:ln>
          </p:spPr>
        </p:sp>
        <p:sp>
          <p:nvSpPr>
            <p:cNvPr id="50" name="Freeform 50"/>
            <p:cNvSpPr/>
            <p:nvPr/>
          </p:nvSpPr>
          <p:spPr>
            <a:xfrm>
              <a:off x="5692259" y="2873783"/>
              <a:ext cx="355998" cy="328998"/>
            </a:xfrm>
            <a:custGeom>
              <a:avLst/>
              <a:gdLst/>
              <a:ahLst/>
              <a:cxnLst/>
              <a:rect l="l" t="t" r="r" b="b"/>
              <a:pathLst>
                <a:path w="355998" h="328998">
                  <a:moveTo>
                    <a:pt x="350725" y="30663"/>
                  </a:moveTo>
                  <a:cubicBezTo>
                    <a:pt x="347402" y="28073"/>
                    <a:pt x="343071" y="27158"/>
                    <a:pt x="338984" y="28181"/>
                  </a:cubicBezTo>
                  <a:lnTo>
                    <a:pt x="234359" y="54333"/>
                  </a:lnTo>
                  <a:lnTo>
                    <a:pt x="129357" y="1824"/>
                  </a:lnTo>
                  <a:cubicBezTo>
                    <a:pt x="126431" y="364"/>
                    <a:pt x="123080" y="0"/>
                    <a:pt x="119909" y="797"/>
                  </a:cubicBezTo>
                  <a:lnTo>
                    <a:pt x="10372" y="28181"/>
                  </a:lnTo>
                  <a:cubicBezTo>
                    <a:pt x="4277" y="29704"/>
                    <a:pt x="1" y="35180"/>
                    <a:pt x="0" y="41462"/>
                  </a:cubicBezTo>
                  <a:lnTo>
                    <a:pt x="0" y="287922"/>
                  </a:lnTo>
                  <a:cubicBezTo>
                    <a:pt x="1" y="292138"/>
                    <a:pt x="1943" y="296118"/>
                    <a:pt x="5266" y="298712"/>
                  </a:cubicBezTo>
                  <a:cubicBezTo>
                    <a:pt x="8590" y="301307"/>
                    <a:pt x="12923" y="302226"/>
                    <a:pt x="17013" y="301203"/>
                  </a:cubicBezTo>
                  <a:lnTo>
                    <a:pt x="121638" y="275051"/>
                  </a:lnTo>
                  <a:lnTo>
                    <a:pt x="226640" y="327561"/>
                  </a:lnTo>
                  <a:cubicBezTo>
                    <a:pt x="228546" y="328500"/>
                    <a:pt x="230642" y="328992"/>
                    <a:pt x="232767" y="328998"/>
                  </a:cubicBezTo>
                  <a:cubicBezTo>
                    <a:pt x="233887" y="328998"/>
                    <a:pt x="235002" y="328860"/>
                    <a:pt x="236088" y="328588"/>
                  </a:cubicBezTo>
                  <a:lnTo>
                    <a:pt x="345625" y="301203"/>
                  </a:lnTo>
                  <a:cubicBezTo>
                    <a:pt x="351720" y="299680"/>
                    <a:pt x="355996" y="294204"/>
                    <a:pt x="355997" y="287922"/>
                  </a:cubicBezTo>
                  <a:lnTo>
                    <a:pt x="355997" y="41462"/>
                  </a:lnTo>
                  <a:cubicBezTo>
                    <a:pt x="355998" y="37242"/>
                    <a:pt x="354053" y="33258"/>
                    <a:pt x="350725" y="30663"/>
                  </a:cubicBezTo>
                  <a:close/>
                  <a:moveTo>
                    <a:pt x="136922" y="36225"/>
                  </a:moveTo>
                  <a:lnTo>
                    <a:pt x="219075" y="77302"/>
                  </a:lnTo>
                  <a:lnTo>
                    <a:pt x="219075" y="293159"/>
                  </a:lnTo>
                  <a:lnTo>
                    <a:pt x="136922" y="252082"/>
                  </a:lnTo>
                  <a:close/>
                  <a:moveTo>
                    <a:pt x="27384" y="52159"/>
                  </a:moveTo>
                  <a:lnTo>
                    <a:pt x="109538" y="31621"/>
                  </a:lnTo>
                  <a:lnTo>
                    <a:pt x="109538" y="249840"/>
                  </a:lnTo>
                  <a:lnTo>
                    <a:pt x="27384" y="270379"/>
                  </a:lnTo>
                  <a:close/>
                  <a:moveTo>
                    <a:pt x="328612" y="277225"/>
                  </a:moveTo>
                  <a:lnTo>
                    <a:pt x="246459" y="297763"/>
                  </a:lnTo>
                  <a:lnTo>
                    <a:pt x="246459" y="79544"/>
                  </a:lnTo>
                  <a:lnTo>
                    <a:pt x="328612" y="59006"/>
                  </a:lnTo>
                  <a:close/>
                </a:path>
              </a:pathLst>
            </a:custGeom>
            <a:solidFill>
              <a:srgbClr val="8B0012"/>
            </a:solidFill>
            <a:ln>
              <a:noFill/>
            </a:ln>
          </p:spPr>
        </p:sp>
      </p:grpSp>
      <p:sp>
        <p:nvSpPr>
          <p:cNvPr id="52" name="TextBox 52"/>
          <p:cNvSpPr txBox="1"/>
          <p:nvPr/>
        </p:nvSpPr>
        <p:spPr>
          <a:xfrm>
            <a:off x="6225540" y="2834164"/>
            <a:ext cx="2424710"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Reachable provinces only</a:t>
            </a:r>
          </a:p>
        </p:txBody>
      </p:sp>
      <p:sp>
        <p:nvSpPr>
          <p:cNvPr id="53" name="TextBox 53"/>
          <p:cNvSpPr txBox="1"/>
          <p:nvPr/>
        </p:nvSpPr>
        <p:spPr>
          <a:xfrm>
            <a:off x="6227445" y="3098006"/>
            <a:ext cx="1919740"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 50 suitable SDM cells</a:t>
            </a:r>
          </a:p>
        </p:txBody>
      </p:sp>
      <p:sp>
        <p:nvSpPr>
          <p:cNvPr id="54" name="Line 54"/>
          <p:cNvSpPr/>
          <p:nvPr/>
        </p:nvSpPr>
        <p:spPr>
          <a:xfrm>
            <a:off x="5479732" y="2705100"/>
            <a:ext cx="9525" cy="647700"/>
          </a:xfrm>
          <a:custGeom>
            <a:avLst/>
            <a:gdLst/>
            <a:ahLst/>
            <a:cxnLst/>
            <a:rect l="l" t="t" r="r" b="b"/>
            <a:pathLst>
              <a:path w="9525" h="647700">
                <a:moveTo>
                  <a:pt x="0" y="0"/>
                </a:moveTo>
                <a:lnTo>
                  <a:pt x="0" y="647700"/>
                </a:lnTo>
              </a:path>
            </a:pathLst>
          </a:custGeom>
          <a:noFill/>
          <a:ln w="9525">
            <a:solidFill>
              <a:srgbClr val="E8CDD1"/>
            </a:solidFill>
          </a:ln>
        </p:spPr>
      </p:sp>
      <p:grpSp>
        <p:nvGrpSpPr>
          <p:cNvPr id="57" name="Group 57"/>
          <p:cNvGrpSpPr/>
          <p:nvPr/>
        </p:nvGrpSpPr>
        <p:grpSpPr>
          <a:xfrm>
            <a:off x="8790605" y="2846784"/>
            <a:ext cx="358164" cy="356008"/>
            <a:chOff x="8790605" y="2846784"/>
            <a:chExt cx="358164" cy="356008"/>
          </a:xfrm>
        </p:grpSpPr>
        <p:sp>
          <p:nvSpPr>
            <p:cNvPr id="55" name="Freeform 55"/>
            <p:cNvSpPr/>
            <p:nvPr/>
          </p:nvSpPr>
          <p:spPr>
            <a:xfrm>
              <a:off x="8805386" y="3134320"/>
              <a:ext cx="328612" cy="54769"/>
            </a:xfrm>
            <a:custGeom>
              <a:avLst/>
              <a:gdLst/>
              <a:ahLst/>
              <a:cxnLst/>
              <a:rect l="l" t="t" r="r" b="b"/>
              <a:pathLst>
                <a:path w="328612" h="54769">
                  <a:moveTo>
                    <a:pt x="0" y="0"/>
                  </a:moveTo>
                  <a:lnTo>
                    <a:pt x="109538" y="0"/>
                  </a:lnTo>
                  <a:lnTo>
                    <a:pt x="54769" y="54769"/>
                  </a:lnTo>
                  <a:close/>
                  <a:moveTo>
                    <a:pt x="219075" y="0"/>
                  </a:moveTo>
                  <a:lnTo>
                    <a:pt x="273844" y="54769"/>
                  </a:lnTo>
                  <a:lnTo>
                    <a:pt x="328612" y="0"/>
                  </a:lnTo>
                  <a:close/>
                </a:path>
              </a:pathLst>
            </a:custGeom>
            <a:solidFill>
              <a:srgbClr val="8B0012">
                <a:alpha val="20000"/>
              </a:srgbClr>
            </a:solidFill>
            <a:ln>
              <a:noFill/>
            </a:ln>
          </p:spPr>
        </p:sp>
        <p:sp>
          <p:nvSpPr>
            <p:cNvPr id="56" name="Freeform 56"/>
            <p:cNvSpPr/>
            <p:nvPr/>
          </p:nvSpPr>
          <p:spPr>
            <a:xfrm>
              <a:off x="8790605" y="2846784"/>
              <a:ext cx="358164" cy="356008"/>
            </a:xfrm>
            <a:custGeom>
              <a:avLst/>
              <a:gdLst/>
              <a:ahLst/>
              <a:cxnLst/>
              <a:rect l="l" t="t" r="r" b="b"/>
              <a:pathLst>
                <a:path w="358164" h="356008">
                  <a:moveTo>
                    <a:pt x="356042" y="282299"/>
                  </a:moveTo>
                  <a:cubicBezTo>
                    <a:pt x="353924" y="277182"/>
                    <a:pt x="348932" y="273845"/>
                    <a:pt x="343394" y="273844"/>
                  </a:cubicBezTo>
                  <a:lnTo>
                    <a:pt x="302317" y="273844"/>
                  </a:lnTo>
                  <a:lnTo>
                    <a:pt x="302317" y="205383"/>
                  </a:lnTo>
                  <a:cubicBezTo>
                    <a:pt x="302320" y="201750"/>
                    <a:pt x="300879" y="198266"/>
                    <a:pt x="298312" y="195696"/>
                  </a:cubicBezTo>
                  <a:lnTo>
                    <a:pt x="192780" y="90180"/>
                  </a:lnTo>
                  <a:lnTo>
                    <a:pt x="192780" y="13692"/>
                  </a:lnTo>
                  <a:cubicBezTo>
                    <a:pt x="192780" y="6130"/>
                    <a:pt x="186650" y="0"/>
                    <a:pt x="179088" y="0"/>
                  </a:cubicBezTo>
                  <a:cubicBezTo>
                    <a:pt x="171526" y="0"/>
                    <a:pt x="165395" y="6130"/>
                    <a:pt x="165395" y="13692"/>
                  </a:cubicBezTo>
                  <a:lnTo>
                    <a:pt x="165395" y="90180"/>
                  </a:lnTo>
                  <a:lnTo>
                    <a:pt x="59863" y="195696"/>
                  </a:lnTo>
                  <a:cubicBezTo>
                    <a:pt x="57296" y="198266"/>
                    <a:pt x="55855" y="201750"/>
                    <a:pt x="55858" y="205383"/>
                  </a:cubicBezTo>
                  <a:lnTo>
                    <a:pt x="55858" y="273844"/>
                  </a:lnTo>
                  <a:lnTo>
                    <a:pt x="14781" y="273844"/>
                  </a:lnTo>
                  <a:cubicBezTo>
                    <a:pt x="9240" y="273839"/>
                    <a:pt x="4242" y="277175"/>
                    <a:pt x="2121" y="282295"/>
                  </a:cubicBezTo>
                  <a:cubicBezTo>
                    <a:pt x="0" y="287414"/>
                    <a:pt x="1174" y="293307"/>
                    <a:pt x="5094" y="297223"/>
                  </a:cubicBezTo>
                  <a:lnTo>
                    <a:pt x="59863" y="351992"/>
                  </a:lnTo>
                  <a:cubicBezTo>
                    <a:pt x="62431" y="354563"/>
                    <a:pt x="65916" y="356008"/>
                    <a:pt x="69550" y="356008"/>
                  </a:cubicBezTo>
                  <a:cubicBezTo>
                    <a:pt x="73184" y="356008"/>
                    <a:pt x="76669" y="354563"/>
                    <a:pt x="79237" y="351992"/>
                  </a:cubicBezTo>
                  <a:lnTo>
                    <a:pt x="134006" y="297223"/>
                  </a:lnTo>
                  <a:cubicBezTo>
                    <a:pt x="137926" y="293307"/>
                    <a:pt x="139100" y="287414"/>
                    <a:pt x="136979" y="282295"/>
                  </a:cubicBezTo>
                  <a:cubicBezTo>
                    <a:pt x="134858" y="277175"/>
                    <a:pt x="129860" y="273839"/>
                    <a:pt x="124319" y="273844"/>
                  </a:cubicBezTo>
                  <a:lnTo>
                    <a:pt x="83242" y="273844"/>
                  </a:lnTo>
                  <a:lnTo>
                    <a:pt x="83242" y="211048"/>
                  </a:lnTo>
                  <a:lnTo>
                    <a:pt x="179088" y="115203"/>
                  </a:lnTo>
                  <a:lnTo>
                    <a:pt x="274933" y="211048"/>
                  </a:lnTo>
                  <a:lnTo>
                    <a:pt x="274933" y="273844"/>
                  </a:lnTo>
                  <a:lnTo>
                    <a:pt x="233856" y="273844"/>
                  </a:lnTo>
                  <a:cubicBezTo>
                    <a:pt x="228315" y="273839"/>
                    <a:pt x="223317" y="277175"/>
                    <a:pt x="221196" y="282295"/>
                  </a:cubicBezTo>
                  <a:cubicBezTo>
                    <a:pt x="219075" y="287414"/>
                    <a:pt x="220249" y="293307"/>
                    <a:pt x="224169" y="297223"/>
                  </a:cubicBezTo>
                  <a:lnTo>
                    <a:pt x="278938" y="351992"/>
                  </a:lnTo>
                  <a:cubicBezTo>
                    <a:pt x="281506" y="354563"/>
                    <a:pt x="284991" y="356008"/>
                    <a:pt x="288625" y="356008"/>
                  </a:cubicBezTo>
                  <a:cubicBezTo>
                    <a:pt x="292259" y="356008"/>
                    <a:pt x="295744" y="354563"/>
                    <a:pt x="298312" y="351992"/>
                  </a:cubicBezTo>
                  <a:lnTo>
                    <a:pt x="353081" y="297223"/>
                  </a:lnTo>
                  <a:cubicBezTo>
                    <a:pt x="356996" y="293305"/>
                    <a:pt x="358164" y="287414"/>
                    <a:pt x="356042" y="282299"/>
                  </a:cubicBezTo>
                  <a:close/>
                  <a:moveTo>
                    <a:pt x="69550" y="322947"/>
                  </a:moveTo>
                  <a:lnTo>
                    <a:pt x="47831" y="301228"/>
                  </a:lnTo>
                  <a:lnTo>
                    <a:pt x="91269" y="301228"/>
                  </a:lnTo>
                  <a:close/>
                  <a:moveTo>
                    <a:pt x="288625" y="322947"/>
                  </a:moveTo>
                  <a:lnTo>
                    <a:pt x="266906" y="301228"/>
                  </a:lnTo>
                  <a:lnTo>
                    <a:pt x="310344" y="301228"/>
                  </a:lnTo>
                  <a:close/>
                </a:path>
              </a:pathLst>
            </a:custGeom>
            <a:solidFill>
              <a:srgbClr val="8B0012"/>
            </a:solidFill>
            <a:ln>
              <a:noFill/>
            </a:ln>
          </p:spPr>
        </p:sp>
      </p:grpSp>
      <p:sp>
        <p:nvSpPr>
          <p:cNvPr id="58" name="TextBox 58"/>
          <p:cNvSpPr txBox="1"/>
          <p:nvPr/>
        </p:nvSpPr>
        <p:spPr>
          <a:xfrm>
            <a:off x="9324975" y="2834164"/>
            <a:ext cx="2322069"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Exit after first record</a:t>
            </a:r>
          </a:p>
        </p:txBody>
      </p:sp>
      <p:sp>
        <p:nvSpPr>
          <p:cNvPr id="59" name="TextBox 59"/>
          <p:cNvSpPr txBox="1"/>
          <p:nvPr/>
        </p:nvSpPr>
        <p:spPr>
          <a:xfrm>
            <a:off x="9326880" y="3098006"/>
            <a:ext cx="1888522"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each pair counted once</a:t>
            </a:r>
          </a:p>
        </p:txBody>
      </p:sp>
      <p:sp>
        <p:nvSpPr>
          <p:cNvPr id="60" name="Line 60"/>
          <p:cNvSpPr/>
          <p:nvPr/>
        </p:nvSpPr>
        <p:spPr>
          <a:xfrm>
            <a:off x="8579168" y="2705100"/>
            <a:ext cx="9525" cy="647700"/>
          </a:xfrm>
          <a:custGeom>
            <a:avLst/>
            <a:gdLst/>
            <a:ahLst/>
            <a:cxnLst/>
            <a:rect l="l" t="t" r="r" b="b"/>
            <a:pathLst>
              <a:path w="9525" h="647700">
                <a:moveTo>
                  <a:pt x="0" y="0"/>
                </a:moveTo>
                <a:lnTo>
                  <a:pt x="0" y="647700"/>
                </a:lnTo>
              </a:path>
            </a:pathLst>
          </a:custGeom>
          <a:noFill/>
          <a:ln w="9525">
            <a:solidFill>
              <a:srgbClr val="E8CDD1"/>
            </a:solidFill>
          </a:ln>
        </p:spPr>
      </p:sp>
      <p:sp>
        <p:nvSpPr>
          <p:cNvPr id="61" name="Rectangle 61"/>
          <p:cNvSpPr/>
          <p:nvPr/>
        </p:nvSpPr>
        <p:spPr>
          <a:xfrm>
            <a:off x="514350" y="3657600"/>
            <a:ext cx="1866900" cy="1028700"/>
          </a:xfrm>
          <a:prstGeom prst="roundRect">
            <a:avLst>
              <a:gd name="adj" fmla="val 9259"/>
            </a:avLst>
          </a:prstGeom>
          <a:solidFill>
            <a:srgbClr val="8B0012"/>
          </a:solidFill>
          <a:ln>
            <a:noFill/>
          </a:ln>
        </p:spPr>
      </p:sp>
      <p:sp>
        <p:nvSpPr>
          <p:cNvPr id="62" name="TextBox 62"/>
          <p:cNvSpPr txBox="1"/>
          <p:nvPr/>
        </p:nvSpPr>
        <p:spPr>
          <a:xfrm>
            <a:off x="714375" y="3890962"/>
            <a:ext cx="248731"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3</a:t>
            </a:r>
          </a:p>
        </p:txBody>
      </p:sp>
      <p:sp>
        <p:nvSpPr>
          <p:cNvPr id="63" name="TextBox 63"/>
          <p:cNvSpPr txBox="1"/>
          <p:nvPr/>
        </p:nvSpPr>
        <p:spPr>
          <a:xfrm>
            <a:off x="1027748" y="3954304"/>
            <a:ext cx="1337183"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Covariates</a:t>
            </a:r>
          </a:p>
        </p:txBody>
      </p:sp>
      <p:sp>
        <p:nvSpPr>
          <p:cNvPr id="64" name="Rectangle 64"/>
          <p:cNvSpPr/>
          <p:nvPr/>
        </p:nvSpPr>
        <p:spPr>
          <a:xfrm>
            <a:off x="2381250" y="3657600"/>
            <a:ext cx="9296400" cy="1028700"/>
          </a:xfrm>
          <a:prstGeom prst="roundRect">
            <a:avLst>
              <a:gd name="adj" fmla="val 9259"/>
            </a:avLst>
          </a:prstGeom>
          <a:solidFill>
            <a:srgbClr val="F8F2F3"/>
          </a:solidFill>
          <a:ln>
            <a:noFill/>
          </a:ln>
        </p:spPr>
      </p:sp>
      <p:sp>
        <p:nvSpPr>
          <p:cNvPr id="65" name="Rectangle 65"/>
          <p:cNvSpPr/>
          <p:nvPr/>
        </p:nvSpPr>
        <p:spPr>
          <a:xfrm>
            <a:off x="2305050" y="3657600"/>
            <a:ext cx="152400" cy="1028700"/>
          </a:xfrm>
          <a:prstGeom prst="rect">
            <a:avLst/>
          </a:prstGeom>
          <a:solidFill>
            <a:srgbClr val="8B0012"/>
          </a:solidFill>
          <a:ln>
            <a:noFill/>
          </a:ln>
        </p:spPr>
      </p:sp>
      <p:grpSp>
        <p:nvGrpSpPr>
          <p:cNvPr id="68" name="Group 68"/>
          <p:cNvGrpSpPr/>
          <p:nvPr/>
        </p:nvGrpSpPr>
        <p:grpSpPr>
          <a:xfrm>
            <a:off x="2629885" y="3974902"/>
            <a:ext cx="311578" cy="382858"/>
            <a:chOff x="2629885" y="3974902"/>
            <a:chExt cx="311578" cy="382858"/>
          </a:xfrm>
        </p:grpSpPr>
        <p:sp>
          <p:nvSpPr>
            <p:cNvPr id="66" name="Freeform 66"/>
            <p:cNvSpPr/>
            <p:nvPr/>
          </p:nvSpPr>
          <p:spPr>
            <a:xfrm>
              <a:off x="2645278" y="3987403"/>
              <a:ext cx="189890" cy="349976"/>
            </a:xfrm>
            <a:custGeom>
              <a:avLst/>
              <a:gdLst/>
              <a:ahLst/>
              <a:cxnLst/>
              <a:rect l="l" t="t" r="r" b="b"/>
              <a:pathLst>
                <a:path w="189890" h="349976">
                  <a:moveTo>
                    <a:pt x="144951" y="190649"/>
                  </a:moveTo>
                  <a:lnTo>
                    <a:pt x="144951" y="50006"/>
                  </a:lnTo>
                  <a:cubicBezTo>
                    <a:pt x="144951" y="22389"/>
                    <a:pt x="122563" y="0"/>
                    <a:pt x="94945" y="0"/>
                  </a:cubicBezTo>
                  <a:cubicBezTo>
                    <a:pt x="67327" y="0"/>
                    <a:pt x="44939" y="22389"/>
                    <a:pt x="44939" y="50006"/>
                  </a:cubicBezTo>
                  <a:lnTo>
                    <a:pt x="44939" y="190649"/>
                  </a:lnTo>
                  <a:cubicBezTo>
                    <a:pt x="13560" y="212498"/>
                    <a:pt x="0" y="252189"/>
                    <a:pt x="11450" y="288671"/>
                  </a:cubicBezTo>
                  <a:cubicBezTo>
                    <a:pt x="22900" y="325152"/>
                    <a:pt x="56709" y="349976"/>
                    <a:pt x="94945" y="349976"/>
                  </a:cubicBezTo>
                  <a:cubicBezTo>
                    <a:pt x="133181" y="349976"/>
                    <a:pt x="166990" y="325152"/>
                    <a:pt x="178440" y="288671"/>
                  </a:cubicBezTo>
                  <a:cubicBezTo>
                    <a:pt x="189890" y="252189"/>
                    <a:pt x="176330" y="212498"/>
                    <a:pt x="144951" y="190649"/>
                  </a:cubicBezTo>
                  <a:close/>
                  <a:moveTo>
                    <a:pt x="94945" y="300038"/>
                  </a:moveTo>
                  <a:cubicBezTo>
                    <a:pt x="74232" y="300038"/>
                    <a:pt x="57440" y="283246"/>
                    <a:pt x="57440" y="262533"/>
                  </a:cubicBezTo>
                  <a:cubicBezTo>
                    <a:pt x="57440" y="241820"/>
                    <a:pt x="74232" y="225028"/>
                    <a:pt x="94945" y="225028"/>
                  </a:cubicBezTo>
                  <a:cubicBezTo>
                    <a:pt x="115658" y="225028"/>
                    <a:pt x="132450" y="241820"/>
                    <a:pt x="132450" y="262533"/>
                  </a:cubicBezTo>
                  <a:cubicBezTo>
                    <a:pt x="132450" y="283246"/>
                    <a:pt x="115658" y="300038"/>
                    <a:pt x="94945" y="300038"/>
                  </a:cubicBezTo>
                  <a:close/>
                </a:path>
              </a:pathLst>
            </a:custGeom>
            <a:solidFill>
              <a:srgbClr val="D1552C">
                <a:alpha val="20000"/>
              </a:srgbClr>
            </a:solidFill>
            <a:ln>
              <a:noFill/>
            </a:ln>
          </p:spPr>
        </p:sp>
        <p:sp>
          <p:nvSpPr>
            <p:cNvPr id="67" name="Freeform 67"/>
            <p:cNvSpPr/>
            <p:nvPr/>
          </p:nvSpPr>
          <p:spPr>
            <a:xfrm>
              <a:off x="2629885" y="3974902"/>
              <a:ext cx="311578" cy="382858"/>
            </a:xfrm>
            <a:custGeom>
              <a:avLst/>
              <a:gdLst/>
              <a:ahLst/>
              <a:cxnLst/>
              <a:rect l="l" t="t" r="r" b="b"/>
              <a:pathLst>
                <a:path w="311578" h="382858">
                  <a:moveTo>
                    <a:pt x="200053" y="113358"/>
                  </a:moveTo>
                  <a:cubicBezTo>
                    <a:pt x="196143" y="107674"/>
                    <a:pt x="197576" y="99897"/>
                    <a:pt x="203256" y="95981"/>
                  </a:cubicBezTo>
                  <a:cubicBezTo>
                    <a:pt x="219508" y="84761"/>
                    <a:pt x="244949" y="84761"/>
                    <a:pt x="261201" y="95981"/>
                  </a:cubicBezTo>
                  <a:cubicBezTo>
                    <a:pt x="269014" y="101403"/>
                    <a:pt x="282891" y="101403"/>
                    <a:pt x="290767" y="95981"/>
                  </a:cubicBezTo>
                  <a:cubicBezTo>
                    <a:pt x="296439" y="92377"/>
                    <a:pt x="303945" y="93902"/>
                    <a:pt x="307761" y="99433"/>
                  </a:cubicBezTo>
                  <a:cubicBezTo>
                    <a:pt x="311578" y="104964"/>
                    <a:pt x="310339" y="112523"/>
                    <a:pt x="304956" y="116546"/>
                  </a:cubicBezTo>
                  <a:cubicBezTo>
                    <a:pt x="287267" y="127754"/>
                    <a:pt x="264701" y="127754"/>
                    <a:pt x="247012" y="116546"/>
                  </a:cubicBezTo>
                  <a:cubicBezTo>
                    <a:pt x="239198" y="111123"/>
                    <a:pt x="225321" y="111123"/>
                    <a:pt x="217445" y="116546"/>
                  </a:cubicBezTo>
                  <a:cubicBezTo>
                    <a:pt x="214716" y="118430"/>
                    <a:pt x="211351" y="119153"/>
                    <a:pt x="208089" y="118555"/>
                  </a:cubicBezTo>
                  <a:cubicBezTo>
                    <a:pt x="204827" y="117957"/>
                    <a:pt x="201936" y="116087"/>
                    <a:pt x="200053" y="113358"/>
                  </a:cubicBezTo>
                  <a:close/>
                  <a:moveTo>
                    <a:pt x="290767" y="145987"/>
                  </a:moveTo>
                  <a:cubicBezTo>
                    <a:pt x="282954" y="151410"/>
                    <a:pt x="269077" y="151410"/>
                    <a:pt x="261201" y="145987"/>
                  </a:cubicBezTo>
                  <a:cubicBezTo>
                    <a:pt x="244949" y="134767"/>
                    <a:pt x="219508" y="134767"/>
                    <a:pt x="203256" y="145987"/>
                  </a:cubicBezTo>
                  <a:cubicBezTo>
                    <a:pt x="199391" y="148443"/>
                    <a:pt x="197178" y="152816"/>
                    <a:pt x="197488" y="157385"/>
                  </a:cubicBezTo>
                  <a:cubicBezTo>
                    <a:pt x="197798" y="161954"/>
                    <a:pt x="200581" y="165988"/>
                    <a:pt x="204742" y="167899"/>
                  </a:cubicBezTo>
                  <a:cubicBezTo>
                    <a:pt x="208904" y="169811"/>
                    <a:pt x="213777" y="169294"/>
                    <a:pt x="217445" y="166552"/>
                  </a:cubicBezTo>
                  <a:cubicBezTo>
                    <a:pt x="225259" y="161130"/>
                    <a:pt x="239136" y="161130"/>
                    <a:pt x="247012" y="166552"/>
                  </a:cubicBezTo>
                  <a:cubicBezTo>
                    <a:pt x="264701" y="177760"/>
                    <a:pt x="287267" y="177760"/>
                    <a:pt x="304956" y="166552"/>
                  </a:cubicBezTo>
                  <a:cubicBezTo>
                    <a:pt x="310339" y="162529"/>
                    <a:pt x="311578" y="154970"/>
                    <a:pt x="307761" y="149439"/>
                  </a:cubicBezTo>
                  <a:cubicBezTo>
                    <a:pt x="303945" y="143908"/>
                    <a:pt x="296439" y="142383"/>
                    <a:pt x="290767" y="145987"/>
                  </a:cubicBezTo>
                  <a:close/>
                  <a:moveTo>
                    <a:pt x="160345" y="275034"/>
                  </a:moveTo>
                  <a:cubicBezTo>
                    <a:pt x="160331" y="301018"/>
                    <a:pt x="140421" y="322662"/>
                    <a:pt x="114528" y="324840"/>
                  </a:cubicBezTo>
                  <a:cubicBezTo>
                    <a:pt x="88636" y="327017"/>
                    <a:pt x="65390" y="309001"/>
                    <a:pt x="61038" y="283385"/>
                  </a:cubicBezTo>
                  <a:cubicBezTo>
                    <a:pt x="56686" y="257768"/>
                    <a:pt x="72678" y="233087"/>
                    <a:pt x="97837" y="226591"/>
                  </a:cubicBezTo>
                  <a:lnTo>
                    <a:pt x="97837" y="62508"/>
                  </a:lnTo>
                  <a:cubicBezTo>
                    <a:pt x="97837" y="55603"/>
                    <a:pt x="103434" y="50006"/>
                    <a:pt x="110338" y="50006"/>
                  </a:cubicBezTo>
                  <a:cubicBezTo>
                    <a:pt x="117243" y="50006"/>
                    <a:pt x="122840" y="55603"/>
                    <a:pt x="122840" y="62508"/>
                  </a:cubicBezTo>
                  <a:lnTo>
                    <a:pt x="122840" y="226591"/>
                  </a:lnTo>
                  <a:cubicBezTo>
                    <a:pt x="144908" y="232323"/>
                    <a:pt x="160323" y="252234"/>
                    <a:pt x="160345" y="275034"/>
                  </a:cubicBezTo>
                  <a:close/>
                  <a:moveTo>
                    <a:pt x="135341" y="275034"/>
                  </a:moveTo>
                  <a:cubicBezTo>
                    <a:pt x="135341" y="261226"/>
                    <a:pt x="124147" y="250031"/>
                    <a:pt x="110338" y="250031"/>
                  </a:cubicBezTo>
                  <a:cubicBezTo>
                    <a:pt x="96529" y="250031"/>
                    <a:pt x="85335" y="261226"/>
                    <a:pt x="85335" y="275034"/>
                  </a:cubicBezTo>
                  <a:cubicBezTo>
                    <a:pt x="85335" y="288843"/>
                    <a:pt x="96529" y="300038"/>
                    <a:pt x="110338" y="300038"/>
                  </a:cubicBezTo>
                  <a:cubicBezTo>
                    <a:pt x="124147" y="300038"/>
                    <a:pt x="135341" y="288843"/>
                    <a:pt x="135341" y="275034"/>
                  </a:cubicBezTo>
                  <a:close/>
                  <a:moveTo>
                    <a:pt x="210351" y="275034"/>
                  </a:moveTo>
                  <a:cubicBezTo>
                    <a:pt x="210322" y="321664"/>
                    <a:pt x="178073" y="362085"/>
                    <a:pt x="132615" y="372472"/>
                  </a:cubicBezTo>
                  <a:cubicBezTo>
                    <a:pt x="87158" y="382858"/>
                    <a:pt x="40554" y="360453"/>
                    <a:pt x="20277" y="318463"/>
                  </a:cubicBezTo>
                  <a:cubicBezTo>
                    <a:pt x="0" y="276473"/>
                    <a:pt x="11430" y="226043"/>
                    <a:pt x="47830" y="196900"/>
                  </a:cubicBezTo>
                  <a:lnTo>
                    <a:pt x="47830" y="62508"/>
                  </a:lnTo>
                  <a:cubicBezTo>
                    <a:pt x="47830" y="27986"/>
                    <a:pt x="75816" y="0"/>
                    <a:pt x="110338" y="0"/>
                  </a:cubicBezTo>
                  <a:cubicBezTo>
                    <a:pt x="144860" y="0"/>
                    <a:pt x="172846" y="27986"/>
                    <a:pt x="172846" y="62508"/>
                  </a:cubicBezTo>
                  <a:lnTo>
                    <a:pt x="172846" y="196900"/>
                  </a:lnTo>
                  <a:cubicBezTo>
                    <a:pt x="196555" y="215905"/>
                    <a:pt x="210352" y="244648"/>
                    <a:pt x="210351" y="275034"/>
                  </a:cubicBezTo>
                  <a:close/>
                  <a:moveTo>
                    <a:pt x="185348" y="275034"/>
                  </a:moveTo>
                  <a:cubicBezTo>
                    <a:pt x="185328" y="250490"/>
                    <a:pt x="173321" y="227503"/>
                    <a:pt x="153187" y="213464"/>
                  </a:cubicBezTo>
                  <a:cubicBezTo>
                    <a:pt x="149820" y="211113"/>
                    <a:pt x="147822" y="207258"/>
                    <a:pt x="147843" y="203150"/>
                  </a:cubicBezTo>
                  <a:lnTo>
                    <a:pt x="147843" y="62508"/>
                  </a:lnTo>
                  <a:cubicBezTo>
                    <a:pt x="147843" y="41795"/>
                    <a:pt x="131052" y="25003"/>
                    <a:pt x="110338" y="25003"/>
                  </a:cubicBezTo>
                  <a:cubicBezTo>
                    <a:pt x="89625" y="25003"/>
                    <a:pt x="72834" y="41795"/>
                    <a:pt x="72834" y="62508"/>
                  </a:cubicBezTo>
                  <a:lnTo>
                    <a:pt x="72834" y="203150"/>
                  </a:lnTo>
                  <a:cubicBezTo>
                    <a:pt x="72834" y="207235"/>
                    <a:pt x="70838" y="211063"/>
                    <a:pt x="67489" y="213402"/>
                  </a:cubicBezTo>
                  <a:cubicBezTo>
                    <a:pt x="38271" y="233737"/>
                    <a:pt x="27370" y="271809"/>
                    <a:pt x="41399" y="304526"/>
                  </a:cubicBezTo>
                  <a:cubicBezTo>
                    <a:pt x="55427" y="337244"/>
                    <a:pt x="90519" y="355595"/>
                    <a:pt x="125393" y="348451"/>
                  </a:cubicBezTo>
                  <a:cubicBezTo>
                    <a:pt x="160267" y="341306"/>
                    <a:pt x="185316" y="310633"/>
                    <a:pt x="185348" y="275034"/>
                  </a:cubicBezTo>
                  <a:close/>
                </a:path>
              </a:pathLst>
            </a:custGeom>
            <a:solidFill>
              <a:srgbClr val="D1552C"/>
            </a:solidFill>
            <a:ln>
              <a:noFill/>
            </a:ln>
          </p:spPr>
        </p:sp>
      </p:grpSp>
      <p:sp>
        <p:nvSpPr>
          <p:cNvPr id="69" name="TextBox 69"/>
          <p:cNvSpPr txBox="1"/>
          <p:nvPr/>
        </p:nvSpPr>
        <p:spPr>
          <a:xfrm>
            <a:off x="3031808" y="3977164"/>
            <a:ext cx="808114"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Warming</a:t>
            </a:r>
          </a:p>
        </p:txBody>
      </p:sp>
      <p:sp>
        <p:nvSpPr>
          <p:cNvPr id="70" name="TextBox 70"/>
          <p:cNvSpPr txBox="1"/>
          <p:nvPr/>
        </p:nvSpPr>
        <p:spPr>
          <a:xfrm>
            <a:off x="3033712" y="4241006"/>
            <a:ext cx="1891808"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vs species range, 15 yr</a:t>
            </a:r>
          </a:p>
        </p:txBody>
      </p:sp>
      <p:grpSp>
        <p:nvGrpSpPr>
          <p:cNvPr id="73" name="Group 73"/>
          <p:cNvGrpSpPr/>
          <p:nvPr/>
        </p:nvGrpSpPr>
        <p:grpSpPr>
          <a:xfrm>
            <a:off x="4896119" y="4024853"/>
            <a:ext cx="361413" cy="280828"/>
            <a:chOff x="4896119" y="4024853"/>
            <a:chExt cx="361413" cy="280828"/>
          </a:xfrm>
        </p:grpSpPr>
        <p:sp>
          <p:nvSpPr>
            <p:cNvPr id="71" name="Freeform 71"/>
            <p:cNvSpPr/>
            <p:nvPr/>
          </p:nvSpPr>
          <p:spPr>
            <a:xfrm>
              <a:off x="4914305" y="4162425"/>
              <a:ext cx="325041" cy="125016"/>
            </a:xfrm>
            <a:custGeom>
              <a:avLst/>
              <a:gdLst/>
              <a:ahLst/>
              <a:cxnLst/>
              <a:rect l="l" t="t" r="r" b="b"/>
              <a:pathLst>
                <a:path w="325041" h="125016">
                  <a:moveTo>
                    <a:pt x="125016" y="62508"/>
                  </a:moveTo>
                  <a:cubicBezTo>
                    <a:pt x="125016" y="97030"/>
                    <a:pt x="97030" y="125016"/>
                    <a:pt x="62508" y="125016"/>
                  </a:cubicBezTo>
                  <a:cubicBezTo>
                    <a:pt x="27986" y="125016"/>
                    <a:pt x="0" y="97030"/>
                    <a:pt x="0" y="62508"/>
                  </a:cubicBezTo>
                  <a:cubicBezTo>
                    <a:pt x="0" y="27986"/>
                    <a:pt x="27986" y="0"/>
                    <a:pt x="62508" y="0"/>
                  </a:cubicBezTo>
                  <a:cubicBezTo>
                    <a:pt x="97030" y="0"/>
                    <a:pt x="125016" y="27986"/>
                    <a:pt x="125016" y="62508"/>
                  </a:cubicBezTo>
                  <a:close/>
                  <a:moveTo>
                    <a:pt x="262533" y="0"/>
                  </a:moveTo>
                  <a:cubicBezTo>
                    <a:pt x="228011" y="0"/>
                    <a:pt x="200025" y="27986"/>
                    <a:pt x="200025" y="62508"/>
                  </a:cubicBezTo>
                  <a:cubicBezTo>
                    <a:pt x="200025" y="97030"/>
                    <a:pt x="228011" y="125016"/>
                    <a:pt x="262533" y="125016"/>
                  </a:cubicBezTo>
                  <a:cubicBezTo>
                    <a:pt x="297055" y="125016"/>
                    <a:pt x="325041" y="97030"/>
                    <a:pt x="325041" y="62508"/>
                  </a:cubicBezTo>
                  <a:cubicBezTo>
                    <a:pt x="325041" y="27986"/>
                    <a:pt x="297055" y="0"/>
                    <a:pt x="262533" y="0"/>
                  </a:cubicBezTo>
                  <a:close/>
                </a:path>
              </a:pathLst>
            </a:custGeom>
            <a:solidFill>
              <a:srgbClr val="1F5F9E">
                <a:alpha val="20000"/>
              </a:srgbClr>
            </a:solidFill>
            <a:ln>
              <a:noFill/>
            </a:ln>
          </p:spPr>
        </p:sp>
        <p:sp>
          <p:nvSpPr>
            <p:cNvPr id="72" name="Freeform 72"/>
            <p:cNvSpPr/>
            <p:nvPr/>
          </p:nvSpPr>
          <p:spPr>
            <a:xfrm>
              <a:off x="4896119" y="4024853"/>
              <a:ext cx="361413" cy="280828"/>
            </a:xfrm>
            <a:custGeom>
              <a:avLst/>
              <a:gdLst/>
              <a:ahLst/>
              <a:cxnLst/>
              <a:rect l="l" t="t" r="r" b="b"/>
              <a:pathLst>
                <a:path w="361413" h="280828">
                  <a:moveTo>
                    <a:pt x="351352" y="174874"/>
                  </a:moveTo>
                  <a:lnTo>
                    <a:pt x="351352" y="174874"/>
                  </a:lnTo>
                  <a:cubicBezTo>
                    <a:pt x="350308" y="171960"/>
                    <a:pt x="349082" y="169116"/>
                    <a:pt x="347680" y="166357"/>
                  </a:cubicBezTo>
                  <a:lnTo>
                    <a:pt x="282687" y="18495"/>
                  </a:lnTo>
                  <a:cubicBezTo>
                    <a:pt x="282072" y="17071"/>
                    <a:pt x="281192" y="15777"/>
                    <a:pt x="280093" y="14682"/>
                  </a:cubicBezTo>
                  <a:cubicBezTo>
                    <a:pt x="270715" y="5301"/>
                    <a:pt x="257994" y="31"/>
                    <a:pt x="244729" y="31"/>
                  </a:cubicBezTo>
                  <a:cubicBezTo>
                    <a:pt x="231465" y="31"/>
                    <a:pt x="218744" y="5301"/>
                    <a:pt x="209365" y="14682"/>
                  </a:cubicBezTo>
                  <a:cubicBezTo>
                    <a:pt x="207029" y="17021"/>
                    <a:pt x="205714" y="20190"/>
                    <a:pt x="205709" y="23495"/>
                  </a:cubicBezTo>
                  <a:lnTo>
                    <a:pt x="205709" y="62563"/>
                  </a:lnTo>
                  <a:lnTo>
                    <a:pt x="155703" y="62563"/>
                  </a:lnTo>
                  <a:lnTo>
                    <a:pt x="155703" y="23495"/>
                  </a:lnTo>
                  <a:cubicBezTo>
                    <a:pt x="155705" y="20179"/>
                    <a:pt x="154390" y="16997"/>
                    <a:pt x="152046" y="14651"/>
                  </a:cubicBezTo>
                  <a:cubicBezTo>
                    <a:pt x="142667" y="5270"/>
                    <a:pt x="129946" y="0"/>
                    <a:pt x="116682" y="0"/>
                  </a:cubicBezTo>
                  <a:cubicBezTo>
                    <a:pt x="103418" y="0"/>
                    <a:pt x="90697" y="5270"/>
                    <a:pt x="81318" y="14651"/>
                  </a:cubicBezTo>
                  <a:cubicBezTo>
                    <a:pt x="80219" y="15745"/>
                    <a:pt x="79339" y="17039"/>
                    <a:pt x="78724" y="18464"/>
                  </a:cubicBezTo>
                  <a:lnTo>
                    <a:pt x="13732" y="166326"/>
                  </a:lnTo>
                  <a:cubicBezTo>
                    <a:pt x="12330" y="169085"/>
                    <a:pt x="11103" y="171929"/>
                    <a:pt x="10059" y="174842"/>
                  </a:cubicBezTo>
                  <a:lnTo>
                    <a:pt x="10059" y="174842"/>
                  </a:lnTo>
                  <a:cubicBezTo>
                    <a:pt x="0" y="202989"/>
                    <a:pt x="7611" y="234421"/>
                    <a:pt x="29432" y="254847"/>
                  </a:cubicBezTo>
                  <a:cubicBezTo>
                    <a:pt x="51253" y="275274"/>
                    <a:pt x="83119" y="280795"/>
                    <a:pt x="110540" y="268902"/>
                  </a:cubicBezTo>
                  <a:cubicBezTo>
                    <a:pt x="137962" y="257008"/>
                    <a:pt x="155705" y="229970"/>
                    <a:pt x="155703" y="200080"/>
                  </a:cubicBezTo>
                  <a:lnTo>
                    <a:pt x="155703" y="87566"/>
                  </a:lnTo>
                  <a:lnTo>
                    <a:pt x="205709" y="87566"/>
                  </a:lnTo>
                  <a:lnTo>
                    <a:pt x="205709" y="200080"/>
                  </a:lnTo>
                  <a:cubicBezTo>
                    <a:pt x="205694" y="229973"/>
                    <a:pt x="223430" y="257022"/>
                    <a:pt x="250852" y="268925"/>
                  </a:cubicBezTo>
                  <a:cubicBezTo>
                    <a:pt x="278273" y="280828"/>
                    <a:pt x="310145" y="275312"/>
                    <a:pt x="331971" y="254886"/>
                  </a:cubicBezTo>
                  <a:cubicBezTo>
                    <a:pt x="353798" y="234460"/>
                    <a:pt x="361413" y="203023"/>
                    <a:pt x="351352" y="174874"/>
                  </a:cubicBezTo>
                  <a:close/>
                  <a:moveTo>
                    <a:pt x="100555" y="30918"/>
                  </a:moveTo>
                  <a:cubicBezTo>
                    <a:pt x="109120" y="23707"/>
                    <a:pt x="121435" y="23068"/>
                    <a:pt x="130699" y="29355"/>
                  </a:cubicBezTo>
                  <a:lnTo>
                    <a:pt x="130699" y="144229"/>
                  </a:lnTo>
                  <a:cubicBezTo>
                    <a:pt x="110835" y="126392"/>
                    <a:pt x="82974" y="120486"/>
                    <a:pt x="57581" y="128727"/>
                  </a:cubicBezTo>
                  <a:close/>
                  <a:moveTo>
                    <a:pt x="80693" y="250086"/>
                  </a:moveTo>
                  <a:cubicBezTo>
                    <a:pt x="53075" y="250086"/>
                    <a:pt x="30687" y="227698"/>
                    <a:pt x="30687" y="200080"/>
                  </a:cubicBezTo>
                  <a:cubicBezTo>
                    <a:pt x="30687" y="172462"/>
                    <a:pt x="53075" y="150074"/>
                    <a:pt x="80693" y="150074"/>
                  </a:cubicBezTo>
                  <a:cubicBezTo>
                    <a:pt x="108311" y="150074"/>
                    <a:pt x="130699" y="172462"/>
                    <a:pt x="130699" y="200080"/>
                  </a:cubicBezTo>
                  <a:cubicBezTo>
                    <a:pt x="130699" y="227698"/>
                    <a:pt x="108311" y="250086"/>
                    <a:pt x="80693" y="250086"/>
                  </a:cubicBezTo>
                  <a:close/>
                  <a:moveTo>
                    <a:pt x="230712" y="29340"/>
                  </a:moveTo>
                  <a:cubicBezTo>
                    <a:pt x="239976" y="23053"/>
                    <a:pt x="252291" y="23691"/>
                    <a:pt x="260856" y="30903"/>
                  </a:cubicBezTo>
                  <a:lnTo>
                    <a:pt x="303830" y="128696"/>
                  </a:lnTo>
                  <a:cubicBezTo>
                    <a:pt x="278434" y="120458"/>
                    <a:pt x="250573" y="126371"/>
                    <a:pt x="230712" y="144214"/>
                  </a:cubicBezTo>
                  <a:close/>
                  <a:moveTo>
                    <a:pt x="280718" y="250086"/>
                  </a:moveTo>
                  <a:cubicBezTo>
                    <a:pt x="253100" y="250086"/>
                    <a:pt x="230712" y="227698"/>
                    <a:pt x="230712" y="200080"/>
                  </a:cubicBezTo>
                  <a:cubicBezTo>
                    <a:pt x="230712" y="172462"/>
                    <a:pt x="253100" y="150074"/>
                    <a:pt x="280718" y="150074"/>
                  </a:cubicBezTo>
                  <a:cubicBezTo>
                    <a:pt x="308336" y="150074"/>
                    <a:pt x="330724" y="172462"/>
                    <a:pt x="330724" y="200080"/>
                  </a:cubicBezTo>
                  <a:cubicBezTo>
                    <a:pt x="330724" y="227698"/>
                    <a:pt x="308336" y="250086"/>
                    <a:pt x="280718" y="250086"/>
                  </a:cubicBezTo>
                  <a:close/>
                </a:path>
              </a:pathLst>
            </a:custGeom>
            <a:solidFill>
              <a:srgbClr val="1F5F9E"/>
            </a:solidFill>
            <a:ln>
              <a:noFill/>
            </a:ln>
          </p:spPr>
        </p:sp>
      </p:grpSp>
      <p:sp>
        <p:nvSpPr>
          <p:cNvPr id="74" name="TextBox 74"/>
          <p:cNvSpPr txBox="1"/>
          <p:nvPr/>
        </p:nvSpPr>
        <p:spPr>
          <a:xfrm>
            <a:off x="5355908" y="3977164"/>
            <a:ext cx="1421986"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Survey effort</a:t>
            </a:r>
          </a:p>
        </p:txBody>
      </p:sp>
      <p:sp>
        <p:nvSpPr>
          <p:cNvPr id="75" name="TextBox 75"/>
          <p:cNvSpPr txBox="1"/>
          <p:nvPr/>
        </p:nvSpPr>
        <p:spPr>
          <a:xfrm>
            <a:off x="5357812" y="4241006"/>
            <a:ext cx="1093280"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birding visits</a:t>
            </a:r>
          </a:p>
        </p:txBody>
      </p:sp>
      <p:sp>
        <p:nvSpPr>
          <p:cNvPr id="76" name="Line 76"/>
          <p:cNvSpPr/>
          <p:nvPr/>
        </p:nvSpPr>
        <p:spPr>
          <a:xfrm>
            <a:off x="4705350" y="3848100"/>
            <a:ext cx="9525" cy="647700"/>
          </a:xfrm>
          <a:custGeom>
            <a:avLst/>
            <a:gdLst/>
            <a:ahLst/>
            <a:cxnLst/>
            <a:rect l="l" t="t" r="r" b="b"/>
            <a:pathLst>
              <a:path w="9525" h="647700">
                <a:moveTo>
                  <a:pt x="0" y="0"/>
                </a:moveTo>
                <a:lnTo>
                  <a:pt x="0" y="647700"/>
                </a:lnTo>
              </a:path>
            </a:pathLst>
          </a:custGeom>
          <a:noFill/>
          <a:ln w="9525">
            <a:solidFill>
              <a:srgbClr val="E8CDD1"/>
            </a:solidFill>
          </a:ln>
        </p:spPr>
      </p:sp>
      <p:grpSp>
        <p:nvGrpSpPr>
          <p:cNvPr id="79" name="Group 79"/>
          <p:cNvGrpSpPr/>
          <p:nvPr/>
        </p:nvGrpSpPr>
        <p:grpSpPr>
          <a:xfrm>
            <a:off x="7224373" y="3989200"/>
            <a:ext cx="353104" cy="346450"/>
            <a:chOff x="7224373" y="3989200"/>
            <a:chExt cx="353104" cy="346450"/>
          </a:xfrm>
        </p:grpSpPr>
        <p:sp>
          <p:nvSpPr>
            <p:cNvPr id="77" name="Freeform 77"/>
            <p:cNvSpPr/>
            <p:nvPr/>
          </p:nvSpPr>
          <p:spPr>
            <a:xfrm>
              <a:off x="7238405" y="3989200"/>
              <a:ext cx="325041" cy="346450"/>
            </a:xfrm>
            <a:custGeom>
              <a:avLst/>
              <a:gdLst/>
              <a:ahLst/>
              <a:cxnLst/>
              <a:rect l="l" t="t" r="r" b="b"/>
              <a:pathLst>
                <a:path w="325041" h="346450">
                  <a:moveTo>
                    <a:pt x="325041" y="173225"/>
                  </a:moveTo>
                  <a:cubicBezTo>
                    <a:pt x="243780" y="346450"/>
                    <a:pt x="203150" y="259845"/>
                    <a:pt x="162520" y="173225"/>
                  </a:cubicBezTo>
                  <a:close/>
                  <a:moveTo>
                    <a:pt x="0" y="173225"/>
                  </a:moveTo>
                  <a:lnTo>
                    <a:pt x="162520" y="173225"/>
                  </a:lnTo>
                  <a:cubicBezTo>
                    <a:pt x="121890" y="86605"/>
                    <a:pt x="81260" y="0"/>
                    <a:pt x="0" y="173225"/>
                  </a:cubicBezTo>
                  <a:close/>
                </a:path>
              </a:pathLst>
            </a:custGeom>
            <a:solidFill>
              <a:srgbClr val="6B6B6B">
                <a:alpha val="20000"/>
              </a:srgbClr>
            </a:solidFill>
            <a:ln>
              <a:noFill/>
            </a:ln>
          </p:spPr>
        </p:sp>
        <p:sp>
          <p:nvSpPr>
            <p:cNvPr id="78" name="Freeform 78"/>
            <p:cNvSpPr/>
            <p:nvPr/>
          </p:nvSpPr>
          <p:spPr>
            <a:xfrm>
              <a:off x="7224373" y="4049911"/>
              <a:ext cx="353104" cy="225028"/>
            </a:xfrm>
            <a:custGeom>
              <a:avLst/>
              <a:gdLst/>
              <a:ahLst/>
              <a:cxnLst/>
              <a:rect l="l" t="t" r="r" b="b"/>
              <a:pathLst>
                <a:path w="353104" h="225028">
                  <a:moveTo>
                    <a:pt x="350386" y="117827"/>
                  </a:moveTo>
                  <a:cubicBezTo>
                    <a:pt x="316007" y="190961"/>
                    <a:pt x="285691" y="225028"/>
                    <a:pt x="254749" y="225028"/>
                  </a:cubicBezTo>
                  <a:cubicBezTo>
                    <a:pt x="215526" y="225028"/>
                    <a:pt x="191101" y="172959"/>
                    <a:pt x="165238" y="117827"/>
                  </a:cubicBezTo>
                  <a:cubicBezTo>
                    <a:pt x="144829" y="74322"/>
                    <a:pt x="121701" y="25003"/>
                    <a:pt x="98417" y="25003"/>
                  </a:cubicBezTo>
                  <a:cubicBezTo>
                    <a:pt x="72789" y="25003"/>
                    <a:pt x="41676" y="83151"/>
                    <a:pt x="25408" y="117827"/>
                  </a:cubicBezTo>
                  <a:cubicBezTo>
                    <a:pt x="22397" y="123939"/>
                    <a:pt x="15047" y="126514"/>
                    <a:pt x="8879" y="123618"/>
                  </a:cubicBezTo>
                  <a:cubicBezTo>
                    <a:pt x="2712" y="120722"/>
                    <a:pt x="0" y="113421"/>
                    <a:pt x="2780" y="107201"/>
                  </a:cubicBezTo>
                  <a:cubicBezTo>
                    <a:pt x="37019" y="34067"/>
                    <a:pt x="67413" y="0"/>
                    <a:pt x="98417" y="0"/>
                  </a:cubicBezTo>
                  <a:cubicBezTo>
                    <a:pt x="137641" y="0"/>
                    <a:pt x="162066" y="52069"/>
                    <a:pt x="187928" y="107201"/>
                  </a:cubicBezTo>
                  <a:cubicBezTo>
                    <a:pt x="208275" y="150706"/>
                    <a:pt x="231403" y="200025"/>
                    <a:pt x="254687" y="200025"/>
                  </a:cubicBezTo>
                  <a:cubicBezTo>
                    <a:pt x="280315" y="200025"/>
                    <a:pt x="311428" y="141877"/>
                    <a:pt x="327696" y="107201"/>
                  </a:cubicBezTo>
                  <a:cubicBezTo>
                    <a:pt x="330707" y="101089"/>
                    <a:pt x="338057" y="98514"/>
                    <a:pt x="344224" y="101410"/>
                  </a:cubicBezTo>
                  <a:cubicBezTo>
                    <a:pt x="350392" y="104306"/>
                    <a:pt x="353104" y="111607"/>
                    <a:pt x="350324" y="117827"/>
                  </a:cubicBezTo>
                  <a:close/>
                </a:path>
              </a:pathLst>
            </a:custGeom>
            <a:solidFill>
              <a:srgbClr val="6B6B6B"/>
            </a:solidFill>
            <a:ln>
              <a:noFill/>
            </a:ln>
          </p:spPr>
        </p:sp>
      </p:grpSp>
      <p:sp>
        <p:nvSpPr>
          <p:cNvPr id="80" name="TextBox 80"/>
          <p:cNvSpPr txBox="1"/>
          <p:nvPr/>
        </p:nvSpPr>
        <p:spPr>
          <a:xfrm>
            <a:off x="7680008" y="3977164"/>
            <a:ext cx="1027213"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Variability</a:t>
            </a:r>
          </a:p>
        </p:txBody>
      </p:sp>
      <p:sp>
        <p:nvSpPr>
          <p:cNvPr id="81" name="TextBox 81"/>
          <p:cNvSpPr txBox="1"/>
          <p:nvPr/>
        </p:nvSpPr>
        <p:spPr>
          <a:xfrm>
            <a:off x="7681912" y="4241006"/>
            <a:ext cx="1185291"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annual anomaly</a:t>
            </a:r>
          </a:p>
        </p:txBody>
      </p:sp>
      <p:sp>
        <p:nvSpPr>
          <p:cNvPr id="82" name="Line 82"/>
          <p:cNvSpPr/>
          <p:nvPr/>
        </p:nvSpPr>
        <p:spPr>
          <a:xfrm>
            <a:off x="7029450" y="3848100"/>
            <a:ext cx="9525" cy="647700"/>
          </a:xfrm>
          <a:custGeom>
            <a:avLst/>
            <a:gdLst/>
            <a:ahLst/>
            <a:cxnLst/>
            <a:rect l="l" t="t" r="r" b="b"/>
            <a:pathLst>
              <a:path w="9525" h="647700">
                <a:moveTo>
                  <a:pt x="0" y="0"/>
                </a:moveTo>
                <a:lnTo>
                  <a:pt x="0" y="647700"/>
                </a:lnTo>
              </a:path>
            </a:pathLst>
          </a:custGeom>
          <a:noFill/>
          <a:ln w="9525">
            <a:solidFill>
              <a:srgbClr val="E8CDD1"/>
            </a:solidFill>
          </a:ln>
        </p:spPr>
      </p:sp>
      <p:grpSp>
        <p:nvGrpSpPr>
          <p:cNvPr id="85" name="Group 85"/>
          <p:cNvGrpSpPr/>
          <p:nvPr/>
        </p:nvGrpSpPr>
        <p:grpSpPr>
          <a:xfrm>
            <a:off x="9612511" y="3999905"/>
            <a:ext cx="225028" cy="325041"/>
            <a:chOff x="9612511" y="3999905"/>
            <a:chExt cx="225028" cy="325041"/>
          </a:xfrm>
        </p:grpSpPr>
        <p:sp>
          <p:nvSpPr>
            <p:cNvPr id="83" name="Freeform 83"/>
            <p:cNvSpPr/>
            <p:nvPr/>
          </p:nvSpPr>
          <p:spPr>
            <a:xfrm>
              <a:off x="9641686" y="4099917"/>
              <a:ext cx="166036" cy="62508"/>
            </a:xfrm>
            <a:custGeom>
              <a:avLst/>
              <a:gdLst/>
              <a:ahLst/>
              <a:cxnLst/>
              <a:rect l="l" t="t" r="r" b="b"/>
              <a:pathLst>
                <a:path w="166036" h="62508">
                  <a:moveTo>
                    <a:pt x="166036" y="0"/>
                  </a:moveTo>
                  <a:lnTo>
                    <a:pt x="83339" y="62508"/>
                  </a:lnTo>
                  <a:lnTo>
                    <a:pt x="0" y="0"/>
                  </a:lnTo>
                  <a:close/>
                </a:path>
              </a:pathLst>
            </a:custGeom>
            <a:solidFill>
              <a:srgbClr val="8B0012">
                <a:alpha val="20000"/>
              </a:srgbClr>
            </a:solidFill>
            <a:ln>
              <a:noFill/>
            </a:ln>
          </p:spPr>
        </p:sp>
        <p:sp>
          <p:nvSpPr>
            <p:cNvPr id="84" name="Freeform 84"/>
            <p:cNvSpPr/>
            <p:nvPr/>
          </p:nvSpPr>
          <p:spPr>
            <a:xfrm>
              <a:off x="9612511" y="3999905"/>
              <a:ext cx="225028" cy="325041"/>
            </a:xfrm>
            <a:custGeom>
              <a:avLst/>
              <a:gdLst/>
              <a:ahLst/>
              <a:cxnLst/>
              <a:rect l="l" t="t" r="r" b="b"/>
              <a:pathLst>
                <a:path w="225028" h="325041">
                  <a:moveTo>
                    <a:pt x="225028" y="80698"/>
                  </a:moveTo>
                  <a:lnTo>
                    <a:pt x="225028" y="25003"/>
                  </a:lnTo>
                  <a:cubicBezTo>
                    <a:pt x="225028" y="11194"/>
                    <a:pt x="213834" y="0"/>
                    <a:pt x="200025" y="0"/>
                  </a:cubicBezTo>
                  <a:lnTo>
                    <a:pt x="25003" y="0"/>
                  </a:lnTo>
                  <a:cubicBezTo>
                    <a:pt x="11194" y="0"/>
                    <a:pt x="0" y="11194"/>
                    <a:pt x="0" y="25003"/>
                  </a:cubicBezTo>
                  <a:lnTo>
                    <a:pt x="0" y="81260"/>
                  </a:lnTo>
                  <a:cubicBezTo>
                    <a:pt x="17" y="89126"/>
                    <a:pt x="3719" y="96529"/>
                    <a:pt x="10001" y="101263"/>
                  </a:cubicBezTo>
                  <a:lnTo>
                    <a:pt x="91683" y="162520"/>
                  </a:lnTo>
                  <a:lnTo>
                    <a:pt x="10001" y="223778"/>
                  </a:lnTo>
                  <a:cubicBezTo>
                    <a:pt x="3719" y="228511"/>
                    <a:pt x="17" y="235915"/>
                    <a:pt x="0" y="243780"/>
                  </a:cubicBezTo>
                  <a:lnTo>
                    <a:pt x="0" y="300038"/>
                  </a:lnTo>
                  <a:cubicBezTo>
                    <a:pt x="0" y="313846"/>
                    <a:pt x="11194" y="325041"/>
                    <a:pt x="25003" y="325041"/>
                  </a:cubicBezTo>
                  <a:lnTo>
                    <a:pt x="200025" y="325041"/>
                  </a:lnTo>
                  <a:cubicBezTo>
                    <a:pt x="213834" y="325041"/>
                    <a:pt x="225028" y="313846"/>
                    <a:pt x="225028" y="300038"/>
                  </a:cubicBezTo>
                  <a:lnTo>
                    <a:pt x="225028" y="244343"/>
                  </a:lnTo>
                  <a:cubicBezTo>
                    <a:pt x="225010" y="236508"/>
                    <a:pt x="221341" y="229130"/>
                    <a:pt x="215105" y="224387"/>
                  </a:cubicBezTo>
                  <a:lnTo>
                    <a:pt x="133251" y="162520"/>
                  </a:lnTo>
                  <a:lnTo>
                    <a:pt x="215105" y="100653"/>
                  </a:lnTo>
                  <a:cubicBezTo>
                    <a:pt x="221341" y="95911"/>
                    <a:pt x="225010" y="88532"/>
                    <a:pt x="225028" y="80698"/>
                  </a:cubicBezTo>
                  <a:close/>
                  <a:moveTo>
                    <a:pt x="25003" y="25003"/>
                  </a:moveTo>
                  <a:lnTo>
                    <a:pt x="200025" y="25003"/>
                  </a:lnTo>
                  <a:lnTo>
                    <a:pt x="200025" y="80698"/>
                  </a:lnTo>
                  <a:lnTo>
                    <a:pt x="191008" y="87511"/>
                  </a:lnTo>
                  <a:lnTo>
                    <a:pt x="33332" y="87511"/>
                  </a:lnTo>
                  <a:lnTo>
                    <a:pt x="25003" y="81260"/>
                  </a:lnTo>
                  <a:close/>
                  <a:moveTo>
                    <a:pt x="112514" y="146893"/>
                  </a:moveTo>
                  <a:lnTo>
                    <a:pt x="66680" y="112514"/>
                  </a:lnTo>
                  <a:lnTo>
                    <a:pt x="157942" y="112514"/>
                  </a:lnTo>
                  <a:close/>
                  <a:moveTo>
                    <a:pt x="200025" y="300038"/>
                  </a:moveTo>
                  <a:lnTo>
                    <a:pt x="25003" y="300038"/>
                  </a:lnTo>
                  <a:lnTo>
                    <a:pt x="25003" y="243780"/>
                  </a:lnTo>
                  <a:lnTo>
                    <a:pt x="100012" y="187523"/>
                  </a:lnTo>
                  <a:lnTo>
                    <a:pt x="100012" y="225028"/>
                  </a:lnTo>
                  <a:cubicBezTo>
                    <a:pt x="100012" y="231933"/>
                    <a:pt x="105610" y="237530"/>
                    <a:pt x="112514" y="237530"/>
                  </a:cubicBezTo>
                  <a:cubicBezTo>
                    <a:pt x="119418" y="237530"/>
                    <a:pt x="125016" y="231933"/>
                    <a:pt x="125016" y="225028"/>
                  </a:cubicBezTo>
                  <a:lnTo>
                    <a:pt x="125016" y="187648"/>
                  </a:lnTo>
                  <a:lnTo>
                    <a:pt x="200025" y="244343"/>
                  </a:lnTo>
                  <a:close/>
                </a:path>
              </a:pathLst>
            </a:custGeom>
            <a:solidFill>
              <a:srgbClr val="8B0012"/>
            </a:solidFill>
            <a:ln>
              <a:noFill/>
            </a:ln>
          </p:spPr>
        </p:sp>
      </p:grpSp>
      <p:sp>
        <p:nvSpPr>
          <p:cNvPr id="86" name="TextBox 86"/>
          <p:cNvSpPr txBox="1"/>
          <p:nvPr/>
        </p:nvSpPr>
        <p:spPr>
          <a:xfrm>
            <a:off x="10004108" y="3977164"/>
            <a:ext cx="1303555"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Completeness</a:t>
            </a:r>
          </a:p>
        </p:txBody>
      </p:sp>
      <p:sp>
        <p:nvSpPr>
          <p:cNvPr id="87" name="TextBox 87"/>
          <p:cNvSpPr txBox="1"/>
          <p:nvPr/>
        </p:nvSpPr>
        <p:spPr>
          <a:xfrm>
            <a:off x="10006012" y="4241006"/>
            <a:ext cx="1743932"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offset, recent years</a:t>
            </a:r>
          </a:p>
        </p:txBody>
      </p:sp>
      <p:sp>
        <p:nvSpPr>
          <p:cNvPr id="88" name="Line 88"/>
          <p:cNvSpPr/>
          <p:nvPr/>
        </p:nvSpPr>
        <p:spPr>
          <a:xfrm>
            <a:off x="9353550" y="3848100"/>
            <a:ext cx="9525" cy="647700"/>
          </a:xfrm>
          <a:custGeom>
            <a:avLst/>
            <a:gdLst/>
            <a:ahLst/>
            <a:cxnLst/>
            <a:rect l="l" t="t" r="r" b="b"/>
            <a:pathLst>
              <a:path w="9525" h="647700">
                <a:moveTo>
                  <a:pt x="0" y="0"/>
                </a:moveTo>
                <a:lnTo>
                  <a:pt x="0" y="647700"/>
                </a:lnTo>
              </a:path>
            </a:pathLst>
          </a:custGeom>
          <a:noFill/>
          <a:ln w="9525">
            <a:solidFill>
              <a:srgbClr val="E8CDD1"/>
            </a:solidFill>
          </a:ln>
        </p:spPr>
      </p:sp>
      <p:sp>
        <p:nvSpPr>
          <p:cNvPr id="89" name="Rectangle 89"/>
          <p:cNvSpPr/>
          <p:nvPr/>
        </p:nvSpPr>
        <p:spPr>
          <a:xfrm>
            <a:off x="514350" y="4800600"/>
            <a:ext cx="1866900" cy="1028700"/>
          </a:xfrm>
          <a:prstGeom prst="roundRect">
            <a:avLst>
              <a:gd name="adj" fmla="val 9259"/>
            </a:avLst>
          </a:prstGeom>
          <a:solidFill>
            <a:srgbClr val="8B0012"/>
          </a:solidFill>
          <a:ln>
            <a:noFill/>
          </a:ln>
        </p:spPr>
      </p:sp>
      <p:sp>
        <p:nvSpPr>
          <p:cNvPr id="90" name="TextBox 90"/>
          <p:cNvSpPr txBox="1"/>
          <p:nvPr/>
        </p:nvSpPr>
        <p:spPr>
          <a:xfrm>
            <a:off x="714375" y="5033962"/>
            <a:ext cx="248731"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4</a:t>
            </a:r>
          </a:p>
        </p:txBody>
      </p:sp>
      <p:sp>
        <p:nvSpPr>
          <p:cNvPr id="91" name="TextBox 91"/>
          <p:cNvSpPr txBox="1"/>
          <p:nvPr/>
        </p:nvSpPr>
        <p:spPr>
          <a:xfrm>
            <a:off x="1027748" y="5097304"/>
            <a:ext cx="995820"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Analysis</a:t>
            </a:r>
          </a:p>
        </p:txBody>
      </p:sp>
      <p:sp>
        <p:nvSpPr>
          <p:cNvPr id="92" name="Rectangle 92"/>
          <p:cNvSpPr/>
          <p:nvPr/>
        </p:nvSpPr>
        <p:spPr>
          <a:xfrm>
            <a:off x="2381250" y="4800600"/>
            <a:ext cx="9296400" cy="1028700"/>
          </a:xfrm>
          <a:prstGeom prst="roundRect">
            <a:avLst>
              <a:gd name="adj" fmla="val 9259"/>
            </a:avLst>
          </a:prstGeom>
          <a:solidFill>
            <a:srgbClr val="F8F2F3"/>
          </a:solidFill>
          <a:ln>
            <a:noFill/>
          </a:ln>
        </p:spPr>
      </p:sp>
      <p:sp>
        <p:nvSpPr>
          <p:cNvPr id="93" name="Rectangle 93"/>
          <p:cNvSpPr/>
          <p:nvPr/>
        </p:nvSpPr>
        <p:spPr>
          <a:xfrm>
            <a:off x="2305050" y="4800600"/>
            <a:ext cx="152400" cy="1028700"/>
          </a:xfrm>
          <a:prstGeom prst="rect">
            <a:avLst/>
          </a:prstGeom>
          <a:solidFill>
            <a:srgbClr val="8B0012"/>
          </a:solidFill>
          <a:ln>
            <a:noFill/>
          </a:ln>
        </p:spPr>
      </p:sp>
      <p:grpSp>
        <p:nvGrpSpPr>
          <p:cNvPr id="96" name="Group 96"/>
          <p:cNvGrpSpPr/>
          <p:nvPr/>
        </p:nvGrpSpPr>
        <p:grpSpPr>
          <a:xfrm>
            <a:off x="2627709" y="5155379"/>
            <a:ext cx="250031" cy="300092"/>
            <a:chOff x="2627709" y="5155379"/>
            <a:chExt cx="250031" cy="300092"/>
          </a:xfrm>
        </p:grpSpPr>
        <p:sp>
          <p:nvSpPr>
            <p:cNvPr id="94" name="Freeform 94"/>
            <p:cNvSpPr/>
            <p:nvPr/>
          </p:nvSpPr>
          <p:spPr>
            <a:xfrm>
              <a:off x="2665214" y="5167908"/>
              <a:ext cx="175022" cy="275034"/>
            </a:xfrm>
            <a:custGeom>
              <a:avLst/>
              <a:gdLst/>
              <a:ahLst/>
              <a:cxnLst/>
              <a:rect l="l" t="t" r="r" b="b"/>
              <a:pathLst>
                <a:path w="175022" h="275034">
                  <a:moveTo>
                    <a:pt x="175022" y="12502"/>
                  </a:moveTo>
                  <a:lnTo>
                    <a:pt x="175022" y="262533"/>
                  </a:lnTo>
                  <a:cubicBezTo>
                    <a:pt x="175022" y="269437"/>
                    <a:pt x="169425" y="275034"/>
                    <a:pt x="162520" y="275034"/>
                  </a:cubicBezTo>
                  <a:lnTo>
                    <a:pt x="12502" y="275034"/>
                  </a:lnTo>
                  <a:cubicBezTo>
                    <a:pt x="5597" y="275034"/>
                    <a:pt x="0" y="269437"/>
                    <a:pt x="0" y="262533"/>
                  </a:cubicBezTo>
                  <a:lnTo>
                    <a:pt x="0" y="12502"/>
                  </a:lnTo>
                  <a:cubicBezTo>
                    <a:pt x="0" y="5597"/>
                    <a:pt x="5597" y="0"/>
                    <a:pt x="12502" y="0"/>
                  </a:cubicBezTo>
                  <a:lnTo>
                    <a:pt x="162520" y="0"/>
                  </a:lnTo>
                  <a:cubicBezTo>
                    <a:pt x="169425" y="0"/>
                    <a:pt x="175022" y="5597"/>
                    <a:pt x="175022" y="12502"/>
                  </a:cubicBezTo>
                  <a:close/>
                </a:path>
              </a:pathLst>
            </a:custGeom>
            <a:solidFill>
              <a:srgbClr val="8B0012">
                <a:alpha val="20000"/>
              </a:srgbClr>
            </a:solidFill>
            <a:ln>
              <a:noFill/>
            </a:ln>
          </p:spPr>
        </p:sp>
        <p:sp>
          <p:nvSpPr>
            <p:cNvPr id="95" name="Freeform 95"/>
            <p:cNvSpPr/>
            <p:nvPr/>
          </p:nvSpPr>
          <p:spPr>
            <a:xfrm>
              <a:off x="2627709" y="5155379"/>
              <a:ext cx="250031" cy="300092"/>
            </a:xfrm>
            <a:custGeom>
              <a:avLst/>
              <a:gdLst/>
              <a:ahLst/>
              <a:cxnLst/>
              <a:rect l="l" t="t" r="r" b="b"/>
              <a:pathLst>
                <a:path w="250031" h="300092">
                  <a:moveTo>
                    <a:pt x="250031" y="12529"/>
                  </a:moveTo>
                  <a:cubicBezTo>
                    <a:pt x="250031" y="19433"/>
                    <a:pt x="244434" y="25030"/>
                    <a:pt x="237530" y="25030"/>
                  </a:cubicBezTo>
                  <a:lnTo>
                    <a:pt x="191758" y="25030"/>
                  </a:lnTo>
                  <a:cubicBezTo>
                    <a:pt x="173627" y="25025"/>
                    <a:pt x="158088" y="37992"/>
                    <a:pt x="154847" y="55831"/>
                  </a:cubicBezTo>
                  <a:lnTo>
                    <a:pt x="140002" y="137544"/>
                  </a:lnTo>
                  <a:lnTo>
                    <a:pt x="212527" y="137544"/>
                  </a:lnTo>
                  <a:cubicBezTo>
                    <a:pt x="219431" y="137544"/>
                    <a:pt x="225028" y="143142"/>
                    <a:pt x="225028" y="150046"/>
                  </a:cubicBezTo>
                  <a:cubicBezTo>
                    <a:pt x="225028" y="156950"/>
                    <a:pt x="219431" y="162548"/>
                    <a:pt x="212527" y="162548"/>
                  </a:cubicBezTo>
                  <a:lnTo>
                    <a:pt x="135454" y="162548"/>
                  </a:lnTo>
                  <a:lnTo>
                    <a:pt x="119827" y="248746"/>
                  </a:lnTo>
                  <a:cubicBezTo>
                    <a:pt x="114417" y="278485"/>
                    <a:pt x="88501" y="300092"/>
                    <a:pt x="58273" y="300065"/>
                  </a:cubicBezTo>
                  <a:lnTo>
                    <a:pt x="12502" y="300065"/>
                  </a:lnTo>
                  <a:cubicBezTo>
                    <a:pt x="5597" y="300065"/>
                    <a:pt x="0" y="294468"/>
                    <a:pt x="0" y="287563"/>
                  </a:cubicBezTo>
                  <a:cubicBezTo>
                    <a:pt x="0" y="280659"/>
                    <a:pt x="5597" y="275062"/>
                    <a:pt x="12502" y="275062"/>
                  </a:cubicBezTo>
                  <a:lnTo>
                    <a:pt x="58273" y="275062"/>
                  </a:lnTo>
                  <a:cubicBezTo>
                    <a:pt x="76404" y="275067"/>
                    <a:pt x="91943" y="262100"/>
                    <a:pt x="95184" y="244261"/>
                  </a:cubicBezTo>
                  <a:lnTo>
                    <a:pt x="110029" y="162548"/>
                  </a:lnTo>
                  <a:lnTo>
                    <a:pt x="37505" y="162548"/>
                  </a:lnTo>
                  <a:cubicBezTo>
                    <a:pt x="30600" y="162548"/>
                    <a:pt x="25003" y="156950"/>
                    <a:pt x="25003" y="150046"/>
                  </a:cubicBezTo>
                  <a:cubicBezTo>
                    <a:pt x="25003" y="143142"/>
                    <a:pt x="30600" y="137544"/>
                    <a:pt x="37505" y="137544"/>
                  </a:cubicBezTo>
                  <a:lnTo>
                    <a:pt x="114577" y="137544"/>
                  </a:lnTo>
                  <a:lnTo>
                    <a:pt x="130204" y="51346"/>
                  </a:lnTo>
                  <a:cubicBezTo>
                    <a:pt x="135615" y="21607"/>
                    <a:pt x="161531" y="0"/>
                    <a:pt x="191758" y="27"/>
                  </a:cubicBezTo>
                  <a:lnTo>
                    <a:pt x="237530" y="27"/>
                  </a:lnTo>
                  <a:cubicBezTo>
                    <a:pt x="244434" y="27"/>
                    <a:pt x="250031" y="5624"/>
                    <a:pt x="250031" y="12529"/>
                  </a:cubicBezTo>
                  <a:close/>
                </a:path>
              </a:pathLst>
            </a:custGeom>
            <a:solidFill>
              <a:srgbClr val="8B0012"/>
            </a:solidFill>
            <a:ln>
              <a:noFill/>
            </a:ln>
          </p:spPr>
        </p:sp>
      </p:grpSp>
      <p:sp>
        <p:nvSpPr>
          <p:cNvPr id="97" name="TextBox 97"/>
          <p:cNvSpPr txBox="1"/>
          <p:nvPr/>
        </p:nvSpPr>
        <p:spPr>
          <a:xfrm>
            <a:off x="3031808" y="5120164"/>
            <a:ext cx="1315398"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Hazard GLMM</a:t>
            </a:r>
          </a:p>
        </p:txBody>
      </p:sp>
      <p:sp>
        <p:nvSpPr>
          <p:cNvPr id="98" name="TextBox 98"/>
          <p:cNvSpPr txBox="1"/>
          <p:nvPr/>
        </p:nvSpPr>
        <p:spPr>
          <a:xfrm>
            <a:off x="3033712" y="5384006"/>
            <a:ext cx="909256"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cloglog link</a:t>
            </a:r>
          </a:p>
        </p:txBody>
      </p:sp>
      <p:grpSp>
        <p:nvGrpSpPr>
          <p:cNvPr id="101" name="Group 101"/>
          <p:cNvGrpSpPr/>
          <p:nvPr/>
        </p:nvGrpSpPr>
        <p:grpSpPr>
          <a:xfrm>
            <a:off x="4926806" y="5167908"/>
            <a:ext cx="300038" cy="312965"/>
            <a:chOff x="4926806" y="5167908"/>
            <a:chExt cx="300038" cy="312965"/>
          </a:xfrm>
        </p:grpSpPr>
        <p:sp>
          <p:nvSpPr>
            <p:cNvPr id="99" name="Freeform 99"/>
            <p:cNvSpPr/>
            <p:nvPr/>
          </p:nvSpPr>
          <p:spPr>
            <a:xfrm>
              <a:off x="4939308" y="5180409"/>
              <a:ext cx="275034" cy="287724"/>
            </a:xfrm>
            <a:custGeom>
              <a:avLst/>
              <a:gdLst/>
              <a:ahLst/>
              <a:cxnLst/>
              <a:rect l="l" t="t" r="r" b="b"/>
              <a:pathLst>
                <a:path w="275034" h="287724">
                  <a:moveTo>
                    <a:pt x="275034" y="12502"/>
                  </a:moveTo>
                  <a:lnTo>
                    <a:pt x="275034" y="104341"/>
                  </a:lnTo>
                  <a:cubicBezTo>
                    <a:pt x="275034" y="235889"/>
                    <a:pt x="163599" y="279472"/>
                    <a:pt x="141361" y="286864"/>
                  </a:cubicBezTo>
                  <a:cubicBezTo>
                    <a:pt x="138871" y="287724"/>
                    <a:pt x="136164" y="287724"/>
                    <a:pt x="133673" y="286864"/>
                  </a:cubicBezTo>
                  <a:cubicBezTo>
                    <a:pt x="111436" y="279504"/>
                    <a:pt x="0" y="235967"/>
                    <a:pt x="0" y="104372"/>
                  </a:cubicBezTo>
                  <a:lnTo>
                    <a:pt x="0" y="12502"/>
                  </a:lnTo>
                  <a:cubicBezTo>
                    <a:pt x="0" y="5597"/>
                    <a:pt x="5597" y="0"/>
                    <a:pt x="12502" y="0"/>
                  </a:cubicBezTo>
                  <a:lnTo>
                    <a:pt x="262533" y="0"/>
                  </a:lnTo>
                  <a:cubicBezTo>
                    <a:pt x="269437" y="0"/>
                    <a:pt x="275034" y="5597"/>
                    <a:pt x="275034" y="12502"/>
                  </a:cubicBezTo>
                  <a:close/>
                </a:path>
              </a:pathLst>
            </a:custGeom>
            <a:solidFill>
              <a:srgbClr val="8B0012">
                <a:alpha val="20000"/>
              </a:srgbClr>
            </a:solidFill>
            <a:ln>
              <a:noFill/>
            </a:ln>
          </p:spPr>
        </p:sp>
        <p:sp>
          <p:nvSpPr>
            <p:cNvPr id="100" name="Freeform 100"/>
            <p:cNvSpPr/>
            <p:nvPr/>
          </p:nvSpPr>
          <p:spPr>
            <a:xfrm>
              <a:off x="4926806" y="5167908"/>
              <a:ext cx="300038" cy="312965"/>
            </a:xfrm>
            <a:custGeom>
              <a:avLst/>
              <a:gdLst/>
              <a:ahLst/>
              <a:cxnLst/>
              <a:rect l="l" t="t" r="r" b="b"/>
              <a:pathLst>
                <a:path w="300038" h="312965">
                  <a:moveTo>
                    <a:pt x="275034" y="0"/>
                  </a:moveTo>
                  <a:lnTo>
                    <a:pt x="25003" y="0"/>
                  </a:lnTo>
                  <a:cubicBezTo>
                    <a:pt x="11194" y="0"/>
                    <a:pt x="0" y="11194"/>
                    <a:pt x="0" y="25003"/>
                  </a:cubicBezTo>
                  <a:lnTo>
                    <a:pt x="0" y="116858"/>
                  </a:lnTo>
                  <a:cubicBezTo>
                    <a:pt x="0" y="256891"/>
                    <a:pt x="118484" y="303350"/>
                    <a:pt x="142205" y="311242"/>
                  </a:cubicBezTo>
                  <a:cubicBezTo>
                    <a:pt x="147272" y="312965"/>
                    <a:pt x="152766" y="312965"/>
                    <a:pt x="157832" y="311242"/>
                  </a:cubicBezTo>
                  <a:cubicBezTo>
                    <a:pt x="181585" y="303350"/>
                    <a:pt x="300038" y="256891"/>
                    <a:pt x="300038" y="116858"/>
                  </a:cubicBezTo>
                  <a:lnTo>
                    <a:pt x="300038" y="25003"/>
                  </a:lnTo>
                  <a:cubicBezTo>
                    <a:pt x="300038" y="11194"/>
                    <a:pt x="288843" y="0"/>
                    <a:pt x="275034" y="0"/>
                  </a:cubicBezTo>
                  <a:close/>
                  <a:moveTo>
                    <a:pt x="275034" y="116874"/>
                  </a:moveTo>
                  <a:cubicBezTo>
                    <a:pt x="275034" y="239421"/>
                    <a:pt x="171350" y="280363"/>
                    <a:pt x="150019" y="287489"/>
                  </a:cubicBezTo>
                  <a:cubicBezTo>
                    <a:pt x="128875" y="280441"/>
                    <a:pt x="25003" y="239530"/>
                    <a:pt x="25003" y="116874"/>
                  </a:cubicBezTo>
                  <a:lnTo>
                    <a:pt x="25003" y="25003"/>
                  </a:lnTo>
                  <a:lnTo>
                    <a:pt x="275034" y="25003"/>
                  </a:lnTo>
                  <a:close/>
                  <a:moveTo>
                    <a:pt x="78666" y="158864"/>
                  </a:moveTo>
                  <a:cubicBezTo>
                    <a:pt x="73781" y="153979"/>
                    <a:pt x="73781" y="146059"/>
                    <a:pt x="78666" y="141174"/>
                  </a:cubicBezTo>
                  <a:cubicBezTo>
                    <a:pt x="83551" y="136289"/>
                    <a:pt x="91471" y="136289"/>
                    <a:pt x="96356" y="141174"/>
                  </a:cubicBezTo>
                  <a:lnTo>
                    <a:pt x="125016" y="169834"/>
                  </a:lnTo>
                  <a:lnTo>
                    <a:pt x="203682" y="91168"/>
                  </a:lnTo>
                  <a:cubicBezTo>
                    <a:pt x="208567" y="86283"/>
                    <a:pt x="216487" y="86283"/>
                    <a:pt x="221371" y="91168"/>
                  </a:cubicBezTo>
                  <a:cubicBezTo>
                    <a:pt x="226256" y="96053"/>
                    <a:pt x="226256" y="103972"/>
                    <a:pt x="221371" y="108857"/>
                  </a:cubicBezTo>
                  <a:lnTo>
                    <a:pt x="133860" y="196368"/>
                  </a:lnTo>
                  <a:cubicBezTo>
                    <a:pt x="131516" y="198716"/>
                    <a:pt x="128334" y="200035"/>
                    <a:pt x="125016" y="200035"/>
                  </a:cubicBezTo>
                  <a:cubicBezTo>
                    <a:pt x="121698" y="200035"/>
                    <a:pt x="118516" y="198716"/>
                    <a:pt x="116171" y="196368"/>
                  </a:cubicBezTo>
                  <a:close/>
                </a:path>
              </a:pathLst>
            </a:custGeom>
            <a:solidFill>
              <a:srgbClr val="8B0012"/>
            </a:solidFill>
            <a:ln>
              <a:noFill/>
            </a:ln>
          </p:spPr>
        </p:sp>
      </p:grpSp>
      <p:sp>
        <p:nvSpPr>
          <p:cNvPr id="102" name="TextBox 102"/>
          <p:cNvSpPr txBox="1"/>
          <p:nvPr/>
        </p:nvSpPr>
        <p:spPr>
          <a:xfrm>
            <a:off x="5355908" y="5120164"/>
            <a:ext cx="1137750"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Robustness</a:t>
            </a:r>
          </a:p>
        </p:txBody>
      </p:sp>
      <p:sp>
        <p:nvSpPr>
          <p:cNvPr id="103" name="TextBox 103"/>
          <p:cNvSpPr txBox="1"/>
          <p:nvPr/>
        </p:nvSpPr>
        <p:spPr>
          <a:xfrm>
            <a:off x="5357812" y="5384006"/>
            <a:ext cx="1359456"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nulls · 12 specs</a:t>
            </a:r>
          </a:p>
        </p:txBody>
      </p:sp>
      <p:sp>
        <p:nvSpPr>
          <p:cNvPr id="104" name="Line 104"/>
          <p:cNvSpPr/>
          <p:nvPr/>
        </p:nvSpPr>
        <p:spPr>
          <a:xfrm>
            <a:off x="4705350" y="4991100"/>
            <a:ext cx="9525" cy="647700"/>
          </a:xfrm>
          <a:custGeom>
            <a:avLst/>
            <a:gdLst/>
            <a:ahLst/>
            <a:cxnLst/>
            <a:rect l="l" t="t" r="r" b="b"/>
            <a:pathLst>
              <a:path w="9525" h="647700">
                <a:moveTo>
                  <a:pt x="0" y="0"/>
                </a:moveTo>
                <a:lnTo>
                  <a:pt x="0" y="647700"/>
                </a:lnTo>
              </a:path>
            </a:pathLst>
          </a:custGeom>
          <a:noFill/>
          <a:ln w="9525">
            <a:solidFill>
              <a:srgbClr val="E8CDD1"/>
            </a:solidFill>
          </a:ln>
        </p:spPr>
      </p:sp>
      <p:grpSp>
        <p:nvGrpSpPr>
          <p:cNvPr id="107" name="Group 107"/>
          <p:cNvGrpSpPr/>
          <p:nvPr/>
        </p:nvGrpSpPr>
        <p:grpSpPr>
          <a:xfrm>
            <a:off x="7224675" y="5204184"/>
            <a:ext cx="351272" cy="226260"/>
            <a:chOff x="7224675" y="5204184"/>
            <a:chExt cx="351272" cy="226260"/>
          </a:xfrm>
        </p:grpSpPr>
        <p:sp>
          <p:nvSpPr>
            <p:cNvPr id="105" name="Freeform 105"/>
            <p:cNvSpPr/>
            <p:nvPr/>
          </p:nvSpPr>
          <p:spPr>
            <a:xfrm>
              <a:off x="7463433" y="5317927"/>
              <a:ext cx="100012" cy="100012"/>
            </a:xfrm>
            <a:custGeom>
              <a:avLst/>
              <a:gdLst/>
              <a:ahLst/>
              <a:cxnLst/>
              <a:rect l="l" t="t" r="r" b="b"/>
              <a:pathLst>
                <a:path w="100012" h="100012">
                  <a:moveTo>
                    <a:pt x="100012" y="0"/>
                  </a:moveTo>
                  <a:lnTo>
                    <a:pt x="100012" y="100012"/>
                  </a:lnTo>
                  <a:lnTo>
                    <a:pt x="0" y="100012"/>
                  </a:lnTo>
                  <a:close/>
                </a:path>
              </a:pathLst>
            </a:custGeom>
            <a:solidFill>
              <a:srgbClr val="8B0012">
                <a:alpha val="20000"/>
              </a:srgbClr>
            </a:solidFill>
            <a:ln>
              <a:noFill/>
            </a:ln>
          </p:spPr>
        </p:sp>
        <p:sp>
          <p:nvSpPr>
            <p:cNvPr id="106" name="Freeform 106"/>
            <p:cNvSpPr/>
            <p:nvPr/>
          </p:nvSpPr>
          <p:spPr>
            <a:xfrm>
              <a:off x="7224675" y="5204184"/>
              <a:ext cx="351272" cy="226260"/>
            </a:xfrm>
            <a:custGeom>
              <a:avLst/>
              <a:gdLst/>
              <a:ahLst/>
              <a:cxnLst/>
              <a:rect l="l" t="t" r="r" b="b"/>
              <a:pathLst>
                <a:path w="351272" h="226260">
                  <a:moveTo>
                    <a:pt x="343552" y="102194"/>
                  </a:moveTo>
                  <a:cubicBezTo>
                    <a:pt x="338881" y="100256"/>
                    <a:pt x="333503" y="101323"/>
                    <a:pt x="329926" y="104897"/>
                  </a:cubicBezTo>
                  <a:lnTo>
                    <a:pt x="288764" y="146074"/>
                  </a:lnTo>
                  <a:lnTo>
                    <a:pt x="197596" y="54891"/>
                  </a:lnTo>
                  <a:cubicBezTo>
                    <a:pt x="195252" y="52544"/>
                    <a:pt x="192070" y="51225"/>
                    <a:pt x="188752" y="51225"/>
                  </a:cubicBezTo>
                  <a:cubicBezTo>
                    <a:pt x="185434" y="51225"/>
                    <a:pt x="182252" y="52544"/>
                    <a:pt x="179907" y="54891"/>
                  </a:cubicBezTo>
                  <a:lnTo>
                    <a:pt x="126244" y="108570"/>
                  </a:lnTo>
                  <a:lnTo>
                    <a:pt x="22575" y="4885"/>
                  </a:lnTo>
                  <a:cubicBezTo>
                    <a:pt x="17690" y="0"/>
                    <a:pt x="9770" y="0"/>
                    <a:pt x="4885" y="4885"/>
                  </a:cubicBezTo>
                  <a:cubicBezTo>
                    <a:pt x="0" y="9770"/>
                    <a:pt x="0" y="17690"/>
                    <a:pt x="4885" y="22575"/>
                  </a:cubicBezTo>
                  <a:lnTo>
                    <a:pt x="117399" y="135089"/>
                  </a:lnTo>
                  <a:cubicBezTo>
                    <a:pt x="119744" y="137436"/>
                    <a:pt x="122926" y="138755"/>
                    <a:pt x="126244" y="138755"/>
                  </a:cubicBezTo>
                  <a:cubicBezTo>
                    <a:pt x="129562" y="138755"/>
                    <a:pt x="132744" y="137436"/>
                    <a:pt x="135089" y="135089"/>
                  </a:cubicBezTo>
                  <a:lnTo>
                    <a:pt x="188752" y="81410"/>
                  </a:lnTo>
                  <a:lnTo>
                    <a:pt x="271090" y="163748"/>
                  </a:lnTo>
                  <a:lnTo>
                    <a:pt x="229913" y="204910"/>
                  </a:lnTo>
                  <a:cubicBezTo>
                    <a:pt x="226333" y="208485"/>
                    <a:pt x="225262" y="213866"/>
                    <a:pt x="227199" y="218540"/>
                  </a:cubicBezTo>
                  <a:cubicBezTo>
                    <a:pt x="229135" y="223214"/>
                    <a:pt x="233698" y="226260"/>
                    <a:pt x="238758" y="226256"/>
                  </a:cubicBezTo>
                  <a:lnTo>
                    <a:pt x="338770" y="226256"/>
                  </a:lnTo>
                  <a:cubicBezTo>
                    <a:pt x="345675" y="226256"/>
                    <a:pt x="351272" y="220659"/>
                    <a:pt x="351272" y="213755"/>
                  </a:cubicBezTo>
                  <a:lnTo>
                    <a:pt x="351272" y="113742"/>
                  </a:lnTo>
                  <a:cubicBezTo>
                    <a:pt x="351271" y="108686"/>
                    <a:pt x="348224" y="104128"/>
                    <a:pt x="343552" y="102194"/>
                  </a:cubicBezTo>
                  <a:close/>
                  <a:moveTo>
                    <a:pt x="326269" y="201253"/>
                  </a:moveTo>
                  <a:lnTo>
                    <a:pt x="268934" y="201253"/>
                  </a:lnTo>
                  <a:lnTo>
                    <a:pt x="326269" y="143918"/>
                  </a:lnTo>
                  <a:close/>
                </a:path>
              </a:pathLst>
            </a:custGeom>
            <a:solidFill>
              <a:srgbClr val="8B0012"/>
            </a:solidFill>
            <a:ln>
              <a:noFill/>
            </a:ln>
          </p:spPr>
        </p:sp>
      </p:grpSp>
      <p:sp>
        <p:nvSpPr>
          <p:cNvPr id="108" name="TextBox 108"/>
          <p:cNvSpPr txBox="1"/>
          <p:nvPr/>
        </p:nvSpPr>
        <p:spPr>
          <a:xfrm>
            <a:off x="7680008" y="5120164"/>
            <a:ext cx="1256182"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Through time</a:t>
            </a:r>
          </a:p>
        </p:txBody>
      </p:sp>
      <p:sp>
        <p:nvSpPr>
          <p:cNvPr id="109" name="TextBox 109"/>
          <p:cNvSpPr txBox="1"/>
          <p:nvPr/>
        </p:nvSpPr>
        <p:spPr>
          <a:xfrm>
            <a:off x="7681912" y="5384006"/>
            <a:ext cx="1737360"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time-varying returns</a:t>
            </a:r>
          </a:p>
        </p:txBody>
      </p:sp>
      <p:sp>
        <p:nvSpPr>
          <p:cNvPr id="110" name="Line 110"/>
          <p:cNvSpPr/>
          <p:nvPr/>
        </p:nvSpPr>
        <p:spPr>
          <a:xfrm>
            <a:off x="7029450" y="4991100"/>
            <a:ext cx="9525" cy="647700"/>
          </a:xfrm>
          <a:custGeom>
            <a:avLst/>
            <a:gdLst/>
            <a:ahLst/>
            <a:cxnLst/>
            <a:rect l="l" t="t" r="r" b="b"/>
            <a:pathLst>
              <a:path w="9525" h="647700">
                <a:moveTo>
                  <a:pt x="0" y="0"/>
                </a:moveTo>
                <a:lnTo>
                  <a:pt x="0" y="647700"/>
                </a:lnTo>
              </a:path>
            </a:pathLst>
          </a:custGeom>
          <a:noFill/>
          <a:ln w="9525">
            <a:solidFill>
              <a:srgbClr val="E8CDD1"/>
            </a:solidFill>
          </a:ln>
        </p:spPr>
      </p:sp>
      <p:grpSp>
        <p:nvGrpSpPr>
          <p:cNvPr id="113" name="Group 113"/>
          <p:cNvGrpSpPr/>
          <p:nvPr/>
        </p:nvGrpSpPr>
        <p:grpSpPr>
          <a:xfrm>
            <a:off x="9538691" y="5143414"/>
            <a:ext cx="348854" cy="312030"/>
            <a:chOff x="9538691" y="5143414"/>
            <a:chExt cx="348854" cy="312030"/>
          </a:xfrm>
        </p:grpSpPr>
        <p:sp>
          <p:nvSpPr>
            <p:cNvPr id="111" name="Freeform 111"/>
            <p:cNvSpPr/>
            <p:nvPr/>
          </p:nvSpPr>
          <p:spPr>
            <a:xfrm>
              <a:off x="9582164" y="5192746"/>
              <a:ext cx="148861" cy="124087"/>
            </a:xfrm>
            <a:custGeom>
              <a:avLst/>
              <a:gdLst/>
              <a:ahLst/>
              <a:cxnLst/>
              <a:rect l="l" t="t" r="r" b="b"/>
              <a:pathLst>
                <a:path w="148861" h="124087">
                  <a:moveTo>
                    <a:pt x="148861" y="44562"/>
                  </a:moveTo>
                  <a:lnTo>
                    <a:pt x="148861" y="44562"/>
                  </a:lnTo>
                  <a:cubicBezTo>
                    <a:pt x="116893" y="56698"/>
                    <a:pt x="92686" y="83433"/>
                    <a:pt x="83775" y="116446"/>
                  </a:cubicBezTo>
                  <a:lnTo>
                    <a:pt x="83775" y="116274"/>
                  </a:lnTo>
                  <a:cubicBezTo>
                    <a:pt x="63573" y="109410"/>
                    <a:pt x="41331" y="112296"/>
                    <a:pt x="23549" y="124087"/>
                  </a:cubicBezTo>
                  <a:lnTo>
                    <a:pt x="23549" y="124087"/>
                  </a:lnTo>
                  <a:cubicBezTo>
                    <a:pt x="4383" y="101801"/>
                    <a:pt x="0" y="70374"/>
                    <a:pt x="12338" y="43694"/>
                  </a:cubicBezTo>
                  <a:cubicBezTo>
                    <a:pt x="24676" y="17014"/>
                    <a:pt x="51460" y="0"/>
                    <a:pt x="80854" y="170"/>
                  </a:cubicBezTo>
                  <a:cubicBezTo>
                    <a:pt x="110247" y="340"/>
                    <a:pt x="136833" y="17663"/>
                    <a:pt x="148861" y="44483"/>
                  </a:cubicBezTo>
                  <a:close/>
                </a:path>
              </a:pathLst>
            </a:custGeom>
            <a:solidFill>
              <a:srgbClr val="8B0012">
                <a:alpha val="20000"/>
              </a:srgbClr>
            </a:solidFill>
            <a:ln>
              <a:noFill/>
            </a:ln>
          </p:spPr>
        </p:sp>
        <p:sp>
          <p:nvSpPr>
            <p:cNvPr id="112" name="Freeform 112"/>
            <p:cNvSpPr/>
            <p:nvPr/>
          </p:nvSpPr>
          <p:spPr>
            <a:xfrm>
              <a:off x="9538691" y="5143414"/>
              <a:ext cx="348854" cy="312030"/>
            </a:xfrm>
            <a:custGeom>
              <a:avLst/>
              <a:gdLst/>
              <a:ahLst/>
              <a:cxnLst/>
              <a:rect l="l" t="t" r="r" b="b"/>
              <a:pathLst>
                <a:path w="348854" h="312030">
                  <a:moveTo>
                    <a:pt x="230089" y="74500"/>
                  </a:moveTo>
                  <a:cubicBezTo>
                    <a:pt x="219392" y="74493"/>
                    <a:pt x="208743" y="75928"/>
                    <a:pt x="198429" y="78766"/>
                  </a:cubicBezTo>
                  <a:cubicBezTo>
                    <a:pt x="194358" y="72123"/>
                    <a:pt x="189412" y="66058"/>
                    <a:pt x="183724" y="60732"/>
                  </a:cubicBezTo>
                  <a:lnTo>
                    <a:pt x="198585" y="39527"/>
                  </a:lnTo>
                  <a:cubicBezTo>
                    <a:pt x="201148" y="35867"/>
                    <a:pt x="201564" y="31118"/>
                    <a:pt x="199675" y="27069"/>
                  </a:cubicBezTo>
                  <a:cubicBezTo>
                    <a:pt x="197787" y="23020"/>
                    <a:pt x="193883" y="20286"/>
                    <a:pt x="189432" y="19896"/>
                  </a:cubicBezTo>
                  <a:cubicBezTo>
                    <a:pt x="184981" y="19507"/>
                    <a:pt x="180661" y="21522"/>
                    <a:pt x="178098" y="25181"/>
                  </a:cubicBezTo>
                  <a:lnTo>
                    <a:pt x="163237" y="46371"/>
                  </a:lnTo>
                  <a:cubicBezTo>
                    <a:pt x="151016" y="40201"/>
                    <a:pt x="137516" y="36989"/>
                    <a:pt x="123826" y="36995"/>
                  </a:cubicBezTo>
                  <a:cubicBezTo>
                    <a:pt x="122920" y="36995"/>
                    <a:pt x="122013" y="36995"/>
                    <a:pt x="121107" y="36995"/>
                  </a:cubicBezTo>
                  <a:lnTo>
                    <a:pt x="116591" y="11539"/>
                  </a:lnTo>
                  <a:cubicBezTo>
                    <a:pt x="115945" y="7022"/>
                    <a:pt x="112891" y="3216"/>
                    <a:pt x="108622" y="1608"/>
                  </a:cubicBezTo>
                  <a:cubicBezTo>
                    <a:pt x="104352" y="0"/>
                    <a:pt x="99546" y="845"/>
                    <a:pt x="96081" y="3814"/>
                  </a:cubicBezTo>
                  <a:cubicBezTo>
                    <a:pt x="92617" y="6782"/>
                    <a:pt x="91044" y="11402"/>
                    <a:pt x="91978" y="15867"/>
                  </a:cubicBezTo>
                  <a:lnTo>
                    <a:pt x="96479" y="41402"/>
                  </a:lnTo>
                  <a:cubicBezTo>
                    <a:pt x="82614" y="45988"/>
                    <a:pt x="70114" y="53965"/>
                    <a:pt x="60115" y="64608"/>
                  </a:cubicBezTo>
                  <a:lnTo>
                    <a:pt x="38831" y="49715"/>
                  </a:lnTo>
                  <a:cubicBezTo>
                    <a:pt x="35173" y="47089"/>
                    <a:pt x="30385" y="46633"/>
                    <a:pt x="26297" y="48521"/>
                  </a:cubicBezTo>
                  <a:cubicBezTo>
                    <a:pt x="22209" y="50410"/>
                    <a:pt x="19453" y="54351"/>
                    <a:pt x="19081" y="58838"/>
                  </a:cubicBezTo>
                  <a:cubicBezTo>
                    <a:pt x="18709" y="63326"/>
                    <a:pt x="20780" y="67667"/>
                    <a:pt x="24501" y="70202"/>
                  </a:cubicBezTo>
                  <a:lnTo>
                    <a:pt x="45691" y="85079"/>
                  </a:lnTo>
                  <a:cubicBezTo>
                    <a:pt x="39499" y="97298"/>
                    <a:pt x="36286" y="110808"/>
                    <a:pt x="36315" y="124506"/>
                  </a:cubicBezTo>
                  <a:cubicBezTo>
                    <a:pt x="36315" y="125397"/>
                    <a:pt x="36315" y="126303"/>
                    <a:pt x="36315" y="127194"/>
                  </a:cubicBezTo>
                  <a:lnTo>
                    <a:pt x="10859" y="131694"/>
                  </a:lnTo>
                  <a:cubicBezTo>
                    <a:pt x="4471" y="132813"/>
                    <a:pt x="0" y="138631"/>
                    <a:pt x="561" y="145091"/>
                  </a:cubicBezTo>
                  <a:cubicBezTo>
                    <a:pt x="1123" y="151551"/>
                    <a:pt x="6531" y="156510"/>
                    <a:pt x="13015" y="156510"/>
                  </a:cubicBezTo>
                  <a:cubicBezTo>
                    <a:pt x="13743" y="156509"/>
                    <a:pt x="14470" y="156446"/>
                    <a:pt x="15188" y="156323"/>
                  </a:cubicBezTo>
                  <a:lnTo>
                    <a:pt x="40691" y="151822"/>
                  </a:lnTo>
                  <a:cubicBezTo>
                    <a:pt x="42931" y="158644"/>
                    <a:pt x="46007" y="165163"/>
                    <a:pt x="49848" y="171231"/>
                  </a:cubicBezTo>
                  <a:cubicBezTo>
                    <a:pt x="25377" y="193960"/>
                    <a:pt x="17306" y="229349"/>
                    <a:pt x="29501" y="260441"/>
                  </a:cubicBezTo>
                  <a:cubicBezTo>
                    <a:pt x="41697" y="291534"/>
                    <a:pt x="71675" y="311998"/>
                    <a:pt x="105074" y="312030"/>
                  </a:cubicBezTo>
                  <a:lnTo>
                    <a:pt x="230089" y="312030"/>
                  </a:lnTo>
                  <a:cubicBezTo>
                    <a:pt x="295681" y="312030"/>
                    <a:pt x="348854" y="258857"/>
                    <a:pt x="348854" y="193265"/>
                  </a:cubicBezTo>
                  <a:cubicBezTo>
                    <a:pt x="348854" y="127673"/>
                    <a:pt x="295681" y="74500"/>
                    <a:pt x="230089" y="74500"/>
                  </a:cubicBezTo>
                  <a:close/>
                  <a:moveTo>
                    <a:pt x="61318" y="124506"/>
                  </a:moveTo>
                  <a:cubicBezTo>
                    <a:pt x="61334" y="97344"/>
                    <a:pt x="78888" y="73301"/>
                    <a:pt x="104755" y="65014"/>
                  </a:cubicBezTo>
                  <a:cubicBezTo>
                    <a:pt x="130622" y="56727"/>
                    <a:pt x="158880" y="66093"/>
                    <a:pt x="174676" y="88189"/>
                  </a:cubicBezTo>
                  <a:cubicBezTo>
                    <a:pt x="149174" y="101609"/>
                    <a:pt x="129399" y="123816"/>
                    <a:pt x="119013" y="150697"/>
                  </a:cubicBezTo>
                  <a:cubicBezTo>
                    <a:pt x="102579" y="147860"/>
                    <a:pt x="85670" y="150135"/>
                    <a:pt x="70569" y="157213"/>
                  </a:cubicBezTo>
                  <a:cubicBezTo>
                    <a:pt x="64524" y="147375"/>
                    <a:pt x="61322" y="136054"/>
                    <a:pt x="61318" y="124506"/>
                  </a:cubicBezTo>
                  <a:close/>
                  <a:moveTo>
                    <a:pt x="230089" y="287026"/>
                  </a:moveTo>
                  <a:lnTo>
                    <a:pt x="105074" y="287026"/>
                  </a:lnTo>
                  <a:cubicBezTo>
                    <a:pt x="84105" y="286988"/>
                    <a:pt x="64898" y="275291"/>
                    <a:pt x="55241" y="256678"/>
                  </a:cubicBezTo>
                  <a:cubicBezTo>
                    <a:pt x="45584" y="238065"/>
                    <a:pt x="47081" y="215627"/>
                    <a:pt x="59123" y="198461"/>
                  </a:cubicBezTo>
                  <a:cubicBezTo>
                    <a:pt x="71165" y="181295"/>
                    <a:pt x="91755" y="172251"/>
                    <a:pt x="112543" y="174997"/>
                  </a:cubicBezTo>
                  <a:cubicBezTo>
                    <a:pt x="111965" y="178700"/>
                    <a:pt x="111559" y="182482"/>
                    <a:pt x="111340" y="186295"/>
                  </a:cubicBezTo>
                  <a:cubicBezTo>
                    <a:pt x="110943" y="193199"/>
                    <a:pt x="116218" y="199118"/>
                    <a:pt x="123123" y="199515"/>
                  </a:cubicBezTo>
                  <a:cubicBezTo>
                    <a:pt x="130027" y="199912"/>
                    <a:pt x="135946" y="194637"/>
                    <a:pt x="136343" y="187733"/>
                  </a:cubicBezTo>
                  <a:cubicBezTo>
                    <a:pt x="136694" y="181497"/>
                    <a:pt x="137678" y="175314"/>
                    <a:pt x="139281" y="169277"/>
                  </a:cubicBezTo>
                  <a:cubicBezTo>
                    <a:pt x="139281" y="169027"/>
                    <a:pt x="139422" y="168777"/>
                    <a:pt x="139469" y="168527"/>
                  </a:cubicBezTo>
                  <a:cubicBezTo>
                    <a:pt x="152232" y="121622"/>
                    <a:pt x="198697" y="92225"/>
                    <a:pt x="246549" y="100780"/>
                  </a:cubicBezTo>
                  <a:cubicBezTo>
                    <a:pt x="294401" y="109336"/>
                    <a:pt x="327801" y="153012"/>
                    <a:pt x="323522" y="201433"/>
                  </a:cubicBezTo>
                  <a:cubicBezTo>
                    <a:pt x="319243" y="249855"/>
                    <a:pt x="278700" y="286996"/>
                    <a:pt x="230089" y="287026"/>
                  </a:cubicBezTo>
                  <a:close/>
                </a:path>
              </a:pathLst>
            </a:custGeom>
            <a:solidFill>
              <a:srgbClr val="8B0012"/>
            </a:solidFill>
            <a:ln>
              <a:noFill/>
            </a:ln>
          </p:spPr>
        </p:sp>
      </p:grpSp>
      <p:sp>
        <p:nvSpPr>
          <p:cNvPr id="114" name="TextBox 114"/>
          <p:cNvSpPr txBox="1"/>
          <p:nvPr/>
        </p:nvSpPr>
        <p:spPr>
          <a:xfrm>
            <a:off x="10004108" y="5120164"/>
            <a:ext cx="1193018" cy="259080"/>
          </a:xfrm>
          <a:prstGeom prst="rect">
            <a:avLst/>
          </a:prstGeom>
          <a:noFill/>
          <a:ln>
            <a:noFill/>
          </a:ln>
        </p:spPr>
        <p:txBody>
          <a:bodyPr wrap="none" lIns="0" tIns="0" rIns="0" bIns="0" anchor="t" anchorCtr="0">
            <a:spAutoFit/>
          </a:bodyPr>
          <a:lstStyle/>
          <a:p>
            <a:pPr algn="l"/>
            <a:r>
              <a:rPr lang="zh-CN" sz="1275" b="1" dirty="0">
                <a:solidFill>
                  <a:srgbClr val="111111"/>
                </a:solidFill>
                <a:latin typeface="Arial"/>
                <a:ea typeface="Microsoft YaHei"/>
                <a:cs typeface="Arial"/>
              </a:rPr>
              <a:t>Projections</a:t>
            </a:r>
          </a:p>
        </p:txBody>
      </p:sp>
      <p:sp>
        <p:nvSpPr>
          <p:cNvPr id="115" name="TextBox 115"/>
          <p:cNvSpPr txBox="1"/>
          <p:nvPr/>
        </p:nvSpPr>
        <p:spPr>
          <a:xfrm>
            <a:off x="10006012" y="5384006"/>
            <a:ext cx="1369314" cy="228600"/>
          </a:xfrm>
          <a:prstGeom prst="rect">
            <a:avLst/>
          </a:prstGeom>
          <a:noFill/>
          <a:ln>
            <a:noFill/>
          </a:ln>
        </p:spPr>
        <p:txBody>
          <a:bodyPr wrap="none" lIns="0" tIns="0" rIns="0" bIns="0" anchor="t" anchorCtr="0">
            <a:spAutoFit/>
          </a:bodyPr>
          <a:lstStyle/>
          <a:p>
            <a:pPr algn="l"/>
            <a:r>
              <a:rPr lang="zh-CN" sz="1125" dirty="0">
                <a:solidFill>
                  <a:srgbClr val="3F3F3F"/>
                </a:solidFill>
                <a:latin typeface="Arial"/>
                <a:ea typeface="Microsoft YaHei"/>
                <a:cs typeface="Arial"/>
              </a:rPr>
              <a:t>support checked</a:t>
            </a:r>
          </a:p>
        </p:txBody>
      </p:sp>
      <p:sp>
        <p:nvSpPr>
          <p:cNvPr id="116" name="Line 116"/>
          <p:cNvSpPr/>
          <p:nvPr/>
        </p:nvSpPr>
        <p:spPr>
          <a:xfrm>
            <a:off x="9353550" y="4991100"/>
            <a:ext cx="9525" cy="647700"/>
          </a:xfrm>
          <a:custGeom>
            <a:avLst/>
            <a:gdLst/>
            <a:ahLst/>
            <a:cxnLst/>
            <a:rect l="l" t="t" r="r" b="b"/>
            <a:pathLst>
              <a:path w="9525" h="647700">
                <a:moveTo>
                  <a:pt x="0" y="0"/>
                </a:moveTo>
                <a:lnTo>
                  <a:pt x="0" y="647700"/>
                </a:lnTo>
              </a:path>
            </a:pathLst>
          </a:custGeom>
          <a:noFill/>
          <a:ln w="9525">
            <a:solidFill>
              <a:srgbClr val="E8CDD1"/>
            </a:solidFill>
          </a:ln>
        </p:spPr>
      </p:sp>
      <p:sp>
        <p:nvSpPr>
          <p:cNvPr id="117" name="Rectangle 117"/>
          <p:cNvSpPr/>
          <p:nvPr/>
        </p:nvSpPr>
        <p:spPr>
          <a:xfrm>
            <a:off x="514350" y="5981700"/>
            <a:ext cx="11163300" cy="438150"/>
          </a:xfrm>
          <a:prstGeom prst="roundRect">
            <a:avLst>
              <a:gd name="adj" fmla="val 17391"/>
            </a:avLst>
          </a:prstGeom>
          <a:solidFill>
            <a:srgbClr val="FFFFFF"/>
          </a:solidFill>
          <a:ln w="14288">
            <a:solidFill>
              <a:srgbClr val="8B0012"/>
            </a:solidFill>
          </a:ln>
        </p:spPr>
      </p:sp>
      <p:grpSp>
        <p:nvGrpSpPr>
          <p:cNvPr id="120" name="Group 120"/>
          <p:cNvGrpSpPr/>
          <p:nvPr/>
        </p:nvGrpSpPr>
        <p:grpSpPr>
          <a:xfrm>
            <a:off x="691066" y="6117428"/>
            <a:ext cx="217797" cy="192109"/>
            <a:chOff x="691066" y="6117428"/>
            <a:chExt cx="217797" cy="192109"/>
          </a:xfrm>
        </p:grpSpPr>
        <p:sp>
          <p:nvSpPr>
            <p:cNvPr id="118" name="Freeform 118"/>
            <p:cNvSpPr/>
            <p:nvPr/>
          </p:nvSpPr>
          <p:spPr>
            <a:xfrm>
              <a:off x="700088" y="6125766"/>
              <a:ext cx="200025" cy="100012"/>
            </a:xfrm>
            <a:custGeom>
              <a:avLst/>
              <a:gdLst/>
              <a:ahLst/>
              <a:cxnLst/>
              <a:rect l="l" t="t" r="r" b="b"/>
              <a:pathLst>
                <a:path w="200025" h="100012">
                  <a:moveTo>
                    <a:pt x="200025" y="0"/>
                  </a:moveTo>
                  <a:lnTo>
                    <a:pt x="152404" y="100012"/>
                  </a:lnTo>
                  <a:lnTo>
                    <a:pt x="0" y="100012"/>
                  </a:lnTo>
                  <a:lnTo>
                    <a:pt x="50006" y="45839"/>
                  </a:lnTo>
                  <a:lnTo>
                    <a:pt x="0" y="0"/>
                  </a:lnTo>
                  <a:close/>
                </a:path>
              </a:pathLst>
            </a:custGeom>
            <a:solidFill>
              <a:srgbClr val="8B0012">
                <a:alpha val="20000"/>
              </a:srgbClr>
            </a:solidFill>
            <a:ln>
              <a:noFill/>
            </a:ln>
          </p:spPr>
        </p:sp>
        <p:sp>
          <p:nvSpPr>
            <p:cNvPr id="119" name="Freeform 119"/>
            <p:cNvSpPr/>
            <p:nvPr/>
          </p:nvSpPr>
          <p:spPr>
            <a:xfrm>
              <a:off x="691066" y="6117428"/>
              <a:ext cx="217797" cy="192109"/>
            </a:xfrm>
            <a:custGeom>
              <a:avLst/>
              <a:gdLst/>
              <a:ahLst/>
              <a:cxnLst/>
              <a:rect l="l" t="t" r="r" b="b"/>
              <a:pathLst>
                <a:path w="217797" h="192109">
                  <a:moveTo>
                    <a:pt x="216089" y="3889"/>
                  </a:moveTo>
                  <a:cubicBezTo>
                    <a:pt x="214564" y="1472"/>
                    <a:pt x="211905" y="5"/>
                    <a:pt x="209047" y="3"/>
                  </a:cubicBezTo>
                  <a:lnTo>
                    <a:pt x="9022" y="3"/>
                  </a:lnTo>
                  <a:cubicBezTo>
                    <a:pt x="5583" y="0"/>
                    <a:pt x="2495" y="2110"/>
                    <a:pt x="1247" y="5315"/>
                  </a:cubicBezTo>
                  <a:cubicBezTo>
                    <a:pt x="0" y="8519"/>
                    <a:pt x="849" y="12161"/>
                    <a:pt x="3386" y="14484"/>
                  </a:cubicBezTo>
                  <a:lnTo>
                    <a:pt x="47235" y="54666"/>
                  </a:lnTo>
                  <a:lnTo>
                    <a:pt x="2896" y="102693"/>
                  </a:lnTo>
                  <a:cubicBezTo>
                    <a:pt x="648" y="105125"/>
                    <a:pt x="53" y="108658"/>
                    <a:pt x="1382" y="111693"/>
                  </a:cubicBezTo>
                  <a:cubicBezTo>
                    <a:pt x="2710" y="114727"/>
                    <a:pt x="5709" y="116686"/>
                    <a:pt x="9022" y="116684"/>
                  </a:cubicBezTo>
                  <a:lnTo>
                    <a:pt x="148227" y="116684"/>
                  </a:lnTo>
                  <a:lnTo>
                    <a:pt x="118181" y="179776"/>
                  </a:lnTo>
                  <a:cubicBezTo>
                    <a:pt x="116813" y="182475"/>
                    <a:pt x="117016" y="185703"/>
                    <a:pt x="118711" y="188210"/>
                  </a:cubicBezTo>
                  <a:cubicBezTo>
                    <a:pt x="120406" y="190717"/>
                    <a:pt x="123326" y="192109"/>
                    <a:pt x="126341" y="191845"/>
                  </a:cubicBezTo>
                  <a:cubicBezTo>
                    <a:pt x="129355" y="191582"/>
                    <a:pt x="131990" y="189706"/>
                    <a:pt x="133225" y="186943"/>
                  </a:cubicBezTo>
                  <a:lnTo>
                    <a:pt x="216569" y="11921"/>
                  </a:lnTo>
                  <a:cubicBezTo>
                    <a:pt x="217797" y="9339"/>
                    <a:pt x="217617" y="6307"/>
                    <a:pt x="216089" y="3889"/>
                  </a:cubicBezTo>
                  <a:close/>
                  <a:moveTo>
                    <a:pt x="156155" y="100016"/>
                  </a:moveTo>
                  <a:lnTo>
                    <a:pt x="28014" y="100016"/>
                  </a:lnTo>
                  <a:lnTo>
                    <a:pt x="65112" y="59834"/>
                  </a:lnTo>
                  <a:cubicBezTo>
                    <a:pt x="66617" y="58206"/>
                    <a:pt x="67412" y="56045"/>
                    <a:pt x="67320" y="53830"/>
                  </a:cubicBezTo>
                  <a:cubicBezTo>
                    <a:pt x="67228" y="51615"/>
                    <a:pt x="66257" y="49528"/>
                    <a:pt x="64622" y="48030"/>
                  </a:cubicBezTo>
                  <a:lnTo>
                    <a:pt x="30452" y="16672"/>
                  </a:lnTo>
                  <a:lnTo>
                    <a:pt x="195847" y="16672"/>
                  </a:lnTo>
                  <a:close/>
                </a:path>
              </a:pathLst>
            </a:custGeom>
            <a:solidFill>
              <a:srgbClr val="8B0012"/>
            </a:solidFill>
            <a:ln>
              <a:noFill/>
            </a:ln>
          </p:spPr>
        </p:sp>
      </p:grpSp>
      <p:sp>
        <p:nvSpPr>
          <p:cNvPr id="121" name="TextBox 121"/>
          <p:cNvSpPr txBox="1"/>
          <p:nvPr/>
        </p:nvSpPr>
        <p:spPr>
          <a:xfrm>
            <a:off x="1012508" y="6129814"/>
            <a:ext cx="9483254" cy="259080"/>
          </a:xfrm>
          <a:prstGeom prst="rect">
            <a:avLst/>
          </a:prstGeom>
          <a:noFill/>
          <a:ln>
            <a:noFill/>
          </a:ln>
        </p:spPr>
        <p:txBody>
          <a:bodyPr wrap="none" lIns="0" tIns="0" rIns="0" bIns="0" anchor="t" anchorCtr="0">
            <a:spAutoFit/>
          </a:bodyPr>
          <a:lstStyle/>
          <a:p>
            <a:pPr algn="l"/>
            <a:r>
              <a:rPr lang="zh-CN" sz="1275" b="1" dirty="0">
                <a:solidFill>
                  <a:srgbClr val="68000D"/>
                </a:solidFill>
                <a:latin typeface="Arial"/>
                <a:ea typeface="Microsoft YaHei"/>
                <a:cs typeface="Arial"/>
              </a:rPr>
              <a:t>Outputs: contributions · interaction · observation process · returns through time · futures</a:t>
            </a:r>
          </a:p>
        </p:txBody>
      </p:sp>
      <p:sp>
        <p:nvSpPr>
          <p:cNvPr id="122" name="TextBox 122"/>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123" name="TextBox 123"/>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06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Rectangle 9"/>
          <p:cNvSpPr/>
          <p:nvPr/>
        </p:nvSpPr>
        <p:spPr>
          <a:xfrm>
            <a:off x="6515100" y="0"/>
            <a:ext cx="1866900" cy="609600"/>
          </a:xfrm>
          <a:prstGeom prst="rect">
            <a:avLst/>
          </a:prstGeom>
          <a:solidFill>
            <a:srgbClr val="FFFFFF"/>
          </a:solidFill>
          <a:ln>
            <a:noFill/>
          </a:ln>
        </p:spPr>
      </p:sp>
      <p:sp>
        <p:nvSpPr>
          <p:cNvPr id="10" name="TextBox 10"/>
          <p:cNvSpPr txBox="1"/>
          <p:nvPr/>
        </p:nvSpPr>
        <p:spPr>
          <a:xfrm>
            <a:off x="65532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Approach</a:t>
            </a:r>
          </a:p>
        </p:txBody>
      </p:sp>
      <p:sp>
        <p:nvSpPr>
          <p:cNvPr id="11" name="TextBox 11"/>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348054"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Approach</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5602" y="893921"/>
            <a:ext cx="7863385" cy="289560"/>
          </a:xfrm>
          <a:prstGeom prst="rect">
            <a:avLst/>
          </a:prstGeom>
          <a:noFill/>
          <a:ln>
            <a:noFill/>
          </a:ln>
        </p:spPr>
        <p:txBody>
          <a:bodyPr wrap="none" lIns="0" tIns="0" rIns="0" bIns="0" anchor="t" anchorCtr="0">
            <a:spAutoFit/>
          </a:bodyPr>
          <a:lstStyle/>
          <a:p>
            <a:pPr algn="l"/>
            <a:r>
              <a:rPr lang="zh-CN" sz="1425" b="1" dirty="0">
                <a:solidFill>
                  <a:srgbClr val="3A0008"/>
                </a:solidFill>
                <a:latin typeface="Arial"/>
                <a:ea typeface="Microsoft YaHei"/>
                <a:cs typeface="Arial"/>
              </a:rPr>
              <a:t>A discrete-time hazard model asks: is this the year of the first record?</a:t>
            </a:r>
          </a:p>
        </p:txBody>
      </p:sp>
      <p:sp>
        <p:nvSpPr>
          <p:cNvPr id="17" name="Rectangle 17"/>
          <p:cNvSpPr/>
          <p:nvPr/>
        </p:nvSpPr>
        <p:spPr>
          <a:xfrm>
            <a:off x="514350" y="1390650"/>
            <a:ext cx="5715000" cy="5029200"/>
          </a:xfrm>
          <a:prstGeom prst="roundRect">
            <a:avLst>
              <a:gd name="adj" fmla="val 1894"/>
            </a:avLst>
          </a:prstGeom>
          <a:solidFill>
            <a:srgbClr val="FFFFFF"/>
          </a:solidFill>
          <a:ln w="14288">
            <a:solidFill>
              <a:srgbClr val="D9C7CA"/>
            </a:solidFill>
          </a:ln>
        </p:spPr>
      </p:sp>
      <p:sp>
        <p:nvSpPr>
          <p:cNvPr id="18" name="TextBox 18"/>
          <p:cNvSpPr txBox="1"/>
          <p:nvPr/>
        </p:nvSpPr>
        <p:spPr>
          <a:xfrm>
            <a:off x="723900" y="1590675"/>
            <a:ext cx="1422128" cy="304800"/>
          </a:xfrm>
          <a:prstGeom prst="rect">
            <a:avLst/>
          </a:prstGeom>
          <a:noFill/>
          <a:ln>
            <a:noFill/>
          </a:ln>
        </p:spPr>
        <p:txBody>
          <a:bodyPr wrap="none" lIns="0" tIns="0" rIns="0" bIns="0" anchor="t" anchorCtr="0">
            <a:spAutoFit/>
          </a:bodyPr>
          <a:lstStyle/>
          <a:p>
            <a:pPr algn="l"/>
            <a:r>
              <a:rPr lang="zh-CN" sz="1500" b="1" dirty="0">
                <a:solidFill>
                  <a:srgbClr val="68000D"/>
                </a:solidFill>
                <a:latin typeface="Arial"/>
                <a:ea typeface="Microsoft YaHei"/>
                <a:cs typeface="Arial"/>
              </a:rPr>
              <a:t>The risk set</a:t>
            </a:r>
          </a:p>
        </p:txBody>
      </p:sp>
      <p:sp>
        <p:nvSpPr>
          <p:cNvPr id="19" name="TextBox 19"/>
          <p:cNvSpPr txBox="1"/>
          <p:nvPr/>
        </p:nvSpPr>
        <p:spPr>
          <a:xfrm>
            <a:off x="728662" y="1859756"/>
            <a:ext cx="4280821" cy="228600"/>
          </a:xfrm>
          <a:prstGeom prst="rect">
            <a:avLst/>
          </a:prstGeom>
          <a:noFill/>
          <a:ln>
            <a:noFill/>
          </a:ln>
        </p:spPr>
        <p:txBody>
          <a:bodyPr wrap="none" lIns="0" tIns="0" rIns="0" bIns="0" anchor="t" anchorCtr="0">
            <a:spAutoFit/>
          </a:bodyPr>
          <a:lstStyle/>
          <a:p>
            <a:pPr algn="l"/>
            <a:r>
              <a:rPr lang="zh-CN" sz="1125" dirty="0">
                <a:solidFill>
                  <a:srgbClr val="6B6B6B"/>
                </a:solidFill>
                <a:latin typeface="Arial"/>
                <a:ea typeface="Microsoft YaHei"/>
                <a:cs typeface="Arial"/>
              </a:rPr>
              <a:t>Each pair is at risk every year until its first record</a:t>
            </a:r>
          </a:p>
        </p:txBody>
      </p:sp>
      <p:sp>
        <p:nvSpPr>
          <p:cNvPr id="20" name="TextBox 20"/>
          <p:cNvSpPr txBox="1"/>
          <p:nvPr/>
        </p:nvSpPr>
        <p:spPr>
          <a:xfrm>
            <a:off x="2352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2002</a:t>
            </a:r>
          </a:p>
        </p:txBody>
      </p:sp>
      <p:sp>
        <p:nvSpPr>
          <p:cNvPr id="21" name="TextBox 21"/>
          <p:cNvSpPr txBox="1"/>
          <p:nvPr/>
        </p:nvSpPr>
        <p:spPr>
          <a:xfrm>
            <a:off x="2733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03</a:t>
            </a:r>
          </a:p>
        </p:txBody>
      </p:sp>
      <p:sp>
        <p:nvSpPr>
          <p:cNvPr id="22" name="TextBox 22"/>
          <p:cNvSpPr txBox="1"/>
          <p:nvPr/>
        </p:nvSpPr>
        <p:spPr>
          <a:xfrm>
            <a:off x="3114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04</a:t>
            </a:r>
          </a:p>
        </p:txBody>
      </p:sp>
      <p:sp>
        <p:nvSpPr>
          <p:cNvPr id="23" name="TextBox 23"/>
          <p:cNvSpPr txBox="1"/>
          <p:nvPr/>
        </p:nvSpPr>
        <p:spPr>
          <a:xfrm>
            <a:off x="3495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05</a:t>
            </a:r>
          </a:p>
        </p:txBody>
      </p:sp>
      <p:sp>
        <p:nvSpPr>
          <p:cNvPr id="24" name="TextBox 24"/>
          <p:cNvSpPr txBox="1"/>
          <p:nvPr/>
        </p:nvSpPr>
        <p:spPr>
          <a:xfrm>
            <a:off x="3876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06</a:t>
            </a:r>
          </a:p>
        </p:txBody>
      </p:sp>
      <p:sp>
        <p:nvSpPr>
          <p:cNvPr id="25" name="TextBox 25"/>
          <p:cNvSpPr txBox="1"/>
          <p:nvPr/>
        </p:nvSpPr>
        <p:spPr>
          <a:xfrm>
            <a:off x="4257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07</a:t>
            </a:r>
          </a:p>
        </p:txBody>
      </p:sp>
      <p:sp>
        <p:nvSpPr>
          <p:cNvPr id="26" name="TextBox 26"/>
          <p:cNvSpPr txBox="1"/>
          <p:nvPr/>
        </p:nvSpPr>
        <p:spPr>
          <a:xfrm>
            <a:off x="4638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08</a:t>
            </a:r>
          </a:p>
        </p:txBody>
      </p:sp>
      <p:sp>
        <p:nvSpPr>
          <p:cNvPr id="27" name="TextBox 27"/>
          <p:cNvSpPr txBox="1"/>
          <p:nvPr/>
        </p:nvSpPr>
        <p:spPr>
          <a:xfrm>
            <a:off x="5019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09</a:t>
            </a:r>
          </a:p>
        </p:txBody>
      </p:sp>
      <p:sp>
        <p:nvSpPr>
          <p:cNvPr id="28" name="TextBox 28"/>
          <p:cNvSpPr txBox="1"/>
          <p:nvPr/>
        </p:nvSpPr>
        <p:spPr>
          <a:xfrm>
            <a:off x="5400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a:t>
            </a:r>
          </a:p>
        </p:txBody>
      </p:sp>
      <p:sp>
        <p:nvSpPr>
          <p:cNvPr id="29" name="TextBox 29"/>
          <p:cNvSpPr txBox="1"/>
          <p:nvPr/>
        </p:nvSpPr>
        <p:spPr>
          <a:xfrm>
            <a:off x="5781675" y="2168842"/>
            <a:ext cx="371475"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24</a:t>
            </a:r>
          </a:p>
        </p:txBody>
      </p:sp>
      <p:sp>
        <p:nvSpPr>
          <p:cNvPr id="30" name="TextBox 30"/>
          <p:cNvSpPr txBox="1"/>
          <p:nvPr/>
        </p:nvSpPr>
        <p:spPr>
          <a:xfrm>
            <a:off x="728662" y="2583656"/>
            <a:ext cx="1592770"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Species A × Yunnan</a:t>
            </a:r>
          </a:p>
        </p:txBody>
      </p:sp>
      <p:sp>
        <p:nvSpPr>
          <p:cNvPr id="31" name="Rectangle 31"/>
          <p:cNvSpPr/>
          <p:nvPr/>
        </p:nvSpPr>
        <p:spPr>
          <a:xfrm>
            <a:off x="2362200" y="2457450"/>
            <a:ext cx="352425" cy="381000"/>
          </a:xfrm>
          <a:prstGeom prst="roundRect">
            <a:avLst>
              <a:gd name="adj" fmla="val 10811"/>
            </a:avLst>
          </a:prstGeom>
          <a:solidFill>
            <a:srgbClr val="EFEDED"/>
          </a:solidFill>
          <a:ln>
            <a:noFill/>
          </a:ln>
        </p:spPr>
      </p:sp>
      <p:sp>
        <p:nvSpPr>
          <p:cNvPr id="32" name="TextBox 32"/>
          <p:cNvSpPr txBox="1"/>
          <p:nvPr/>
        </p:nvSpPr>
        <p:spPr>
          <a:xfrm>
            <a:off x="2362200" y="25698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33" name="Rectangle 33"/>
          <p:cNvSpPr/>
          <p:nvPr/>
        </p:nvSpPr>
        <p:spPr>
          <a:xfrm>
            <a:off x="2743200" y="2457450"/>
            <a:ext cx="352425" cy="381000"/>
          </a:xfrm>
          <a:prstGeom prst="roundRect">
            <a:avLst>
              <a:gd name="adj" fmla="val 10811"/>
            </a:avLst>
          </a:prstGeom>
          <a:solidFill>
            <a:srgbClr val="EFEDED"/>
          </a:solidFill>
          <a:ln>
            <a:noFill/>
          </a:ln>
        </p:spPr>
      </p:sp>
      <p:sp>
        <p:nvSpPr>
          <p:cNvPr id="34" name="TextBox 34"/>
          <p:cNvSpPr txBox="1"/>
          <p:nvPr/>
        </p:nvSpPr>
        <p:spPr>
          <a:xfrm>
            <a:off x="2743200" y="25698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35" name="Rectangle 35"/>
          <p:cNvSpPr/>
          <p:nvPr/>
        </p:nvSpPr>
        <p:spPr>
          <a:xfrm>
            <a:off x="3124200" y="2457450"/>
            <a:ext cx="352425" cy="381000"/>
          </a:xfrm>
          <a:prstGeom prst="roundRect">
            <a:avLst>
              <a:gd name="adj" fmla="val 10811"/>
            </a:avLst>
          </a:prstGeom>
          <a:solidFill>
            <a:srgbClr val="EFEDED"/>
          </a:solidFill>
          <a:ln>
            <a:noFill/>
          </a:ln>
        </p:spPr>
      </p:sp>
      <p:sp>
        <p:nvSpPr>
          <p:cNvPr id="36" name="TextBox 36"/>
          <p:cNvSpPr txBox="1"/>
          <p:nvPr/>
        </p:nvSpPr>
        <p:spPr>
          <a:xfrm>
            <a:off x="3124200" y="25698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37" name="Rectangle 37"/>
          <p:cNvSpPr/>
          <p:nvPr/>
        </p:nvSpPr>
        <p:spPr>
          <a:xfrm>
            <a:off x="3505200" y="2457450"/>
            <a:ext cx="352425" cy="381000"/>
          </a:xfrm>
          <a:prstGeom prst="roundRect">
            <a:avLst>
              <a:gd name="adj" fmla="val 10811"/>
            </a:avLst>
          </a:prstGeom>
          <a:solidFill>
            <a:srgbClr val="EFEDED"/>
          </a:solidFill>
          <a:ln>
            <a:noFill/>
          </a:ln>
        </p:spPr>
      </p:sp>
      <p:sp>
        <p:nvSpPr>
          <p:cNvPr id="38" name="TextBox 38"/>
          <p:cNvSpPr txBox="1"/>
          <p:nvPr/>
        </p:nvSpPr>
        <p:spPr>
          <a:xfrm>
            <a:off x="3505200" y="25698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39" name="Rectangle 39"/>
          <p:cNvSpPr/>
          <p:nvPr/>
        </p:nvSpPr>
        <p:spPr>
          <a:xfrm>
            <a:off x="3886200" y="2457450"/>
            <a:ext cx="352425" cy="381000"/>
          </a:xfrm>
          <a:prstGeom prst="roundRect">
            <a:avLst>
              <a:gd name="adj" fmla="val 10811"/>
            </a:avLst>
          </a:prstGeom>
          <a:solidFill>
            <a:srgbClr val="8B0012"/>
          </a:solidFill>
          <a:ln>
            <a:noFill/>
          </a:ln>
        </p:spPr>
      </p:sp>
      <p:sp>
        <p:nvSpPr>
          <p:cNvPr id="40" name="TextBox 40"/>
          <p:cNvSpPr txBox="1"/>
          <p:nvPr/>
        </p:nvSpPr>
        <p:spPr>
          <a:xfrm>
            <a:off x="3886200" y="2560320"/>
            <a:ext cx="352425" cy="228600"/>
          </a:xfrm>
          <a:prstGeom prst="rect">
            <a:avLst/>
          </a:prstGeom>
          <a:noFill/>
          <a:ln>
            <a:noFill/>
          </a:ln>
        </p:spPr>
        <p:txBody>
          <a:bodyPr wrap="square" lIns="0" tIns="0" rIns="0" bIns="0" anchor="t" anchorCtr="0">
            <a:normAutofit/>
          </a:bodyPr>
          <a:lstStyle/>
          <a:p>
            <a:pPr algn="ctr"/>
            <a:r>
              <a:rPr lang="zh-CN" sz="1200" b="1" dirty="0">
                <a:solidFill>
                  <a:srgbClr val="FFFFFF"/>
                </a:solidFill>
                <a:latin typeface="Arial"/>
                <a:ea typeface="Microsoft YaHei"/>
                <a:cs typeface="Arial"/>
              </a:rPr>
              <a:t>1</a:t>
            </a:r>
          </a:p>
        </p:txBody>
      </p:sp>
      <p:sp>
        <p:nvSpPr>
          <p:cNvPr id="41" name="Rectangle 41"/>
          <p:cNvSpPr/>
          <p:nvPr/>
        </p:nvSpPr>
        <p:spPr>
          <a:xfrm>
            <a:off x="4276725" y="2466975"/>
            <a:ext cx="333375" cy="361950"/>
          </a:xfrm>
          <a:prstGeom prst="roundRect">
            <a:avLst>
              <a:gd name="adj" fmla="val 11429"/>
            </a:avLst>
          </a:prstGeom>
          <a:solidFill>
            <a:srgbClr val="FFFFFF"/>
          </a:solidFill>
          <a:ln w="9525">
            <a:solidFill>
              <a:srgbClr val="E7E2E3"/>
            </a:solidFill>
          </a:ln>
        </p:spPr>
      </p:sp>
      <p:sp>
        <p:nvSpPr>
          <p:cNvPr id="42" name="Rectangle 42"/>
          <p:cNvSpPr/>
          <p:nvPr/>
        </p:nvSpPr>
        <p:spPr>
          <a:xfrm>
            <a:off x="4657725" y="2466975"/>
            <a:ext cx="333375" cy="361950"/>
          </a:xfrm>
          <a:prstGeom prst="roundRect">
            <a:avLst>
              <a:gd name="adj" fmla="val 11429"/>
            </a:avLst>
          </a:prstGeom>
          <a:solidFill>
            <a:srgbClr val="FFFFFF"/>
          </a:solidFill>
          <a:ln w="9525">
            <a:solidFill>
              <a:srgbClr val="E7E2E3"/>
            </a:solidFill>
          </a:ln>
        </p:spPr>
      </p:sp>
      <p:sp>
        <p:nvSpPr>
          <p:cNvPr id="43" name="Rectangle 43"/>
          <p:cNvSpPr/>
          <p:nvPr/>
        </p:nvSpPr>
        <p:spPr>
          <a:xfrm>
            <a:off x="5038725" y="2466975"/>
            <a:ext cx="333375" cy="361950"/>
          </a:xfrm>
          <a:prstGeom prst="roundRect">
            <a:avLst>
              <a:gd name="adj" fmla="val 11429"/>
            </a:avLst>
          </a:prstGeom>
          <a:solidFill>
            <a:srgbClr val="FFFFFF"/>
          </a:solidFill>
          <a:ln w="9525">
            <a:solidFill>
              <a:srgbClr val="E7E2E3"/>
            </a:solidFill>
          </a:ln>
        </p:spPr>
      </p:sp>
      <p:sp>
        <p:nvSpPr>
          <p:cNvPr id="44" name="Rectangle 44"/>
          <p:cNvSpPr/>
          <p:nvPr/>
        </p:nvSpPr>
        <p:spPr>
          <a:xfrm>
            <a:off x="5800725" y="2466975"/>
            <a:ext cx="333375" cy="361950"/>
          </a:xfrm>
          <a:prstGeom prst="roundRect">
            <a:avLst>
              <a:gd name="adj" fmla="val 11429"/>
            </a:avLst>
          </a:prstGeom>
          <a:solidFill>
            <a:srgbClr val="FFFFFF"/>
          </a:solidFill>
          <a:ln w="9525">
            <a:solidFill>
              <a:srgbClr val="E7E2E3"/>
            </a:solidFill>
          </a:ln>
        </p:spPr>
      </p:sp>
      <p:sp>
        <p:nvSpPr>
          <p:cNvPr id="45" name="TextBox 45"/>
          <p:cNvSpPr txBox="1"/>
          <p:nvPr/>
        </p:nvSpPr>
        <p:spPr>
          <a:xfrm>
            <a:off x="728662" y="3098006"/>
            <a:ext cx="1638776"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Species B × Sichuan</a:t>
            </a:r>
          </a:p>
        </p:txBody>
      </p:sp>
      <p:sp>
        <p:nvSpPr>
          <p:cNvPr id="46" name="Rectangle 46"/>
          <p:cNvSpPr/>
          <p:nvPr/>
        </p:nvSpPr>
        <p:spPr>
          <a:xfrm>
            <a:off x="2362200" y="2971800"/>
            <a:ext cx="352425" cy="381000"/>
          </a:xfrm>
          <a:prstGeom prst="roundRect">
            <a:avLst>
              <a:gd name="adj" fmla="val 10811"/>
            </a:avLst>
          </a:prstGeom>
          <a:solidFill>
            <a:srgbClr val="EFEDED"/>
          </a:solidFill>
          <a:ln>
            <a:noFill/>
          </a:ln>
        </p:spPr>
      </p:sp>
      <p:sp>
        <p:nvSpPr>
          <p:cNvPr id="47" name="TextBox 47"/>
          <p:cNvSpPr txBox="1"/>
          <p:nvPr/>
        </p:nvSpPr>
        <p:spPr>
          <a:xfrm>
            <a:off x="2362200" y="30841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48" name="Rectangle 48"/>
          <p:cNvSpPr/>
          <p:nvPr/>
        </p:nvSpPr>
        <p:spPr>
          <a:xfrm>
            <a:off x="2743200" y="2971800"/>
            <a:ext cx="352425" cy="381000"/>
          </a:xfrm>
          <a:prstGeom prst="roundRect">
            <a:avLst>
              <a:gd name="adj" fmla="val 10811"/>
            </a:avLst>
          </a:prstGeom>
          <a:solidFill>
            <a:srgbClr val="EFEDED"/>
          </a:solidFill>
          <a:ln>
            <a:noFill/>
          </a:ln>
        </p:spPr>
      </p:sp>
      <p:sp>
        <p:nvSpPr>
          <p:cNvPr id="49" name="TextBox 49"/>
          <p:cNvSpPr txBox="1"/>
          <p:nvPr/>
        </p:nvSpPr>
        <p:spPr>
          <a:xfrm>
            <a:off x="2743200" y="30841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50" name="Rectangle 50"/>
          <p:cNvSpPr/>
          <p:nvPr/>
        </p:nvSpPr>
        <p:spPr>
          <a:xfrm>
            <a:off x="3124200" y="2971800"/>
            <a:ext cx="352425" cy="381000"/>
          </a:xfrm>
          <a:prstGeom prst="roundRect">
            <a:avLst>
              <a:gd name="adj" fmla="val 10811"/>
            </a:avLst>
          </a:prstGeom>
          <a:solidFill>
            <a:srgbClr val="8B0012"/>
          </a:solidFill>
          <a:ln>
            <a:noFill/>
          </a:ln>
        </p:spPr>
      </p:sp>
      <p:sp>
        <p:nvSpPr>
          <p:cNvPr id="51" name="TextBox 51"/>
          <p:cNvSpPr txBox="1"/>
          <p:nvPr/>
        </p:nvSpPr>
        <p:spPr>
          <a:xfrm>
            <a:off x="3124200" y="3074670"/>
            <a:ext cx="352425" cy="228600"/>
          </a:xfrm>
          <a:prstGeom prst="rect">
            <a:avLst/>
          </a:prstGeom>
          <a:noFill/>
          <a:ln>
            <a:noFill/>
          </a:ln>
        </p:spPr>
        <p:txBody>
          <a:bodyPr wrap="square" lIns="0" tIns="0" rIns="0" bIns="0" anchor="t" anchorCtr="0">
            <a:normAutofit/>
          </a:bodyPr>
          <a:lstStyle/>
          <a:p>
            <a:pPr algn="ctr"/>
            <a:r>
              <a:rPr lang="zh-CN" sz="1200" b="1" dirty="0">
                <a:solidFill>
                  <a:srgbClr val="FFFFFF"/>
                </a:solidFill>
                <a:latin typeface="Arial"/>
                <a:ea typeface="Microsoft YaHei"/>
                <a:cs typeface="Arial"/>
              </a:rPr>
              <a:t>1</a:t>
            </a:r>
          </a:p>
        </p:txBody>
      </p:sp>
      <p:sp>
        <p:nvSpPr>
          <p:cNvPr id="52" name="Rectangle 52"/>
          <p:cNvSpPr/>
          <p:nvPr/>
        </p:nvSpPr>
        <p:spPr>
          <a:xfrm>
            <a:off x="3514725" y="2981325"/>
            <a:ext cx="333375" cy="361950"/>
          </a:xfrm>
          <a:prstGeom prst="roundRect">
            <a:avLst>
              <a:gd name="adj" fmla="val 11429"/>
            </a:avLst>
          </a:prstGeom>
          <a:solidFill>
            <a:srgbClr val="FFFFFF"/>
          </a:solidFill>
          <a:ln w="9525">
            <a:solidFill>
              <a:srgbClr val="E7E2E3"/>
            </a:solidFill>
          </a:ln>
        </p:spPr>
      </p:sp>
      <p:sp>
        <p:nvSpPr>
          <p:cNvPr id="53" name="Rectangle 53"/>
          <p:cNvSpPr/>
          <p:nvPr/>
        </p:nvSpPr>
        <p:spPr>
          <a:xfrm>
            <a:off x="3895725" y="2981325"/>
            <a:ext cx="333375" cy="361950"/>
          </a:xfrm>
          <a:prstGeom prst="roundRect">
            <a:avLst>
              <a:gd name="adj" fmla="val 11429"/>
            </a:avLst>
          </a:prstGeom>
          <a:solidFill>
            <a:srgbClr val="FFFFFF"/>
          </a:solidFill>
          <a:ln w="9525">
            <a:solidFill>
              <a:srgbClr val="E7E2E3"/>
            </a:solidFill>
          </a:ln>
        </p:spPr>
      </p:sp>
      <p:sp>
        <p:nvSpPr>
          <p:cNvPr id="54" name="Rectangle 54"/>
          <p:cNvSpPr/>
          <p:nvPr/>
        </p:nvSpPr>
        <p:spPr>
          <a:xfrm>
            <a:off x="4276725" y="2981325"/>
            <a:ext cx="333375" cy="361950"/>
          </a:xfrm>
          <a:prstGeom prst="roundRect">
            <a:avLst>
              <a:gd name="adj" fmla="val 11429"/>
            </a:avLst>
          </a:prstGeom>
          <a:solidFill>
            <a:srgbClr val="FFFFFF"/>
          </a:solidFill>
          <a:ln w="9525">
            <a:solidFill>
              <a:srgbClr val="E7E2E3"/>
            </a:solidFill>
          </a:ln>
        </p:spPr>
      </p:sp>
      <p:sp>
        <p:nvSpPr>
          <p:cNvPr id="55" name="Rectangle 55"/>
          <p:cNvSpPr/>
          <p:nvPr/>
        </p:nvSpPr>
        <p:spPr>
          <a:xfrm>
            <a:off x="4657725" y="2981325"/>
            <a:ext cx="333375" cy="361950"/>
          </a:xfrm>
          <a:prstGeom prst="roundRect">
            <a:avLst>
              <a:gd name="adj" fmla="val 11429"/>
            </a:avLst>
          </a:prstGeom>
          <a:solidFill>
            <a:srgbClr val="FFFFFF"/>
          </a:solidFill>
          <a:ln w="9525">
            <a:solidFill>
              <a:srgbClr val="E7E2E3"/>
            </a:solidFill>
          </a:ln>
        </p:spPr>
      </p:sp>
      <p:sp>
        <p:nvSpPr>
          <p:cNvPr id="56" name="Rectangle 56"/>
          <p:cNvSpPr/>
          <p:nvPr/>
        </p:nvSpPr>
        <p:spPr>
          <a:xfrm>
            <a:off x="5038725" y="2981325"/>
            <a:ext cx="333375" cy="361950"/>
          </a:xfrm>
          <a:prstGeom prst="roundRect">
            <a:avLst>
              <a:gd name="adj" fmla="val 11429"/>
            </a:avLst>
          </a:prstGeom>
          <a:solidFill>
            <a:srgbClr val="FFFFFF"/>
          </a:solidFill>
          <a:ln w="9525">
            <a:solidFill>
              <a:srgbClr val="E7E2E3"/>
            </a:solidFill>
          </a:ln>
        </p:spPr>
      </p:sp>
      <p:sp>
        <p:nvSpPr>
          <p:cNvPr id="57" name="Rectangle 57"/>
          <p:cNvSpPr/>
          <p:nvPr/>
        </p:nvSpPr>
        <p:spPr>
          <a:xfrm>
            <a:off x="5800725" y="2981325"/>
            <a:ext cx="333375" cy="361950"/>
          </a:xfrm>
          <a:prstGeom prst="roundRect">
            <a:avLst>
              <a:gd name="adj" fmla="val 11429"/>
            </a:avLst>
          </a:prstGeom>
          <a:solidFill>
            <a:srgbClr val="FFFFFF"/>
          </a:solidFill>
          <a:ln w="9525">
            <a:solidFill>
              <a:srgbClr val="E7E2E3"/>
            </a:solidFill>
          </a:ln>
        </p:spPr>
      </p:sp>
      <p:sp>
        <p:nvSpPr>
          <p:cNvPr id="58" name="TextBox 58"/>
          <p:cNvSpPr txBox="1"/>
          <p:nvPr/>
        </p:nvSpPr>
        <p:spPr>
          <a:xfrm>
            <a:off x="728662" y="3612356"/>
            <a:ext cx="1592770"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Species C × Beijing</a:t>
            </a:r>
          </a:p>
        </p:txBody>
      </p:sp>
      <p:sp>
        <p:nvSpPr>
          <p:cNvPr id="59" name="Rectangle 59"/>
          <p:cNvSpPr/>
          <p:nvPr/>
        </p:nvSpPr>
        <p:spPr>
          <a:xfrm>
            <a:off x="2362200" y="3486150"/>
            <a:ext cx="352425" cy="381000"/>
          </a:xfrm>
          <a:prstGeom prst="roundRect">
            <a:avLst>
              <a:gd name="adj" fmla="val 10811"/>
            </a:avLst>
          </a:prstGeom>
          <a:solidFill>
            <a:srgbClr val="EFEDED"/>
          </a:solidFill>
          <a:ln>
            <a:noFill/>
          </a:ln>
        </p:spPr>
      </p:sp>
      <p:sp>
        <p:nvSpPr>
          <p:cNvPr id="60" name="TextBox 60"/>
          <p:cNvSpPr txBox="1"/>
          <p:nvPr/>
        </p:nvSpPr>
        <p:spPr>
          <a:xfrm>
            <a:off x="2362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61" name="Rectangle 61"/>
          <p:cNvSpPr/>
          <p:nvPr/>
        </p:nvSpPr>
        <p:spPr>
          <a:xfrm>
            <a:off x="2743200" y="3486150"/>
            <a:ext cx="352425" cy="381000"/>
          </a:xfrm>
          <a:prstGeom prst="roundRect">
            <a:avLst>
              <a:gd name="adj" fmla="val 10811"/>
            </a:avLst>
          </a:prstGeom>
          <a:solidFill>
            <a:srgbClr val="EFEDED"/>
          </a:solidFill>
          <a:ln>
            <a:noFill/>
          </a:ln>
        </p:spPr>
      </p:sp>
      <p:sp>
        <p:nvSpPr>
          <p:cNvPr id="62" name="TextBox 62"/>
          <p:cNvSpPr txBox="1"/>
          <p:nvPr/>
        </p:nvSpPr>
        <p:spPr>
          <a:xfrm>
            <a:off x="2743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63" name="Rectangle 63"/>
          <p:cNvSpPr/>
          <p:nvPr/>
        </p:nvSpPr>
        <p:spPr>
          <a:xfrm>
            <a:off x="3124200" y="3486150"/>
            <a:ext cx="352425" cy="381000"/>
          </a:xfrm>
          <a:prstGeom prst="roundRect">
            <a:avLst>
              <a:gd name="adj" fmla="val 10811"/>
            </a:avLst>
          </a:prstGeom>
          <a:solidFill>
            <a:srgbClr val="EFEDED"/>
          </a:solidFill>
          <a:ln>
            <a:noFill/>
          </a:ln>
        </p:spPr>
      </p:sp>
      <p:sp>
        <p:nvSpPr>
          <p:cNvPr id="64" name="TextBox 64"/>
          <p:cNvSpPr txBox="1"/>
          <p:nvPr/>
        </p:nvSpPr>
        <p:spPr>
          <a:xfrm>
            <a:off x="3124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65" name="Rectangle 65"/>
          <p:cNvSpPr/>
          <p:nvPr/>
        </p:nvSpPr>
        <p:spPr>
          <a:xfrm>
            <a:off x="3505200" y="3486150"/>
            <a:ext cx="352425" cy="381000"/>
          </a:xfrm>
          <a:prstGeom prst="roundRect">
            <a:avLst>
              <a:gd name="adj" fmla="val 10811"/>
            </a:avLst>
          </a:prstGeom>
          <a:solidFill>
            <a:srgbClr val="EFEDED"/>
          </a:solidFill>
          <a:ln>
            <a:noFill/>
          </a:ln>
        </p:spPr>
      </p:sp>
      <p:sp>
        <p:nvSpPr>
          <p:cNvPr id="66" name="TextBox 66"/>
          <p:cNvSpPr txBox="1"/>
          <p:nvPr/>
        </p:nvSpPr>
        <p:spPr>
          <a:xfrm>
            <a:off x="3505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67" name="Rectangle 67"/>
          <p:cNvSpPr/>
          <p:nvPr/>
        </p:nvSpPr>
        <p:spPr>
          <a:xfrm>
            <a:off x="3886200" y="3486150"/>
            <a:ext cx="352425" cy="381000"/>
          </a:xfrm>
          <a:prstGeom prst="roundRect">
            <a:avLst>
              <a:gd name="adj" fmla="val 10811"/>
            </a:avLst>
          </a:prstGeom>
          <a:solidFill>
            <a:srgbClr val="EFEDED"/>
          </a:solidFill>
          <a:ln>
            <a:noFill/>
          </a:ln>
        </p:spPr>
      </p:sp>
      <p:sp>
        <p:nvSpPr>
          <p:cNvPr id="68" name="TextBox 68"/>
          <p:cNvSpPr txBox="1"/>
          <p:nvPr/>
        </p:nvSpPr>
        <p:spPr>
          <a:xfrm>
            <a:off x="3886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69" name="Rectangle 69"/>
          <p:cNvSpPr/>
          <p:nvPr/>
        </p:nvSpPr>
        <p:spPr>
          <a:xfrm>
            <a:off x="4267200" y="3486150"/>
            <a:ext cx="352425" cy="381000"/>
          </a:xfrm>
          <a:prstGeom prst="roundRect">
            <a:avLst>
              <a:gd name="adj" fmla="val 10811"/>
            </a:avLst>
          </a:prstGeom>
          <a:solidFill>
            <a:srgbClr val="EFEDED"/>
          </a:solidFill>
          <a:ln>
            <a:noFill/>
          </a:ln>
        </p:spPr>
      </p:sp>
      <p:sp>
        <p:nvSpPr>
          <p:cNvPr id="70" name="TextBox 70"/>
          <p:cNvSpPr txBox="1"/>
          <p:nvPr/>
        </p:nvSpPr>
        <p:spPr>
          <a:xfrm>
            <a:off x="4267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71" name="Rectangle 71"/>
          <p:cNvSpPr/>
          <p:nvPr/>
        </p:nvSpPr>
        <p:spPr>
          <a:xfrm>
            <a:off x="4648200" y="3486150"/>
            <a:ext cx="352425" cy="381000"/>
          </a:xfrm>
          <a:prstGeom prst="roundRect">
            <a:avLst>
              <a:gd name="adj" fmla="val 10811"/>
            </a:avLst>
          </a:prstGeom>
          <a:solidFill>
            <a:srgbClr val="EFEDED"/>
          </a:solidFill>
          <a:ln>
            <a:noFill/>
          </a:ln>
        </p:spPr>
      </p:sp>
      <p:sp>
        <p:nvSpPr>
          <p:cNvPr id="72" name="TextBox 72"/>
          <p:cNvSpPr txBox="1"/>
          <p:nvPr/>
        </p:nvSpPr>
        <p:spPr>
          <a:xfrm>
            <a:off x="4648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73" name="Rectangle 73"/>
          <p:cNvSpPr/>
          <p:nvPr/>
        </p:nvSpPr>
        <p:spPr>
          <a:xfrm>
            <a:off x="5029200" y="3486150"/>
            <a:ext cx="352425" cy="381000"/>
          </a:xfrm>
          <a:prstGeom prst="roundRect">
            <a:avLst>
              <a:gd name="adj" fmla="val 10811"/>
            </a:avLst>
          </a:prstGeom>
          <a:solidFill>
            <a:srgbClr val="EFEDED"/>
          </a:solidFill>
          <a:ln>
            <a:noFill/>
          </a:ln>
        </p:spPr>
      </p:sp>
      <p:sp>
        <p:nvSpPr>
          <p:cNvPr id="74" name="TextBox 74"/>
          <p:cNvSpPr txBox="1"/>
          <p:nvPr/>
        </p:nvSpPr>
        <p:spPr>
          <a:xfrm>
            <a:off x="5029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75" name="TextBox 75"/>
          <p:cNvSpPr txBox="1"/>
          <p:nvPr/>
        </p:nvSpPr>
        <p:spPr>
          <a:xfrm>
            <a:off x="5410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a:t>
            </a:r>
          </a:p>
        </p:txBody>
      </p:sp>
      <p:sp>
        <p:nvSpPr>
          <p:cNvPr id="76" name="Rectangle 76"/>
          <p:cNvSpPr/>
          <p:nvPr/>
        </p:nvSpPr>
        <p:spPr>
          <a:xfrm>
            <a:off x="5791200" y="3486150"/>
            <a:ext cx="352425" cy="381000"/>
          </a:xfrm>
          <a:prstGeom prst="roundRect">
            <a:avLst>
              <a:gd name="adj" fmla="val 10811"/>
            </a:avLst>
          </a:prstGeom>
          <a:solidFill>
            <a:srgbClr val="EFEDED"/>
          </a:solidFill>
          <a:ln>
            <a:noFill/>
          </a:ln>
        </p:spPr>
      </p:sp>
      <p:sp>
        <p:nvSpPr>
          <p:cNvPr id="77" name="TextBox 77"/>
          <p:cNvSpPr txBox="1"/>
          <p:nvPr/>
        </p:nvSpPr>
        <p:spPr>
          <a:xfrm>
            <a:off x="5791200" y="359854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78" name="TextBox 78"/>
          <p:cNvSpPr txBox="1"/>
          <p:nvPr/>
        </p:nvSpPr>
        <p:spPr>
          <a:xfrm>
            <a:off x="728662" y="4126706"/>
            <a:ext cx="1546765"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Species D × Hainan</a:t>
            </a:r>
          </a:p>
        </p:txBody>
      </p:sp>
      <p:sp>
        <p:nvSpPr>
          <p:cNvPr id="79" name="Rectangle 79"/>
          <p:cNvSpPr/>
          <p:nvPr/>
        </p:nvSpPr>
        <p:spPr>
          <a:xfrm>
            <a:off x="2362200" y="4000500"/>
            <a:ext cx="352425" cy="381000"/>
          </a:xfrm>
          <a:prstGeom prst="roundRect">
            <a:avLst>
              <a:gd name="adj" fmla="val 10811"/>
            </a:avLst>
          </a:prstGeom>
          <a:solidFill>
            <a:srgbClr val="EFEDED"/>
          </a:solidFill>
          <a:ln>
            <a:noFill/>
          </a:ln>
        </p:spPr>
      </p:sp>
      <p:sp>
        <p:nvSpPr>
          <p:cNvPr id="80" name="TextBox 80"/>
          <p:cNvSpPr txBox="1"/>
          <p:nvPr/>
        </p:nvSpPr>
        <p:spPr>
          <a:xfrm>
            <a:off x="2362200" y="41128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81" name="Rectangle 81"/>
          <p:cNvSpPr/>
          <p:nvPr/>
        </p:nvSpPr>
        <p:spPr>
          <a:xfrm>
            <a:off x="2743200" y="4000500"/>
            <a:ext cx="352425" cy="381000"/>
          </a:xfrm>
          <a:prstGeom prst="roundRect">
            <a:avLst>
              <a:gd name="adj" fmla="val 10811"/>
            </a:avLst>
          </a:prstGeom>
          <a:solidFill>
            <a:srgbClr val="EFEDED"/>
          </a:solidFill>
          <a:ln>
            <a:noFill/>
          </a:ln>
        </p:spPr>
      </p:sp>
      <p:sp>
        <p:nvSpPr>
          <p:cNvPr id="82" name="TextBox 82"/>
          <p:cNvSpPr txBox="1"/>
          <p:nvPr/>
        </p:nvSpPr>
        <p:spPr>
          <a:xfrm>
            <a:off x="2743200" y="41128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83" name="Rectangle 83"/>
          <p:cNvSpPr/>
          <p:nvPr/>
        </p:nvSpPr>
        <p:spPr>
          <a:xfrm>
            <a:off x="3124200" y="4000500"/>
            <a:ext cx="352425" cy="381000"/>
          </a:xfrm>
          <a:prstGeom prst="roundRect">
            <a:avLst>
              <a:gd name="adj" fmla="val 10811"/>
            </a:avLst>
          </a:prstGeom>
          <a:solidFill>
            <a:srgbClr val="EFEDED"/>
          </a:solidFill>
          <a:ln>
            <a:noFill/>
          </a:ln>
        </p:spPr>
      </p:sp>
      <p:sp>
        <p:nvSpPr>
          <p:cNvPr id="84" name="TextBox 84"/>
          <p:cNvSpPr txBox="1"/>
          <p:nvPr/>
        </p:nvSpPr>
        <p:spPr>
          <a:xfrm>
            <a:off x="3124200" y="41128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85" name="Rectangle 85"/>
          <p:cNvSpPr/>
          <p:nvPr/>
        </p:nvSpPr>
        <p:spPr>
          <a:xfrm>
            <a:off x="3505200" y="4000500"/>
            <a:ext cx="352425" cy="381000"/>
          </a:xfrm>
          <a:prstGeom prst="roundRect">
            <a:avLst>
              <a:gd name="adj" fmla="val 10811"/>
            </a:avLst>
          </a:prstGeom>
          <a:solidFill>
            <a:srgbClr val="EFEDED"/>
          </a:solidFill>
          <a:ln>
            <a:noFill/>
          </a:ln>
        </p:spPr>
      </p:sp>
      <p:sp>
        <p:nvSpPr>
          <p:cNvPr id="86" name="TextBox 86"/>
          <p:cNvSpPr txBox="1"/>
          <p:nvPr/>
        </p:nvSpPr>
        <p:spPr>
          <a:xfrm>
            <a:off x="3505200" y="41128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87" name="Rectangle 87"/>
          <p:cNvSpPr/>
          <p:nvPr/>
        </p:nvSpPr>
        <p:spPr>
          <a:xfrm>
            <a:off x="3886200" y="4000500"/>
            <a:ext cx="352425" cy="381000"/>
          </a:xfrm>
          <a:prstGeom prst="roundRect">
            <a:avLst>
              <a:gd name="adj" fmla="val 10811"/>
            </a:avLst>
          </a:prstGeom>
          <a:solidFill>
            <a:srgbClr val="EFEDED"/>
          </a:solidFill>
          <a:ln>
            <a:noFill/>
          </a:ln>
        </p:spPr>
      </p:sp>
      <p:sp>
        <p:nvSpPr>
          <p:cNvPr id="88" name="TextBox 88"/>
          <p:cNvSpPr txBox="1"/>
          <p:nvPr/>
        </p:nvSpPr>
        <p:spPr>
          <a:xfrm>
            <a:off x="3886200" y="41128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89" name="Rectangle 89"/>
          <p:cNvSpPr/>
          <p:nvPr/>
        </p:nvSpPr>
        <p:spPr>
          <a:xfrm>
            <a:off x="4267200" y="4000500"/>
            <a:ext cx="352425" cy="381000"/>
          </a:xfrm>
          <a:prstGeom prst="roundRect">
            <a:avLst>
              <a:gd name="adj" fmla="val 10811"/>
            </a:avLst>
          </a:prstGeom>
          <a:solidFill>
            <a:srgbClr val="EFEDED"/>
          </a:solidFill>
          <a:ln>
            <a:noFill/>
          </a:ln>
        </p:spPr>
      </p:sp>
      <p:sp>
        <p:nvSpPr>
          <p:cNvPr id="90" name="TextBox 90"/>
          <p:cNvSpPr txBox="1"/>
          <p:nvPr/>
        </p:nvSpPr>
        <p:spPr>
          <a:xfrm>
            <a:off x="4267200" y="41128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91" name="Rectangle 91"/>
          <p:cNvSpPr/>
          <p:nvPr/>
        </p:nvSpPr>
        <p:spPr>
          <a:xfrm>
            <a:off x="4648200" y="4000500"/>
            <a:ext cx="352425" cy="381000"/>
          </a:xfrm>
          <a:prstGeom prst="roundRect">
            <a:avLst>
              <a:gd name="adj" fmla="val 10811"/>
            </a:avLst>
          </a:prstGeom>
          <a:solidFill>
            <a:srgbClr val="EFEDED"/>
          </a:solidFill>
          <a:ln>
            <a:noFill/>
          </a:ln>
        </p:spPr>
      </p:sp>
      <p:sp>
        <p:nvSpPr>
          <p:cNvPr id="92" name="TextBox 92"/>
          <p:cNvSpPr txBox="1"/>
          <p:nvPr/>
        </p:nvSpPr>
        <p:spPr>
          <a:xfrm>
            <a:off x="4648200" y="4112895"/>
            <a:ext cx="352425" cy="214312"/>
          </a:xfrm>
          <a:prstGeom prst="rect">
            <a:avLst/>
          </a:prstGeom>
          <a:noFill/>
          <a:ln>
            <a:noFill/>
          </a:ln>
        </p:spPr>
        <p:txBody>
          <a:bodyPr wrap="square" lIns="0" tIns="0" rIns="0" bIns="0" anchor="t" anchorCtr="0">
            <a:normAutofit/>
          </a:bodyPr>
          <a:lstStyle/>
          <a:p>
            <a:pPr algn="ctr"/>
            <a:r>
              <a:rPr lang="zh-CN" sz="1125" dirty="0">
                <a:solidFill>
                  <a:srgbClr val="6B6B6B"/>
                </a:solidFill>
                <a:latin typeface="Arial"/>
                <a:ea typeface="Microsoft YaHei"/>
                <a:cs typeface="Arial"/>
              </a:rPr>
              <a:t>0</a:t>
            </a:r>
          </a:p>
        </p:txBody>
      </p:sp>
      <p:sp>
        <p:nvSpPr>
          <p:cNvPr id="93" name="Rectangle 93"/>
          <p:cNvSpPr/>
          <p:nvPr/>
        </p:nvSpPr>
        <p:spPr>
          <a:xfrm>
            <a:off x="5029200" y="4000500"/>
            <a:ext cx="352425" cy="381000"/>
          </a:xfrm>
          <a:prstGeom prst="roundRect">
            <a:avLst>
              <a:gd name="adj" fmla="val 10811"/>
            </a:avLst>
          </a:prstGeom>
          <a:solidFill>
            <a:srgbClr val="8B0012"/>
          </a:solidFill>
          <a:ln>
            <a:noFill/>
          </a:ln>
        </p:spPr>
      </p:sp>
      <p:sp>
        <p:nvSpPr>
          <p:cNvPr id="94" name="TextBox 94"/>
          <p:cNvSpPr txBox="1"/>
          <p:nvPr/>
        </p:nvSpPr>
        <p:spPr>
          <a:xfrm>
            <a:off x="5029200" y="4103370"/>
            <a:ext cx="352425" cy="228600"/>
          </a:xfrm>
          <a:prstGeom prst="rect">
            <a:avLst/>
          </a:prstGeom>
          <a:noFill/>
          <a:ln>
            <a:noFill/>
          </a:ln>
        </p:spPr>
        <p:txBody>
          <a:bodyPr wrap="square" lIns="0" tIns="0" rIns="0" bIns="0" anchor="t" anchorCtr="0">
            <a:normAutofit/>
          </a:bodyPr>
          <a:lstStyle/>
          <a:p>
            <a:pPr algn="ctr"/>
            <a:r>
              <a:rPr lang="zh-CN" sz="1200" b="1" dirty="0">
                <a:solidFill>
                  <a:srgbClr val="FFFFFF"/>
                </a:solidFill>
                <a:latin typeface="Arial"/>
                <a:ea typeface="Microsoft YaHei"/>
                <a:cs typeface="Arial"/>
              </a:rPr>
              <a:t>1</a:t>
            </a:r>
          </a:p>
        </p:txBody>
      </p:sp>
      <p:sp>
        <p:nvSpPr>
          <p:cNvPr id="95" name="Rectangle 95"/>
          <p:cNvSpPr/>
          <p:nvPr/>
        </p:nvSpPr>
        <p:spPr>
          <a:xfrm>
            <a:off x="5800725" y="4010025"/>
            <a:ext cx="333375" cy="361950"/>
          </a:xfrm>
          <a:prstGeom prst="roundRect">
            <a:avLst>
              <a:gd name="adj" fmla="val 11429"/>
            </a:avLst>
          </a:prstGeom>
          <a:solidFill>
            <a:srgbClr val="FFFFFF"/>
          </a:solidFill>
          <a:ln w="9525">
            <a:solidFill>
              <a:srgbClr val="E7E2E3"/>
            </a:solidFill>
          </a:ln>
        </p:spPr>
      </p:sp>
      <p:sp>
        <p:nvSpPr>
          <p:cNvPr id="96" name="Rectangle 96"/>
          <p:cNvSpPr/>
          <p:nvPr/>
        </p:nvSpPr>
        <p:spPr>
          <a:xfrm>
            <a:off x="742950" y="4648200"/>
            <a:ext cx="247650" cy="209550"/>
          </a:xfrm>
          <a:prstGeom prst="roundRect">
            <a:avLst>
              <a:gd name="adj" fmla="val 13636"/>
            </a:avLst>
          </a:prstGeom>
          <a:solidFill>
            <a:srgbClr val="EFEDED"/>
          </a:solidFill>
          <a:ln>
            <a:noFill/>
          </a:ln>
        </p:spPr>
      </p:sp>
      <p:sp>
        <p:nvSpPr>
          <p:cNvPr id="97" name="TextBox 97"/>
          <p:cNvSpPr txBox="1"/>
          <p:nvPr/>
        </p:nvSpPr>
        <p:spPr>
          <a:xfrm>
            <a:off x="1053465" y="4696778"/>
            <a:ext cx="1376172"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at risk, no record</a:t>
            </a:r>
          </a:p>
        </p:txBody>
      </p:sp>
      <p:sp>
        <p:nvSpPr>
          <p:cNvPr id="98" name="Rectangle 98"/>
          <p:cNvSpPr/>
          <p:nvPr/>
        </p:nvSpPr>
        <p:spPr>
          <a:xfrm>
            <a:off x="2495550" y="4648200"/>
            <a:ext cx="247650" cy="209550"/>
          </a:xfrm>
          <a:prstGeom prst="roundRect">
            <a:avLst>
              <a:gd name="adj" fmla="val 13636"/>
            </a:avLst>
          </a:prstGeom>
          <a:solidFill>
            <a:srgbClr val="8B0012"/>
          </a:solidFill>
          <a:ln>
            <a:noFill/>
          </a:ln>
        </p:spPr>
      </p:sp>
      <p:sp>
        <p:nvSpPr>
          <p:cNvPr id="99" name="TextBox 99"/>
          <p:cNvSpPr txBox="1"/>
          <p:nvPr/>
        </p:nvSpPr>
        <p:spPr>
          <a:xfrm>
            <a:off x="2806065" y="4696778"/>
            <a:ext cx="977456"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first record</a:t>
            </a:r>
          </a:p>
        </p:txBody>
      </p:sp>
      <p:grpSp>
        <p:nvGrpSpPr>
          <p:cNvPr id="102" name="Group 102"/>
          <p:cNvGrpSpPr/>
          <p:nvPr/>
        </p:nvGrpSpPr>
        <p:grpSpPr>
          <a:xfrm>
            <a:off x="3599920" y="4621825"/>
            <a:ext cx="232704" cy="204971"/>
            <a:chOff x="3599920" y="4621825"/>
            <a:chExt cx="232704" cy="204971"/>
          </a:xfrm>
        </p:grpSpPr>
        <p:sp>
          <p:nvSpPr>
            <p:cNvPr id="100" name="Freeform 100"/>
            <p:cNvSpPr/>
            <p:nvPr/>
          </p:nvSpPr>
          <p:spPr>
            <a:xfrm>
              <a:off x="3608189" y="4630471"/>
              <a:ext cx="216694" cy="188584"/>
            </a:xfrm>
            <a:custGeom>
              <a:avLst/>
              <a:gdLst/>
              <a:ahLst/>
              <a:cxnLst/>
              <a:rect l="l" t="t" r="r" b="b"/>
              <a:pathLst>
                <a:path w="216694" h="188584">
                  <a:moveTo>
                    <a:pt x="216694" y="57020"/>
                  </a:moveTo>
                  <a:lnTo>
                    <a:pt x="193477" y="72498"/>
                  </a:lnTo>
                  <a:lnTo>
                    <a:pt x="193477" y="95715"/>
                  </a:lnTo>
                  <a:cubicBezTo>
                    <a:pt x="193477" y="147005"/>
                    <a:pt x="151898" y="188584"/>
                    <a:pt x="100608" y="188584"/>
                  </a:cubicBezTo>
                  <a:lnTo>
                    <a:pt x="0" y="188584"/>
                  </a:lnTo>
                  <a:lnTo>
                    <a:pt x="92869" y="72498"/>
                  </a:lnTo>
                  <a:lnTo>
                    <a:pt x="92869" y="53151"/>
                  </a:lnTo>
                  <a:cubicBezTo>
                    <a:pt x="92850" y="27826"/>
                    <a:pt x="111661" y="6436"/>
                    <a:pt x="136780" y="3218"/>
                  </a:cubicBezTo>
                  <a:cubicBezTo>
                    <a:pt x="161899" y="0"/>
                    <a:pt x="185495" y="15957"/>
                    <a:pt x="191861" y="40468"/>
                  </a:cubicBezTo>
                  <a:close/>
                </a:path>
              </a:pathLst>
            </a:custGeom>
            <a:solidFill>
              <a:srgbClr val="A86A00">
                <a:alpha val="20000"/>
              </a:srgbClr>
            </a:solidFill>
            <a:ln>
              <a:noFill/>
            </a:ln>
          </p:spPr>
        </p:sp>
        <p:sp>
          <p:nvSpPr>
            <p:cNvPr id="101" name="Freeform 101"/>
            <p:cNvSpPr/>
            <p:nvPr/>
          </p:nvSpPr>
          <p:spPr>
            <a:xfrm>
              <a:off x="3599920" y="4621825"/>
              <a:ext cx="232704" cy="204971"/>
            </a:xfrm>
            <a:custGeom>
              <a:avLst/>
              <a:gdLst/>
              <a:ahLst/>
              <a:cxnLst/>
              <a:rect l="l" t="t" r="r" b="b"/>
              <a:pathLst>
                <a:path w="232704" h="204971">
                  <a:moveTo>
                    <a:pt x="170790" y="54057"/>
                  </a:moveTo>
                  <a:cubicBezTo>
                    <a:pt x="170790" y="60469"/>
                    <a:pt x="165592" y="65666"/>
                    <a:pt x="159181" y="65666"/>
                  </a:cubicBezTo>
                  <a:cubicBezTo>
                    <a:pt x="152770" y="65666"/>
                    <a:pt x="147572" y="60469"/>
                    <a:pt x="147572" y="54057"/>
                  </a:cubicBezTo>
                  <a:cubicBezTo>
                    <a:pt x="147572" y="47646"/>
                    <a:pt x="152770" y="42449"/>
                    <a:pt x="159181" y="42449"/>
                  </a:cubicBezTo>
                  <a:cubicBezTo>
                    <a:pt x="165592" y="42449"/>
                    <a:pt x="170790" y="47646"/>
                    <a:pt x="170790" y="54057"/>
                  </a:cubicBezTo>
                  <a:close/>
                  <a:moveTo>
                    <a:pt x="121569" y="113890"/>
                  </a:moveTo>
                  <a:cubicBezTo>
                    <a:pt x="119995" y="112572"/>
                    <a:pt x="117962" y="111934"/>
                    <a:pt x="115918" y="112116"/>
                  </a:cubicBezTo>
                  <a:cubicBezTo>
                    <a:pt x="113873" y="112297"/>
                    <a:pt x="111984" y="113283"/>
                    <a:pt x="110667" y="114857"/>
                  </a:cubicBezTo>
                  <a:lnTo>
                    <a:pt x="71971" y="161292"/>
                  </a:lnTo>
                  <a:cubicBezTo>
                    <a:pt x="69236" y="164578"/>
                    <a:pt x="69682" y="169459"/>
                    <a:pt x="72968" y="172194"/>
                  </a:cubicBezTo>
                  <a:cubicBezTo>
                    <a:pt x="76254" y="174930"/>
                    <a:pt x="81135" y="174484"/>
                    <a:pt x="83870" y="171198"/>
                  </a:cubicBezTo>
                  <a:lnTo>
                    <a:pt x="122566" y="124763"/>
                  </a:lnTo>
                  <a:cubicBezTo>
                    <a:pt x="125283" y="121482"/>
                    <a:pt x="124837" y="116623"/>
                    <a:pt x="121569" y="113890"/>
                  </a:cubicBezTo>
                  <a:close/>
                  <a:moveTo>
                    <a:pt x="232702" y="65666"/>
                  </a:moveTo>
                  <a:cubicBezTo>
                    <a:pt x="232704" y="68254"/>
                    <a:pt x="231411" y="70672"/>
                    <a:pt x="229258" y="72109"/>
                  </a:cubicBezTo>
                  <a:lnTo>
                    <a:pt x="209485" y="85285"/>
                  </a:lnTo>
                  <a:lnTo>
                    <a:pt x="209485" y="104361"/>
                  </a:lnTo>
                  <a:cubicBezTo>
                    <a:pt x="209426" y="159901"/>
                    <a:pt x="164417" y="204910"/>
                    <a:pt x="108877" y="204969"/>
                  </a:cubicBezTo>
                  <a:lnTo>
                    <a:pt x="8269" y="204969"/>
                  </a:lnTo>
                  <a:cubicBezTo>
                    <a:pt x="5293" y="204971"/>
                    <a:pt x="2579" y="203266"/>
                    <a:pt x="1290" y="200583"/>
                  </a:cubicBezTo>
                  <a:cubicBezTo>
                    <a:pt x="0" y="197901"/>
                    <a:pt x="363" y="194717"/>
                    <a:pt x="2223" y="192393"/>
                  </a:cubicBezTo>
                  <a:lnTo>
                    <a:pt x="93399" y="78426"/>
                  </a:lnTo>
                  <a:lnTo>
                    <a:pt x="93399" y="61796"/>
                  </a:lnTo>
                  <a:cubicBezTo>
                    <a:pt x="93372" y="33147"/>
                    <a:pt x="114252" y="8763"/>
                    <a:pt x="142565" y="4382"/>
                  </a:cubicBezTo>
                  <a:cubicBezTo>
                    <a:pt x="170877" y="0"/>
                    <a:pt x="198151" y="16931"/>
                    <a:pt x="206786" y="44248"/>
                  </a:cubicBezTo>
                  <a:lnTo>
                    <a:pt x="229258" y="59223"/>
                  </a:lnTo>
                  <a:cubicBezTo>
                    <a:pt x="231411" y="60660"/>
                    <a:pt x="232704" y="63078"/>
                    <a:pt x="232702" y="65666"/>
                  </a:cubicBezTo>
                  <a:close/>
                  <a:moveTo>
                    <a:pt x="211013" y="65666"/>
                  </a:moveTo>
                  <a:lnTo>
                    <a:pt x="195845" y="55547"/>
                  </a:lnTo>
                  <a:cubicBezTo>
                    <a:pt x="194263" y="54495"/>
                    <a:pt x="193123" y="52897"/>
                    <a:pt x="192643" y="51059"/>
                  </a:cubicBezTo>
                  <a:cubicBezTo>
                    <a:pt x="187260" y="30311"/>
                    <a:pt x="167290" y="16803"/>
                    <a:pt x="146030" y="19528"/>
                  </a:cubicBezTo>
                  <a:cubicBezTo>
                    <a:pt x="124770" y="22254"/>
                    <a:pt x="108852" y="40362"/>
                    <a:pt x="108877" y="61796"/>
                  </a:cubicBezTo>
                  <a:lnTo>
                    <a:pt x="108877" y="81144"/>
                  </a:lnTo>
                  <a:cubicBezTo>
                    <a:pt x="108879" y="82902"/>
                    <a:pt x="108281" y="84608"/>
                    <a:pt x="107184" y="85981"/>
                  </a:cubicBezTo>
                  <a:lnTo>
                    <a:pt x="24367" y="189491"/>
                  </a:lnTo>
                  <a:lnTo>
                    <a:pt x="108877" y="189491"/>
                  </a:lnTo>
                  <a:cubicBezTo>
                    <a:pt x="155871" y="189438"/>
                    <a:pt x="193954" y="151355"/>
                    <a:pt x="194007" y="104361"/>
                  </a:cubicBezTo>
                  <a:lnTo>
                    <a:pt x="194007" y="81144"/>
                  </a:lnTo>
                  <a:cubicBezTo>
                    <a:pt x="194005" y="78556"/>
                    <a:pt x="195298" y="76138"/>
                    <a:pt x="197451" y="74701"/>
                  </a:cubicBezTo>
                  <a:close/>
                </a:path>
              </a:pathLst>
            </a:custGeom>
            <a:solidFill>
              <a:srgbClr val="A86A00"/>
            </a:solidFill>
            <a:ln>
              <a:noFill/>
            </a:ln>
          </p:spPr>
        </p:sp>
      </p:grpSp>
      <p:sp>
        <p:nvSpPr>
          <p:cNvPr id="103" name="Rectangle 103"/>
          <p:cNvSpPr/>
          <p:nvPr/>
        </p:nvSpPr>
        <p:spPr>
          <a:xfrm>
            <a:off x="4057650" y="4648200"/>
            <a:ext cx="247650" cy="209550"/>
          </a:xfrm>
          <a:prstGeom prst="roundRect">
            <a:avLst>
              <a:gd name="adj" fmla="val 13636"/>
            </a:avLst>
          </a:prstGeom>
          <a:solidFill>
            <a:srgbClr val="FFFFFF"/>
          </a:solidFill>
          <a:ln w="9525">
            <a:solidFill>
              <a:srgbClr val="E7E2E3"/>
            </a:solidFill>
          </a:ln>
        </p:spPr>
      </p:sp>
      <p:sp>
        <p:nvSpPr>
          <p:cNvPr id="104" name="TextBox 104"/>
          <p:cNvSpPr txBox="1"/>
          <p:nvPr/>
        </p:nvSpPr>
        <p:spPr>
          <a:xfrm>
            <a:off x="4368165" y="4696778"/>
            <a:ext cx="1290295"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left the risk set</a:t>
            </a:r>
          </a:p>
        </p:txBody>
      </p:sp>
      <p:sp>
        <p:nvSpPr>
          <p:cNvPr id="105" name="Rectangle 105"/>
          <p:cNvSpPr/>
          <p:nvPr/>
        </p:nvSpPr>
        <p:spPr>
          <a:xfrm>
            <a:off x="742950" y="5086350"/>
            <a:ext cx="5257800" cy="704850"/>
          </a:xfrm>
          <a:prstGeom prst="roundRect">
            <a:avLst>
              <a:gd name="adj" fmla="val 10811"/>
            </a:avLst>
          </a:prstGeom>
          <a:solidFill>
            <a:srgbClr val="F8F2F3"/>
          </a:solidFill>
          <a:ln>
            <a:noFill/>
          </a:ln>
        </p:spPr>
      </p:sp>
      <p:sp>
        <p:nvSpPr>
          <p:cNvPr id="106" name="TextBox 106"/>
          <p:cNvSpPr txBox="1"/>
          <p:nvPr/>
        </p:nvSpPr>
        <p:spPr>
          <a:xfrm>
            <a:off x="800100" y="5191125"/>
            <a:ext cx="5143500" cy="285750"/>
          </a:xfrm>
          <a:prstGeom prst="rect">
            <a:avLst/>
          </a:prstGeom>
          <a:noFill/>
          <a:ln>
            <a:noFill/>
          </a:ln>
        </p:spPr>
        <p:txBody>
          <a:bodyPr wrap="square" lIns="0" tIns="0" rIns="0" bIns="0" anchor="t" anchorCtr="0">
            <a:normAutofit/>
          </a:bodyPr>
          <a:lstStyle/>
          <a:p>
            <a:pPr algn="ctr"/>
            <a:r>
              <a:rPr lang="zh-CN" sz="1500" b="1" dirty="0">
                <a:solidFill>
                  <a:srgbClr val="68000D"/>
                </a:solidFill>
                <a:latin typeface="Arial"/>
                <a:ea typeface="Microsoft YaHei"/>
                <a:cs typeface="Arial"/>
              </a:rPr>
              <a:t>175,901 cells · 649 first records</a:t>
            </a:r>
          </a:p>
        </p:txBody>
      </p:sp>
      <p:sp>
        <p:nvSpPr>
          <p:cNvPr id="107" name="TextBox 107"/>
          <p:cNvSpPr txBox="1"/>
          <p:nvPr/>
        </p:nvSpPr>
        <p:spPr>
          <a:xfrm>
            <a:off x="800100" y="5494020"/>
            <a:ext cx="5143500" cy="228600"/>
          </a:xfrm>
          <a:prstGeom prst="rect">
            <a:avLst/>
          </a:prstGeom>
          <a:noFill/>
          <a:ln>
            <a:noFill/>
          </a:ln>
        </p:spPr>
        <p:txBody>
          <a:bodyPr wrap="square" lIns="0" tIns="0" rIns="0" bIns="0" anchor="t" anchorCtr="0">
            <a:normAutofit/>
          </a:bodyPr>
          <a:lstStyle/>
          <a:p>
            <a:pPr algn="ctr"/>
            <a:r>
              <a:rPr lang="zh-CN" sz="1200" dirty="0">
                <a:solidFill>
                  <a:srgbClr val="3F3F3F"/>
                </a:solidFill>
                <a:latin typeface="Arial"/>
                <a:ea typeface="Microsoft YaHei"/>
                <a:cs typeface="Arial"/>
              </a:rPr>
              <a:t>392 species · 31 provinces · 2002–2024</a:t>
            </a:r>
          </a:p>
        </p:txBody>
      </p:sp>
      <p:sp>
        <p:nvSpPr>
          <p:cNvPr id="108" name="Rectangle 108"/>
          <p:cNvSpPr/>
          <p:nvPr/>
        </p:nvSpPr>
        <p:spPr>
          <a:xfrm>
            <a:off x="6457950" y="1390650"/>
            <a:ext cx="5219700" cy="1428750"/>
          </a:xfrm>
          <a:prstGeom prst="roundRect">
            <a:avLst>
              <a:gd name="adj" fmla="val 6667"/>
            </a:avLst>
          </a:prstGeom>
          <a:solidFill>
            <a:srgbClr val="8B0012"/>
          </a:solidFill>
          <a:ln>
            <a:noFill/>
          </a:ln>
        </p:spPr>
      </p:sp>
      <p:sp>
        <p:nvSpPr>
          <p:cNvPr id="109" name="TextBox 109"/>
          <p:cNvSpPr txBox="1"/>
          <p:nvPr/>
        </p:nvSpPr>
        <p:spPr>
          <a:xfrm>
            <a:off x="6650355" y="1587818"/>
            <a:ext cx="469075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first record ~ warming × effort + variability</a:t>
            </a:r>
          </a:p>
        </p:txBody>
      </p:sp>
      <p:sp>
        <p:nvSpPr>
          <p:cNvPr id="110" name="TextBox 110"/>
          <p:cNvSpPr txBox="1"/>
          <p:nvPr/>
        </p:nvSpPr>
        <p:spPr>
          <a:xfrm>
            <a:off x="6650355" y="1854518"/>
            <a:ext cx="285993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 offset(log completeness)</a:t>
            </a:r>
          </a:p>
        </p:txBody>
      </p:sp>
      <p:sp>
        <p:nvSpPr>
          <p:cNvPr id="111" name="TextBox 111"/>
          <p:cNvSpPr txBox="1"/>
          <p:nvPr/>
        </p:nvSpPr>
        <p:spPr>
          <a:xfrm>
            <a:off x="6652260" y="2137410"/>
            <a:ext cx="4757242"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 (1 | species) + (1 | province) + (1 | province × year)</a:t>
            </a:r>
          </a:p>
        </p:txBody>
      </p:sp>
      <p:sp>
        <p:nvSpPr>
          <p:cNvPr id="112" name="TextBox 112"/>
          <p:cNvSpPr txBox="1"/>
          <p:nvPr/>
        </p:nvSpPr>
        <p:spPr>
          <a:xfrm>
            <a:off x="6653212" y="2488406"/>
            <a:ext cx="4300537" cy="228600"/>
          </a:xfrm>
          <a:prstGeom prst="rect">
            <a:avLst/>
          </a:prstGeom>
          <a:noFill/>
          <a:ln>
            <a:noFill/>
          </a:ln>
        </p:spPr>
        <p:txBody>
          <a:bodyPr wrap="none" lIns="0" tIns="0" rIns="0" bIns="0" anchor="t" anchorCtr="0">
            <a:spAutoFit/>
          </a:bodyPr>
          <a:lstStyle/>
          <a:p>
            <a:pPr algn="l"/>
            <a:r>
              <a:rPr lang="zh-CN" sz="1125" dirty="0">
                <a:solidFill>
                  <a:srgbClr val="E8CDD1"/>
                </a:solidFill>
                <a:latin typeface="Arial"/>
                <a:ea typeface="Microsoft YaHei"/>
                <a:cs typeface="Arial"/>
              </a:rPr>
              <a:t>Binomial, cloglog link: exp(β) is a hazard ratio per SD</a:t>
            </a:r>
          </a:p>
        </p:txBody>
      </p:sp>
      <p:sp>
        <p:nvSpPr>
          <p:cNvPr id="113" name="Rectangle 113"/>
          <p:cNvSpPr/>
          <p:nvPr/>
        </p:nvSpPr>
        <p:spPr>
          <a:xfrm>
            <a:off x="6457950" y="2990850"/>
            <a:ext cx="5219700" cy="762000"/>
          </a:xfrm>
          <a:prstGeom prst="roundRect">
            <a:avLst>
              <a:gd name="adj" fmla="val 12500"/>
            </a:avLst>
          </a:prstGeom>
          <a:solidFill>
            <a:srgbClr val="FFFFFF"/>
          </a:solidFill>
          <a:ln w="13335">
            <a:solidFill>
              <a:srgbClr val="EAB2A0"/>
            </a:solidFill>
          </a:ln>
        </p:spPr>
      </p:sp>
      <p:grpSp>
        <p:nvGrpSpPr>
          <p:cNvPr id="116" name="Group 116"/>
          <p:cNvGrpSpPr/>
          <p:nvPr/>
        </p:nvGrpSpPr>
        <p:grpSpPr>
          <a:xfrm>
            <a:off x="6691211" y="3175397"/>
            <a:ext cx="326415" cy="401089"/>
            <a:chOff x="6691211" y="3175397"/>
            <a:chExt cx="326415" cy="401089"/>
          </a:xfrm>
        </p:grpSpPr>
        <p:sp>
          <p:nvSpPr>
            <p:cNvPr id="114" name="Freeform 114"/>
            <p:cNvSpPr/>
            <p:nvPr/>
          </p:nvSpPr>
          <p:spPr>
            <a:xfrm>
              <a:off x="6707337" y="3188494"/>
              <a:ext cx="198933" cy="366641"/>
            </a:xfrm>
            <a:custGeom>
              <a:avLst/>
              <a:gdLst/>
              <a:ahLst/>
              <a:cxnLst/>
              <a:rect l="l" t="t" r="r" b="b"/>
              <a:pathLst>
                <a:path w="198933" h="366641">
                  <a:moveTo>
                    <a:pt x="151854" y="199727"/>
                  </a:moveTo>
                  <a:lnTo>
                    <a:pt x="151854" y="52388"/>
                  </a:lnTo>
                  <a:cubicBezTo>
                    <a:pt x="151854" y="23455"/>
                    <a:pt x="128399" y="0"/>
                    <a:pt x="99466" y="0"/>
                  </a:cubicBezTo>
                  <a:cubicBezTo>
                    <a:pt x="70533" y="0"/>
                    <a:pt x="47079" y="23455"/>
                    <a:pt x="47079" y="52388"/>
                  </a:cubicBezTo>
                  <a:lnTo>
                    <a:pt x="47079" y="199727"/>
                  </a:lnTo>
                  <a:cubicBezTo>
                    <a:pt x="14206" y="222617"/>
                    <a:pt x="0" y="264198"/>
                    <a:pt x="11995" y="302417"/>
                  </a:cubicBezTo>
                  <a:cubicBezTo>
                    <a:pt x="23990" y="340635"/>
                    <a:pt x="59410" y="366641"/>
                    <a:pt x="99466" y="366641"/>
                  </a:cubicBezTo>
                  <a:cubicBezTo>
                    <a:pt x="139523" y="366641"/>
                    <a:pt x="174942" y="340635"/>
                    <a:pt x="186937" y="302417"/>
                  </a:cubicBezTo>
                  <a:cubicBezTo>
                    <a:pt x="198933" y="264198"/>
                    <a:pt x="184726" y="222617"/>
                    <a:pt x="151854" y="199727"/>
                  </a:cubicBezTo>
                  <a:close/>
                  <a:moveTo>
                    <a:pt x="99466" y="314325"/>
                  </a:moveTo>
                  <a:cubicBezTo>
                    <a:pt x="77767" y="314325"/>
                    <a:pt x="60176" y="296734"/>
                    <a:pt x="60176" y="275034"/>
                  </a:cubicBezTo>
                  <a:cubicBezTo>
                    <a:pt x="60176" y="253335"/>
                    <a:pt x="77767" y="235744"/>
                    <a:pt x="99466" y="235744"/>
                  </a:cubicBezTo>
                  <a:cubicBezTo>
                    <a:pt x="121166" y="235744"/>
                    <a:pt x="138757" y="253335"/>
                    <a:pt x="138757" y="275034"/>
                  </a:cubicBezTo>
                  <a:cubicBezTo>
                    <a:pt x="138757" y="296734"/>
                    <a:pt x="121166" y="314325"/>
                    <a:pt x="99466" y="314325"/>
                  </a:cubicBezTo>
                  <a:close/>
                </a:path>
              </a:pathLst>
            </a:custGeom>
            <a:solidFill>
              <a:srgbClr val="D1552C">
                <a:alpha val="20000"/>
              </a:srgbClr>
            </a:solidFill>
            <a:ln>
              <a:noFill/>
            </a:ln>
          </p:spPr>
        </p:sp>
        <p:sp>
          <p:nvSpPr>
            <p:cNvPr id="115" name="Freeform 115"/>
            <p:cNvSpPr/>
            <p:nvPr/>
          </p:nvSpPr>
          <p:spPr>
            <a:xfrm>
              <a:off x="6691211" y="3175397"/>
              <a:ext cx="326415" cy="401089"/>
            </a:xfrm>
            <a:custGeom>
              <a:avLst/>
              <a:gdLst/>
              <a:ahLst/>
              <a:cxnLst/>
              <a:rect l="l" t="t" r="r" b="b"/>
              <a:pathLst>
                <a:path w="326415" h="401089">
                  <a:moveTo>
                    <a:pt x="209579" y="118756"/>
                  </a:moveTo>
                  <a:cubicBezTo>
                    <a:pt x="205483" y="112801"/>
                    <a:pt x="206985" y="104654"/>
                    <a:pt x="212935" y="100551"/>
                  </a:cubicBezTo>
                  <a:cubicBezTo>
                    <a:pt x="229961" y="88797"/>
                    <a:pt x="256613" y="88797"/>
                    <a:pt x="273639" y="100551"/>
                  </a:cubicBezTo>
                  <a:cubicBezTo>
                    <a:pt x="281825" y="106232"/>
                    <a:pt x="296362" y="106232"/>
                    <a:pt x="304613" y="100551"/>
                  </a:cubicBezTo>
                  <a:cubicBezTo>
                    <a:pt x="310555" y="96776"/>
                    <a:pt x="318419" y="98373"/>
                    <a:pt x="322417" y="104168"/>
                  </a:cubicBezTo>
                  <a:cubicBezTo>
                    <a:pt x="326415" y="109962"/>
                    <a:pt x="325117" y="117881"/>
                    <a:pt x="319478" y="122096"/>
                  </a:cubicBezTo>
                  <a:cubicBezTo>
                    <a:pt x="300947" y="133837"/>
                    <a:pt x="277305" y="133837"/>
                    <a:pt x="258774" y="122096"/>
                  </a:cubicBezTo>
                  <a:cubicBezTo>
                    <a:pt x="250588" y="116415"/>
                    <a:pt x="236051" y="116415"/>
                    <a:pt x="227800" y="122096"/>
                  </a:cubicBezTo>
                  <a:cubicBezTo>
                    <a:pt x="224941" y="124070"/>
                    <a:pt x="221415" y="124827"/>
                    <a:pt x="217998" y="124200"/>
                  </a:cubicBezTo>
                  <a:cubicBezTo>
                    <a:pt x="214580" y="123574"/>
                    <a:pt x="211552" y="121615"/>
                    <a:pt x="209579" y="118756"/>
                  </a:cubicBezTo>
                  <a:close/>
                  <a:moveTo>
                    <a:pt x="304613" y="152939"/>
                  </a:moveTo>
                  <a:cubicBezTo>
                    <a:pt x="296428" y="158620"/>
                    <a:pt x="281890" y="158620"/>
                    <a:pt x="273639" y="152939"/>
                  </a:cubicBezTo>
                  <a:cubicBezTo>
                    <a:pt x="256613" y="141184"/>
                    <a:pt x="229961" y="141184"/>
                    <a:pt x="212935" y="152939"/>
                  </a:cubicBezTo>
                  <a:cubicBezTo>
                    <a:pt x="208886" y="155512"/>
                    <a:pt x="206567" y="160093"/>
                    <a:pt x="206892" y="164879"/>
                  </a:cubicBezTo>
                  <a:cubicBezTo>
                    <a:pt x="207217" y="169666"/>
                    <a:pt x="210132" y="173892"/>
                    <a:pt x="214492" y="175894"/>
                  </a:cubicBezTo>
                  <a:cubicBezTo>
                    <a:pt x="218852" y="177897"/>
                    <a:pt x="223957" y="177355"/>
                    <a:pt x="227800" y="174483"/>
                  </a:cubicBezTo>
                  <a:cubicBezTo>
                    <a:pt x="235985" y="168802"/>
                    <a:pt x="250523" y="168802"/>
                    <a:pt x="258774" y="174483"/>
                  </a:cubicBezTo>
                  <a:cubicBezTo>
                    <a:pt x="277305" y="186225"/>
                    <a:pt x="300947" y="186225"/>
                    <a:pt x="319478" y="174483"/>
                  </a:cubicBezTo>
                  <a:cubicBezTo>
                    <a:pt x="325117" y="170268"/>
                    <a:pt x="326415" y="162350"/>
                    <a:pt x="322417" y="156555"/>
                  </a:cubicBezTo>
                  <a:cubicBezTo>
                    <a:pt x="318419" y="150761"/>
                    <a:pt x="310555" y="149163"/>
                    <a:pt x="304613" y="152939"/>
                  </a:cubicBezTo>
                  <a:close/>
                  <a:moveTo>
                    <a:pt x="167980" y="288131"/>
                  </a:moveTo>
                  <a:cubicBezTo>
                    <a:pt x="167966" y="315352"/>
                    <a:pt x="147107" y="338027"/>
                    <a:pt x="119982" y="340308"/>
                  </a:cubicBezTo>
                  <a:cubicBezTo>
                    <a:pt x="92857" y="342589"/>
                    <a:pt x="68504" y="323716"/>
                    <a:pt x="63945" y="296879"/>
                  </a:cubicBezTo>
                  <a:cubicBezTo>
                    <a:pt x="59386" y="270043"/>
                    <a:pt x="76139" y="244186"/>
                    <a:pt x="102496" y="237381"/>
                  </a:cubicBezTo>
                  <a:lnTo>
                    <a:pt x="102496" y="65484"/>
                  </a:lnTo>
                  <a:cubicBezTo>
                    <a:pt x="102496" y="58251"/>
                    <a:pt x="108359" y="52388"/>
                    <a:pt x="115592" y="52388"/>
                  </a:cubicBezTo>
                  <a:cubicBezTo>
                    <a:pt x="122826" y="52388"/>
                    <a:pt x="128689" y="58251"/>
                    <a:pt x="128689" y="65484"/>
                  </a:cubicBezTo>
                  <a:lnTo>
                    <a:pt x="128689" y="237381"/>
                  </a:lnTo>
                  <a:cubicBezTo>
                    <a:pt x="151809" y="243386"/>
                    <a:pt x="167957" y="264245"/>
                    <a:pt x="167980" y="288131"/>
                  </a:cubicBezTo>
                  <a:close/>
                  <a:moveTo>
                    <a:pt x="141786" y="288131"/>
                  </a:moveTo>
                  <a:cubicBezTo>
                    <a:pt x="141786" y="273665"/>
                    <a:pt x="130059" y="261938"/>
                    <a:pt x="115592" y="261938"/>
                  </a:cubicBezTo>
                  <a:cubicBezTo>
                    <a:pt x="101126" y="261938"/>
                    <a:pt x="89399" y="273665"/>
                    <a:pt x="89399" y="288131"/>
                  </a:cubicBezTo>
                  <a:cubicBezTo>
                    <a:pt x="89399" y="302598"/>
                    <a:pt x="101126" y="314325"/>
                    <a:pt x="115592" y="314325"/>
                  </a:cubicBezTo>
                  <a:cubicBezTo>
                    <a:pt x="130059" y="314325"/>
                    <a:pt x="141786" y="302598"/>
                    <a:pt x="141786" y="288131"/>
                  </a:cubicBezTo>
                  <a:close/>
                  <a:moveTo>
                    <a:pt x="220367" y="288131"/>
                  </a:moveTo>
                  <a:cubicBezTo>
                    <a:pt x="220337" y="336981"/>
                    <a:pt x="186553" y="379328"/>
                    <a:pt x="138930" y="390208"/>
                  </a:cubicBezTo>
                  <a:cubicBezTo>
                    <a:pt x="91308" y="401089"/>
                    <a:pt x="42485" y="377617"/>
                    <a:pt x="21243" y="333628"/>
                  </a:cubicBezTo>
                  <a:cubicBezTo>
                    <a:pt x="0" y="289639"/>
                    <a:pt x="11975" y="236807"/>
                    <a:pt x="50108" y="206276"/>
                  </a:cubicBezTo>
                  <a:lnTo>
                    <a:pt x="50108" y="65484"/>
                  </a:lnTo>
                  <a:cubicBezTo>
                    <a:pt x="50108" y="29318"/>
                    <a:pt x="79426" y="0"/>
                    <a:pt x="115592" y="0"/>
                  </a:cubicBezTo>
                  <a:cubicBezTo>
                    <a:pt x="151758" y="0"/>
                    <a:pt x="181077" y="29318"/>
                    <a:pt x="181077" y="65484"/>
                  </a:cubicBezTo>
                  <a:lnTo>
                    <a:pt x="181077" y="206276"/>
                  </a:lnTo>
                  <a:cubicBezTo>
                    <a:pt x="205915" y="226186"/>
                    <a:pt x="220368" y="256298"/>
                    <a:pt x="220367" y="288131"/>
                  </a:cubicBezTo>
                  <a:close/>
                  <a:moveTo>
                    <a:pt x="194174" y="288131"/>
                  </a:moveTo>
                  <a:cubicBezTo>
                    <a:pt x="194153" y="262418"/>
                    <a:pt x="181574" y="238336"/>
                    <a:pt x="160482" y="223629"/>
                  </a:cubicBezTo>
                  <a:cubicBezTo>
                    <a:pt x="156954" y="221166"/>
                    <a:pt x="154861" y="217127"/>
                    <a:pt x="154883" y="212824"/>
                  </a:cubicBezTo>
                  <a:lnTo>
                    <a:pt x="154883" y="65484"/>
                  </a:lnTo>
                  <a:cubicBezTo>
                    <a:pt x="154883" y="43785"/>
                    <a:pt x="137292" y="26194"/>
                    <a:pt x="115592" y="26194"/>
                  </a:cubicBezTo>
                  <a:cubicBezTo>
                    <a:pt x="93893" y="26194"/>
                    <a:pt x="76302" y="43785"/>
                    <a:pt x="76302" y="65484"/>
                  </a:cubicBezTo>
                  <a:lnTo>
                    <a:pt x="76302" y="212824"/>
                  </a:lnTo>
                  <a:cubicBezTo>
                    <a:pt x="76302" y="217104"/>
                    <a:pt x="74212" y="221114"/>
                    <a:pt x="70703" y="223564"/>
                  </a:cubicBezTo>
                  <a:cubicBezTo>
                    <a:pt x="40093" y="244868"/>
                    <a:pt x="28674" y="284752"/>
                    <a:pt x="43370" y="319028"/>
                  </a:cubicBezTo>
                  <a:cubicBezTo>
                    <a:pt x="58066" y="353303"/>
                    <a:pt x="94830" y="372529"/>
                    <a:pt x="131365" y="365043"/>
                  </a:cubicBezTo>
                  <a:cubicBezTo>
                    <a:pt x="167899" y="357558"/>
                    <a:pt x="194140" y="325425"/>
                    <a:pt x="194174" y="288131"/>
                  </a:cubicBezTo>
                  <a:close/>
                </a:path>
              </a:pathLst>
            </a:custGeom>
            <a:solidFill>
              <a:srgbClr val="D1552C"/>
            </a:solidFill>
            <a:ln>
              <a:noFill/>
            </a:ln>
          </p:spPr>
        </p:sp>
      </p:grpSp>
      <p:sp>
        <p:nvSpPr>
          <p:cNvPr id="117" name="TextBox 117"/>
          <p:cNvSpPr txBox="1"/>
          <p:nvPr/>
        </p:nvSpPr>
        <p:spPr>
          <a:xfrm>
            <a:off x="7165658" y="3167539"/>
            <a:ext cx="1974669" cy="259080"/>
          </a:xfrm>
          <a:prstGeom prst="rect">
            <a:avLst/>
          </a:prstGeom>
          <a:noFill/>
          <a:ln>
            <a:noFill/>
          </a:ln>
        </p:spPr>
        <p:txBody>
          <a:bodyPr wrap="none" lIns="0" tIns="0" rIns="0" bIns="0" anchor="t" anchorCtr="0">
            <a:spAutoFit/>
          </a:bodyPr>
          <a:lstStyle/>
          <a:p>
            <a:pPr algn="l"/>
            <a:r>
              <a:rPr lang="zh-CN" sz="1275" b="1" dirty="0">
                <a:solidFill>
                  <a:srgbClr val="D1552C"/>
                </a:solidFill>
                <a:latin typeface="Arial"/>
                <a:ea typeface="Microsoft YaHei"/>
                <a:cs typeface="Arial"/>
              </a:rPr>
              <a:t>Accumulated warming</a:t>
            </a:r>
          </a:p>
        </p:txBody>
      </p:sp>
      <p:sp>
        <p:nvSpPr>
          <p:cNvPr id="118" name="TextBox 118"/>
          <p:cNvSpPr txBox="1"/>
          <p:nvPr/>
        </p:nvSpPr>
        <p:spPr>
          <a:xfrm>
            <a:off x="7168515" y="3449002"/>
            <a:ext cx="4519898"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Province minus species-range anomaly, 15-yr; 1 SD = 0.18 °C</a:t>
            </a:r>
          </a:p>
        </p:txBody>
      </p:sp>
      <p:sp>
        <p:nvSpPr>
          <p:cNvPr id="119" name="Rectangle 119"/>
          <p:cNvSpPr/>
          <p:nvPr/>
        </p:nvSpPr>
        <p:spPr>
          <a:xfrm>
            <a:off x="6457950" y="3867150"/>
            <a:ext cx="5219700" cy="762000"/>
          </a:xfrm>
          <a:prstGeom prst="roundRect">
            <a:avLst>
              <a:gd name="adj" fmla="val 12500"/>
            </a:avLst>
          </a:prstGeom>
          <a:solidFill>
            <a:srgbClr val="FFFFFF"/>
          </a:solidFill>
          <a:ln w="13335">
            <a:solidFill>
              <a:srgbClr val="9AB7D3"/>
            </a:solidFill>
          </a:ln>
        </p:spPr>
      </p:sp>
      <p:grpSp>
        <p:nvGrpSpPr>
          <p:cNvPr id="122" name="Group 122"/>
          <p:cNvGrpSpPr/>
          <p:nvPr/>
        </p:nvGrpSpPr>
        <p:grpSpPr>
          <a:xfrm>
            <a:off x="6630589" y="4104027"/>
            <a:ext cx="378623" cy="294200"/>
            <a:chOff x="6630589" y="4104027"/>
            <a:chExt cx="378623" cy="294200"/>
          </a:xfrm>
        </p:grpSpPr>
        <p:sp>
          <p:nvSpPr>
            <p:cNvPr id="120" name="Freeform 120"/>
            <p:cNvSpPr/>
            <p:nvPr/>
          </p:nvSpPr>
          <p:spPr>
            <a:xfrm>
              <a:off x="6649641" y="4248150"/>
              <a:ext cx="340519" cy="130969"/>
            </a:xfrm>
            <a:custGeom>
              <a:avLst/>
              <a:gdLst/>
              <a:ahLst/>
              <a:cxnLst/>
              <a:rect l="l" t="t" r="r" b="b"/>
              <a:pathLst>
                <a:path w="340519" h="130969">
                  <a:moveTo>
                    <a:pt x="130969" y="65484"/>
                  </a:moveTo>
                  <a:cubicBezTo>
                    <a:pt x="130969" y="101650"/>
                    <a:pt x="101650" y="130969"/>
                    <a:pt x="65484" y="130969"/>
                  </a:cubicBezTo>
                  <a:cubicBezTo>
                    <a:pt x="29318" y="130969"/>
                    <a:pt x="0" y="101650"/>
                    <a:pt x="0" y="65484"/>
                  </a:cubicBezTo>
                  <a:cubicBezTo>
                    <a:pt x="0" y="29318"/>
                    <a:pt x="29318" y="0"/>
                    <a:pt x="65484" y="0"/>
                  </a:cubicBezTo>
                  <a:cubicBezTo>
                    <a:pt x="101650" y="0"/>
                    <a:pt x="130969" y="29318"/>
                    <a:pt x="130969" y="65484"/>
                  </a:cubicBezTo>
                  <a:close/>
                  <a:moveTo>
                    <a:pt x="275034" y="0"/>
                  </a:moveTo>
                  <a:cubicBezTo>
                    <a:pt x="238868" y="0"/>
                    <a:pt x="209550" y="29318"/>
                    <a:pt x="209550" y="65484"/>
                  </a:cubicBezTo>
                  <a:cubicBezTo>
                    <a:pt x="209550" y="101650"/>
                    <a:pt x="238868" y="130969"/>
                    <a:pt x="275034" y="130969"/>
                  </a:cubicBezTo>
                  <a:cubicBezTo>
                    <a:pt x="311200" y="130969"/>
                    <a:pt x="340519" y="101650"/>
                    <a:pt x="340519" y="65484"/>
                  </a:cubicBezTo>
                  <a:cubicBezTo>
                    <a:pt x="340519" y="29318"/>
                    <a:pt x="311200" y="0"/>
                    <a:pt x="275034" y="0"/>
                  </a:cubicBezTo>
                  <a:close/>
                </a:path>
              </a:pathLst>
            </a:custGeom>
            <a:solidFill>
              <a:srgbClr val="1F5F9E">
                <a:alpha val="20000"/>
              </a:srgbClr>
            </a:solidFill>
            <a:ln>
              <a:noFill/>
            </a:ln>
          </p:spPr>
        </p:sp>
        <p:sp>
          <p:nvSpPr>
            <p:cNvPr id="121" name="Freeform 121"/>
            <p:cNvSpPr/>
            <p:nvPr/>
          </p:nvSpPr>
          <p:spPr>
            <a:xfrm>
              <a:off x="6630589" y="4104027"/>
              <a:ext cx="378623" cy="294200"/>
            </a:xfrm>
            <a:custGeom>
              <a:avLst/>
              <a:gdLst/>
              <a:ahLst/>
              <a:cxnLst/>
              <a:rect l="l" t="t" r="r" b="b"/>
              <a:pathLst>
                <a:path w="378623" h="294200">
                  <a:moveTo>
                    <a:pt x="368083" y="183201"/>
                  </a:moveTo>
                  <a:lnTo>
                    <a:pt x="368083" y="183201"/>
                  </a:lnTo>
                  <a:cubicBezTo>
                    <a:pt x="366989" y="180149"/>
                    <a:pt x="365704" y="177169"/>
                    <a:pt x="364236" y="174279"/>
                  </a:cubicBezTo>
                  <a:lnTo>
                    <a:pt x="296148" y="19375"/>
                  </a:lnTo>
                  <a:cubicBezTo>
                    <a:pt x="295504" y="17884"/>
                    <a:pt x="294582" y="16528"/>
                    <a:pt x="293431" y="15381"/>
                  </a:cubicBezTo>
                  <a:cubicBezTo>
                    <a:pt x="283606" y="5554"/>
                    <a:pt x="270279" y="33"/>
                    <a:pt x="256383" y="33"/>
                  </a:cubicBezTo>
                  <a:cubicBezTo>
                    <a:pt x="242487" y="33"/>
                    <a:pt x="229160" y="5554"/>
                    <a:pt x="219335" y="15381"/>
                  </a:cubicBezTo>
                  <a:cubicBezTo>
                    <a:pt x="216888" y="17831"/>
                    <a:pt x="215510" y="21151"/>
                    <a:pt x="215504" y="24614"/>
                  </a:cubicBezTo>
                  <a:lnTo>
                    <a:pt x="215504" y="65542"/>
                  </a:lnTo>
                  <a:lnTo>
                    <a:pt x="163117" y="65542"/>
                  </a:lnTo>
                  <a:lnTo>
                    <a:pt x="163117" y="24614"/>
                  </a:lnTo>
                  <a:cubicBezTo>
                    <a:pt x="163120" y="21140"/>
                    <a:pt x="161742" y="17806"/>
                    <a:pt x="159286" y="15348"/>
                  </a:cubicBezTo>
                  <a:cubicBezTo>
                    <a:pt x="149461" y="5521"/>
                    <a:pt x="136134" y="0"/>
                    <a:pt x="122238" y="0"/>
                  </a:cubicBezTo>
                  <a:cubicBezTo>
                    <a:pt x="108342" y="0"/>
                    <a:pt x="95015" y="5521"/>
                    <a:pt x="85191" y="15348"/>
                  </a:cubicBezTo>
                  <a:cubicBezTo>
                    <a:pt x="84039" y="16495"/>
                    <a:pt x="83117" y="17851"/>
                    <a:pt x="82473" y="19343"/>
                  </a:cubicBezTo>
                  <a:lnTo>
                    <a:pt x="14386" y="174246"/>
                  </a:lnTo>
                  <a:cubicBezTo>
                    <a:pt x="12917" y="177136"/>
                    <a:pt x="11632" y="180116"/>
                    <a:pt x="10538" y="183168"/>
                  </a:cubicBezTo>
                  <a:lnTo>
                    <a:pt x="10538" y="183168"/>
                  </a:lnTo>
                  <a:cubicBezTo>
                    <a:pt x="0" y="212655"/>
                    <a:pt x="7974" y="245584"/>
                    <a:pt x="30834" y="266983"/>
                  </a:cubicBezTo>
                  <a:cubicBezTo>
                    <a:pt x="53694" y="288382"/>
                    <a:pt x="87077" y="294167"/>
                    <a:pt x="115804" y="281707"/>
                  </a:cubicBezTo>
                  <a:cubicBezTo>
                    <a:pt x="144532" y="269247"/>
                    <a:pt x="163120" y="240921"/>
                    <a:pt x="163117" y="209608"/>
                  </a:cubicBezTo>
                  <a:lnTo>
                    <a:pt x="163117" y="91736"/>
                  </a:lnTo>
                  <a:lnTo>
                    <a:pt x="215504" y="91736"/>
                  </a:lnTo>
                  <a:lnTo>
                    <a:pt x="215504" y="209608"/>
                  </a:lnTo>
                  <a:cubicBezTo>
                    <a:pt x="215489" y="240925"/>
                    <a:pt x="234070" y="269261"/>
                    <a:pt x="262797" y="281731"/>
                  </a:cubicBezTo>
                  <a:cubicBezTo>
                    <a:pt x="291525" y="294200"/>
                    <a:pt x="324914" y="288422"/>
                    <a:pt x="347780" y="267023"/>
                  </a:cubicBezTo>
                  <a:cubicBezTo>
                    <a:pt x="370646" y="245624"/>
                    <a:pt x="378623" y="212691"/>
                    <a:pt x="368083" y="183201"/>
                  </a:cubicBezTo>
                  <a:close/>
                  <a:moveTo>
                    <a:pt x="105343" y="32390"/>
                  </a:moveTo>
                  <a:cubicBezTo>
                    <a:pt x="114316" y="24836"/>
                    <a:pt x="127217" y="24167"/>
                    <a:pt x="136923" y="30753"/>
                  </a:cubicBezTo>
                  <a:lnTo>
                    <a:pt x="136923" y="151097"/>
                  </a:lnTo>
                  <a:cubicBezTo>
                    <a:pt x="116113" y="132411"/>
                    <a:pt x="86925" y="126223"/>
                    <a:pt x="60323" y="134857"/>
                  </a:cubicBezTo>
                  <a:close/>
                  <a:moveTo>
                    <a:pt x="84536" y="261995"/>
                  </a:moveTo>
                  <a:cubicBezTo>
                    <a:pt x="55603" y="261995"/>
                    <a:pt x="32148" y="238540"/>
                    <a:pt x="32148" y="209608"/>
                  </a:cubicBezTo>
                  <a:cubicBezTo>
                    <a:pt x="32148" y="180675"/>
                    <a:pt x="55603" y="157220"/>
                    <a:pt x="84536" y="157220"/>
                  </a:cubicBezTo>
                  <a:cubicBezTo>
                    <a:pt x="113468" y="157220"/>
                    <a:pt x="136923" y="180675"/>
                    <a:pt x="136923" y="209608"/>
                  </a:cubicBezTo>
                  <a:cubicBezTo>
                    <a:pt x="136923" y="238540"/>
                    <a:pt x="113468" y="261995"/>
                    <a:pt x="84536" y="261995"/>
                  </a:cubicBezTo>
                  <a:close/>
                  <a:moveTo>
                    <a:pt x="241698" y="30737"/>
                  </a:moveTo>
                  <a:cubicBezTo>
                    <a:pt x="251404" y="24150"/>
                    <a:pt x="264305" y="24819"/>
                    <a:pt x="273278" y="32374"/>
                  </a:cubicBezTo>
                  <a:lnTo>
                    <a:pt x="318299" y="134824"/>
                  </a:lnTo>
                  <a:cubicBezTo>
                    <a:pt x="291693" y="126195"/>
                    <a:pt x="262505" y="132389"/>
                    <a:pt x="241698" y="151081"/>
                  </a:cubicBezTo>
                  <a:close/>
                  <a:moveTo>
                    <a:pt x="294086" y="261995"/>
                  </a:moveTo>
                  <a:cubicBezTo>
                    <a:pt x="265153" y="261995"/>
                    <a:pt x="241698" y="238540"/>
                    <a:pt x="241698" y="209608"/>
                  </a:cubicBezTo>
                  <a:cubicBezTo>
                    <a:pt x="241698" y="180675"/>
                    <a:pt x="265153" y="157220"/>
                    <a:pt x="294086" y="157220"/>
                  </a:cubicBezTo>
                  <a:cubicBezTo>
                    <a:pt x="323018" y="157220"/>
                    <a:pt x="346473" y="180675"/>
                    <a:pt x="346473" y="209608"/>
                  </a:cubicBezTo>
                  <a:cubicBezTo>
                    <a:pt x="346473" y="238540"/>
                    <a:pt x="323018" y="261995"/>
                    <a:pt x="294086" y="261995"/>
                  </a:cubicBezTo>
                  <a:close/>
                </a:path>
              </a:pathLst>
            </a:custGeom>
            <a:solidFill>
              <a:srgbClr val="1F5F9E"/>
            </a:solidFill>
            <a:ln>
              <a:noFill/>
            </a:ln>
          </p:spPr>
        </p:sp>
      </p:grpSp>
      <p:sp>
        <p:nvSpPr>
          <p:cNvPr id="123" name="TextBox 123"/>
          <p:cNvSpPr txBox="1"/>
          <p:nvPr/>
        </p:nvSpPr>
        <p:spPr>
          <a:xfrm>
            <a:off x="7165658" y="4043839"/>
            <a:ext cx="1421986" cy="259080"/>
          </a:xfrm>
          <a:prstGeom prst="rect">
            <a:avLst/>
          </a:prstGeom>
          <a:noFill/>
          <a:ln>
            <a:noFill/>
          </a:ln>
        </p:spPr>
        <p:txBody>
          <a:bodyPr wrap="none" lIns="0" tIns="0" rIns="0" bIns="0" anchor="t" anchorCtr="0">
            <a:spAutoFit/>
          </a:bodyPr>
          <a:lstStyle/>
          <a:p>
            <a:pPr algn="l"/>
            <a:r>
              <a:rPr lang="zh-CN" sz="1275" b="1" dirty="0">
                <a:solidFill>
                  <a:srgbClr val="1F5F9E"/>
                </a:solidFill>
                <a:latin typeface="Arial"/>
                <a:ea typeface="Microsoft YaHei"/>
                <a:cs typeface="Arial"/>
              </a:rPr>
              <a:t>Survey effort</a:t>
            </a:r>
          </a:p>
        </p:txBody>
      </p:sp>
      <p:sp>
        <p:nvSpPr>
          <p:cNvPr id="124" name="TextBox 124"/>
          <p:cNvSpPr txBox="1"/>
          <p:nvPr/>
        </p:nvSpPr>
        <p:spPr>
          <a:xfrm>
            <a:off x="7168515" y="4325302"/>
            <a:ext cx="3849748"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Provincial birding visits; 1 SD = 7.7-fold more visits</a:t>
            </a:r>
          </a:p>
        </p:txBody>
      </p:sp>
      <p:sp>
        <p:nvSpPr>
          <p:cNvPr id="125" name="Rectangle 125"/>
          <p:cNvSpPr/>
          <p:nvPr/>
        </p:nvSpPr>
        <p:spPr>
          <a:xfrm>
            <a:off x="6457950" y="4743450"/>
            <a:ext cx="5219700" cy="762000"/>
          </a:xfrm>
          <a:prstGeom prst="roundRect">
            <a:avLst>
              <a:gd name="adj" fmla="val 12500"/>
            </a:avLst>
          </a:prstGeom>
          <a:solidFill>
            <a:srgbClr val="FFFFFF"/>
          </a:solidFill>
          <a:ln w="13335">
            <a:solidFill>
              <a:srgbClr val="9FD3CD"/>
            </a:solidFill>
          </a:ln>
        </p:spPr>
      </p:sp>
      <p:grpSp>
        <p:nvGrpSpPr>
          <p:cNvPr id="128" name="Group 128"/>
          <p:cNvGrpSpPr/>
          <p:nvPr/>
        </p:nvGrpSpPr>
        <p:grpSpPr>
          <a:xfrm>
            <a:off x="6621722" y="4991504"/>
            <a:ext cx="395035" cy="290650"/>
            <a:chOff x="6621722" y="4991504"/>
            <a:chExt cx="395035" cy="290650"/>
          </a:xfrm>
        </p:grpSpPr>
        <p:sp>
          <p:nvSpPr>
            <p:cNvPr id="126" name="Freeform 126"/>
            <p:cNvSpPr/>
            <p:nvPr/>
          </p:nvSpPr>
          <p:spPr>
            <a:xfrm>
              <a:off x="6662738" y="5006578"/>
              <a:ext cx="314325" cy="209550"/>
            </a:xfrm>
            <a:custGeom>
              <a:avLst/>
              <a:gdLst/>
              <a:ahLst/>
              <a:cxnLst/>
              <a:rect l="l" t="t" r="r" b="b"/>
              <a:pathLst>
                <a:path w="314325" h="209550">
                  <a:moveTo>
                    <a:pt x="222647" y="144066"/>
                  </a:moveTo>
                  <a:cubicBezTo>
                    <a:pt x="222647" y="180232"/>
                    <a:pt x="193329" y="209550"/>
                    <a:pt x="157162" y="209550"/>
                  </a:cubicBezTo>
                  <a:cubicBezTo>
                    <a:pt x="120996" y="209550"/>
                    <a:pt x="91678" y="180232"/>
                    <a:pt x="91678" y="144066"/>
                  </a:cubicBezTo>
                  <a:cubicBezTo>
                    <a:pt x="91678" y="107900"/>
                    <a:pt x="120996" y="78581"/>
                    <a:pt x="157162" y="78581"/>
                  </a:cubicBezTo>
                  <a:cubicBezTo>
                    <a:pt x="193329" y="78581"/>
                    <a:pt x="222647" y="107900"/>
                    <a:pt x="222647" y="144066"/>
                  </a:cubicBezTo>
                  <a:close/>
                  <a:moveTo>
                    <a:pt x="52388" y="0"/>
                  </a:moveTo>
                  <a:cubicBezTo>
                    <a:pt x="23455" y="0"/>
                    <a:pt x="0" y="23455"/>
                    <a:pt x="0" y="52388"/>
                  </a:cubicBezTo>
                  <a:cubicBezTo>
                    <a:pt x="0" y="81320"/>
                    <a:pt x="23455" y="104775"/>
                    <a:pt x="52388" y="104775"/>
                  </a:cubicBezTo>
                  <a:cubicBezTo>
                    <a:pt x="81320" y="104775"/>
                    <a:pt x="104775" y="81320"/>
                    <a:pt x="104775" y="52388"/>
                  </a:cubicBezTo>
                  <a:cubicBezTo>
                    <a:pt x="104775" y="23455"/>
                    <a:pt x="81320" y="0"/>
                    <a:pt x="52388" y="0"/>
                  </a:cubicBezTo>
                  <a:close/>
                  <a:moveTo>
                    <a:pt x="261938" y="0"/>
                  </a:moveTo>
                  <a:cubicBezTo>
                    <a:pt x="233005" y="0"/>
                    <a:pt x="209550" y="23455"/>
                    <a:pt x="209550" y="52388"/>
                  </a:cubicBezTo>
                  <a:cubicBezTo>
                    <a:pt x="209550" y="81320"/>
                    <a:pt x="233005" y="104775"/>
                    <a:pt x="261938" y="104775"/>
                  </a:cubicBezTo>
                  <a:cubicBezTo>
                    <a:pt x="290870" y="104775"/>
                    <a:pt x="314325" y="81320"/>
                    <a:pt x="314325" y="52388"/>
                  </a:cubicBezTo>
                  <a:cubicBezTo>
                    <a:pt x="314325" y="23455"/>
                    <a:pt x="290870" y="0"/>
                    <a:pt x="261938" y="0"/>
                  </a:cubicBezTo>
                  <a:close/>
                </a:path>
              </a:pathLst>
            </a:custGeom>
            <a:solidFill>
              <a:srgbClr val="2A9D8F">
                <a:alpha val="20000"/>
              </a:srgbClr>
            </a:solidFill>
            <a:ln>
              <a:noFill/>
            </a:ln>
          </p:spPr>
        </p:sp>
        <p:sp>
          <p:nvSpPr>
            <p:cNvPr id="127" name="Freeform 127"/>
            <p:cNvSpPr/>
            <p:nvPr/>
          </p:nvSpPr>
          <p:spPr>
            <a:xfrm>
              <a:off x="6621722" y="4991504"/>
              <a:ext cx="395035" cy="290650"/>
            </a:xfrm>
            <a:custGeom>
              <a:avLst/>
              <a:gdLst/>
              <a:ahLst/>
              <a:cxnLst/>
              <a:rect l="l" t="t" r="r" b="b"/>
              <a:pathLst>
                <a:path w="395035" h="290650">
                  <a:moveTo>
                    <a:pt x="389393" y="169617"/>
                  </a:moveTo>
                  <a:cubicBezTo>
                    <a:pt x="383606" y="173957"/>
                    <a:pt x="375397" y="172784"/>
                    <a:pt x="371057" y="166998"/>
                  </a:cubicBezTo>
                  <a:cubicBezTo>
                    <a:pt x="355048" y="145479"/>
                    <a:pt x="329773" y="132842"/>
                    <a:pt x="302953" y="132946"/>
                  </a:cubicBezTo>
                  <a:cubicBezTo>
                    <a:pt x="295720" y="132946"/>
                    <a:pt x="289856" y="127082"/>
                    <a:pt x="289856" y="119849"/>
                  </a:cubicBezTo>
                  <a:cubicBezTo>
                    <a:pt x="289856" y="112616"/>
                    <a:pt x="295720" y="106752"/>
                    <a:pt x="302953" y="106752"/>
                  </a:cubicBezTo>
                  <a:cubicBezTo>
                    <a:pt x="323371" y="106750"/>
                    <a:pt x="340385" y="91110"/>
                    <a:pt x="342101" y="70764"/>
                  </a:cubicBezTo>
                  <a:cubicBezTo>
                    <a:pt x="343818" y="50419"/>
                    <a:pt x="329665" y="32149"/>
                    <a:pt x="309536" y="28727"/>
                  </a:cubicBezTo>
                  <a:cubicBezTo>
                    <a:pt x="289407" y="25304"/>
                    <a:pt x="270011" y="37869"/>
                    <a:pt x="264907" y="57639"/>
                  </a:cubicBezTo>
                  <a:cubicBezTo>
                    <a:pt x="263098" y="64646"/>
                    <a:pt x="255952" y="68860"/>
                    <a:pt x="248945" y="67052"/>
                  </a:cubicBezTo>
                  <a:cubicBezTo>
                    <a:pt x="241938" y="65244"/>
                    <a:pt x="237723" y="58097"/>
                    <a:pt x="239532" y="51090"/>
                  </a:cubicBezTo>
                  <a:cubicBezTo>
                    <a:pt x="246526" y="24026"/>
                    <a:pt x="269929" y="4386"/>
                    <a:pt x="297796" y="2193"/>
                  </a:cubicBezTo>
                  <a:cubicBezTo>
                    <a:pt x="325663" y="0"/>
                    <a:pt x="351850" y="15738"/>
                    <a:pt x="362991" y="41375"/>
                  </a:cubicBezTo>
                  <a:cubicBezTo>
                    <a:pt x="374132" y="67012"/>
                    <a:pt x="367772" y="96895"/>
                    <a:pt x="347155" y="115772"/>
                  </a:cubicBezTo>
                  <a:cubicBezTo>
                    <a:pt x="364964" y="123483"/>
                    <a:pt x="380445" y="135719"/>
                    <a:pt x="392061" y="151265"/>
                  </a:cubicBezTo>
                  <a:cubicBezTo>
                    <a:pt x="394145" y="154051"/>
                    <a:pt x="395035" y="157552"/>
                    <a:pt x="394534" y="160995"/>
                  </a:cubicBezTo>
                  <a:cubicBezTo>
                    <a:pt x="394034" y="164438"/>
                    <a:pt x="392184" y="167540"/>
                    <a:pt x="389393" y="169617"/>
                  </a:cubicBezTo>
                  <a:close/>
                  <a:moveTo>
                    <a:pt x="301185" y="270463"/>
                  </a:moveTo>
                  <a:cubicBezTo>
                    <a:pt x="303674" y="274522"/>
                    <a:pt x="303765" y="279612"/>
                    <a:pt x="301421" y="283756"/>
                  </a:cubicBezTo>
                  <a:cubicBezTo>
                    <a:pt x="299078" y="287901"/>
                    <a:pt x="294669" y="290447"/>
                    <a:pt x="289908" y="290406"/>
                  </a:cubicBezTo>
                  <a:cubicBezTo>
                    <a:pt x="285147" y="290365"/>
                    <a:pt x="280783" y="287744"/>
                    <a:pt x="278511" y="283560"/>
                  </a:cubicBezTo>
                  <a:cubicBezTo>
                    <a:pt x="261723" y="255144"/>
                    <a:pt x="231174" y="237711"/>
                    <a:pt x="198170" y="237711"/>
                  </a:cubicBezTo>
                  <a:cubicBezTo>
                    <a:pt x="165166" y="237711"/>
                    <a:pt x="134617" y="255144"/>
                    <a:pt x="117829" y="283560"/>
                  </a:cubicBezTo>
                  <a:cubicBezTo>
                    <a:pt x="115599" y="287822"/>
                    <a:pt x="111212" y="290520"/>
                    <a:pt x="106401" y="290585"/>
                  </a:cubicBezTo>
                  <a:cubicBezTo>
                    <a:pt x="101591" y="290650"/>
                    <a:pt x="97132" y="288072"/>
                    <a:pt x="94788" y="283872"/>
                  </a:cubicBezTo>
                  <a:cubicBezTo>
                    <a:pt x="92443" y="279671"/>
                    <a:pt x="92590" y="274523"/>
                    <a:pt x="95171" y="270463"/>
                  </a:cubicBezTo>
                  <a:cubicBezTo>
                    <a:pt x="107869" y="248646"/>
                    <a:pt x="127229" y="231478"/>
                    <a:pt x="150407" y="221481"/>
                  </a:cubicBezTo>
                  <a:cubicBezTo>
                    <a:pt x="123665" y="201006"/>
                    <a:pt x="112945" y="165766"/>
                    <a:pt x="123754" y="133867"/>
                  </a:cubicBezTo>
                  <a:cubicBezTo>
                    <a:pt x="134563" y="101969"/>
                    <a:pt x="164498" y="80506"/>
                    <a:pt x="198178" y="80506"/>
                  </a:cubicBezTo>
                  <a:cubicBezTo>
                    <a:pt x="231858" y="80506"/>
                    <a:pt x="261793" y="101969"/>
                    <a:pt x="272603" y="133867"/>
                  </a:cubicBezTo>
                  <a:cubicBezTo>
                    <a:pt x="283412" y="165766"/>
                    <a:pt x="272691" y="201006"/>
                    <a:pt x="245949" y="221481"/>
                  </a:cubicBezTo>
                  <a:cubicBezTo>
                    <a:pt x="269127" y="231478"/>
                    <a:pt x="288488" y="248646"/>
                    <a:pt x="301185" y="270463"/>
                  </a:cubicBezTo>
                  <a:close/>
                  <a:moveTo>
                    <a:pt x="198178" y="211527"/>
                  </a:moveTo>
                  <a:cubicBezTo>
                    <a:pt x="227111" y="211527"/>
                    <a:pt x="250566" y="188072"/>
                    <a:pt x="250566" y="159139"/>
                  </a:cubicBezTo>
                  <a:cubicBezTo>
                    <a:pt x="250566" y="130207"/>
                    <a:pt x="227111" y="106752"/>
                    <a:pt x="198178" y="106752"/>
                  </a:cubicBezTo>
                  <a:cubicBezTo>
                    <a:pt x="169245" y="106752"/>
                    <a:pt x="145791" y="130207"/>
                    <a:pt x="145791" y="159139"/>
                  </a:cubicBezTo>
                  <a:cubicBezTo>
                    <a:pt x="145791" y="188072"/>
                    <a:pt x="169245" y="211527"/>
                    <a:pt x="198178" y="211527"/>
                  </a:cubicBezTo>
                  <a:close/>
                  <a:moveTo>
                    <a:pt x="106500" y="119849"/>
                  </a:moveTo>
                  <a:cubicBezTo>
                    <a:pt x="106500" y="112616"/>
                    <a:pt x="100636" y="106752"/>
                    <a:pt x="93403" y="106752"/>
                  </a:cubicBezTo>
                  <a:cubicBezTo>
                    <a:pt x="72985" y="106750"/>
                    <a:pt x="55972" y="91110"/>
                    <a:pt x="54255" y="70764"/>
                  </a:cubicBezTo>
                  <a:cubicBezTo>
                    <a:pt x="52539" y="50419"/>
                    <a:pt x="66691" y="32149"/>
                    <a:pt x="86820" y="28727"/>
                  </a:cubicBezTo>
                  <a:cubicBezTo>
                    <a:pt x="106949" y="25304"/>
                    <a:pt x="126345" y="37869"/>
                    <a:pt x="131450" y="57639"/>
                  </a:cubicBezTo>
                  <a:cubicBezTo>
                    <a:pt x="133258" y="64646"/>
                    <a:pt x="140404" y="68860"/>
                    <a:pt x="147411" y="67052"/>
                  </a:cubicBezTo>
                  <a:cubicBezTo>
                    <a:pt x="154419" y="65244"/>
                    <a:pt x="158633" y="58097"/>
                    <a:pt x="156825" y="51090"/>
                  </a:cubicBezTo>
                  <a:cubicBezTo>
                    <a:pt x="149830" y="24026"/>
                    <a:pt x="126428" y="4386"/>
                    <a:pt x="98560" y="2193"/>
                  </a:cubicBezTo>
                  <a:cubicBezTo>
                    <a:pt x="70693" y="0"/>
                    <a:pt x="44507" y="15738"/>
                    <a:pt x="33365" y="41375"/>
                  </a:cubicBezTo>
                  <a:cubicBezTo>
                    <a:pt x="22224" y="67012"/>
                    <a:pt x="28585" y="96895"/>
                    <a:pt x="49201" y="115772"/>
                  </a:cubicBezTo>
                  <a:cubicBezTo>
                    <a:pt x="31410" y="123490"/>
                    <a:pt x="15947" y="135726"/>
                    <a:pt x="4344" y="151265"/>
                  </a:cubicBezTo>
                  <a:cubicBezTo>
                    <a:pt x="0" y="157051"/>
                    <a:pt x="1169" y="165264"/>
                    <a:pt x="6956" y="169609"/>
                  </a:cubicBezTo>
                  <a:cubicBezTo>
                    <a:pt x="12742" y="173953"/>
                    <a:pt x="20955" y="172784"/>
                    <a:pt x="25299" y="166998"/>
                  </a:cubicBezTo>
                  <a:cubicBezTo>
                    <a:pt x="41308" y="145479"/>
                    <a:pt x="66584" y="132842"/>
                    <a:pt x="93403" y="132946"/>
                  </a:cubicBezTo>
                  <a:cubicBezTo>
                    <a:pt x="100636" y="132946"/>
                    <a:pt x="106500" y="127082"/>
                    <a:pt x="106500" y="119849"/>
                  </a:cubicBezTo>
                  <a:close/>
                </a:path>
              </a:pathLst>
            </a:custGeom>
            <a:solidFill>
              <a:srgbClr val="2A9D8F"/>
            </a:solidFill>
            <a:ln>
              <a:noFill/>
            </a:ln>
          </p:spPr>
        </p:sp>
      </p:grpSp>
      <p:sp>
        <p:nvSpPr>
          <p:cNvPr id="129" name="TextBox 129"/>
          <p:cNvSpPr txBox="1"/>
          <p:nvPr/>
        </p:nvSpPr>
        <p:spPr>
          <a:xfrm>
            <a:off x="7165658" y="4920139"/>
            <a:ext cx="2353651" cy="259080"/>
          </a:xfrm>
          <a:prstGeom prst="rect">
            <a:avLst/>
          </a:prstGeom>
          <a:noFill/>
          <a:ln>
            <a:noFill/>
          </a:ln>
        </p:spPr>
        <p:txBody>
          <a:bodyPr wrap="none" lIns="0" tIns="0" rIns="0" bIns="0" anchor="t" anchorCtr="0">
            <a:spAutoFit/>
          </a:bodyPr>
          <a:lstStyle/>
          <a:p>
            <a:pPr algn="l"/>
            <a:r>
              <a:rPr lang="zh-CN" sz="1275" b="1" dirty="0">
                <a:solidFill>
                  <a:srgbClr val="2A9D8F"/>
                </a:solidFill>
                <a:latin typeface="Arial"/>
                <a:ea typeface="Microsoft YaHei"/>
                <a:cs typeface="Arial"/>
              </a:rPr>
              <a:t>Province × year effect</a:t>
            </a:r>
          </a:p>
        </p:txBody>
      </p:sp>
      <p:sp>
        <p:nvSpPr>
          <p:cNvPr id="130" name="TextBox 130"/>
          <p:cNvSpPr txBox="1"/>
          <p:nvPr/>
        </p:nvSpPr>
        <p:spPr>
          <a:xfrm>
            <a:off x="7168515" y="5201602"/>
            <a:ext cx="3750069"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Survey campaigns, birding festivals, new reserves</a:t>
            </a:r>
          </a:p>
        </p:txBody>
      </p:sp>
      <p:sp>
        <p:nvSpPr>
          <p:cNvPr id="131" name="Rectangle 131"/>
          <p:cNvSpPr/>
          <p:nvPr/>
        </p:nvSpPr>
        <p:spPr>
          <a:xfrm>
            <a:off x="6457950" y="5619750"/>
            <a:ext cx="5219700" cy="762000"/>
          </a:xfrm>
          <a:prstGeom prst="roundRect">
            <a:avLst>
              <a:gd name="adj" fmla="val 12500"/>
            </a:avLst>
          </a:prstGeom>
          <a:solidFill>
            <a:srgbClr val="FFFFFF"/>
          </a:solidFill>
          <a:ln w="13335">
            <a:solidFill>
              <a:srgbClr val="A1AEBD"/>
            </a:solidFill>
          </a:ln>
        </p:spPr>
      </p:sp>
      <p:grpSp>
        <p:nvGrpSpPr>
          <p:cNvPr id="134" name="Group 134"/>
          <p:cNvGrpSpPr/>
          <p:nvPr/>
        </p:nvGrpSpPr>
        <p:grpSpPr>
          <a:xfrm>
            <a:off x="6662738" y="5817394"/>
            <a:ext cx="314325" cy="340519"/>
            <a:chOff x="6662738" y="5817394"/>
            <a:chExt cx="314325" cy="340519"/>
          </a:xfrm>
        </p:grpSpPr>
        <p:sp>
          <p:nvSpPr>
            <p:cNvPr id="132" name="Freeform 132"/>
            <p:cNvSpPr/>
            <p:nvPr/>
          </p:nvSpPr>
          <p:spPr>
            <a:xfrm>
              <a:off x="6675834" y="5856684"/>
              <a:ext cx="288131" cy="78581"/>
            </a:xfrm>
            <a:custGeom>
              <a:avLst/>
              <a:gdLst/>
              <a:ahLst/>
              <a:cxnLst/>
              <a:rect l="l" t="t" r="r" b="b"/>
              <a:pathLst>
                <a:path w="288131" h="78581">
                  <a:moveTo>
                    <a:pt x="288131" y="13097"/>
                  </a:moveTo>
                  <a:lnTo>
                    <a:pt x="288131" y="78581"/>
                  </a:lnTo>
                  <a:lnTo>
                    <a:pt x="0" y="78581"/>
                  </a:lnTo>
                  <a:lnTo>
                    <a:pt x="0" y="13097"/>
                  </a:lnTo>
                  <a:cubicBezTo>
                    <a:pt x="0" y="5864"/>
                    <a:pt x="5864" y="0"/>
                    <a:pt x="13097" y="0"/>
                  </a:cubicBezTo>
                  <a:lnTo>
                    <a:pt x="275034" y="0"/>
                  </a:lnTo>
                  <a:cubicBezTo>
                    <a:pt x="282268" y="0"/>
                    <a:pt x="288131" y="5864"/>
                    <a:pt x="288131" y="13097"/>
                  </a:cubicBezTo>
                  <a:close/>
                </a:path>
              </a:pathLst>
            </a:custGeom>
            <a:solidFill>
              <a:srgbClr val="2F4A6D">
                <a:alpha val="20000"/>
              </a:srgbClr>
            </a:solidFill>
            <a:ln>
              <a:noFill/>
            </a:ln>
          </p:spPr>
        </p:sp>
        <p:sp>
          <p:nvSpPr>
            <p:cNvPr id="133" name="Freeform 133"/>
            <p:cNvSpPr/>
            <p:nvPr/>
          </p:nvSpPr>
          <p:spPr>
            <a:xfrm>
              <a:off x="6662738" y="5817394"/>
              <a:ext cx="314325" cy="340519"/>
            </a:xfrm>
            <a:custGeom>
              <a:avLst/>
              <a:gdLst/>
              <a:ahLst/>
              <a:cxnLst/>
              <a:rect l="l" t="t" r="r" b="b"/>
              <a:pathLst>
                <a:path w="314325" h="340519">
                  <a:moveTo>
                    <a:pt x="288131" y="26194"/>
                  </a:moveTo>
                  <a:lnTo>
                    <a:pt x="248841" y="26194"/>
                  </a:lnTo>
                  <a:lnTo>
                    <a:pt x="248841" y="13097"/>
                  </a:lnTo>
                  <a:cubicBezTo>
                    <a:pt x="248841" y="5864"/>
                    <a:pt x="242977" y="0"/>
                    <a:pt x="235744" y="0"/>
                  </a:cubicBezTo>
                  <a:cubicBezTo>
                    <a:pt x="228511" y="0"/>
                    <a:pt x="222647" y="5864"/>
                    <a:pt x="222647" y="13097"/>
                  </a:cubicBezTo>
                  <a:lnTo>
                    <a:pt x="222647" y="26194"/>
                  </a:lnTo>
                  <a:lnTo>
                    <a:pt x="91678" y="26194"/>
                  </a:lnTo>
                  <a:lnTo>
                    <a:pt x="91678" y="13097"/>
                  </a:lnTo>
                  <a:cubicBezTo>
                    <a:pt x="91678" y="5864"/>
                    <a:pt x="85814" y="0"/>
                    <a:pt x="78581" y="0"/>
                  </a:cubicBezTo>
                  <a:cubicBezTo>
                    <a:pt x="71348" y="0"/>
                    <a:pt x="65484" y="5864"/>
                    <a:pt x="65484" y="13097"/>
                  </a:cubicBezTo>
                  <a:lnTo>
                    <a:pt x="65484" y="26194"/>
                  </a:lnTo>
                  <a:lnTo>
                    <a:pt x="26194" y="26194"/>
                  </a:lnTo>
                  <a:cubicBezTo>
                    <a:pt x="11727" y="26194"/>
                    <a:pt x="0" y="37921"/>
                    <a:pt x="0" y="52388"/>
                  </a:cubicBezTo>
                  <a:lnTo>
                    <a:pt x="0" y="314325"/>
                  </a:lnTo>
                  <a:cubicBezTo>
                    <a:pt x="0" y="328791"/>
                    <a:pt x="11727" y="340519"/>
                    <a:pt x="26194" y="340519"/>
                  </a:cubicBezTo>
                  <a:lnTo>
                    <a:pt x="288131" y="340519"/>
                  </a:lnTo>
                  <a:cubicBezTo>
                    <a:pt x="302598" y="340519"/>
                    <a:pt x="314325" y="328791"/>
                    <a:pt x="314325" y="314325"/>
                  </a:cubicBezTo>
                  <a:lnTo>
                    <a:pt x="314325" y="52388"/>
                  </a:lnTo>
                  <a:cubicBezTo>
                    <a:pt x="314325" y="37921"/>
                    <a:pt x="302598" y="26194"/>
                    <a:pt x="288131" y="26194"/>
                  </a:cubicBezTo>
                  <a:close/>
                  <a:moveTo>
                    <a:pt x="65484" y="52388"/>
                  </a:moveTo>
                  <a:lnTo>
                    <a:pt x="65484" y="65484"/>
                  </a:lnTo>
                  <a:cubicBezTo>
                    <a:pt x="65484" y="72718"/>
                    <a:pt x="71348" y="78581"/>
                    <a:pt x="78581" y="78581"/>
                  </a:cubicBezTo>
                  <a:cubicBezTo>
                    <a:pt x="85814" y="78581"/>
                    <a:pt x="91678" y="72718"/>
                    <a:pt x="91678" y="65484"/>
                  </a:cubicBezTo>
                  <a:lnTo>
                    <a:pt x="91678" y="52388"/>
                  </a:lnTo>
                  <a:lnTo>
                    <a:pt x="222647" y="52388"/>
                  </a:lnTo>
                  <a:lnTo>
                    <a:pt x="222647" y="65484"/>
                  </a:lnTo>
                  <a:cubicBezTo>
                    <a:pt x="222647" y="72718"/>
                    <a:pt x="228511" y="78581"/>
                    <a:pt x="235744" y="78581"/>
                  </a:cubicBezTo>
                  <a:cubicBezTo>
                    <a:pt x="242977" y="78581"/>
                    <a:pt x="248841" y="72718"/>
                    <a:pt x="248841" y="65484"/>
                  </a:cubicBezTo>
                  <a:lnTo>
                    <a:pt x="248841" y="52388"/>
                  </a:lnTo>
                  <a:lnTo>
                    <a:pt x="288131" y="52388"/>
                  </a:lnTo>
                  <a:lnTo>
                    <a:pt x="288131" y="104775"/>
                  </a:lnTo>
                  <a:lnTo>
                    <a:pt x="26194" y="104775"/>
                  </a:lnTo>
                  <a:lnTo>
                    <a:pt x="26194" y="52388"/>
                  </a:lnTo>
                  <a:close/>
                  <a:moveTo>
                    <a:pt x="288131" y="314325"/>
                  </a:moveTo>
                  <a:lnTo>
                    <a:pt x="26194" y="314325"/>
                  </a:lnTo>
                  <a:lnTo>
                    <a:pt x="26194" y="130969"/>
                  </a:lnTo>
                  <a:lnTo>
                    <a:pt x="288131" y="130969"/>
                  </a:lnTo>
                  <a:lnTo>
                    <a:pt x="288131" y="314325"/>
                  </a:lnTo>
                  <a:close/>
                </a:path>
              </a:pathLst>
            </a:custGeom>
            <a:solidFill>
              <a:srgbClr val="2F4A6D"/>
            </a:solidFill>
            <a:ln>
              <a:noFill/>
            </a:ln>
          </p:spPr>
        </p:sp>
      </p:grpSp>
      <p:sp>
        <p:nvSpPr>
          <p:cNvPr id="135" name="TextBox 135"/>
          <p:cNvSpPr txBox="1"/>
          <p:nvPr/>
        </p:nvSpPr>
        <p:spPr>
          <a:xfrm>
            <a:off x="7165658" y="5796439"/>
            <a:ext cx="1872028" cy="259080"/>
          </a:xfrm>
          <a:prstGeom prst="rect">
            <a:avLst/>
          </a:prstGeom>
          <a:noFill/>
          <a:ln>
            <a:noFill/>
          </a:ln>
        </p:spPr>
        <p:txBody>
          <a:bodyPr wrap="none" lIns="0" tIns="0" rIns="0" bIns="0" anchor="t" anchorCtr="0">
            <a:spAutoFit/>
          </a:bodyPr>
          <a:lstStyle/>
          <a:p>
            <a:pPr algn="l"/>
            <a:r>
              <a:rPr lang="zh-CN" sz="1275" b="1" dirty="0">
                <a:solidFill>
                  <a:srgbClr val="2F4A6D"/>
                </a:solidFill>
                <a:latin typeface="Arial"/>
                <a:ea typeface="Microsoft YaHei"/>
                <a:cs typeface="Arial"/>
              </a:rPr>
              <a:t>Dated to discovery</a:t>
            </a:r>
          </a:p>
        </p:txBody>
      </p:sp>
      <p:sp>
        <p:nvSpPr>
          <p:cNvPr id="136" name="TextBox 136"/>
          <p:cNvSpPr txBox="1"/>
          <p:nvPr/>
        </p:nvSpPr>
        <p:spPr>
          <a:xfrm>
            <a:off x="7168515" y="6077902"/>
            <a:ext cx="4314406"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Offset corrects the latest, incompletely published years</a:t>
            </a:r>
          </a:p>
        </p:txBody>
      </p:sp>
      <p:sp>
        <p:nvSpPr>
          <p:cNvPr id="137" name="TextBox 137"/>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138" name="TextBox 138"/>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07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Rectangle 10"/>
          <p:cNvSpPr/>
          <p:nvPr/>
        </p:nvSpPr>
        <p:spPr>
          <a:xfrm>
            <a:off x="8382000" y="0"/>
            <a:ext cx="1866900" cy="609600"/>
          </a:xfrm>
          <a:prstGeom prst="rect">
            <a:avLst/>
          </a:prstGeom>
          <a:solidFill>
            <a:srgbClr val="FFFFFF"/>
          </a:solidFill>
          <a:ln>
            <a:noFill/>
          </a:ln>
        </p:spPr>
      </p:sp>
      <p:sp>
        <p:nvSpPr>
          <p:cNvPr id="11" name="TextBox 11"/>
          <p:cNvSpPr txBox="1"/>
          <p:nvPr/>
        </p:nvSpPr>
        <p:spPr>
          <a:xfrm>
            <a:off x="84201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275486"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Finding 1</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7917308"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Warming and survey effort contribute comparably, and they interact</a:t>
            </a:r>
          </a:p>
        </p:txBody>
      </p:sp>
      <p:sp>
        <p:nvSpPr>
          <p:cNvPr id="17" name="Rectangle 17"/>
          <p:cNvSpPr/>
          <p:nvPr/>
        </p:nvSpPr>
        <p:spPr>
          <a:xfrm>
            <a:off x="600075" y="1390650"/>
            <a:ext cx="5315902" cy="3829050"/>
          </a:xfrm>
          <a:prstGeom prst="roundRect">
            <a:avLst>
              <a:gd name="adj" fmla="val 2488"/>
            </a:avLst>
          </a:prstGeom>
          <a:solidFill>
            <a:srgbClr val="FFFFFF"/>
          </a:solidFill>
          <a:ln w="14288">
            <a:solidFill>
              <a:srgbClr val="D9C7CA"/>
            </a:solidFill>
          </a:ln>
        </p:spPr>
      </p:sp>
      <p:pic>
        <p:nvPicPr>
          <p:cNvPr id="18" name="Image 18"/>
          <p:cNvPicPr>
            <a:picLocks noChangeAspect="1"/>
          </p:cNvPicPr>
          <p:nvPr/>
        </p:nvPicPr>
        <p:blipFill>
          <a:blip r:embed="rId3"/>
          <a:stretch>
            <a:fillRect/>
          </a:stretch>
        </p:blipFill>
        <p:spPr>
          <a:xfrm>
            <a:off x="695325" y="1485900"/>
            <a:ext cx="5125402" cy="3352800"/>
          </a:xfrm>
          <a:prstGeom prst="rect">
            <a:avLst/>
          </a:prstGeom>
        </p:spPr>
      </p:pic>
      <p:grpSp>
        <p:nvGrpSpPr>
          <p:cNvPr id="21" name="Group 21"/>
          <p:cNvGrpSpPr/>
          <p:nvPr/>
        </p:nvGrpSpPr>
        <p:grpSpPr>
          <a:xfrm>
            <a:off x="754805" y="4892873"/>
            <a:ext cx="163207" cy="200545"/>
            <a:chOff x="754805" y="4892873"/>
            <a:chExt cx="163207" cy="200545"/>
          </a:xfrm>
        </p:grpSpPr>
        <p:sp>
          <p:nvSpPr>
            <p:cNvPr id="19" name="Freeform 19"/>
            <p:cNvSpPr/>
            <p:nvPr/>
          </p:nvSpPr>
          <p:spPr>
            <a:xfrm>
              <a:off x="762868" y="4899422"/>
              <a:ext cx="99466" cy="183321"/>
            </a:xfrm>
            <a:custGeom>
              <a:avLst/>
              <a:gdLst/>
              <a:ahLst/>
              <a:cxnLst/>
              <a:rect l="l" t="t" r="r" b="b"/>
              <a:pathLst>
                <a:path w="99466" h="183321">
                  <a:moveTo>
                    <a:pt x="75927" y="99864"/>
                  </a:moveTo>
                  <a:lnTo>
                    <a:pt x="75927" y="26194"/>
                  </a:lnTo>
                  <a:cubicBezTo>
                    <a:pt x="75927" y="11727"/>
                    <a:pt x="64200" y="0"/>
                    <a:pt x="49733" y="0"/>
                  </a:cubicBezTo>
                  <a:cubicBezTo>
                    <a:pt x="35267" y="0"/>
                    <a:pt x="23539" y="11727"/>
                    <a:pt x="23539" y="26194"/>
                  </a:cubicBezTo>
                  <a:lnTo>
                    <a:pt x="23539" y="99864"/>
                  </a:lnTo>
                  <a:cubicBezTo>
                    <a:pt x="7103" y="111308"/>
                    <a:pt x="0" y="132099"/>
                    <a:pt x="5998" y="151208"/>
                  </a:cubicBezTo>
                  <a:cubicBezTo>
                    <a:pt x="11995" y="170318"/>
                    <a:pt x="29705" y="183321"/>
                    <a:pt x="49733" y="183321"/>
                  </a:cubicBezTo>
                  <a:cubicBezTo>
                    <a:pt x="69761" y="183321"/>
                    <a:pt x="87471" y="170318"/>
                    <a:pt x="93469" y="151208"/>
                  </a:cubicBezTo>
                  <a:cubicBezTo>
                    <a:pt x="99466" y="132099"/>
                    <a:pt x="92363" y="111308"/>
                    <a:pt x="75927" y="99864"/>
                  </a:cubicBezTo>
                  <a:close/>
                  <a:moveTo>
                    <a:pt x="49733" y="157162"/>
                  </a:moveTo>
                  <a:cubicBezTo>
                    <a:pt x="38883" y="157162"/>
                    <a:pt x="30088" y="148367"/>
                    <a:pt x="30088" y="137517"/>
                  </a:cubicBezTo>
                  <a:cubicBezTo>
                    <a:pt x="30088" y="126667"/>
                    <a:pt x="38883" y="117872"/>
                    <a:pt x="49733" y="117872"/>
                  </a:cubicBezTo>
                  <a:cubicBezTo>
                    <a:pt x="60583" y="117872"/>
                    <a:pt x="69378" y="126667"/>
                    <a:pt x="69378" y="137517"/>
                  </a:cubicBezTo>
                  <a:cubicBezTo>
                    <a:pt x="69378" y="148367"/>
                    <a:pt x="60583" y="157162"/>
                    <a:pt x="49733" y="157162"/>
                  </a:cubicBezTo>
                  <a:close/>
                </a:path>
              </a:pathLst>
            </a:custGeom>
            <a:solidFill>
              <a:srgbClr val="D1552C">
                <a:alpha val="20000"/>
              </a:srgbClr>
            </a:solidFill>
            <a:ln>
              <a:noFill/>
            </a:ln>
          </p:spPr>
        </p:sp>
        <p:sp>
          <p:nvSpPr>
            <p:cNvPr id="20" name="Freeform 20"/>
            <p:cNvSpPr/>
            <p:nvPr/>
          </p:nvSpPr>
          <p:spPr>
            <a:xfrm>
              <a:off x="754805" y="4892873"/>
              <a:ext cx="163207" cy="200545"/>
            </a:xfrm>
            <a:custGeom>
              <a:avLst/>
              <a:gdLst/>
              <a:ahLst/>
              <a:cxnLst/>
              <a:rect l="l" t="t" r="r" b="b"/>
              <a:pathLst>
                <a:path w="163207" h="200545">
                  <a:moveTo>
                    <a:pt x="104789" y="59378"/>
                  </a:moveTo>
                  <a:cubicBezTo>
                    <a:pt x="102741" y="56401"/>
                    <a:pt x="103492" y="52327"/>
                    <a:pt x="106467" y="50276"/>
                  </a:cubicBezTo>
                  <a:cubicBezTo>
                    <a:pt x="114980" y="44398"/>
                    <a:pt x="128307" y="44398"/>
                    <a:pt x="136819" y="50276"/>
                  </a:cubicBezTo>
                  <a:cubicBezTo>
                    <a:pt x="140912" y="53116"/>
                    <a:pt x="148181" y="53116"/>
                    <a:pt x="152307" y="50276"/>
                  </a:cubicBezTo>
                  <a:cubicBezTo>
                    <a:pt x="155278" y="48388"/>
                    <a:pt x="159209" y="49187"/>
                    <a:pt x="161208" y="52084"/>
                  </a:cubicBezTo>
                  <a:cubicBezTo>
                    <a:pt x="163207" y="54981"/>
                    <a:pt x="162558" y="58940"/>
                    <a:pt x="159739" y="61048"/>
                  </a:cubicBezTo>
                  <a:cubicBezTo>
                    <a:pt x="150473" y="66919"/>
                    <a:pt x="138653" y="66919"/>
                    <a:pt x="129387" y="61048"/>
                  </a:cubicBezTo>
                  <a:cubicBezTo>
                    <a:pt x="125294" y="58207"/>
                    <a:pt x="118025" y="58207"/>
                    <a:pt x="113900" y="61048"/>
                  </a:cubicBezTo>
                  <a:cubicBezTo>
                    <a:pt x="112470" y="62035"/>
                    <a:pt x="110707" y="62413"/>
                    <a:pt x="108999" y="62100"/>
                  </a:cubicBezTo>
                  <a:cubicBezTo>
                    <a:pt x="107290" y="61787"/>
                    <a:pt x="105776" y="60808"/>
                    <a:pt x="104789" y="59378"/>
                  </a:cubicBezTo>
                  <a:close/>
                  <a:moveTo>
                    <a:pt x="152307" y="76469"/>
                  </a:moveTo>
                  <a:cubicBezTo>
                    <a:pt x="148214" y="79310"/>
                    <a:pt x="140945" y="79310"/>
                    <a:pt x="136819" y="76469"/>
                  </a:cubicBezTo>
                  <a:cubicBezTo>
                    <a:pt x="128307" y="70592"/>
                    <a:pt x="114980" y="70592"/>
                    <a:pt x="106467" y="76469"/>
                  </a:cubicBezTo>
                  <a:cubicBezTo>
                    <a:pt x="104443" y="77756"/>
                    <a:pt x="103284" y="80046"/>
                    <a:pt x="103446" y="82440"/>
                  </a:cubicBezTo>
                  <a:cubicBezTo>
                    <a:pt x="103608" y="84833"/>
                    <a:pt x="105066" y="86946"/>
                    <a:pt x="107246" y="87947"/>
                  </a:cubicBezTo>
                  <a:cubicBezTo>
                    <a:pt x="109426" y="88948"/>
                    <a:pt x="111979" y="88678"/>
                    <a:pt x="113900" y="87242"/>
                  </a:cubicBezTo>
                  <a:cubicBezTo>
                    <a:pt x="117993" y="84401"/>
                    <a:pt x="125262" y="84401"/>
                    <a:pt x="129387" y="87242"/>
                  </a:cubicBezTo>
                  <a:cubicBezTo>
                    <a:pt x="138653" y="93112"/>
                    <a:pt x="150473" y="93112"/>
                    <a:pt x="159739" y="87242"/>
                  </a:cubicBezTo>
                  <a:cubicBezTo>
                    <a:pt x="162558" y="85134"/>
                    <a:pt x="163207" y="81175"/>
                    <a:pt x="161208" y="78278"/>
                  </a:cubicBezTo>
                  <a:cubicBezTo>
                    <a:pt x="159209" y="75380"/>
                    <a:pt x="155278" y="74582"/>
                    <a:pt x="152307" y="76469"/>
                  </a:cubicBezTo>
                  <a:close/>
                  <a:moveTo>
                    <a:pt x="83990" y="144066"/>
                  </a:moveTo>
                  <a:cubicBezTo>
                    <a:pt x="83983" y="157676"/>
                    <a:pt x="73554" y="169014"/>
                    <a:pt x="59991" y="170154"/>
                  </a:cubicBezTo>
                  <a:cubicBezTo>
                    <a:pt x="46428" y="171295"/>
                    <a:pt x="34252" y="161858"/>
                    <a:pt x="31973" y="148440"/>
                  </a:cubicBezTo>
                  <a:cubicBezTo>
                    <a:pt x="29693" y="135021"/>
                    <a:pt x="38070" y="122093"/>
                    <a:pt x="51248" y="118690"/>
                  </a:cubicBezTo>
                  <a:lnTo>
                    <a:pt x="51248" y="32742"/>
                  </a:lnTo>
                  <a:cubicBezTo>
                    <a:pt x="51248" y="29126"/>
                    <a:pt x="54180" y="26194"/>
                    <a:pt x="57796" y="26194"/>
                  </a:cubicBezTo>
                  <a:cubicBezTo>
                    <a:pt x="61413" y="26194"/>
                    <a:pt x="64345" y="29126"/>
                    <a:pt x="64345" y="32742"/>
                  </a:cubicBezTo>
                  <a:lnTo>
                    <a:pt x="64345" y="118690"/>
                  </a:lnTo>
                  <a:cubicBezTo>
                    <a:pt x="75904" y="121693"/>
                    <a:pt x="83979" y="132122"/>
                    <a:pt x="83990" y="144066"/>
                  </a:cubicBezTo>
                  <a:close/>
                  <a:moveTo>
                    <a:pt x="70893" y="144066"/>
                  </a:moveTo>
                  <a:cubicBezTo>
                    <a:pt x="70893" y="136832"/>
                    <a:pt x="65029" y="130969"/>
                    <a:pt x="57796" y="130969"/>
                  </a:cubicBezTo>
                  <a:cubicBezTo>
                    <a:pt x="50563" y="130969"/>
                    <a:pt x="44699" y="136832"/>
                    <a:pt x="44699" y="144066"/>
                  </a:cubicBezTo>
                  <a:cubicBezTo>
                    <a:pt x="44699" y="151299"/>
                    <a:pt x="50563" y="157162"/>
                    <a:pt x="57796" y="157162"/>
                  </a:cubicBezTo>
                  <a:cubicBezTo>
                    <a:pt x="65029" y="157162"/>
                    <a:pt x="70893" y="151299"/>
                    <a:pt x="70893" y="144066"/>
                  </a:cubicBezTo>
                  <a:close/>
                  <a:moveTo>
                    <a:pt x="110184" y="144066"/>
                  </a:moveTo>
                  <a:cubicBezTo>
                    <a:pt x="110168" y="168490"/>
                    <a:pt x="93276" y="189664"/>
                    <a:pt x="69465" y="195104"/>
                  </a:cubicBezTo>
                  <a:cubicBezTo>
                    <a:pt x="45654" y="200545"/>
                    <a:pt x="21243" y="188809"/>
                    <a:pt x="10621" y="166814"/>
                  </a:cubicBezTo>
                  <a:cubicBezTo>
                    <a:pt x="0" y="144819"/>
                    <a:pt x="5987" y="118403"/>
                    <a:pt x="25054" y="103138"/>
                  </a:cubicBezTo>
                  <a:lnTo>
                    <a:pt x="25054" y="32742"/>
                  </a:lnTo>
                  <a:cubicBezTo>
                    <a:pt x="25054" y="14659"/>
                    <a:pt x="39713" y="0"/>
                    <a:pt x="57796" y="0"/>
                  </a:cubicBezTo>
                  <a:cubicBezTo>
                    <a:pt x="75879" y="0"/>
                    <a:pt x="90538" y="14659"/>
                    <a:pt x="90538" y="32742"/>
                  </a:cubicBezTo>
                  <a:lnTo>
                    <a:pt x="90538" y="103138"/>
                  </a:lnTo>
                  <a:cubicBezTo>
                    <a:pt x="102957" y="113093"/>
                    <a:pt x="110184" y="128149"/>
                    <a:pt x="110184" y="144066"/>
                  </a:cubicBezTo>
                  <a:close/>
                  <a:moveTo>
                    <a:pt x="97087" y="144066"/>
                  </a:moveTo>
                  <a:cubicBezTo>
                    <a:pt x="97076" y="131209"/>
                    <a:pt x="90787" y="119168"/>
                    <a:pt x="80241" y="111815"/>
                  </a:cubicBezTo>
                  <a:cubicBezTo>
                    <a:pt x="78477" y="110583"/>
                    <a:pt x="77431" y="108563"/>
                    <a:pt x="77442" y="106412"/>
                  </a:cubicBezTo>
                  <a:lnTo>
                    <a:pt x="77442" y="32742"/>
                  </a:lnTo>
                  <a:cubicBezTo>
                    <a:pt x="77442" y="21892"/>
                    <a:pt x="68646" y="13097"/>
                    <a:pt x="57796" y="13097"/>
                  </a:cubicBezTo>
                  <a:cubicBezTo>
                    <a:pt x="46946" y="13097"/>
                    <a:pt x="38151" y="21892"/>
                    <a:pt x="38151" y="32742"/>
                  </a:cubicBezTo>
                  <a:lnTo>
                    <a:pt x="38151" y="106412"/>
                  </a:lnTo>
                  <a:cubicBezTo>
                    <a:pt x="38151" y="108552"/>
                    <a:pt x="37106" y="110557"/>
                    <a:pt x="35351" y="111782"/>
                  </a:cubicBezTo>
                  <a:cubicBezTo>
                    <a:pt x="20047" y="122434"/>
                    <a:pt x="14337" y="142376"/>
                    <a:pt x="21685" y="159514"/>
                  </a:cubicBezTo>
                  <a:cubicBezTo>
                    <a:pt x="29033" y="176652"/>
                    <a:pt x="47415" y="186264"/>
                    <a:pt x="65682" y="182522"/>
                  </a:cubicBezTo>
                  <a:cubicBezTo>
                    <a:pt x="83950" y="178779"/>
                    <a:pt x="97070" y="162712"/>
                    <a:pt x="97087" y="144066"/>
                  </a:cubicBezTo>
                  <a:close/>
                </a:path>
              </a:pathLst>
            </a:custGeom>
            <a:solidFill>
              <a:srgbClr val="D1552C"/>
            </a:solidFill>
            <a:ln>
              <a:noFill/>
            </a:ln>
          </p:spPr>
        </p:sp>
      </p:grpSp>
      <p:grpSp>
        <p:nvGrpSpPr>
          <p:cNvPr id="24" name="Group 24"/>
          <p:cNvGrpSpPr/>
          <p:nvPr/>
        </p:nvGrpSpPr>
        <p:grpSpPr>
          <a:xfrm>
            <a:off x="972145" y="4919038"/>
            <a:ext cx="189311" cy="147100"/>
            <a:chOff x="972145" y="4919038"/>
            <a:chExt cx="189311" cy="147100"/>
          </a:xfrm>
        </p:grpSpPr>
        <p:sp>
          <p:nvSpPr>
            <p:cNvPr id="22" name="Freeform 22"/>
            <p:cNvSpPr/>
            <p:nvPr/>
          </p:nvSpPr>
          <p:spPr>
            <a:xfrm>
              <a:off x="981670" y="4991100"/>
              <a:ext cx="170259" cy="65484"/>
            </a:xfrm>
            <a:custGeom>
              <a:avLst/>
              <a:gdLst/>
              <a:ahLst/>
              <a:cxnLst/>
              <a:rect l="l" t="t" r="r" b="b"/>
              <a:pathLst>
                <a:path w="170259" h="65484">
                  <a:moveTo>
                    <a:pt x="65484" y="32742"/>
                  </a:moveTo>
                  <a:cubicBezTo>
                    <a:pt x="65484" y="50825"/>
                    <a:pt x="50825" y="65484"/>
                    <a:pt x="32742" y="65484"/>
                  </a:cubicBezTo>
                  <a:cubicBezTo>
                    <a:pt x="14659" y="65484"/>
                    <a:pt x="0" y="50825"/>
                    <a:pt x="0" y="32742"/>
                  </a:cubicBezTo>
                  <a:cubicBezTo>
                    <a:pt x="0" y="14659"/>
                    <a:pt x="14659" y="0"/>
                    <a:pt x="32742" y="0"/>
                  </a:cubicBezTo>
                  <a:cubicBezTo>
                    <a:pt x="50825" y="0"/>
                    <a:pt x="65484" y="14659"/>
                    <a:pt x="65484" y="32742"/>
                  </a:cubicBezTo>
                  <a:close/>
                  <a:moveTo>
                    <a:pt x="137517" y="0"/>
                  </a:moveTo>
                  <a:cubicBezTo>
                    <a:pt x="119434" y="0"/>
                    <a:pt x="104775" y="14659"/>
                    <a:pt x="104775" y="32742"/>
                  </a:cubicBezTo>
                  <a:cubicBezTo>
                    <a:pt x="104775" y="50825"/>
                    <a:pt x="119434" y="65484"/>
                    <a:pt x="137517" y="65484"/>
                  </a:cubicBezTo>
                  <a:cubicBezTo>
                    <a:pt x="155600" y="65484"/>
                    <a:pt x="170259" y="50825"/>
                    <a:pt x="170259" y="32742"/>
                  </a:cubicBezTo>
                  <a:cubicBezTo>
                    <a:pt x="170259" y="14659"/>
                    <a:pt x="155600" y="0"/>
                    <a:pt x="137517" y="0"/>
                  </a:cubicBezTo>
                  <a:close/>
                </a:path>
              </a:pathLst>
            </a:custGeom>
            <a:solidFill>
              <a:srgbClr val="1F5F9E">
                <a:alpha val="20000"/>
              </a:srgbClr>
            </a:solidFill>
            <a:ln>
              <a:noFill/>
            </a:ln>
          </p:spPr>
        </p:sp>
        <p:sp>
          <p:nvSpPr>
            <p:cNvPr id="23" name="Freeform 23"/>
            <p:cNvSpPr/>
            <p:nvPr/>
          </p:nvSpPr>
          <p:spPr>
            <a:xfrm>
              <a:off x="972145" y="4919038"/>
              <a:ext cx="189311" cy="147100"/>
            </a:xfrm>
            <a:custGeom>
              <a:avLst/>
              <a:gdLst/>
              <a:ahLst/>
              <a:cxnLst/>
              <a:rect l="l" t="t" r="r" b="b"/>
              <a:pathLst>
                <a:path w="189311" h="147100">
                  <a:moveTo>
                    <a:pt x="184042" y="91600"/>
                  </a:moveTo>
                  <a:lnTo>
                    <a:pt x="184042" y="91600"/>
                  </a:lnTo>
                  <a:cubicBezTo>
                    <a:pt x="183495" y="90074"/>
                    <a:pt x="182852" y="88584"/>
                    <a:pt x="182118" y="87139"/>
                  </a:cubicBezTo>
                  <a:lnTo>
                    <a:pt x="148074" y="9688"/>
                  </a:lnTo>
                  <a:cubicBezTo>
                    <a:pt x="147752" y="8942"/>
                    <a:pt x="147291" y="8264"/>
                    <a:pt x="146715" y="7690"/>
                  </a:cubicBezTo>
                  <a:cubicBezTo>
                    <a:pt x="141803" y="2777"/>
                    <a:pt x="135140" y="16"/>
                    <a:pt x="128192" y="16"/>
                  </a:cubicBezTo>
                  <a:cubicBezTo>
                    <a:pt x="121243" y="16"/>
                    <a:pt x="114580" y="2777"/>
                    <a:pt x="109668" y="7690"/>
                  </a:cubicBezTo>
                  <a:cubicBezTo>
                    <a:pt x="108444" y="8916"/>
                    <a:pt x="107755" y="10576"/>
                    <a:pt x="107752" y="12307"/>
                  </a:cubicBezTo>
                  <a:lnTo>
                    <a:pt x="107752" y="32771"/>
                  </a:lnTo>
                  <a:lnTo>
                    <a:pt x="81558" y="32771"/>
                  </a:lnTo>
                  <a:lnTo>
                    <a:pt x="81558" y="12307"/>
                  </a:lnTo>
                  <a:cubicBezTo>
                    <a:pt x="81560" y="10570"/>
                    <a:pt x="80871" y="8903"/>
                    <a:pt x="79643" y="7674"/>
                  </a:cubicBezTo>
                  <a:cubicBezTo>
                    <a:pt x="74731" y="2761"/>
                    <a:pt x="68067" y="0"/>
                    <a:pt x="61119" y="0"/>
                  </a:cubicBezTo>
                  <a:cubicBezTo>
                    <a:pt x="54171" y="0"/>
                    <a:pt x="47508" y="2761"/>
                    <a:pt x="42595" y="7674"/>
                  </a:cubicBezTo>
                  <a:cubicBezTo>
                    <a:pt x="42020" y="8248"/>
                    <a:pt x="41559" y="8925"/>
                    <a:pt x="41236" y="9671"/>
                  </a:cubicBezTo>
                  <a:lnTo>
                    <a:pt x="7193" y="87123"/>
                  </a:lnTo>
                  <a:cubicBezTo>
                    <a:pt x="6458" y="88568"/>
                    <a:pt x="5816" y="90058"/>
                    <a:pt x="5269" y="91584"/>
                  </a:cubicBezTo>
                  <a:lnTo>
                    <a:pt x="5269" y="91584"/>
                  </a:lnTo>
                  <a:cubicBezTo>
                    <a:pt x="0" y="106327"/>
                    <a:pt x="3987" y="122792"/>
                    <a:pt x="15417" y="133491"/>
                  </a:cubicBezTo>
                  <a:cubicBezTo>
                    <a:pt x="26847" y="144191"/>
                    <a:pt x="43538" y="147083"/>
                    <a:pt x="57902" y="140853"/>
                  </a:cubicBezTo>
                  <a:cubicBezTo>
                    <a:pt x="72266" y="134623"/>
                    <a:pt x="81560" y="120460"/>
                    <a:pt x="81558" y="104804"/>
                  </a:cubicBezTo>
                  <a:lnTo>
                    <a:pt x="81558" y="45868"/>
                  </a:lnTo>
                  <a:lnTo>
                    <a:pt x="107752" y="45868"/>
                  </a:lnTo>
                  <a:lnTo>
                    <a:pt x="107752" y="104804"/>
                  </a:lnTo>
                  <a:cubicBezTo>
                    <a:pt x="107744" y="120462"/>
                    <a:pt x="117035" y="134631"/>
                    <a:pt x="131399" y="140865"/>
                  </a:cubicBezTo>
                  <a:cubicBezTo>
                    <a:pt x="145762" y="147100"/>
                    <a:pt x="162457" y="144211"/>
                    <a:pt x="173890" y="133511"/>
                  </a:cubicBezTo>
                  <a:cubicBezTo>
                    <a:pt x="185323" y="122812"/>
                    <a:pt x="189311" y="106346"/>
                    <a:pt x="184042" y="91600"/>
                  </a:cubicBezTo>
                  <a:close/>
                  <a:moveTo>
                    <a:pt x="52672" y="16195"/>
                  </a:moveTo>
                  <a:cubicBezTo>
                    <a:pt x="57158" y="12418"/>
                    <a:pt x="63609" y="12083"/>
                    <a:pt x="68462" y="15377"/>
                  </a:cubicBezTo>
                  <a:lnTo>
                    <a:pt x="68462" y="75549"/>
                  </a:lnTo>
                  <a:cubicBezTo>
                    <a:pt x="58056" y="66206"/>
                    <a:pt x="43463" y="63111"/>
                    <a:pt x="30161" y="67429"/>
                  </a:cubicBezTo>
                  <a:close/>
                  <a:moveTo>
                    <a:pt x="42268" y="130998"/>
                  </a:moveTo>
                  <a:cubicBezTo>
                    <a:pt x="27801" y="130998"/>
                    <a:pt x="16074" y="119270"/>
                    <a:pt x="16074" y="104804"/>
                  </a:cubicBezTo>
                  <a:cubicBezTo>
                    <a:pt x="16074" y="90337"/>
                    <a:pt x="27801" y="78610"/>
                    <a:pt x="42268" y="78610"/>
                  </a:cubicBezTo>
                  <a:cubicBezTo>
                    <a:pt x="56734" y="78610"/>
                    <a:pt x="68462" y="90337"/>
                    <a:pt x="68462" y="104804"/>
                  </a:cubicBezTo>
                  <a:cubicBezTo>
                    <a:pt x="68462" y="119270"/>
                    <a:pt x="56734" y="130998"/>
                    <a:pt x="42268" y="130998"/>
                  </a:cubicBezTo>
                  <a:close/>
                  <a:moveTo>
                    <a:pt x="120849" y="15369"/>
                  </a:moveTo>
                  <a:cubicBezTo>
                    <a:pt x="125702" y="12075"/>
                    <a:pt x="132153" y="12410"/>
                    <a:pt x="136639" y="16187"/>
                  </a:cubicBezTo>
                  <a:lnTo>
                    <a:pt x="159149" y="67412"/>
                  </a:lnTo>
                  <a:cubicBezTo>
                    <a:pt x="145847" y="63097"/>
                    <a:pt x="131253" y="66194"/>
                    <a:pt x="120849" y="75540"/>
                  </a:cubicBezTo>
                  <a:close/>
                  <a:moveTo>
                    <a:pt x="147043" y="130998"/>
                  </a:moveTo>
                  <a:cubicBezTo>
                    <a:pt x="132576" y="130998"/>
                    <a:pt x="120849" y="119270"/>
                    <a:pt x="120849" y="104804"/>
                  </a:cubicBezTo>
                  <a:cubicBezTo>
                    <a:pt x="120849" y="90337"/>
                    <a:pt x="132576" y="78610"/>
                    <a:pt x="147043" y="78610"/>
                  </a:cubicBezTo>
                  <a:cubicBezTo>
                    <a:pt x="161509" y="78610"/>
                    <a:pt x="173237" y="90337"/>
                    <a:pt x="173237" y="104804"/>
                  </a:cubicBezTo>
                  <a:cubicBezTo>
                    <a:pt x="173237" y="119270"/>
                    <a:pt x="161509" y="130998"/>
                    <a:pt x="147043" y="130998"/>
                  </a:cubicBezTo>
                  <a:close/>
                </a:path>
              </a:pathLst>
            </a:custGeom>
            <a:solidFill>
              <a:srgbClr val="1F5F9E"/>
            </a:solidFill>
            <a:ln>
              <a:noFill/>
            </a:ln>
          </p:spPr>
        </p:sp>
      </p:grpSp>
      <p:sp>
        <p:nvSpPr>
          <p:cNvPr id="25" name="TextBox 25"/>
          <p:cNvSpPr txBox="1"/>
          <p:nvPr/>
        </p:nvSpPr>
        <p:spPr>
          <a:xfrm>
            <a:off x="1235392" y="4942999"/>
            <a:ext cx="3499294"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1a Hazard ratio per SD, three SDM thresholds</a:t>
            </a:r>
          </a:p>
        </p:txBody>
      </p:sp>
      <p:sp>
        <p:nvSpPr>
          <p:cNvPr id="26" name="Rectangle 26"/>
          <p:cNvSpPr/>
          <p:nvPr/>
        </p:nvSpPr>
        <p:spPr>
          <a:xfrm>
            <a:off x="6379845" y="1390650"/>
            <a:ext cx="5109210" cy="3829050"/>
          </a:xfrm>
          <a:prstGeom prst="roundRect">
            <a:avLst>
              <a:gd name="adj" fmla="val 2488"/>
            </a:avLst>
          </a:prstGeom>
          <a:solidFill>
            <a:srgbClr val="FFFFFF"/>
          </a:solidFill>
          <a:ln w="14288">
            <a:solidFill>
              <a:srgbClr val="D9C7CA"/>
            </a:solidFill>
          </a:ln>
        </p:spPr>
      </p:sp>
      <p:pic>
        <p:nvPicPr>
          <p:cNvPr id="27" name="Image 27"/>
          <p:cNvPicPr>
            <a:picLocks noChangeAspect="1"/>
          </p:cNvPicPr>
          <p:nvPr/>
        </p:nvPicPr>
        <p:blipFill>
          <a:blip r:embed="rId4"/>
          <a:stretch>
            <a:fillRect/>
          </a:stretch>
        </p:blipFill>
        <p:spPr>
          <a:xfrm>
            <a:off x="6475095" y="1485900"/>
            <a:ext cx="4918710" cy="3352800"/>
          </a:xfrm>
          <a:prstGeom prst="rect">
            <a:avLst/>
          </a:prstGeom>
        </p:spPr>
      </p:pic>
      <p:grpSp>
        <p:nvGrpSpPr>
          <p:cNvPr id="30" name="Group 30"/>
          <p:cNvGrpSpPr/>
          <p:nvPr/>
        </p:nvGrpSpPr>
        <p:grpSpPr>
          <a:xfrm>
            <a:off x="6534575" y="4892873"/>
            <a:ext cx="163207" cy="200545"/>
            <a:chOff x="6534575" y="4892873"/>
            <a:chExt cx="163207" cy="200545"/>
          </a:xfrm>
        </p:grpSpPr>
        <p:sp>
          <p:nvSpPr>
            <p:cNvPr id="28" name="Freeform 28"/>
            <p:cNvSpPr/>
            <p:nvPr/>
          </p:nvSpPr>
          <p:spPr>
            <a:xfrm>
              <a:off x="6542638" y="4899422"/>
              <a:ext cx="99466" cy="183321"/>
            </a:xfrm>
            <a:custGeom>
              <a:avLst/>
              <a:gdLst/>
              <a:ahLst/>
              <a:cxnLst/>
              <a:rect l="l" t="t" r="r" b="b"/>
              <a:pathLst>
                <a:path w="99466" h="183321">
                  <a:moveTo>
                    <a:pt x="75927" y="99864"/>
                  </a:moveTo>
                  <a:lnTo>
                    <a:pt x="75927" y="26194"/>
                  </a:lnTo>
                  <a:cubicBezTo>
                    <a:pt x="75927" y="11727"/>
                    <a:pt x="64200" y="0"/>
                    <a:pt x="49733" y="0"/>
                  </a:cubicBezTo>
                  <a:cubicBezTo>
                    <a:pt x="35267" y="0"/>
                    <a:pt x="23539" y="11727"/>
                    <a:pt x="23539" y="26194"/>
                  </a:cubicBezTo>
                  <a:lnTo>
                    <a:pt x="23539" y="99864"/>
                  </a:lnTo>
                  <a:cubicBezTo>
                    <a:pt x="7103" y="111308"/>
                    <a:pt x="0" y="132099"/>
                    <a:pt x="5998" y="151208"/>
                  </a:cubicBezTo>
                  <a:cubicBezTo>
                    <a:pt x="11995" y="170318"/>
                    <a:pt x="29705" y="183321"/>
                    <a:pt x="49733" y="183321"/>
                  </a:cubicBezTo>
                  <a:cubicBezTo>
                    <a:pt x="69761" y="183321"/>
                    <a:pt x="87471" y="170318"/>
                    <a:pt x="93469" y="151208"/>
                  </a:cubicBezTo>
                  <a:cubicBezTo>
                    <a:pt x="99466" y="132099"/>
                    <a:pt x="92363" y="111308"/>
                    <a:pt x="75927" y="99864"/>
                  </a:cubicBezTo>
                  <a:close/>
                  <a:moveTo>
                    <a:pt x="49733" y="157162"/>
                  </a:moveTo>
                  <a:cubicBezTo>
                    <a:pt x="38883" y="157162"/>
                    <a:pt x="30088" y="148367"/>
                    <a:pt x="30088" y="137517"/>
                  </a:cubicBezTo>
                  <a:cubicBezTo>
                    <a:pt x="30088" y="126667"/>
                    <a:pt x="38883" y="117872"/>
                    <a:pt x="49733" y="117872"/>
                  </a:cubicBezTo>
                  <a:cubicBezTo>
                    <a:pt x="60583" y="117872"/>
                    <a:pt x="69378" y="126667"/>
                    <a:pt x="69378" y="137517"/>
                  </a:cubicBezTo>
                  <a:cubicBezTo>
                    <a:pt x="69378" y="148367"/>
                    <a:pt x="60583" y="157162"/>
                    <a:pt x="49733" y="157162"/>
                  </a:cubicBezTo>
                  <a:close/>
                </a:path>
              </a:pathLst>
            </a:custGeom>
            <a:solidFill>
              <a:srgbClr val="D1552C">
                <a:alpha val="20000"/>
              </a:srgbClr>
            </a:solidFill>
            <a:ln>
              <a:noFill/>
            </a:ln>
          </p:spPr>
        </p:sp>
        <p:sp>
          <p:nvSpPr>
            <p:cNvPr id="29" name="Freeform 29"/>
            <p:cNvSpPr/>
            <p:nvPr/>
          </p:nvSpPr>
          <p:spPr>
            <a:xfrm>
              <a:off x="6534575" y="4892873"/>
              <a:ext cx="163207" cy="200545"/>
            </a:xfrm>
            <a:custGeom>
              <a:avLst/>
              <a:gdLst/>
              <a:ahLst/>
              <a:cxnLst/>
              <a:rect l="l" t="t" r="r" b="b"/>
              <a:pathLst>
                <a:path w="163207" h="200545">
                  <a:moveTo>
                    <a:pt x="104789" y="59378"/>
                  </a:moveTo>
                  <a:cubicBezTo>
                    <a:pt x="102741" y="56401"/>
                    <a:pt x="103492" y="52327"/>
                    <a:pt x="106467" y="50276"/>
                  </a:cubicBezTo>
                  <a:cubicBezTo>
                    <a:pt x="114980" y="44398"/>
                    <a:pt x="128307" y="44398"/>
                    <a:pt x="136819" y="50276"/>
                  </a:cubicBezTo>
                  <a:cubicBezTo>
                    <a:pt x="140912" y="53116"/>
                    <a:pt x="148181" y="53116"/>
                    <a:pt x="152307" y="50276"/>
                  </a:cubicBezTo>
                  <a:cubicBezTo>
                    <a:pt x="155278" y="48388"/>
                    <a:pt x="159209" y="49187"/>
                    <a:pt x="161208" y="52084"/>
                  </a:cubicBezTo>
                  <a:cubicBezTo>
                    <a:pt x="163207" y="54981"/>
                    <a:pt x="162558" y="58940"/>
                    <a:pt x="159739" y="61048"/>
                  </a:cubicBezTo>
                  <a:cubicBezTo>
                    <a:pt x="150473" y="66919"/>
                    <a:pt x="138653" y="66919"/>
                    <a:pt x="129387" y="61048"/>
                  </a:cubicBezTo>
                  <a:cubicBezTo>
                    <a:pt x="125294" y="58207"/>
                    <a:pt x="118025" y="58207"/>
                    <a:pt x="113900" y="61048"/>
                  </a:cubicBezTo>
                  <a:cubicBezTo>
                    <a:pt x="112470" y="62035"/>
                    <a:pt x="110707" y="62413"/>
                    <a:pt x="108999" y="62100"/>
                  </a:cubicBezTo>
                  <a:cubicBezTo>
                    <a:pt x="107290" y="61787"/>
                    <a:pt x="105776" y="60808"/>
                    <a:pt x="104789" y="59378"/>
                  </a:cubicBezTo>
                  <a:close/>
                  <a:moveTo>
                    <a:pt x="152307" y="76469"/>
                  </a:moveTo>
                  <a:cubicBezTo>
                    <a:pt x="148214" y="79310"/>
                    <a:pt x="140945" y="79310"/>
                    <a:pt x="136819" y="76469"/>
                  </a:cubicBezTo>
                  <a:cubicBezTo>
                    <a:pt x="128307" y="70592"/>
                    <a:pt x="114980" y="70592"/>
                    <a:pt x="106467" y="76469"/>
                  </a:cubicBezTo>
                  <a:cubicBezTo>
                    <a:pt x="104443" y="77756"/>
                    <a:pt x="103284" y="80046"/>
                    <a:pt x="103446" y="82440"/>
                  </a:cubicBezTo>
                  <a:cubicBezTo>
                    <a:pt x="103608" y="84833"/>
                    <a:pt x="105066" y="86946"/>
                    <a:pt x="107246" y="87947"/>
                  </a:cubicBezTo>
                  <a:cubicBezTo>
                    <a:pt x="109426" y="88948"/>
                    <a:pt x="111979" y="88678"/>
                    <a:pt x="113900" y="87242"/>
                  </a:cubicBezTo>
                  <a:cubicBezTo>
                    <a:pt x="117993" y="84401"/>
                    <a:pt x="125262" y="84401"/>
                    <a:pt x="129387" y="87242"/>
                  </a:cubicBezTo>
                  <a:cubicBezTo>
                    <a:pt x="138653" y="93112"/>
                    <a:pt x="150473" y="93112"/>
                    <a:pt x="159739" y="87242"/>
                  </a:cubicBezTo>
                  <a:cubicBezTo>
                    <a:pt x="162558" y="85134"/>
                    <a:pt x="163207" y="81175"/>
                    <a:pt x="161208" y="78278"/>
                  </a:cubicBezTo>
                  <a:cubicBezTo>
                    <a:pt x="159209" y="75380"/>
                    <a:pt x="155278" y="74582"/>
                    <a:pt x="152307" y="76469"/>
                  </a:cubicBezTo>
                  <a:close/>
                  <a:moveTo>
                    <a:pt x="83990" y="144066"/>
                  </a:moveTo>
                  <a:cubicBezTo>
                    <a:pt x="83983" y="157676"/>
                    <a:pt x="73554" y="169014"/>
                    <a:pt x="59991" y="170154"/>
                  </a:cubicBezTo>
                  <a:cubicBezTo>
                    <a:pt x="46428" y="171295"/>
                    <a:pt x="34252" y="161858"/>
                    <a:pt x="31973" y="148440"/>
                  </a:cubicBezTo>
                  <a:cubicBezTo>
                    <a:pt x="29693" y="135021"/>
                    <a:pt x="38070" y="122093"/>
                    <a:pt x="51248" y="118690"/>
                  </a:cubicBezTo>
                  <a:lnTo>
                    <a:pt x="51248" y="32742"/>
                  </a:lnTo>
                  <a:cubicBezTo>
                    <a:pt x="51248" y="29126"/>
                    <a:pt x="54180" y="26194"/>
                    <a:pt x="57796" y="26194"/>
                  </a:cubicBezTo>
                  <a:cubicBezTo>
                    <a:pt x="61413" y="26194"/>
                    <a:pt x="64345" y="29126"/>
                    <a:pt x="64345" y="32742"/>
                  </a:cubicBezTo>
                  <a:lnTo>
                    <a:pt x="64345" y="118690"/>
                  </a:lnTo>
                  <a:cubicBezTo>
                    <a:pt x="75904" y="121693"/>
                    <a:pt x="83979" y="132122"/>
                    <a:pt x="83990" y="144066"/>
                  </a:cubicBezTo>
                  <a:close/>
                  <a:moveTo>
                    <a:pt x="70893" y="144066"/>
                  </a:moveTo>
                  <a:cubicBezTo>
                    <a:pt x="70893" y="136832"/>
                    <a:pt x="65029" y="130969"/>
                    <a:pt x="57796" y="130969"/>
                  </a:cubicBezTo>
                  <a:cubicBezTo>
                    <a:pt x="50563" y="130969"/>
                    <a:pt x="44699" y="136832"/>
                    <a:pt x="44699" y="144066"/>
                  </a:cubicBezTo>
                  <a:cubicBezTo>
                    <a:pt x="44699" y="151299"/>
                    <a:pt x="50563" y="157162"/>
                    <a:pt x="57796" y="157162"/>
                  </a:cubicBezTo>
                  <a:cubicBezTo>
                    <a:pt x="65029" y="157162"/>
                    <a:pt x="70893" y="151299"/>
                    <a:pt x="70893" y="144066"/>
                  </a:cubicBezTo>
                  <a:close/>
                  <a:moveTo>
                    <a:pt x="110184" y="144066"/>
                  </a:moveTo>
                  <a:cubicBezTo>
                    <a:pt x="110168" y="168490"/>
                    <a:pt x="93276" y="189664"/>
                    <a:pt x="69465" y="195104"/>
                  </a:cubicBezTo>
                  <a:cubicBezTo>
                    <a:pt x="45654" y="200545"/>
                    <a:pt x="21243" y="188809"/>
                    <a:pt x="10621" y="166814"/>
                  </a:cubicBezTo>
                  <a:cubicBezTo>
                    <a:pt x="0" y="144819"/>
                    <a:pt x="5987" y="118403"/>
                    <a:pt x="25054" y="103138"/>
                  </a:cubicBezTo>
                  <a:lnTo>
                    <a:pt x="25054" y="32742"/>
                  </a:lnTo>
                  <a:cubicBezTo>
                    <a:pt x="25054" y="14659"/>
                    <a:pt x="39713" y="0"/>
                    <a:pt x="57796" y="0"/>
                  </a:cubicBezTo>
                  <a:cubicBezTo>
                    <a:pt x="75879" y="0"/>
                    <a:pt x="90538" y="14659"/>
                    <a:pt x="90538" y="32742"/>
                  </a:cubicBezTo>
                  <a:lnTo>
                    <a:pt x="90538" y="103138"/>
                  </a:lnTo>
                  <a:cubicBezTo>
                    <a:pt x="102957" y="113093"/>
                    <a:pt x="110184" y="128149"/>
                    <a:pt x="110184" y="144066"/>
                  </a:cubicBezTo>
                  <a:close/>
                  <a:moveTo>
                    <a:pt x="97087" y="144066"/>
                  </a:moveTo>
                  <a:cubicBezTo>
                    <a:pt x="97076" y="131209"/>
                    <a:pt x="90787" y="119168"/>
                    <a:pt x="80241" y="111815"/>
                  </a:cubicBezTo>
                  <a:cubicBezTo>
                    <a:pt x="78477" y="110583"/>
                    <a:pt x="77431" y="108563"/>
                    <a:pt x="77442" y="106412"/>
                  </a:cubicBezTo>
                  <a:lnTo>
                    <a:pt x="77442" y="32742"/>
                  </a:lnTo>
                  <a:cubicBezTo>
                    <a:pt x="77442" y="21892"/>
                    <a:pt x="68646" y="13097"/>
                    <a:pt x="57796" y="13097"/>
                  </a:cubicBezTo>
                  <a:cubicBezTo>
                    <a:pt x="46946" y="13097"/>
                    <a:pt x="38151" y="21892"/>
                    <a:pt x="38151" y="32742"/>
                  </a:cubicBezTo>
                  <a:lnTo>
                    <a:pt x="38151" y="106412"/>
                  </a:lnTo>
                  <a:cubicBezTo>
                    <a:pt x="38151" y="108552"/>
                    <a:pt x="37106" y="110557"/>
                    <a:pt x="35351" y="111782"/>
                  </a:cubicBezTo>
                  <a:cubicBezTo>
                    <a:pt x="20047" y="122434"/>
                    <a:pt x="14337" y="142376"/>
                    <a:pt x="21685" y="159514"/>
                  </a:cubicBezTo>
                  <a:cubicBezTo>
                    <a:pt x="29033" y="176652"/>
                    <a:pt x="47415" y="186264"/>
                    <a:pt x="65682" y="182522"/>
                  </a:cubicBezTo>
                  <a:cubicBezTo>
                    <a:pt x="83950" y="178779"/>
                    <a:pt x="97070" y="162712"/>
                    <a:pt x="97087" y="144066"/>
                  </a:cubicBezTo>
                  <a:close/>
                </a:path>
              </a:pathLst>
            </a:custGeom>
            <a:solidFill>
              <a:srgbClr val="D1552C"/>
            </a:solidFill>
            <a:ln>
              <a:noFill/>
            </a:ln>
          </p:spPr>
        </p:sp>
      </p:grpSp>
      <p:sp>
        <p:nvSpPr>
          <p:cNvPr id="31" name="TextBox 31"/>
          <p:cNvSpPr txBox="1"/>
          <p:nvPr/>
        </p:nvSpPr>
        <p:spPr>
          <a:xfrm>
            <a:off x="6767512" y="4942999"/>
            <a:ext cx="3378256"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1b Effect of warming at three effort levels</a:t>
            </a:r>
          </a:p>
        </p:txBody>
      </p:sp>
      <p:sp>
        <p:nvSpPr>
          <p:cNvPr id="32" name="Rectangle 32"/>
          <p:cNvSpPr/>
          <p:nvPr/>
        </p:nvSpPr>
        <p:spPr>
          <a:xfrm>
            <a:off x="514350" y="5372100"/>
            <a:ext cx="2662238" cy="1066800"/>
          </a:xfrm>
          <a:prstGeom prst="roundRect">
            <a:avLst>
              <a:gd name="adj" fmla="val 8929"/>
            </a:avLst>
          </a:prstGeom>
          <a:solidFill>
            <a:srgbClr val="FFFFFF"/>
          </a:solidFill>
          <a:ln w="15240">
            <a:solidFill>
              <a:srgbClr val="D1552C"/>
            </a:solidFill>
          </a:ln>
        </p:spPr>
      </p:sp>
      <p:grpSp>
        <p:nvGrpSpPr>
          <p:cNvPr id="35" name="Group 35"/>
          <p:cNvGrpSpPr/>
          <p:nvPr/>
        </p:nvGrpSpPr>
        <p:grpSpPr>
          <a:xfrm>
            <a:off x="702832" y="5495330"/>
            <a:ext cx="222556" cy="273470"/>
            <a:chOff x="702832" y="5495330"/>
            <a:chExt cx="222556" cy="273470"/>
          </a:xfrm>
        </p:grpSpPr>
        <p:sp>
          <p:nvSpPr>
            <p:cNvPr id="33" name="Freeform 33"/>
            <p:cNvSpPr/>
            <p:nvPr/>
          </p:nvSpPr>
          <p:spPr>
            <a:xfrm>
              <a:off x="713827" y="5504259"/>
              <a:ext cx="135636" cy="249983"/>
            </a:xfrm>
            <a:custGeom>
              <a:avLst/>
              <a:gdLst/>
              <a:ahLst/>
              <a:cxnLst/>
              <a:rect l="l" t="t" r="r" b="b"/>
              <a:pathLst>
                <a:path w="135636" h="249983">
                  <a:moveTo>
                    <a:pt x="103537" y="136178"/>
                  </a:moveTo>
                  <a:lnTo>
                    <a:pt x="103537" y="35719"/>
                  </a:lnTo>
                  <a:cubicBezTo>
                    <a:pt x="103537" y="15992"/>
                    <a:pt x="87545" y="0"/>
                    <a:pt x="67818" y="0"/>
                  </a:cubicBezTo>
                  <a:cubicBezTo>
                    <a:pt x="48091" y="0"/>
                    <a:pt x="32099" y="15992"/>
                    <a:pt x="32099" y="35719"/>
                  </a:cubicBezTo>
                  <a:lnTo>
                    <a:pt x="32099" y="136178"/>
                  </a:lnTo>
                  <a:cubicBezTo>
                    <a:pt x="9686" y="151784"/>
                    <a:pt x="0" y="180135"/>
                    <a:pt x="8179" y="206193"/>
                  </a:cubicBezTo>
                  <a:cubicBezTo>
                    <a:pt x="16357" y="232251"/>
                    <a:pt x="40506" y="249983"/>
                    <a:pt x="67818" y="249983"/>
                  </a:cubicBezTo>
                  <a:cubicBezTo>
                    <a:pt x="95129" y="249983"/>
                    <a:pt x="119279" y="232251"/>
                    <a:pt x="127457" y="206193"/>
                  </a:cubicBezTo>
                  <a:cubicBezTo>
                    <a:pt x="135636" y="180135"/>
                    <a:pt x="125950" y="151784"/>
                    <a:pt x="103537" y="136178"/>
                  </a:cubicBezTo>
                  <a:close/>
                  <a:moveTo>
                    <a:pt x="67818" y="214312"/>
                  </a:moveTo>
                  <a:cubicBezTo>
                    <a:pt x="53023" y="214312"/>
                    <a:pt x="41029" y="202319"/>
                    <a:pt x="41029" y="187523"/>
                  </a:cubicBezTo>
                  <a:cubicBezTo>
                    <a:pt x="41029" y="172728"/>
                    <a:pt x="53023" y="160734"/>
                    <a:pt x="67818" y="160734"/>
                  </a:cubicBezTo>
                  <a:cubicBezTo>
                    <a:pt x="82613" y="160734"/>
                    <a:pt x="94607" y="172728"/>
                    <a:pt x="94607" y="187523"/>
                  </a:cubicBezTo>
                  <a:cubicBezTo>
                    <a:pt x="94607" y="202319"/>
                    <a:pt x="82613" y="214312"/>
                    <a:pt x="67818" y="214312"/>
                  </a:cubicBezTo>
                  <a:close/>
                </a:path>
              </a:pathLst>
            </a:custGeom>
            <a:solidFill>
              <a:srgbClr val="D1552C">
                <a:alpha val="20000"/>
              </a:srgbClr>
            </a:solidFill>
            <a:ln>
              <a:noFill/>
            </a:ln>
          </p:spPr>
        </p:sp>
        <p:sp>
          <p:nvSpPr>
            <p:cNvPr id="34" name="Freeform 34"/>
            <p:cNvSpPr/>
            <p:nvPr/>
          </p:nvSpPr>
          <p:spPr>
            <a:xfrm>
              <a:off x="702832" y="5495330"/>
              <a:ext cx="222556" cy="273470"/>
            </a:xfrm>
            <a:custGeom>
              <a:avLst/>
              <a:gdLst/>
              <a:ahLst/>
              <a:cxnLst/>
              <a:rect l="l" t="t" r="r" b="b"/>
              <a:pathLst>
                <a:path w="222556" h="273470">
                  <a:moveTo>
                    <a:pt x="142895" y="80970"/>
                  </a:moveTo>
                  <a:cubicBezTo>
                    <a:pt x="140102" y="76910"/>
                    <a:pt x="141126" y="71355"/>
                    <a:pt x="145183" y="68558"/>
                  </a:cubicBezTo>
                  <a:cubicBezTo>
                    <a:pt x="156792" y="60543"/>
                    <a:pt x="174963" y="60543"/>
                    <a:pt x="186572" y="68558"/>
                  </a:cubicBezTo>
                  <a:cubicBezTo>
                    <a:pt x="192153" y="72431"/>
                    <a:pt x="202065" y="72431"/>
                    <a:pt x="207691" y="68558"/>
                  </a:cubicBezTo>
                  <a:cubicBezTo>
                    <a:pt x="211742" y="65983"/>
                    <a:pt x="217104" y="67073"/>
                    <a:pt x="219830" y="71023"/>
                  </a:cubicBezTo>
                  <a:cubicBezTo>
                    <a:pt x="222556" y="74974"/>
                    <a:pt x="221671" y="80373"/>
                    <a:pt x="217826" y="83247"/>
                  </a:cubicBezTo>
                  <a:cubicBezTo>
                    <a:pt x="205191" y="91253"/>
                    <a:pt x="189072" y="91253"/>
                    <a:pt x="176437" y="83247"/>
                  </a:cubicBezTo>
                  <a:cubicBezTo>
                    <a:pt x="170856" y="79374"/>
                    <a:pt x="160944" y="79374"/>
                    <a:pt x="155318" y="83247"/>
                  </a:cubicBezTo>
                  <a:cubicBezTo>
                    <a:pt x="153369" y="84593"/>
                    <a:pt x="150965" y="85109"/>
                    <a:pt x="148635" y="84682"/>
                  </a:cubicBezTo>
                  <a:cubicBezTo>
                    <a:pt x="146305" y="84255"/>
                    <a:pt x="144240" y="82920"/>
                    <a:pt x="142895" y="80970"/>
                  </a:cubicBezTo>
                  <a:close/>
                  <a:moveTo>
                    <a:pt x="207691" y="104276"/>
                  </a:moveTo>
                  <a:cubicBezTo>
                    <a:pt x="202110" y="108150"/>
                    <a:pt x="192198" y="108150"/>
                    <a:pt x="186572" y="104276"/>
                  </a:cubicBezTo>
                  <a:cubicBezTo>
                    <a:pt x="174963" y="96262"/>
                    <a:pt x="156792" y="96262"/>
                    <a:pt x="145183" y="104276"/>
                  </a:cubicBezTo>
                  <a:cubicBezTo>
                    <a:pt x="142422" y="106031"/>
                    <a:pt x="140841" y="109154"/>
                    <a:pt x="141063" y="112418"/>
                  </a:cubicBezTo>
                  <a:cubicBezTo>
                    <a:pt x="141284" y="115681"/>
                    <a:pt x="143272" y="118563"/>
                    <a:pt x="146245" y="119928"/>
                  </a:cubicBezTo>
                  <a:cubicBezTo>
                    <a:pt x="149217" y="121293"/>
                    <a:pt x="152698" y="120924"/>
                    <a:pt x="155318" y="118966"/>
                  </a:cubicBezTo>
                  <a:cubicBezTo>
                    <a:pt x="160899" y="115093"/>
                    <a:pt x="170811" y="115093"/>
                    <a:pt x="176437" y="118966"/>
                  </a:cubicBezTo>
                  <a:cubicBezTo>
                    <a:pt x="189072" y="126971"/>
                    <a:pt x="205191" y="126971"/>
                    <a:pt x="217826" y="118966"/>
                  </a:cubicBezTo>
                  <a:cubicBezTo>
                    <a:pt x="221671" y="116092"/>
                    <a:pt x="222556" y="110693"/>
                    <a:pt x="219830" y="106742"/>
                  </a:cubicBezTo>
                  <a:cubicBezTo>
                    <a:pt x="217104" y="102791"/>
                    <a:pt x="211742" y="101702"/>
                    <a:pt x="207691" y="104276"/>
                  </a:cubicBezTo>
                  <a:close/>
                  <a:moveTo>
                    <a:pt x="114532" y="196453"/>
                  </a:moveTo>
                  <a:cubicBezTo>
                    <a:pt x="114522" y="215013"/>
                    <a:pt x="100300" y="230473"/>
                    <a:pt x="81806" y="232028"/>
                  </a:cubicBezTo>
                  <a:cubicBezTo>
                    <a:pt x="63312" y="233583"/>
                    <a:pt x="46707" y="220715"/>
                    <a:pt x="43599" y="202418"/>
                  </a:cubicBezTo>
                  <a:cubicBezTo>
                    <a:pt x="40490" y="184120"/>
                    <a:pt x="51913" y="166491"/>
                    <a:pt x="69883" y="161851"/>
                  </a:cubicBezTo>
                  <a:lnTo>
                    <a:pt x="69883" y="44648"/>
                  </a:lnTo>
                  <a:cubicBezTo>
                    <a:pt x="69883" y="39717"/>
                    <a:pt x="73881" y="35719"/>
                    <a:pt x="78813" y="35719"/>
                  </a:cubicBezTo>
                  <a:cubicBezTo>
                    <a:pt x="83745" y="35719"/>
                    <a:pt x="87743" y="39717"/>
                    <a:pt x="87743" y="44648"/>
                  </a:cubicBezTo>
                  <a:lnTo>
                    <a:pt x="87743" y="161851"/>
                  </a:lnTo>
                  <a:cubicBezTo>
                    <a:pt x="103506" y="165945"/>
                    <a:pt x="114516" y="180167"/>
                    <a:pt x="114532" y="196453"/>
                  </a:cubicBezTo>
                  <a:close/>
                  <a:moveTo>
                    <a:pt x="96672" y="196453"/>
                  </a:moveTo>
                  <a:cubicBezTo>
                    <a:pt x="96672" y="186590"/>
                    <a:pt x="88676" y="178594"/>
                    <a:pt x="78813" y="178594"/>
                  </a:cubicBezTo>
                  <a:cubicBezTo>
                    <a:pt x="68950" y="178594"/>
                    <a:pt x="60954" y="186590"/>
                    <a:pt x="60954" y="196453"/>
                  </a:cubicBezTo>
                  <a:cubicBezTo>
                    <a:pt x="60954" y="206317"/>
                    <a:pt x="68950" y="214312"/>
                    <a:pt x="78813" y="214312"/>
                  </a:cubicBezTo>
                  <a:cubicBezTo>
                    <a:pt x="88676" y="214312"/>
                    <a:pt x="96672" y="206317"/>
                    <a:pt x="96672" y="196453"/>
                  </a:cubicBezTo>
                  <a:close/>
                  <a:moveTo>
                    <a:pt x="150251" y="196453"/>
                  </a:moveTo>
                  <a:cubicBezTo>
                    <a:pt x="150230" y="229760"/>
                    <a:pt x="127195" y="258632"/>
                    <a:pt x="94725" y="266051"/>
                  </a:cubicBezTo>
                  <a:cubicBezTo>
                    <a:pt x="62255" y="273470"/>
                    <a:pt x="28967" y="257466"/>
                    <a:pt x="14484" y="227474"/>
                  </a:cubicBezTo>
                  <a:cubicBezTo>
                    <a:pt x="0" y="197481"/>
                    <a:pt x="8165" y="161459"/>
                    <a:pt x="34165" y="140643"/>
                  </a:cubicBezTo>
                  <a:lnTo>
                    <a:pt x="34165" y="44648"/>
                  </a:lnTo>
                  <a:cubicBezTo>
                    <a:pt x="34165" y="19990"/>
                    <a:pt x="54154" y="0"/>
                    <a:pt x="78813" y="0"/>
                  </a:cubicBezTo>
                  <a:cubicBezTo>
                    <a:pt x="103472" y="0"/>
                    <a:pt x="123461" y="19990"/>
                    <a:pt x="123461" y="44648"/>
                  </a:cubicBezTo>
                  <a:lnTo>
                    <a:pt x="123461" y="140643"/>
                  </a:lnTo>
                  <a:cubicBezTo>
                    <a:pt x="140396" y="154218"/>
                    <a:pt x="150251" y="174749"/>
                    <a:pt x="150251" y="196453"/>
                  </a:cubicBezTo>
                  <a:close/>
                  <a:moveTo>
                    <a:pt x="132391" y="196453"/>
                  </a:moveTo>
                  <a:cubicBezTo>
                    <a:pt x="132377" y="178921"/>
                    <a:pt x="123800" y="162502"/>
                    <a:pt x="109420" y="152474"/>
                  </a:cubicBezTo>
                  <a:cubicBezTo>
                    <a:pt x="107014" y="150795"/>
                    <a:pt x="105587" y="148041"/>
                    <a:pt x="105602" y="145107"/>
                  </a:cubicBezTo>
                  <a:lnTo>
                    <a:pt x="105602" y="44648"/>
                  </a:lnTo>
                  <a:cubicBezTo>
                    <a:pt x="105602" y="29853"/>
                    <a:pt x="93608" y="17859"/>
                    <a:pt x="78813" y="17859"/>
                  </a:cubicBezTo>
                  <a:cubicBezTo>
                    <a:pt x="64018" y="17859"/>
                    <a:pt x="52024" y="29853"/>
                    <a:pt x="52024" y="44648"/>
                  </a:cubicBezTo>
                  <a:lnTo>
                    <a:pt x="52024" y="145107"/>
                  </a:lnTo>
                  <a:cubicBezTo>
                    <a:pt x="52024" y="148025"/>
                    <a:pt x="50599" y="150759"/>
                    <a:pt x="48207" y="152430"/>
                  </a:cubicBezTo>
                  <a:cubicBezTo>
                    <a:pt x="27336" y="166955"/>
                    <a:pt x="19550" y="194149"/>
                    <a:pt x="29570" y="217519"/>
                  </a:cubicBezTo>
                  <a:cubicBezTo>
                    <a:pt x="39591" y="240889"/>
                    <a:pt x="64657" y="253997"/>
                    <a:pt x="89567" y="248893"/>
                  </a:cubicBezTo>
                  <a:cubicBezTo>
                    <a:pt x="114477" y="243790"/>
                    <a:pt x="132369" y="221881"/>
                    <a:pt x="132391" y="196453"/>
                  </a:cubicBezTo>
                  <a:close/>
                </a:path>
              </a:pathLst>
            </a:custGeom>
            <a:solidFill>
              <a:srgbClr val="D1552C"/>
            </a:solidFill>
            <a:ln>
              <a:noFill/>
            </a:ln>
          </p:spPr>
        </p:sp>
      </p:grpSp>
      <p:sp>
        <p:nvSpPr>
          <p:cNvPr id="36" name="TextBox 36"/>
          <p:cNvSpPr txBox="1"/>
          <p:nvPr/>
        </p:nvSpPr>
        <p:spPr>
          <a:xfrm>
            <a:off x="994410" y="5566410"/>
            <a:ext cx="1858512" cy="243840"/>
          </a:xfrm>
          <a:prstGeom prst="rect">
            <a:avLst/>
          </a:prstGeom>
          <a:noFill/>
          <a:ln>
            <a:noFill/>
          </a:ln>
        </p:spPr>
        <p:txBody>
          <a:bodyPr wrap="none" lIns="0" tIns="0" rIns="0" bIns="0" anchor="t" anchorCtr="0">
            <a:spAutoFit/>
          </a:bodyPr>
          <a:lstStyle/>
          <a:p>
            <a:pPr algn="l"/>
            <a:r>
              <a:rPr lang="zh-CN" sz="1200" b="1" dirty="0">
                <a:solidFill>
                  <a:srgbClr val="D1552C"/>
                </a:solidFill>
                <a:latin typeface="Arial"/>
                <a:ea typeface="Microsoft YaHei"/>
                <a:cs typeface="Arial"/>
              </a:rPr>
              <a:t>Accumulated warming</a:t>
            </a:r>
          </a:p>
        </p:txBody>
      </p:sp>
      <p:sp>
        <p:nvSpPr>
          <p:cNvPr id="37" name="TextBox 37"/>
          <p:cNvSpPr txBox="1"/>
          <p:nvPr/>
        </p:nvSpPr>
        <p:spPr>
          <a:xfrm>
            <a:off x="632460" y="5823585"/>
            <a:ext cx="875311" cy="548640"/>
          </a:xfrm>
          <a:prstGeom prst="rect">
            <a:avLst/>
          </a:prstGeom>
          <a:noFill/>
          <a:ln>
            <a:noFill/>
          </a:ln>
        </p:spPr>
        <p:txBody>
          <a:bodyPr wrap="none" lIns="0" tIns="0" rIns="0" bIns="0" anchor="t" anchorCtr="0">
            <a:spAutoFit/>
          </a:bodyPr>
          <a:lstStyle/>
          <a:p>
            <a:pPr algn="l"/>
            <a:r>
              <a:rPr lang="zh-CN" sz="2700" b="1" dirty="0">
                <a:solidFill>
                  <a:srgbClr val="D1552C"/>
                </a:solidFill>
                <a:latin typeface="Arial"/>
                <a:ea typeface="Microsoft YaHei"/>
                <a:cs typeface="Arial"/>
              </a:rPr>
              <a:t>1.36</a:t>
            </a:r>
          </a:p>
        </p:txBody>
      </p:sp>
      <p:sp>
        <p:nvSpPr>
          <p:cNvPr id="38" name="TextBox 38"/>
          <p:cNvSpPr txBox="1"/>
          <p:nvPr/>
        </p:nvSpPr>
        <p:spPr>
          <a:xfrm>
            <a:off x="653415" y="6192202"/>
            <a:ext cx="1692078"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HR per SD (1.22–1.52)</a:t>
            </a:r>
          </a:p>
        </p:txBody>
      </p:sp>
      <p:sp>
        <p:nvSpPr>
          <p:cNvPr id="39" name="Rectangle 39"/>
          <p:cNvSpPr/>
          <p:nvPr/>
        </p:nvSpPr>
        <p:spPr>
          <a:xfrm>
            <a:off x="3348038" y="5372100"/>
            <a:ext cx="2662238" cy="1066800"/>
          </a:xfrm>
          <a:prstGeom prst="roundRect">
            <a:avLst>
              <a:gd name="adj" fmla="val 8929"/>
            </a:avLst>
          </a:prstGeom>
          <a:solidFill>
            <a:srgbClr val="FFFFFF"/>
          </a:solidFill>
          <a:ln w="15240">
            <a:solidFill>
              <a:srgbClr val="1F5F9E"/>
            </a:solidFill>
          </a:ln>
        </p:spPr>
      </p:sp>
      <p:grpSp>
        <p:nvGrpSpPr>
          <p:cNvPr id="42" name="Group 42"/>
          <p:cNvGrpSpPr/>
          <p:nvPr/>
        </p:nvGrpSpPr>
        <p:grpSpPr>
          <a:xfrm>
            <a:off x="3495187" y="5531009"/>
            <a:ext cx="258152" cy="200591"/>
            <a:chOff x="3495187" y="5531009"/>
            <a:chExt cx="258152" cy="200591"/>
          </a:xfrm>
        </p:grpSpPr>
        <p:sp>
          <p:nvSpPr>
            <p:cNvPr id="40" name="Freeform 40"/>
            <p:cNvSpPr/>
            <p:nvPr/>
          </p:nvSpPr>
          <p:spPr>
            <a:xfrm>
              <a:off x="3508177" y="5629275"/>
              <a:ext cx="232172" cy="89297"/>
            </a:xfrm>
            <a:custGeom>
              <a:avLst/>
              <a:gdLst/>
              <a:ahLst/>
              <a:cxnLst/>
              <a:rect l="l" t="t" r="r" b="b"/>
              <a:pathLst>
                <a:path w="232172" h="89297">
                  <a:moveTo>
                    <a:pt x="89297" y="44648"/>
                  </a:moveTo>
                  <a:cubicBezTo>
                    <a:pt x="89297" y="69307"/>
                    <a:pt x="69307" y="89297"/>
                    <a:pt x="44648" y="89297"/>
                  </a:cubicBezTo>
                  <a:cubicBezTo>
                    <a:pt x="19990" y="89297"/>
                    <a:pt x="0" y="69307"/>
                    <a:pt x="0" y="44648"/>
                  </a:cubicBezTo>
                  <a:cubicBezTo>
                    <a:pt x="0" y="19990"/>
                    <a:pt x="19990" y="0"/>
                    <a:pt x="44648" y="0"/>
                  </a:cubicBezTo>
                  <a:cubicBezTo>
                    <a:pt x="69307" y="0"/>
                    <a:pt x="89297" y="19990"/>
                    <a:pt x="89297" y="44648"/>
                  </a:cubicBezTo>
                  <a:close/>
                  <a:moveTo>
                    <a:pt x="187523" y="0"/>
                  </a:moveTo>
                  <a:cubicBezTo>
                    <a:pt x="162865" y="0"/>
                    <a:pt x="142875" y="19990"/>
                    <a:pt x="142875" y="44648"/>
                  </a:cubicBezTo>
                  <a:cubicBezTo>
                    <a:pt x="142875" y="69307"/>
                    <a:pt x="162865" y="89297"/>
                    <a:pt x="187523" y="89297"/>
                  </a:cubicBezTo>
                  <a:cubicBezTo>
                    <a:pt x="212182" y="89297"/>
                    <a:pt x="232172" y="69307"/>
                    <a:pt x="232172" y="44648"/>
                  </a:cubicBezTo>
                  <a:cubicBezTo>
                    <a:pt x="232172" y="19990"/>
                    <a:pt x="212182" y="0"/>
                    <a:pt x="187523" y="0"/>
                  </a:cubicBezTo>
                  <a:close/>
                </a:path>
              </a:pathLst>
            </a:custGeom>
            <a:solidFill>
              <a:srgbClr val="1F5F9E">
                <a:alpha val="20000"/>
              </a:srgbClr>
            </a:solidFill>
            <a:ln>
              <a:noFill/>
            </a:ln>
          </p:spPr>
        </p:sp>
        <p:sp>
          <p:nvSpPr>
            <p:cNvPr id="41" name="Freeform 41"/>
            <p:cNvSpPr/>
            <p:nvPr/>
          </p:nvSpPr>
          <p:spPr>
            <a:xfrm>
              <a:off x="3495187" y="5531009"/>
              <a:ext cx="258152" cy="200591"/>
            </a:xfrm>
            <a:custGeom>
              <a:avLst/>
              <a:gdLst/>
              <a:ahLst/>
              <a:cxnLst/>
              <a:rect l="l" t="t" r="r" b="b"/>
              <a:pathLst>
                <a:path w="258152" h="200591">
                  <a:moveTo>
                    <a:pt x="250966" y="124910"/>
                  </a:moveTo>
                  <a:lnTo>
                    <a:pt x="250966" y="124910"/>
                  </a:lnTo>
                  <a:cubicBezTo>
                    <a:pt x="250220" y="122829"/>
                    <a:pt x="249344" y="120797"/>
                    <a:pt x="248343" y="118826"/>
                  </a:cubicBezTo>
                  <a:lnTo>
                    <a:pt x="201919" y="13211"/>
                  </a:lnTo>
                  <a:cubicBezTo>
                    <a:pt x="201480" y="12193"/>
                    <a:pt x="200851" y="11269"/>
                    <a:pt x="200066" y="10487"/>
                  </a:cubicBezTo>
                  <a:cubicBezTo>
                    <a:pt x="193368" y="3787"/>
                    <a:pt x="184281" y="22"/>
                    <a:pt x="174807" y="22"/>
                  </a:cubicBezTo>
                  <a:cubicBezTo>
                    <a:pt x="165332" y="22"/>
                    <a:pt x="156246" y="3787"/>
                    <a:pt x="149547" y="10487"/>
                  </a:cubicBezTo>
                  <a:cubicBezTo>
                    <a:pt x="147878" y="12158"/>
                    <a:pt x="146939" y="14421"/>
                    <a:pt x="146935" y="16782"/>
                  </a:cubicBezTo>
                  <a:lnTo>
                    <a:pt x="146935" y="44688"/>
                  </a:lnTo>
                  <a:lnTo>
                    <a:pt x="111216" y="44688"/>
                  </a:lnTo>
                  <a:lnTo>
                    <a:pt x="111216" y="16782"/>
                  </a:lnTo>
                  <a:cubicBezTo>
                    <a:pt x="111218" y="14413"/>
                    <a:pt x="110278" y="12141"/>
                    <a:pt x="108604" y="10465"/>
                  </a:cubicBezTo>
                  <a:cubicBezTo>
                    <a:pt x="101905" y="3764"/>
                    <a:pt x="92819" y="0"/>
                    <a:pt x="83344" y="0"/>
                  </a:cubicBezTo>
                  <a:cubicBezTo>
                    <a:pt x="73870" y="0"/>
                    <a:pt x="64783" y="3764"/>
                    <a:pt x="58084" y="10465"/>
                  </a:cubicBezTo>
                  <a:cubicBezTo>
                    <a:pt x="57300" y="11247"/>
                    <a:pt x="56671" y="12171"/>
                    <a:pt x="56232" y="13188"/>
                  </a:cubicBezTo>
                  <a:lnTo>
                    <a:pt x="9808" y="118804"/>
                  </a:lnTo>
                  <a:cubicBezTo>
                    <a:pt x="8807" y="120775"/>
                    <a:pt x="7931" y="122807"/>
                    <a:pt x="7185" y="124887"/>
                  </a:cubicBezTo>
                  <a:lnTo>
                    <a:pt x="7185" y="124887"/>
                  </a:lnTo>
                  <a:cubicBezTo>
                    <a:pt x="0" y="144992"/>
                    <a:pt x="5437" y="167443"/>
                    <a:pt x="21023" y="182034"/>
                  </a:cubicBezTo>
                  <a:cubicBezTo>
                    <a:pt x="36609" y="196624"/>
                    <a:pt x="59371" y="200568"/>
                    <a:pt x="78957" y="192073"/>
                  </a:cubicBezTo>
                  <a:cubicBezTo>
                    <a:pt x="98544" y="183577"/>
                    <a:pt x="111218" y="164264"/>
                    <a:pt x="111216" y="142914"/>
                  </a:cubicBezTo>
                  <a:lnTo>
                    <a:pt x="111216" y="62547"/>
                  </a:lnTo>
                  <a:lnTo>
                    <a:pt x="146935" y="62547"/>
                  </a:lnTo>
                  <a:lnTo>
                    <a:pt x="146935" y="142914"/>
                  </a:lnTo>
                  <a:cubicBezTo>
                    <a:pt x="146924" y="164267"/>
                    <a:pt x="159593" y="183587"/>
                    <a:pt x="179180" y="192089"/>
                  </a:cubicBezTo>
                  <a:cubicBezTo>
                    <a:pt x="198767" y="200591"/>
                    <a:pt x="221532" y="196651"/>
                    <a:pt x="237122" y="182061"/>
                  </a:cubicBezTo>
                  <a:cubicBezTo>
                    <a:pt x="252713" y="167471"/>
                    <a:pt x="258152" y="145017"/>
                    <a:pt x="250966" y="124910"/>
                  </a:cubicBezTo>
                  <a:close/>
                  <a:moveTo>
                    <a:pt x="71825" y="22084"/>
                  </a:moveTo>
                  <a:cubicBezTo>
                    <a:pt x="77943" y="16933"/>
                    <a:pt x="86739" y="16477"/>
                    <a:pt x="93357" y="20968"/>
                  </a:cubicBezTo>
                  <a:lnTo>
                    <a:pt x="93357" y="103021"/>
                  </a:lnTo>
                  <a:cubicBezTo>
                    <a:pt x="79168" y="90280"/>
                    <a:pt x="59267" y="86061"/>
                    <a:pt x="41129" y="91948"/>
                  </a:cubicBezTo>
                  <a:close/>
                  <a:moveTo>
                    <a:pt x="57638" y="178633"/>
                  </a:moveTo>
                  <a:cubicBezTo>
                    <a:pt x="37911" y="178633"/>
                    <a:pt x="21919" y="162641"/>
                    <a:pt x="21919" y="142914"/>
                  </a:cubicBezTo>
                  <a:cubicBezTo>
                    <a:pt x="21919" y="123187"/>
                    <a:pt x="37911" y="107196"/>
                    <a:pt x="57638" y="107196"/>
                  </a:cubicBezTo>
                  <a:cubicBezTo>
                    <a:pt x="77365" y="107196"/>
                    <a:pt x="93357" y="123187"/>
                    <a:pt x="93357" y="142914"/>
                  </a:cubicBezTo>
                  <a:cubicBezTo>
                    <a:pt x="93357" y="162641"/>
                    <a:pt x="77365" y="178633"/>
                    <a:pt x="57638" y="178633"/>
                  </a:cubicBezTo>
                  <a:close/>
                  <a:moveTo>
                    <a:pt x="164794" y="20957"/>
                  </a:moveTo>
                  <a:cubicBezTo>
                    <a:pt x="171412" y="16466"/>
                    <a:pt x="180208" y="16922"/>
                    <a:pt x="186326" y="22073"/>
                  </a:cubicBezTo>
                  <a:lnTo>
                    <a:pt x="217022" y="91926"/>
                  </a:lnTo>
                  <a:cubicBezTo>
                    <a:pt x="198882" y="86042"/>
                    <a:pt x="178981" y="90265"/>
                    <a:pt x="164794" y="103010"/>
                  </a:cubicBezTo>
                  <a:close/>
                  <a:moveTo>
                    <a:pt x="200513" y="178633"/>
                  </a:moveTo>
                  <a:cubicBezTo>
                    <a:pt x="180786" y="178633"/>
                    <a:pt x="164794" y="162641"/>
                    <a:pt x="164794" y="142914"/>
                  </a:cubicBezTo>
                  <a:cubicBezTo>
                    <a:pt x="164794" y="123187"/>
                    <a:pt x="180786" y="107196"/>
                    <a:pt x="200513" y="107196"/>
                  </a:cubicBezTo>
                  <a:cubicBezTo>
                    <a:pt x="220240" y="107196"/>
                    <a:pt x="236232" y="123187"/>
                    <a:pt x="236232" y="142914"/>
                  </a:cubicBezTo>
                  <a:cubicBezTo>
                    <a:pt x="236232" y="162641"/>
                    <a:pt x="220240" y="178633"/>
                    <a:pt x="200513" y="178633"/>
                  </a:cubicBezTo>
                  <a:close/>
                </a:path>
              </a:pathLst>
            </a:custGeom>
            <a:solidFill>
              <a:srgbClr val="1F5F9E"/>
            </a:solidFill>
            <a:ln>
              <a:noFill/>
            </a:ln>
          </p:spPr>
        </p:sp>
      </p:grpSp>
      <p:sp>
        <p:nvSpPr>
          <p:cNvPr id="43" name="TextBox 43"/>
          <p:cNvSpPr txBox="1"/>
          <p:nvPr/>
        </p:nvSpPr>
        <p:spPr>
          <a:xfrm>
            <a:off x="3828098" y="5566410"/>
            <a:ext cx="1338340" cy="243840"/>
          </a:xfrm>
          <a:prstGeom prst="rect">
            <a:avLst/>
          </a:prstGeom>
          <a:noFill/>
          <a:ln>
            <a:noFill/>
          </a:ln>
        </p:spPr>
        <p:txBody>
          <a:bodyPr wrap="none" lIns="0" tIns="0" rIns="0" bIns="0" anchor="t" anchorCtr="0">
            <a:spAutoFit/>
          </a:bodyPr>
          <a:lstStyle/>
          <a:p>
            <a:pPr algn="l"/>
            <a:r>
              <a:rPr lang="zh-CN" sz="1200" b="1" dirty="0">
                <a:solidFill>
                  <a:srgbClr val="1F5F9E"/>
                </a:solidFill>
                <a:latin typeface="Arial"/>
                <a:ea typeface="Microsoft YaHei"/>
                <a:cs typeface="Arial"/>
              </a:rPr>
              <a:t>Survey effort</a:t>
            </a:r>
          </a:p>
        </p:txBody>
      </p:sp>
      <p:sp>
        <p:nvSpPr>
          <p:cNvPr id="44" name="TextBox 44"/>
          <p:cNvSpPr txBox="1"/>
          <p:nvPr/>
        </p:nvSpPr>
        <p:spPr>
          <a:xfrm>
            <a:off x="3466148" y="5823585"/>
            <a:ext cx="875311" cy="548640"/>
          </a:xfrm>
          <a:prstGeom prst="rect">
            <a:avLst/>
          </a:prstGeom>
          <a:noFill/>
          <a:ln>
            <a:noFill/>
          </a:ln>
        </p:spPr>
        <p:txBody>
          <a:bodyPr wrap="none" lIns="0" tIns="0" rIns="0" bIns="0" anchor="t" anchorCtr="0">
            <a:spAutoFit/>
          </a:bodyPr>
          <a:lstStyle/>
          <a:p>
            <a:pPr algn="l"/>
            <a:r>
              <a:rPr lang="zh-CN" sz="2700" b="1" dirty="0">
                <a:solidFill>
                  <a:srgbClr val="1F5F9E"/>
                </a:solidFill>
                <a:latin typeface="Arial"/>
                <a:ea typeface="Microsoft YaHei"/>
                <a:cs typeface="Arial"/>
              </a:rPr>
              <a:t>1.40</a:t>
            </a:r>
          </a:p>
        </p:txBody>
      </p:sp>
      <p:sp>
        <p:nvSpPr>
          <p:cNvPr id="45" name="TextBox 45"/>
          <p:cNvSpPr txBox="1"/>
          <p:nvPr/>
        </p:nvSpPr>
        <p:spPr>
          <a:xfrm>
            <a:off x="3487102" y="6192202"/>
            <a:ext cx="1692078"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HR per SD (1.25–1.58)</a:t>
            </a:r>
          </a:p>
        </p:txBody>
      </p:sp>
      <p:sp>
        <p:nvSpPr>
          <p:cNvPr id="46" name="Rectangle 46"/>
          <p:cNvSpPr/>
          <p:nvPr/>
        </p:nvSpPr>
        <p:spPr>
          <a:xfrm>
            <a:off x="6181725" y="5372100"/>
            <a:ext cx="2662238" cy="1066800"/>
          </a:xfrm>
          <a:prstGeom prst="roundRect">
            <a:avLst>
              <a:gd name="adj" fmla="val 8929"/>
            </a:avLst>
          </a:prstGeom>
          <a:solidFill>
            <a:srgbClr val="FFFFFF"/>
          </a:solidFill>
          <a:ln w="15240">
            <a:solidFill>
              <a:srgbClr val="111111"/>
            </a:solidFill>
          </a:ln>
        </p:spPr>
      </p:sp>
      <p:grpSp>
        <p:nvGrpSpPr>
          <p:cNvPr id="49" name="Group 49"/>
          <p:cNvGrpSpPr/>
          <p:nvPr/>
        </p:nvGrpSpPr>
        <p:grpSpPr>
          <a:xfrm>
            <a:off x="6330315" y="5501640"/>
            <a:ext cx="255271" cy="255271"/>
            <a:chOff x="6330315" y="5501640"/>
            <a:chExt cx="255271" cy="255271"/>
          </a:xfrm>
        </p:grpSpPr>
        <p:sp>
          <p:nvSpPr>
            <p:cNvPr id="47" name="Freeform 47"/>
            <p:cNvSpPr/>
            <p:nvPr/>
          </p:nvSpPr>
          <p:spPr>
            <a:xfrm>
              <a:off x="6413302" y="5584627"/>
              <a:ext cx="89297" cy="89297"/>
            </a:xfrm>
            <a:custGeom>
              <a:avLst/>
              <a:gdLst/>
              <a:ahLst/>
              <a:cxnLst/>
              <a:rect l="l" t="t" r="r" b="b"/>
              <a:pathLst>
                <a:path w="89297" h="89297">
                  <a:moveTo>
                    <a:pt x="89297" y="8930"/>
                  </a:moveTo>
                  <a:cubicBezTo>
                    <a:pt x="89297" y="53315"/>
                    <a:pt x="53315" y="89297"/>
                    <a:pt x="8930" y="89297"/>
                  </a:cubicBezTo>
                  <a:cubicBezTo>
                    <a:pt x="6096" y="89295"/>
                    <a:pt x="3265" y="89146"/>
                    <a:pt x="446" y="88850"/>
                  </a:cubicBezTo>
                  <a:cubicBezTo>
                    <a:pt x="151" y="86032"/>
                    <a:pt x="2" y="83201"/>
                    <a:pt x="0" y="80367"/>
                  </a:cubicBezTo>
                  <a:cubicBezTo>
                    <a:pt x="0" y="35982"/>
                    <a:pt x="35982" y="0"/>
                    <a:pt x="80367" y="0"/>
                  </a:cubicBezTo>
                  <a:cubicBezTo>
                    <a:pt x="83201" y="2"/>
                    <a:pt x="86032" y="151"/>
                    <a:pt x="88850" y="446"/>
                  </a:cubicBezTo>
                  <a:cubicBezTo>
                    <a:pt x="89146" y="3265"/>
                    <a:pt x="89295" y="6096"/>
                    <a:pt x="89297" y="8930"/>
                  </a:cubicBezTo>
                  <a:close/>
                </a:path>
              </a:pathLst>
            </a:custGeom>
            <a:solidFill>
              <a:srgbClr val="111111">
                <a:alpha val="20000"/>
              </a:srgbClr>
            </a:solidFill>
            <a:ln>
              <a:noFill/>
            </a:ln>
          </p:spPr>
        </p:sp>
        <p:sp>
          <p:nvSpPr>
            <p:cNvPr id="48" name="Freeform 48"/>
            <p:cNvSpPr/>
            <p:nvPr/>
          </p:nvSpPr>
          <p:spPr>
            <a:xfrm>
              <a:off x="6330315" y="5501640"/>
              <a:ext cx="255271" cy="255271"/>
            </a:xfrm>
            <a:custGeom>
              <a:avLst/>
              <a:gdLst/>
              <a:ahLst/>
              <a:cxnLst/>
              <a:rect l="l" t="t" r="r" b="b"/>
              <a:pathLst>
                <a:path w="255271" h="255271">
                  <a:moveTo>
                    <a:pt x="179684" y="75586"/>
                  </a:moveTo>
                  <a:cubicBezTo>
                    <a:pt x="171451" y="31243"/>
                    <a:pt x="131444" y="0"/>
                    <a:pt x="86427" y="2758"/>
                  </a:cubicBezTo>
                  <a:cubicBezTo>
                    <a:pt x="41410" y="5516"/>
                    <a:pt x="5516" y="41410"/>
                    <a:pt x="2758" y="86427"/>
                  </a:cubicBezTo>
                  <a:cubicBezTo>
                    <a:pt x="0" y="131444"/>
                    <a:pt x="31243" y="171451"/>
                    <a:pt x="75586" y="179684"/>
                  </a:cubicBezTo>
                  <a:cubicBezTo>
                    <a:pt x="83820" y="224028"/>
                    <a:pt x="123827" y="255271"/>
                    <a:pt x="168844" y="252512"/>
                  </a:cubicBezTo>
                  <a:cubicBezTo>
                    <a:pt x="213861" y="249754"/>
                    <a:pt x="249754" y="213861"/>
                    <a:pt x="252512" y="168844"/>
                  </a:cubicBezTo>
                  <a:cubicBezTo>
                    <a:pt x="255271" y="123827"/>
                    <a:pt x="224028" y="83820"/>
                    <a:pt x="179684" y="75586"/>
                  </a:cubicBezTo>
                  <a:close/>
                  <a:moveTo>
                    <a:pt x="20479" y="91917"/>
                  </a:moveTo>
                  <a:cubicBezTo>
                    <a:pt x="20408" y="55889"/>
                    <a:pt x="47176" y="25446"/>
                    <a:pt x="82917" y="20908"/>
                  </a:cubicBezTo>
                  <a:cubicBezTo>
                    <a:pt x="118658" y="16369"/>
                    <a:pt x="152186" y="39155"/>
                    <a:pt x="161122" y="74057"/>
                  </a:cubicBezTo>
                  <a:cubicBezTo>
                    <a:pt x="113574" y="75307"/>
                    <a:pt x="75332" y="113573"/>
                    <a:pt x="74113" y="161122"/>
                  </a:cubicBezTo>
                  <a:cubicBezTo>
                    <a:pt x="42562" y="152958"/>
                    <a:pt x="20513" y="124507"/>
                    <a:pt x="20479" y="91917"/>
                  </a:cubicBezTo>
                  <a:close/>
                  <a:moveTo>
                    <a:pt x="163354" y="91917"/>
                  </a:moveTo>
                  <a:cubicBezTo>
                    <a:pt x="163311" y="131353"/>
                    <a:pt x="131353" y="163311"/>
                    <a:pt x="91917" y="163354"/>
                  </a:cubicBezTo>
                  <a:cubicBezTo>
                    <a:pt x="91960" y="123918"/>
                    <a:pt x="123918" y="91960"/>
                    <a:pt x="163354" y="91917"/>
                  </a:cubicBezTo>
                  <a:close/>
                  <a:moveTo>
                    <a:pt x="163354" y="234792"/>
                  </a:moveTo>
                  <a:cubicBezTo>
                    <a:pt x="130780" y="234765"/>
                    <a:pt x="102334" y="212742"/>
                    <a:pt x="94149" y="181213"/>
                  </a:cubicBezTo>
                  <a:cubicBezTo>
                    <a:pt x="141719" y="179993"/>
                    <a:pt x="179993" y="141719"/>
                    <a:pt x="181213" y="94149"/>
                  </a:cubicBezTo>
                  <a:cubicBezTo>
                    <a:pt x="216116" y="103085"/>
                    <a:pt x="238902" y="136612"/>
                    <a:pt x="234363" y="172353"/>
                  </a:cubicBezTo>
                  <a:cubicBezTo>
                    <a:pt x="229825" y="208094"/>
                    <a:pt x="199382" y="234863"/>
                    <a:pt x="163354" y="234792"/>
                  </a:cubicBezTo>
                  <a:close/>
                </a:path>
              </a:pathLst>
            </a:custGeom>
            <a:solidFill>
              <a:srgbClr val="111111"/>
            </a:solidFill>
            <a:ln>
              <a:noFill/>
            </a:ln>
          </p:spPr>
        </p:sp>
      </p:grpSp>
      <p:sp>
        <p:nvSpPr>
          <p:cNvPr id="50" name="TextBox 50"/>
          <p:cNvSpPr txBox="1"/>
          <p:nvPr/>
        </p:nvSpPr>
        <p:spPr>
          <a:xfrm>
            <a:off x="6661785" y="5566410"/>
            <a:ext cx="1689456" cy="243840"/>
          </a:xfrm>
          <a:prstGeom prst="rect">
            <a:avLst/>
          </a:prstGeom>
          <a:noFill/>
          <a:ln>
            <a:noFill/>
          </a:ln>
        </p:spPr>
        <p:txBody>
          <a:bodyPr wrap="none" lIns="0" tIns="0" rIns="0" bIns="0" anchor="t" anchorCtr="0">
            <a:spAutoFit/>
          </a:bodyPr>
          <a:lstStyle/>
          <a:p>
            <a:pPr algn="l"/>
            <a:r>
              <a:rPr lang="zh-CN" sz="1200" b="1" dirty="0">
                <a:solidFill>
                  <a:srgbClr val="111111"/>
                </a:solidFill>
                <a:latin typeface="Arial"/>
                <a:ea typeface="Microsoft YaHei"/>
                <a:cs typeface="Arial"/>
              </a:rPr>
              <a:t>Warming × effort</a:t>
            </a:r>
          </a:p>
        </p:txBody>
      </p:sp>
      <p:sp>
        <p:nvSpPr>
          <p:cNvPr id="51" name="TextBox 51"/>
          <p:cNvSpPr txBox="1"/>
          <p:nvPr/>
        </p:nvSpPr>
        <p:spPr>
          <a:xfrm>
            <a:off x="6299835" y="5823585"/>
            <a:ext cx="875311" cy="548640"/>
          </a:xfrm>
          <a:prstGeom prst="rect">
            <a:avLst/>
          </a:prstGeom>
          <a:noFill/>
          <a:ln>
            <a:noFill/>
          </a:ln>
        </p:spPr>
        <p:txBody>
          <a:bodyPr wrap="none" lIns="0" tIns="0" rIns="0" bIns="0" anchor="t" anchorCtr="0">
            <a:spAutoFit/>
          </a:bodyPr>
          <a:lstStyle/>
          <a:p>
            <a:pPr algn="l"/>
            <a:r>
              <a:rPr lang="zh-CN" sz="2700" b="1" dirty="0">
                <a:solidFill>
                  <a:srgbClr val="111111"/>
                </a:solidFill>
                <a:latin typeface="Arial"/>
                <a:ea typeface="Microsoft YaHei"/>
                <a:cs typeface="Arial"/>
              </a:rPr>
              <a:t>0.85</a:t>
            </a:r>
          </a:p>
        </p:txBody>
      </p:sp>
      <p:sp>
        <p:nvSpPr>
          <p:cNvPr id="52" name="TextBox 52"/>
          <p:cNvSpPr txBox="1"/>
          <p:nvPr/>
        </p:nvSpPr>
        <p:spPr>
          <a:xfrm>
            <a:off x="6320790" y="6192202"/>
            <a:ext cx="1848498"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steepest where few look</a:t>
            </a:r>
          </a:p>
        </p:txBody>
      </p:sp>
      <p:sp>
        <p:nvSpPr>
          <p:cNvPr id="53" name="Rectangle 53"/>
          <p:cNvSpPr/>
          <p:nvPr/>
        </p:nvSpPr>
        <p:spPr>
          <a:xfrm>
            <a:off x="9015412" y="5372100"/>
            <a:ext cx="2662238" cy="1066800"/>
          </a:xfrm>
          <a:prstGeom prst="roundRect">
            <a:avLst>
              <a:gd name="adj" fmla="val 8929"/>
            </a:avLst>
          </a:prstGeom>
          <a:solidFill>
            <a:srgbClr val="FFFFFF"/>
          </a:solidFill>
          <a:ln w="15240">
            <a:solidFill>
              <a:srgbClr val="6B6B6B"/>
            </a:solidFill>
          </a:ln>
        </p:spPr>
      </p:sp>
      <p:grpSp>
        <p:nvGrpSpPr>
          <p:cNvPr id="56" name="Group 56"/>
          <p:cNvGrpSpPr/>
          <p:nvPr/>
        </p:nvGrpSpPr>
        <p:grpSpPr>
          <a:xfrm>
            <a:off x="9165529" y="5505543"/>
            <a:ext cx="252217" cy="247464"/>
            <a:chOff x="9165529" y="5505543"/>
            <a:chExt cx="252217" cy="247464"/>
          </a:xfrm>
        </p:grpSpPr>
        <p:sp>
          <p:nvSpPr>
            <p:cNvPr id="54" name="Freeform 54"/>
            <p:cNvSpPr/>
            <p:nvPr/>
          </p:nvSpPr>
          <p:spPr>
            <a:xfrm>
              <a:off x="9175552" y="5505543"/>
              <a:ext cx="232172" cy="247464"/>
            </a:xfrm>
            <a:custGeom>
              <a:avLst/>
              <a:gdLst/>
              <a:ahLst/>
              <a:cxnLst/>
              <a:rect l="l" t="t" r="r" b="b"/>
              <a:pathLst>
                <a:path w="232172" h="247464">
                  <a:moveTo>
                    <a:pt x="232172" y="123732"/>
                  </a:moveTo>
                  <a:cubicBezTo>
                    <a:pt x="174129" y="247464"/>
                    <a:pt x="145107" y="185604"/>
                    <a:pt x="116086" y="123732"/>
                  </a:cubicBezTo>
                  <a:close/>
                  <a:moveTo>
                    <a:pt x="0" y="123732"/>
                  </a:moveTo>
                  <a:lnTo>
                    <a:pt x="116086" y="123732"/>
                  </a:lnTo>
                  <a:cubicBezTo>
                    <a:pt x="87064" y="61860"/>
                    <a:pt x="58043" y="0"/>
                    <a:pt x="0" y="123732"/>
                  </a:cubicBezTo>
                  <a:close/>
                </a:path>
              </a:pathLst>
            </a:custGeom>
            <a:solidFill>
              <a:srgbClr val="6B6B6B">
                <a:alpha val="20000"/>
              </a:srgbClr>
            </a:solidFill>
            <a:ln>
              <a:noFill/>
            </a:ln>
          </p:spPr>
        </p:sp>
        <p:sp>
          <p:nvSpPr>
            <p:cNvPr id="55" name="Freeform 55"/>
            <p:cNvSpPr/>
            <p:nvPr/>
          </p:nvSpPr>
          <p:spPr>
            <a:xfrm>
              <a:off x="9165529" y="5548908"/>
              <a:ext cx="252217" cy="160734"/>
            </a:xfrm>
            <a:custGeom>
              <a:avLst/>
              <a:gdLst/>
              <a:ahLst/>
              <a:cxnLst/>
              <a:rect l="l" t="t" r="r" b="b"/>
              <a:pathLst>
                <a:path w="252217" h="160734">
                  <a:moveTo>
                    <a:pt x="250276" y="84162"/>
                  </a:moveTo>
                  <a:cubicBezTo>
                    <a:pt x="225719" y="136401"/>
                    <a:pt x="204065" y="160734"/>
                    <a:pt x="181964" y="160734"/>
                  </a:cubicBezTo>
                  <a:cubicBezTo>
                    <a:pt x="153947" y="160734"/>
                    <a:pt x="136500" y="123542"/>
                    <a:pt x="118027" y="84162"/>
                  </a:cubicBezTo>
                  <a:cubicBezTo>
                    <a:pt x="103449" y="53087"/>
                    <a:pt x="86930" y="17859"/>
                    <a:pt x="70298" y="17859"/>
                  </a:cubicBezTo>
                  <a:cubicBezTo>
                    <a:pt x="51992" y="17859"/>
                    <a:pt x="29768" y="59394"/>
                    <a:pt x="18149" y="84162"/>
                  </a:cubicBezTo>
                  <a:cubicBezTo>
                    <a:pt x="15998" y="88528"/>
                    <a:pt x="10748" y="90367"/>
                    <a:pt x="6342" y="88299"/>
                  </a:cubicBezTo>
                  <a:cubicBezTo>
                    <a:pt x="1937" y="86230"/>
                    <a:pt x="0" y="81015"/>
                    <a:pt x="1986" y="76572"/>
                  </a:cubicBezTo>
                  <a:cubicBezTo>
                    <a:pt x="26442" y="24333"/>
                    <a:pt x="48152" y="0"/>
                    <a:pt x="70298" y="0"/>
                  </a:cubicBezTo>
                  <a:cubicBezTo>
                    <a:pt x="98315" y="0"/>
                    <a:pt x="115761" y="37192"/>
                    <a:pt x="134235" y="76572"/>
                  </a:cubicBezTo>
                  <a:cubicBezTo>
                    <a:pt x="148768" y="107647"/>
                    <a:pt x="165288" y="142875"/>
                    <a:pt x="181919" y="142875"/>
                  </a:cubicBezTo>
                  <a:cubicBezTo>
                    <a:pt x="200225" y="142875"/>
                    <a:pt x="222449" y="101341"/>
                    <a:pt x="234068" y="76572"/>
                  </a:cubicBezTo>
                  <a:cubicBezTo>
                    <a:pt x="236219" y="72206"/>
                    <a:pt x="241470" y="70367"/>
                    <a:pt x="245875" y="72436"/>
                  </a:cubicBezTo>
                  <a:cubicBezTo>
                    <a:pt x="250280" y="74504"/>
                    <a:pt x="252217" y="79719"/>
                    <a:pt x="250231" y="84162"/>
                  </a:cubicBezTo>
                  <a:close/>
                </a:path>
              </a:pathLst>
            </a:custGeom>
            <a:solidFill>
              <a:srgbClr val="6B6B6B"/>
            </a:solidFill>
            <a:ln>
              <a:noFill/>
            </a:ln>
          </p:spPr>
        </p:sp>
      </p:grpSp>
      <p:sp>
        <p:nvSpPr>
          <p:cNvPr id="57" name="TextBox 57"/>
          <p:cNvSpPr txBox="1"/>
          <p:nvPr/>
        </p:nvSpPr>
        <p:spPr>
          <a:xfrm>
            <a:off x="9495472" y="5566410"/>
            <a:ext cx="1598426" cy="243840"/>
          </a:xfrm>
          <a:prstGeom prst="rect">
            <a:avLst/>
          </a:prstGeom>
          <a:noFill/>
          <a:ln>
            <a:noFill/>
          </a:ln>
        </p:spPr>
        <p:txBody>
          <a:bodyPr wrap="none" lIns="0" tIns="0" rIns="0" bIns="0" anchor="t" anchorCtr="0">
            <a:spAutoFit/>
          </a:bodyPr>
          <a:lstStyle/>
          <a:p>
            <a:pPr algn="l"/>
            <a:r>
              <a:rPr lang="zh-CN" sz="1200" b="1" dirty="0">
                <a:solidFill>
                  <a:srgbClr val="6B6B6B"/>
                </a:solidFill>
                <a:latin typeface="Arial"/>
                <a:ea typeface="Microsoft YaHei"/>
                <a:cs typeface="Arial"/>
              </a:rPr>
              <a:t>Annual variability</a:t>
            </a:r>
          </a:p>
        </p:txBody>
      </p:sp>
      <p:sp>
        <p:nvSpPr>
          <p:cNvPr id="58" name="TextBox 58"/>
          <p:cNvSpPr txBox="1"/>
          <p:nvPr/>
        </p:nvSpPr>
        <p:spPr>
          <a:xfrm>
            <a:off x="9133522" y="5823585"/>
            <a:ext cx="875311" cy="548640"/>
          </a:xfrm>
          <a:prstGeom prst="rect">
            <a:avLst/>
          </a:prstGeom>
          <a:noFill/>
          <a:ln>
            <a:noFill/>
          </a:ln>
        </p:spPr>
        <p:txBody>
          <a:bodyPr wrap="none" lIns="0" tIns="0" rIns="0" bIns="0" anchor="t" anchorCtr="0">
            <a:spAutoFit/>
          </a:bodyPr>
          <a:lstStyle/>
          <a:p>
            <a:pPr algn="l"/>
            <a:r>
              <a:rPr lang="zh-CN" sz="2700" b="1" dirty="0">
                <a:solidFill>
                  <a:srgbClr val="6B6B6B"/>
                </a:solidFill>
                <a:latin typeface="Arial"/>
                <a:ea typeface="Microsoft YaHei"/>
                <a:cs typeface="Arial"/>
              </a:rPr>
              <a:t>1.00</a:t>
            </a:r>
          </a:p>
        </p:txBody>
      </p:sp>
      <p:sp>
        <p:nvSpPr>
          <p:cNvPr id="59" name="TextBox 59"/>
          <p:cNvSpPr txBox="1"/>
          <p:nvPr/>
        </p:nvSpPr>
        <p:spPr>
          <a:xfrm>
            <a:off x="9154478" y="6192202"/>
            <a:ext cx="1728883"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no effect (0.91–1.09)</a:t>
            </a:r>
          </a:p>
        </p:txBody>
      </p:sp>
      <p:sp>
        <p:nvSpPr>
          <p:cNvPr id="60" name="TextBox 60"/>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61" name="TextBox 61"/>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08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Rectangle 10"/>
          <p:cNvSpPr/>
          <p:nvPr/>
        </p:nvSpPr>
        <p:spPr>
          <a:xfrm>
            <a:off x="8382000" y="0"/>
            <a:ext cx="1866900" cy="609600"/>
          </a:xfrm>
          <a:prstGeom prst="rect">
            <a:avLst/>
          </a:prstGeom>
          <a:solidFill>
            <a:srgbClr val="FFFFFF"/>
          </a:solidFill>
          <a:ln>
            <a:noFill/>
          </a:ln>
        </p:spPr>
      </p:sp>
      <p:sp>
        <p:nvSpPr>
          <p:cNvPr id="11" name="TextBox 11"/>
          <p:cNvSpPr txBox="1"/>
          <p:nvPr/>
        </p:nvSpPr>
        <p:spPr>
          <a:xfrm>
            <a:off x="84201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275486"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Finding 1</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7394814"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The balance holds across four criteria and twelve specifications</a:t>
            </a:r>
          </a:p>
        </p:txBody>
      </p:sp>
      <p:sp>
        <p:nvSpPr>
          <p:cNvPr id="17" name="Rectangle 17"/>
          <p:cNvSpPr/>
          <p:nvPr/>
        </p:nvSpPr>
        <p:spPr>
          <a:xfrm>
            <a:off x="514350" y="1390650"/>
            <a:ext cx="6858000" cy="3921442"/>
          </a:xfrm>
          <a:prstGeom prst="roundRect">
            <a:avLst>
              <a:gd name="adj" fmla="val 2429"/>
            </a:avLst>
          </a:prstGeom>
          <a:solidFill>
            <a:srgbClr val="FFFFFF"/>
          </a:solidFill>
          <a:ln w="14288">
            <a:solidFill>
              <a:srgbClr val="D9C7CA"/>
            </a:solidFill>
          </a:ln>
        </p:spPr>
      </p:sp>
      <p:pic>
        <p:nvPicPr>
          <p:cNvPr id="18" name="Image 18"/>
          <p:cNvPicPr>
            <a:picLocks noChangeAspect="1"/>
          </p:cNvPicPr>
          <p:nvPr/>
        </p:nvPicPr>
        <p:blipFill>
          <a:blip r:embed="rId3"/>
          <a:stretch>
            <a:fillRect/>
          </a:stretch>
        </p:blipFill>
        <p:spPr>
          <a:xfrm>
            <a:off x="609600" y="1485900"/>
            <a:ext cx="6667500" cy="3445192"/>
          </a:xfrm>
          <a:prstGeom prst="rect">
            <a:avLst/>
          </a:prstGeom>
        </p:spPr>
      </p:pic>
      <p:grpSp>
        <p:nvGrpSpPr>
          <p:cNvPr id="21" name="Group 21"/>
          <p:cNvGrpSpPr/>
          <p:nvPr/>
        </p:nvGrpSpPr>
        <p:grpSpPr>
          <a:xfrm>
            <a:off x="669080" y="4985266"/>
            <a:ext cx="163207" cy="200545"/>
            <a:chOff x="669080" y="4985266"/>
            <a:chExt cx="163207" cy="200545"/>
          </a:xfrm>
        </p:grpSpPr>
        <p:sp>
          <p:nvSpPr>
            <p:cNvPr id="19" name="Freeform 19"/>
            <p:cNvSpPr/>
            <p:nvPr/>
          </p:nvSpPr>
          <p:spPr>
            <a:xfrm>
              <a:off x="677143" y="4991814"/>
              <a:ext cx="99466" cy="183321"/>
            </a:xfrm>
            <a:custGeom>
              <a:avLst/>
              <a:gdLst/>
              <a:ahLst/>
              <a:cxnLst/>
              <a:rect l="l" t="t" r="r" b="b"/>
              <a:pathLst>
                <a:path w="99466" h="183321">
                  <a:moveTo>
                    <a:pt x="75927" y="99864"/>
                  </a:moveTo>
                  <a:lnTo>
                    <a:pt x="75927" y="26194"/>
                  </a:lnTo>
                  <a:cubicBezTo>
                    <a:pt x="75927" y="11727"/>
                    <a:pt x="64200" y="0"/>
                    <a:pt x="49733" y="0"/>
                  </a:cubicBezTo>
                  <a:cubicBezTo>
                    <a:pt x="35267" y="0"/>
                    <a:pt x="23539" y="11727"/>
                    <a:pt x="23539" y="26194"/>
                  </a:cubicBezTo>
                  <a:lnTo>
                    <a:pt x="23539" y="99864"/>
                  </a:lnTo>
                  <a:cubicBezTo>
                    <a:pt x="7103" y="111308"/>
                    <a:pt x="0" y="132099"/>
                    <a:pt x="5998" y="151208"/>
                  </a:cubicBezTo>
                  <a:cubicBezTo>
                    <a:pt x="11995" y="170318"/>
                    <a:pt x="29705" y="183321"/>
                    <a:pt x="49733" y="183321"/>
                  </a:cubicBezTo>
                  <a:cubicBezTo>
                    <a:pt x="69761" y="183321"/>
                    <a:pt x="87471" y="170318"/>
                    <a:pt x="93469" y="151208"/>
                  </a:cubicBezTo>
                  <a:cubicBezTo>
                    <a:pt x="99466" y="132099"/>
                    <a:pt x="92363" y="111308"/>
                    <a:pt x="75927" y="99864"/>
                  </a:cubicBezTo>
                  <a:close/>
                  <a:moveTo>
                    <a:pt x="49733" y="157162"/>
                  </a:moveTo>
                  <a:cubicBezTo>
                    <a:pt x="38883" y="157162"/>
                    <a:pt x="30088" y="148367"/>
                    <a:pt x="30088" y="137517"/>
                  </a:cubicBezTo>
                  <a:cubicBezTo>
                    <a:pt x="30088" y="126667"/>
                    <a:pt x="38883" y="117872"/>
                    <a:pt x="49733" y="117872"/>
                  </a:cubicBezTo>
                  <a:cubicBezTo>
                    <a:pt x="60583" y="117872"/>
                    <a:pt x="69378" y="126667"/>
                    <a:pt x="69378" y="137517"/>
                  </a:cubicBezTo>
                  <a:cubicBezTo>
                    <a:pt x="69378" y="148367"/>
                    <a:pt x="60583" y="157162"/>
                    <a:pt x="49733" y="157162"/>
                  </a:cubicBezTo>
                  <a:close/>
                </a:path>
              </a:pathLst>
            </a:custGeom>
            <a:solidFill>
              <a:srgbClr val="D1552C">
                <a:alpha val="20000"/>
              </a:srgbClr>
            </a:solidFill>
            <a:ln>
              <a:noFill/>
            </a:ln>
          </p:spPr>
        </p:sp>
        <p:sp>
          <p:nvSpPr>
            <p:cNvPr id="20" name="Freeform 20"/>
            <p:cNvSpPr/>
            <p:nvPr/>
          </p:nvSpPr>
          <p:spPr>
            <a:xfrm>
              <a:off x="669080" y="4985266"/>
              <a:ext cx="163207" cy="200545"/>
            </a:xfrm>
            <a:custGeom>
              <a:avLst/>
              <a:gdLst/>
              <a:ahLst/>
              <a:cxnLst/>
              <a:rect l="l" t="t" r="r" b="b"/>
              <a:pathLst>
                <a:path w="163207" h="200545">
                  <a:moveTo>
                    <a:pt x="104789" y="59378"/>
                  </a:moveTo>
                  <a:cubicBezTo>
                    <a:pt x="102741" y="56401"/>
                    <a:pt x="103492" y="52327"/>
                    <a:pt x="106467" y="50276"/>
                  </a:cubicBezTo>
                  <a:cubicBezTo>
                    <a:pt x="114980" y="44398"/>
                    <a:pt x="128307" y="44398"/>
                    <a:pt x="136819" y="50276"/>
                  </a:cubicBezTo>
                  <a:cubicBezTo>
                    <a:pt x="140912" y="53116"/>
                    <a:pt x="148181" y="53116"/>
                    <a:pt x="152307" y="50276"/>
                  </a:cubicBezTo>
                  <a:cubicBezTo>
                    <a:pt x="155278" y="48388"/>
                    <a:pt x="159209" y="49187"/>
                    <a:pt x="161208" y="52084"/>
                  </a:cubicBezTo>
                  <a:cubicBezTo>
                    <a:pt x="163207" y="54981"/>
                    <a:pt x="162558" y="58940"/>
                    <a:pt x="159739" y="61048"/>
                  </a:cubicBezTo>
                  <a:cubicBezTo>
                    <a:pt x="150473" y="66919"/>
                    <a:pt x="138653" y="66919"/>
                    <a:pt x="129387" y="61048"/>
                  </a:cubicBezTo>
                  <a:cubicBezTo>
                    <a:pt x="125294" y="58207"/>
                    <a:pt x="118025" y="58207"/>
                    <a:pt x="113900" y="61048"/>
                  </a:cubicBezTo>
                  <a:cubicBezTo>
                    <a:pt x="112470" y="62035"/>
                    <a:pt x="110707" y="62413"/>
                    <a:pt x="108999" y="62100"/>
                  </a:cubicBezTo>
                  <a:cubicBezTo>
                    <a:pt x="107290" y="61787"/>
                    <a:pt x="105776" y="60808"/>
                    <a:pt x="104789" y="59378"/>
                  </a:cubicBezTo>
                  <a:close/>
                  <a:moveTo>
                    <a:pt x="152307" y="76469"/>
                  </a:moveTo>
                  <a:cubicBezTo>
                    <a:pt x="148214" y="79310"/>
                    <a:pt x="140945" y="79310"/>
                    <a:pt x="136819" y="76469"/>
                  </a:cubicBezTo>
                  <a:cubicBezTo>
                    <a:pt x="128307" y="70592"/>
                    <a:pt x="114980" y="70592"/>
                    <a:pt x="106467" y="76469"/>
                  </a:cubicBezTo>
                  <a:cubicBezTo>
                    <a:pt x="104443" y="77756"/>
                    <a:pt x="103284" y="80046"/>
                    <a:pt x="103446" y="82440"/>
                  </a:cubicBezTo>
                  <a:cubicBezTo>
                    <a:pt x="103608" y="84833"/>
                    <a:pt x="105066" y="86946"/>
                    <a:pt x="107246" y="87947"/>
                  </a:cubicBezTo>
                  <a:cubicBezTo>
                    <a:pt x="109426" y="88948"/>
                    <a:pt x="111979" y="88678"/>
                    <a:pt x="113900" y="87242"/>
                  </a:cubicBezTo>
                  <a:cubicBezTo>
                    <a:pt x="117993" y="84401"/>
                    <a:pt x="125262" y="84401"/>
                    <a:pt x="129387" y="87242"/>
                  </a:cubicBezTo>
                  <a:cubicBezTo>
                    <a:pt x="138653" y="93112"/>
                    <a:pt x="150473" y="93112"/>
                    <a:pt x="159739" y="87242"/>
                  </a:cubicBezTo>
                  <a:cubicBezTo>
                    <a:pt x="162558" y="85134"/>
                    <a:pt x="163207" y="81175"/>
                    <a:pt x="161208" y="78278"/>
                  </a:cubicBezTo>
                  <a:cubicBezTo>
                    <a:pt x="159209" y="75380"/>
                    <a:pt x="155278" y="74582"/>
                    <a:pt x="152307" y="76469"/>
                  </a:cubicBezTo>
                  <a:close/>
                  <a:moveTo>
                    <a:pt x="83990" y="144066"/>
                  </a:moveTo>
                  <a:cubicBezTo>
                    <a:pt x="83983" y="157676"/>
                    <a:pt x="73554" y="169014"/>
                    <a:pt x="59991" y="170154"/>
                  </a:cubicBezTo>
                  <a:cubicBezTo>
                    <a:pt x="46428" y="171295"/>
                    <a:pt x="34252" y="161858"/>
                    <a:pt x="31973" y="148440"/>
                  </a:cubicBezTo>
                  <a:cubicBezTo>
                    <a:pt x="29693" y="135021"/>
                    <a:pt x="38070" y="122093"/>
                    <a:pt x="51248" y="118690"/>
                  </a:cubicBezTo>
                  <a:lnTo>
                    <a:pt x="51248" y="32742"/>
                  </a:lnTo>
                  <a:cubicBezTo>
                    <a:pt x="51248" y="29126"/>
                    <a:pt x="54180" y="26194"/>
                    <a:pt x="57796" y="26194"/>
                  </a:cubicBezTo>
                  <a:cubicBezTo>
                    <a:pt x="61413" y="26194"/>
                    <a:pt x="64345" y="29126"/>
                    <a:pt x="64345" y="32742"/>
                  </a:cubicBezTo>
                  <a:lnTo>
                    <a:pt x="64345" y="118690"/>
                  </a:lnTo>
                  <a:cubicBezTo>
                    <a:pt x="75904" y="121693"/>
                    <a:pt x="83979" y="132122"/>
                    <a:pt x="83990" y="144066"/>
                  </a:cubicBezTo>
                  <a:close/>
                  <a:moveTo>
                    <a:pt x="70893" y="144066"/>
                  </a:moveTo>
                  <a:cubicBezTo>
                    <a:pt x="70893" y="136832"/>
                    <a:pt x="65029" y="130969"/>
                    <a:pt x="57796" y="130969"/>
                  </a:cubicBezTo>
                  <a:cubicBezTo>
                    <a:pt x="50563" y="130969"/>
                    <a:pt x="44699" y="136832"/>
                    <a:pt x="44699" y="144066"/>
                  </a:cubicBezTo>
                  <a:cubicBezTo>
                    <a:pt x="44699" y="151299"/>
                    <a:pt x="50563" y="157162"/>
                    <a:pt x="57796" y="157162"/>
                  </a:cubicBezTo>
                  <a:cubicBezTo>
                    <a:pt x="65029" y="157162"/>
                    <a:pt x="70893" y="151299"/>
                    <a:pt x="70893" y="144066"/>
                  </a:cubicBezTo>
                  <a:close/>
                  <a:moveTo>
                    <a:pt x="110184" y="144066"/>
                  </a:moveTo>
                  <a:cubicBezTo>
                    <a:pt x="110168" y="168490"/>
                    <a:pt x="93276" y="189664"/>
                    <a:pt x="69465" y="195104"/>
                  </a:cubicBezTo>
                  <a:cubicBezTo>
                    <a:pt x="45654" y="200545"/>
                    <a:pt x="21243" y="188809"/>
                    <a:pt x="10621" y="166814"/>
                  </a:cubicBezTo>
                  <a:cubicBezTo>
                    <a:pt x="0" y="144819"/>
                    <a:pt x="5987" y="118403"/>
                    <a:pt x="25054" y="103138"/>
                  </a:cubicBezTo>
                  <a:lnTo>
                    <a:pt x="25054" y="32742"/>
                  </a:lnTo>
                  <a:cubicBezTo>
                    <a:pt x="25054" y="14659"/>
                    <a:pt x="39713" y="0"/>
                    <a:pt x="57796" y="0"/>
                  </a:cubicBezTo>
                  <a:cubicBezTo>
                    <a:pt x="75879" y="0"/>
                    <a:pt x="90538" y="14659"/>
                    <a:pt x="90538" y="32742"/>
                  </a:cubicBezTo>
                  <a:lnTo>
                    <a:pt x="90538" y="103138"/>
                  </a:lnTo>
                  <a:cubicBezTo>
                    <a:pt x="102957" y="113093"/>
                    <a:pt x="110184" y="128149"/>
                    <a:pt x="110184" y="144066"/>
                  </a:cubicBezTo>
                  <a:close/>
                  <a:moveTo>
                    <a:pt x="97087" y="144066"/>
                  </a:moveTo>
                  <a:cubicBezTo>
                    <a:pt x="97076" y="131209"/>
                    <a:pt x="90787" y="119168"/>
                    <a:pt x="80241" y="111815"/>
                  </a:cubicBezTo>
                  <a:cubicBezTo>
                    <a:pt x="78477" y="110583"/>
                    <a:pt x="77431" y="108563"/>
                    <a:pt x="77442" y="106412"/>
                  </a:cubicBezTo>
                  <a:lnTo>
                    <a:pt x="77442" y="32742"/>
                  </a:lnTo>
                  <a:cubicBezTo>
                    <a:pt x="77442" y="21892"/>
                    <a:pt x="68646" y="13097"/>
                    <a:pt x="57796" y="13097"/>
                  </a:cubicBezTo>
                  <a:cubicBezTo>
                    <a:pt x="46946" y="13097"/>
                    <a:pt x="38151" y="21892"/>
                    <a:pt x="38151" y="32742"/>
                  </a:cubicBezTo>
                  <a:lnTo>
                    <a:pt x="38151" y="106412"/>
                  </a:lnTo>
                  <a:cubicBezTo>
                    <a:pt x="38151" y="108552"/>
                    <a:pt x="37106" y="110557"/>
                    <a:pt x="35351" y="111782"/>
                  </a:cubicBezTo>
                  <a:cubicBezTo>
                    <a:pt x="20047" y="122434"/>
                    <a:pt x="14337" y="142376"/>
                    <a:pt x="21685" y="159514"/>
                  </a:cubicBezTo>
                  <a:cubicBezTo>
                    <a:pt x="29033" y="176652"/>
                    <a:pt x="47415" y="186264"/>
                    <a:pt x="65682" y="182522"/>
                  </a:cubicBezTo>
                  <a:cubicBezTo>
                    <a:pt x="83950" y="178779"/>
                    <a:pt x="97070" y="162712"/>
                    <a:pt x="97087" y="144066"/>
                  </a:cubicBezTo>
                  <a:close/>
                </a:path>
              </a:pathLst>
            </a:custGeom>
            <a:solidFill>
              <a:srgbClr val="D1552C"/>
            </a:solidFill>
            <a:ln>
              <a:noFill/>
            </a:ln>
          </p:spPr>
        </p:sp>
      </p:grpSp>
      <p:grpSp>
        <p:nvGrpSpPr>
          <p:cNvPr id="24" name="Group 24"/>
          <p:cNvGrpSpPr/>
          <p:nvPr/>
        </p:nvGrpSpPr>
        <p:grpSpPr>
          <a:xfrm>
            <a:off x="886420" y="5011431"/>
            <a:ext cx="189311" cy="147100"/>
            <a:chOff x="886420" y="5011431"/>
            <a:chExt cx="189311" cy="147100"/>
          </a:xfrm>
        </p:grpSpPr>
        <p:sp>
          <p:nvSpPr>
            <p:cNvPr id="22" name="Freeform 22"/>
            <p:cNvSpPr/>
            <p:nvPr/>
          </p:nvSpPr>
          <p:spPr>
            <a:xfrm>
              <a:off x="895945" y="5083492"/>
              <a:ext cx="170259" cy="65484"/>
            </a:xfrm>
            <a:custGeom>
              <a:avLst/>
              <a:gdLst/>
              <a:ahLst/>
              <a:cxnLst/>
              <a:rect l="l" t="t" r="r" b="b"/>
              <a:pathLst>
                <a:path w="170259" h="65484">
                  <a:moveTo>
                    <a:pt x="65484" y="32742"/>
                  </a:moveTo>
                  <a:cubicBezTo>
                    <a:pt x="65484" y="50825"/>
                    <a:pt x="50825" y="65484"/>
                    <a:pt x="32742" y="65484"/>
                  </a:cubicBezTo>
                  <a:cubicBezTo>
                    <a:pt x="14659" y="65484"/>
                    <a:pt x="0" y="50825"/>
                    <a:pt x="0" y="32742"/>
                  </a:cubicBezTo>
                  <a:cubicBezTo>
                    <a:pt x="0" y="14659"/>
                    <a:pt x="14659" y="0"/>
                    <a:pt x="32742" y="0"/>
                  </a:cubicBezTo>
                  <a:cubicBezTo>
                    <a:pt x="50825" y="0"/>
                    <a:pt x="65484" y="14659"/>
                    <a:pt x="65484" y="32742"/>
                  </a:cubicBezTo>
                  <a:close/>
                  <a:moveTo>
                    <a:pt x="137517" y="0"/>
                  </a:moveTo>
                  <a:cubicBezTo>
                    <a:pt x="119434" y="0"/>
                    <a:pt x="104775" y="14659"/>
                    <a:pt x="104775" y="32742"/>
                  </a:cubicBezTo>
                  <a:cubicBezTo>
                    <a:pt x="104775" y="50825"/>
                    <a:pt x="119434" y="65484"/>
                    <a:pt x="137517" y="65484"/>
                  </a:cubicBezTo>
                  <a:cubicBezTo>
                    <a:pt x="155600" y="65484"/>
                    <a:pt x="170259" y="50825"/>
                    <a:pt x="170259" y="32742"/>
                  </a:cubicBezTo>
                  <a:cubicBezTo>
                    <a:pt x="170259" y="14659"/>
                    <a:pt x="155600" y="0"/>
                    <a:pt x="137517" y="0"/>
                  </a:cubicBezTo>
                  <a:close/>
                </a:path>
              </a:pathLst>
            </a:custGeom>
            <a:solidFill>
              <a:srgbClr val="1F5F9E">
                <a:alpha val="20000"/>
              </a:srgbClr>
            </a:solidFill>
            <a:ln>
              <a:noFill/>
            </a:ln>
          </p:spPr>
        </p:sp>
        <p:sp>
          <p:nvSpPr>
            <p:cNvPr id="23" name="Freeform 23"/>
            <p:cNvSpPr/>
            <p:nvPr/>
          </p:nvSpPr>
          <p:spPr>
            <a:xfrm>
              <a:off x="886420" y="5011431"/>
              <a:ext cx="189311" cy="147100"/>
            </a:xfrm>
            <a:custGeom>
              <a:avLst/>
              <a:gdLst/>
              <a:ahLst/>
              <a:cxnLst/>
              <a:rect l="l" t="t" r="r" b="b"/>
              <a:pathLst>
                <a:path w="189311" h="147100">
                  <a:moveTo>
                    <a:pt x="184042" y="91600"/>
                  </a:moveTo>
                  <a:lnTo>
                    <a:pt x="184042" y="91600"/>
                  </a:lnTo>
                  <a:cubicBezTo>
                    <a:pt x="183495" y="90074"/>
                    <a:pt x="182852" y="88584"/>
                    <a:pt x="182118" y="87139"/>
                  </a:cubicBezTo>
                  <a:lnTo>
                    <a:pt x="148074" y="9688"/>
                  </a:lnTo>
                  <a:cubicBezTo>
                    <a:pt x="147752" y="8942"/>
                    <a:pt x="147291" y="8264"/>
                    <a:pt x="146715" y="7690"/>
                  </a:cubicBezTo>
                  <a:cubicBezTo>
                    <a:pt x="141803" y="2777"/>
                    <a:pt x="135140" y="16"/>
                    <a:pt x="128192" y="16"/>
                  </a:cubicBezTo>
                  <a:cubicBezTo>
                    <a:pt x="121243" y="16"/>
                    <a:pt x="114580" y="2777"/>
                    <a:pt x="109668" y="7690"/>
                  </a:cubicBezTo>
                  <a:cubicBezTo>
                    <a:pt x="108444" y="8916"/>
                    <a:pt x="107755" y="10576"/>
                    <a:pt x="107752" y="12307"/>
                  </a:cubicBezTo>
                  <a:lnTo>
                    <a:pt x="107752" y="32771"/>
                  </a:lnTo>
                  <a:lnTo>
                    <a:pt x="81558" y="32771"/>
                  </a:lnTo>
                  <a:lnTo>
                    <a:pt x="81558" y="12307"/>
                  </a:lnTo>
                  <a:cubicBezTo>
                    <a:pt x="81560" y="10570"/>
                    <a:pt x="80871" y="8903"/>
                    <a:pt x="79643" y="7674"/>
                  </a:cubicBezTo>
                  <a:cubicBezTo>
                    <a:pt x="74731" y="2761"/>
                    <a:pt x="68067" y="0"/>
                    <a:pt x="61119" y="0"/>
                  </a:cubicBezTo>
                  <a:cubicBezTo>
                    <a:pt x="54171" y="0"/>
                    <a:pt x="47508" y="2761"/>
                    <a:pt x="42595" y="7674"/>
                  </a:cubicBezTo>
                  <a:cubicBezTo>
                    <a:pt x="42020" y="8248"/>
                    <a:pt x="41559" y="8925"/>
                    <a:pt x="41236" y="9671"/>
                  </a:cubicBezTo>
                  <a:lnTo>
                    <a:pt x="7193" y="87123"/>
                  </a:lnTo>
                  <a:cubicBezTo>
                    <a:pt x="6458" y="88568"/>
                    <a:pt x="5816" y="90058"/>
                    <a:pt x="5269" y="91584"/>
                  </a:cubicBezTo>
                  <a:lnTo>
                    <a:pt x="5269" y="91584"/>
                  </a:lnTo>
                  <a:cubicBezTo>
                    <a:pt x="0" y="106327"/>
                    <a:pt x="3987" y="122792"/>
                    <a:pt x="15417" y="133491"/>
                  </a:cubicBezTo>
                  <a:cubicBezTo>
                    <a:pt x="26847" y="144191"/>
                    <a:pt x="43538" y="147083"/>
                    <a:pt x="57902" y="140853"/>
                  </a:cubicBezTo>
                  <a:cubicBezTo>
                    <a:pt x="72266" y="134623"/>
                    <a:pt x="81560" y="120460"/>
                    <a:pt x="81558" y="104804"/>
                  </a:cubicBezTo>
                  <a:lnTo>
                    <a:pt x="81558" y="45868"/>
                  </a:lnTo>
                  <a:lnTo>
                    <a:pt x="107752" y="45868"/>
                  </a:lnTo>
                  <a:lnTo>
                    <a:pt x="107752" y="104804"/>
                  </a:lnTo>
                  <a:cubicBezTo>
                    <a:pt x="107744" y="120462"/>
                    <a:pt x="117035" y="134631"/>
                    <a:pt x="131399" y="140865"/>
                  </a:cubicBezTo>
                  <a:cubicBezTo>
                    <a:pt x="145762" y="147100"/>
                    <a:pt x="162457" y="144211"/>
                    <a:pt x="173890" y="133511"/>
                  </a:cubicBezTo>
                  <a:cubicBezTo>
                    <a:pt x="185323" y="122812"/>
                    <a:pt x="189311" y="106346"/>
                    <a:pt x="184042" y="91600"/>
                  </a:cubicBezTo>
                  <a:close/>
                  <a:moveTo>
                    <a:pt x="52672" y="16195"/>
                  </a:moveTo>
                  <a:cubicBezTo>
                    <a:pt x="57158" y="12418"/>
                    <a:pt x="63609" y="12083"/>
                    <a:pt x="68462" y="15377"/>
                  </a:cubicBezTo>
                  <a:lnTo>
                    <a:pt x="68462" y="75549"/>
                  </a:lnTo>
                  <a:cubicBezTo>
                    <a:pt x="58056" y="66206"/>
                    <a:pt x="43463" y="63111"/>
                    <a:pt x="30161" y="67429"/>
                  </a:cubicBezTo>
                  <a:close/>
                  <a:moveTo>
                    <a:pt x="42268" y="130998"/>
                  </a:moveTo>
                  <a:cubicBezTo>
                    <a:pt x="27801" y="130998"/>
                    <a:pt x="16074" y="119270"/>
                    <a:pt x="16074" y="104804"/>
                  </a:cubicBezTo>
                  <a:cubicBezTo>
                    <a:pt x="16074" y="90337"/>
                    <a:pt x="27801" y="78610"/>
                    <a:pt x="42268" y="78610"/>
                  </a:cubicBezTo>
                  <a:cubicBezTo>
                    <a:pt x="56734" y="78610"/>
                    <a:pt x="68462" y="90337"/>
                    <a:pt x="68462" y="104804"/>
                  </a:cubicBezTo>
                  <a:cubicBezTo>
                    <a:pt x="68462" y="119270"/>
                    <a:pt x="56734" y="130998"/>
                    <a:pt x="42268" y="130998"/>
                  </a:cubicBezTo>
                  <a:close/>
                  <a:moveTo>
                    <a:pt x="120849" y="15369"/>
                  </a:moveTo>
                  <a:cubicBezTo>
                    <a:pt x="125702" y="12075"/>
                    <a:pt x="132153" y="12410"/>
                    <a:pt x="136639" y="16187"/>
                  </a:cubicBezTo>
                  <a:lnTo>
                    <a:pt x="159149" y="67412"/>
                  </a:lnTo>
                  <a:cubicBezTo>
                    <a:pt x="145847" y="63097"/>
                    <a:pt x="131253" y="66194"/>
                    <a:pt x="120849" y="75540"/>
                  </a:cubicBezTo>
                  <a:close/>
                  <a:moveTo>
                    <a:pt x="147043" y="130998"/>
                  </a:moveTo>
                  <a:cubicBezTo>
                    <a:pt x="132576" y="130998"/>
                    <a:pt x="120849" y="119270"/>
                    <a:pt x="120849" y="104804"/>
                  </a:cubicBezTo>
                  <a:cubicBezTo>
                    <a:pt x="120849" y="90337"/>
                    <a:pt x="132576" y="78610"/>
                    <a:pt x="147043" y="78610"/>
                  </a:cubicBezTo>
                  <a:cubicBezTo>
                    <a:pt x="161509" y="78610"/>
                    <a:pt x="173237" y="90337"/>
                    <a:pt x="173237" y="104804"/>
                  </a:cubicBezTo>
                  <a:cubicBezTo>
                    <a:pt x="173237" y="119270"/>
                    <a:pt x="161509" y="130998"/>
                    <a:pt x="147043" y="130998"/>
                  </a:cubicBezTo>
                  <a:close/>
                </a:path>
              </a:pathLst>
            </a:custGeom>
            <a:solidFill>
              <a:srgbClr val="1F5F9E"/>
            </a:solidFill>
            <a:ln>
              <a:noFill/>
            </a:ln>
          </p:spPr>
        </p:sp>
      </p:grpSp>
      <p:sp>
        <p:nvSpPr>
          <p:cNvPr id="25" name="TextBox 25"/>
          <p:cNvSpPr txBox="1"/>
          <p:nvPr/>
        </p:nvSpPr>
        <p:spPr>
          <a:xfrm>
            <a:off x="1149668" y="5035391"/>
            <a:ext cx="2444120"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1c Four criteria of importance</a:t>
            </a:r>
          </a:p>
        </p:txBody>
      </p:sp>
      <p:sp>
        <p:nvSpPr>
          <p:cNvPr id="26" name="Rectangle 26"/>
          <p:cNvSpPr/>
          <p:nvPr/>
        </p:nvSpPr>
        <p:spPr>
          <a:xfrm>
            <a:off x="514350" y="5464492"/>
            <a:ext cx="6858000" cy="974408"/>
          </a:xfrm>
          <a:prstGeom prst="roundRect">
            <a:avLst>
              <a:gd name="adj" fmla="val 7820"/>
            </a:avLst>
          </a:prstGeom>
          <a:solidFill>
            <a:srgbClr val="8B0012"/>
          </a:solidFill>
          <a:ln>
            <a:noFill/>
          </a:ln>
        </p:spPr>
      </p:sp>
      <p:sp>
        <p:nvSpPr>
          <p:cNvPr id="27" name="TextBox 27"/>
          <p:cNvSpPr txBox="1"/>
          <p:nvPr/>
        </p:nvSpPr>
        <p:spPr>
          <a:xfrm>
            <a:off x="609600" y="5711190"/>
            <a:ext cx="6667500" cy="271462"/>
          </a:xfrm>
          <a:prstGeom prst="rect">
            <a:avLst/>
          </a:prstGeom>
          <a:noFill/>
          <a:ln>
            <a:noFill/>
          </a:ln>
        </p:spPr>
        <p:txBody>
          <a:bodyPr wrap="square" lIns="0" tIns="0" rIns="0" bIns="0" anchor="t" anchorCtr="0">
            <a:normAutofit/>
          </a:bodyPr>
          <a:lstStyle/>
          <a:p>
            <a:pPr algn="ctr"/>
            <a:r>
              <a:rPr lang="zh-CN" sz="1425" b="1" dirty="0">
                <a:solidFill>
                  <a:srgbClr val="FFFFFF"/>
                </a:solidFill>
                <a:latin typeface="Arial"/>
                <a:ea typeface="Microsoft YaHei"/>
                <a:cs typeface="Arial"/>
              </a:rPr>
              <a:t>Warming and effort carry comparable weight</a:t>
            </a:r>
          </a:p>
        </p:txBody>
      </p:sp>
      <p:sp>
        <p:nvSpPr>
          <p:cNvPr id="28" name="TextBox 28"/>
          <p:cNvSpPr txBox="1"/>
          <p:nvPr/>
        </p:nvSpPr>
        <p:spPr>
          <a:xfrm>
            <a:off x="609600" y="5964555"/>
            <a:ext cx="6667500" cy="271462"/>
          </a:xfrm>
          <a:prstGeom prst="rect">
            <a:avLst/>
          </a:prstGeom>
          <a:noFill/>
          <a:ln>
            <a:noFill/>
          </a:ln>
        </p:spPr>
        <p:txBody>
          <a:bodyPr wrap="square" lIns="0" tIns="0" rIns="0" bIns="0" anchor="t" anchorCtr="0">
            <a:normAutofit/>
          </a:bodyPr>
          <a:lstStyle/>
          <a:p>
            <a:pPr algn="ctr"/>
            <a:r>
              <a:rPr lang="zh-CN" sz="1425" b="1" dirty="0">
                <a:solidFill>
                  <a:srgbClr val="FFFFFF"/>
                </a:solidFill>
                <a:latin typeface="Arial"/>
                <a:ea typeface="Microsoft YaHei"/>
                <a:cs typeface="Arial"/>
              </a:rPr>
              <a:t>under all four criteria</a:t>
            </a:r>
          </a:p>
        </p:txBody>
      </p:sp>
      <p:sp>
        <p:nvSpPr>
          <p:cNvPr id="29" name="Rectangle 29"/>
          <p:cNvSpPr/>
          <p:nvPr/>
        </p:nvSpPr>
        <p:spPr>
          <a:xfrm>
            <a:off x="7600950" y="1390650"/>
            <a:ext cx="4076700" cy="1581150"/>
          </a:xfrm>
          <a:prstGeom prst="roundRect">
            <a:avLst>
              <a:gd name="adj" fmla="val 6024"/>
            </a:avLst>
          </a:prstGeom>
          <a:solidFill>
            <a:srgbClr val="FFFFFF"/>
          </a:solidFill>
          <a:ln w="15240">
            <a:solidFill>
              <a:srgbClr val="8B0012"/>
            </a:solidFill>
          </a:ln>
        </p:spPr>
      </p:sp>
      <p:grpSp>
        <p:nvGrpSpPr>
          <p:cNvPr id="32" name="Group 32"/>
          <p:cNvGrpSpPr/>
          <p:nvPr/>
        </p:nvGrpSpPr>
        <p:grpSpPr>
          <a:xfrm>
            <a:off x="7771202" y="1559719"/>
            <a:ext cx="250046" cy="214312"/>
            <a:chOff x="7771202" y="1559719"/>
            <a:chExt cx="250046" cy="214312"/>
          </a:xfrm>
        </p:grpSpPr>
        <p:sp>
          <p:nvSpPr>
            <p:cNvPr id="30" name="Freeform 30"/>
            <p:cNvSpPr/>
            <p:nvPr/>
          </p:nvSpPr>
          <p:spPr>
            <a:xfrm>
              <a:off x="7780139" y="1586508"/>
              <a:ext cx="232172" cy="151805"/>
            </a:xfrm>
            <a:custGeom>
              <a:avLst/>
              <a:gdLst/>
              <a:ahLst/>
              <a:cxnLst/>
              <a:rect l="l" t="t" r="r" b="b"/>
              <a:pathLst>
                <a:path w="232172" h="151805">
                  <a:moveTo>
                    <a:pt x="35719" y="35719"/>
                  </a:moveTo>
                  <a:lnTo>
                    <a:pt x="71438" y="125016"/>
                  </a:lnTo>
                  <a:cubicBezTo>
                    <a:pt x="71438" y="144739"/>
                    <a:pt x="49113" y="151805"/>
                    <a:pt x="35719" y="151805"/>
                  </a:cubicBezTo>
                  <a:cubicBezTo>
                    <a:pt x="22324" y="151805"/>
                    <a:pt x="0" y="144739"/>
                    <a:pt x="0" y="125016"/>
                  </a:cubicBezTo>
                  <a:close/>
                  <a:moveTo>
                    <a:pt x="196453" y="0"/>
                  </a:moveTo>
                  <a:lnTo>
                    <a:pt x="160734" y="89297"/>
                  </a:lnTo>
                  <a:cubicBezTo>
                    <a:pt x="160734" y="109020"/>
                    <a:pt x="183059" y="116086"/>
                    <a:pt x="196453" y="116086"/>
                  </a:cubicBezTo>
                  <a:cubicBezTo>
                    <a:pt x="209848" y="116086"/>
                    <a:pt x="232172" y="109020"/>
                    <a:pt x="232172" y="89297"/>
                  </a:cubicBezTo>
                  <a:close/>
                </a:path>
              </a:pathLst>
            </a:custGeom>
            <a:solidFill>
              <a:srgbClr val="8B0012">
                <a:alpha val="20000"/>
              </a:srgbClr>
            </a:solidFill>
            <a:ln>
              <a:noFill/>
            </a:ln>
          </p:spPr>
        </p:sp>
        <p:sp>
          <p:nvSpPr>
            <p:cNvPr id="31" name="Freeform 31"/>
            <p:cNvSpPr/>
            <p:nvPr/>
          </p:nvSpPr>
          <p:spPr>
            <a:xfrm>
              <a:off x="7771202" y="1559719"/>
              <a:ext cx="250046" cy="214312"/>
            </a:xfrm>
            <a:custGeom>
              <a:avLst/>
              <a:gdLst/>
              <a:ahLst/>
              <a:cxnLst/>
              <a:rect l="l" t="t" r="r" b="b"/>
              <a:pathLst>
                <a:path w="250046" h="214312">
                  <a:moveTo>
                    <a:pt x="249402" y="112737"/>
                  </a:moveTo>
                  <a:lnTo>
                    <a:pt x="213683" y="23440"/>
                  </a:lnTo>
                  <a:lnTo>
                    <a:pt x="213683" y="23440"/>
                  </a:lnTo>
                  <a:cubicBezTo>
                    <a:pt x="212059" y="19378"/>
                    <a:pt x="207730" y="17091"/>
                    <a:pt x="203459" y="18038"/>
                  </a:cubicBezTo>
                  <a:lnTo>
                    <a:pt x="133952" y="33486"/>
                  </a:lnTo>
                  <a:lnTo>
                    <a:pt x="133952" y="8930"/>
                  </a:lnTo>
                  <a:cubicBezTo>
                    <a:pt x="133952" y="3998"/>
                    <a:pt x="129955" y="0"/>
                    <a:pt x="125023" y="0"/>
                  </a:cubicBezTo>
                  <a:cubicBezTo>
                    <a:pt x="120091" y="0"/>
                    <a:pt x="116093" y="3998"/>
                    <a:pt x="116093" y="8930"/>
                  </a:cubicBezTo>
                  <a:lnTo>
                    <a:pt x="116093" y="37482"/>
                  </a:lnTo>
                  <a:lnTo>
                    <a:pt x="42713" y="53790"/>
                  </a:lnTo>
                  <a:cubicBezTo>
                    <a:pt x="39841" y="54425"/>
                    <a:pt x="37466" y="56433"/>
                    <a:pt x="36362" y="59159"/>
                  </a:cubicBezTo>
                  <a:lnTo>
                    <a:pt x="36362" y="59159"/>
                  </a:lnTo>
                  <a:lnTo>
                    <a:pt x="36362" y="59226"/>
                  </a:lnTo>
                  <a:lnTo>
                    <a:pt x="643" y="148456"/>
                  </a:lnTo>
                  <a:cubicBezTo>
                    <a:pt x="216" y="149520"/>
                    <a:pt x="0" y="150658"/>
                    <a:pt x="7" y="151805"/>
                  </a:cubicBezTo>
                  <a:cubicBezTo>
                    <a:pt x="7" y="177824"/>
                    <a:pt x="27399" y="187523"/>
                    <a:pt x="44656" y="187523"/>
                  </a:cubicBezTo>
                  <a:cubicBezTo>
                    <a:pt x="61912" y="187523"/>
                    <a:pt x="89304" y="177824"/>
                    <a:pt x="89304" y="151805"/>
                  </a:cubicBezTo>
                  <a:cubicBezTo>
                    <a:pt x="89311" y="150658"/>
                    <a:pt x="89095" y="149520"/>
                    <a:pt x="88668" y="148456"/>
                  </a:cubicBezTo>
                  <a:lnTo>
                    <a:pt x="56845" y="68948"/>
                  </a:lnTo>
                  <a:lnTo>
                    <a:pt x="116093" y="55811"/>
                  </a:lnTo>
                  <a:lnTo>
                    <a:pt x="116093" y="196453"/>
                  </a:lnTo>
                  <a:lnTo>
                    <a:pt x="98234" y="196453"/>
                  </a:lnTo>
                  <a:cubicBezTo>
                    <a:pt x="93302" y="196453"/>
                    <a:pt x="89304" y="200451"/>
                    <a:pt x="89304" y="205383"/>
                  </a:cubicBezTo>
                  <a:cubicBezTo>
                    <a:pt x="89304" y="210315"/>
                    <a:pt x="93302" y="214312"/>
                    <a:pt x="98234" y="214312"/>
                  </a:cubicBezTo>
                  <a:lnTo>
                    <a:pt x="151812" y="214312"/>
                  </a:lnTo>
                  <a:cubicBezTo>
                    <a:pt x="156744" y="214312"/>
                    <a:pt x="160742" y="210315"/>
                    <a:pt x="160742" y="205383"/>
                  </a:cubicBezTo>
                  <a:cubicBezTo>
                    <a:pt x="160742" y="200451"/>
                    <a:pt x="156744" y="196453"/>
                    <a:pt x="151812" y="196453"/>
                  </a:cubicBezTo>
                  <a:lnTo>
                    <a:pt x="133952" y="196453"/>
                  </a:lnTo>
                  <a:lnTo>
                    <a:pt x="133952" y="51815"/>
                  </a:lnTo>
                  <a:lnTo>
                    <a:pt x="190879" y="39179"/>
                  </a:lnTo>
                  <a:lnTo>
                    <a:pt x="161378" y="112737"/>
                  </a:lnTo>
                  <a:cubicBezTo>
                    <a:pt x="160950" y="113802"/>
                    <a:pt x="160734" y="114939"/>
                    <a:pt x="160742" y="116086"/>
                  </a:cubicBezTo>
                  <a:cubicBezTo>
                    <a:pt x="160742" y="142105"/>
                    <a:pt x="188133" y="151805"/>
                    <a:pt x="205390" y="151805"/>
                  </a:cubicBezTo>
                  <a:cubicBezTo>
                    <a:pt x="222647" y="151805"/>
                    <a:pt x="250038" y="142105"/>
                    <a:pt x="250038" y="116086"/>
                  </a:cubicBezTo>
                  <a:cubicBezTo>
                    <a:pt x="250046" y="114939"/>
                    <a:pt x="249829" y="113802"/>
                    <a:pt x="249402" y="112737"/>
                  </a:cubicBezTo>
                  <a:close/>
                  <a:moveTo>
                    <a:pt x="44656" y="169664"/>
                  </a:moveTo>
                  <a:cubicBezTo>
                    <a:pt x="36251" y="169664"/>
                    <a:pt x="19251" y="165635"/>
                    <a:pt x="17945" y="153323"/>
                  </a:cubicBezTo>
                  <a:lnTo>
                    <a:pt x="44656" y="86551"/>
                  </a:lnTo>
                  <a:lnTo>
                    <a:pt x="71367" y="153323"/>
                  </a:lnTo>
                  <a:cubicBezTo>
                    <a:pt x="70061" y="165635"/>
                    <a:pt x="53061" y="169664"/>
                    <a:pt x="44656" y="169664"/>
                  </a:cubicBezTo>
                  <a:close/>
                  <a:moveTo>
                    <a:pt x="205390" y="133945"/>
                  </a:moveTo>
                  <a:cubicBezTo>
                    <a:pt x="196985" y="133945"/>
                    <a:pt x="179985" y="129916"/>
                    <a:pt x="178679" y="117604"/>
                  </a:cubicBezTo>
                  <a:lnTo>
                    <a:pt x="205390" y="50832"/>
                  </a:lnTo>
                  <a:lnTo>
                    <a:pt x="232101" y="117604"/>
                  </a:lnTo>
                  <a:cubicBezTo>
                    <a:pt x="230795" y="129916"/>
                    <a:pt x="213795" y="133945"/>
                    <a:pt x="205390" y="133945"/>
                  </a:cubicBezTo>
                  <a:close/>
                </a:path>
              </a:pathLst>
            </a:custGeom>
            <a:solidFill>
              <a:srgbClr val="8B0012"/>
            </a:solidFill>
            <a:ln>
              <a:noFill/>
            </a:ln>
          </p:spPr>
        </p:sp>
      </p:grpSp>
      <p:sp>
        <p:nvSpPr>
          <p:cNvPr id="33" name="TextBox 33"/>
          <p:cNvSpPr txBox="1"/>
          <p:nvPr/>
        </p:nvSpPr>
        <p:spPr>
          <a:xfrm>
            <a:off x="8117205" y="1587818"/>
            <a:ext cx="2467021" cy="274320"/>
          </a:xfrm>
          <a:prstGeom prst="rect">
            <a:avLst/>
          </a:prstGeom>
          <a:noFill/>
          <a:ln>
            <a:noFill/>
          </a:ln>
        </p:spPr>
        <p:txBody>
          <a:bodyPr wrap="none" lIns="0" tIns="0" rIns="0" bIns="0" anchor="t" anchorCtr="0">
            <a:spAutoFit/>
          </a:bodyPr>
          <a:lstStyle/>
          <a:p>
            <a:pPr algn="l"/>
            <a:r>
              <a:rPr lang="zh-CN" sz="1350" b="1" dirty="0">
                <a:solidFill>
                  <a:srgbClr val="8B0012"/>
                </a:solidFill>
                <a:latin typeface="Arial"/>
                <a:ea typeface="Microsoft YaHei"/>
                <a:cs typeface="Arial"/>
              </a:rPr>
              <a:t>Cost of dropping a term</a:t>
            </a:r>
          </a:p>
        </p:txBody>
      </p:sp>
      <p:sp>
        <p:nvSpPr>
          <p:cNvPr id="34" name="TextBox 34"/>
          <p:cNvSpPr txBox="1"/>
          <p:nvPr/>
        </p:nvSpPr>
        <p:spPr>
          <a:xfrm>
            <a:off x="7776210" y="1908810"/>
            <a:ext cx="2725979"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ΔAIC: warming 28.7, effort 29.5</a:t>
            </a:r>
          </a:p>
        </p:txBody>
      </p:sp>
      <p:sp>
        <p:nvSpPr>
          <p:cNvPr id="35" name="TextBox 35"/>
          <p:cNvSpPr txBox="1"/>
          <p:nvPr/>
        </p:nvSpPr>
        <p:spPr>
          <a:xfrm>
            <a:off x="7776210" y="2137410"/>
            <a:ext cx="2918765"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ΔAUC: warming 0.053, effort 0.032</a:t>
            </a:r>
          </a:p>
        </p:txBody>
      </p:sp>
      <p:sp>
        <p:nvSpPr>
          <p:cNvPr id="36" name="TextBox 36"/>
          <p:cNvSpPr txBox="1"/>
          <p:nvPr/>
        </p:nvSpPr>
        <p:spPr>
          <a:xfrm>
            <a:off x="7776210" y="2366010"/>
            <a:ext cx="2519172"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Conditional R² and |β| agree</a:t>
            </a:r>
          </a:p>
        </p:txBody>
      </p:sp>
      <p:sp>
        <p:nvSpPr>
          <p:cNvPr id="37" name="Rectangle 37"/>
          <p:cNvSpPr/>
          <p:nvPr/>
        </p:nvSpPr>
        <p:spPr>
          <a:xfrm>
            <a:off x="7600950" y="3124200"/>
            <a:ext cx="4076700" cy="1581150"/>
          </a:xfrm>
          <a:prstGeom prst="roundRect">
            <a:avLst>
              <a:gd name="adj" fmla="val 6024"/>
            </a:avLst>
          </a:prstGeom>
          <a:solidFill>
            <a:srgbClr val="FFFFFF"/>
          </a:solidFill>
          <a:ln w="15240">
            <a:solidFill>
              <a:srgbClr val="1F5F9E"/>
            </a:solidFill>
          </a:ln>
        </p:spPr>
      </p:sp>
      <p:grpSp>
        <p:nvGrpSpPr>
          <p:cNvPr id="40" name="Group 40"/>
          <p:cNvGrpSpPr/>
          <p:nvPr/>
        </p:nvGrpSpPr>
        <p:grpSpPr>
          <a:xfrm>
            <a:off x="7778961" y="3275005"/>
            <a:ext cx="234589" cy="250840"/>
            <a:chOff x="7778961" y="3275005"/>
            <a:chExt cx="234589" cy="250840"/>
          </a:xfrm>
        </p:grpSpPr>
        <p:sp>
          <p:nvSpPr>
            <p:cNvPr id="38" name="Freeform 38"/>
            <p:cNvSpPr/>
            <p:nvPr/>
          </p:nvSpPr>
          <p:spPr>
            <a:xfrm>
              <a:off x="7789069" y="3284339"/>
              <a:ext cx="214312" cy="125016"/>
            </a:xfrm>
            <a:custGeom>
              <a:avLst/>
              <a:gdLst/>
              <a:ahLst/>
              <a:cxnLst/>
              <a:rect l="l" t="t" r="r" b="b"/>
              <a:pathLst>
                <a:path w="214312" h="125016">
                  <a:moveTo>
                    <a:pt x="214312" y="62508"/>
                  </a:moveTo>
                  <a:lnTo>
                    <a:pt x="107156" y="125016"/>
                  </a:lnTo>
                  <a:lnTo>
                    <a:pt x="0" y="62508"/>
                  </a:lnTo>
                  <a:lnTo>
                    <a:pt x="107156" y="0"/>
                  </a:lnTo>
                  <a:close/>
                </a:path>
              </a:pathLst>
            </a:custGeom>
            <a:solidFill>
              <a:srgbClr val="1F5F9E">
                <a:alpha val="20000"/>
              </a:srgbClr>
            </a:solidFill>
            <a:ln>
              <a:noFill/>
            </a:ln>
          </p:spPr>
        </p:sp>
        <p:sp>
          <p:nvSpPr>
            <p:cNvPr id="39" name="Freeform 39"/>
            <p:cNvSpPr/>
            <p:nvPr/>
          </p:nvSpPr>
          <p:spPr>
            <a:xfrm>
              <a:off x="7778961" y="3275005"/>
              <a:ext cx="234589" cy="250840"/>
            </a:xfrm>
            <a:custGeom>
              <a:avLst/>
              <a:gdLst/>
              <a:ahLst/>
              <a:cxnLst/>
              <a:rect l="l" t="t" r="r" b="b"/>
              <a:pathLst>
                <a:path w="234589" h="250840">
                  <a:moveTo>
                    <a:pt x="232133" y="174533"/>
                  </a:moveTo>
                  <a:cubicBezTo>
                    <a:pt x="234589" y="178794"/>
                    <a:pt x="233136" y="184239"/>
                    <a:pt x="228885" y="186711"/>
                  </a:cubicBezTo>
                  <a:lnTo>
                    <a:pt x="121729" y="249219"/>
                  </a:lnTo>
                  <a:cubicBezTo>
                    <a:pt x="118949" y="250840"/>
                    <a:pt x="115512" y="250840"/>
                    <a:pt x="112732" y="249219"/>
                  </a:cubicBezTo>
                  <a:lnTo>
                    <a:pt x="5576" y="186711"/>
                  </a:lnTo>
                  <a:cubicBezTo>
                    <a:pt x="1388" y="184194"/>
                    <a:pt x="0" y="178779"/>
                    <a:pt x="2462" y="174558"/>
                  </a:cubicBezTo>
                  <a:cubicBezTo>
                    <a:pt x="4923" y="170338"/>
                    <a:pt x="10320" y="168879"/>
                    <a:pt x="14572" y="171285"/>
                  </a:cubicBezTo>
                  <a:lnTo>
                    <a:pt x="117264" y="231170"/>
                  </a:lnTo>
                  <a:lnTo>
                    <a:pt x="219955" y="171285"/>
                  </a:lnTo>
                  <a:cubicBezTo>
                    <a:pt x="224216" y="168830"/>
                    <a:pt x="229661" y="170282"/>
                    <a:pt x="232133" y="174533"/>
                  </a:cubicBezTo>
                  <a:close/>
                  <a:moveTo>
                    <a:pt x="219955" y="117707"/>
                  </a:moveTo>
                  <a:lnTo>
                    <a:pt x="117264" y="177592"/>
                  </a:lnTo>
                  <a:lnTo>
                    <a:pt x="14572" y="117707"/>
                  </a:lnTo>
                  <a:cubicBezTo>
                    <a:pt x="10352" y="115606"/>
                    <a:pt x="5226" y="117147"/>
                    <a:pt x="2864" y="121227"/>
                  </a:cubicBezTo>
                  <a:cubicBezTo>
                    <a:pt x="502" y="125307"/>
                    <a:pt x="1719" y="130520"/>
                    <a:pt x="5643" y="133133"/>
                  </a:cubicBezTo>
                  <a:lnTo>
                    <a:pt x="112799" y="195641"/>
                  </a:lnTo>
                  <a:cubicBezTo>
                    <a:pt x="115579" y="197262"/>
                    <a:pt x="119016" y="197262"/>
                    <a:pt x="121796" y="195641"/>
                  </a:cubicBezTo>
                  <a:lnTo>
                    <a:pt x="228952" y="133133"/>
                  </a:lnTo>
                  <a:cubicBezTo>
                    <a:pt x="231753" y="131548"/>
                    <a:pt x="233484" y="128579"/>
                    <a:pt x="233484" y="125361"/>
                  </a:cubicBezTo>
                  <a:cubicBezTo>
                    <a:pt x="233484" y="122143"/>
                    <a:pt x="231753" y="119174"/>
                    <a:pt x="228952" y="117589"/>
                  </a:cubicBezTo>
                  <a:cubicBezTo>
                    <a:pt x="226151" y="116004"/>
                    <a:pt x="222714" y="116049"/>
                    <a:pt x="219955" y="117707"/>
                  </a:cubicBezTo>
                  <a:close/>
                  <a:moveTo>
                    <a:pt x="1178" y="71842"/>
                  </a:moveTo>
                  <a:cubicBezTo>
                    <a:pt x="1185" y="68659"/>
                    <a:pt x="2886" y="65720"/>
                    <a:pt x="5643" y="64129"/>
                  </a:cubicBezTo>
                  <a:lnTo>
                    <a:pt x="112799" y="1621"/>
                  </a:lnTo>
                  <a:cubicBezTo>
                    <a:pt x="115579" y="0"/>
                    <a:pt x="119016" y="0"/>
                    <a:pt x="121796" y="1621"/>
                  </a:cubicBezTo>
                  <a:lnTo>
                    <a:pt x="228952" y="64129"/>
                  </a:lnTo>
                  <a:cubicBezTo>
                    <a:pt x="231695" y="65729"/>
                    <a:pt x="233382" y="68666"/>
                    <a:pt x="233382" y="71842"/>
                  </a:cubicBezTo>
                  <a:cubicBezTo>
                    <a:pt x="233382" y="75018"/>
                    <a:pt x="231695" y="77955"/>
                    <a:pt x="228952" y="79555"/>
                  </a:cubicBezTo>
                  <a:lnTo>
                    <a:pt x="121796" y="142063"/>
                  </a:lnTo>
                  <a:cubicBezTo>
                    <a:pt x="119016" y="143684"/>
                    <a:pt x="115579" y="143684"/>
                    <a:pt x="112799" y="142063"/>
                  </a:cubicBezTo>
                  <a:lnTo>
                    <a:pt x="5643" y="79555"/>
                  </a:lnTo>
                  <a:cubicBezTo>
                    <a:pt x="2886" y="77963"/>
                    <a:pt x="1185" y="75025"/>
                    <a:pt x="1178" y="71842"/>
                  </a:cubicBezTo>
                  <a:close/>
                  <a:moveTo>
                    <a:pt x="27833" y="71842"/>
                  </a:moveTo>
                  <a:lnTo>
                    <a:pt x="117264" y="124014"/>
                  </a:lnTo>
                  <a:lnTo>
                    <a:pt x="206695" y="71842"/>
                  </a:lnTo>
                  <a:lnTo>
                    <a:pt x="117264" y="19670"/>
                  </a:lnTo>
                  <a:close/>
                </a:path>
              </a:pathLst>
            </a:custGeom>
            <a:solidFill>
              <a:srgbClr val="1F5F9E"/>
            </a:solidFill>
            <a:ln>
              <a:noFill/>
            </a:ln>
          </p:spPr>
        </p:sp>
      </p:grpSp>
      <p:sp>
        <p:nvSpPr>
          <p:cNvPr id="41" name="TextBox 41"/>
          <p:cNvSpPr txBox="1"/>
          <p:nvPr/>
        </p:nvSpPr>
        <p:spPr>
          <a:xfrm>
            <a:off x="8117205" y="3321368"/>
            <a:ext cx="2207865" cy="274320"/>
          </a:xfrm>
          <a:prstGeom prst="rect">
            <a:avLst/>
          </a:prstGeom>
          <a:noFill/>
          <a:ln>
            <a:noFill/>
          </a:ln>
        </p:spPr>
        <p:txBody>
          <a:bodyPr wrap="none" lIns="0" tIns="0" rIns="0" bIns="0" anchor="t" anchorCtr="0">
            <a:spAutoFit/>
          </a:bodyPr>
          <a:lstStyle/>
          <a:p>
            <a:pPr algn="l"/>
            <a:r>
              <a:rPr lang="zh-CN" sz="1350" b="1" dirty="0">
                <a:solidFill>
                  <a:srgbClr val="1F5F9E"/>
                </a:solidFill>
                <a:latin typeface="Arial"/>
                <a:ea typeface="Microsoft YaHei"/>
                <a:cs typeface="Arial"/>
              </a:rPr>
              <a:t>Twelve specifications</a:t>
            </a:r>
          </a:p>
        </p:txBody>
      </p:sp>
      <p:sp>
        <p:nvSpPr>
          <p:cNvPr id="42" name="TextBox 42"/>
          <p:cNvSpPr txBox="1"/>
          <p:nvPr/>
        </p:nvSpPr>
        <p:spPr>
          <a:xfrm>
            <a:off x="7776210" y="3642360"/>
            <a:ext cx="2401748"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SDM thresholds 50, 100, 200</a:t>
            </a:r>
          </a:p>
        </p:txBody>
      </p:sp>
      <p:sp>
        <p:nvSpPr>
          <p:cNvPr id="43" name="TextBox 43"/>
          <p:cNvSpPr txBox="1"/>
          <p:nvPr/>
        </p:nvSpPr>
        <p:spPr>
          <a:xfrm>
            <a:off x="7776210" y="3870960"/>
            <a:ext cx="3483102"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4 effort proxies × 3 missing-data rules</a:t>
            </a:r>
          </a:p>
        </p:txBody>
      </p:sp>
      <p:sp>
        <p:nvSpPr>
          <p:cNvPr id="44" name="TextBox 44"/>
          <p:cNvSpPr txBox="1"/>
          <p:nvPr/>
        </p:nvSpPr>
        <p:spPr>
          <a:xfrm>
            <a:off x="7776210" y="4099560"/>
            <a:ext cx="3178150"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Effort 1.25–1.52; warming 1.35–1.37</a:t>
            </a:r>
          </a:p>
        </p:txBody>
      </p:sp>
      <p:sp>
        <p:nvSpPr>
          <p:cNvPr id="45" name="Rectangle 45"/>
          <p:cNvSpPr/>
          <p:nvPr/>
        </p:nvSpPr>
        <p:spPr>
          <a:xfrm>
            <a:off x="7600950" y="4857750"/>
            <a:ext cx="4076700" cy="1581150"/>
          </a:xfrm>
          <a:prstGeom prst="roundRect">
            <a:avLst>
              <a:gd name="adj" fmla="val 6024"/>
            </a:avLst>
          </a:prstGeom>
          <a:solidFill>
            <a:srgbClr val="FFFFFF"/>
          </a:solidFill>
          <a:ln w="15240">
            <a:solidFill>
              <a:srgbClr val="D1552C"/>
            </a:solidFill>
          </a:ln>
        </p:spPr>
      </p:sp>
      <p:grpSp>
        <p:nvGrpSpPr>
          <p:cNvPr id="48" name="Group 48"/>
          <p:cNvGrpSpPr/>
          <p:nvPr/>
        </p:nvGrpSpPr>
        <p:grpSpPr>
          <a:xfrm>
            <a:off x="7789069" y="5035748"/>
            <a:ext cx="214312" cy="223546"/>
            <a:chOff x="7789069" y="5035748"/>
            <a:chExt cx="214312" cy="223546"/>
          </a:xfrm>
        </p:grpSpPr>
        <p:sp>
          <p:nvSpPr>
            <p:cNvPr id="46" name="Freeform 46"/>
            <p:cNvSpPr/>
            <p:nvPr/>
          </p:nvSpPr>
          <p:spPr>
            <a:xfrm>
              <a:off x="7797998" y="5044678"/>
              <a:ext cx="196453" cy="205517"/>
            </a:xfrm>
            <a:custGeom>
              <a:avLst/>
              <a:gdLst/>
              <a:ahLst/>
              <a:cxnLst/>
              <a:rect l="l" t="t" r="r" b="b"/>
              <a:pathLst>
                <a:path w="196453" h="205517">
                  <a:moveTo>
                    <a:pt x="196453" y="8930"/>
                  </a:moveTo>
                  <a:lnTo>
                    <a:pt x="196453" y="74529"/>
                  </a:lnTo>
                  <a:cubicBezTo>
                    <a:pt x="196453" y="168492"/>
                    <a:pt x="116856" y="199623"/>
                    <a:pt x="100972" y="204903"/>
                  </a:cubicBezTo>
                  <a:cubicBezTo>
                    <a:pt x="99193" y="205517"/>
                    <a:pt x="97260" y="205517"/>
                    <a:pt x="95481" y="204903"/>
                  </a:cubicBezTo>
                  <a:cubicBezTo>
                    <a:pt x="79597" y="199645"/>
                    <a:pt x="0" y="168548"/>
                    <a:pt x="0" y="74552"/>
                  </a:cubicBezTo>
                  <a:lnTo>
                    <a:pt x="0" y="8930"/>
                  </a:lnTo>
                  <a:cubicBezTo>
                    <a:pt x="0" y="3998"/>
                    <a:pt x="3998" y="0"/>
                    <a:pt x="8930" y="0"/>
                  </a:cubicBezTo>
                  <a:lnTo>
                    <a:pt x="187523" y="0"/>
                  </a:lnTo>
                  <a:cubicBezTo>
                    <a:pt x="192455" y="0"/>
                    <a:pt x="196453" y="3998"/>
                    <a:pt x="196453" y="8930"/>
                  </a:cubicBezTo>
                  <a:close/>
                </a:path>
              </a:pathLst>
            </a:custGeom>
            <a:solidFill>
              <a:srgbClr val="D1552C">
                <a:alpha val="20000"/>
              </a:srgbClr>
            </a:solidFill>
            <a:ln>
              <a:noFill/>
            </a:ln>
          </p:spPr>
        </p:sp>
        <p:sp>
          <p:nvSpPr>
            <p:cNvPr id="47" name="Freeform 47"/>
            <p:cNvSpPr/>
            <p:nvPr/>
          </p:nvSpPr>
          <p:spPr>
            <a:xfrm>
              <a:off x="7789069" y="5035748"/>
              <a:ext cx="214312" cy="223546"/>
            </a:xfrm>
            <a:custGeom>
              <a:avLst/>
              <a:gdLst/>
              <a:ahLst/>
              <a:cxnLst/>
              <a:rect l="l" t="t" r="r" b="b"/>
              <a:pathLst>
                <a:path w="214312" h="223546">
                  <a:moveTo>
                    <a:pt x="196453" y="0"/>
                  </a:moveTo>
                  <a:lnTo>
                    <a:pt x="17859" y="0"/>
                  </a:lnTo>
                  <a:cubicBezTo>
                    <a:pt x="7996" y="0"/>
                    <a:pt x="0" y="7996"/>
                    <a:pt x="0" y="17859"/>
                  </a:cubicBezTo>
                  <a:lnTo>
                    <a:pt x="0" y="83470"/>
                  </a:lnTo>
                  <a:cubicBezTo>
                    <a:pt x="0" y="183494"/>
                    <a:pt x="84631" y="216679"/>
                    <a:pt x="101575" y="222316"/>
                  </a:cubicBezTo>
                  <a:cubicBezTo>
                    <a:pt x="105194" y="223546"/>
                    <a:pt x="109118" y="223546"/>
                    <a:pt x="112737" y="222316"/>
                  </a:cubicBezTo>
                  <a:cubicBezTo>
                    <a:pt x="129704" y="216679"/>
                    <a:pt x="214312" y="183494"/>
                    <a:pt x="214312" y="83470"/>
                  </a:cubicBezTo>
                  <a:lnTo>
                    <a:pt x="214312" y="17859"/>
                  </a:lnTo>
                  <a:cubicBezTo>
                    <a:pt x="214312" y="7996"/>
                    <a:pt x="206317" y="0"/>
                    <a:pt x="196453" y="0"/>
                  </a:cubicBezTo>
                  <a:close/>
                  <a:moveTo>
                    <a:pt x="196453" y="83481"/>
                  </a:moveTo>
                  <a:cubicBezTo>
                    <a:pt x="196453" y="171015"/>
                    <a:pt x="122393" y="200259"/>
                    <a:pt x="107156" y="205349"/>
                  </a:cubicBezTo>
                  <a:cubicBezTo>
                    <a:pt x="92054" y="200315"/>
                    <a:pt x="17859" y="171093"/>
                    <a:pt x="17859" y="83481"/>
                  </a:cubicBezTo>
                  <a:lnTo>
                    <a:pt x="17859" y="17859"/>
                  </a:lnTo>
                  <a:lnTo>
                    <a:pt x="196453" y="17859"/>
                  </a:lnTo>
                  <a:close/>
                  <a:moveTo>
                    <a:pt x="56190" y="113474"/>
                  </a:moveTo>
                  <a:cubicBezTo>
                    <a:pt x="52701" y="109985"/>
                    <a:pt x="52701" y="104328"/>
                    <a:pt x="56190" y="100838"/>
                  </a:cubicBezTo>
                  <a:cubicBezTo>
                    <a:pt x="59679" y="97349"/>
                    <a:pt x="65336" y="97349"/>
                    <a:pt x="68826" y="100838"/>
                  </a:cubicBezTo>
                  <a:lnTo>
                    <a:pt x="89297" y="121310"/>
                  </a:lnTo>
                  <a:lnTo>
                    <a:pt x="145487" y="65120"/>
                  </a:lnTo>
                  <a:cubicBezTo>
                    <a:pt x="148976" y="61631"/>
                    <a:pt x="154633" y="61631"/>
                    <a:pt x="158122" y="65120"/>
                  </a:cubicBezTo>
                  <a:cubicBezTo>
                    <a:pt x="161612" y="68609"/>
                    <a:pt x="161612" y="74266"/>
                    <a:pt x="158122" y="77755"/>
                  </a:cubicBezTo>
                  <a:lnTo>
                    <a:pt x="95615" y="140263"/>
                  </a:lnTo>
                  <a:cubicBezTo>
                    <a:pt x="93940" y="141940"/>
                    <a:pt x="91667" y="142882"/>
                    <a:pt x="89297" y="142882"/>
                  </a:cubicBezTo>
                  <a:cubicBezTo>
                    <a:pt x="86927" y="142882"/>
                    <a:pt x="84654" y="141940"/>
                    <a:pt x="82979" y="140263"/>
                  </a:cubicBezTo>
                  <a:close/>
                </a:path>
              </a:pathLst>
            </a:custGeom>
            <a:solidFill>
              <a:srgbClr val="D1552C"/>
            </a:solidFill>
            <a:ln>
              <a:noFill/>
            </a:ln>
          </p:spPr>
        </p:sp>
      </p:grpSp>
      <p:sp>
        <p:nvSpPr>
          <p:cNvPr id="49" name="TextBox 49"/>
          <p:cNvSpPr txBox="1"/>
          <p:nvPr/>
        </p:nvSpPr>
        <p:spPr>
          <a:xfrm>
            <a:off x="8117205" y="5054918"/>
            <a:ext cx="2441942" cy="274320"/>
          </a:xfrm>
          <a:prstGeom prst="rect">
            <a:avLst/>
          </a:prstGeom>
          <a:noFill/>
          <a:ln>
            <a:noFill/>
          </a:ln>
        </p:spPr>
        <p:txBody>
          <a:bodyPr wrap="none" lIns="0" tIns="0" rIns="0" bIns="0" anchor="t" anchorCtr="0">
            <a:spAutoFit/>
          </a:bodyPr>
          <a:lstStyle/>
          <a:p>
            <a:pPr algn="l"/>
            <a:r>
              <a:rPr lang="zh-CN" sz="1350" b="1" dirty="0">
                <a:solidFill>
                  <a:srgbClr val="D1552C"/>
                </a:solidFill>
                <a:latin typeface="Arial"/>
                <a:ea typeface="Microsoft YaHei"/>
                <a:cs typeface="Arial"/>
              </a:rPr>
              <a:t>Design-preserving nulls</a:t>
            </a:r>
          </a:p>
        </p:txBody>
      </p:sp>
      <p:sp>
        <p:nvSpPr>
          <p:cNvPr id="50" name="TextBox 50"/>
          <p:cNvSpPr txBox="1"/>
          <p:nvPr/>
        </p:nvSpPr>
        <p:spPr>
          <a:xfrm>
            <a:off x="7776210" y="5375910"/>
            <a:ext cx="2973095"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Warming null 1.16: increment ×1.18</a:t>
            </a:r>
          </a:p>
        </p:txBody>
      </p:sp>
      <p:sp>
        <p:nvSpPr>
          <p:cNvPr id="51" name="TextBox 51"/>
          <p:cNvSpPr txBox="1"/>
          <p:nvPr/>
        </p:nvSpPr>
        <p:spPr>
          <a:xfrm>
            <a:off x="7776210" y="5604510"/>
            <a:ext cx="2401748"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Shuffled effort timing: 0.98</a:t>
            </a:r>
          </a:p>
        </p:txBody>
      </p:sp>
      <p:sp>
        <p:nvSpPr>
          <p:cNvPr id="52" name="TextBox 52"/>
          <p:cNvSpPr txBox="1"/>
          <p:nvPr/>
        </p:nvSpPr>
        <p:spPr>
          <a:xfrm>
            <a:off x="7776210" y="5833110"/>
            <a:ext cx="3204439"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Province bootstrap: lower bounds &gt; 1</a:t>
            </a:r>
          </a:p>
        </p:txBody>
      </p:sp>
      <p:sp>
        <p:nvSpPr>
          <p:cNvPr id="53" name="TextBox 53"/>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54" name="TextBox 54"/>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09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Rectangle 10"/>
          <p:cNvSpPr/>
          <p:nvPr/>
        </p:nvSpPr>
        <p:spPr>
          <a:xfrm>
            <a:off x="8382000" y="0"/>
            <a:ext cx="1866900" cy="609600"/>
          </a:xfrm>
          <a:prstGeom prst="rect">
            <a:avLst/>
          </a:prstGeom>
          <a:solidFill>
            <a:srgbClr val="FFFFFF"/>
          </a:solidFill>
          <a:ln>
            <a:noFill/>
          </a:ln>
        </p:spPr>
      </p:sp>
      <p:sp>
        <p:nvSpPr>
          <p:cNvPr id="11" name="TextBox 11"/>
          <p:cNvSpPr txBox="1"/>
          <p:nvPr/>
        </p:nvSpPr>
        <p:spPr>
          <a:xfrm>
            <a:off x="84201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275486"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Finding 2</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7348370"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Survey pulses are the largest source of variation in the hazard</a:t>
            </a:r>
          </a:p>
        </p:txBody>
      </p:sp>
      <p:sp>
        <p:nvSpPr>
          <p:cNvPr id="17" name="Rectangle 17"/>
          <p:cNvSpPr/>
          <p:nvPr/>
        </p:nvSpPr>
        <p:spPr>
          <a:xfrm>
            <a:off x="1044892" y="1390650"/>
            <a:ext cx="4425315" cy="3829050"/>
          </a:xfrm>
          <a:prstGeom prst="roundRect">
            <a:avLst>
              <a:gd name="adj" fmla="val 2488"/>
            </a:avLst>
          </a:prstGeom>
          <a:solidFill>
            <a:srgbClr val="FFFFFF"/>
          </a:solidFill>
          <a:ln w="14288">
            <a:solidFill>
              <a:srgbClr val="D9C7CA"/>
            </a:solidFill>
          </a:ln>
        </p:spPr>
      </p:sp>
      <p:pic>
        <p:nvPicPr>
          <p:cNvPr id="18" name="Image 18"/>
          <p:cNvPicPr>
            <a:picLocks noChangeAspect="1"/>
          </p:cNvPicPr>
          <p:nvPr/>
        </p:nvPicPr>
        <p:blipFill>
          <a:blip r:embed="rId3"/>
          <a:stretch>
            <a:fillRect/>
          </a:stretch>
        </p:blipFill>
        <p:spPr>
          <a:xfrm>
            <a:off x="1140142" y="1485900"/>
            <a:ext cx="4234815" cy="3352800"/>
          </a:xfrm>
          <a:prstGeom prst="rect">
            <a:avLst/>
          </a:prstGeom>
        </p:spPr>
      </p:pic>
      <p:grpSp>
        <p:nvGrpSpPr>
          <p:cNvPr id="21" name="Group 21"/>
          <p:cNvGrpSpPr/>
          <p:nvPr/>
        </p:nvGrpSpPr>
        <p:grpSpPr>
          <a:xfrm>
            <a:off x="1164878" y="4924627"/>
            <a:ext cx="197518" cy="145325"/>
            <a:chOff x="1164878" y="4924627"/>
            <a:chExt cx="197518" cy="145325"/>
          </a:xfrm>
        </p:grpSpPr>
        <p:sp>
          <p:nvSpPr>
            <p:cNvPr id="19" name="Freeform 19"/>
            <p:cNvSpPr/>
            <p:nvPr/>
          </p:nvSpPr>
          <p:spPr>
            <a:xfrm>
              <a:off x="1185386" y="4932164"/>
              <a:ext cx="157162" cy="104775"/>
            </a:xfrm>
            <a:custGeom>
              <a:avLst/>
              <a:gdLst/>
              <a:ahLst/>
              <a:cxnLst/>
              <a:rect l="l" t="t" r="r" b="b"/>
              <a:pathLst>
                <a:path w="157162" h="104775">
                  <a:moveTo>
                    <a:pt x="111323" y="72033"/>
                  </a:moveTo>
                  <a:cubicBezTo>
                    <a:pt x="111323" y="90116"/>
                    <a:pt x="96664" y="104775"/>
                    <a:pt x="78581" y="104775"/>
                  </a:cubicBezTo>
                  <a:cubicBezTo>
                    <a:pt x="60498" y="104775"/>
                    <a:pt x="45839" y="90116"/>
                    <a:pt x="45839" y="72033"/>
                  </a:cubicBezTo>
                  <a:cubicBezTo>
                    <a:pt x="45839" y="53950"/>
                    <a:pt x="60498" y="39291"/>
                    <a:pt x="78581" y="39291"/>
                  </a:cubicBezTo>
                  <a:cubicBezTo>
                    <a:pt x="96664" y="39291"/>
                    <a:pt x="111323" y="53950"/>
                    <a:pt x="111323" y="72033"/>
                  </a:cubicBezTo>
                  <a:close/>
                  <a:moveTo>
                    <a:pt x="26194" y="0"/>
                  </a:moveTo>
                  <a:cubicBezTo>
                    <a:pt x="11727" y="0"/>
                    <a:pt x="0" y="11727"/>
                    <a:pt x="0" y="26194"/>
                  </a:cubicBezTo>
                  <a:cubicBezTo>
                    <a:pt x="0" y="40660"/>
                    <a:pt x="11727" y="52388"/>
                    <a:pt x="26194" y="52388"/>
                  </a:cubicBezTo>
                  <a:cubicBezTo>
                    <a:pt x="40660" y="52388"/>
                    <a:pt x="52387" y="40660"/>
                    <a:pt x="52387" y="26194"/>
                  </a:cubicBezTo>
                  <a:cubicBezTo>
                    <a:pt x="52387" y="11727"/>
                    <a:pt x="40660" y="0"/>
                    <a:pt x="26194" y="0"/>
                  </a:cubicBezTo>
                  <a:close/>
                  <a:moveTo>
                    <a:pt x="130969" y="0"/>
                  </a:moveTo>
                  <a:cubicBezTo>
                    <a:pt x="116502" y="0"/>
                    <a:pt x="104775" y="11727"/>
                    <a:pt x="104775" y="26194"/>
                  </a:cubicBezTo>
                  <a:cubicBezTo>
                    <a:pt x="104775" y="40660"/>
                    <a:pt x="116502" y="52388"/>
                    <a:pt x="130969" y="52388"/>
                  </a:cubicBezTo>
                  <a:cubicBezTo>
                    <a:pt x="145435" y="52388"/>
                    <a:pt x="157162" y="40660"/>
                    <a:pt x="157162" y="26194"/>
                  </a:cubicBezTo>
                  <a:cubicBezTo>
                    <a:pt x="157162" y="11727"/>
                    <a:pt x="145435" y="0"/>
                    <a:pt x="130969" y="0"/>
                  </a:cubicBezTo>
                  <a:close/>
                </a:path>
              </a:pathLst>
            </a:custGeom>
            <a:solidFill>
              <a:srgbClr val="2A9D8F">
                <a:alpha val="20000"/>
              </a:srgbClr>
            </a:solidFill>
            <a:ln>
              <a:noFill/>
            </a:ln>
          </p:spPr>
        </p:sp>
        <p:sp>
          <p:nvSpPr>
            <p:cNvPr id="20" name="Freeform 20"/>
            <p:cNvSpPr/>
            <p:nvPr/>
          </p:nvSpPr>
          <p:spPr>
            <a:xfrm>
              <a:off x="1164878" y="4924627"/>
              <a:ext cx="197518" cy="145325"/>
            </a:xfrm>
            <a:custGeom>
              <a:avLst/>
              <a:gdLst/>
              <a:ahLst/>
              <a:cxnLst/>
              <a:rect l="l" t="t" r="r" b="b"/>
              <a:pathLst>
                <a:path w="197518" h="145325">
                  <a:moveTo>
                    <a:pt x="194696" y="84808"/>
                  </a:moveTo>
                  <a:cubicBezTo>
                    <a:pt x="191803" y="86978"/>
                    <a:pt x="187698" y="86392"/>
                    <a:pt x="185528" y="83499"/>
                  </a:cubicBezTo>
                  <a:cubicBezTo>
                    <a:pt x="177524" y="72740"/>
                    <a:pt x="164886" y="66421"/>
                    <a:pt x="151477" y="66473"/>
                  </a:cubicBezTo>
                  <a:cubicBezTo>
                    <a:pt x="147860" y="66473"/>
                    <a:pt x="144928" y="63541"/>
                    <a:pt x="144928" y="59924"/>
                  </a:cubicBezTo>
                  <a:cubicBezTo>
                    <a:pt x="144928" y="56308"/>
                    <a:pt x="147860" y="53376"/>
                    <a:pt x="151477" y="53376"/>
                  </a:cubicBezTo>
                  <a:cubicBezTo>
                    <a:pt x="161685" y="53375"/>
                    <a:pt x="170192" y="45555"/>
                    <a:pt x="171051" y="35382"/>
                  </a:cubicBezTo>
                  <a:cubicBezTo>
                    <a:pt x="171909" y="25209"/>
                    <a:pt x="164832" y="16075"/>
                    <a:pt x="154768" y="14363"/>
                  </a:cubicBezTo>
                  <a:cubicBezTo>
                    <a:pt x="144704" y="12652"/>
                    <a:pt x="135006" y="18935"/>
                    <a:pt x="132453" y="28819"/>
                  </a:cubicBezTo>
                  <a:cubicBezTo>
                    <a:pt x="131549" y="32323"/>
                    <a:pt x="127976" y="34430"/>
                    <a:pt x="124472" y="33526"/>
                  </a:cubicBezTo>
                  <a:cubicBezTo>
                    <a:pt x="120969" y="32622"/>
                    <a:pt x="118862" y="29049"/>
                    <a:pt x="119766" y="25545"/>
                  </a:cubicBezTo>
                  <a:cubicBezTo>
                    <a:pt x="123263" y="12013"/>
                    <a:pt x="134964" y="2193"/>
                    <a:pt x="148898" y="1096"/>
                  </a:cubicBezTo>
                  <a:cubicBezTo>
                    <a:pt x="162832" y="0"/>
                    <a:pt x="175925" y="7869"/>
                    <a:pt x="181496" y="20688"/>
                  </a:cubicBezTo>
                  <a:cubicBezTo>
                    <a:pt x="187066" y="33506"/>
                    <a:pt x="183886" y="48448"/>
                    <a:pt x="173578" y="57886"/>
                  </a:cubicBezTo>
                  <a:cubicBezTo>
                    <a:pt x="182482" y="61742"/>
                    <a:pt x="190223" y="67860"/>
                    <a:pt x="196031" y="75632"/>
                  </a:cubicBezTo>
                  <a:cubicBezTo>
                    <a:pt x="197073" y="77025"/>
                    <a:pt x="197518" y="78776"/>
                    <a:pt x="197267" y="80497"/>
                  </a:cubicBezTo>
                  <a:cubicBezTo>
                    <a:pt x="197017" y="82219"/>
                    <a:pt x="196092" y="83770"/>
                    <a:pt x="194696" y="84808"/>
                  </a:cubicBezTo>
                  <a:close/>
                  <a:moveTo>
                    <a:pt x="150593" y="135231"/>
                  </a:moveTo>
                  <a:cubicBezTo>
                    <a:pt x="151837" y="137261"/>
                    <a:pt x="151882" y="139806"/>
                    <a:pt x="150711" y="141878"/>
                  </a:cubicBezTo>
                  <a:cubicBezTo>
                    <a:pt x="149539" y="143950"/>
                    <a:pt x="147335" y="145224"/>
                    <a:pt x="144954" y="145203"/>
                  </a:cubicBezTo>
                  <a:cubicBezTo>
                    <a:pt x="142574" y="145183"/>
                    <a:pt x="140392" y="143872"/>
                    <a:pt x="139256" y="141780"/>
                  </a:cubicBezTo>
                  <a:cubicBezTo>
                    <a:pt x="130862" y="127572"/>
                    <a:pt x="115587" y="118855"/>
                    <a:pt x="99085" y="118855"/>
                  </a:cubicBezTo>
                  <a:cubicBezTo>
                    <a:pt x="82583" y="118855"/>
                    <a:pt x="67308" y="127572"/>
                    <a:pt x="58914" y="141780"/>
                  </a:cubicBezTo>
                  <a:cubicBezTo>
                    <a:pt x="57799" y="143911"/>
                    <a:pt x="55606" y="145260"/>
                    <a:pt x="53201" y="145292"/>
                  </a:cubicBezTo>
                  <a:cubicBezTo>
                    <a:pt x="50795" y="145325"/>
                    <a:pt x="48566" y="144036"/>
                    <a:pt x="47394" y="141936"/>
                  </a:cubicBezTo>
                  <a:cubicBezTo>
                    <a:pt x="46222" y="139835"/>
                    <a:pt x="46295" y="137261"/>
                    <a:pt x="47586" y="135231"/>
                  </a:cubicBezTo>
                  <a:cubicBezTo>
                    <a:pt x="53934" y="124323"/>
                    <a:pt x="63615" y="115739"/>
                    <a:pt x="75204" y="110740"/>
                  </a:cubicBezTo>
                  <a:cubicBezTo>
                    <a:pt x="61833" y="100503"/>
                    <a:pt x="56472" y="82883"/>
                    <a:pt x="61877" y="66934"/>
                  </a:cubicBezTo>
                  <a:cubicBezTo>
                    <a:pt x="67281" y="50984"/>
                    <a:pt x="82249" y="40253"/>
                    <a:pt x="99089" y="40253"/>
                  </a:cubicBezTo>
                  <a:cubicBezTo>
                    <a:pt x="115929" y="40253"/>
                    <a:pt x="130897" y="50984"/>
                    <a:pt x="136301" y="66934"/>
                  </a:cubicBezTo>
                  <a:cubicBezTo>
                    <a:pt x="141706" y="82883"/>
                    <a:pt x="136346" y="100503"/>
                    <a:pt x="122975" y="110740"/>
                  </a:cubicBezTo>
                  <a:cubicBezTo>
                    <a:pt x="134564" y="115739"/>
                    <a:pt x="144244" y="124323"/>
                    <a:pt x="150593" y="135231"/>
                  </a:cubicBezTo>
                  <a:close/>
                  <a:moveTo>
                    <a:pt x="99089" y="105763"/>
                  </a:moveTo>
                  <a:cubicBezTo>
                    <a:pt x="113556" y="105763"/>
                    <a:pt x="125283" y="94036"/>
                    <a:pt x="125283" y="79570"/>
                  </a:cubicBezTo>
                  <a:cubicBezTo>
                    <a:pt x="125283" y="65103"/>
                    <a:pt x="113556" y="53376"/>
                    <a:pt x="99089" y="53376"/>
                  </a:cubicBezTo>
                  <a:cubicBezTo>
                    <a:pt x="84623" y="53376"/>
                    <a:pt x="72895" y="65103"/>
                    <a:pt x="72895" y="79570"/>
                  </a:cubicBezTo>
                  <a:cubicBezTo>
                    <a:pt x="72895" y="94036"/>
                    <a:pt x="84623" y="105763"/>
                    <a:pt x="99089" y="105763"/>
                  </a:cubicBezTo>
                  <a:close/>
                  <a:moveTo>
                    <a:pt x="53250" y="59924"/>
                  </a:moveTo>
                  <a:cubicBezTo>
                    <a:pt x="53250" y="56308"/>
                    <a:pt x="50318" y="53376"/>
                    <a:pt x="46702" y="53376"/>
                  </a:cubicBezTo>
                  <a:cubicBezTo>
                    <a:pt x="36493" y="53375"/>
                    <a:pt x="27986" y="45555"/>
                    <a:pt x="27128" y="35382"/>
                  </a:cubicBezTo>
                  <a:cubicBezTo>
                    <a:pt x="26269" y="25209"/>
                    <a:pt x="33346" y="16075"/>
                    <a:pt x="43410" y="14363"/>
                  </a:cubicBezTo>
                  <a:cubicBezTo>
                    <a:pt x="53475" y="12652"/>
                    <a:pt x="63173" y="18935"/>
                    <a:pt x="65725" y="28819"/>
                  </a:cubicBezTo>
                  <a:cubicBezTo>
                    <a:pt x="66629" y="32323"/>
                    <a:pt x="70202" y="34430"/>
                    <a:pt x="73706" y="33526"/>
                  </a:cubicBezTo>
                  <a:cubicBezTo>
                    <a:pt x="77209" y="32622"/>
                    <a:pt x="79317" y="29049"/>
                    <a:pt x="78412" y="25545"/>
                  </a:cubicBezTo>
                  <a:cubicBezTo>
                    <a:pt x="74915" y="12013"/>
                    <a:pt x="63214" y="2193"/>
                    <a:pt x="49280" y="1096"/>
                  </a:cubicBezTo>
                  <a:cubicBezTo>
                    <a:pt x="35347" y="0"/>
                    <a:pt x="22253" y="7869"/>
                    <a:pt x="16683" y="20688"/>
                  </a:cubicBezTo>
                  <a:cubicBezTo>
                    <a:pt x="11112" y="33506"/>
                    <a:pt x="14292" y="48448"/>
                    <a:pt x="24601" y="57886"/>
                  </a:cubicBezTo>
                  <a:cubicBezTo>
                    <a:pt x="15705" y="61745"/>
                    <a:pt x="7973" y="67863"/>
                    <a:pt x="2172" y="75632"/>
                  </a:cubicBezTo>
                  <a:cubicBezTo>
                    <a:pt x="0" y="78526"/>
                    <a:pt x="585" y="82632"/>
                    <a:pt x="3478" y="84804"/>
                  </a:cubicBezTo>
                  <a:cubicBezTo>
                    <a:pt x="6371" y="86977"/>
                    <a:pt x="10477" y="86392"/>
                    <a:pt x="12650" y="83499"/>
                  </a:cubicBezTo>
                  <a:cubicBezTo>
                    <a:pt x="20654" y="72740"/>
                    <a:pt x="33292" y="66421"/>
                    <a:pt x="46702" y="66473"/>
                  </a:cubicBezTo>
                  <a:cubicBezTo>
                    <a:pt x="50318" y="66473"/>
                    <a:pt x="53250" y="63541"/>
                    <a:pt x="53250" y="59924"/>
                  </a:cubicBezTo>
                  <a:close/>
                </a:path>
              </a:pathLst>
            </a:custGeom>
            <a:solidFill>
              <a:srgbClr val="2A9D8F"/>
            </a:solidFill>
            <a:ln>
              <a:noFill/>
            </a:ln>
          </p:spPr>
        </p:sp>
      </p:grpSp>
      <p:sp>
        <p:nvSpPr>
          <p:cNvPr id="22" name="TextBox 22"/>
          <p:cNvSpPr txBox="1"/>
          <p:nvPr/>
        </p:nvSpPr>
        <p:spPr>
          <a:xfrm>
            <a:off x="1432560" y="4942999"/>
            <a:ext cx="2427032"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5c Province × year multipliers</a:t>
            </a:r>
          </a:p>
        </p:txBody>
      </p:sp>
      <p:sp>
        <p:nvSpPr>
          <p:cNvPr id="23" name="Rectangle 23"/>
          <p:cNvSpPr/>
          <p:nvPr/>
        </p:nvSpPr>
        <p:spPr>
          <a:xfrm>
            <a:off x="6472238" y="1390650"/>
            <a:ext cx="4923472" cy="3829050"/>
          </a:xfrm>
          <a:prstGeom prst="roundRect">
            <a:avLst>
              <a:gd name="adj" fmla="val 2488"/>
            </a:avLst>
          </a:prstGeom>
          <a:solidFill>
            <a:srgbClr val="FFFFFF"/>
          </a:solidFill>
          <a:ln w="14288">
            <a:solidFill>
              <a:srgbClr val="D9C7CA"/>
            </a:solidFill>
          </a:ln>
        </p:spPr>
      </p:sp>
      <p:pic>
        <p:nvPicPr>
          <p:cNvPr id="24" name="Image 24"/>
          <p:cNvPicPr>
            <a:picLocks noChangeAspect="1"/>
          </p:cNvPicPr>
          <p:nvPr/>
        </p:nvPicPr>
        <p:blipFill>
          <a:blip r:embed="rId4"/>
          <a:stretch>
            <a:fillRect/>
          </a:stretch>
        </p:blipFill>
        <p:spPr>
          <a:xfrm>
            <a:off x="6567488" y="1485900"/>
            <a:ext cx="4732972" cy="3352800"/>
          </a:xfrm>
          <a:prstGeom prst="rect">
            <a:avLst/>
          </a:prstGeom>
        </p:spPr>
      </p:pic>
      <p:grpSp>
        <p:nvGrpSpPr>
          <p:cNvPr id="27" name="Group 27"/>
          <p:cNvGrpSpPr/>
          <p:nvPr/>
        </p:nvGrpSpPr>
        <p:grpSpPr>
          <a:xfrm>
            <a:off x="6596657" y="4919038"/>
            <a:ext cx="189311" cy="147100"/>
            <a:chOff x="6596657" y="4919038"/>
            <a:chExt cx="189311" cy="147100"/>
          </a:xfrm>
        </p:grpSpPr>
        <p:sp>
          <p:nvSpPr>
            <p:cNvPr id="25" name="Freeform 25"/>
            <p:cNvSpPr/>
            <p:nvPr/>
          </p:nvSpPr>
          <p:spPr>
            <a:xfrm>
              <a:off x="6606183" y="4991100"/>
              <a:ext cx="170259" cy="65484"/>
            </a:xfrm>
            <a:custGeom>
              <a:avLst/>
              <a:gdLst/>
              <a:ahLst/>
              <a:cxnLst/>
              <a:rect l="l" t="t" r="r" b="b"/>
              <a:pathLst>
                <a:path w="170259" h="65484">
                  <a:moveTo>
                    <a:pt x="65484" y="32742"/>
                  </a:moveTo>
                  <a:cubicBezTo>
                    <a:pt x="65484" y="50825"/>
                    <a:pt x="50825" y="65484"/>
                    <a:pt x="32742" y="65484"/>
                  </a:cubicBezTo>
                  <a:cubicBezTo>
                    <a:pt x="14659" y="65484"/>
                    <a:pt x="0" y="50825"/>
                    <a:pt x="0" y="32742"/>
                  </a:cubicBezTo>
                  <a:cubicBezTo>
                    <a:pt x="0" y="14659"/>
                    <a:pt x="14659" y="0"/>
                    <a:pt x="32742" y="0"/>
                  </a:cubicBezTo>
                  <a:cubicBezTo>
                    <a:pt x="50825" y="0"/>
                    <a:pt x="65484" y="14659"/>
                    <a:pt x="65484" y="32742"/>
                  </a:cubicBezTo>
                  <a:close/>
                  <a:moveTo>
                    <a:pt x="137517" y="0"/>
                  </a:moveTo>
                  <a:cubicBezTo>
                    <a:pt x="119434" y="0"/>
                    <a:pt x="104775" y="14659"/>
                    <a:pt x="104775" y="32742"/>
                  </a:cubicBezTo>
                  <a:cubicBezTo>
                    <a:pt x="104775" y="50825"/>
                    <a:pt x="119434" y="65484"/>
                    <a:pt x="137517" y="65484"/>
                  </a:cubicBezTo>
                  <a:cubicBezTo>
                    <a:pt x="155600" y="65484"/>
                    <a:pt x="170259" y="50825"/>
                    <a:pt x="170259" y="32742"/>
                  </a:cubicBezTo>
                  <a:cubicBezTo>
                    <a:pt x="170259" y="14659"/>
                    <a:pt x="155600" y="0"/>
                    <a:pt x="137517" y="0"/>
                  </a:cubicBezTo>
                  <a:close/>
                </a:path>
              </a:pathLst>
            </a:custGeom>
            <a:solidFill>
              <a:srgbClr val="1F5F9E">
                <a:alpha val="20000"/>
              </a:srgbClr>
            </a:solidFill>
            <a:ln>
              <a:noFill/>
            </a:ln>
          </p:spPr>
        </p:sp>
        <p:sp>
          <p:nvSpPr>
            <p:cNvPr id="26" name="Freeform 26"/>
            <p:cNvSpPr/>
            <p:nvPr/>
          </p:nvSpPr>
          <p:spPr>
            <a:xfrm>
              <a:off x="6596657" y="4919038"/>
              <a:ext cx="189311" cy="147100"/>
            </a:xfrm>
            <a:custGeom>
              <a:avLst/>
              <a:gdLst/>
              <a:ahLst/>
              <a:cxnLst/>
              <a:rect l="l" t="t" r="r" b="b"/>
              <a:pathLst>
                <a:path w="189311" h="147100">
                  <a:moveTo>
                    <a:pt x="184042" y="91600"/>
                  </a:moveTo>
                  <a:lnTo>
                    <a:pt x="184042" y="91600"/>
                  </a:lnTo>
                  <a:cubicBezTo>
                    <a:pt x="183495" y="90074"/>
                    <a:pt x="182852" y="88584"/>
                    <a:pt x="182118" y="87139"/>
                  </a:cubicBezTo>
                  <a:lnTo>
                    <a:pt x="148074" y="9688"/>
                  </a:lnTo>
                  <a:cubicBezTo>
                    <a:pt x="147752" y="8942"/>
                    <a:pt x="147291" y="8264"/>
                    <a:pt x="146715" y="7690"/>
                  </a:cubicBezTo>
                  <a:cubicBezTo>
                    <a:pt x="141803" y="2777"/>
                    <a:pt x="135140" y="16"/>
                    <a:pt x="128192" y="16"/>
                  </a:cubicBezTo>
                  <a:cubicBezTo>
                    <a:pt x="121243" y="16"/>
                    <a:pt x="114580" y="2777"/>
                    <a:pt x="109668" y="7690"/>
                  </a:cubicBezTo>
                  <a:cubicBezTo>
                    <a:pt x="108444" y="8916"/>
                    <a:pt x="107755" y="10576"/>
                    <a:pt x="107752" y="12307"/>
                  </a:cubicBezTo>
                  <a:lnTo>
                    <a:pt x="107752" y="32771"/>
                  </a:lnTo>
                  <a:lnTo>
                    <a:pt x="81558" y="32771"/>
                  </a:lnTo>
                  <a:lnTo>
                    <a:pt x="81558" y="12307"/>
                  </a:lnTo>
                  <a:cubicBezTo>
                    <a:pt x="81560" y="10570"/>
                    <a:pt x="80871" y="8903"/>
                    <a:pt x="79643" y="7674"/>
                  </a:cubicBezTo>
                  <a:cubicBezTo>
                    <a:pt x="74731" y="2761"/>
                    <a:pt x="68067" y="0"/>
                    <a:pt x="61119" y="0"/>
                  </a:cubicBezTo>
                  <a:cubicBezTo>
                    <a:pt x="54171" y="0"/>
                    <a:pt x="47508" y="2761"/>
                    <a:pt x="42595" y="7674"/>
                  </a:cubicBezTo>
                  <a:cubicBezTo>
                    <a:pt x="42020" y="8248"/>
                    <a:pt x="41559" y="8925"/>
                    <a:pt x="41236" y="9671"/>
                  </a:cubicBezTo>
                  <a:lnTo>
                    <a:pt x="7193" y="87123"/>
                  </a:lnTo>
                  <a:cubicBezTo>
                    <a:pt x="6458" y="88568"/>
                    <a:pt x="5816" y="90058"/>
                    <a:pt x="5269" y="91584"/>
                  </a:cubicBezTo>
                  <a:lnTo>
                    <a:pt x="5269" y="91584"/>
                  </a:lnTo>
                  <a:cubicBezTo>
                    <a:pt x="0" y="106327"/>
                    <a:pt x="3987" y="122792"/>
                    <a:pt x="15417" y="133491"/>
                  </a:cubicBezTo>
                  <a:cubicBezTo>
                    <a:pt x="26847" y="144191"/>
                    <a:pt x="43538" y="147083"/>
                    <a:pt x="57902" y="140853"/>
                  </a:cubicBezTo>
                  <a:cubicBezTo>
                    <a:pt x="72266" y="134623"/>
                    <a:pt x="81560" y="120460"/>
                    <a:pt x="81558" y="104804"/>
                  </a:cubicBezTo>
                  <a:lnTo>
                    <a:pt x="81558" y="45868"/>
                  </a:lnTo>
                  <a:lnTo>
                    <a:pt x="107752" y="45868"/>
                  </a:lnTo>
                  <a:lnTo>
                    <a:pt x="107752" y="104804"/>
                  </a:lnTo>
                  <a:cubicBezTo>
                    <a:pt x="107744" y="120462"/>
                    <a:pt x="117035" y="134631"/>
                    <a:pt x="131399" y="140865"/>
                  </a:cubicBezTo>
                  <a:cubicBezTo>
                    <a:pt x="145762" y="147100"/>
                    <a:pt x="162457" y="144211"/>
                    <a:pt x="173890" y="133511"/>
                  </a:cubicBezTo>
                  <a:cubicBezTo>
                    <a:pt x="185323" y="122812"/>
                    <a:pt x="189311" y="106346"/>
                    <a:pt x="184042" y="91600"/>
                  </a:cubicBezTo>
                  <a:close/>
                  <a:moveTo>
                    <a:pt x="52672" y="16195"/>
                  </a:moveTo>
                  <a:cubicBezTo>
                    <a:pt x="57158" y="12418"/>
                    <a:pt x="63609" y="12083"/>
                    <a:pt x="68462" y="15377"/>
                  </a:cubicBezTo>
                  <a:lnTo>
                    <a:pt x="68462" y="75549"/>
                  </a:lnTo>
                  <a:cubicBezTo>
                    <a:pt x="58056" y="66206"/>
                    <a:pt x="43463" y="63111"/>
                    <a:pt x="30161" y="67429"/>
                  </a:cubicBezTo>
                  <a:close/>
                  <a:moveTo>
                    <a:pt x="42268" y="130998"/>
                  </a:moveTo>
                  <a:cubicBezTo>
                    <a:pt x="27801" y="130998"/>
                    <a:pt x="16074" y="119270"/>
                    <a:pt x="16074" y="104804"/>
                  </a:cubicBezTo>
                  <a:cubicBezTo>
                    <a:pt x="16074" y="90337"/>
                    <a:pt x="27801" y="78610"/>
                    <a:pt x="42268" y="78610"/>
                  </a:cubicBezTo>
                  <a:cubicBezTo>
                    <a:pt x="56734" y="78610"/>
                    <a:pt x="68462" y="90337"/>
                    <a:pt x="68462" y="104804"/>
                  </a:cubicBezTo>
                  <a:cubicBezTo>
                    <a:pt x="68462" y="119270"/>
                    <a:pt x="56734" y="130998"/>
                    <a:pt x="42268" y="130998"/>
                  </a:cubicBezTo>
                  <a:close/>
                  <a:moveTo>
                    <a:pt x="120849" y="15369"/>
                  </a:moveTo>
                  <a:cubicBezTo>
                    <a:pt x="125702" y="12075"/>
                    <a:pt x="132153" y="12410"/>
                    <a:pt x="136639" y="16187"/>
                  </a:cubicBezTo>
                  <a:lnTo>
                    <a:pt x="159149" y="67412"/>
                  </a:lnTo>
                  <a:cubicBezTo>
                    <a:pt x="145847" y="63097"/>
                    <a:pt x="131253" y="66194"/>
                    <a:pt x="120849" y="75540"/>
                  </a:cubicBezTo>
                  <a:close/>
                  <a:moveTo>
                    <a:pt x="147043" y="130998"/>
                  </a:moveTo>
                  <a:cubicBezTo>
                    <a:pt x="132576" y="130998"/>
                    <a:pt x="120849" y="119270"/>
                    <a:pt x="120849" y="104804"/>
                  </a:cubicBezTo>
                  <a:cubicBezTo>
                    <a:pt x="120849" y="90337"/>
                    <a:pt x="132576" y="78610"/>
                    <a:pt x="147043" y="78610"/>
                  </a:cubicBezTo>
                  <a:cubicBezTo>
                    <a:pt x="161509" y="78610"/>
                    <a:pt x="173237" y="90337"/>
                    <a:pt x="173237" y="104804"/>
                  </a:cubicBezTo>
                  <a:cubicBezTo>
                    <a:pt x="173237" y="119270"/>
                    <a:pt x="161509" y="130998"/>
                    <a:pt x="147043" y="130998"/>
                  </a:cubicBezTo>
                  <a:close/>
                </a:path>
              </a:pathLst>
            </a:custGeom>
            <a:solidFill>
              <a:srgbClr val="1F5F9E"/>
            </a:solidFill>
            <a:ln>
              <a:noFill/>
            </a:ln>
          </p:spPr>
        </p:sp>
      </p:grpSp>
      <p:grpSp>
        <p:nvGrpSpPr>
          <p:cNvPr id="30" name="Group 30"/>
          <p:cNvGrpSpPr/>
          <p:nvPr/>
        </p:nvGrpSpPr>
        <p:grpSpPr>
          <a:xfrm>
            <a:off x="6874618" y="4892873"/>
            <a:ext cx="163207" cy="200545"/>
            <a:chOff x="6874618" y="4892873"/>
            <a:chExt cx="163207" cy="200545"/>
          </a:xfrm>
        </p:grpSpPr>
        <p:sp>
          <p:nvSpPr>
            <p:cNvPr id="28" name="Freeform 28"/>
            <p:cNvSpPr/>
            <p:nvPr/>
          </p:nvSpPr>
          <p:spPr>
            <a:xfrm>
              <a:off x="6882681" y="4899422"/>
              <a:ext cx="99466" cy="183321"/>
            </a:xfrm>
            <a:custGeom>
              <a:avLst/>
              <a:gdLst/>
              <a:ahLst/>
              <a:cxnLst/>
              <a:rect l="l" t="t" r="r" b="b"/>
              <a:pathLst>
                <a:path w="99466" h="183321">
                  <a:moveTo>
                    <a:pt x="75927" y="99864"/>
                  </a:moveTo>
                  <a:lnTo>
                    <a:pt x="75927" y="26194"/>
                  </a:lnTo>
                  <a:cubicBezTo>
                    <a:pt x="75927" y="11727"/>
                    <a:pt x="64200" y="0"/>
                    <a:pt x="49733" y="0"/>
                  </a:cubicBezTo>
                  <a:cubicBezTo>
                    <a:pt x="35267" y="0"/>
                    <a:pt x="23539" y="11727"/>
                    <a:pt x="23539" y="26194"/>
                  </a:cubicBezTo>
                  <a:lnTo>
                    <a:pt x="23539" y="99864"/>
                  </a:lnTo>
                  <a:cubicBezTo>
                    <a:pt x="7103" y="111308"/>
                    <a:pt x="0" y="132099"/>
                    <a:pt x="5998" y="151208"/>
                  </a:cubicBezTo>
                  <a:cubicBezTo>
                    <a:pt x="11995" y="170318"/>
                    <a:pt x="29705" y="183321"/>
                    <a:pt x="49733" y="183321"/>
                  </a:cubicBezTo>
                  <a:cubicBezTo>
                    <a:pt x="69761" y="183321"/>
                    <a:pt x="87471" y="170318"/>
                    <a:pt x="93469" y="151208"/>
                  </a:cubicBezTo>
                  <a:cubicBezTo>
                    <a:pt x="99466" y="132099"/>
                    <a:pt x="92363" y="111308"/>
                    <a:pt x="75927" y="99864"/>
                  </a:cubicBezTo>
                  <a:close/>
                  <a:moveTo>
                    <a:pt x="49733" y="157162"/>
                  </a:moveTo>
                  <a:cubicBezTo>
                    <a:pt x="38883" y="157162"/>
                    <a:pt x="30088" y="148367"/>
                    <a:pt x="30088" y="137517"/>
                  </a:cubicBezTo>
                  <a:cubicBezTo>
                    <a:pt x="30088" y="126667"/>
                    <a:pt x="38883" y="117872"/>
                    <a:pt x="49733" y="117872"/>
                  </a:cubicBezTo>
                  <a:cubicBezTo>
                    <a:pt x="60583" y="117872"/>
                    <a:pt x="69378" y="126667"/>
                    <a:pt x="69378" y="137517"/>
                  </a:cubicBezTo>
                  <a:cubicBezTo>
                    <a:pt x="69378" y="148367"/>
                    <a:pt x="60583" y="157162"/>
                    <a:pt x="49733" y="157162"/>
                  </a:cubicBezTo>
                  <a:close/>
                </a:path>
              </a:pathLst>
            </a:custGeom>
            <a:solidFill>
              <a:srgbClr val="D1552C">
                <a:alpha val="20000"/>
              </a:srgbClr>
            </a:solidFill>
            <a:ln>
              <a:noFill/>
            </a:ln>
          </p:spPr>
        </p:sp>
        <p:sp>
          <p:nvSpPr>
            <p:cNvPr id="29" name="Freeform 29"/>
            <p:cNvSpPr/>
            <p:nvPr/>
          </p:nvSpPr>
          <p:spPr>
            <a:xfrm>
              <a:off x="6874618" y="4892873"/>
              <a:ext cx="163207" cy="200545"/>
            </a:xfrm>
            <a:custGeom>
              <a:avLst/>
              <a:gdLst/>
              <a:ahLst/>
              <a:cxnLst/>
              <a:rect l="l" t="t" r="r" b="b"/>
              <a:pathLst>
                <a:path w="163207" h="200545">
                  <a:moveTo>
                    <a:pt x="104789" y="59378"/>
                  </a:moveTo>
                  <a:cubicBezTo>
                    <a:pt x="102741" y="56401"/>
                    <a:pt x="103492" y="52327"/>
                    <a:pt x="106467" y="50276"/>
                  </a:cubicBezTo>
                  <a:cubicBezTo>
                    <a:pt x="114980" y="44398"/>
                    <a:pt x="128307" y="44398"/>
                    <a:pt x="136819" y="50276"/>
                  </a:cubicBezTo>
                  <a:cubicBezTo>
                    <a:pt x="140912" y="53116"/>
                    <a:pt x="148181" y="53116"/>
                    <a:pt x="152307" y="50276"/>
                  </a:cubicBezTo>
                  <a:cubicBezTo>
                    <a:pt x="155278" y="48388"/>
                    <a:pt x="159209" y="49187"/>
                    <a:pt x="161208" y="52084"/>
                  </a:cubicBezTo>
                  <a:cubicBezTo>
                    <a:pt x="163207" y="54981"/>
                    <a:pt x="162558" y="58940"/>
                    <a:pt x="159739" y="61048"/>
                  </a:cubicBezTo>
                  <a:cubicBezTo>
                    <a:pt x="150473" y="66919"/>
                    <a:pt x="138653" y="66919"/>
                    <a:pt x="129387" y="61048"/>
                  </a:cubicBezTo>
                  <a:cubicBezTo>
                    <a:pt x="125294" y="58207"/>
                    <a:pt x="118025" y="58207"/>
                    <a:pt x="113900" y="61048"/>
                  </a:cubicBezTo>
                  <a:cubicBezTo>
                    <a:pt x="112470" y="62035"/>
                    <a:pt x="110707" y="62413"/>
                    <a:pt x="108999" y="62100"/>
                  </a:cubicBezTo>
                  <a:cubicBezTo>
                    <a:pt x="107290" y="61787"/>
                    <a:pt x="105776" y="60808"/>
                    <a:pt x="104789" y="59378"/>
                  </a:cubicBezTo>
                  <a:close/>
                  <a:moveTo>
                    <a:pt x="152307" y="76469"/>
                  </a:moveTo>
                  <a:cubicBezTo>
                    <a:pt x="148214" y="79310"/>
                    <a:pt x="140945" y="79310"/>
                    <a:pt x="136819" y="76469"/>
                  </a:cubicBezTo>
                  <a:cubicBezTo>
                    <a:pt x="128307" y="70592"/>
                    <a:pt x="114980" y="70592"/>
                    <a:pt x="106467" y="76469"/>
                  </a:cubicBezTo>
                  <a:cubicBezTo>
                    <a:pt x="104443" y="77756"/>
                    <a:pt x="103284" y="80046"/>
                    <a:pt x="103446" y="82440"/>
                  </a:cubicBezTo>
                  <a:cubicBezTo>
                    <a:pt x="103608" y="84833"/>
                    <a:pt x="105066" y="86946"/>
                    <a:pt x="107246" y="87947"/>
                  </a:cubicBezTo>
                  <a:cubicBezTo>
                    <a:pt x="109426" y="88948"/>
                    <a:pt x="111979" y="88678"/>
                    <a:pt x="113900" y="87242"/>
                  </a:cubicBezTo>
                  <a:cubicBezTo>
                    <a:pt x="117993" y="84401"/>
                    <a:pt x="125262" y="84401"/>
                    <a:pt x="129387" y="87242"/>
                  </a:cubicBezTo>
                  <a:cubicBezTo>
                    <a:pt x="138653" y="93112"/>
                    <a:pt x="150473" y="93112"/>
                    <a:pt x="159739" y="87242"/>
                  </a:cubicBezTo>
                  <a:cubicBezTo>
                    <a:pt x="162558" y="85134"/>
                    <a:pt x="163207" y="81175"/>
                    <a:pt x="161208" y="78278"/>
                  </a:cubicBezTo>
                  <a:cubicBezTo>
                    <a:pt x="159209" y="75380"/>
                    <a:pt x="155278" y="74582"/>
                    <a:pt x="152307" y="76469"/>
                  </a:cubicBezTo>
                  <a:close/>
                  <a:moveTo>
                    <a:pt x="83990" y="144066"/>
                  </a:moveTo>
                  <a:cubicBezTo>
                    <a:pt x="83983" y="157676"/>
                    <a:pt x="73554" y="169014"/>
                    <a:pt x="59991" y="170154"/>
                  </a:cubicBezTo>
                  <a:cubicBezTo>
                    <a:pt x="46428" y="171295"/>
                    <a:pt x="34252" y="161858"/>
                    <a:pt x="31973" y="148440"/>
                  </a:cubicBezTo>
                  <a:cubicBezTo>
                    <a:pt x="29693" y="135021"/>
                    <a:pt x="38070" y="122093"/>
                    <a:pt x="51248" y="118690"/>
                  </a:cubicBezTo>
                  <a:lnTo>
                    <a:pt x="51248" y="32742"/>
                  </a:lnTo>
                  <a:cubicBezTo>
                    <a:pt x="51248" y="29126"/>
                    <a:pt x="54180" y="26194"/>
                    <a:pt x="57796" y="26194"/>
                  </a:cubicBezTo>
                  <a:cubicBezTo>
                    <a:pt x="61413" y="26194"/>
                    <a:pt x="64345" y="29126"/>
                    <a:pt x="64345" y="32742"/>
                  </a:cubicBezTo>
                  <a:lnTo>
                    <a:pt x="64345" y="118690"/>
                  </a:lnTo>
                  <a:cubicBezTo>
                    <a:pt x="75904" y="121693"/>
                    <a:pt x="83979" y="132122"/>
                    <a:pt x="83990" y="144066"/>
                  </a:cubicBezTo>
                  <a:close/>
                  <a:moveTo>
                    <a:pt x="70893" y="144066"/>
                  </a:moveTo>
                  <a:cubicBezTo>
                    <a:pt x="70893" y="136832"/>
                    <a:pt x="65029" y="130969"/>
                    <a:pt x="57796" y="130969"/>
                  </a:cubicBezTo>
                  <a:cubicBezTo>
                    <a:pt x="50563" y="130969"/>
                    <a:pt x="44699" y="136832"/>
                    <a:pt x="44699" y="144066"/>
                  </a:cubicBezTo>
                  <a:cubicBezTo>
                    <a:pt x="44699" y="151299"/>
                    <a:pt x="50563" y="157162"/>
                    <a:pt x="57796" y="157162"/>
                  </a:cubicBezTo>
                  <a:cubicBezTo>
                    <a:pt x="65029" y="157162"/>
                    <a:pt x="70893" y="151299"/>
                    <a:pt x="70893" y="144066"/>
                  </a:cubicBezTo>
                  <a:close/>
                  <a:moveTo>
                    <a:pt x="110184" y="144066"/>
                  </a:moveTo>
                  <a:cubicBezTo>
                    <a:pt x="110168" y="168490"/>
                    <a:pt x="93276" y="189664"/>
                    <a:pt x="69465" y="195104"/>
                  </a:cubicBezTo>
                  <a:cubicBezTo>
                    <a:pt x="45654" y="200545"/>
                    <a:pt x="21243" y="188809"/>
                    <a:pt x="10621" y="166814"/>
                  </a:cubicBezTo>
                  <a:cubicBezTo>
                    <a:pt x="0" y="144819"/>
                    <a:pt x="5987" y="118403"/>
                    <a:pt x="25054" y="103138"/>
                  </a:cubicBezTo>
                  <a:lnTo>
                    <a:pt x="25054" y="32742"/>
                  </a:lnTo>
                  <a:cubicBezTo>
                    <a:pt x="25054" y="14659"/>
                    <a:pt x="39713" y="0"/>
                    <a:pt x="57796" y="0"/>
                  </a:cubicBezTo>
                  <a:cubicBezTo>
                    <a:pt x="75879" y="0"/>
                    <a:pt x="90538" y="14659"/>
                    <a:pt x="90538" y="32742"/>
                  </a:cubicBezTo>
                  <a:lnTo>
                    <a:pt x="90538" y="103138"/>
                  </a:lnTo>
                  <a:cubicBezTo>
                    <a:pt x="102957" y="113093"/>
                    <a:pt x="110184" y="128149"/>
                    <a:pt x="110184" y="144066"/>
                  </a:cubicBezTo>
                  <a:close/>
                  <a:moveTo>
                    <a:pt x="97087" y="144066"/>
                  </a:moveTo>
                  <a:cubicBezTo>
                    <a:pt x="97076" y="131209"/>
                    <a:pt x="90787" y="119168"/>
                    <a:pt x="80241" y="111815"/>
                  </a:cubicBezTo>
                  <a:cubicBezTo>
                    <a:pt x="78477" y="110583"/>
                    <a:pt x="77431" y="108563"/>
                    <a:pt x="77442" y="106412"/>
                  </a:cubicBezTo>
                  <a:lnTo>
                    <a:pt x="77442" y="32742"/>
                  </a:lnTo>
                  <a:cubicBezTo>
                    <a:pt x="77442" y="21892"/>
                    <a:pt x="68646" y="13097"/>
                    <a:pt x="57796" y="13097"/>
                  </a:cubicBezTo>
                  <a:cubicBezTo>
                    <a:pt x="46946" y="13097"/>
                    <a:pt x="38151" y="21892"/>
                    <a:pt x="38151" y="32742"/>
                  </a:cubicBezTo>
                  <a:lnTo>
                    <a:pt x="38151" y="106412"/>
                  </a:lnTo>
                  <a:cubicBezTo>
                    <a:pt x="38151" y="108552"/>
                    <a:pt x="37106" y="110557"/>
                    <a:pt x="35351" y="111782"/>
                  </a:cubicBezTo>
                  <a:cubicBezTo>
                    <a:pt x="20047" y="122434"/>
                    <a:pt x="14337" y="142376"/>
                    <a:pt x="21685" y="159514"/>
                  </a:cubicBezTo>
                  <a:cubicBezTo>
                    <a:pt x="29033" y="176652"/>
                    <a:pt x="47415" y="186264"/>
                    <a:pt x="65682" y="182522"/>
                  </a:cubicBezTo>
                  <a:cubicBezTo>
                    <a:pt x="83950" y="178779"/>
                    <a:pt x="97070" y="162712"/>
                    <a:pt x="97087" y="144066"/>
                  </a:cubicBezTo>
                  <a:close/>
                </a:path>
              </a:pathLst>
            </a:custGeom>
            <a:solidFill>
              <a:srgbClr val="D1552C"/>
            </a:solidFill>
            <a:ln>
              <a:noFill/>
            </a:ln>
          </p:spPr>
        </p:sp>
      </p:grpSp>
      <p:sp>
        <p:nvSpPr>
          <p:cNvPr id="31" name="TextBox 31"/>
          <p:cNvSpPr txBox="1"/>
          <p:nvPr/>
        </p:nvSpPr>
        <p:spPr>
          <a:xfrm>
            <a:off x="7107555" y="4942999"/>
            <a:ext cx="2854228"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4d Hazard multiplier per SD, all terms</a:t>
            </a:r>
          </a:p>
        </p:txBody>
      </p:sp>
      <p:sp>
        <p:nvSpPr>
          <p:cNvPr id="32" name="Rectangle 32"/>
          <p:cNvSpPr/>
          <p:nvPr/>
        </p:nvSpPr>
        <p:spPr>
          <a:xfrm>
            <a:off x="514350" y="5372100"/>
            <a:ext cx="2662238" cy="1066800"/>
          </a:xfrm>
          <a:prstGeom prst="roundRect">
            <a:avLst>
              <a:gd name="adj" fmla="val 8929"/>
            </a:avLst>
          </a:prstGeom>
          <a:solidFill>
            <a:srgbClr val="FFFFFF"/>
          </a:solidFill>
          <a:ln w="15240">
            <a:solidFill>
              <a:srgbClr val="2A9D8F"/>
            </a:solidFill>
          </a:ln>
        </p:spPr>
      </p:sp>
      <p:grpSp>
        <p:nvGrpSpPr>
          <p:cNvPr id="35" name="Group 35"/>
          <p:cNvGrpSpPr/>
          <p:nvPr/>
        </p:nvGrpSpPr>
        <p:grpSpPr>
          <a:xfrm>
            <a:off x="655454" y="5538630"/>
            <a:ext cx="269342" cy="198170"/>
            <a:chOff x="655454" y="5538630"/>
            <a:chExt cx="269342" cy="198170"/>
          </a:xfrm>
        </p:grpSpPr>
        <p:sp>
          <p:nvSpPr>
            <p:cNvPr id="33" name="Freeform 33"/>
            <p:cNvSpPr/>
            <p:nvPr/>
          </p:nvSpPr>
          <p:spPr>
            <a:xfrm>
              <a:off x="683419" y="5548908"/>
              <a:ext cx="214312" cy="142875"/>
            </a:xfrm>
            <a:custGeom>
              <a:avLst/>
              <a:gdLst/>
              <a:ahLst/>
              <a:cxnLst/>
              <a:rect l="l" t="t" r="r" b="b"/>
              <a:pathLst>
                <a:path w="214312" h="142875">
                  <a:moveTo>
                    <a:pt x="151805" y="98227"/>
                  </a:moveTo>
                  <a:cubicBezTo>
                    <a:pt x="151805" y="122885"/>
                    <a:pt x="131815" y="142875"/>
                    <a:pt x="107156" y="142875"/>
                  </a:cubicBezTo>
                  <a:cubicBezTo>
                    <a:pt x="82498" y="142875"/>
                    <a:pt x="62508" y="122885"/>
                    <a:pt x="62508" y="98227"/>
                  </a:cubicBezTo>
                  <a:cubicBezTo>
                    <a:pt x="62508" y="73568"/>
                    <a:pt x="82498" y="53578"/>
                    <a:pt x="107156" y="53578"/>
                  </a:cubicBezTo>
                  <a:cubicBezTo>
                    <a:pt x="131815" y="53578"/>
                    <a:pt x="151805" y="73568"/>
                    <a:pt x="151805" y="98227"/>
                  </a:cubicBezTo>
                  <a:close/>
                  <a:moveTo>
                    <a:pt x="35719" y="0"/>
                  </a:moveTo>
                  <a:cubicBezTo>
                    <a:pt x="15992" y="0"/>
                    <a:pt x="0" y="15992"/>
                    <a:pt x="0" y="35719"/>
                  </a:cubicBezTo>
                  <a:cubicBezTo>
                    <a:pt x="0" y="55446"/>
                    <a:pt x="15992" y="71438"/>
                    <a:pt x="35719" y="71438"/>
                  </a:cubicBezTo>
                  <a:cubicBezTo>
                    <a:pt x="55446" y="71438"/>
                    <a:pt x="71438" y="55446"/>
                    <a:pt x="71438" y="35719"/>
                  </a:cubicBezTo>
                  <a:cubicBezTo>
                    <a:pt x="71438" y="15992"/>
                    <a:pt x="55446" y="0"/>
                    <a:pt x="35719" y="0"/>
                  </a:cubicBezTo>
                  <a:close/>
                  <a:moveTo>
                    <a:pt x="178594" y="0"/>
                  </a:moveTo>
                  <a:cubicBezTo>
                    <a:pt x="158867" y="0"/>
                    <a:pt x="142875" y="15992"/>
                    <a:pt x="142875" y="35719"/>
                  </a:cubicBezTo>
                  <a:cubicBezTo>
                    <a:pt x="142875" y="55446"/>
                    <a:pt x="158867" y="71438"/>
                    <a:pt x="178594" y="71438"/>
                  </a:cubicBezTo>
                  <a:cubicBezTo>
                    <a:pt x="198321" y="71438"/>
                    <a:pt x="214312" y="55446"/>
                    <a:pt x="214312" y="35719"/>
                  </a:cubicBezTo>
                  <a:cubicBezTo>
                    <a:pt x="214312" y="15992"/>
                    <a:pt x="198321" y="0"/>
                    <a:pt x="178594" y="0"/>
                  </a:cubicBezTo>
                  <a:close/>
                </a:path>
              </a:pathLst>
            </a:custGeom>
            <a:solidFill>
              <a:srgbClr val="2A9D8F">
                <a:alpha val="20000"/>
              </a:srgbClr>
            </a:solidFill>
            <a:ln>
              <a:noFill/>
            </a:ln>
          </p:spPr>
        </p:sp>
        <p:sp>
          <p:nvSpPr>
            <p:cNvPr id="34" name="Freeform 34"/>
            <p:cNvSpPr/>
            <p:nvPr/>
          </p:nvSpPr>
          <p:spPr>
            <a:xfrm>
              <a:off x="655454" y="5538630"/>
              <a:ext cx="269342" cy="198170"/>
            </a:xfrm>
            <a:custGeom>
              <a:avLst/>
              <a:gdLst/>
              <a:ahLst/>
              <a:cxnLst/>
              <a:rect l="l" t="t" r="r" b="b"/>
              <a:pathLst>
                <a:path w="269342" h="198170">
                  <a:moveTo>
                    <a:pt x="265495" y="115648"/>
                  </a:moveTo>
                  <a:cubicBezTo>
                    <a:pt x="261550" y="118607"/>
                    <a:pt x="255952" y="117807"/>
                    <a:pt x="252993" y="113862"/>
                  </a:cubicBezTo>
                  <a:cubicBezTo>
                    <a:pt x="242078" y="99190"/>
                    <a:pt x="224845" y="90574"/>
                    <a:pt x="206559" y="90645"/>
                  </a:cubicBezTo>
                  <a:cubicBezTo>
                    <a:pt x="201627" y="90645"/>
                    <a:pt x="197629" y="86647"/>
                    <a:pt x="197629" y="81715"/>
                  </a:cubicBezTo>
                  <a:cubicBezTo>
                    <a:pt x="197629" y="76783"/>
                    <a:pt x="201627" y="72785"/>
                    <a:pt x="206559" y="72785"/>
                  </a:cubicBezTo>
                  <a:cubicBezTo>
                    <a:pt x="220480" y="72784"/>
                    <a:pt x="232081" y="62120"/>
                    <a:pt x="233251" y="48248"/>
                  </a:cubicBezTo>
                  <a:cubicBezTo>
                    <a:pt x="234421" y="34377"/>
                    <a:pt x="224772" y="21920"/>
                    <a:pt x="211047" y="19586"/>
                  </a:cubicBezTo>
                  <a:cubicBezTo>
                    <a:pt x="197323" y="17253"/>
                    <a:pt x="184099" y="25820"/>
                    <a:pt x="180618" y="39299"/>
                  </a:cubicBezTo>
                  <a:cubicBezTo>
                    <a:pt x="179385" y="44077"/>
                    <a:pt x="174513" y="46950"/>
                    <a:pt x="169735" y="45717"/>
                  </a:cubicBezTo>
                  <a:cubicBezTo>
                    <a:pt x="164958" y="44484"/>
                    <a:pt x="162084" y="39612"/>
                    <a:pt x="163317" y="34834"/>
                  </a:cubicBezTo>
                  <a:cubicBezTo>
                    <a:pt x="168086" y="16381"/>
                    <a:pt x="184042" y="2990"/>
                    <a:pt x="203043" y="1495"/>
                  </a:cubicBezTo>
                  <a:cubicBezTo>
                    <a:pt x="222043" y="0"/>
                    <a:pt x="239898" y="10731"/>
                    <a:pt x="247494" y="28210"/>
                  </a:cubicBezTo>
                  <a:cubicBezTo>
                    <a:pt x="255090" y="45690"/>
                    <a:pt x="250753" y="66065"/>
                    <a:pt x="236697" y="78936"/>
                  </a:cubicBezTo>
                  <a:cubicBezTo>
                    <a:pt x="248839" y="84193"/>
                    <a:pt x="259394" y="92536"/>
                    <a:pt x="267314" y="103135"/>
                  </a:cubicBezTo>
                  <a:cubicBezTo>
                    <a:pt x="268735" y="105035"/>
                    <a:pt x="269342" y="107421"/>
                    <a:pt x="269001" y="109769"/>
                  </a:cubicBezTo>
                  <a:cubicBezTo>
                    <a:pt x="268659" y="112116"/>
                    <a:pt x="267398" y="114232"/>
                    <a:pt x="265495" y="115648"/>
                  </a:cubicBezTo>
                  <a:close/>
                  <a:moveTo>
                    <a:pt x="205353" y="184406"/>
                  </a:moveTo>
                  <a:cubicBezTo>
                    <a:pt x="207051" y="187174"/>
                    <a:pt x="207112" y="190644"/>
                    <a:pt x="205514" y="193470"/>
                  </a:cubicBezTo>
                  <a:cubicBezTo>
                    <a:pt x="203917" y="196296"/>
                    <a:pt x="200911" y="198032"/>
                    <a:pt x="197665" y="198004"/>
                  </a:cubicBezTo>
                  <a:cubicBezTo>
                    <a:pt x="194419" y="197976"/>
                    <a:pt x="191443" y="196189"/>
                    <a:pt x="189894" y="193336"/>
                  </a:cubicBezTo>
                  <a:cubicBezTo>
                    <a:pt x="178448" y="173962"/>
                    <a:pt x="157619" y="162075"/>
                    <a:pt x="135116" y="162075"/>
                  </a:cubicBezTo>
                  <a:cubicBezTo>
                    <a:pt x="112613" y="162075"/>
                    <a:pt x="91784" y="173962"/>
                    <a:pt x="80338" y="193336"/>
                  </a:cubicBezTo>
                  <a:cubicBezTo>
                    <a:pt x="78817" y="196243"/>
                    <a:pt x="75826" y="198081"/>
                    <a:pt x="72546" y="198126"/>
                  </a:cubicBezTo>
                  <a:cubicBezTo>
                    <a:pt x="69266" y="198170"/>
                    <a:pt x="66226" y="196413"/>
                    <a:pt x="64628" y="193549"/>
                  </a:cubicBezTo>
                  <a:cubicBezTo>
                    <a:pt x="63029" y="190685"/>
                    <a:pt x="63130" y="187175"/>
                    <a:pt x="64890" y="184406"/>
                  </a:cubicBezTo>
                  <a:cubicBezTo>
                    <a:pt x="73547" y="169532"/>
                    <a:pt x="86747" y="157826"/>
                    <a:pt x="102550" y="151009"/>
                  </a:cubicBezTo>
                  <a:cubicBezTo>
                    <a:pt x="84317" y="137049"/>
                    <a:pt x="77008" y="113022"/>
                    <a:pt x="84378" y="91273"/>
                  </a:cubicBezTo>
                  <a:cubicBezTo>
                    <a:pt x="91747" y="69524"/>
                    <a:pt x="112158" y="54890"/>
                    <a:pt x="135121" y="54890"/>
                  </a:cubicBezTo>
                  <a:cubicBezTo>
                    <a:pt x="158085" y="54890"/>
                    <a:pt x="178496" y="69524"/>
                    <a:pt x="185865" y="91273"/>
                  </a:cubicBezTo>
                  <a:cubicBezTo>
                    <a:pt x="193235" y="113022"/>
                    <a:pt x="185926" y="137049"/>
                    <a:pt x="167693" y="151009"/>
                  </a:cubicBezTo>
                  <a:cubicBezTo>
                    <a:pt x="183496" y="157826"/>
                    <a:pt x="196696" y="169532"/>
                    <a:pt x="205353" y="184406"/>
                  </a:cubicBezTo>
                  <a:close/>
                  <a:moveTo>
                    <a:pt x="135121" y="144223"/>
                  </a:moveTo>
                  <a:cubicBezTo>
                    <a:pt x="154848" y="144223"/>
                    <a:pt x="170840" y="128231"/>
                    <a:pt x="170840" y="108504"/>
                  </a:cubicBezTo>
                  <a:cubicBezTo>
                    <a:pt x="170840" y="88777"/>
                    <a:pt x="154848" y="72785"/>
                    <a:pt x="135121" y="72785"/>
                  </a:cubicBezTo>
                  <a:cubicBezTo>
                    <a:pt x="115395" y="72785"/>
                    <a:pt x="99403" y="88777"/>
                    <a:pt x="99403" y="108504"/>
                  </a:cubicBezTo>
                  <a:cubicBezTo>
                    <a:pt x="99403" y="128231"/>
                    <a:pt x="115395" y="144223"/>
                    <a:pt x="135121" y="144223"/>
                  </a:cubicBezTo>
                  <a:close/>
                  <a:moveTo>
                    <a:pt x="72614" y="81715"/>
                  </a:moveTo>
                  <a:cubicBezTo>
                    <a:pt x="72614" y="76783"/>
                    <a:pt x="68616" y="72785"/>
                    <a:pt x="63684" y="72785"/>
                  </a:cubicBezTo>
                  <a:cubicBezTo>
                    <a:pt x="49763" y="72784"/>
                    <a:pt x="38162" y="62120"/>
                    <a:pt x="36992" y="48248"/>
                  </a:cubicBezTo>
                  <a:cubicBezTo>
                    <a:pt x="35822" y="34377"/>
                    <a:pt x="45471" y="21920"/>
                    <a:pt x="59196" y="19586"/>
                  </a:cubicBezTo>
                  <a:cubicBezTo>
                    <a:pt x="72920" y="17253"/>
                    <a:pt x="86144" y="25820"/>
                    <a:pt x="89625" y="39299"/>
                  </a:cubicBezTo>
                  <a:cubicBezTo>
                    <a:pt x="90858" y="44077"/>
                    <a:pt x="95730" y="46950"/>
                    <a:pt x="100508" y="45717"/>
                  </a:cubicBezTo>
                  <a:cubicBezTo>
                    <a:pt x="105285" y="44484"/>
                    <a:pt x="108159" y="39612"/>
                    <a:pt x="106926" y="34834"/>
                  </a:cubicBezTo>
                  <a:cubicBezTo>
                    <a:pt x="102157" y="16381"/>
                    <a:pt x="86201" y="2990"/>
                    <a:pt x="67200" y="1495"/>
                  </a:cubicBezTo>
                  <a:cubicBezTo>
                    <a:pt x="48200" y="0"/>
                    <a:pt x="30345" y="10731"/>
                    <a:pt x="22749" y="28210"/>
                  </a:cubicBezTo>
                  <a:cubicBezTo>
                    <a:pt x="15153" y="45690"/>
                    <a:pt x="19490" y="66065"/>
                    <a:pt x="33546" y="78936"/>
                  </a:cubicBezTo>
                  <a:cubicBezTo>
                    <a:pt x="21416" y="84198"/>
                    <a:pt x="10873" y="92540"/>
                    <a:pt x="2962" y="103135"/>
                  </a:cubicBezTo>
                  <a:cubicBezTo>
                    <a:pt x="0" y="107081"/>
                    <a:pt x="797" y="112680"/>
                    <a:pt x="4742" y="115642"/>
                  </a:cubicBezTo>
                  <a:cubicBezTo>
                    <a:pt x="8688" y="118604"/>
                    <a:pt x="14288" y="117807"/>
                    <a:pt x="17250" y="113862"/>
                  </a:cubicBezTo>
                  <a:cubicBezTo>
                    <a:pt x="28165" y="99190"/>
                    <a:pt x="45398" y="90574"/>
                    <a:pt x="63684" y="90645"/>
                  </a:cubicBezTo>
                  <a:cubicBezTo>
                    <a:pt x="68616" y="90645"/>
                    <a:pt x="72614" y="86647"/>
                    <a:pt x="72614" y="81715"/>
                  </a:cubicBezTo>
                  <a:close/>
                </a:path>
              </a:pathLst>
            </a:custGeom>
            <a:solidFill>
              <a:srgbClr val="2A9D8F"/>
            </a:solidFill>
            <a:ln>
              <a:noFill/>
            </a:ln>
          </p:spPr>
        </p:sp>
      </p:grpSp>
      <p:sp>
        <p:nvSpPr>
          <p:cNvPr id="36" name="TextBox 36"/>
          <p:cNvSpPr txBox="1"/>
          <p:nvPr/>
        </p:nvSpPr>
        <p:spPr>
          <a:xfrm>
            <a:off x="994410" y="5566410"/>
            <a:ext cx="1531547" cy="243840"/>
          </a:xfrm>
          <a:prstGeom prst="rect">
            <a:avLst/>
          </a:prstGeom>
          <a:noFill/>
          <a:ln>
            <a:noFill/>
          </a:ln>
        </p:spPr>
        <p:txBody>
          <a:bodyPr wrap="none" lIns="0" tIns="0" rIns="0" bIns="0" anchor="t" anchorCtr="0">
            <a:spAutoFit/>
          </a:bodyPr>
          <a:lstStyle/>
          <a:p>
            <a:pPr algn="l"/>
            <a:r>
              <a:rPr lang="zh-CN" sz="1200" b="1" dirty="0">
                <a:solidFill>
                  <a:srgbClr val="2A9D8F"/>
                </a:solidFill>
                <a:latin typeface="Arial"/>
                <a:ea typeface="Microsoft YaHei"/>
                <a:cs typeface="Arial"/>
              </a:rPr>
              <a:t>Province × year</a:t>
            </a:r>
          </a:p>
        </p:txBody>
      </p:sp>
      <p:sp>
        <p:nvSpPr>
          <p:cNvPr id="37" name="TextBox 37"/>
          <p:cNvSpPr txBox="1"/>
          <p:nvPr/>
        </p:nvSpPr>
        <p:spPr>
          <a:xfrm>
            <a:off x="632460" y="5823585"/>
            <a:ext cx="1293306" cy="548640"/>
          </a:xfrm>
          <a:prstGeom prst="rect">
            <a:avLst/>
          </a:prstGeom>
          <a:noFill/>
          <a:ln>
            <a:noFill/>
          </a:ln>
        </p:spPr>
        <p:txBody>
          <a:bodyPr wrap="none" lIns="0" tIns="0" rIns="0" bIns="0" anchor="t" anchorCtr="0">
            <a:spAutoFit/>
          </a:bodyPr>
          <a:lstStyle/>
          <a:p>
            <a:pPr algn="l"/>
            <a:r>
              <a:rPr lang="zh-CN" sz="2700" b="1" dirty="0">
                <a:solidFill>
                  <a:srgbClr val="2A9D8F"/>
                </a:solidFill>
                <a:latin typeface="Arial"/>
                <a:ea typeface="Microsoft YaHei"/>
                <a:cs typeface="Arial"/>
              </a:rPr>
              <a:t>×2.23</a:t>
            </a:r>
          </a:p>
        </p:txBody>
      </p:sp>
      <p:sp>
        <p:nvSpPr>
          <p:cNvPr id="38" name="TextBox 38"/>
          <p:cNvSpPr txBox="1"/>
          <p:nvPr/>
        </p:nvSpPr>
        <p:spPr>
          <a:xfrm>
            <a:off x="653415" y="6192202"/>
            <a:ext cx="1633804"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per SD: survey pulses</a:t>
            </a:r>
          </a:p>
        </p:txBody>
      </p:sp>
      <p:sp>
        <p:nvSpPr>
          <p:cNvPr id="39" name="Rectangle 39"/>
          <p:cNvSpPr/>
          <p:nvPr/>
        </p:nvSpPr>
        <p:spPr>
          <a:xfrm>
            <a:off x="3348038" y="5372100"/>
            <a:ext cx="2662238" cy="1066800"/>
          </a:xfrm>
          <a:prstGeom prst="roundRect">
            <a:avLst>
              <a:gd name="adj" fmla="val 8929"/>
            </a:avLst>
          </a:prstGeom>
          <a:solidFill>
            <a:srgbClr val="FFFFFF"/>
          </a:solidFill>
          <a:ln w="15240">
            <a:solidFill>
              <a:srgbClr val="2A9D8F"/>
            </a:solidFill>
          </a:ln>
        </p:spPr>
      </p:sp>
      <p:grpSp>
        <p:nvGrpSpPr>
          <p:cNvPr id="42" name="Group 42"/>
          <p:cNvGrpSpPr/>
          <p:nvPr/>
        </p:nvGrpSpPr>
        <p:grpSpPr>
          <a:xfrm>
            <a:off x="3480776" y="5499928"/>
            <a:ext cx="268504" cy="236505"/>
            <a:chOff x="3480776" y="5499928"/>
            <a:chExt cx="268504" cy="236505"/>
          </a:xfrm>
        </p:grpSpPr>
        <p:sp>
          <p:nvSpPr>
            <p:cNvPr id="40" name="Freeform 40"/>
            <p:cNvSpPr/>
            <p:nvPr/>
          </p:nvSpPr>
          <p:spPr>
            <a:xfrm>
              <a:off x="3490317" y="5509904"/>
              <a:ext cx="250031" cy="217597"/>
            </a:xfrm>
            <a:custGeom>
              <a:avLst/>
              <a:gdLst/>
              <a:ahLst/>
              <a:cxnLst/>
              <a:rect l="l" t="t" r="r" b="b"/>
              <a:pathLst>
                <a:path w="250031" h="217597">
                  <a:moveTo>
                    <a:pt x="250031" y="65792"/>
                  </a:moveTo>
                  <a:lnTo>
                    <a:pt x="223242" y="83652"/>
                  </a:lnTo>
                  <a:lnTo>
                    <a:pt x="223242" y="110441"/>
                  </a:lnTo>
                  <a:cubicBezTo>
                    <a:pt x="223242" y="169622"/>
                    <a:pt x="175267" y="217597"/>
                    <a:pt x="116086" y="217597"/>
                  </a:cubicBezTo>
                  <a:lnTo>
                    <a:pt x="0" y="217597"/>
                  </a:lnTo>
                  <a:lnTo>
                    <a:pt x="107156" y="83652"/>
                  </a:lnTo>
                  <a:lnTo>
                    <a:pt x="107156" y="61328"/>
                  </a:lnTo>
                  <a:cubicBezTo>
                    <a:pt x="107135" y="32107"/>
                    <a:pt x="128840" y="7426"/>
                    <a:pt x="157823" y="3713"/>
                  </a:cubicBezTo>
                  <a:cubicBezTo>
                    <a:pt x="186807" y="0"/>
                    <a:pt x="214032" y="18412"/>
                    <a:pt x="221378" y="46694"/>
                  </a:cubicBezTo>
                  <a:close/>
                </a:path>
              </a:pathLst>
            </a:custGeom>
            <a:solidFill>
              <a:srgbClr val="2A9D8F">
                <a:alpha val="20000"/>
              </a:srgbClr>
            </a:solidFill>
            <a:ln>
              <a:noFill/>
            </a:ln>
          </p:spPr>
        </p:sp>
        <p:sp>
          <p:nvSpPr>
            <p:cNvPr id="41" name="Freeform 41"/>
            <p:cNvSpPr/>
            <p:nvPr/>
          </p:nvSpPr>
          <p:spPr>
            <a:xfrm>
              <a:off x="3480776" y="5499928"/>
              <a:ext cx="268504" cy="236505"/>
            </a:xfrm>
            <a:custGeom>
              <a:avLst/>
              <a:gdLst/>
              <a:ahLst/>
              <a:cxnLst/>
              <a:rect l="l" t="t" r="r" b="b"/>
              <a:pathLst>
                <a:path w="268504" h="236505">
                  <a:moveTo>
                    <a:pt x="197065" y="62374"/>
                  </a:moveTo>
                  <a:cubicBezTo>
                    <a:pt x="197065" y="69772"/>
                    <a:pt x="191068" y="75768"/>
                    <a:pt x="183670" y="75768"/>
                  </a:cubicBezTo>
                  <a:cubicBezTo>
                    <a:pt x="176273" y="75768"/>
                    <a:pt x="170276" y="69772"/>
                    <a:pt x="170276" y="62374"/>
                  </a:cubicBezTo>
                  <a:cubicBezTo>
                    <a:pt x="170276" y="54976"/>
                    <a:pt x="176273" y="48979"/>
                    <a:pt x="183670" y="48979"/>
                  </a:cubicBezTo>
                  <a:cubicBezTo>
                    <a:pt x="191068" y="48979"/>
                    <a:pt x="197065" y="54976"/>
                    <a:pt x="197065" y="62374"/>
                  </a:cubicBezTo>
                  <a:close/>
                  <a:moveTo>
                    <a:pt x="140272" y="131412"/>
                  </a:moveTo>
                  <a:cubicBezTo>
                    <a:pt x="138456" y="129891"/>
                    <a:pt x="136110" y="129155"/>
                    <a:pt x="133751" y="129364"/>
                  </a:cubicBezTo>
                  <a:cubicBezTo>
                    <a:pt x="131392" y="129574"/>
                    <a:pt x="129213" y="130712"/>
                    <a:pt x="127692" y="132528"/>
                  </a:cubicBezTo>
                  <a:lnTo>
                    <a:pt x="83044" y="186106"/>
                  </a:lnTo>
                  <a:cubicBezTo>
                    <a:pt x="79888" y="189897"/>
                    <a:pt x="80402" y="195529"/>
                    <a:pt x="84194" y="198686"/>
                  </a:cubicBezTo>
                  <a:cubicBezTo>
                    <a:pt x="87985" y="201842"/>
                    <a:pt x="93617" y="201327"/>
                    <a:pt x="96773" y="197536"/>
                  </a:cubicBezTo>
                  <a:lnTo>
                    <a:pt x="141422" y="143958"/>
                  </a:lnTo>
                  <a:cubicBezTo>
                    <a:pt x="144557" y="140172"/>
                    <a:pt x="144043" y="134564"/>
                    <a:pt x="140272" y="131412"/>
                  </a:cubicBezTo>
                  <a:close/>
                  <a:moveTo>
                    <a:pt x="268502" y="75768"/>
                  </a:moveTo>
                  <a:cubicBezTo>
                    <a:pt x="268504" y="78755"/>
                    <a:pt x="267013" y="81545"/>
                    <a:pt x="264529" y="83202"/>
                  </a:cubicBezTo>
                  <a:lnTo>
                    <a:pt x="241713" y="98405"/>
                  </a:lnTo>
                  <a:lnTo>
                    <a:pt x="241713" y="120417"/>
                  </a:lnTo>
                  <a:cubicBezTo>
                    <a:pt x="241646" y="184501"/>
                    <a:pt x="189712" y="236435"/>
                    <a:pt x="125627" y="236503"/>
                  </a:cubicBezTo>
                  <a:lnTo>
                    <a:pt x="9542" y="236503"/>
                  </a:lnTo>
                  <a:cubicBezTo>
                    <a:pt x="6107" y="236505"/>
                    <a:pt x="2976" y="234537"/>
                    <a:pt x="1488" y="231442"/>
                  </a:cubicBezTo>
                  <a:cubicBezTo>
                    <a:pt x="0" y="228347"/>
                    <a:pt x="419" y="224673"/>
                    <a:pt x="2565" y="221992"/>
                  </a:cubicBezTo>
                  <a:lnTo>
                    <a:pt x="107768" y="90491"/>
                  </a:lnTo>
                  <a:lnTo>
                    <a:pt x="107768" y="71304"/>
                  </a:lnTo>
                  <a:cubicBezTo>
                    <a:pt x="107737" y="38247"/>
                    <a:pt x="131830" y="10112"/>
                    <a:pt x="164498" y="5056"/>
                  </a:cubicBezTo>
                  <a:cubicBezTo>
                    <a:pt x="197166" y="0"/>
                    <a:pt x="228636" y="19536"/>
                    <a:pt x="238599" y="51056"/>
                  </a:cubicBezTo>
                  <a:lnTo>
                    <a:pt x="264529" y="68335"/>
                  </a:lnTo>
                  <a:cubicBezTo>
                    <a:pt x="267013" y="69992"/>
                    <a:pt x="268504" y="72782"/>
                    <a:pt x="268502" y="75768"/>
                  </a:cubicBezTo>
                  <a:close/>
                  <a:moveTo>
                    <a:pt x="243477" y="75768"/>
                  </a:moveTo>
                  <a:lnTo>
                    <a:pt x="225975" y="64093"/>
                  </a:lnTo>
                  <a:cubicBezTo>
                    <a:pt x="224149" y="62879"/>
                    <a:pt x="222834" y="61035"/>
                    <a:pt x="222280" y="58914"/>
                  </a:cubicBezTo>
                  <a:cubicBezTo>
                    <a:pt x="216069" y="34974"/>
                    <a:pt x="193027" y="19388"/>
                    <a:pt x="168496" y="22533"/>
                  </a:cubicBezTo>
                  <a:cubicBezTo>
                    <a:pt x="143965" y="25677"/>
                    <a:pt x="125599" y="46572"/>
                    <a:pt x="125627" y="71304"/>
                  </a:cubicBezTo>
                  <a:lnTo>
                    <a:pt x="125627" y="93628"/>
                  </a:lnTo>
                  <a:cubicBezTo>
                    <a:pt x="125629" y="95656"/>
                    <a:pt x="124940" y="97624"/>
                    <a:pt x="123674" y="99209"/>
                  </a:cubicBezTo>
                  <a:lnTo>
                    <a:pt x="28115" y="218643"/>
                  </a:lnTo>
                  <a:lnTo>
                    <a:pt x="125627" y="218643"/>
                  </a:lnTo>
                  <a:cubicBezTo>
                    <a:pt x="179851" y="218582"/>
                    <a:pt x="223793" y="174640"/>
                    <a:pt x="223854" y="120417"/>
                  </a:cubicBezTo>
                  <a:lnTo>
                    <a:pt x="223854" y="93628"/>
                  </a:lnTo>
                  <a:cubicBezTo>
                    <a:pt x="223852" y="90641"/>
                    <a:pt x="225343" y="87851"/>
                    <a:pt x="227828" y="86194"/>
                  </a:cubicBezTo>
                  <a:close/>
                </a:path>
              </a:pathLst>
            </a:custGeom>
            <a:solidFill>
              <a:srgbClr val="2A9D8F"/>
            </a:solidFill>
            <a:ln>
              <a:noFill/>
            </a:ln>
          </p:spPr>
        </p:sp>
      </p:grpSp>
      <p:sp>
        <p:nvSpPr>
          <p:cNvPr id="43" name="TextBox 43"/>
          <p:cNvSpPr txBox="1"/>
          <p:nvPr/>
        </p:nvSpPr>
        <p:spPr>
          <a:xfrm>
            <a:off x="3828098" y="5566410"/>
            <a:ext cx="706703" cy="243840"/>
          </a:xfrm>
          <a:prstGeom prst="rect">
            <a:avLst/>
          </a:prstGeom>
          <a:noFill/>
          <a:ln>
            <a:noFill/>
          </a:ln>
        </p:spPr>
        <p:txBody>
          <a:bodyPr wrap="none" lIns="0" tIns="0" rIns="0" bIns="0" anchor="t" anchorCtr="0">
            <a:spAutoFit/>
          </a:bodyPr>
          <a:lstStyle/>
          <a:p>
            <a:pPr algn="l"/>
            <a:r>
              <a:rPr lang="zh-CN" sz="1200" b="1" dirty="0">
                <a:solidFill>
                  <a:srgbClr val="2A9D8F"/>
                </a:solidFill>
                <a:latin typeface="Arial"/>
                <a:ea typeface="Microsoft YaHei"/>
                <a:cs typeface="Arial"/>
              </a:rPr>
              <a:t>Species</a:t>
            </a:r>
          </a:p>
        </p:txBody>
      </p:sp>
      <p:sp>
        <p:nvSpPr>
          <p:cNvPr id="44" name="TextBox 44"/>
          <p:cNvSpPr txBox="1"/>
          <p:nvPr/>
        </p:nvSpPr>
        <p:spPr>
          <a:xfrm>
            <a:off x="3466148" y="5823585"/>
            <a:ext cx="1293306" cy="548640"/>
          </a:xfrm>
          <a:prstGeom prst="rect">
            <a:avLst/>
          </a:prstGeom>
          <a:noFill/>
          <a:ln>
            <a:noFill/>
          </a:ln>
        </p:spPr>
        <p:txBody>
          <a:bodyPr wrap="none" lIns="0" tIns="0" rIns="0" bIns="0" anchor="t" anchorCtr="0">
            <a:spAutoFit/>
          </a:bodyPr>
          <a:lstStyle/>
          <a:p>
            <a:pPr algn="l"/>
            <a:r>
              <a:rPr lang="zh-CN" sz="2700" b="1" dirty="0">
                <a:solidFill>
                  <a:srgbClr val="2A9D8F"/>
                </a:solidFill>
                <a:latin typeface="Arial"/>
                <a:ea typeface="Microsoft YaHei"/>
                <a:cs typeface="Arial"/>
              </a:rPr>
              <a:t>×1.50</a:t>
            </a:r>
          </a:p>
        </p:txBody>
      </p:sp>
      <p:sp>
        <p:nvSpPr>
          <p:cNvPr id="45" name="TextBox 45"/>
          <p:cNvSpPr txBox="1"/>
          <p:nvPr/>
        </p:nvSpPr>
        <p:spPr>
          <a:xfrm>
            <a:off x="3487102" y="6192202"/>
            <a:ext cx="1707413"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intrinsic detectability</a:t>
            </a:r>
          </a:p>
        </p:txBody>
      </p:sp>
      <p:sp>
        <p:nvSpPr>
          <p:cNvPr id="46" name="Rectangle 46"/>
          <p:cNvSpPr/>
          <p:nvPr/>
        </p:nvSpPr>
        <p:spPr>
          <a:xfrm>
            <a:off x="6181725" y="5372100"/>
            <a:ext cx="2662238" cy="1066800"/>
          </a:xfrm>
          <a:prstGeom prst="roundRect">
            <a:avLst>
              <a:gd name="adj" fmla="val 8929"/>
            </a:avLst>
          </a:prstGeom>
          <a:solidFill>
            <a:srgbClr val="FFFFFF"/>
          </a:solidFill>
          <a:ln w="15240">
            <a:solidFill>
              <a:srgbClr val="2A9D8F"/>
            </a:solidFill>
          </a:ln>
        </p:spPr>
      </p:sp>
      <p:grpSp>
        <p:nvGrpSpPr>
          <p:cNvPr id="49" name="Group 49"/>
          <p:cNvGrpSpPr/>
          <p:nvPr/>
        </p:nvGrpSpPr>
        <p:grpSpPr>
          <a:xfrm>
            <a:off x="6341864" y="5521867"/>
            <a:ext cx="232172" cy="214564"/>
            <a:chOff x="6341864" y="5521867"/>
            <a:chExt cx="232172" cy="214564"/>
          </a:xfrm>
        </p:grpSpPr>
        <p:sp>
          <p:nvSpPr>
            <p:cNvPr id="47" name="Freeform 47"/>
            <p:cNvSpPr/>
            <p:nvPr/>
          </p:nvSpPr>
          <p:spPr>
            <a:xfrm>
              <a:off x="6422231" y="5531048"/>
              <a:ext cx="71438" cy="196453"/>
            </a:xfrm>
            <a:custGeom>
              <a:avLst/>
              <a:gdLst/>
              <a:ahLst/>
              <a:cxnLst/>
              <a:rect l="l" t="t" r="r" b="b"/>
              <a:pathLst>
                <a:path w="71438" h="196453">
                  <a:moveTo>
                    <a:pt x="71438" y="35719"/>
                  </a:moveTo>
                  <a:lnTo>
                    <a:pt x="71438" y="196453"/>
                  </a:lnTo>
                  <a:lnTo>
                    <a:pt x="0" y="160734"/>
                  </a:lnTo>
                  <a:lnTo>
                    <a:pt x="0" y="0"/>
                  </a:lnTo>
                  <a:close/>
                </a:path>
              </a:pathLst>
            </a:custGeom>
            <a:solidFill>
              <a:srgbClr val="2A9D8F">
                <a:alpha val="20000"/>
              </a:srgbClr>
            </a:solidFill>
            <a:ln>
              <a:noFill/>
            </a:ln>
          </p:spPr>
        </p:sp>
        <p:sp>
          <p:nvSpPr>
            <p:cNvPr id="48" name="Freeform 48"/>
            <p:cNvSpPr/>
            <p:nvPr/>
          </p:nvSpPr>
          <p:spPr>
            <a:xfrm>
              <a:off x="6341864" y="5521867"/>
              <a:ext cx="232172" cy="214564"/>
            </a:xfrm>
            <a:custGeom>
              <a:avLst/>
              <a:gdLst/>
              <a:ahLst/>
              <a:cxnLst/>
              <a:rect l="l" t="t" r="r" b="b"/>
              <a:pathLst>
                <a:path w="232172" h="214564">
                  <a:moveTo>
                    <a:pt x="228734" y="19997"/>
                  </a:moveTo>
                  <a:cubicBezTo>
                    <a:pt x="226566" y="18309"/>
                    <a:pt x="223742" y="17712"/>
                    <a:pt x="221077" y="18379"/>
                  </a:cubicBezTo>
                  <a:lnTo>
                    <a:pt x="152843" y="35435"/>
                  </a:lnTo>
                  <a:lnTo>
                    <a:pt x="84363" y="1189"/>
                  </a:lnTo>
                  <a:cubicBezTo>
                    <a:pt x="82455" y="238"/>
                    <a:pt x="80270" y="0"/>
                    <a:pt x="78202" y="520"/>
                  </a:cubicBezTo>
                  <a:lnTo>
                    <a:pt x="6764" y="18379"/>
                  </a:lnTo>
                  <a:cubicBezTo>
                    <a:pt x="2789" y="19372"/>
                    <a:pt x="1" y="22944"/>
                    <a:pt x="0" y="27041"/>
                  </a:cubicBezTo>
                  <a:lnTo>
                    <a:pt x="0" y="187775"/>
                  </a:lnTo>
                  <a:cubicBezTo>
                    <a:pt x="0" y="190525"/>
                    <a:pt x="1267" y="193121"/>
                    <a:pt x="3435" y="194812"/>
                  </a:cubicBezTo>
                  <a:cubicBezTo>
                    <a:pt x="5602" y="196504"/>
                    <a:pt x="8428" y="197104"/>
                    <a:pt x="11095" y="196437"/>
                  </a:cubicBezTo>
                  <a:lnTo>
                    <a:pt x="79329" y="179381"/>
                  </a:lnTo>
                  <a:lnTo>
                    <a:pt x="147809" y="213627"/>
                  </a:lnTo>
                  <a:cubicBezTo>
                    <a:pt x="149052" y="214239"/>
                    <a:pt x="150419" y="214560"/>
                    <a:pt x="151805" y="214564"/>
                  </a:cubicBezTo>
                  <a:cubicBezTo>
                    <a:pt x="152535" y="214564"/>
                    <a:pt x="153262" y="214474"/>
                    <a:pt x="153970" y="214296"/>
                  </a:cubicBezTo>
                  <a:lnTo>
                    <a:pt x="225408" y="196437"/>
                  </a:lnTo>
                  <a:cubicBezTo>
                    <a:pt x="229383" y="195443"/>
                    <a:pt x="232171" y="191872"/>
                    <a:pt x="232172" y="187775"/>
                  </a:cubicBezTo>
                  <a:lnTo>
                    <a:pt x="232172" y="27041"/>
                  </a:lnTo>
                  <a:cubicBezTo>
                    <a:pt x="232172" y="24289"/>
                    <a:pt x="230904" y="21690"/>
                    <a:pt x="228734" y="19997"/>
                  </a:cubicBezTo>
                  <a:close/>
                  <a:moveTo>
                    <a:pt x="89297" y="23625"/>
                  </a:moveTo>
                  <a:lnTo>
                    <a:pt x="142875" y="50414"/>
                  </a:lnTo>
                  <a:lnTo>
                    <a:pt x="142875" y="191191"/>
                  </a:lnTo>
                  <a:lnTo>
                    <a:pt x="89297" y="164402"/>
                  </a:lnTo>
                  <a:close/>
                  <a:moveTo>
                    <a:pt x="17859" y="34017"/>
                  </a:moveTo>
                  <a:lnTo>
                    <a:pt x="71438" y="20622"/>
                  </a:lnTo>
                  <a:lnTo>
                    <a:pt x="71438" y="162939"/>
                  </a:lnTo>
                  <a:lnTo>
                    <a:pt x="17859" y="176334"/>
                  </a:lnTo>
                  <a:close/>
                  <a:moveTo>
                    <a:pt x="214312" y="180799"/>
                  </a:moveTo>
                  <a:lnTo>
                    <a:pt x="160734" y="194193"/>
                  </a:lnTo>
                  <a:lnTo>
                    <a:pt x="160734" y="51876"/>
                  </a:lnTo>
                  <a:lnTo>
                    <a:pt x="214312" y="38482"/>
                  </a:lnTo>
                  <a:close/>
                </a:path>
              </a:pathLst>
            </a:custGeom>
            <a:solidFill>
              <a:srgbClr val="2A9D8F"/>
            </a:solidFill>
            <a:ln>
              <a:noFill/>
            </a:ln>
          </p:spPr>
        </p:sp>
      </p:grpSp>
      <p:sp>
        <p:nvSpPr>
          <p:cNvPr id="50" name="TextBox 50"/>
          <p:cNvSpPr txBox="1"/>
          <p:nvPr/>
        </p:nvSpPr>
        <p:spPr>
          <a:xfrm>
            <a:off x="6661785" y="5566410"/>
            <a:ext cx="810738" cy="243840"/>
          </a:xfrm>
          <a:prstGeom prst="rect">
            <a:avLst/>
          </a:prstGeom>
          <a:noFill/>
          <a:ln>
            <a:noFill/>
          </a:ln>
        </p:spPr>
        <p:txBody>
          <a:bodyPr wrap="none" lIns="0" tIns="0" rIns="0" bIns="0" anchor="t" anchorCtr="0">
            <a:spAutoFit/>
          </a:bodyPr>
          <a:lstStyle/>
          <a:p>
            <a:pPr algn="l"/>
            <a:r>
              <a:rPr lang="zh-CN" sz="1200" b="1" dirty="0">
                <a:solidFill>
                  <a:srgbClr val="2A9D8F"/>
                </a:solidFill>
                <a:latin typeface="Arial"/>
                <a:ea typeface="Microsoft YaHei"/>
                <a:cs typeface="Arial"/>
              </a:rPr>
              <a:t>Province</a:t>
            </a:r>
          </a:p>
        </p:txBody>
      </p:sp>
      <p:sp>
        <p:nvSpPr>
          <p:cNvPr id="51" name="TextBox 51"/>
          <p:cNvSpPr txBox="1"/>
          <p:nvPr/>
        </p:nvSpPr>
        <p:spPr>
          <a:xfrm>
            <a:off x="6299835" y="5823585"/>
            <a:ext cx="1293306" cy="548640"/>
          </a:xfrm>
          <a:prstGeom prst="rect">
            <a:avLst/>
          </a:prstGeom>
          <a:noFill/>
          <a:ln>
            <a:noFill/>
          </a:ln>
        </p:spPr>
        <p:txBody>
          <a:bodyPr wrap="none" lIns="0" tIns="0" rIns="0" bIns="0" anchor="t" anchorCtr="0">
            <a:spAutoFit/>
          </a:bodyPr>
          <a:lstStyle/>
          <a:p>
            <a:pPr algn="l"/>
            <a:r>
              <a:rPr lang="zh-CN" sz="2700" b="1" dirty="0">
                <a:solidFill>
                  <a:srgbClr val="2A9D8F"/>
                </a:solidFill>
                <a:latin typeface="Arial"/>
                <a:ea typeface="Microsoft YaHei"/>
                <a:cs typeface="Arial"/>
              </a:rPr>
              <a:t>×1.39</a:t>
            </a:r>
          </a:p>
        </p:txBody>
      </p:sp>
      <p:sp>
        <p:nvSpPr>
          <p:cNvPr id="52" name="TextBox 52"/>
          <p:cNvSpPr txBox="1"/>
          <p:nvPr/>
        </p:nvSpPr>
        <p:spPr>
          <a:xfrm>
            <a:off x="6320790" y="6192202"/>
            <a:ext cx="1278026"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regional baseline</a:t>
            </a:r>
          </a:p>
        </p:txBody>
      </p:sp>
      <p:sp>
        <p:nvSpPr>
          <p:cNvPr id="53" name="Rectangle 53"/>
          <p:cNvSpPr/>
          <p:nvPr/>
        </p:nvSpPr>
        <p:spPr>
          <a:xfrm>
            <a:off x="9015412" y="5372100"/>
            <a:ext cx="2662238" cy="1066800"/>
          </a:xfrm>
          <a:prstGeom prst="roundRect">
            <a:avLst>
              <a:gd name="adj" fmla="val 8929"/>
            </a:avLst>
          </a:prstGeom>
          <a:solidFill>
            <a:srgbClr val="FFFFFF"/>
          </a:solidFill>
          <a:ln w="15240">
            <a:solidFill>
              <a:srgbClr val="8B0012"/>
            </a:solidFill>
          </a:ln>
        </p:spPr>
      </p:sp>
      <p:grpSp>
        <p:nvGrpSpPr>
          <p:cNvPr id="56" name="Group 56"/>
          <p:cNvGrpSpPr/>
          <p:nvPr/>
        </p:nvGrpSpPr>
        <p:grpSpPr>
          <a:xfrm>
            <a:off x="9175552" y="5531048"/>
            <a:ext cx="232172" cy="196453"/>
            <a:chOff x="9175552" y="5531048"/>
            <a:chExt cx="232172" cy="196453"/>
          </a:xfrm>
        </p:grpSpPr>
        <p:sp>
          <p:nvSpPr>
            <p:cNvPr id="54" name="Freeform 54"/>
            <p:cNvSpPr/>
            <p:nvPr/>
          </p:nvSpPr>
          <p:spPr>
            <a:xfrm>
              <a:off x="9184481" y="5539978"/>
              <a:ext cx="214312" cy="178594"/>
            </a:xfrm>
            <a:custGeom>
              <a:avLst/>
              <a:gdLst/>
              <a:ahLst/>
              <a:cxnLst/>
              <a:rect l="l" t="t" r="r" b="b"/>
              <a:pathLst>
                <a:path w="214312" h="178594">
                  <a:moveTo>
                    <a:pt x="214312" y="8930"/>
                  </a:moveTo>
                  <a:lnTo>
                    <a:pt x="214312" y="178594"/>
                  </a:lnTo>
                  <a:lnTo>
                    <a:pt x="0" y="178594"/>
                  </a:lnTo>
                  <a:lnTo>
                    <a:pt x="0" y="0"/>
                  </a:lnTo>
                  <a:lnTo>
                    <a:pt x="205383" y="0"/>
                  </a:lnTo>
                  <a:cubicBezTo>
                    <a:pt x="210315" y="0"/>
                    <a:pt x="214312" y="3998"/>
                    <a:pt x="214312" y="8930"/>
                  </a:cubicBezTo>
                  <a:close/>
                </a:path>
              </a:pathLst>
            </a:custGeom>
            <a:solidFill>
              <a:srgbClr val="8B0012">
                <a:alpha val="20000"/>
              </a:srgbClr>
            </a:solidFill>
            <a:ln>
              <a:noFill/>
            </a:ln>
          </p:spPr>
        </p:sp>
        <p:sp>
          <p:nvSpPr>
            <p:cNvPr id="55" name="Freeform 55"/>
            <p:cNvSpPr/>
            <p:nvPr/>
          </p:nvSpPr>
          <p:spPr>
            <a:xfrm>
              <a:off x="9175552" y="5531048"/>
              <a:ext cx="232172" cy="196453"/>
            </a:xfrm>
            <a:custGeom>
              <a:avLst/>
              <a:gdLst/>
              <a:ahLst/>
              <a:cxnLst/>
              <a:rect l="l" t="t" r="r" b="b"/>
              <a:pathLst>
                <a:path w="232172" h="196453">
                  <a:moveTo>
                    <a:pt x="232172" y="187523"/>
                  </a:moveTo>
                  <a:cubicBezTo>
                    <a:pt x="232172" y="192455"/>
                    <a:pt x="228174" y="196453"/>
                    <a:pt x="223242" y="196453"/>
                  </a:cubicBezTo>
                  <a:lnTo>
                    <a:pt x="8930" y="196453"/>
                  </a:lnTo>
                  <a:cubicBezTo>
                    <a:pt x="3998" y="196453"/>
                    <a:pt x="0" y="192455"/>
                    <a:pt x="0" y="187523"/>
                  </a:cubicBezTo>
                  <a:lnTo>
                    <a:pt x="0" y="8930"/>
                  </a:lnTo>
                  <a:cubicBezTo>
                    <a:pt x="0" y="3998"/>
                    <a:pt x="3998" y="0"/>
                    <a:pt x="8930" y="0"/>
                  </a:cubicBezTo>
                  <a:cubicBezTo>
                    <a:pt x="13861" y="0"/>
                    <a:pt x="17859" y="3998"/>
                    <a:pt x="17859" y="8930"/>
                  </a:cubicBezTo>
                  <a:lnTo>
                    <a:pt x="17859" y="130251"/>
                  </a:lnTo>
                  <a:lnTo>
                    <a:pt x="74049" y="74049"/>
                  </a:lnTo>
                  <a:cubicBezTo>
                    <a:pt x="75724" y="72373"/>
                    <a:pt x="77997" y="71430"/>
                    <a:pt x="80367" y="71430"/>
                  </a:cubicBezTo>
                  <a:cubicBezTo>
                    <a:pt x="82737" y="71430"/>
                    <a:pt x="85010" y="72373"/>
                    <a:pt x="86685" y="74049"/>
                  </a:cubicBezTo>
                  <a:lnTo>
                    <a:pt x="116086" y="103462"/>
                  </a:lnTo>
                  <a:lnTo>
                    <a:pt x="174899" y="44648"/>
                  </a:lnTo>
                  <a:lnTo>
                    <a:pt x="151805" y="44648"/>
                  </a:lnTo>
                  <a:cubicBezTo>
                    <a:pt x="146873" y="44648"/>
                    <a:pt x="142875" y="40650"/>
                    <a:pt x="142875" y="35719"/>
                  </a:cubicBezTo>
                  <a:cubicBezTo>
                    <a:pt x="142875" y="30787"/>
                    <a:pt x="146873" y="26789"/>
                    <a:pt x="151805" y="26789"/>
                  </a:cubicBezTo>
                  <a:lnTo>
                    <a:pt x="196453" y="26789"/>
                  </a:lnTo>
                  <a:cubicBezTo>
                    <a:pt x="201385" y="26789"/>
                    <a:pt x="205383" y="30787"/>
                    <a:pt x="205383" y="35719"/>
                  </a:cubicBezTo>
                  <a:lnTo>
                    <a:pt x="205383" y="80367"/>
                  </a:lnTo>
                  <a:cubicBezTo>
                    <a:pt x="205383" y="85299"/>
                    <a:pt x="201385" y="89297"/>
                    <a:pt x="196453" y="89297"/>
                  </a:cubicBezTo>
                  <a:cubicBezTo>
                    <a:pt x="191521" y="89297"/>
                    <a:pt x="187523" y="85299"/>
                    <a:pt x="187523" y="80367"/>
                  </a:cubicBezTo>
                  <a:lnTo>
                    <a:pt x="187523" y="57273"/>
                  </a:lnTo>
                  <a:lnTo>
                    <a:pt x="122404" y="122404"/>
                  </a:lnTo>
                  <a:cubicBezTo>
                    <a:pt x="120729" y="124080"/>
                    <a:pt x="118456" y="125023"/>
                    <a:pt x="116086" y="125023"/>
                  </a:cubicBezTo>
                  <a:cubicBezTo>
                    <a:pt x="113716" y="125023"/>
                    <a:pt x="111443" y="124080"/>
                    <a:pt x="109768" y="122404"/>
                  </a:cubicBezTo>
                  <a:lnTo>
                    <a:pt x="80367" y="92992"/>
                  </a:lnTo>
                  <a:lnTo>
                    <a:pt x="17859" y="155499"/>
                  </a:lnTo>
                  <a:lnTo>
                    <a:pt x="17859" y="178594"/>
                  </a:lnTo>
                  <a:lnTo>
                    <a:pt x="223242" y="178594"/>
                  </a:lnTo>
                  <a:cubicBezTo>
                    <a:pt x="228174" y="178594"/>
                    <a:pt x="232172" y="182592"/>
                    <a:pt x="232172" y="187523"/>
                  </a:cubicBezTo>
                  <a:close/>
                </a:path>
              </a:pathLst>
            </a:custGeom>
            <a:solidFill>
              <a:srgbClr val="8B0012"/>
            </a:solidFill>
            <a:ln>
              <a:noFill/>
            </a:ln>
          </p:spPr>
        </p:sp>
      </p:grpSp>
      <p:sp>
        <p:nvSpPr>
          <p:cNvPr id="57" name="TextBox 57"/>
          <p:cNvSpPr txBox="1"/>
          <p:nvPr/>
        </p:nvSpPr>
        <p:spPr>
          <a:xfrm>
            <a:off x="9495472" y="5566410"/>
            <a:ext cx="1390357" cy="243840"/>
          </a:xfrm>
          <a:prstGeom prst="rect">
            <a:avLst/>
          </a:prstGeom>
          <a:noFill/>
          <a:ln>
            <a:noFill/>
          </a:ln>
        </p:spPr>
        <p:txBody>
          <a:bodyPr wrap="none" lIns="0" tIns="0" rIns="0" bIns="0" anchor="t" anchorCtr="0">
            <a:spAutoFit/>
          </a:bodyPr>
          <a:lstStyle/>
          <a:p>
            <a:pPr algn="l"/>
            <a:r>
              <a:rPr lang="zh-CN" sz="1200" b="1" dirty="0">
                <a:solidFill>
                  <a:srgbClr val="8B0012"/>
                </a:solidFill>
                <a:latin typeface="Arial"/>
                <a:ea typeface="Microsoft YaHei"/>
                <a:cs typeface="Arial"/>
              </a:rPr>
              <a:t>Conditional AUC</a:t>
            </a:r>
          </a:p>
        </p:txBody>
      </p:sp>
      <p:sp>
        <p:nvSpPr>
          <p:cNvPr id="58" name="TextBox 58"/>
          <p:cNvSpPr txBox="1"/>
          <p:nvPr/>
        </p:nvSpPr>
        <p:spPr>
          <a:xfrm>
            <a:off x="9133522" y="5823585"/>
            <a:ext cx="2367553" cy="548640"/>
          </a:xfrm>
          <a:prstGeom prst="rect">
            <a:avLst/>
          </a:prstGeom>
          <a:noFill/>
          <a:ln>
            <a:noFill/>
          </a:ln>
        </p:spPr>
        <p:txBody>
          <a:bodyPr wrap="none" lIns="0" tIns="0" rIns="0" bIns="0" anchor="t" anchorCtr="0">
            <a:spAutoFit/>
          </a:bodyPr>
          <a:lstStyle/>
          <a:p>
            <a:pPr algn="l"/>
            <a:r>
              <a:rPr lang="zh-CN" sz="2700" b="1" dirty="0">
                <a:solidFill>
                  <a:srgbClr val="8B0012"/>
                </a:solidFill>
                <a:latin typeface="Arial"/>
                <a:ea typeface="Microsoft YaHei"/>
                <a:cs typeface="Arial"/>
              </a:rPr>
              <a:t>0.72 → 0.85</a:t>
            </a:r>
          </a:p>
        </p:txBody>
      </p:sp>
      <p:sp>
        <p:nvSpPr>
          <p:cNvPr id="59" name="TextBox 59"/>
          <p:cNvSpPr txBox="1"/>
          <p:nvPr/>
        </p:nvSpPr>
        <p:spPr>
          <a:xfrm>
            <a:off x="9154478" y="6192202"/>
            <a:ext cx="1787157"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adding province × year</a:t>
            </a:r>
          </a:p>
        </p:txBody>
      </p:sp>
      <p:sp>
        <p:nvSpPr>
          <p:cNvPr id="60" name="TextBox 60"/>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61" name="TextBox 61"/>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Rectangle 10"/>
          <p:cNvSpPr/>
          <p:nvPr/>
        </p:nvSpPr>
        <p:spPr>
          <a:xfrm>
            <a:off x="8382000" y="0"/>
            <a:ext cx="1866900" cy="609600"/>
          </a:xfrm>
          <a:prstGeom prst="rect">
            <a:avLst/>
          </a:prstGeom>
          <a:solidFill>
            <a:srgbClr val="FFFFFF"/>
          </a:solidFill>
          <a:ln>
            <a:noFill/>
          </a:ln>
        </p:spPr>
      </p:sp>
      <p:sp>
        <p:nvSpPr>
          <p:cNvPr id="11" name="TextBox 11"/>
          <p:cNvSpPr txBox="1"/>
          <p:nvPr/>
        </p:nvSpPr>
        <p:spPr>
          <a:xfrm>
            <a:off x="84201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275486"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Finding 3</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6902508"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The return on effort is falling; the return on warming is not</a:t>
            </a:r>
          </a:p>
        </p:txBody>
      </p:sp>
      <p:sp>
        <p:nvSpPr>
          <p:cNvPr id="17" name="Rectangle 17"/>
          <p:cNvSpPr/>
          <p:nvPr/>
        </p:nvSpPr>
        <p:spPr>
          <a:xfrm>
            <a:off x="514350" y="1390650"/>
            <a:ext cx="6286500" cy="4793932"/>
          </a:xfrm>
          <a:prstGeom prst="roundRect">
            <a:avLst>
              <a:gd name="adj" fmla="val 1987"/>
            </a:avLst>
          </a:prstGeom>
          <a:solidFill>
            <a:srgbClr val="FFFFFF"/>
          </a:solidFill>
          <a:ln w="14288">
            <a:solidFill>
              <a:srgbClr val="D9C7CA"/>
            </a:solidFill>
          </a:ln>
        </p:spPr>
      </p:sp>
      <p:pic>
        <p:nvPicPr>
          <p:cNvPr id="18" name="Image 18"/>
          <p:cNvPicPr>
            <a:picLocks noChangeAspect="1"/>
          </p:cNvPicPr>
          <p:nvPr/>
        </p:nvPicPr>
        <p:blipFill>
          <a:blip r:embed="rId3"/>
          <a:stretch>
            <a:fillRect/>
          </a:stretch>
        </p:blipFill>
        <p:spPr>
          <a:xfrm>
            <a:off x="609600" y="1485900"/>
            <a:ext cx="6096000" cy="4317682"/>
          </a:xfrm>
          <a:prstGeom prst="rect">
            <a:avLst/>
          </a:prstGeom>
        </p:spPr>
      </p:pic>
      <p:grpSp>
        <p:nvGrpSpPr>
          <p:cNvPr id="21" name="Group 21"/>
          <p:cNvGrpSpPr/>
          <p:nvPr/>
        </p:nvGrpSpPr>
        <p:grpSpPr>
          <a:xfrm>
            <a:off x="638770" y="5883921"/>
            <a:ext cx="189311" cy="147100"/>
            <a:chOff x="638770" y="5883921"/>
            <a:chExt cx="189311" cy="147100"/>
          </a:xfrm>
        </p:grpSpPr>
        <p:sp>
          <p:nvSpPr>
            <p:cNvPr id="19" name="Freeform 19"/>
            <p:cNvSpPr/>
            <p:nvPr/>
          </p:nvSpPr>
          <p:spPr>
            <a:xfrm>
              <a:off x="648295" y="5955982"/>
              <a:ext cx="170259" cy="65484"/>
            </a:xfrm>
            <a:custGeom>
              <a:avLst/>
              <a:gdLst/>
              <a:ahLst/>
              <a:cxnLst/>
              <a:rect l="l" t="t" r="r" b="b"/>
              <a:pathLst>
                <a:path w="170259" h="65484">
                  <a:moveTo>
                    <a:pt x="65484" y="32742"/>
                  </a:moveTo>
                  <a:cubicBezTo>
                    <a:pt x="65484" y="50825"/>
                    <a:pt x="50825" y="65484"/>
                    <a:pt x="32742" y="65484"/>
                  </a:cubicBezTo>
                  <a:cubicBezTo>
                    <a:pt x="14659" y="65484"/>
                    <a:pt x="0" y="50825"/>
                    <a:pt x="0" y="32742"/>
                  </a:cubicBezTo>
                  <a:cubicBezTo>
                    <a:pt x="0" y="14659"/>
                    <a:pt x="14659" y="0"/>
                    <a:pt x="32742" y="0"/>
                  </a:cubicBezTo>
                  <a:cubicBezTo>
                    <a:pt x="50825" y="0"/>
                    <a:pt x="65484" y="14659"/>
                    <a:pt x="65484" y="32742"/>
                  </a:cubicBezTo>
                  <a:close/>
                  <a:moveTo>
                    <a:pt x="137517" y="0"/>
                  </a:moveTo>
                  <a:cubicBezTo>
                    <a:pt x="119434" y="0"/>
                    <a:pt x="104775" y="14659"/>
                    <a:pt x="104775" y="32742"/>
                  </a:cubicBezTo>
                  <a:cubicBezTo>
                    <a:pt x="104775" y="50825"/>
                    <a:pt x="119434" y="65484"/>
                    <a:pt x="137517" y="65484"/>
                  </a:cubicBezTo>
                  <a:cubicBezTo>
                    <a:pt x="155600" y="65484"/>
                    <a:pt x="170259" y="50825"/>
                    <a:pt x="170259" y="32742"/>
                  </a:cubicBezTo>
                  <a:cubicBezTo>
                    <a:pt x="170259" y="14659"/>
                    <a:pt x="155600" y="0"/>
                    <a:pt x="137517" y="0"/>
                  </a:cubicBezTo>
                  <a:close/>
                </a:path>
              </a:pathLst>
            </a:custGeom>
            <a:solidFill>
              <a:srgbClr val="1F5F9E">
                <a:alpha val="20000"/>
              </a:srgbClr>
            </a:solidFill>
            <a:ln>
              <a:noFill/>
            </a:ln>
          </p:spPr>
        </p:sp>
        <p:sp>
          <p:nvSpPr>
            <p:cNvPr id="20" name="Freeform 20"/>
            <p:cNvSpPr/>
            <p:nvPr/>
          </p:nvSpPr>
          <p:spPr>
            <a:xfrm>
              <a:off x="638770" y="5883921"/>
              <a:ext cx="189311" cy="147100"/>
            </a:xfrm>
            <a:custGeom>
              <a:avLst/>
              <a:gdLst/>
              <a:ahLst/>
              <a:cxnLst/>
              <a:rect l="l" t="t" r="r" b="b"/>
              <a:pathLst>
                <a:path w="189311" h="147100">
                  <a:moveTo>
                    <a:pt x="184042" y="91600"/>
                  </a:moveTo>
                  <a:lnTo>
                    <a:pt x="184042" y="91600"/>
                  </a:lnTo>
                  <a:cubicBezTo>
                    <a:pt x="183495" y="90074"/>
                    <a:pt x="182852" y="88584"/>
                    <a:pt x="182118" y="87139"/>
                  </a:cubicBezTo>
                  <a:lnTo>
                    <a:pt x="148074" y="9688"/>
                  </a:lnTo>
                  <a:cubicBezTo>
                    <a:pt x="147752" y="8942"/>
                    <a:pt x="147291" y="8264"/>
                    <a:pt x="146715" y="7690"/>
                  </a:cubicBezTo>
                  <a:cubicBezTo>
                    <a:pt x="141803" y="2777"/>
                    <a:pt x="135140" y="16"/>
                    <a:pt x="128192" y="16"/>
                  </a:cubicBezTo>
                  <a:cubicBezTo>
                    <a:pt x="121243" y="16"/>
                    <a:pt x="114580" y="2777"/>
                    <a:pt x="109668" y="7690"/>
                  </a:cubicBezTo>
                  <a:cubicBezTo>
                    <a:pt x="108444" y="8916"/>
                    <a:pt x="107755" y="10576"/>
                    <a:pt x="107752" y="12307"/>
                  </a:cubicBezTo>
                  <a:lnTo>
                    <a:pt x="107752" y="32771"/>
                  </a:lnTo>
                  <a:lnTo>
                    <a:pt x="81558" y="32771"/>
                  </a:lnTo>
                  <a:lnTo>
                    <a:pt x="81558" y="12307"/>
                  </a:lnTo>
                  <a:cubicBezTo>
                    <a:pt x="81560" y="10570"/>
                    <a:pt x="80871" y="8903"/>
                    <a:pt x="79643" y="7674"/>
                  </a:cubicBezTo>
                  <a:cubicBezTo>
                    <a:pt x="74731" y="2761"/>
                    <a:pt x="68067" y="0"/>
                    <a:pt x="61119" y="0"/>
                  </a:cubicBezTo>
                  <a:cubicBezTo>
                    <a:pt x="54171" y="0"/>
                    <a:pt x="47508" y="2761"/>
                    <a:pt x="42595" y="7674"/>
                  </a:cubicBezTo>
                  <a:cubicBezTo>
                    <a:pt x="42020" y="8248"/>
                    <a:pt x="41559" y="8925"/>
                    <a:pt x="41236" y="9671"/>
                  </a:cubicBezTo>
                  <a:lnTo>
                    <a:pt x="7193" y="87123"/>
                  </a:lnTo>
                  <a:cubicBezTo>
                    <a:pt x="6458" y="88568"/>
                    <a:pt x="5816" y="90058"/>
                    <a:pt x="5269" y="91584"/>
                  </a:cubicBezTo>
                  <a:lnTo>
                    <a:pt x="5269" y="91584"/>
                  </a:lnTo>
                  <a:cubicBezTo>
                    <a:pt x="0" y="106327"/>
                    <a:pt x="3987" y="122792"/>
                    <a:pt x="15417" y="133491"/>
                  </a:cubicBezTo>
                  <a:cubicBezTo>
                    <a:pt x="26847" y="144191"/>
                    <a:pt x="43538" y="147083"/>
                    <a:pt x="57902" y="140853"/>
                  </a:cubicBezTo>
                  <a:cubicBezTo>
                    <a:pt x="72266" y="134623"/>
                    <a:pt x="81560" y="120460"/>
                    <a:pt x="81558" y="104804"/>
                  </a:cubicBezTo>
                  <a:lnTo>
                    <a:pt x="81558" y="45868"/>
                  </a:lnTo>
                  <a:lnTo>
                    <a:pt x="107752" y="45868"/>
                  </a:lnTo>
                  <a:lnTo>
                    <a:pt x="107752" y="104804"/>
                  </a:lnTo>
                  <a:cubicBezTo>
                    <a:pt x="107744" y="120462"/>
                    <a:pt x="117035" y="134631"/>
                    <a:pt x="131399" y="140865"/>
                  </a:cubicBezTo>
                  <a:cubicBezTo>
                    <a:pt x="145762" y="147100"/>
                    <a:pt x="162457" y="144211"/>
                    <a:pt x="173890" y="133511"/>
                  </a:cubicBezTo>
                  <a:cubicBezTo>
                    <a:pt x="185323" y="122812"/>
                    <a:pt x="189311" y="106346"/>
                    <a:pt x="184042" y="91600"/>
                  </a:cubicBezTo>
                  <a:close/>
                  <a:moveTo>
                    <a:pt x="52672" y="16195"/>
                  </a:moveTo>
                  <a:cubicBezTo>
                    <a:pt x="57158" y="12418"/>
                    <a:pt x="63609" y="12083"/>
                    <a:pt x="68462" y="15377"/>
                  </a:cubicBezTo>
                  <a:lnTo>
                    <a:pt x="68462" y="75549"/>
                  </a:lnTo>
                  <a:cubicBezTo>
                    <a:pt x="58056" y="66206"/>
                    <a:pt x="43463" y="63111"/>
                    <a:pt x="30161" y="67429"/>
                  </a:cubicBezTo>
                  <a:close/>
                  <a:moveTo>
                    <a:pt x="42268" y="130998"/>
                  </a:moveTo>
                  <a:cubicBezTo>
                    <a:pt x="27801" y="130998"/>
                    <a:pt x="16074" y="119270"/>
                    <a:pt x="16074" y="104804"/>
                  </a:cubicBezTo>
                  <a:cubicBezTo>
                    <a:pt x="16074" y="90337"/>
                    <a:pt x="27801" y="78610"/>
                    <a:pt x="42268" y="78610"/>
                  </a:cubicBezTo>
                  <a:cubicBezTo>
                    <a:pt x="56734" y="78610"/>
                    <a:pt x="68462" y="90337"/>
                    <a:pt x="68462" y="104804"/>
                  </a:cubicBezTo>
                  <a:cubicBezTo>
                    <a:pt x="68462" y="119270"/>
                    <a:pt x="56734" y="130998"/>
                    <a:pt x="42268" y="130998"/>
                  </a:cubicBezTo>
                  <a:close/>
                  <a:moveTo>
                    <a:pt x="120849" y="15369"/>
                  </a:moveTo>
                  <a:cubicBezTo>
                    <a:pt x="125702" y="12075"/>
                    <a:pt x="132153" y="12410"/>
                    <a:pt x="136639" y="16187"/>
                  </a:cubicBezTo>
                  <a:lnTo>
                    <a:pt x="159149" y="67412"/>
                  </a:lnTo>
                  <a:cubicBezTo>
                    <a:pt x="145847" y="63097"/>
                    <a:pt x="131253" y="66194"/>
                    <a:pt x="120849" y="75540"/>
                  </a:cubicBezTo>
                  <a:close/>
                  <a:moveTo>
                    <a:pt x="147043" y="130998"/>
                  </a:moveTo>
                  <a:cubicBezTo>
                    <a:pt x="132576" y="130998"/>
                    <a:pt x="120849" y="119270"/>
                    <a:pt x="120849" y="104804"/>
                  </a:cubicBezTo>
                  <a:cubicBezTo>
                    <a:pt x="120849" y="90337"/>
                    <a:pt x="132576" y="78610"/>
                    <a:pt x="147043" y="78610"/>
                  </a:cubicBezTo>
                  <a:cubicBezTo>
                    <a:pt x="161509" y="78610"/>
                    <a:pt x="173237" y="90337"/>
                    <a:pt x="173237" y="104804"/>
                  </a:cubicBezTo>
                  <a:cubicBezTo>
                    <a:pt x="173237" y="119270"/>
                    <a:pt x="161509" y="130998"/>
                    <a:pt x="147043" y="130998"/>
                  </a:cubicBezTo>
                  <a:close/>
                </a:path>
              </a:pathLst>
            </a:custGeom>
            <a:solidFill>
              <a:srgbClr val="1F5F9E"/>
            </a:solidFill>
            <a:ln>
              <a:noFill/>
            </a:ln>
          </p:spPr>
        </p:sp>
      </p:grpSp>
      <p:grpSp>
        <p:nvGrpSpPr>
          <p:cNvPr id="24" name="Group 24"/>
          <p:cNvGrpSpPr/>
          <p:nvPr/>
        </p:nvGrpSpPr>
        <p:grpSpPr>
          <a:xfrm>
            <a:off x="922139" y="5870853"/>
            <a:ext cx="117872" cy="170259"/>
            <a:chOff x="922139" y="5870853"/>
            <a:chExt cx="117872" cy="170259"/>
          </a:xfrm>
        </p:grpSpPr>
        <p:sp>
          <p:nvSpPr>
            <p:cNvPr id="22" name="Freeform 22"/>
            <p:cNvSpPr/>
            <p:nvPr/>
          </p:nvSpPr>
          <p:spPr>
            <a:xfrm>
              <a:off x="937421" y="5923240"/>
              <a:ext cx="86971" cy="32742"/>
            </a:xfrm>
            <a:custGeom>
              <a:avLst/>
              <a:gdLst/>
              <a:ahLst/>
              <a:cxnLst/>
              <a:rect l="l" t="t" r="r" b="b"/>
              <a:pathLst>
                <a:path w="86971" h="32742">
                  <a:moveTo>
                    <a:pt x="86971" y="0"/>
                  </a:moveTo>
                  <a:lnTo>
                    <a:pt x="43654" y="32742"/>
                  </a:lnTo>
                  <a:lnTo>
                    <a:pt x="0" y="0"/>
                  </a:lnTo>
                  <a:close/>
                </a:path>
              </a:pathLst>
            </a:custGeom>
            <a:solidFill>
              <a:srgbClr val="1F5F9E">
                <a:alpha val="20000"/>
              </a:srgbClr>
            </a:solidFill>
            <a:ln>
              <a:noFill/>
            </a:ln>
          </p:spPr>
        </p:sp>
        <p:sp>
          <p:nvSpPr>
            <p:cNvPr id="23" name="Freeform 23"/>
            <p:cNvSpPr/>
            <p:nvPr/>
          </p:nvSpPr>
          <p:spPr>
            <a:xfrm>
              <a:off x="922139" y="5870853"/>
              <a:ext cx="117872" cy="170259"/>
            </a:xfrm>
            <a:custGeom>
              <a:avLst/>
              <a:gdLst/>
              <a:ahLst/>
              <a:cxnLst/>
              <a:rect l="l" t="t" r="r" b="b"/>
              <a:pathLst>
                <a:path w="117872" h="170259">
                  <a:moveTo>
                    <a:pt x="117872" y="42270"/>
                  </a:moveTo>
                  <a:lnTo>
                    <a:pt x="117872" y="13097"/>
                  </a:lnTo>
                  <a:cubicBezTo>
                    <a:pt x="117872" y="5864"/>
                    <a:pt x="112008" y="0"/>
                    <a:pt x="104775" y="0"/>
                  </a:cubicBezTo>
                  <a:lnTo>
                    <a:pt x="13097" y="0"/>
                  </a:lnTo>
                  <a:cubicBezTo>
                    <a:pt x="5864" y="0"/>
                    <a:pt x="0" y="5864"/>
                    <a:pt x="0" y="13097"/>
                  </a:cubicBezTo>
                  <a:lnTo>
                    <a:pt x="0" y="42565"/>
                  </a:lnTo>
                  <a:cubicBezTo>
                    <a:pt x="9" y="46685"/>
                    <a:pt x="1948" y="50563"/>
                    <a:pt x="5239" y="53042"/>
                  </a:cubicBezTo>
                  <a:lnTo>
                    <a:pt x="48025" y="85130"/>
                  </a:lnTo>
                  <a:lnTo>
                    <a:pt x="5239" y="117217"/>
                  </a:lnTo>
                  <a:cubicBezTo>
                    <a:pt x="1948" y="119696"/>
                    <a:pt x="9" y="123574"/>
                    <a:pt x="0" y="127695"/>
                  </a:cubicBezTo>
                  <a:lnTo>
                    <a:pt x="0" y="157162"/>
                  </a:lnTo>
                  <a:cubicBezTo>
                    <a:pt x="0" y="164396"/>
                    <a:pt x="5864" y="170259"/>
                    <a:pt x="13097" y="170259"/>
                  </a:cubicBezTo>
                  <a:lnTo>
                    <a:pt x="104775" y="170259"/>
                  </a:lnTo>
                  <a:cubicBezTo>
                    <a:pt x="112008" y="170259"/>
                    <a:pt x="117872" y="164396"/>
                    <a:pt x="117872" y="157162"/>
                  </a:cubicBezTo>
                  <a:lnTo>
                    <a:pt x="117872" y="127989"/>
                  </a:lnTo>
                  <a:cubicBezTo>
                    <a:pt x="117862" y="123885"/>
                    <a:pt x="115941" y="120020"/>
                    <a:pt x="112674" y="117536"/>
                  </a:cubicBezTo>
                  <a:lnTo>
                    <a:pt x="69798" y="85130"/>
                  </a:lnTo>
                  <a:lnTo>
                    <a:pt x="112674" y="52723"/>
                  </a:lnTo>
                  <a:cubicBezTo>
                    <a:pt x="115941" y="50239"/>
                    <a:pt x="117862" y="46374"/>
                    <a:pt x="117872" y="42270"/>
                  </a:cubicBezTo>
                  <a:close/>
                  <a:moveTo>
                    <a:pt x="13097" y="13097"/>
                  </a:moveTo>
                  <a:lnTo>
                    <a:pt x="104775" y="13097"/>
                  </a:lnTo>
                  <a:lnTo>
                    <a:pt x="104775" y="42270"/>
                  </a:lnTo>
                  <a:lnTo>
                    <a:pt x="100052" y="45839"/>
                  </a:lnTo>
                  <a:lnTo>
                    <a:pt x="17460" y="45839"/>
                  </a:lnTo>
                  <a:lnTo>
                    <a:pt x="13097" y="42565"/>
                  </a:lnTo>
                  <a:close/>
                  <a:moveTo>
                    <a:pt x="58936" y="76944"/>
                  </a:moveTo>
                  <a:lnTo>
                    <a:pt x="34928" y="58936"/>
                  </a:lnTo>
                  <a:lnTo>
                    <a:pt x="82731" y="58936"/>
                  </a:lnTo>
                  <a:close/>
                  <a:moveTo>
                    <a:pt x="104775" y="157162"/>
                  </a:moveTo>
                  <a:lnTo>
                    <a:pt x="13097" y="157162"/>
                  </a:lnTo>
                  <a:lnTo>
                    <a:pt x="13097" y="127695"/>
                  </a:lnTo>
                  <a:lnTo>
                    <a:pt x="52388" y="98227"/>
                  </a:lnTo>
                  <a:lnTo>
                    <a:pt x="52388" y="117872"/>
                  </a:lnTo>
                  <a:cubicBezTo>
                    <a:pt x="52388" y="121488"/>
                    <a:pt x="55319" y="124420"/>
                    <a:pt x="58936" y="124420"/>
                  </a:cubicBezTo>
                  <a:cubicBezTo>
                    <a:pt x="62553" y="124420"/>
                    <a:pt x="65484" y="121488"/>
                    <a:pt x="65484" y="117872"/>
                  </a:cubicBezTo>
                  <a:lnTo>
                    <a:pt x="65484" y="98292"/>
                  </a:lnTo>
                  <a:lnTo>
                    <a:pt x="104775" y="127989"/>
                  </a:lnTo>
                  <a:close/>
                </a:path>
              </a:pathLst>
            </a:custGeom>
            <a:solidFill>
              <a:srgbClr val="1F5F9E"/>
            </a:solidFill>
            <a:ln>
              <a:noFill/>
            </a:ln>
          </p:spPr>
        </p:sp>
      </p:grpSp>
      <p:sp>
        <p:nvSpPr>
          <p:cNvPr id="25" name="TextBox 25"/>
          <p:cNvSpPr txBox="1"/>
          <p:nvPr/>
        </p:nvSpPr>
        <p:spPr>
          <a:xfrm>
            <a:off x="1149668" y="5907881"/>
            <a:ext cx="2489687"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5d Effort hazard ratio by year</a:t>
            </a:r>
          </a:p>
        </p:txBody>
      </p:sp>
      <p:sp>
        <p:nvSpPr>
          <p:cNvPr id="26" name="Rectangle 26"/>
          <p:cNvSpPr/>
          <p:nvPr/>
        </p:nvSpPr>
        <p:spPr>
          <a:xfrm>
            <a:off x="7029450" y="1390650"/>
            <a:ext cx="4648200" cy="1181100"/>
          </a:xfrm>
          <a:prstGeom prst="roundRect">
            <a:avLst>
              <a:gd name="adj" fmla="val 8065"/>
            </a:avLst>
          </a:prstGeom>
          <a:solidFill>
            <a:srgbClr val="FFFFFF"/>
          </a:solidFill>
          <a:ln w="15240">
            <a:solidFill>
              <a:srgbClr val="1F5F9E"/>
            </a:solidFill>
          </a:ln>
        </p:spPr>
      </p:sp>
      <p:grpSp>
        <p:nvGrpSpPr>
          <p:cNvPr id="29" name="Group 29"/>
          <p:cNvGrpSpPr/>
          <p:nvPr/>
        </p:nvGrpSpPr>
        <p:grpSpPr>
          <a:xfrm>
            <a:off x="7176600" y="1549559"/>
            <a:ext cx="258152" cy="200591"/>
            <a:chOff x="7176600" y="1549559"/>
            <a:chExt cx="258152" cy="200591"/>
          </a:xfrm>
        </p:grpSpPr>
        <p:sp>
          <p:nvSpPr>
            <p:cNvPr id="27" name="Freeform 27"/>
            <p:cNvSpPr/>
            <p:nvPr/>
          </p:nvSpPr>
          <p:spPr>
            <a:xfrm>
              <a:off x="7189589" y="1647825"/>
              <a:ext cx="232172" cy="89297"/>
            </a:xfrm>
            <a:custGeom>
              <a:avLst/>
              <a:gdLst/>
              <a:ahLst/>
              <a:cxnLst/>
              <a:rect l="l" t="t" r="r" b="b"/>
              <a:pathLst>
                <a:path w="232172" h="89297">
                  <a:moveTo>
                    <a:pt x="89297" y="44648"/>
                  </a:moveTo>
                  <a:cubicBezTo>
                    <a:pt x="89297" y="69307"/>
                    <a:pt x="69307" y="89297"/>
                    <a:pt x="44648" y="89297"/>
                  </a:cubicBezTo>
                  <a:cubicBezTo>
                    <a:pt x="19990" y="89297"/>
                    <a:pt x="0" y="69307"/>
                    <a:pt x="0" y="44648"/>
                  </a:cubicBezTo>
                  <a:cubicBezTo>
                    <a:pt x="0" y="19990"/>
                    <a:pt x="19990" y="0"/>
                    <a:pt x="44648" y="0"/>
                  </a:cubicBezTo>
                  <a:cubicBezTo>
                    <a:pt x="69307" y="0"/>
                    <a:pt x="89297" y="19990"/>
                    <a:pt x="89297" y="44648"/>
                  </a:cubicBezTo>
                  <a:close/>
                  <a:moveTo>
                    <a:pt x="187523" y="0"/>
                  </a:moveTo>
                  <a:cubicBezTo>
                    <a:pt x="162865" y="0"/>
                    <a:pt x="142875" y="19990"/>
                    <a:pt x="142875" y="44648"/>
                  </a:cubicBezTo>
                  <a:cubicBezTo>
                    <a:pt x="142875" y="69307"/>
                    <a:pt x="162865" y="89297"/>
                    <a:pt x="187523" y="89297"/>
                  </a:cubicBezTo>
                  <a:cubicBezTo>
                    <a:pt x="212182" y="89297"/>
                    <a:pt x="232172" y="69307"/>
                    <a:pt x="232172" y="44648"/>
                  </a:cubicBezTo>
                  <a:cubicBezTo>
                    <a:pt x="232172" y="19990"/>
                    <a:pt x="212182" y="0"/>
                    <a:pt x="187523" y="0"/>
                  </a:cubicBezTo>
                  <a:close/>
                </a:path>
              </a:pathLst>
            </a:custGeom>
            <a:solidFill>
              <a:srgbClr val="1F5F9E">
                <a:alpha val="20000"/>
              </a:srgbClr>
            </a:solidFill>
            <a:ln>
              <a:noFill/>
            </a:ln>
          </p:spPr>
        </p:sp>
        <p:sp>
          <p:nvSpPr>
            <p:cNvPr id="28" name="Freeform 28"/>
            <p:cNvSpPr/>
            <p:nvPr/>
          </p:nvSpPr>
          <p:spPr>
            <a:xfrm>
              <a:off x="7176600" y="1549559"/>
              <a:ext cx="258152" cy="200591"/>
            </a:xfrm>
            <a:custGeom>
              <a:avLst/>
              <a:gdLst/>
              <a:ahLst/>
              <a:cxnLst/>
              <a:rect l="l" t="t" r="r" b="b"/>
              <a:pathLst>
                <a:path w="258152" h="200591">
                  <a:moveTo>
                    <a:pt x="250966" y="124910"/>
                  </a:moveTo>
                  <a:lnTo>
                    <a:pt x="250966" y="124910"/>
                  </a:lnTo>
                  <a:cubicBezTo>
                    <a:pt x="250220" y="122829"/>
                    <a:pt x="249344" y="120797"/>
                    <a:pt x="248343" y="118826"/>
                  </a:cubicBezTo>
                  <a:lnTo>
                    <a:pt x="201919" y="13211"/>
                  </a:lnTo>
                  <a:cubicBezTo>
                    <a:pt x="201480" y="12193"/>
                    <a:pt x="200851" y="11269"/>
                    <a:pt x="200066" y="10487"/>
                  </a:cubicBezTo>
                  <a:cubicBezTo>
                    <a:pt x="193368" y="3787"/>
                    <a:pt x="184281" y="22"/>
                    <a:pt x="174807" y="22"/>
                  </a:cubicBezTo>
                  <a:cubicBezTo>
                    <a:pt x="165332" y="22"/>
                    <a:pt x="156246" y="3787"/>
                    <a:pt x="149547" y="10487"/>
                  </a:cubicBezTo>
                  <a:cubicBezTo>
                    <a:pt x="147878" y="12158"/>
                    <a:pt x="146939" y="14421"/>
                    <a:pt x="146935" y="16782"/>
                  </a:cubicBezTo>
                  <a:lnTo>
                    <a:pt x="146935" y="44688"/>
                  </a:lnTo>
                  <a:lnTo>
                    <a:pt x="111216" y="44688"/>
                  </a:lnTo>
                  <a:lnTo>
                    <a:pt x="111216" y="16782"/>
                  </a:lnTo>
                  <a:cubicBezTo>
                    <a:pt x="111218" y="14413"/>
                    <a:pt x="110278" y="12141"/>
                    <a:pt x="108604" y="10465"/>
                  </a:cubicBezTo>
                  <a:cubicBezTo>
                    <a:pt x="101905" y="3764"/>
                    <a:pt x="92819" y="0"/>
                    <a:pt x="83344" y="0"/>
                  </a:cubicBezTo>
                  <a:cubicBezTo>
                    <a:pt x="73870" y="0"/>
                    <a:pt x="64783" y="3764"/>
                    <a:pt x="58084" y="10465"/>
                  </a:cubicBezTo>
                  <a:cubicBezTo>
                    <a:pt x="57300" y="11247"/>
                    <a:pt x="56671" y="12171"/>
                    <a:pt x="56232" y="13188"/>
                  </a:cubicBezTo>
                  <a:lnTo>
                    <a:pt x="9808" y="118804"/>
                  </a:lnTo>
                  <a:cubicBezTo>
                    <a:pt x="8807" y="120775"/>
                    <a:pt x="7931" y="122807"/>
                    <a:pt x="7185" y="124887"/>
                  </a:cubicBezTo>
                  <a:lnTo>
                    <a:pt x="7185" y="124887"/>
                  </a:lnTo>
                  <a:cubicBezTo>
                    <a:pt x="0" y="144992"/>
                    <a:pt x="5437" y="167443"/>
                    <a:pt x="21023" y="182034"/>
                  </a:cubicBezTo>
                  <a:cubicBezTo>
                    <a:pt x="36609" y="196624"/>
                    <a:pt x="59371" y="200568"/>
                    <a:pt x="78957" y="192073"/>
                  </a:cubicBezTo>
                  <a:cubicBezTo>
                    <a:pt x="98544" y="183577"/>
                    <a:pt x="111218" y="164264"/>
                    <a:pt x="111216" y="142914"/>
                  </a:cubicBezTo>
                  <a:lnTo>
                    <a:pt x="111216" y="62547"/>
                  </a:lnTo>
                  <a:lnTo>
                    <a:pt x="146935" y="62547"/>
                  </a:lnTo>
                  <a:lnTo>
                    <a:pt x="146935" y="142914"/>
                  </a:lnTo>
                  <a:cubicBezTo>
                    <a:pt x="146924" y="164267"/>
                    <a:pt x="159593" y="183587"/>
                    <a:pt x="179180" y="192089"/>
                  </a:cubicBezTo>
                  <a:cubicBezTo>
                    <a:pt x="198767" y="200591"/>
                    <a:pt x="221532" y="196651"/>
                    <a:pt x="237122" y="182061"/>
                  </a:cubicBezTo>
                  <a:cubicBezTo>
                    <a:pt x="252713" y="167471"/>
                    <a:pt x="258152" y="145017"/>
                    <a:pt x="250966" y="124910"/>
                  </a:cubicBezTo>
                  <a:close/>
                  <a:moveTo>
                    <a:pt x="71825" y="22084"/>
                  </a:moveTo>
                  <a:cubicBezTo>
                    <a:pt x="77943" y="16933"/>
                    <a:pt x="86739" y="16477"/>
                    <a:pt x="93357" y="20968"/>
                  </a:cubicBezTo>
                  <a:lnTo>
                    <a:pt x="93357" y="103021"/>
                  </a:lnTo>
                  <a:cubicBezTo>
                    <a:pt x="79168" y="90280"/>
                    <a:pt x="59267" y="86061"/>
                    <a:pt x="41129" y="91948"/>
                  </a:cubicBezTo>
                  <a:close/>
                  <a:moveTo>
                    <a:pt x="57638" y="178633"/>
                  </a:moveTo>
                  <a:cubicBezTo>
                    <a:pt x="37911" y="178633"/>
                    <a:pt x="21919" y="162641"/>
                    <a:pt x="21919" y="142914"/>
                  </a:cubicBezTo>
                  <a:cubicBezTo>
                    <a:pt x="21919" y="123187"/>
                    <a:pt x="37911" y="107196"/>
                    <a:pt x="57638" y="107196"/>
                  </a:cubicBezTo>
                  <a:cubicBezTo>
                    <a:pt x="77365" y="107196"/>
                    <a:pt x="93357" y="123187"/>
                    <a:pt x="93357" y="142914"/>
                  </a:cubicBezTo>
                  <a:cubicBezTo>
                    <a:pt x="93357" y="162641"/>
                    <a:pt x="77365" y="178633"/>
                    <a:pt x="57638" y="178633"/>
                  </a:cubicBezTo>
                  <a:close/>
                  <a:moveTo>
                    <a:pt x="164794" y="20957"/>
                  </a:moveTo>
                  <a:cubicBezTo>
                    <a:pt x="171412" y="16466"/>
                    <a:pt x="180208" y="16922"/>
                    <a:pt x="186326" y="22073"/>
                  </a:cubicBezTo>
                  <a:lnTo>
                    <a:pt x="217022" y="91926"/>
                  </a:lnTo>
                  <a:cubicBezTo>
                    <a:pt x="198882" y="86042"/>
                    <a:pt x="178981" y="90265"/>
                    <a:pt x="164794" y="103010"/>
                  </a:cubicBezTo>
                  <a:close/>
                  <a:moveTo>
                    <a:pt x="200513" y="178633"/>
                  </a:moveTo>
                  <a:cubicBezTo>
                    <a:pt x="180786" y="178633"/>
                    <a:pt x="164794" y="162641"/>
                    <a:pt x="164794" y="142914"/>
                  </a:cubicBezTo>
                  <a:cubicBezTo>
                    <a:pt x="164794" y="123187"/>
                    <a:pt x="180786" y="107196"/>
                    <a:pt x="200513" y="107196"/>
                  </a:cubicBezTo>
                  <a:cubicBezTo>
                    <a:pt x="220240" y="107196"/>
                    <a:pt x="236232" y="123187"/>
                    <a:pt x="236232" y="142914"/>
                  </a:cubicBezTo>
                  <a:cubicBezTo>
                    <a:pt x="236232" y="162641"/>
                    <a:pt x="220240" y="178633"/>
                    <a:pt x="200513" y="178633"/>
                  </a:cubicBezTo>
                  <a:close/>
                </a:path>
              </a:pathLst>
            </a:custGeom>
            <a:solidFill>
              <a:srgbClr val="1F5F9E"/>
            </a:solidFill>
            <a:ln>
              <a:noFill/>
            </a:ln>
          </p:spPr>
        </p:sp>
      </p:grpSp>
      <p:sp>
        <p:nvSpPr>
          <p:cNvPr id="30" name="TextBox 30"/>
          <p:cNvSpPr txBox="1"/>
          <p:nvPr/>
        </p:nvSpPr>
        <p:spPr>
          <a:xfrm>
            <a:off x="7509510" y="1584960"/>
            <a:ext cx="1605857" cy="243840"/>
          </a:xfrm>
          <a:prstGeom prst="rect">
            <a:avLst/>
          </a:prstGeom>
          <a:noFill/>
          <a:ln>
            <a:noFill/>
          </a:ln>
        </p:spPr>
        <p:txBody>
          <a:bodyPr wrap="none" lIns="0" tIns="0" rIns="0" bIns="0" anchor="t" anchorCtr="0">
            <a:spAutoFit/>
          </a:bodyPr>
          <a:lstStyle/>
          <a:p>
            <a:pPr algn="l"/>
            <a:r>
              <a:rPr lang="zh-CN" sz="1200" b="1" dirty="0">
                <a:solidFill>
                  <a:srgbClr val="1F5F9E"/>
                </a:solidFill>
                <a:latin typeface="Arial"/>
                <a:ea typeface="Microsoft YaHei"/>
                <a:cs typeface="Arial"/>
              </a:rPr>
              <a:t>Return on effort</a:t>
            </a:r>
          </a:p>
        </p:txBody>
      </p:sp>
      <p:sp>
        <p:nvSpPr>
          <p:cNvPr id="31" name="TextBox 31"/>
          <p:cNvSpPr txBox="1"/>
          <p:nvPr/>
        </p:nvSpPr>
        <p:spPr>
          <a:xfrm>
            <a:off x="7147560" y="1842135"/>
            <a:ext cx="2367553" cy="548640"/>
          </a:xfrm>
          <a:prstGeom prst="rect">
            <a:avLst/>
          </a:prstGeom>
          <a:noFill/>
          <a:ln>
            <a:noFill/>
          </a:ln>
        </p:spPr>
        <p:txBody>
          <a:bodyPr wrap="none" lIns="0" tIns="0" rIns="0" bIns="0" anchor="t" anchorCtr="0">
            <a:spAutoFit/>
          </a:bodyPr>
          <a:lstStyle/>
          <a:p>
            <a:pPr algn="l"/>
            <a:r>
              <a:rPr lang="zh-CN" sz="2700" b="1" dirty="0">
                <a:solidFill>
                  <a:srgbClr val="1F5F9E"/>
                </a:solidFill>
                <a:latin typeface="Arial"/>
                <a:ea typeface="Microsoft YaHei"/>
                <a:cs typeface="Arial"/>
              </a:rPr>
              <a:t>2.18 → 1.07</a:t>
            </a:r>
          </a:p>
        </p:txBody>
      </p:sp>
      <p:sp>
        <p:nvSpPr>
          <p:cNvPr id="32" name="TextBox 32"/>
          <p:cNvSpPr txBox="1"/>
          <p:nvPr/>
        </p:nvSpPr>
        <p:spPr>
          <a:xfrm>
            <a:off x="7168515" y="2325052"/>
            <a:ext cx="2655132"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HR per SD, 2002 → 2024; P = 0.00077</a:t>
            </a:r>
          </a:p>
        </p:txBody>
      </p:sp>
      <p:sp>
        <p:nvSpPr>
          <p:cNvPr id="33" name="Rectangle 33"/>
          <p:cNvSpPr/>
          <p:nvPr/>
        </p:nvSpPr>
        <p:spPr>
          <a:xfrm>
            <a:off x="7029450" y="2743200"/>
            <a:ext cx="4648200" cy="1181100"/>
          </a:xfrm>
          <a:prstGeom prst="roundRect">
            <a:avLst>
              <a:gd name="adj" fmla="val 8065"/>
            </a:avLst>
          </a:prstGeom>
          <a:solidFill>
            <a:srgbClr val="FFFFFF"/>
          </a:solidFill>
          <a:ln w="15240">
            <a:solidFill>
              <a:srgbClr val="D1552C"/>
            </a:solidFill>
          </a:ln>
        </p:spPr>
      </p:sp>
      <p:grpSp>
        <p:nvGrpSpPr>
          <p:cNvPr id="36" name="Group 36"/>
          <p:cNvGrpSpPr/>
          <p:nvPr/>
        </p:nvGrpSpPr>
        <p:grpSpPr>
          <a:xfrm>
            <a:off x="7217932" y="2866430"/>
            <a:ext cx="222556" cy="273470"/>
            <a:chOff x="7217932" y="2866430"/>
            <a:chExt cx="222556" cy="273470"/>
          </a:xfrm>
        </p:grpSpPr>
        <p:sp>
          <p:nvSpPr>
            <p:cNvPr id="34" name="Freeform 34"/>
            <p:cNvSpPr/>
            <p:nvPr/>
          </p:nvSpPr>
          <p:spPr>
            <a:xfrm>
              <a:off x="7228927" y="2875359"/>
              <a:ext cx="135636" cy="249983"/>
            </a:xfrm>
            <a:custGeom>
              <a:avLst/>
              <a:gdLst/>
              <a:ahLst/>
              <a:cxnLst/>
              <a:rect l="l" t="t" r="r" b="b"/>
              <a:pathLst>
                <a:path w="135636" h="249983">
                  <a:moveTo>
                    <a:pt x="103537" y="136178"/>
                  </a:moveTo>
                  <a:lnTo>
                    <a:pt x="103537" y="35719"/>
                  </a:lnTo>
                  <a:cubicBezTo>
                    <a:pt x="103537" y="15992"/>
                    <a:pt x="87545" y="0"/>
                    <a:pt x="67818" y="0"/>
                  </a:cubicBezTo>
                  <a:cubicBezTo>
                    <a:pt x="48091" y="0"/>
                    <a:pt x="32099" y="15992"/>
                    <a:pt x="32099" y="35719"/>
                  </a:cubicBezTo>
                  <a:lnTo>
                    <a:pt x="32099" y="136178"/>
                  </a:lnTo>
                  <a:cubicBezTo>
                    <a:pt x="9686" y="151784"/>
                    <a:pt x="0" y="180135"/>
                    <a:pt x="8179" y="206193"/>
                  </a:cubicBezTo>
                  <a:cubicBezTo>
                    <a:pt x="16357" y="232251"/>
                    <a:pt x="40506" y="249983"/>
                    <a:pt x="67818" y="249983"/>
                  </a:cubicBezTo>
                  <a:cubicBezTo>
                    <a:pt x="95129" y="249983"/>
                    <a:pt x="119279" y="232251"/>
                    <a:pt x="127457" y="206193"/>
                  </a:cubicBezTo>
                  <a:cubicBezTo>
                    <a:pt x="135636" y="180135"/>
                    <a:pt x="125950" y="151784"/>
                    <a:pt x="103537" y="136178"/>
                  </a:cubicBezTo>
                  <a:close/>
                  <a:moveTo>
                    <a:pt x="67818" y="214312"/>
                  </a:moveTo>
                  <a:cubicBezTo>
                    <a:pt x="53023" y="214312"/>
                    <a:pt x="41029" y="202319"/>
                    <a:pt x="41029" y="187523"/>
                  </a:cubicBezTo>
                  <a:cubicBezTo>
                    <a:pt x="41029" y="172728"/>
                    <a:pt x="53023" y="160734"/>
                    <a:pt x="67818" y="160734"/>
                  </a:cubicBezTo>
                  <a:cubicBezTo>
                    <a:pt x="82613" y="160734"/>
                    <a:pt x="94607" y="172728"/>
                    <a:pt x="94607" y="187523"/>
                  </a:cubicBezTo>
                  <a:cubicBezTo>
                    <a:pt x="94607" y="202319"/>
                    <a:pt x="82613" y="214312"/>
                    <a:pt x="67818" y="214312"/>
                  </a:cubicBezTo>
                  <a:close/>
                </a:path>
              </a:pathLst>
            </a:custGeom>
            <a:solidFill>
              <a:srgbClr val="D1552C">
                <a:alpha val="20000"/>
              </a:srgbClr>
            </a:solidFill>
            <a:ln>
              <a:noFill/>
            </a:ln>
          </p:spPr>
        </p:sp>
        <p:sp>
          <p:nvSpPr>
            <p:cNvPr id="35" name="Freeform 35"/>
            <p:cNvSpPr/>
            <p:nvPr/>
          </p:nvSpPr>
          <p:spPr>
            <a:xfrm>
              <a:off x="7217932" y="2866430"/>
              <a:ext cx="222556" cy="273470"/>
            </a:xfrm>
            <a:custGeom>
              <a:avLst/>
              <a:gdLst/>
              <a:ahLst/>
              <a:cxnLst/>
              <a:rect l="l" t="t" r="r" b="b"/>
              <a:pathLst>
                <a:path w="222556" h="273470">
                  <a:moveTo>
                    <a:pt x="142895" y="80970"/>
                  </a:moveTo>
                  <a:cubicBezTo>
                    <a:pt x="140102" y="76910"/>
                    <a:pt x="141126" y="71355"/>
                    <a:pt x="145183" y="68558"/>
                  </a:cubicBezTo>
                  <a:cubicBezTo>
                    <a:pt x="156792" y="60543"/>
                    <a:pt x="174963" y="60543"/>
                    <a:pt x="186572" y="68558"/>
                  </a:cubicBezTo>
                  <a:cubicBezTo>
                    <a:pt x="192153" y="72431"/>
                    <a:pt x="202065" y="72431"/>
                    <a:pt x="207691" y="68558"/>
                  </a:cubicBezTo>
                  <a:cubicBezTo>
                    <a:pt x="211742" y="65983"/>
                    <a:pt x="217104" y="67073"/>
                    <a:pt x="219830" y="71023"/>
                  </a:cubicBezTo>
                  <a:cubicBezTo>
                    <a:pt x="222556" y="74974"/>
                    <a:pt x="221671" y="80373"/>
                    <a:pt x="217826" y="83247"/>
                  </a:cubicBezTo>
                  <a:cubicBezTo>
                    <a:pt x="205191" y="91253"/>
                    <a:pt x="189072" y="91253"/>
                    <a:pt x="176437" y="83247"/>
                  </a:cubicBezTo>
                  <a:cubicBezTo>
                    <a:pt x="170856" y="79374"/>
                    <a:pt x="160944" y="79374"/>
                    <a:pt x="155318" y="83247"/>
                  </a:cubicBezTo>
                  <a:cubicBezTo>
                    <a:pt x="153369" y="84593"/>
                    <a:pt x="150965" y="85109"/>
                    <a:pt x="148635" y="84682"/>
                  </a:cubicBezTo>
                  <a:cubicBezTo>
                    <a:pt x="146305" y="84255"/>
                    <a:pt x="144240" y="82920"/>
                    <a:pt x="142895" y="80970"/>
                  </a:cubicBezTo>
                  <a:close/>
                  <a:moveTo>
                    <a:pt x="207691" y="104276"/>
                  </a:moveTo>
                  <a:cubicBezTo>
                    <a:pt x="202110" y="108150"/>
                    <a:pt x="192198" y="108150"/>
                    <a:pt x="186572" y="104276"/>
                  </a:cubicBezTo>
                  <a:cubicBezTo>
                    <a:pt x="174963" y="96262"/>
                    <a:pt x="156792" y="96262"/>
                    <a:pt x="145183" y="104276"/>
                  </a:cubicBezTo>
                  <a:cubicBezTo>
                    <a:pt x="142422" y="106031"/>
                    <a:pt x="140841" y="109154"/>
                    <a:pt x="141063" y="112418"/>
                  </a:cubicBezTo>
                  <a:cubicBezTo>
                    <a:pt x="141284" y="115681"/>
                    <a:pt x="143272" y="118563"/>
                    <a:pt x="146245" y="119928"/>
                  </a:cubicBezTo>
                  <a:cubicBezTo>
                    <a:pt x="149217" y="121293"/>
                    <a:pt x="152698" y="120924"/>
                    <a:pt x="155318" y="118966"/>
                  </a:cubicBezTo>
                  <a:cubicBezTo>
                    <a:pt x="160899" y="115093"/>
                    <a:pt x="170811" y="115093"/>
                    <a:pt x="176437" y="118966"/>
                  </a:cubicBezTo>
                  <a:cubicBezTo>
                    <a:pt x="189072" y="126971"/>
                    <a:pt x="205191" y="126971"/>
                    <a:pt x="217826" y="118966"/>
                  </a:cubicBezTo>
                  <a:cubicBezTo>
                    <a:pt x="221671" y="116092"/>
                    <a:pt x="222556" y="110693"/>
                    <a:pt x="219830" y="106742"/>
                  </a:cubicBezTo>
                  <a:cubicBezTo>
                    <a:pt x="217104" y="102791"/>
                    <a:pt x="211742" y="101702"/>
                    <a:pt x="207691" y="104276"/>
                  </a:cubicBezTo>
                  <a:close/>
                  <a:moveTo>
                    <a:pt x="114532" y="196453"/>
                  </a:moveTo>
                  <a:cubicBezTo>
                    <a:pt x="114522" y="215013"/>
                    <a:pt x="100300" y="230473"/>
                    <a:pt x="81806" y="232028"/>
                  </a:cubicBezTo>
                  <a:cubicBezTo>
                    <a:pt x="63312" y="233583"/>
                    <a:pt x="46707" y="220715"/>
                    <a:pt x="43599" y="202418"/>
                  </a:cubicBezTo>
                  <a:cubicBezTo>
                    <a:pt x="40490" y="184120"/>
                    <a:pt x="51913" y="166491"/>
                    <a:pt x="69883" y="161851"/>
                  </a:cubicBezTo>
                  <a:lnTo>
                    <a:pt x="69883" y="44648"/>
                  </a:lnTo>
                  <a:cubicBezTo>
                    <a:pt x="69883" y="39717"/>
                    <a:pt x="73881" y="35719"/>
                    <a:pt x="78813" y="35719"/>
                  </a:cubicBezTo>
                  <a:cubicBezTo>
                    <a:pt x="83745" y="35719"/>
                    <a:pt x="87743" y="39717"/>
                    <a:pt x="87743" y="44648"/>
                  </a:cubicBezTo>
                  <a:lnTo>
                    <a:pt x="87743" y="161851"/>
                  </a:lnTo>
                  <a:cubicBezTo>
                    <a:pt x="103506" y="165945"/>
                    <a:pt x="114516" y="180167"/>
                    <a:pt x="114532" y="196453"/>
                  </a:cubicBezTo>
                  <a:close/>
                  <a:moveTo>
                    <a:pt x="96672" y="196453"/>
                  </a:moveTo>
                  <a:cubicBezTo>
                    <a:pt x="96672" y="186590"/>
                    <a:pt x="88676" y="178594"/>
                    <a:pt x="78813" y="178594"/>
                  </a:cubicBezTo>
                  <a:cubicBezTo>
                    <a:pt x="68950" y="178594"/>
                    <a:pt x="60954" y="186590"/>
                    <a:pt x="60954" y="196453"/>
                  </a:cubicBezTo>
                  <a:cubicBezTo>
                    <a:pt x="60954" y="206317"/>
                    <a:pt x="68950" y="214312"/>
                    <a:pt x="78813" y="214312"/>
                  </a:cubicBezTo>
                  <a:cubicBezTo>
                    <a:pt x="88676" y="214312"/>
                    <a:pt x="96672" y="206317"/>
                    <a:pt x="96672" y="196453"/>
                  </a:cubicBezTo>
                  <a:close/>
                  <a:moveTo>
                    <a:pt x="150251" y="196453"/>
                  </a:moveTo>
                  <a:cubicBezTo>
                    <a:pt x="150230" y="229760"/>
                    <a:pt x="127195" y="258632"/>
                    <a:pt x="94725" y="266051"/>
                  </a:cubicBezTo>
                  <a:cubicBezTo>
                    <a:pt x="62255" y="273470"/>
                    <a:pt x="28967" y="257466"/>
                    <a:pt x="14484" y="227474"/>
                  </a:cubicBezTo>
                  <a:cubicBezTo>
                    <a:pt x="0" y="197481"/>
                    <a:pt x="8165" y="161459"/>
                    <a:pt x="34165" y="140643"/>
                  </a:cubicBezTo>
                  <a:lnTo>
                    <a:pt x="34165" y="44648"/>
                  </a:lnTo>
                  <a:cubicBezTo>
                    <a:pt x="34165" y="19990"/>
                    <a:pt x="54154" y="0"/>
                    <a:pt x="78813" y="0"/>
                  </a:cubicBezTo>
                  <a:cubicBezTo>
                    <a:pt x="103472" y="0"/>
                    <a:pt x="123461" y="19990"/>
                    <a:pt x="123461" y="44648"/>
                  </a:cubicBezTo>
                  <a:lnTo>
                    <a:pt x="123461" y="140643"/>
                  </a:lnTo>
                  <a:cubicBezTo>
                    <a:pt x="140396" y="154218"/>
                    <a:pt x="150251" y="174749"/>
                    <a:pt x="150251" y="196453"/>
                  </a:cubicBezTo>
                  <a:close/>
                  <a:moveTo>
                    <a:pt x="132391" y="196453"/>
                  </a:moveTo>
                  <a:cubicBezTo>
                    <a:pt x="132377" y="178921"/>
                    <a:pt x="123800" y="162502"/>
                    <a:pt x="109420" y="152474"/>
                  </a:cubicBezTo>
                  <a:cubicBezTo>
                    <a:pt x="107014" y="150795"/>
                    <a:pt x="105587" y="148041"/>
                    <a:pt x="105602" y="145107"/>
                  </a:cubicBezTo>
                  <a:lnTo>
                    <a:pt x="105602" y="44648"/>
                  </a:lnTo>
                  <a:cubicBezTo>
                    <a:pt x="105602" y="29853"/>
                    <a:pt x="93608" y="17859"/>
                    <a:pt x="78813" y="17859"/>
                  </a:cubicBezTo>
                  <a:cubicBezTo>
                    <a:pt x="64018" y="17859"/>
                    <a:pt x="52024" y="29853"/>
                    <a:pt x="52024" y="44648"/>
                  </a:cubicBezTo>
                  <a:lnTo>
                    <a:pt x="52024" y="145107"/>
                  </a:lnTo>
                  <a:cubicBezTo>
                    <a:pt x="52024" y="148025"/>
                    <a:pt x="50599" y="150759"/>
                    <a:pt x="48207" y="152430"/>
                  </a:cubicBezTo>
                  <a:cubicBezTo>
                    <a:pt x="27336" y="166955"/>
                    <a:pt x="19550" y="194149"/>
                    <a:pt x="29570" y="217519"/>
                  </a:cubicBezTo>
                  <a:cubicBezTo>
                    <a:pt x="39591" y="240889"/>
                    <a:pt x="64657" y="253997"/>
                    <a:pt x="89567" y="248893"/>
                  </a:cubicBezTo>
                  <a:cubicBezTo>
                    <a:pt x="114477" y="243790"/>
                    <a:pt x="132369" y="221881"/>
                    <a:pt x="132391" y="196453"/>
                  </a:cubicBezTo>
                  <a:close/>
                </a:path>
              </a:pathLst>
            </a:custGeom>
            <a:solidFill>
              <a:srgbClr val="D1552C"/>
            </a:solidFill>
            <a:ln>
              <a:noFill/>
            </a:ln>
          </p:spPr>
        </p:sp>
      </p:grpSp>
      <p:sp>
        <p:nvSpPr>
          <p:cNvPr id="37" name="TextBox 37"/>
          <p:cNvSpPr txBox="1"/>
          <p:nvPr/>
        </p:nvSpPr>
        <p:spPr>
          <a:xfrm>
            <a:off x="7509510" y="2937510"/>
            <a:ext cx="1657874" cy="243840"/>
          </a:xfrm>
          <a:prstGeom prst="rect">
            <a:avLst/>
          </a:prstGeom>
          <a:noFill/>
          <a:ln>
            <a:noFill/>
          </a:ln>
        </p:spPr>
        <p:txBody>
          <a:bodyPr wrap="none" lIns="0" tIns="0" rIns="0" bIns="0" anchor="t" anchorCtr="0">
            <a:spAutoFit/>
          </a:bodyPr>
          <a:lstStyle/>
          <a:p>
            <a:pPr algn="l"/>
            <a:r>
              <a:rPr lang="zh-CN" sz="1200" b="1" dirty="0">
                <a:solidFill>
                  <a:srgbClr val="D1552C"/>
                </a:solidFill>
                <a:latin typeface="Arial"/>
                <a:ea typeface="Microsoft YaHei"/>
                <a:cs typeface="Arial"/>
              </a:rPr>
              <a:t>Return on warming</a:t>
            </a:r>
          </a:p>
        </p:txBody>
      </p:sp>
      <p:sp>
        <p:nvSpPr>
          <p:cNvPr id="38" name="TextBox 38"/>
          <p:cNvSpPr txBox="1"/>
          <p:nvPr/>
        </p:nvSpPr>
        <p:spPr>
          <a:xfrm>
            <a:off x="7147560" y="3194685"/>
            <a:ext cx="1610982" cy="548640"/>
          </a:xfrm>
          <a:prstGeom prst="rect">
            <a:avLst/>
          </a:prstGeom>
          <a:noFill/>
          <a:ln>
            <a:noFill/>
          </a:ln>
        </p:spPr>
        <p:txBody>
          <a:bodyPr wrap="none" lIns="0" tIns="0" rIns="0" bIns="0" anchor="t" anchorCtr="0">
            <a:spAutoFit/>
          </a:bodyPr>
          <a:lstStyle/>
          <a:p>
            <a:pPr algn="l"/>
            <a:r>
              <a:rPr lang="zh-CN" sz="2700" b="1" dirty="0">
                <a:solidFill>
                  <a:srgbClr val="D1552C"/>
                </a:solidFill>
                <a:latin typeface="Arial"/>
                <a:ea typeface="Microsoft YaHei"/>
                <a:cs typeface="Arial"/>
              </a:rPr>
              <a:t>P = 0.82</a:t>
            </a:r>
          </a:p>
        </p:txBody>
      </p:sp>
      <p:sp>
        <p:nvSpPr>
          <p:cNvPr id="39" name="TextBox 39"/>
          <p:cNvSpPr txBox="1"/>
          <p:nvPr/>
        </p:nvSpPr>
        <p:spPr>
          <a:xfrm>
            <a:off x="7168515" y="3677602"/>
            <a:ext cx="2487978" cy="213360"/>
          </a:xfrm>
          <a:prstGeom prst="rect">
            <a:avLst/>
          </a:prstGeom>
          <a:noFill/>
          <a:ln>
            <a:noFill/>
          </a:ln>
        </p:spPr>
        <p:txBody>
          <a:bodyPr wrap="none" lIns="0" tIns="0" rIns="0" bIns="0" anchor="t" anchorCtr="0">
            <a:spAutoFit/>
          </a:bodyPr>
          <a:lstStyle/>
          <a:p>
            <a:pPr algn="l"/>
            <a:r>
              <a:rPr lang="zh-CN" sz="1050" dirty="0">
                <a:solidFill>
                  <a:srgbClr val="6B6B6B"/>
                </a:solidFill>
                <a:latin typeface="Arial"/>
                <a:ea typeface="Microsoft YaHei"/>
                <a:cs typeface="Arial"/>
              </a:rPr>
              <a:t>warming × time: no trend; HR 1.37</a:t>
            </a:r>
          </a:p>
        </p:txBody>
      </p:sp>
      <p:sp>
        <p:nvSpPr>
          <p:cNvPr id="40" name="Rectangle 40"/>
          <p:cNvSpPr/>
          <p:nvPr/>
        </p:nvSpPr>
        <p:spPr>
          <a:xfrm>
            <a:off x="7029450" y="4095750"/>
            <a:ext cx="4648200" cy="2324100"/>
          </a:xfrm>
          <a:prstGeom prst="roundRect">
            <a:avLst>
              <a:gd name="adj" fmla="val 4098"/>
            </a:avLst>
          </a:prstGeom>
          <a:solidFill>
            <a:srgbClr val="8B0012"/>
          </a:solidFill>
          <a:ln>
            <a:noFill/>
          </a:ln>
        </p:spPr>
      </p:sp>
      <p:grpSp>
        <p:nvGrpSpPr>
          <p:cNvPr id="43" name="Group 43"/>
          <p:cNvGrpSpPr/>
          <p:nvPr/>
        </p:nvGrpSpPr>
        <p:grpSpPr>
          <a:xfrm>
            <a:off x="7303294" y="4321969"/>
            <a:ext cx="214312" cy="309562"/>
            <a:chOff x="7303294" y="4321969"/>
            <a:chExt cx="214312" cy="309562"/>
          </a:xfrm>
        </p:grpSpPr>
        <p:sp>
          <p:nvSpPr>
            <p:cNvPr id="41" name="Freeform 41"/>
            <p:cNvSpPr/>
            <p:nvPr/>
          </p:nvSpPr>
          <p:spPr>
            <a:xfrm>
              <a:off x="7331080" y="4417219"/>
              <a:ext cx="158130" cy="59531"/>
            </a:xfrm>
            <a:custGeom>
              <a:avLst/>
              <a:gdLst/>
              <a:ahLst/>
              <a:cxnLst/>
              <a:rect l="l" t="t" r="r" b="b"/>
              <a:pathLst>
                <a:path w="158130" h="59531">
                  <a:moveTo>
                    <a:pt x="158130" y="0"/>
                  </a:moveTo>
                  <a:lnTo>
                    <a:pt x="79370" y="59531"/>
                  </a:lnTo>
                  <a:lnTo>
                    <a:pt x="0" y="0"/>
                  </a:lnTo>
                  <a:close/>
                </a:path>
              </a:pathLst>
            </a:custGeom>
            <a:solidFill>
              <a:srgbClr val="FFFFFF">
                <a:alpha val="20000"/>
              </a:srgbClr>
            </a:solidFill>
            <a:ln>
              <a:noFill/>
            </a:ln>
          </p:spPr>
        </p:sp>
        <p:sp>
          <p:nvSpPr>
            <p:cNvPr id="42" name="Freeform 42"/>
            <p:cNvSpPr/>
            <p:nvPr/>
          </p:nvSpPr>
          <p:spPr>
            <a:xfrm>
              <a:off x="7303294" y="4321969"/>
              <a:ext cx="214312" cy="309562"/>
            </a:xfrm>
            <a:custGeom>
              <a:avLst/>
              <a:gdLst/>
              <a:ahLst/>
              <a:cxnLst/>
              <a:rect l="l" t="t" r="r" b="b"/>
              <a:pathLst>
                <a:path w="214312" h="309562">
                  <a:moveTo>
                    <a:pt x="214312" y="76855"/>
                  </a:moveTo>
                  <a:lnTo>
                    <a:pt x="214312" y="23812"/>
                  </a:lnTo>
                  <a:cubicBezTo>
                    <a:pt x="214312" y="10661"/>
                    <a:pt x="203651" y="0"/>
                    <a:pt x="190500" y="0"/>
                  </a:cubicBezTo>
                  <a:lnTo>
                    <a:pt x="23812" y="0"/>
                  </a:lnTo>
                  <a:cubicBezTo>
                    <a:pt x="10661" y="0"/>
                    <a:pt x="0" y="10661"/>
                    <a:pt x="0" y="23812"/>
                  </a:cubicBezTo>
                  <a:lnTo>
                    <a:pt x="0" y="77391"/>
                  </a:lnTo>
                  <a:cubicBezTo>
                    <a:pt x="16" y="84882"/>
                    <a:pt x="3542" y="91933"/>
                    <a:pt x="9525" y="96441"/>
                  </a:cubicBezTo>
                  <a:lnTo>
                    <a:pt x="87317" y="154781"/>
                  </a:lnTo>
                  <a:lnTo>
                    <a:pt x="9525" y="213122"/>
                  </a:lnTo>
                  <a:cubicBezTo>
                    <a:pt x="3542" y="217630"/>
                    <a:pt x="16" y="224681"/>
                    <a:pt x="0" y="232172"/>
                  </a:cubicBezTo>
                  <a:lnTo>
                    <a:pt x="0" y="285750"/>
                  </a:lnTo>
                  <a:cubicBezTo>
                    <a:pt x="0" y="298901"/>
                    <a:pt x="10661" y="309562"/>
                    <a:pt x="23812" y="309562"/>
                  </a:cubicBezTo>
                  <a:lnTo>
                    <a:pt x="190500" y="309562"/>
                  </a:lnTo>
                  <a:cubicBezTo>
                    <a:pt x="203651" y="309562"/>
                    <a:pt x="214312" y="298901"/>
                    <a:pt x="214312" y="285750"/>
                  </a:cubicBezTo>
                  <a:lnTo>
                    <a:pt x="214312" y="232708"/>
                  </a:lnTo>
                  <a:cubicBezTo>
                    <a:pt x="214295" y="225246"/>
                    <a:pt x="210801" y="218219"/>
                    <a:pt x="204862" y="213702"/>
                  </a:cubicBezTo>
                  <a:lnTo>
                    <a:pt x="126906" y="154781"/>
                  </a:lnTo>
                  <a:lnTo>
                    <a:pt x="204862" y="95860"/>
                  </a:lnTo>
                  <a:cubicBezTo>
                    <a:pt x="210801" y="91343"/>
                    <a:pt x="214295" y="84316"/>
                    <a:pt x="214312" y="76855"/>
                  </a:cubicBezTo>
                  <a:close/>
                  <a:moveTo>
                    <a:pt x="23812" y="23812"/>
                  </a:moveTo>
                  <a:lnTo>
                    <a:pt x="190500" y="23812"/>
                  </a:lnTo>
                  <a:lnTo>
                    <a:pt x="190500" y="76855"/>
                  </a:lnTo>
                  <a:lnTo>
                    <a:pt x="181913" y="83344"/>
                  </a:lnTo>
                  <a:lnTo>
                    <a:pt x="31745" y="83344"/>
                  </a:lnTo>
                  <a:lnTo>
                    <a:pt x="23812" y="77391"/>
                  </a:lnTo>
                  <a:close/>
                  <a:moveTo>
                    <a:pt x="107156" y="139898"/>
                  </a:moveTo>
                  <a:lnTo>
                    <a:pt x="63505" y="107156"/>
                  </a:lnTo>
                  <a:lnTo>
                    <a:pt x="150421" y="107156"/>
                  </a:lnTo>
                  <a:close/>
                  <a:moveTo>
                    <a:pt x="190500" y="285750"/>
                  </a:moveTo>
                  <a:lnTo>
                    <a:pt x="23812" y="285750"/>
                  </a:lnTo>
                  <a:lnTo>
                    <a:pt x="23812" y="232172"/>
                  </a:lnTo>
                  <a:lnTo>
                    <a:pt x="95250" y="178594"/>
                  </a:lnTo>
                  <a:lnTo>
                    <a:pt x="95250" y="214312"/>
                  </a:lnTo>
                  <a:cubicBezTo>
                    <a:pt x="95250" y="220888"/>
                    <a:pt x="100581" y="226219"/>
                    <a:pt x="107156" y="226219"/>
                  </a:cubicBezTo>
                  <a:cubicBezTo>
                    <a:pt x="113732" y="226219"/>
                    <a:pt x="119062" y="220888"/>
                    <a:pt x="119062" y="214312"/>
                  </a:cubicBezTo>
                  <a:lnTo>
                    <a:pt x="119062" y="178713"/>
                  </a:lnTo>
                  <a:lnTo>
                    <a:pt x="190500" y="232708"/>
                  </a:lnTo>
                  <a:close/>
                </a:path>
              </a:pathLst>
            </a:custGeom>
            <a:solidFill>
              <a:srgbClr val="FFFFFF"/>
            </a:solidFill>
            <a:ln>
              <a:noFill/>
            </a:ln>
          </p:spPr>
        </p:sp>
      </p:grpSp>
      <p:sp>
        <p:nvSpPr>
          <p:cNvPr id="44" name="TextBox 44"/>
          <p:cNvSpPr txBox="1"/>
          <p:nvPr/>
        </p:nvSpPr>
        <p:spPr>
          <a:xfrm>
            <a:off x="7695248" y="4401979"/>
            <a:ext cx="2195466"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A stock and a flow</a:t>
            </a:r>
          </a:p>
        </p:txBody>
      </p:sp>
      <p:sp>
        <p:nvSpPr>
          <p:cNvPr id="45" name="TextBox 45"/>
          <p:cNvSpPr txBox="1"/>
          <p:nvPr/>
        </p:nvSpPr>
        <p:spPr>
          <a:xfrm>
            <a:off x="7221855" y="4883468"/>
            <a:ext cx="2660561"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Effort mines a finite stock</a:t>
            </a:r>
          </a:p>
        </p:txBody>
      </p:sp>
      <p:sp>
        <p:nvSpPr>
          <p:cNvPr id="46" name="TextBox 46"/>
          <p:cNvSpPr txBox="1"/>
          <p:nvPr/>
        </p:nvSpPr>
        <p:spPr>
          <a:xfrm>
            <a:off x="7221855" y="5169218"/>
            <a:ext cx="2976029"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of undocumented occurrences;</a:t>
            </a:r>
          </a:p>
        </p:txBody>
      </p:sp>
      <p:sp>
        <p:nvSpPr>
          <p:cNvPr id="47" name="TextBox 47"/>
          <p:cNvSpPr txBox="1"/>
          <p:nvPr/>
        </p:nvSpPr>
        <p:spPr>
          <a:xfrm>
            <a:off x="7221855" y="5454968"/>
            <a:ext cx="2037512"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warming keeps adding</a:t>
            </a:r>
          </a:p>
        </p:txBody>
      </p:sp>
      <p:sp>
        <p:nvSpPr>
          <p:cNvPr id="48" name="TextBox 48"/>
          <p:cNvSpPr txBox="1"/>
          <p:nvPr/>
        </p:nvSpPr>
        <p:spPr>
          <a:xfrm>
            <a:off x="7221855" y="5740718"/>
            <a:ext cx="1477556"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new candidates</a:t>
            </a:r>
          </a:p>
        </p:txBody>
      </p:sp>
      <p:sp>
        <p:nvSpPr>
          <p:cNvPr id="49" name="TextBox 49"/>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50" name="TextBox 50"/>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11</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Rectangle 10"/>
          <p:cNvSpPr/>
          <p:nvPr/>
        </p:nvSpPr>
        <p:spPr>
          <a:xfrm>
            <a:off x="8382000" y="0"/>
            <a:ext cx="1866900" cy="609600"/>
          </a:xfrm>
          <a:prstGeom prst="rect">
            <a:avLst/>
          </a:prstGeom>
          <a:solidFill>
            <a:srgbClr val="FFFFFF"/>
          </a:solidFill>
          <a:ln>
            <a:noFill/>
          </a:ln>
        </p:spPr>
      </p:sp>
      <p:sp>
        <p:nvSpPr>
          <p:cNvPr id="11" name="TextBox 11"/>
          <p:cNvSpPr txBox="1"/>
          <p:nvPr/>
        </p:nvSpPr>
        <p:spPr>
          <a:xfrm>
            <a:off x="84201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275486"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Finding 4</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7812809"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The eastward bias is geometry; net of it, records lean slightly north</a:t>
            </a:r>
          </a:p>
        </p:txBody>
      </p:sp>
      <p:sp>
        <p:nvSpPr>
          <p:cNvPr id="17" name="Rectangle 17"/>
          <p:cNvSpPr/>
          <p:nvPr/>
        </p:nvSpPr>
        <p:spPr>
          <a:xfrm>
            <a:off x="633412" y="1390650"/>
            <a:ext cx="4525328" cy="5029200"/>
          </a:xfrm>
          <a:prstGeom prst="roundRect">
            <a:avLst>
              <a:gd name="adj" fmla="val 2105"/>
            </a:avLst>
          </a:prstGeom>
          <a:solidFill>
            <a:srgbClr val="FFFFFF"/>
          </a:solidFill>
          <a:ln w="14288">
            <a:solidFill>
              <a:srgbClr val="D9C7CA"/>
            </a:solidFill>
          </a:ln>
        </p:spPr>
      </p:sp>
      <p:pic>
        <p:nvPicPr>
          <p:cNvPr id="18" name="Image 18"/>
          <p:cNvPicPr>
            <a:picLocks noChangeAspect="1"/>
          </p:cNvPicPr>
          <p:nvPr/>
        </p:nvPicPr>
        <p:blipFill>
          <a:blip r:embed="rId3"/>
          <a:stretch>
            <a:fillRect/>
          </a:stretch>
        </p:blipFill>
        <p:spPr>
          <a:xfrm>
            <a:off x="728662" y="1485900"/>
            <a:ext cx="4334828" cy="4552950"/>
          </a:xfrm>
          <a:prstGeom prst="rect">
            <a:avLst/>
          </a:prstGeom>
        </p:spPr>
      </p:pic>
      <p:grpSp>
        <p:nvGrpSpPr>
          <p:cNvPr id="21" name="Group 21"/>
          <p:cNvGrpSpPr/>
          <p:nvPr/>
        </p:nvGrpSpPr>
        <p:grpSpPr>
          <a:xfrm>
            <a:off x="747264" y="6096396"/>
            <a:ext cx="196903" cy="173437"/>
            <a:chOff x="747264" y="6096396"/>
            <a:chExt cx="196903" cy="173437"/>
          </a:xfrm>
        </p:grpSpPr>
        <p:sp>
          <p:nvSpPr>
            <p:cNvPr id="19" name="Freeform 19"/>
            <p:cNvSpPr/>
            <p:nvPr/>
          </p:nvSpPr>
          <p:spPr>
            <a:xfrm>
              <a:off x="754261" y="6103712"/>
              <a:ext cx="183356" cy="159571"/>
            </a:xfrm>
            <a:custGeom>
              <a:avLst/>
              <a:gdLst/>
              <a:ahLst/>
              <a:cxnLst/>
              <a:rect l="l" t="t" r="r" b="b"/>
              <a:pathLst>
                <a:path w="183356" h="159571">
                  <a:moveTo>
                    <a:pt x="183356" y="48248"/>
                  </a:moveTo>
                  <a:lnTo>
                    <a:pt x="163711" y="61345"/>
                  </a:lnTo>
                  <a:lnTo>
                    <a:pt x="163711" y="80990"/>
                  </a:lnTo>
                  <a:cubicBezTo>
                    <a:pt x="163711" y="124389"/>
                    <a:pt x="128529" y="159571"/>
                    <a:pt x="85130" y="159571"/>
                  </a:cubicBezTo>
                  <a:lnTo>
                    <a:pt x="0" y="159571"/>
                  </a:lnTo>
                  <a:lnTo>
                    <a:pt x="78581" y="61345"/>
                  </a:lnTo>
                  <a:lnTo>
                    <a:pt x="78581" y="44974"/>
                  </a:lnTo>
                  <a:cubicBezTo>
                    <a:pt x="78566" y="23545"/>
                    <a:pt x="94482" y="5446"/>
                    <a:pt x="115737" y="2723"/>
                  </a:cubicBezTo>
                  <a:cubicBezTo>
                    <a:pt x="136992" y="0"/>
                    <a:pt x="156957" y="13502"/>
                    <a:pt x="162344" y="34242"/>
                  </a:cubicBezTo>
                  <a:close/>
                </a:path>
              </a:pathLst>
            </a:custGeom>
            <a:solidFill>
              <a:srgbClr val="A86A00">
                <a:alpha val="20000"/>
              </a:srgbClr>
            </a:solidFill>
            <a:ln>
              <a:noFill/>
            </a:ln>
          </p:spPr>
        </p:sp>
        <p:sp>
          <p:nvSpPr>
            <p:cNvPr id="20" name="Freeform 20"/>
            <p:cNvSpPr/>
            <p:nvPr/>
          </p:nvSpPr>
          <p:spPr>
            <a:xfrm>
              <a:off x="747264" y="6096396"/>
              <a:ext cx="196903" cy="173437"/>
            </a:xfrm>
            <a:custGeom>
              <a:avLst/>
              <a:gdLst/>
              <a:ahLst/>
              <a:cxnLst/>
              <a:rect l="l" t="t" r="r" b="b"/>
              <a:pathLst>
                <a:path w="196903" h="173437">
                  <a:moveTo>
                    <a:pt x="144514" y="45741"/>
                  </a:moveTo>
                  <a:cubicBezTo>
                    <a:pt x="144514" y="51166"/>
                    <a:pt x="140117" y="55564"/>
                    <a:pt x="134692" y="55564"/>
                  </a:cubicBezTo>
                  <a:cubicBezTo>
                    <a:pt x="129267" y="55564"/>
                    <a:pt x="124869" y="51166"/>
                    <a:pt x="124869" y="45741"/>
                  </a:cubicBezTo>
                  <a:cubicBezTo>
                    <a:pt x="124869" y="40316"/>
                    <a:pt x="129267" y="35918"/>
                    <a:pt x="134692" y="35918"/>
                  </a:cubicBezTo>
                  <a:cubicBezTo>
                    <a:pt x="140117" y="35918"/>
                    <a:pt x="144514" y="40316"/>
                    <a:pt x="144514" y="45741"/>
                  </a:cubicBezTo>
                  <a:close/>
                  <a:moveTo>
                    <a:pt x="102866" y="96369"/>
                  </a:moveTo>
                  <a:cubicBezTo>
                    <a:pt x="101534" y="95254"/>
                    <a:pt x="99814" y="94714"/>
                    <a:pt x="98084" y="94867"/>
                  </a:cubicBezTo>
                  <a:cubicBezTo>
                    <a:pt x="96354" y="95021"/>
                    <a:pt x="94756" y="95855"/>
                    <a:pt x="93641" y="97187"/>
                  </a:cubicBezTo>
                  <a:lnTo>
                    <a:pt x="60899" y="136478"/>
                  </a:lnTo>
                  <a:cubicBezTo>
                    <a:pt x="58584" y="139258"/>
                    <a:pt x="58962" y="143388"/>
                    <a:pt x="61742" y="145703"/>
                  </a:cubicBezTo>
                  <a:cubicBezTo>
                    <a:pt x="64522" y="148017"/>
                    <a:pt x="68653" y="147640"/>
                    <a:pt x="70967" y="144860"/>
                  </a:cubicBezTo>
                  <a:lnTo>
                    <a:pt x="103709" y="105569"/>
                  </a:lnTo>
                  <a:cubicBezTo>
                    <a:pt x="106008" y="102793"/>
                    <a:pt x="105632" y="98681"/>
                    <a:pt x="102866" y="96369"/>
                  </a:cubicBezTo>
                  <a:close/>
                  <a:moveTo>
                    <a:pt x="196902" y="55564"/>
                  </a:moveTo>
                  <a:cubicBezTo>
                    <a:pt x="196903" y="57754"/>
                    <a:pt x="195810" y="59800"/>
                    <a:pt x="193988" y="61015"/>
                  </a:cubicBezTo>
                  <a:lnTo>
                    <a:pt x="177256" y="72164"/>
                  </a:lnTo>
                  <a:lnTo>
                    <a:pt x="177256" y="88306"/>
                  </a:lnTo>
                  <a:cubicBezTo>
                    <a:pt x="177207" y="135301"/>
                    <a:pt x="139122" y="173386"/>
                    <a:pt x="92127" y="173435"/>
                  </a:cubicBezTo>
                  <a:lnTo>
                    <a:pt x="6997" y="173435"/>
                  </a:lnTo>
                  <a:cubicBezTo>
                    <a:pt x="4479" y="173437"/>
                    <a:pt x="2182" y="171994"/>
                    <a:pt x="1091" y="169724"/>
                  </a:cubicBezTo>
                  <a:cubicBezTo>
                    <a:pt x="0" y="167455"/>
                    <a:pt x="307" y="164760"/>
                    <a:pt x="1881" y="162794"/>
                  </a:cubicBezTo>
                  <a:lnTo>
                    <a:pt x="79030" y="66360"/>
                  </a:lnTo>
                  <a:lnTo>
                    <a:pt x="79030" y="52289"/>
                  </a:lnTo>
                  <a:cubicBezTo>
                    <a:pt x="79007" y="28048"/>
                    <a:pt x="96675" y="7415"/>
                    <a:pt x="120632" y="3708"/>
                  </a:cubicBezTo>
                  <a:cubicBezTo>
                    <a:pt x="144588" y="0"/>
                    <a:pt x="167666" y="14326"/>
                    <a:pt x="174973" y="37441"/>
                  </a:cubicBezTo>
                  <a:lnTo>
                    <a:pt x="193988" y="50112"/>
                  </a:lnTo>
                  <a:cubicBezTo>
                    <a:pt x="195810" y="51328"/>
                    <a:pt x="196903" y="53373"/>
                    <a:pt x="196902" y="55564"/>
                  </a:cubicBezTo>
                  <a:close/>
                  <a:moveTo>
                    <a:pt x="178550" y="55564"/>
                  </a:moveTo>
                  <a:lnTo>
                    <a:pt x="165715" y="47001"/>
                  </a:lnTo>
                  <a:cubicBezTo>
                    <a:pt x="164376" y="46111"/>
                    <a:pt x="163412" y="44759"/>
                    <a:pt x="163005" y="43203"/>
                  </a:cubicBezTo>
                  <a:cubicBezTo>
                    <a:pt x="158451" y="25648"/>
                    <a:pt x="141553" y="14218"/>
                    <a:pt x="123564" y="16524"/>
                  </a:cubicBezTo>
                  <a:cubicBezTo>
                    <a:pt x="105574" y="18830"/>
                    <a:pt x="92106" y="34153"/>
                    <a:pt x="92127" y="52289"/>
                  </a:cubicBezTo>
                  <a:lnTo>
                    <a:pt x="92127" y="68660"/>
                  </a:lnTo>
                  <a:cubicBezTo>
                    <a:pt x="92128" y="70148"/>
                    <a:pt x="91623" y="71591"/>
                    <a:pt x="90694" y="72753"/>
                  </a:cubicBezTo>
                  <a:lnTo>
                    <a:pt x="20618" y="160339"/>
                  </a:lnTo>
                  <a:lnTo>
                    <a:pt x="92127" y="160339"/>
                  </a:lnTo>
                  <a:cubicBezTo>
                    <a:pt x="131891" y="160293"/>
                    <a:pt x="164115" y="128070"/>
                    <a:pt x="164160" y="88306"/>
                  </a:cubicBezTo>
                  <a:lnTo>
                    <a:pt x="164160" y="68660"/>
                  </a:lnTo>
                  <a:cubicBezTo>
                    <a:pt x="164158" y="66470"/>
                    <a:pt x="165252" y="64424"/>
                    <a:pt x="167074" y="63209"/>
                  </a:cubicBezTo>
                  <a:close/>
                </a:path>
              </a:pathLst>
            </a:custGeom>
            <a:solidFill>
              <a:srgbClr val="A86A00"/>
            </a:solidFill>
            <a:ln>
              <a:noFill/>
            </a:ln>
          </p:spPr>
        </p:sp>
      </p:grpSp>
      <p:grpSp>
        <p:nvGrpSpPr>
          <p:cNvPr id="24" name="Group 24"/>
          <p:cNvGrpSpPr/>
          <p:nvPr/>
        </p:nvGrpSpPr>
        <p:grpSpPr>
          <a:xfrm>
            <a:off x="1015008" y="6106120"/>
            <a:ext cx="170259" cy="170259"/>
            <a:chOff x="1015008" y="6106120"/>
            <a:chExt cx="170259" cy="170259"/>
          </a:xfrm>
        </p:grpSpPr>
        <p:sp>
          <p:nvSpPr>
            <p:cNvPr id="22" name="Freeform 22"/>
            <p:cNvSpPr/>
            <p:nvPr/>
          </p:nvSpPr>
          <p:spPr>
            <a:xfrm>
              <a:off x="1021556" y="6112669"/>
              <a:ext cx="157162" cy="157162"/>
            </a:xfrm>
            <a:custGeom>
              <a:avLst/>
              <a:gdLst/>
              <a:ahLst/>
              <a:cxnLst/>
              <a:rect l="l" t="t" r="r" b="b"/>
              <a:pathLst>
                <a:path w="157162" h="157162">
                  <a:moveTo>
                    <a:pt x="78581" y="0"/>
                  </a:moveTo>
                  <a:cubicBezTo>
                    <a:pt x="35182" y="0"/>
                    <a:pt x="0" y="35182"/>
                    <a:pt x="0" y="78581"/>
                  </a:cubicBezTo>
                  <a:cubicBezTo>
                    <a:pt x="0" y="121980"/>
                    <a:pt x="35182" y="157162"/>
                    <a:pt x="78581" y="157162"/>
                  </a:cubicBezTo>
                  <a:cubicBezTo>
                    <a:pt x="121980" y="157162"/>
                    <a:pt x="157162" y="121980"/>
                    <a:pt x="157162" y="78581"/>
                  </a:cubicBezTo>
                  <a:cubicBezTo>
                    <a:pt x="157162" y="35182"/>
                    <a:pt x="121980" y="0"/>
                    <a:pt x="78581" y="0"/>
                  </a:cubicBezTo>
                  <a:close/>
                  <a:moveTo>
                    <a:pt x="91678" y="91678"/>
                  </a:moveTo>
                  <a:lnTo>
                    <a:pt x="39291" y="117872"/>
                  </a:lnTo>
                  <a:lnTo>
                    <a:pt x="65484" y="65484"/>
                  </a:lnTo>
                  <a:lnTo>
                    <a:pt x="117872" y="39291"/>
                  </a:lnTo>
                  <a:close/>
                </a:path>
              </a:pathLst>
            </a:custGeom>
            <a:solidFill>
              <a:srgbClr val="2F4A6D">
                <a:alpha val="20000"/>
              </a:srgbClr>
            </a:solidFill>
            <a:ln>
              <a:noFill/>
            </a:ln>
          </p:spPr>
        </p:sp>
        <p:sp>
          <p:nvSpPr>
            <p:cNvPr id="23" name="Freeform 23"/>
            <p:cNvSpPr/>
            <p:nvPr/>
          </p:nvSpPr>
          <p:spPr>
            <a:xfrm>
              <a:off x="1015008" y="6106120"/>
              <a:ext cx="170259" cy="170259"/>
            </a:xfrm>
            <a:custGeom>
              <a:avLst/>
              <a:gdLst/>
              <a:ahLst/>
              <a:cxnLst/>
              <a:rect l="l" t="t" r="r" b="b"/>
              <a:pathLst>
                <a:path w="170259" h="170259">
                  <a:moveTo>
                    <a:pt x="85130" y="0"/>
                  </a:moveTo>
                  <a:cubicBezTo>
                    <a:pt x="38114" y="0"/>
                    <a:pt x="0" y="38114"/>
                    <a:pt x="0" y="85130"/>
                  </a:cubicBezTo>
                  <a:cubicBezTo>
                    <a:pt x="0" y="132146"/>
                    <a:pt x="38114" y="170259"/>
                    <a:pt x="85130" y="170259"/>
                  </a:cubicBezTo>
                  <a:cubicBezTo>
                    <a:pt x="132146" y="170259"/>
                    <a:pt x="170259" y="132146"/>
                    <a:pt x="170259" y="85130"/>
                  </a:cubicBezTo>
                  <a:cubicBezTo>
                    <a:pt x="170210" y="38134"/>
                    <a:pt x="132125" y="50"/>
                    <a:pt x="85130" y="0"/>
                  </a:cubicBezTo>
                  <a:close/>
                  <a:moveTo>
                    <a:pt x="85130" y="157162"/>
                  </a:moveTo>
                  <a:cubicBezTo>
                    <a:pt x="45347" y="157162"/>
                    <a:pt x="13097" y="124912"/>
                    <a:pt x="13097" y="85130"/>
                  </a:cubicBezTo>
                  <a:cubicBezTo>
                    <a:pt x="13097" y="45347"/>
                    <a:pt x="45347" y="13097"/>
                    <a:pt x="85130" y="13097"/>
                  </a:cubicBezTo>
                  <a:cubicBezTo>
                    <a:pt x="124912" y="13097"/>
                    <a:pt x="157162" y="45347"/>
                    <a:pt x="157162" y="85130"/>
                  </a:cubicBezTo>
                  <a:cubicBezTo>
                    <a:pt x="157117" y="124894"/>
                    <a:pt x="124894" y="157117"/>
                    <a:pt x="85130" y="157162"/>
                  </a:cubicBezTo>
                  <a:close/>
                  <a:moveTo>
                    <a:pt x="121490" y="39978"/>
                  </a:moveTo>
                  <a:lnTo>
                    <a:pt x="69102" y="66172"/>
                  </a:lnTo>
                  <a:cubicBezTo>
                    <a:pt x="67836" y="66808"/>
                    <a:pt x="66808" y="67836"/>
                    <a:pt x="66172" y="69102"/>
                  </a:cubicBezTo>
                  <a:lnTo>
                    <a:pt x="39978" y="121490"/>
                  </a:lnTo>
                  <a:cubicBezTo>
                    <a:pt x="38962" y="123521"/>
                    <a:pt x="39070" y="125933"/>
                    <a:pt x="40265" y="127864"/>
                  </a:cubicBezTo>
                  <a:cubicBezTo>
                    <a:pt x="41459" y="129796"/>
                    <a:pt x="43568" y="130970"/>
                    <a:pt x="45839" y="130969"/>
                  </a:cubicBezTo>
                  <a:cubicBezTo>
                    <a:pt x="46856" y="130967"/>
                    <a:pt x="47858" y="130732"/>
                    <a:pt x="48769" y="130281"/>
                  </a:cubicBezTo>
                  <a:lnTo>
                    <a:pt x="101157" y="104087"/>
                  </a:lnTo>
                  <a:cubicBezTo>
                    <a:pt x="102424" y="103451"/>
                    <a:pt x="103451" y="102424"/>
                    <a:pt x="104087" y="101157"/>
                  </a:cubicBezTo>
                  <a:lnTo>
                    <a:pt x="130281" y="48769"/>
                  </a:lnTo>
                  <a:cubicBezTo>
                    <a:pt x="131549" y="46247"/>
                    <a:pt x="131057" y="43196"/>
                    <a:pt x="129060" y="41199"/>
                  </a:cubicBezTo>
                  <a:cubicBezTo>
                    <a:pt x="127064" y="39203"/>
                    <a:pt x="124013" y="38711"/>
                    <a:pt x="121490" y="39978"/>
                  </a:cubicBezTo>
                  <a:close/>
                  <a:moveTo>
                    <a:pt x="93315" y="93315"/>
                  </a:moveTo>
                  <a:lnTo>
                    <a:pt x="60483" y="109776"/>
                  </a:lnTo>
                  <a:lnTo>
                    <a:pt x="76944" y="76944"/>
                  </a:lnTo>
                  <a:lnTo>
                    <a:pt x="109809" y="60516"/>
                  </a:lnTo>
                  <a:close/>
                </a:path>
              </a:pathLst>
            </a:custGeom>
            <a:solidFill>
              <a:srgbClr val="2F4A6D"/>
            </a:solidFill>
            <a:ln>
              <a:noFill/>
            </a:ln>
          </p:spPr>
        </p:sp>
      </p:grpSp>
      <p:sp>
        <p:nvSpPr>
          <p:cNvPr id="25" name="TextBox 25"/>
          <p:cNvSpPr txBox="1"/>
          <p:nvPr/>
        </p:nvSpPr>
        <p:spPr>
          <a:xfrm>
            <a:off x="1268730" y="6143149"/>
            <a:ext cx="2244762"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6a Observed vs null sectors</a:t>
            </a:r>
          </a:p>
        </p:txBody>
      </p:sp>
      <p:sp>
        <p:nvSpPr>
          <p:cNvPr id="26" name="Rectangle 26"/>
          <p:cNvSpPr/>
          <p:nvPr/>
        </p:nvSpPr>
        <p:spPr>
          <a:xfrm>
            <a:off x="5386388" y="1390650"/>
            <a:ext cx="6291262" cy="1428750"/>
          </a:xfrm>
          <a:prstGeom prst="roundRect">
            <a:avLst>
              <a:gd name="adj" fmla="val 6667"/>
            </a:avLst>
          </a:prstGeom>
          <a:solidFill>
            <a:srgbClr val="FFFFFF"/>
          </a:solidFill>
          <a:ln w="15240">
            <a:solidFill>
              <a:srgbClr val="8B0012"/>
            </a:solidFill>
          </a:ln>
        </p:spPr>
      </p:sp>
      <p:grpSp>
        <p:nvGrpSpPr>
          <p:cNvPr id="29" name="Group 29"/>
          <p:cNvGrpSpPr/>
          <p:nvPr/>
        </p:nvGrpSpPr>
        <p:grpSpPr>
          <a:xfrm>
            <a:off x="5565577" y="1550789"/>
            <a:ext cx="232172" cy="232172"/>
            <a:chOff x="5565577" y="1550789"/>
            <a:chExt cx="232172" cy="232172"/>
          </a:xfrm>
        </p:grpSpPr>
        <p:sp>
          <p:nvSpPr>
            <p:cNvPr id="27" name="Freeform 27"/>
            <p:cNvSpPr/>
            <p:nvPr/>
          </p:nvSpPr>
          <p:spPr>
            <a:xfrm>
              <a:off x="5574506" y="1559719"/>
              <a:ext cx="214312" cy="214312"/>
            </a:xfrm>
            <a:custGeom>
              <a:avLst/>
              <a:gdLst/>
              <a:ahLst/>
              <a:cxnLst/>
              <a:rect l="l" t="t" r="r" b="b"/>
              <a:pathLst>
                <a:path w="214312" h="214312">
                  <a:moveTo>
                    <a:pt x="107156" y="0"/>
                  </a:moveTo>
                  <a:cubicBezTo>
                    <a:pt x="47975" y="0"/>
                    <a:pt x="0" y="47975"/>
                    <a:pt x="0" y="107156"/>
                  </a:cubicBezTo>
                  <a:cubicBezTo>
                    <a:pt x="0" y="166337"/>
                    <a:pt x="47975" y="214312"/>
                    <a:pt x="107156" y="214312"/>
                  </a:cubicBezTo>
                  <a:cubicBezTo>
                    <a:pt x="166337" y="214312"/>
                    <a:pt x="214312" y="166337"/>
                    <a:pt x="214312" y="107156"/>
                  </a:cubicBezTo>
                  <a:cubicBezTo>
                    <a:pt x="214312" y="47975"/>
                    <a:pt x="166337" y="0"/>
                    <a:pt x="107156" y="0"/>
                  </a:cubicBezTo>
                  <a:close/>
                  <a:moveTo>
                    <a:pt x="125016" y="125016"/>
                  </a:moveTo>
                  <a:lnTo>
                    <a:pt x="53578" y="160734"/>
                  </a:lnTo>
                  <a:lnTo>
                    <a:pt x="89297" y="89297"/>
                  </a:lnTo>
                  <a:lnTo>
                    <a:pt x="160734" y="53578"/>
                  </a:lnTo>
                  <a:close/>
                </a:path>
              </a:pathLst>
            </a:custGeom>
            <a:solidFill>
              <a:srgbClr val="8B0012">
                <a:alpha val="20000"/>
              </a:srgbClr>
            </a:solidFill>
            <a:ln>
              <a:noFill/>
            </a:ln>
          </p:spPr>
        </p:sp>
        <p:sp>
          <p:nvSpPr>
            <p:cNvPr id="28" name="Freeform 28"/>
            <p:cNvSpPr/>
            <p:nvPr/>
          </p:nvSpPr>
          <p:spPr>
            <a:xfrm>
              <a:off x="5565577" y="1550789"/>
              <a:ext cx="232172" cy="232172"/>
            </a:xfrm>
            <a:custGeom>
              <a:avLst/>
              <a:gdLst/>
              <a:ahLst/>
              <a:cxnLst/>
              <a:rect l="l" t="t" r="r" b="b"/>
              <a:pathLst>
                <a:path w="232172" h="232172">
                  <a:moveTo>
                    <a:pt x="116086" y="0"/>
                  </a:moveTo>
                  <a:cubicBezTo>
                    <a:pt x="51973" y="0"/>
                    <a:pt x="0" y="51973"/>
                    <a:pt x="0" y="116086"/>
                  </a:cubicBezTo>
                  <a:cubicBezTo>
                    <a:pt x="0" y="180198"/>
                    <a:pt x="51973" y="232172"/>
                    <a:pt x="116086" y="232172"/>
                  </a:cubicBezTo>
                  <a:cubicBezTo>
                    <a:pt x="180198" y="232172"/>
                    <a:pt x="232172" y="180198"/>
                    <a:pt x="232172" y="116086"/>
                  </a:cubicBezTo>
                  <a:cubicBezTo>
                    <a:pt x="232104" y="52001"/>
                    <a:pt x="180170" y="68"/>
                    <a:pt x="116086" y="0"/>
                  </a:cubicBezTo>
                  <a:close/>
                  <a:moveTo>
                    <a:pt x="116086" y="214312"/>
                  </a:moveTo>
                  <a:cubicBezTo>
                    <a:pt x="61837" y="214312"/>
                    <a:pt x="17859" y="170335"/>
                    <a:pt x="17859" y="116086"/>
                  </a:cubicBezTo>
                  <a:cubicBezTo>
                    <a:pt x="17859" y="61837"/>
                    <a:pt x="61837" y="17859"/>
                    <a:pt x="116086" y="17859"/>
                  </a:cubicBezTo>
                  <a:cubicBezTo>
                    <a:pt x="170335" y="17859"/>
                    <a:pt x="214312" y="61837"/>
                    <a:pt x="214312" y="116086"/>
                  </a:cubicBezTo>
                  <a:cubicBezTo>
                    <a:pt x="214251" y="170309"/>
                    <a:pt x="170309" y="214251"/>
                    <a:pt x="116086" y="214312"/>
                  </a:cubicBezTo>
                  <a:close/>
                  <a:moveTo>
                    <a:pt x="165668" y="54516"/>
                  </a:moveTo>
                  <a:lnTo>
                    <a:pt x="94231" y="90234"/>
                  </a:lnTo>
                  <a:cubicBezTo>
                    <a:pt x="92503" y="91102"/>
                    <a:pt x="91102" y="92503"/>
                    <a:pt x="90234" y="94231"/>
                  </a:cubicBezTo>
                  <a:lnTo>
                    <a:pt x="54516" y="165668"/>
                  </a:lnTo>
                  <a:cubicBezTo>
                    <a:pt x="53130" y="168437"/>
                    <a:pt x="53278" y="171726"/>
                    <a:pt x="54906" y="174360"/>
                  </a:cubicBezTo>
                  <a:cubicBezTo>
                    <a:pt x="56535" y="176994"/>
                    <a:pt x="59411" y="178596"/>
                    <a:pt x="62508" y="178594"/>
                  </a:cubicBezTo>
                  <a:cubicBezTo>
                    <a:pt x="63894" y="178592"/>
                    <a:pt x="65261" y="178271"/>
                    <a:pt x="66504" y="177656"/>
                  </a:cubicBezTo>
                  <a:lnTo>
                    <a:pt x="137941" y="141937"/>
                  </a:lnTo>
                  <a:cubicBezTo>
                    <a:pt x="139668" y="141070"/>
                    <a:pt x="141070" y="139668"/>
                    <a:pt x="141937" y="137941"/>
                  </a:cubicBezTo>
                  <a:lnTo>
                    <a:pt x="177656" y="66504"/>
                  </a:lnTo>
                  <a:cubicBezTo>
                    <a:pt x="179385" y="63064"/>
                    <a:pt x="178713" y="58903"/>
                    <a:pt x="175991" y="56181"/>
                  </a:cubicBezTo>
                  <a:cubicBezTo>
                    <a:pt x="173269" y="53458"/>
                    <a:pt x="169108" y="52787"/>
                    <a:pt x="165668" y="54516"/>
                  </a:cubicBezTo>
                  <a:close/>
                  <a:moveTo>
                    <a:pt x="127248" y="127248"/>
                  </a:moveTo>
                  <a:lnTo>
                    <a:pt x="82477" y="149695"/>
                  </a:lnTo>
                  <a:lnTo>
                    <a:pt x="104924" y="104924"/>
                  </a:lnTo>
                  <a:lnTo>
                    <a:pt x="149740" y="82521"/>
                  </a:lnTo>
                  <a:close/>
                </a:path>
              </a:pathLst>
            </a:custGeom>
            <a:solidFill>
              <a:srgbClr val="8B0012"/>
            </a:solidFill>
            <a:ln>
              <a:noFill/>
            </a:ln>
          </p:spPr>
        </p:sp>
      </p:grpSp>
      <p:sp>
        <p:nvSpPr>
          <p:cNvPr id="30" name="TextBox 30"/>
          <p:cNvSpPr txBox="1"/>
          <p:nvPr/>
        </p:nvSpPr>
        <p:spPr>
          <a:xfrm>
            <a:off x="5902642" y="1587818"/>
            <a:ext cx="2686469" cy="274320"/>
          </a:xfrm>
          <a:prstGeom prst="rect">
            <a:avLst/>
          </a:prstGeom>
          <a:noFill/>
          <a:ln>
            <a:noFill/>
          </a:ln>
        </p:spPr>
        <p:txBody>
          <a:bodyPr wrap="none" lIns="0" tIns="0" rIns="0" bIns="0" anchor="t" anchorCtr="0">
            <a:spAutoFit/>
          </a:bodyPr>
          <a:lstStyle/>
          <a:p>
            <a:pPr algn="l"/>
            <a:r>
              <a:rPr lang="zh-CN" sz="1350" b="1" dirty="0">
                <a:solidFill>
                  <a:srgbClr val="8B0012"/>
                </a:solidFill>
                <a:latin typeface="Arial"/>
                <a:ea typeface="Microsoft YaHei"/>
                <a:cs typeface="Arial"/>
              </a:rPr>
              <a:t>Raw bearings, 642 records</a:t>
            </a:r>
          </a:p>
        </p:txBody>
      </p:sp>
      <p:sp>
        <p:nvSpPr>
          <p:cNvPr id="31" name="TextBox 31"/>
          <p:cNvSpPr txBox="1"/>
          <p:nvPr/>
        </p:nvSpPr>
        <p:spPr>
          <a:xfrm>
            <a:off x="5561648" y="1908810"/>
            <a:ext cx="2596286"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East 36.9%, north-east 27.9%</a:t>
            </a:r>
          </a:p>
        </p:txBody>
      </p:sp>
      <p:sp>
        <p:nvSpPr>
          <p:cNvPr id="32" name="TextBox 32"/>
          <p:cNvSpPr txBox="1"/>
          <p:nvPr/>
        </p:nvSpPr>
        <p:spPr>
          <a:xfrm>
            <a:off x="5561648" y="2137410"/>
            <a:ext cx="2617318"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China lies east of most ranges</a:t>
            </a:r>
          </a:p>
        </p:txBody>
      </p:sp>
      <p:sp>
        <p:nvSpPr>
          <p:cNvPr id="33" name="Rectangle 33"/>
          <p:cNvSpPr/>
          <p:nvPr/>
        </p:nvSpPr>
        <p:spPr>
          <a:xfrm>
            <a:off x="5386388" y="2971800"/>
            <a:ext cx="6291262" cy="1428750"/>
          </a:xfrm>
          <a:prstGeom prst="roundRect">
            <a:avLst>
              <a:gd name="adj" fmla="val 6667"/>
            </a:avLst>
          </a:prstGeom>
          <a:solidFill>
            <a:srgbClr val="FFFFFF"/>
          </a:solidFill>
          <a:ln w="15240">
            <a:solidFill>
              <a:srgbClr val="6B6B6B"/>
            </a:solidFill>
          </a:ln>
        </p:spPr>
      </p:sp>
      <p:grpSp>
        <p:nvGrpSpPr>
          <p:cNvPr id="36" name="Group 36"/>
          <p:cNvGrpSpPr/>
          <p:nvPr/>
        </p:nvGrpSpPr>
        <p:grpSpPr>
          <a:xfrm>
            <a:off x="5564019" y="3130197"/>
            <a:ext cx="233730" cy="233914"/>
            <a:chOff x="5564019" y="3130197"/>
            <a:chExt cx="233730" cy="233914"/>
          </a:xfrm>
        </p:grpSpPr>
        <p:sp>
          <p:nvSpPr>
            <p:cNvPr id="34" name="Freeform 34"/>
            <p:cNvSpPr/>
            <p:nvPr/>
          </p:nvSpPr>
          <p:spPr>
            <a:xfrm>
              <a:off x="5564019" y="3130197"/>
              <a:ext cx="214754" cy="204569"/>
            </a:xfrm>
            <a:custGeom>
              <a:avLst/>
              <a:gdLst/>
              <a:ahLst/>
              <a:cxnLst/>
              <a:rect l="l" t="t" r="r" b="b"/>
              <a:pathLst>
                <a:path w="214754" h="204569">
                  <a:moveTo>
                    <a:pt x="214754" y="163269"/>
                  </a:moveTo>
                  <a:cubicBezTo>
                    <a:pt x="207052" y="179688"/>
                    <a:pt x="195326" y="193894"/>
                    <a:pt x="180665" y="204569"/>
                  </a:cubicBezTo>
                  <a:lnTo>
                    <a:pt x="170217" y="194110"/>
                  </a:lnTo>
                  <a:cubicBezTo>
                    <a:pt x="169097" y="192986"/>
                    <a:pt x="167699" y="192181"/>
                    <a:pt x="166165" y="191777"/>
                  </a:cubicBezTo>
                  <a:lnTo>
                    <a:pt x="142200" y="185459"/>
                  </a:lnTo>
                  <a:cubicBezTo>
                    <a:pt x="137802" y="184302"/>
                    <a:pt x="134975" y="180024"/>
                    <a:pt x="135637" y="175525"/>
                  </a:cubicBezTo>
                  <a:lnTo>
                    <a:pt x="138293" y="157442"/>
                  </a:lnTo>
                  <a:cubicBezTo>
                    <a:pt x="138750" y="154340"/>
                    <a:pt x="140801" y="151704"/>
                    <a:pt x="143696" y="150499"/>
                  </a:cubicBezTo>
                  <a:lnTo>
                    <a:pt x="177696" y="136368"/>
                  </a:lnTo>
                  <a:cubicBezTo>
                    <a:pt x="180902" y="135037"/>
                    <a:pt x="184590" y="135686"/>
                    <a:pt x="187150" y="138031"/>
                  </a:cubicBezTo>
                  <a:close/>
                  <a:moveTo>
                    <a:pt x="153239" y="92155"/>
                  </a:moveTo>
                  <a:lnTo>
                    <a:pt x="177986" y="63357"/>
                  </a:lnTo>
                  <a:cubicBezTo>
                    <a:pt x="179377" y="61742"/>
                    <a:pt x="180145" y="59684"/>
                    <a:pt x="180151" y="57552"/>
                  </a:cubicBezTo>
                  <a:lnTo>
                    <a:pt x="180151" y="30763"/>
                  </a:lnTo>
                  <a:cubicBezTo>
                    <a:pt x="137378" y="0"/>
                    <a:pt x="78588" y="4895"/>
                    <a:pt x="41491" y="42308"/>
                  </a:cubicBezTo>
                  <a:cubicBezTo>
                    <a:pt x="4395" y="79721"/>
                    <a:pt x="0" y="138551"/>
                    <a:pt x="31126" y="181061"/>
                  </a:cubicBezTo>
                  <a:lnTo>
                    <a:pt x="42199" y="173783"/>
                  </a:lnTo>
                  <a:cubicBezTo>
                    <a:pt x="44689" y="172138"/>
                    <a:pt x="46193" y="169357"/>
                    <a:pt x="46206" y="166372"/>
                  </a:cubicBezTo>
                  <a:lnTo>
                    <a:pt x="46440" y="125931"/>
                  </a:lnTo>
                  <a:cubicBezTo>
                    <a:pt x="46452" y="124179"/>
                    <a:pt x="46976" y="122468"/>
                    <a:pt x="47947" y="121009"/>
                  </a:cubicBezTo>
                  <a:lnTo>
                    <a:pt x="71321" y="86072"/>
                  </a:lnTo>
                  <a:cubicBezTo>
                    <a:pt x="72675" y="84061"/>
                    <a:pt x="74788" y="82688"/>
                    <a:pt x="77175" y="82267"/>
                  </a:cubicBezTo>
                  <a:cubicBezTo>
                    <a:pt x="79563" y="81846"/>
                    <a:pt x="82018" y="82414"/>
                    <a:pt x="83978" y="83839"/>
                  </a:cubicBezTo>
                  <a:lnTo>
                    <a:pt x="106091" y="98350"/>
                  </a:lnTo>
                  <a:cubicBezTo>
                    <a:pt x="107953" y="99691"/>
                    <a:pt x="110256" y="100270"/>
                    <a:pt x="112531" y="99968"/>
                  </a:cubicBezTo>
                  <a:lnTo>
                    <a:pt x="147647" y="95213"/>
                  </a:lnTo>
                  <a:cubicBezTo>
                    <a:pt x="149824" y="94917"/>
                    <a:pt x="151815" y="93828"/>
                    <a:pt x="153239" y="92155"/>
                  </a:cubicBezTo>
                  <a:close/>
                </a:path>
              </a:pathLst>
            </a:custGeom>
            <a:solidFill>
              <a:srgbClr val="6B6B6B">
                <a:alpha val="20000"/>
              </a:srgbClr>
            </a:solidFill>
            <a:ln>
              <a:noFill/>
            </a:ln>
          </p:spPr>
        </p:sp>
        <p:sp>
          <p:nvSpPr>
            <p:cNvPr id="35" name="Freeform 35"/>
            <p:cNvSpPr/>
            <p:nvPr/>
          </p:nvSpPr>
          <p:spPr>
            <a:xfrm>
              <a:off x="5565577" y="3131939"/>
              <a:ext cx="232172" cy="232172"/>
            </a:xfrm>
            <a:custGeom>
              <a:avLst/>
              <a:gdLst/>
              <a:ahLst/>
              <a:cxnLst/>
              <a:rect l="l" t="t" r="r" b="b"/>
              <a:pathLst>
                <a:path w="232172" h="232172">
                  <a:moveTo>
                    <a:pt x="116086" y="0"/>
                  </a:moveTo>
                  <a:cubicBezTo>
                    <a:pt x="51973" y="0"/>
                    <a:pt x="0" y="51973"/>
                    <a:pt x="0" y="116086"/>
                  </a:cubicBezTo>
                  <a:cubicBezTo>
                    <a:pt x="0" y="180198"/>
                    <a:pt x="51973" y="232172"/>
                    <a:pt x="116086" y="232172"/>
                  </a:cubicBezTo>
                  <a:cubicBezTo>
                    <a:pt x="180198" y="232172"/>
                    <a:pt x="232172" y="180198"/>
                    <a:pt x="232172" y="116086"/>
                  </a:cubicBezTo>
                  <a:cubicBezTo>
                    <a:pt x="232104" y="52001"/>
                    <a:pt x="180170" y="68"/>
                    <a:pt x="116086" y="0"/>
                  </a:cubicBezTo>
                  <a:close/>
                  <a:moveTo>
                    <a:pt x="116086" y="17859"/>
                  </a:moveTo>
                  <a:cubicBezTo>
                    <a:pt x="135117" y="17839"/>
                    <a:pt x="153739" y="23379"/>
                    <a:pt x="169664" y="33799"/>
                  </a:cubicBezTo>
                  <a:lnTo>
                    <a:pt x="169664" y="55811"/>
                  </a:lnTo>
                  <a:lnTo>
                    <a:pt x="144918" y="84542"/>
                  </a:lnTo>
                  <a:lnTo>
                    <a:pt x="109791" y="89297"/>
                  </a:lnTo>
                  <a:lnTo>
                    <a:pt x="109444" y="89051"/>
                  </a:lnTo>
                  <a:lnTo>
                    <a:pt x="87489" y="74697"/>
                  </a:lnTo>
                  <a:cubicBezTo>
                    <a:pt x="83556" y="71927"/>
                    <a:pt x="78672" y="70860"/>
                    <a:pt x="73943" y="71738"/>
                  </a:cubicBezTo>
                  <a:cubicBezTo>
                    <a:pt x="69214" y="72616"/>
                    <a:pt x="65039" y="75365"/>
                    <a:pt x="62363" y="79363"/>
                  </a:cubicBezTo>
                  <a:lnTo>
                    <a:pt x="38989" y="114300"/>
                  </a:lnTo>
                  <a:cubicBezTo>
                    <a:pt x="37042" y="117211"/>
                    <a:pt x="35994" y="120631"/>
                    <a:pt x="35975" y="124134"/>
                  </a:cubicBezTo>
                  <a:lnTo>
                    <a:pt x="35719" y="164574"/>
                  </a:lnTo>
                  <a:lnTo>
                    <a:pt x="32069" y="166974"/>
                  </a:lnTo>
                  <a:cubicBezTo>
                    <a:pt x="13697" y="136642"/>
                    <a:pt x="13101" y="98763"/>
                    <a:pt x="30508" y="67868"/>
                  </a:cubicBezTo>
                  <a:cubicBezTo>
                    <a:pt x="47916" y="36973"/>
                    <a:pt x="80624" y="17859"/>
                    <a:pt x="116086" y="17859"/>
                  </a:cubicBezTo>
                  <a:close/>
                  <a:moveTo>
                    <a:pt x="42740" y="181351"/>
                  </a:moveTo>
                  <a:lnTo>
                    <a:pt x="45553" y="179509"/>
                  </a:lnTo>
                  <a:cubicBezTo>
                    <a:pt x="50541" y="176218"/>
                    <a:pt x="53553" y="170651"/>
                    <a:pt x="53578" y="164675"/>
                  </a:cubicBezTo>
                  <a:lnTo>
                    <a:pt x="53813" y="124234"/>
                  </a:lnTo>
                  <a:lnTo>
                    <a:pt x="77208" y="89297"/>
                  </a:lnTo>
                  <a:cubicBezTo>
                    <a:pt x="77323" y="89385"/>
                    <a:pt x="77442" y="89467"/>
                    <a:pt x="77565" y="89542"/>
                  </a:cubicBezTo>
                  <a:lnTo>
                    <a:pt x="99521" y="103908"/>
                  </a:lnTo>
                  <a:cubicBezTo>
                    <a:pt x="103201" y="106505"/>
                    <a:pt x="107728" y="107610"/>
                    <a:pt x="112190" y="107000"/>
                  </a:cubicBezTo>
                  <a:lnTo>
                    <a:pt x="147340" y="102234"/>
                  </a:lnTo>
                  <a:cubicBezTo>
                    <a:pt x="151674" y="101655"/>
                    <a:pt x="155646" y="99507"/>
                    <a:pt x="158502" y="96195"/>
                  </a:cubicBezTo>
                  <a:lnTo>
                    <a:pt x="183248" y="67441"/>
                  </a:lnTo>
                  <a:cubicBezTo>
                    <a:pt x="186016" y="64199"/>
                    <a:pt x="187532" y="60073"/>
                    <a:pt x="187523" y="55811"/>
                  </a:cubicBezTo>
                  <a:lnTo>
                    <a:pt x="187523" y="48745"/>
                  </a:lnTo>
                  <a:cubicBezTo>
                    <a:pt x="212124" y="74772"/>
                    <a:pt x="220584" y="112139"/>
                    <a:pt x="209591" y="146224"/>
                  </a:cubicBezTo>
                  <a:lnTo>
                    <a:pt x="191575" y="129748"/>
                  </a:lnTo>
                  <a:cubicBezTo>
                    <a:pt x="186462" y="125055"/>
                    <a:pt x="179093" y="123749"/>
                    <a:pt x="172678" y="126400"/>
                  </a:cubicBezTo>
                  <a:lnTo>
                    <a:pt x="138678" y="140520"/>
                  </a:lnTo>
                  <a:cubicBezTo>
                    <a:pt x="132896" y="142947"/>
                    <a:pt x="128800" y="148215"/>
                    <a:pt x="127873" y="154417"/>
                  </a:cubicBezTo>
                  <a:lnTo>
                    <a:pt x="125205" y="172488"/>
                  </a:lnTo>
                  <a:cubicBezTo>
                    <a:pt x="123878" y="181495"/>
                    <a:pt x="129537" y="190058"/>
                    <a:pt x="138343" y="192368"/>
                  </a:cubicBezTo>
                  <a:lnTo>
                    <a:pt x="162297" y="198686"/>
                  </a:lnTo>
                  <a:lnTo>
                    <a:pt x="164931" y="201331"/>
                  </a:lnTo>
                  <a:cubicBezTo>
                    <a:pt x="124612" y="224465"/>
                    <a:pt x="73591" y="216122"/>
                    <a:pt x="42740" y="181351"/>
                  </a:cubicBezTo>
                  <a:close/>
                  <a:moveTo>
                    <a:pt x="179710" y="190872"/>
                  </a:moveTo>
                  <a:lnTo>
                    <a:pt x="174910" y="186061"/>
                  </a:lnTo>
                  <a:cubicBezTo>
                    <a:pt x="172671" y="183814"/>
                    <a:pt x="169874" y="182203"/>
                    <a:pt x="166807" y="181395"/>
                  </a:cubicBezTo>
                  <a:lnTo>
                    <a:pt x="142875" y="175078"/>
                  </a:lnTo>
                  <a:lnTo>
                    <a:pt x="145543" y="157006"/>
                  </a:lnTo>
                  <a:lnTo>
                    <a:pt x="179531" y="142875"/>
                  </a:lnTo>
                  <a:lnTo>
                    <a:pt x="202034" y="163503"/>
                  </a:lnTo>
                  <a:cubicBezTo>
                    <a:pt x="196299" y="173894"/>
                    <a:pt x="188736" y="183165"/>
                    <a:pt x="179710" y="190872"/>
                  </a:cubicBezTo>
                  <a:close/>
                </a:path>
              </a:pathLst>
            </a:custGeom>
            <a:solidFill>
              <a:srgbClr val="6B6B6B"/>
            </a:solidFill>
            <a:ln>
              <a:noFill/>
            </a:ln>
          </p:spPr>
        </p:sp>
      </p:grpSp>
      <p:sp>
        <p:nvSpPr>
          <p:cNvPr id="37" name="TextBox 37"/>
          <p:cNvSpPr txBox="1"/>
          <p:nvPr/>
        </p:nvSpPr>
        <p:spPr>
          <a:xfrm>
            <a:off x="5902642" y="3168968"/>
            <a:ext cx="2105456" cy="274320"/>
          </a:xfrm>
          <a:prstGeom prst="rect">
            <a:avLst/>
          </a:prstGeom>
          <a:noFill/>
          <a:ln>
            <a:noFill/>
          </a:ln>
        </p:spPr>
        <p:txBody>
          <a:bodyPr wrap="none" lIns="0" tIns="0" rIns="0" bIns="0" anchor="t" anchorCtr="0">
            <a:spAutoFit/>
          </a:bodyPr>
          <a:lstStyle/>
          <a:p>
            <a:pPr algn="l"/>
            <a:r>
              <a:rPr lang="zh-CN" sz="1350" b="1" dirty="0">
                <a:solidFill>
                  <a:srgbClr val="6B6B6B"/>
                </a:solidFill>
                <a:latin typeface="Arial"/>
                <a:ea typeface="Microsoft YaHei"/>
                <a:cs typeface="Arial"/>
              </a:rPr>
              <a:t>Null 1: geometry only</a:t>
            </a:r>
          </a:p>
        </p:txBody>
      </p:sp>
      <p:sp>
        <p:nvSpPr>
          <p:cNvPr id="38" name="TextBox 38"/>
          <p:cNvSpPr txBox="1"/>
          <p:nvPr/>
        </p:nvSpPr>
        <p:spPr>
          <a:xfrm>
            <a:off x="5561648" y="3489960"/>
            <a:ext cx="2894228"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East: 235 expected, 237 observed</a:t>
            </a:r>
          </a:p>
        </p:txBody>
      </p:sp>
      <p:sp>
        <p:nvSpPr>
          <p:cNvPr id="39" name="TextBox 39"/>
          <p:cNvSpPr txBox="1"/>
          <p:nvPr/>
        </p:nvSpPr>
        <p:spPr>
          <a:xfrm>
            <a:off x="5561648" y="3718560"/>
            <a:ext cx="2764536"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No sector departs from the null</a:t>
            </a:r>
          </a:p>
        </p:txBody>
      </p:sp>
      <p:sp>
        <p:nvSpPr>
          <p:cNvPr id="40" name="Rectangle 40"/>
          <p:cNvSpPr/>
          <p:nvPr/>
        </p:nvSpPr>
        <p:spPr>
          <a:xfrm>
            <a:off x="5386388" y="4552950"/>
            <a:ext cx="6291262" cy="1866900"/>
          </a:xfrm>
          <a:prstGeom prst="roundRect">
            <a:avLst>
              <a:gd name="adj" fmla="val 5102"/>
            </a:avLst>
          </a:prstGeom>
          <a:solidFill>
            <a:srgbClr val="FFFFFF"/>
          </a:solidFill>
          <a:ln w="15240">
            <a:solidFill>
              <a:srgbClr val="1F5F9E"/>
            </a:solidFill>
          </a:ln>
        </p:spPr>
      </p:sp>
      <p:grpSp>
        <p:nvGrpSpPr>
          <p:cNvPr id="43" name="Group 43"/>
          <p:cNvGrpSpPr/>
          <p:nvPr/>
        </p:nvGrpSpPr>
        <p:grpSpPr>
          <a:xfrm>
            <a:off x="5552587" y="4730909"/>
            <a:ext cx="258152" cy="200591"/>
            <a:chOff x="5552587" y="4730909"/>
            <a:chExt cx="258152" cy="200591"/>
          </a:xfrm>
        </p:grpSpPr>
        <p:sp>
          <p:nvSpPr>
            <p:cNvPr id="41" name="Freeform 41"/>
            <p:cNvSpPr/>
            <p:nvPr/>
          </p:nvSpPr>
          <p:spPr>
            <a:xfrm>
              <a:off x="5565577" y="4829175"/>
              <a:ext cx="232172" cy="89297"/>
            </a:xfrm>
            <a:custGeom>
              <a:avLst/>
              <a:gdLst/>
              <a:ahLst/>
              <a:cxnLst/>
              <a:rect l="l" t="t" r="r" b="b"/>
              <a:pathLst>
                <a:path w="232172" h="89297">
                  <a:moveTo>
                    <a:pt x="89297" y="44648"/>
                  </a:moveTo>
                  <a:cubicBezTo>
                    <a:pt x="89297" y="69307"/>
                    <a:pt x="69307" y="89297"/>
                    <a:pt x="44648" y="89297"/>
                  </a:cubicBezTo>
                  <a:cubicBezTo>
                    <a:pt x="19990" y="89297"/>
                    <a:pt x="0" y="69307"/>
                    <a:pt x="0" y="44648"/>
                  </a:cubicBezTo>
                  <a:cubicBezTo>
                    <a:pt x="0" y="19990"/>
                    <a:pt x="19990" y="0"/>
                    <a:pt x="44648" y="0"/>
                  </a:cubicBezTo>
                  <a:cubicBezTo>
                    <a:pt x="69307" y="0"/>
                    <a:pt x="89297" y="19990"/>
                    <a:pt x="89297" y="44648"/>
                  </a:cubicBezTo>
                  <a:close/>
                  <a:moveTo>
                    <a:pt x="187523" y="0"/>
                  </a:moveTo>
                  <a:cubicBezTo>
                    <a:pt x="162865" y="0"/>
                    <a:pt x="142875" y="19990"/>
                    <a:pt x="142875" y="44648"/>
                  </a:cubicBezTo>
                  <a:cubicBezTo>
                    <a:pt x="142875" y="69307"/>
                    <a:pt x="162865" y="89297"/>
                    <a:pt x="187523" y="89297"/>
                  </a:cubicBezTo>
                  <a:cubicBezTo>
                    <a:pt x="212182" y="89297"/>
                    <a:pt x="232172" y="69307"/>
                    <a:pt x="232172" y="44648"/>
                  </a:cubicBezTo>
                  <a:cubicBezTo>
                    <a:pt x="232172" y="19990"/>
                    <a:pt x="212182" y="0"/>
                    <a:pt x="187523" y="0"/>
                  </a:cubicBezTo>
                  <a:close/>
                </a:path>
              </a:pathLst>
            </a:custGeom>
            <a:solidFill>
              <a:srgbClr val="1F5F9E">
                <a:alpha val="20000"/>
              </a:srgbClr>
            </a:solidFill>
            <a:ln>
              <a:noFill/>
            </a:ln>
          </p:spPr>
        </p:sp>
        <p:sp>
          <p:nvSpPr>
            <p:cNvPr id="42" name="Freeform 42"/>
            <p:cNvSpPr/>
            <p:nvPr/>
          </p:nvSpPr>
          <p:spPr>
            <a:xfrm>
              <a:off x="5552587" y="4730909"/>
              <a:ext cx="258152" cy="200591"/>
            </a:xfrm>
            <a:custGeom>
              <a:avLst/>
              <a:gdLst/>
              <a:ahLst/>
              <a:cxnLst/>
              <a:rect l="l" t="t" r="r" b="b"/>
              <a:pathLst>
                <a:path w="258152" h="200591">
                  <a:moveTo>
                    <a:pt x="250966" y="124910"/>
                  </a:moveTo>
                  <a:lnTo>
                    <a:pt x="250966" y="124910"/>
                  </a:lnTo>
                  <a:cubicBezTo>
                    <a:pt x="250220" y="122829"/>
                    <a:pt x="249344" y="120797"/>
                    <a:pt x="248343" y="118826"/>
                  </a:cubicBezTo>
                  <a:lnTo>
                    <a:pt x="201919" y="13211"/>
                  </a:lnTo>
                  <a:cubicBezTo>
                    <a:pt x="201480" y="12193"/>
                    <a:pt x="200851" y="11269"/>
                    <a:pt x="200066" y="10487"/>
                  </a:cubicBezTo>
                  <a:cubicBezTo>
                    <a:pt x="193368" y="3787"/>
                    <a:pt x="184281" y="22"/>
                    <a:pt x="174807" y="22"/>
                  </a:cubicBezTo>
                  <a:cubicBezTo>
                    <a:pt x="165332" y="22"/>
                    <a:pt x="156246" y="3787"/>
                    <a:pt x="149547" y="10487"/>
                  </a:cubicBezTo>
                  <a:cubicBezTo>
                    <a:pt x="147878" y="12158"/>
                    <a:pt x="146939" y="14421"/>
                    <a:pt x="146935" y="16782"/>
                  </a:cubicBezTo>
                  <a:lnTo>
                    <a:pt x="146935" y="44688"/>
                  </a:lnTo>
                  <a:lnTo>
                    <a:pt x="111216" y="44688"/>
                  </a:lnTo>
                  <a:lnTo>
                    <a:pt x="111216" y="16782"/>
                  </a:lnTo>
                  <a:cubicBezTo>
                    <a:pt x="111218" y="14413"/>
                    <a:pt x="110278" y="12141"/>
                    <a:pt x="108604" y="10465"/>
                  </a:cubicBezTo>
                  <a:cubicBezTo>
                    <a:pt x="101905" y="3764"/>
                    <a:pt x="92819" y="0"/>
                    <a:pt x="83344" y="0"/>
                  </a:cubicBezTo>
                  <a:cubicBezTo>
                    <a:pt x="73870" y="0"/>
                    <a:pt x="64783" y="3764"/>
                    <a:pt x="58084" y="10465"/>
                  </a:cubicBezTo>
                  <a:cubicBezTo>
                    <a:pt x="57300" y="11247"/>
                    <a:pt x="56671" y="12171"/>
                    <a:pt x="56232" y="13188"/>
                  </a:cubicBezTo>
                  <a:lnTo>
                    <a:pt x="9808" y="118804"/>
                  </a:lnTo>
                  <a:cubicBezTo>
                    <a:pt x="8807" y="120775"/>
                    <a:pt x="7931" y="122807"/>
                    <a:pt x="7185" y="124887"/>
                  </a:cubicBezTo>
                  <a:lnTo>
                    <a:pt x="7185" y="124887"/>
                  </a:lnTo>
                  <a:cubicBezTo>
                    <a:pt x="0" y="144992"/>
                    <a:pt x="5437" y="167443"/>
                    <a:pt x="21023" y="182034"/>
                  </a:cubicBezTo>
                  <a:cubicBezTo>
                    <a:pt x="36609" y="196624"/>
                    <a:pt x="59371" y="200568"/>
                    <a:pt x="78957" y="192073"/>
                  </a:cubicBezTo>
                  <a:cubicBezTo>
                    <a:pt x="98544" y="183577"/>
                    <a:pt x="111218" y="164264"/>
                    <a:pt x="111216" y="142914"/>
                  </a:cubicBezTo>
                  <a:lnTo>
                    <a:pt x="111216" y="62547"/>
                  </a:lnTo>
                  <a:lnTo>
                    <a:pt x="146935" y="62547"/>
                  </a:lnTo>
                  <a:lnTo>
                    <a:pt x="146935" y="142914"/>
                  </a:lnTo>
                  <a:cubicBezTo>
                    <a:pt x="146924" y="164267"/>
                    <a:pt x="159593" y="183587"/>
                    <a:pt x="179180" y="192089"/>
                  </a:cubicBezTo>
                  <a:cubicBezTo>
                    <a:pt x="198767" y="200591"/>
                    <a:pt x="221532" y="196651"/>
                    <a:pt x="237122" y="182061"/>
                  </a:cubicBezTo>
                  <a:cubicBezTo>
                    <a:pt x="252713" y="167471"/>
                    <a:pt x="258152" y="145017"/>
                    <a:pt x="250966" y="124910"/>
                  </a:cubicBezTo>
                  <a:close/>
                  <a:moveTo>
                    <a:pt x="71825" y="22084"/>
                  </a:moveTo>
                  <a:cubicBezTo>
                    <a:pt x="77943" y="16933"/>
                    <a:pt x="86739" y="16477"/>
                    <a:pt x="93357" y="20968"/>
                  </a:cubicBezTo>
                  <a:lnTo>
                    <a:pt x="93357" y="103021"/>
                  </a:lnTo>
                  <a:cubicBezTo>
                    <a:pt x="79168" y="90280"/>
                    <a:pt x="59267" y="86061"/>
                    <a:pt x="41129" y="91948"/>
                  </a:cubicBezTo>
                  <a:close/>
                  <a:moveTo>
                    <a:pt x="57638" y="178633"/>
                  </a:moveTo>
                  <a:cubicBezTo>
                    <a:pt x="37911" y="178633"/>
                    <a:pt x="21919" y="162641"/>
                    <a:pt x="21919" y="142914"/>
                  </a:cubicBezTo>
                  <a:cubicBezTo>
                    <a:pt x="21919" y="123187"/>
                    <a:pt x="37911" y="107196"/>
                    <a:pt x="57638" y="107196"/>
                  </a:cubicBezTo>
                  <a:cubicBezTo>
                    <a:pt x="77365" y="107196"/>
                    <a:pt x="93357" y="123187"/>
                    <a:pt x="93357" y="142914"/>
                  </a:cubicBezTo>
                  <a:cubicBezTo>
                    <a:pt x="93357" y="162641"/>
                    <a:pt x="77365" y="178633"/>
                    <a:pt x="57638" y="178633"/>
                  </a:cubicBezTo>
                  <a:close/>
                  <a:moveTo>
                    <a:pt x="164794" y="20957"/>
                  </a:moveTo>
                  <a:cubicBezTo>
                    <a:pt x="171412" y="16466"/>
                    <a:pt x="180208" y="16922"/>
                    <a:pt x="186326" y="22073"/>
                  </a:cubicBezTo>
                  <a:lnTo>
                    <a:pt x="217022" y="91926"/>
                  </a:lnTo>
                  <a:cubicBezTo>
                    <a:pt x="198882" y="86042"/>
                    <a:pt x="178981" y="90265"/>
                    <a:pt x="164794" y="103010"/>
                  </a:cubicBezTo>
                  <a:close/>
                  <a:moveTo>
                    <a:pt x="200513" y="178633"/>
                  </a:moveTo>
                  <a:cubicBezTo>
                    <a:pt x="180786" y="178633"/>
                    <a:pt x="164794" y="162641"/>
                    <a:pt x="164794" y="142914"/>
                  </a:cubicBezTo>
                  <a:cubicBezTo>
                    <a:pt x="164794" y="123187"/>
                    <a:pt x="180786" y="107196"/>
                    <a:pt x="200513" y="107196"/>
                  </a:cubicBezTo>
                  <a:cubicBezTo>
                    <a:pt x="220240" y="107196"/>
                    <a:pt x="236232" y="123187"/>
                    <a:pt x="236232" y="142914"/>
                  </a:cubicBezTo>
                  <a:cubicBezTo>
                    <a:pt x="236232" y="162641"/>
                    <a:pt x="220240" y="178633"/>
                    <a:pt x="200513" y="178633"/>
                  </a:cubicBezTo>
                  <a:close/>
                </a:path>
              </a:pathLst>
            </a:custGeom>
            <a:solidFill>
              <a:srgbClr val="1F5F9E"/>
            </a:solidFill>
            <a:ln>
              <a:noFill/>
            </a:ln>
          </p:spPr>
        </p:sp>
      </p:grpSp>
      <p:sp>
        <p:nvSpPr>
          <p:cNvPr id="44" name="TextBox 44"/>
          <p:cNvSpPr txBox="1"/>
          <p:nvPr/>
        </p:nvSpPr>
        <p:spPr>
          <a:xfrm>
            <a:off x="5902642" y="4750118"/>
            <a:ext cx="2640489" cy="274320"/>
          </a:xfrm>
          <a:prstGeom prst="rect">
            <a:avLst/>
          </a:prstGeom>
          <a:noFill/>
          <a:ln>
            <a:noFill/>
          </a:ln>
        </p:spPr>
        <p:txBody>
          <a:bodyPr wrap="none" lIns="0" tIns="0" rIns="0" bIns="0" anchor="t" anchorCtr="0">
            <a:spAutoFit/>
          </a:bodyPr>
          <a:lstStyle/>
          <a:p>
            <a:pPr algn="l"/>
            <a:r>
              <a:rPr lang="zh-CN" sz="1350" b="1" dirty="0">
                <a:solidFill>
                  <a:srgbClr val="1F5F9E"/>
                </a:solidFill>
                <a:latin typeface="Arial"/>
                <a:ea typeface="Microsoft YaHei"/>
                <a:cs typeface="Arial"/>
              </a:rPr>
              <a:t>Null 2: geometry + birders</a:t>
            </a:r>
          </a:p>
        </p:txBody>
      </p:sp>
      <p:sp>
        <p:nvSpPr>
          <p:cNvPr id="45" name="TextBox 45"/>
          <p:cNvSpPr txBox="1"/>
          <p:nvPr/>
        </p:nvSpPr>
        <p:spPr>
          <a:xfrm>
            <a:off x="5561648" y="5071110"/>
            <a:ext cx="2946806"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Northern sectors: 40.2% vs 33.0%</a:t>
            </a:r>
          </a:p>
        </p:txBody>
      </p:sp>
      <p:sp>
        <p:nvSpPr>
          <p:cNvPr id="46" name="TextBox 46"/>
          <p:cNvSpPr txBox="1"/>
          <p:nvPr/>
        </p:nvSpPr>
        <p:spPr>
          <a:xfrm>
            <a:off x="5561648" y="5299710"/>
            <a:ext cx="1777822"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χ² = 25.8, P = 0.001</a:t>
            </a:r>
          </a:p>
        </p:txBody>
      </p:sp>
      <p:sp>
        <p:nvSpPr>
          <p:cNvPr id="47" name="TextBox 47"/>
          <p:cNvSpPr txBox="1"/>
          <p:nvPr/>
        </p:nvSpPr>
        <p:spPr>
          <a:xfrm>
            <a:off x="5561648" y="5528310"/>
            <a:ext cx="2081443" cy="243840"/>
          </a:xfrm>
          <a:prstGeom prst="rect">
            <a:avLst/>
          </a:prstGeom>
          <a:noFill/>
          <a:ln>
            <a:noFill/>
          </a:ln>
        </p:spPr>
        <p:txBody>
          <a:bodyPr wrap="none" lIns="0" tIns="0" rIns="0" bIns="0" anchor="t" anchorCtr="0">
            <a:spAutoFit/>
          </a:bodyPr>
          <a:lstStyle/>
          <a:p>
            <a:pPr algn="l"/>
            <a:r>
              <a:rPr lang="zh-CN" sz="1200" b="1" dirty="0">
                <a:solidFill>
                  <a:srgbClr val="111111"/>
                </a:solidFill>
                <a:latin typeface="Arial"/>
                <a:ea typeface="Microsoft YaHei"/>
                <a:cs typeface="Arial"/>
              </a:rPr>
              <a:t>A modest poleward lean</a:t>
            </a:r>
          </a:p>
        </p:txBody>
      </p:sp>
      <p:sp>
        <p:nvSpPr>
          <p:cNvPr id="48" name="TextBox 48"/>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49" name="TextBox 49"/>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12</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Rectangle 10"/>
          <p:cNvSpPr/>
          <p:nvPr/>
        </p:nvSpPr>
        <p:spPr>
          <a:xfrm>
            <a:off x="8382000" y="0"/>
            <a:ext cx="1866900" cy="609600"/>
          </a:xfrm>
          <a:prstGeom prst="rect">
            <a:avLst/>
          </a:prstGeom>
          <a:solidFill>
            <a:srgbClr val="FFFFFF"/>
          </a:solidFill>
          <a:ln>
            <a:noFill/>
          </a:ln>
        </p:spPr>
      </p:sp>
      <p:sp>
        <p:nvSpPr>
          <p:cNvPr id="11" name="TextBox 11"/>
          <p:cNvSpPr txBox="1"/>
          <p:nvPr/>
        </p:nvSpPr>
        <p:spPr>
          <a:xfrm>
            <a:off x="84201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591885"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Application</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7970718"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Records inside reserves track observation, not reserve performance</a:t>
            </a:r>
          </a:p>
        </p:txBody>
      </p:sp>
      <p:sp>
        <p:nvSpPr>
          <p:cNvPr id="17" name="Rectangle 17"/>
          <p:cNvSpPr/>
          <p:nvPr/>
        </p:nvSpPr>
        <p:spPr>
          <a:xfrm>
            <a:off x="514350" y="1390650"/>
            <a:ext cx="6096000" cy="5029200"/>
          </a:xfrm>
          <a:prstGeom prst="roundRect">
            <a:avLst>
              <a:gd name="adj" fmla="val 1894"/>
            </a:avLst>
          </a:prstGeom>
          <a:solidFill>
            <a:srgbClr val="FFFFFF"/>
          </a:solidFill>
          <a:ln w="14288">
            <a:solidFill>
              <a:srgbClr val="D9C7CA"/>
            </a:solidFill>
          </a:ln>
        </p:spPr>
      </p:sp>
      <p:grpSp>
        <p:nvGrpSpPr>
          <p:cNvPr id="20" name="Group 20"/>
          <p:cNvGrpSpPr/>
          <p:nvPr/>
        </p:nvGrpSpPr>
        <p:grpSpPr>
          <a:xfrm>
            <a:off x="702354" y="1540627"/>
            <a:ext cx="233592" cy="233405"/>
            <a:chOff x="702354" y="1540627"/>
            <a:chExt cx="233592" cy="233405"/>
          </a:xfrm>
        </p:grpSpPr>
        <p:sp>
          <p:nvSpPr>
            <p:cNvPr id="18" name="Freeform 18"/>
            <p:cNvSpPr/>
            <p:nvPr/>
          </p:nvSpPr>
          <p:spPr>
            <a:xfrm>
              <a:off x="709645" y="1548963"/>
              <a:ext cx="217918" cy="178918"/>
            </a:xfrm>
            <a:custGeom>
              <a:avLst/>
              <a:gdLst/>
              <a:ahLst/>
              <a:cxnLst/>
              <a:rect l="l" t="t" r="r" b="b"/>
              <a:pathLst>
                <a:path w="217918" h="178918">
                  <a:moveTo>
                    <a:pt x="217852" y="108199"/>
                  </a:moveTo>
                  <a:cubicBezTo>
                    <a:pt x="217918" y="132825"/>
                    <a:pt x="204405" y="155482"/>
                    <a:pt x="182707" y="167127"/>
                  </a:cubicBezTo>
                  <a:cubicBezTo>
                    <a:pt x="161008" y="178772"/>
                    <a:pt x="134658" y="177509"/>
                    <a:pt x="114173" y="163842"/>
                  </a:cubicBezTo>
                  <a:cubicBezTo>
                    <a:pt x="111344" y="161917"/>
                    <a:pt x="107626" y="161917"/>
                    <a:pt x="104797" y="163842"/>
                  </a:cubicBezTo>
                  <a:cubicBezTo>
                    <a:pt x="83938" y="177834"/>
                    <a:pt x="56986" y="178918"/>
                    <a:pt x="35072" y="166644"/>
                  </a:cubicBezTo>
                  <a:cubicBezTo>
                    <a:pt x="13157" y="154371"/>
                    <a:pt x="0" y="130824"/>
                    <a:pt x="1034" y="105728"/>
                  </a:cubicBezTo>
                  <a:cubicBezTo>
                    <a:pt x="2067" y="80632"/>
                    <a:pt x="17116" y="58247"/>
                    <a:pt x="39965" y="47817"/>
                  </a:cubicBezTo>
                  <a:cubicBezTo>
                    <a:pt x="41847" y="46938"/>
                    <a:pt x="43333" y="45389"/>
                    <a:pt x="44133" y="43472"/>
                  </a:cubicBezTo>
                  <a:cubicBezTo>
                    <a:pt x="55163" y="17139"/>
                    <a:pt x="80924" y="0"/>
                    <a:pt x="109474" y="0"/>
                  </a:cubicBezTo>
                  <a:cubicBezTo>
                    <a:pt x="138025" y="0"/>
                    <a:pt x="163785" y="17139"/>
                    <a:pt x="174816" y="43472"/>
                  </a:cubicBezTo>
                  <a:cubicBezTo>
                    <a:pt x="175615" y="45389"/>
                    <a:pt x="177101" y="46938"/>
                    <a:pt x="178983" y="47817"/>
                  </a:cubicBezTo>
                  <a:cubicBezTo>
                    <a:pt x="202598" y="58652"/>
                    <a:pt x="217767" y="82218"/>
                    <a:pt x="217852" y="108199"/>
                  </a:cubicBezTo>
                  <a:close/>
                </a:path>
              </a:pathLst>
            </a:custGeom>
            <a:solidFill>
              <a:srgbClr val="2A9D8F">
                <a:alpha val="20000"/>
              </a:srgbClr>
            </a:solidFill>
            <a:ln>
              <a:noFill/>
            </a:ln>
          </p:spPr>
        </p:sp>
        <p:sp>
          <p:nvSpPr>
            <p:cNvPr id="19" name="Freeform 19"/>
            <p:cNvSpPr/>
            <p:nvPr/>
          </p:nvSpPr>
          <p:spPr>
            <a:xfrm>
              <a:off x="702354" y="1540627"/>
              <a:ext cx="233592" cy="233405"/>
            </a:xfrm>
            <a:custGeom>
              <a:avLst/>
              <a:gdLst/>
              <a:ahLst/>
              <a:cxnLst/>
              <a:rect l="l" t="t" r="r" b="b"/>
              <a:pathLst>
                <a:path w="233592" h="233405">
                  <a:moveTo>
                    <a:pt x="189826" y="48590"/>
                  </a:moveTo>
                  <a:cubicBezTo>
                    <a:pt x="177498" y="19156"/>
                    <a:pt x="148707" y="0"/>
                    <a:pt x="116796" y="0"/>
                  </a:cubicBezTo>
                  <a:cubicBezTo>
                    <a:pt x="84885" y="0"/>
                    <a:pt x="56093" y="19156"/>
                    <a:pt x="43766" y="48590"/>
                  </a:cubicBezTo>
                  <a:cubicBezTo>
                    <a:pt x="17282" y="60860"/>
                    <a:pt x="273" y="87327"/>
                    <a:pt x="115" y="116515"/>
                  </a:cubicBezTo>
                  <a:cubicBezTo>
                    <a:pt x="0" y="156957"/>
                    <a:pt x="32785" y="190691"/>
                    <a:pt x="73186" y="191733"/>
                  </a:cubicBezTo>
                  <a:cubicBezTo>
                    <a:pt x="85408" y="192052"/>
                    <a:pt x="97521" y="189365"/>
                    <a:pt x="108461" y="183909"/>
                  </a:cubicBezTo>
                  <a:lnTo>
                    <a:pt x="108461" y="225070"/>
                  </a:lnTo>
                  <a:cubicBezTo>
                    <a:pt x="108461" y="229673"/>
                    <a:pt x="112193" y="233405"/>
                    <a:pt x="116796" y="233405"/>
                  </a:cubicBezTo>
                  <a:cubicBezTo>
                    <a:pt x="121399" y="233405"/>
                    <a:pt x="125130" y="229673"/>
                    <a:pt x="125130" y="225070"/>
                  </a:cubicBezTo>
                  <a:lnTo>
                    <a:pt x="125130" y="183909"/>
                  </a:lnTo>
                  <a:cubicBezTo>
                    <a:pt x="135484" y="189072"/>
                    <a:pt x="146898" y="191751"/>
                    <a:pt x="158468" y="191733"/>
                  </a:cubicBezTo>
                  <a:lnTo>
                    <a:pt x="160405" y="191733"/>
                  </a:lnTo>
                  <a:cubicBezTo>
                    <a:pt x="200806" y="190691"/>
                    <a:pt x="233592" y="156978"/>
                    <a:pt x="233477" y="116536"/>
                  </a:cubicBezTo>
                  <a:cubicBezTo>
                    <a:pt x="233334" y="87338"/>
                    <a:pt x="216322" y="60857"/>
                    <a:pt x="189826" y="48590"/>
                  </a:cubicBezTo>
                  <a:close/>
                  <a:moveTo>
                    <a:pt x="159978" y="175064"/>
                  </a:moveTo>
                  <a:cubicBezTo>
                    <a:pt x="147943" y="175393"/>
                    <a:pt x="136103" y="171971"/>
                    <a:pt x="126099" y="165271"/>
                  </a:cubicBezTo>
                  <a:cubicBezTo>
                    <a:pt x="125773" y="165063"/>
                    <a:pt x="125450" y="164865"/>
                    <a:pt x="125130" y="164677"/>
                  </a:cubicBezTo>
                  <a:lnTo>
                    <a:pt x="125130" y="121870"/>
                  </a:lnTo>
                  <a:lnTo>
                    <a:pt x="170532" y="99179"/>
                  </a:lnTo>
                  <a:cubicBezTo>
                    <a:pt x="174651" y="97120"/>
                    <a:pt x="176321" y="92110"/>
                    <a:pt x="174261" y="87991"/>
                  </a:cubicBezTo>
                  <a:cubicBezTo>
                    <a:pt x="172202" y="83871"/>
                    <a:pt x="167192" y="82201"/>
                    <a:pt x="163072" y="84261"/>
                  </a:cubicBezTo>
                  <a:lnTo>
                    <a:pt x="125130" y="103242"/>
                  </a:lnTo>
                  <a:lnTo>
                    <a:pt x="125130" y="75051"/>
                  </a:lnTo>
                  <a:cubicBezTo>
                    <a:pt x="125130" y="70448"/>
                    <a:pt x="121399" y="66717"/>
                    <a:pt x="116796" y="66717"/>
                  </a:cubicBezTo>
                  <a:cubicBezTo>
                    <a:pt x="112193" y="66717"/>
                    <a:pt x="108461" y="70448"/>
                    <a:pt x="108461" y="75051"/>
                  </a:cubicBezTo>
                  <a:lnTo>
                    <a:pt x="108461" y="128246"/>
                  </a:lnTo>
                  <a:lnTo>
                    <a:pt x="70519" y="109264"/>
                  </a:lnTo>
                  <a:cubicBezTo>
                    <a:pt x="66400" y="107204"/>
                    <a:pt x="61390" y="108874"/>
                    <a:pt x="59330" y="112994"/>
                  </a:cubicBezTo>
                  <a:cubicBezTo>
                    <a:pt x="57271" y="117113"/>
                    <a:pt x="58940" y="122123"/>
                    <a:pt x="63060" y="124183"/>
                  </a:cubicBezTo>
                  <a:lnTo>
                    <a:pt x="108461" y="146873"/>
                  </a:lnTo>
                  <a:lnTo>
                    <a:pt x="108461" y="164646"/>
                  </a:lnTo>
                  <a:cubicBezTo>
                    <a:pt x="108139" y="164833"/>
                    <a:pt x="107816" y="165031"/>
                    <a:pt x="107503" y="165240"/>
                  </a:cubicBezTo>
                  <a:cubicBezTo>
                    <a:pt x="97499" y="171951"/>
                    <a:pt x="85656" y="175384"/>
                    <a:pt x="73613" y="175064"/>
                  </a:cubicBezTo>
                  <a:cubicBezTo>
                    <a:pt x="46482" y="174386"/>
                    <a:pt x="23401" y="155088"/>
                    <a:pt x="17928" y="128506"/>
                  </a:cubicBezTo>
                  <a:cubicBezTo>
                    <a:pt x="12455" y="101923"/>
                    <a:pt x="26036" y="75077"/>
                    <a:pt x="50694" y="63737"/>
                  </a:cubicBezTo>
                  <a:cubicBezTo>
                    <a:pt x="54481" y="62002"/>
                    <a:pt x="57476" y="58904"/>
                    <a:pt x="59080" y="55059"/>
                  </a:cubicBezTo>
                  <a:cubicBezTo>
                    <a:pt x="68808" y="31812"/>
                    <a:pt x="91543" y="16679"/>
                    <a:pt x="116744" y="16679"/>
                  </a:cubicBezTo>
                  <a:cubicBezTo>
                    <a:pt x="141944" y="16679"/>
                    <a:pt x="164680" y="31812"/>
                    <a:pt x="174407" y="55059"/>
                  </a:cubicBezTo>
                  <a:cubicBezTo>
                    <a:pt x="176012" y="58904"/>
                    <a:pt x="179006" y="62002"/>
                    <a:pt x="182794" y="63737"/>
                  </a:cubicBezTo>
                  <a:cubicBezTo>
                    <a:pt x="207451" y="75077"/>
                    <a:pt x="221032" y="101923"/>
                    <a:pt x="215560" y="128506"/>
                  </a:cubicBezTo>
                  <a:cubicBezTo>
                    <a:pt x="210087" y="155088"/>
                    <a:pt x="187006" y="174386"/>
                    <a:pt x="159874" y="175064"/>
                  </a:cubicBezTo>
                  <a:close/>
                </a:path>
              </a:pathLst>
            </a:custGeom>
            <a:solidFill>
              <a:srgbClr val="2A9D8F"/>
            </a:solidFill>
            <a:ln>
              <a:noFill/>
            </a:ln>
          </p:spPr>
        </p:sp>
      </p:grpSp>
      <p:sp>
        <p:nvSpPr>
          <p:cNvPr id="21" name="TextBox 21"/>
          <p:cNvSpPr txBox="1"/>
          <p:nvPr/>
        </p:nvSpPr>
        <p:spPr>
          <a:xfrm>
            <a:off x="1030605" y="1587818"/>
            <a:ext cx="4047043" cy="274320"/>
          </a:xfrm>
          <a:prstGeom prst="rect">
            <a:avLst/>
          </a:prstGeom>
          <a:noFill/>
          <a:ln>
            <a:noFill/>
          </a:ln>
        </p:spPr>
        <p:txBody>
          <a:bodyPr wrap="none" lIns="0" tIns="0" rIns="0" bIns="0" anchor="t" anchorCtr="0">
            <a:spAutoFit/>
          </a:bodyPr>
          <a:lstStyle/>
          <a:p>
            <a:pPr algn="l"/>
            <a:r>
              <a:rPr lang="zh-CN" sz="1350" b="1" dirty="0">
                <a:solidFill>
                  <a:srgbClr val="68000D"/>
                </a:solidFill>
                <a:latin typeface="Arial"/>
                <a:ea typeface="Microsoft YaHei"/>
                <a:cs typeface="Arial"/>
              </a:rPr>
              <a:t>Share inside the 1,028 mapped reserves</a:t>
            </a:r>
          </a:p>
        </p:txBody>
      </p:sp>
      <p:sp>
        <p:nvSpPr>
          <p:cNvPr id="22" name="TextBox 22"/>
          <p:cNvSpPr txBox="1"/>
          <p:nvPr/>
        </p:nvSpPr>
        <p:spPr>
          <a:xfrm>
            <a:off x="690562" y="2021681"/>
            <a:ext cx="1001268"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New records</a:t>
            </a:r>
          </a:p>
        </p:txBody>
      </p:sp>
      <p:sp>
        <p:nvSpPr>
          <p:cNvPr id="23" name="Rectangle 23"/>
          <p:cNvSpPr/>
          <p:nvPr/>
        </p:nvSpPr>
        <p:spPr>
          <a:xfrm>
            <a:off x="2762250" y="2000250"/>
            <a:ext cx="2412682" cy="209550"/>
          </a:xfrm>
          <a:prstGeom prst="roundRect">
            <a:avLst>
              <a:gd name="adj" fmla="val 13636"/>
            </a:avLst>
          </a:prstGeom>
          <a:solidFill>
            <a:srgbClr val="F0A202"/>
          </a:solidFill>
          <a:ln>
            <a:noFill/>
          </a:ln>
        </p:spPr>
      </p:sp>
      <p:sp>
        <p:nvSpPr>
          <p:cNvPr id="24" name="TextBox 24"/>
          <p:cNvSpPr txBox="1"/>
          <p:nvPr/>
        </p:nvSpPr>
        <p:spPr>
          <a:xfrm>
            <a:off x="5236845" y="2040731"/>
            <a:ext cx="512753" cy="228600"/>
          </a:xfrm>
          <a:prstGeom prst="rect">
            <a:avLst/>
          </a:prstGeom>
          <a:noFill/>
          <a:ln>
            <a:noFill/>
          </a:ln>
        </p:spPr>
        <p:txBody>
          <a:bodyPr wrap="none" lIns="0" tIns="0" rIns="0" bIns="0" anchor="t" anchorCtr="0">
            <a:spAutoFit/>
          </a:bodyPr>
          <a:lstStyle/>
          <a:p>
            <a:pPr algn="l"/>
            <a:r>
              <a:rPr lang="zh-CN" sz="1125" b="1" dirty="0">
                <a:solidFill>
                  <a:srgbClr val="111111"/>
                </a:solidFill>
                <a:latin typeface="Arial"/>
                <a:ea typeface="Microsoft YaHei"/>
                <a:cs typeface="Arial"/>
              </a:rPr>
              <a:t>26.2%</a:t>
            </a:r>
          </a:p>
        </p:txBody>
      </p:sp>
      <p:sp>
        <p:nvSpPr>
          <p:cNvPr id="25" name="TextBox 25"/>
          <p:cNvSpPr txBox="1"/>
          <p:nvPr/>
        </p:nvSpPr>
        <p:spPr>
          <a:xfrm>
            <a:off x="690562" y="2383631"/>
            <a:ext cx="2249996"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Birding effort (checklists)</a:t>
            </a:r>
          </a:p>
        </p:txBody>
      </p:sp>
      <p:sp>
        <p:nvSpPr>
          <p:cNvPr id="26" name="Rectangle 26"/>
          <p:cNvSpPr/>
          <p:nvPr/>
        </p:nvSpPr>
        <p:spPr>
          <a:xfrm>
            <a:off x="2762250" y="2362200"/>
            <a:ext cx="994410" cy="209550"/>
          </a:xfrm>
          <a:prstGeom prst="roundRect">
            <a:avLst>
              <a:gd name="adj" fmla="val 13636"/>
            </a:avLst>
          </a:prstGeom>
          <a:solidFill>
            <a:srgbClr val="1F5F9E"/>
          </a:solidFill>
          <a:ln>
            <a:noFill/>
          </a:ln>
        </p:spPr>
      </p:sp>
      <p:sp>
        <p:nvSpPr>
          <p:cNvPr id="27" name="TextBox 27"/>
          <p:cNvSpPr txBox="1"/>
          <p:nvPr/>
        </p:nvSpPr>
        <p:spPr>
          <a:xfrm>
            <a:off x="3818572" y="2402681"/>
            <a:ext cx="512753" cy="228600"/>
          </a:xfrm>
          <a:prstGeom prst="rect">
            <a:avLst/>
          </a:prstGeom>
          <a:noFill/>
          <a:ln>
            <a:noFill/>
          </a:ln>
        </p:spPr>
        <p:txBody>
          <a:bodyPr wrap="none" lIns="0" tIns="0" rIns="0" bIns="0" anchor="t" anchorCtr="0">
            <a:spAutoFit/>
          </a:bodyPr>
          <a:lstStyle/>
          <a:p>
            <a:pPr algn="l"/>
            <a:r>
              <a:rPr lang="zh-CN" sz="1125" b="1" dirty="0">
                <a:solidFill>
                  <a:srgbClr val="111111"/>
                </a:solidFill>
                <a:latin typeface="Arial"/>
                <a:ea typeface="Microsoft YaHei"/>
                <a:cs typeface="Arial"/>
              </a:rPr>
              <a:t>10.8%</a:t>
            </a:r>
          </a:p>
        </p:txBody>
      </p:sp>
      <p:sp>
        <p:nvSpPr>
          <p:cNvPr id="28" name="TextBox 28"/>
          <p:cNvSpPr txBox="1"/>
          <p:nvPr/>
        </p:nvSpPr>
        <p:spPr>
          <a:xfrm>
            <a:off x="690562" y="2745581"/>
            <a:ext cx="817245"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Land area</a:t>
            </a:r>
          </a:p>
        </p:txBody>
      </p:sp>
      <p:sp>
        <p:nvSpPr>
          <p:cNvPr id="29" name="Rectangle 29"/>
          <p:cNvSpPr/>
          <p:nvPr/>
        </p:nvSpPr>
        <p:spPr>
          <a:xfrm>
            <a:off x="2762250" y="2724150"/>
            <a:ext cx="957262" cy="209550"/>
          </a:xfrm>
          <a:prstGeom prst="roundRect">
            <a:avLst>
              <a:gd name="adj" fmla="val 13636"/>
            </a:avLst>
          </a:prstGeom>
          <a:solidFill>
            <a:srgbClr val="6B6B6B"/>
          </a:solidFill>
          <a:ln>
            <a:noFill/>
          </a:ln>
        </p:spPr>
      </p:sp>
      <p:sp>
        <p:nvSpPr>
          <p:cNvPr id="30" name="TextBox 30"/>
          <p:cNvSpPr txBox="1"/>
          <p:nvPr/>
        </p:nvSpPr>
        <p:spPr>
          <a:xfrm>
            <a:off x="3781425" y="2764631"/>
            <a:ext cx="512753" cy="228600"/>
          </a:xfrm>
          <a:prstGeom prst="rect">
            <a:avLst/>
          </a:prstGeom>
          <a:noFill/>
          <a:ln>
            <a:noFill/>
          </a:ln>
        </p:spPr>
        <p:txBody>
          <a:bodyPr wrap="none" lIns="0" tIns="0" rIns="0" bIns="0" anchor="t" anchorCtr="0">
            <a:spAutoFit/>
          </a:bodyPr>
          <a:lstStyle/>
          <a:p>
            <a:pPr algn="l"/>
            <a:r>
              <a:rPr lang="zh-CN" sz="1125" b="1" dirty="0">
                <a:solidFill>
                  <a:srgbClr val="111111"/>
                </a:solidFill>
                <a:latin typeface="Arial"/>
                <a:ea typeface="Microsoft YaHei"/>
                <a:cs typeface="Arial"/>
              </a:rPr>
              <a:t>10.4%</a:t>
            </a:r>
          </a:p>
        </p:txBody>
      </p:sp>
      <p:sp>
        <p:nvSpPr>
          <p:cNvPr id="31" name="Line 31"/>
          <p:cNvSpPr/>
          <p:nvPr/>
        </p:nvSpPr>
        <p:spPr>
          <a:xfrm>
            <a:off x="704850" y="3162300"/>
            <a:ext cx="5715000" cy="9525"/>
          </a:xfrm>
          <a:custGeom>
            <a:avLst/>
            <a:gdLst/>
            <a:ahLst/>
            <a:cxnLst/>
            <a:rect l="l" t="t" r="r" b="b"/>
            <a:pathLst>
              <a:path w="5715000" h="9525">
                <a:moveTo>
                  <a:pt x="0" y="0"/>
                </a:moveTo>
                <a:lnTo>
                  <a:pt x="5715000" y="0"/>
                </a:lnTo>
              </a:path>
            </a:pathLst>
          </a:custGeom>
          <a:noFill/>
          <a:ln w="9525">
            <a:solidFill>
              <a:srgbClr val="E7E2E3"/>
            </a:solidFill>
          </a:ln>
        </p:spPr>
      </p:sp>
      <p:sp>
        <p:nvSpPr>
          <p:cNvPr id="32" name="TextBox 32"/>
          <p:cNvSpPr txBox="1"/>
          <p:nvPr/>
        </p:nvSpPr>
        <p:spPr>
          <a:xfrm>
            <a:off x="687705" y="3321368"/>
            <a:ext cx="4166172" cy="274320"/>
          </a:xfrm>
          <a:prstGeom prst="rect">
            <a:avLst/>
          </a:prstGeom>
          <a:noFill/>
          <a:ln>
            <a:noFill/>
          </a:ln>
        </p:spPr>
        <p:txBody>
          <a:bodyPr wrap="none" lIns="0" tIns="0" rIns="0" bIns="0" anchor="t" anchorCtr="0">
            <a:spAutoFit/>
          </a:bodyPr>
          <a:lstStyle/>
          <a:p>
            <a:pPr algn="l"/>
            <a:r>
              <a:rPr lang="zh-CN" sz="1350" b="1" dirty="0">
                <a:solidFill>
                  <a:srgbClr val="68000D"/>
                </a:solidFill>
                <a:latin typeface="Arial"/>
                <a:ea typeface="Microsoft YaHei"/>
                <a:cs typeface="Arial"/>
              </a:rPr>
              <a:t>Odds ratio against 200 matched controls</a:t>
            </a:r>
          </a:p>
        </p:txBody>
      </p:sp>
      <p:sp>
        <p:nvSpPr>
          <p:cNvPr id="33" name="TextBox 33"/>
          <p:cNvSpPr txBox="1"/>
          <p:nvPr/>
        </p:nvSpPr>
        <p:spPr>
          <a:xfrm>
            <a:off x="692468" y="3571399"/>
            <a:ext cx="5149696"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Controls from the same province and year, weighted by checklists; 95% CI</a:t>
            </a:r>
          </a:p>
        </p:txBody>
      </p:sp>
      <p:sp>
        <p:nvSpPr>
          <p:cNvPr id="34" name="Line 34"/>
          <p:cNvSpPr/>
          <p:nvPr/>
        </p:nvSpPr>
        <p:spPr>
          <a:xfrm>
            <a:off x="3896678" y="3848100"/>
            <a:ext cx="9525" cy="1962150"/>
          </a:xfrm>
          <a:custGeom>
            <a:avLst/>
            <a:gdLst/>
            <a:ahLst/>
            <a:cxnLst/>
            <a:rect l="l" t="t" r="r" b="b"/>
            <a:pathLst>
              <a:path w="9525" h="1962150">
                <a:moveTo>
                  <a:pt x="0" y="0"/>
                </a:moveTo>
                <a:lnTo>
                  <a:pt x="0" y="1962150"/>
                </a:lnTo>
              </a:path>
            </a:pathLst>
          </a:custGeom>
          <a:noFill/>
          <a:ln w="9525">
            <a:solidFill>
              <a:srgbClr val="6B6B6B"/>
            </a:solidFill>
            <a:custDash>
              <a:ds d="400000" sp="300000"/>
            </a:custDash>
          </a:ln>
        </p:spPr>
      </p:sp>
      <p:sp>
        <p:nvSpPr>
          <p:cNvPr id="35" name="TextBox 35"/>
          <p:cNvSpPr txBox="1"/>
          <p:nvPr/>
        </p:nvSpPr>
        <p:spPr>
          <a:xfrm>
            <a:off x="690562" y="3907631"/>
            <a:ext cx="2172772"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Matched on place and year</a:t>
            </a:r>
          </a:p>
        </p:txBody>
      </p:sp>
      <p:sp>
        <p:nvSpPr>
          <p:cNvPr id="36" name="Line 36"/>
          <p:cNvSpPr/>
          <p:nvPr/>
        </p:nvSpPr>
        <p:spPr>
          <a:xfrm>
            <a:off x="4281488" y="3981450"/>
            <a:ext cx="488633" cy="9525"/>
          </a:xfrm>
          <a:custGeom>
            <a:avLst/>
            <a:gdLst/>
            <a:ahLst/>
            <a:cxnLst/>
            <a:rect l="l" t="t" r="r" b="b"/>
            <a:pathLst>
              <a:path w="488633" h="9525">
                <a:moveTo>
                  <a:pt x="0" y="0"/>
                </a:moveTo>
                <a:lnTo>
                  <a:pt x="488633" y="0"/>
                </a:lnTo>
              </a:path>
            </a:pathLst>
          </a:custGeom>
          <a:noFill/>
          <a:ln w="23812">
            <a:solidFill>
              <a:srgbClr val="8B0012"/>
            </a:solidFill>
          </a:ln>
        </p:spPr>
      </p:sp>
      <p:sp>
        <p:nvSpPr>
          <p:cNvPr id="37" name="Ellipse 37"/>
          <p:cNvSpPr/>
          <p:nvPr/>
        </p:nvSpPr>
        <p:spPr>
          <a:xfrm>
            <a:off x="4462462" y="3919538"/>
            <a:ext cx="123825" cy="123825"/>
          </a:xfrm>
          <a:prstGeom prst="ellipse">
            <a:avLst/>
          </a:prstGeom>
          <a:solidFill>
            <a:srgbClr val="8B0012"/>
          </a:solidFill>
          <a:ln>
            <a:noFill/>
          </a:ln>
        </p:spPr>
      </p:sp>
      <p:sp>
        <p:nvSpPr>
          <p:cNvPr id="38" name="TextBox 38"/>
          <p:cNvSpPr txBox="1"/>
          <p:nvPr/>
        </p:nvSpPr>
        <p:spPr>
          <a:xfrm>
            <a:off x="5302568" y="3923824"/>
            <a:ext cx="1196707" cy="198120"/>
          </a:xfrm>
          <a:prstGeom prst="rect">
            <a:avLst/>
          </a:prstGeom>
          <a:noFill/>
          <a:ln>
            <a:noFill/>
          </a:ln>
        </p:spPr>
        <p:txBody>
          <a:bodyPr wrap="none" lIns="0" tIns="0" rIns="0" bIns="0" anchor="t" anchorCtr="0">
            <a:spAutoFit/>
          </a:bodyPr>
          <a:lstStyle/>
          <a:p>
            <a:pPr algn="l"/>
            <a:r>
              <a:rPr lang="zh-CN" sz="975" dirty="0">
                <a:solidFill>
                  <a:srgbClr val="3F3F3F"/>
                </a:solidFill>
                <a:latin typeface="Arial"/>
                <a:ea typeface="Microsoft YaHei"/>
                <a:cs typeface="Arial"/>
              </a:rPr>
              <a:t>1.71 (1.39–2.11)</a:t>
            </a:r>
          </a:p>
        </p:txBody>
      </p:sp>
      <p:sp>
        <p:nvSpPr>
          <p:cNvPr id="39" name="TextBox 39"/>
          <p:cNvSpPr txBox="1"/>
          <p:nvPr/>
        </p:nvSpPr>
        <p:spPr>
          <a:xfrm>
            <a:off x="690562" y="4288631"/>
            <a:ext cx="2394585"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 elevation, longitude, climate</a:t>
            </a:r>
          </a:p>
        </p:txBody>
      </p:sp>
      <p:sp>
        <p:nvSpPr>
          <p:cNvPr id="40" name="Line 40"/>
          <p:cNvSpPr/>
          <p:nvPr/>
        </p:nvSpPr>
        <p:spPr>
          <a:xfrm>
            <a:off x="4167188" y="4362450"/>
            <a:ext cx="516255" cy="9525"/>
          </a:xfrm>
          <a:custGeom>
            <a:avLst/>
            <a:gdLst/>
            <a:ahLst/>
            <a:cxnLst/>
            <a:rect l="l" t="t" r="r" b="b"/>
            <a:pathLst>
              <a:path w="516255" h="9525">
                <a:moveTo>
                  <a:pt x="0" y="0"/>
                </a:moveTo>
                <a:lnTo>
                  <a:pt x="516255" y="0"/>
                </a:lnTo>
              </a:path>
            </a:pathLst>
          </a:custGeom>
          <a:noFill/>
          <a:ln w="23812">
            <a:solidFill>
              <a:srgbClr val="8B0012"/>
            </a:solidFill>
          </a:ln>
        </p:spPr>
      </p:sp>
      <p:sp>
        <p:nvSpPr>
          <p:cNvPr id="41" name="Ellipse 41"/>
          <p:cNvSpPr/>
          <p:nvPr/>
        </p:nvSpPr>
        <p:spPr>
          <a:xfrm>
            <a:off x="4362450" y="4300538"/>
            <a:ext cx="123825" cy="123825"/>
          </a:xfrm>
          <a:prstGeom prst="ellipse">
            <a:avLst/>
          </a:prstGeom>
          <a:solidFill>
            <a:srgbClr val="8B0012"/>
          </a:solidFill>
          <a:ln>
            <a:noFill/>
          </a:ln>
        </p:spPr>
      </p:sp>
      <p:sp>
        <p:nvSpPr>
          <p:cNvPr id="42" name="TextBox 42"/>
          <p:cNvSpPr txBox="1"/>
          <p:nvPr/>
        </p:nvSpPr>
        <p:spPr>
          <a:xfrm>
            <a:off x="5302568" y="4304824"/>
            <a:ext cx="1196707" cy="198120"/>
          </a:xfrm>
          <a:prstGeom prst="rect">
            <a:avLst/>
          </a:prstGeom>
          <a:noFill/>
          <a:ln>
            <a:noFill/>
          </a:ln>
        </p:spPr>
        <p:txBody>
          <a:bodyPr wrap="none" lIns="0" tIns="0" rIns="0" bIns="0" anchor="t" anchorCtr="0">
            <a:spAutoFit/>
          </a:bodyPr>
          <a:lstStyle/>
          <a:p>
            <a:pPr algn="l"/>
            <a:r>
              <a:rPr lang="zh-CN" sz="975" dirty="0">
                <a:solidFill>
                  <a:srgbClr val="3F3F3F"/>
                </a:solidFill>
                <a:latin typeface="Arial"/>
                <a:ea typeface="Microsoft YaHei"/>
                <a:cs typeface="Arial"/>
              </a:rPr>
              <a:t>1.57 (1.26–1.96)</a:t>
            </a:r>
          </a:p>
        </p:txBody>
      </p:sp>
      <p:sp>
        <p:nvSpPr>
          <p:cNvPr id="43" name="TextBox 43"/>
          <p:cNvSpPr txBox="1"/>
          <p:nvPr/>
        </p:nvSpPr>
        <p:spPr>
          <a:xfrm>
            <a:off x="690562" y="4669631"/>
            <a:ext cx="2585180"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Without the 2 largest reserves</a:t>
            </a:r>
          </a:p>
        </p:txBody>
      </p:sp>
      <p:sp>
        <p:nvSpPr>
          <p:cNvPr id="44" name="Line 44"/>
          <p:cNvSpPr/>
          <p:nvPr/>
        </p:nvSpPr>
        <p:spPr>
          <a:xfrm>
            <a:off x="3799522" y="4743450"/>
            <a:ext cx="547688" cy="9525"/>
          </a:xfrm>
          <a:custGeom>
            <a:avLst/>
            <a:gdLst/>
            <a:ahLst/>
            <a:cxnLst/>
            <a:rect l="l" t="t" r="r" b="b"/>
            <a:pathLst>
              <a:path w="547688" h="9525">
                <a:moveTo>
                  <a:pt x="0" y="0"/>
                </a:moveTo>
                <a:lnTo>
                  <a:pt x="547688" y="0"/>
                </a:lnTo>
              </a:path>
            </a:pathLst>
          </a:custGeom>
          <a:noFill/>
          <a:ln w="23812">
            <a:solidFill>
              <a:srgbClr val="6B6B6B"/>
            </a:solidFill>
          </a:ln>
        </p:spPr>
      </p:sp>
      <p:sp>
        <p:nvSpPr>
          <p:cNvPr id="45" name="Ellipse 45"/>
          <p:cNvSpPr/>
          <p:nvPr/>
        </p:nvSpPr>
        <p:spPr>
          <a:xfrm>
            <a:off x="4008120" y="4681538"/>
            <a:ext cx="123825" cy="123825"/>
          </a:xfrm>
          <a:prstGeom prst="ellipse">
            <a:avLst/>
          </a:prstGeom>
          <a:solidFill>
            <a:srgbClr val="6B6B6B"/>
          </a:solidFill>
          <a:ln>
            <a:noFill/>
          </a:ln>
        </p:spPr>
      </p:sp>
      <p:sp>
        <p:nvSpPr>
          <p:cNvPr id="46" name="TextBox 46"/>
          <p:cNvSpPr txBox="1"/>
          <p:nvPr/>
        </p:nvSpPr>
        <p:spPr>
          <a:xfrm>
            <a:off x="5302568" y="4685824"/>
            <a:ext cx="1196707" cy="198120"/>
          </a:xfrm>
          <a:prstGeom prst="rect">
            <a:avLst/>
          </a:prstGeom>
          <a:noFill/>
          <a:ln>
            <a:noFill/>
          </a:ln>
        </p:spPr>
        <p:txBody>
          <a:bodyPr wrap="none" lIns="0" tIns="0" rIns="0" bIns="0" anchor="t" anchorCtr="0">
            <a:spAutoFit/>
          </a:bodyPr>
          <a:lstStyle/>
          <a:p>
            <a:pPr algn="l"/>
            <a:r>
              <a:rPr lang="zh-CN" sz="975" dirty="0">
                <a:solidFill>
                  <a:srgbClr val="3F3F3F"/>
                </a:solidFill>
                <a:latin typeface="Arial"/>
                <a:ea typeface="Microsoft YaHei"/>
                <a:cs typeface="Arial"/>
              </a:rPr>
              <a:t>1.16 (0.92–1.47)</a:t>
            </a:r>
          </a:p>
        </p:txBody>
      </p:sp>
      <p:sp>
        <p:nvSpPr>
          <p:cNvPr id="47" name="TextBox 47"/>
          <p:cNvSpPr txBox="1"/>
          <p:nvPr/>
        </p:nvSpPr>
        <p:spPr>
          <a:xfrm>
            <a:off x="690562" y="5050631"/>
            <a:ext cx="1290447"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2002–2012 only</a:t>
            </a:r>
          </a:p>
        </p:txBody>
      </p:sp>
      <p:sp>
        <p:nvSpPr>
          <p:cNvPr id="48" name="Line 48"/>
          <p:cNvSpPr/>
          <p:nvPr/>
        </p:nvSpPr>
        <p:spPr>
          <a:xfrm>
            <a:off x="3337560" y="5124450"/>
            <a:ext cx="1033462" cy="9525"/>
          </a:xfrm>
          <a:custGeom>
            <a:avLst/>
            <a:gdLst/>
            <a:ahLst/>
            <a:cxnLst/>
            <a:rect l="l" t="t" r="r" b="b"/>
            <a:pathLst>
              <a:path w="1033462" h="9525">
                <a:moveTo>
                  <a:pt x="0" y="0"/>
                </a:moveTo>
                <a:lnTo>
                  <a:pt x="1033462" y="0"/>
                </a:lnTo>
              </a:path>
            </a:pathLst>
          </a:custGeom>
          <a:noFill/>
          <a:ln w="23812">
            <a:solidFill>
              <a:srgbClr val="6B6B6B"/>
            </a:solidFill>
          </a:ln>
        </p:spPr>
      </p:sp>
      <p:sp>
        <p:nvSpPr>
          <p:cNvPr id="49" name="Ellipse 49"/>
          <p:cNvSpPr/>
          <p:nvPr/>
        </p:nvSpPr>
        <p:spPr>
          <a:xfrm>
            <a:off x="3799522" y="5062538"/>
            <a:ext cx="123825" cy="123825"/>
          </a:xfrm>
          <a:prstGeom prst="ellipse">
            <a:avLst/>
          </a:prstGeom>
          <a:solidFill>
            <a:srgbClr val="6B6B6B"/>
          </a:solidFill>
          <a:ln>
            <a:noFill/>
          </a:ln>
        </p:spPr>
      </p:sp>
      <p:sp>
        <p:nvSpPr>
          <p:cNvPr id="50" name="TextBox 50"/>
          <p:cNvSpPr txBox="1"/>
          <p:nvPr/>
        </p:nvSpPr>
        <p:spPr>
          <a:xfrm>
            <a:off x="5302568" y="5066824"/>
            <a:ext cx="1196707" cy="198120"/>
          </a:xfrm>
          <a:prstGeom prst="rect">
            <a:avLst/>
          </a:prstGeom>
          <a:noFill/>
          <a:ln>
            <a:noFill/>
          </a:ln>
        </p:spPr>
        <p:txBody>
          <a:bodyPr wrap="none" lIns="0" tIns="0" rIns="0" bIns="0" anchor="t" anchorCtr="0">
            <a:spAutoFit/>
          </a:bodyPr>
          <a:lstStyle/>
          <a:p>
            <a:pPr algn="l"/>
            <a:r>
              <a:rPr lang="zh-CN" sz="975" dirty="0">
                <a:solidFill>
                  <a:srgbClr val="3F3F3F"/>
                </a:solidFill>
                <a:latin typeface="Arial"/>
                <a:ea typeface="Microsoft YaHei"/>
                <a:cs typeface="Arial"/>
              </a:rPr>
              <a:t>0.97 (0.62–1.50)</a:t>
            </a:r>
          </a:p>
        </p:txBody>
      </p:sp>
      <p:sp>
        <p:nvSpPr>
          <p:cNvPr id="51" name="TextBox 51"/>
          <p:cNvSpPr txBox="1"/>
          <p:nvPr/>
        </p:nvSpPr>
        <p:spPr>
          <a:xfrm>
            <a:off x="690562" y="5431631"/>
            <a:ext cx="1290447" cy="228600"/>
          </a:xfrm>
          <a:prstGeom prst="rect">
            <a:avLst/>
          </a:prstGeom>
          <a:noFill/>
          <a:ln>
            <a:noFill/>
          </a:ln>
        </p:spPr>
        <p:txBody>
          <a:bodyPr wrap="none" lIns="0" tIns="0" rIns="0" bIns="0" anchor="t" anchorCtr="0">
            <a:spAutoFit/>
          </a:bodyPr>
          <a:lstStyle/>
          <a:p>
            <a:pPr algn="l"/>
            <a:r>
              <a:rPr lang="zh-CN" sz="1125" dirty="0">
                <a:solidFill>
                  <a:srgbClr val="111111"/>
                </a:solidFill>
                <a:latin typeface="Arial"/>
                <a:ea typeface="Microsoft YaHei"/>
                <a:cs typeface="Arial"/>
              </a:rPr>
              <a:t>2013–2023 only</a:t>
            </a:r>
          </a:p>
        </p:txBody>
      </p:sp>
      <p:sp>
        <p:nvSpPr>
          <p:cNvPr id="52" name="Line 52"/>
          <p:cNvSpPr/>
          <p:nvPr/>
        </p:nvSpPr>
        <p:spPr>
          <a:xfrm>
            <a:off x="4453890" y="5505450"/>
            <a:ext cx="556260" cy="9525"/>
          </a:xfrm>
          <a:custGeom>
            <a:avLst/>
            <a:gdLst/>
            <a:ahLst/>
            <a:cxnLst/>
            <a:rect l="l" t="t" r="r" b="b"/>
            <a:pathLst>
              <a:path w="556260" h="9525">
                <a:moveTo>
                  <a:pt x="0" y="0"/>
                </a:moveTo>
                <a:lnTo>
                  <a:pt x="556260" y="0"/>
                </a:lnTo>
              </a:path>
            </a:pathLst>
          </a:custGeom>
          <a:noFill/>
          <a:ln w="23812">
            <a:solidFill>
              <a:srgbClr val="1F5F9E"/>
            </a:solidFill>
          </a:ln>
        </p:spPr>
      </p:sp>
      <p:sp>
        <p:nvSpPr>
          <p:cNvPr id="53" name="Ellipse 53"/>
          <p:cNvSpPr/>
          <p:nvPr/>
        </p:nvSpPr>
        <p:spPr>
          <a:xfrm>
            <a:off x="4673918" y="5443538"/>
            <a:ext cx="123825" cy="123825"/>
          </a:xfrm>
          <a:prstGeom prst="ellipse">
            <a:avLst/>
          </a:prstGeom>
          <a:solidFill>
            <a:srgbClr val="1F5F9E"/>
          </a:solidFill>
          <a:ln>
            <a:noFill/>
          </a:ln>
        </p:spPr>
      </p:sp>
      <p:sp>
        <p:nvSpPr>
          <p:cNvPr id="54" name="TextBox 54"/>
          <p:cNvSpPr txBox="1"/>
          <p:nvPr/>
        </p:nvSpPr>
        <p:spPr>
          <a:xfrm>
            <a:off x="5302568" y="5447824"/>
            <a:ext cx="1196707" cy="198120"/>
          </a:xfrm>
          <a:prstGeom prst="rect">
            <a:avLst/>
          </a:prstGeom>
          <a:noFill/>
          <a:ln>
            <a:noFill/>
          </a:ln>
        </p:spPr>
        <p:txBody>
          <a:bodyPr wrap="none" lIns="0" tIns="0" rIns="0" bIns="0" anchor="t" anchorCtr="0">
            <a:spAutoFit/>
          </a:bodyPr>
          <a:lstStyle/>
          <a:p>
            <a:pPr algn="l"/>
            <a:r>
              <a:rPr lang="zh-CN" sz="975" dirty="0">
                <a:solidFill>
                  <a:srgbClr val="3F3F3F"/>
                </a:solidFill>
                <a:latin typeface="Arial"/>
                <a:ea typeface="Microsoft YaHei"/>
                <a:cs typeface="Arial"/>
              </a:rPr>
              <a:t>2.05 (1.61–2.59)</a:t>
            </a:r>
          </a:p>
        </p:txBody>
      </p:sp>
      <p:sp>
        <p:nvSpPr>
          <p:cNvPr id="55" name="Line 55"/>
          <p:cNvSpPr/>
          <p:nvPr/>
        </p:nvSpPr>
        <p:spPr>
          <a:xfrm>
            <a:off x="3086100" y="5886450"/>
            <a:ext cx="2095500" cy="9525"/>
          </a:xfrm>
          <a:custGeom>
            <a:avLst/>
            <a:gdLst/>
            <a:ahLst/>
            <a:cxnLst/>
            <a:rect l="l" t="t" r="r" b="b"/>
            <a:pathLst>
              <a:path w="2095500" h="9525">
                <a:moveTo>
                  <a:pt x="0" y="0"/>
                </a:moveTo>
                <a:lnTo>
                  <a:pt x="2095500" y="0"/>
                </a:lnTo>
              </a:path>
            </a:pathLst>
          </a:custGeom>
          <a:noFill/>
          <a:ln w="9525">
            <a:solidFill>
              <a:srgbClr val="3F3F3F"/>
            </a:solidFill>
          </a:ln>
        </p:spPr>
      </p:sp>
      <p:sp>
        <p:nvSpPr>
          <p:cNvPr id="56" name="Line 56"/>
          <p:cNvSpPr/>
          <p:nvPr/>
        </p:nvSpPr>
        <p:spPr>
          <a:xfrm>
            <a:off x="3086100" y="5886450"/>
            <a:ext cx="9525" cy="47625"/>
          </a:xfrm>
          <a:custGeom>
            <a:avLst/>
            <a:gdLst/>
            <a:ahLst/>
            <a:cxnLst/>
            <a:rect l="l" t="t" r="r" b="b"/>
            <a:pathLst>
              <a:path w="9525" h="47625">
                <a:moveTo>
                  <a:pt x="0" y="0"/>
                </a:moveTo>
                <a:lnTo>
                  <a:pt x="0" y="47625"/>
                </a:lnTo>
              </a:path>
            </a:pathLst>
          </a:custGeom>
          <a:noFill/>
          <a:ln w="9525">
            <a:solidFill>
              <a:srgbClr val="3F3F3F"/>
            </a:solidFill>
          </a:ln>
        </p:spPr>
      </p:sp>
      <p:sp>
        <p:nvSpPr>
          <p:cNvPr id="57" name="TextBox 57"/>
          <p:cNvSpPr txBox="1"/>
          <p:nvPr/>
        </p:nvSpPr>
        <p:spPr>
          <a:xfrm>
            <a:off x="2895600" y="5977890"/>
            <a:ext cx="381000"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0.5</a:t>
            </a:r>
          </a:p>
        </p:txBody>
      </p:sp>
      <p:sp>
        <p:nvSpPr>
          <p:cNvPr id="58" name="Line 58"/>
          <p:cNvSpPr/>
          <p:nvPr/>
        </p:nvSpPr>
        <p:spPr>
          <a:xfrm>
            <a:off x="3896678" y="5886450"/>
            <a:ext cx="9525" cy="47625"/>
          </a:xfrm>
          <a:custGeom>
            <a:avLst/>
            <a:gdLst/>
            <a:ahLst/>
            <a:cxnLst/>
            <a:rect l="l" t="t" r="r" b="b"/>
            <a:pathLst>
              <a:path w="9525" h="47625">
                <a:moveTo>
                  <a:pt x="0" y="0"/>
                </a:moveTo>
                <a:lnTo>
                  <a:pt x="0" y="47625"/>
                </a:lnTo>
              </a:path>
            </a:pathLst>
          </a:custGeom>
          <a:noFill/>
          <a:ln w="9525">
            <a:solidFill>
              <a:srgbClr val="3F3F3F"/>
            </a:solidFill>
          </a:ln>
        </p:spPr>
      </p:sp>
      <p:sp>
        <p:nvSpPr>
          <p:cNvPr id="59" name="TextBox 59"/>
          <p:cNvSpPr txBox="1"/>
          <p:nvPr/>
        </p:nvSpPr>
        <p:spPr>
          <a:xfrm>
            <a:off x="3706178" y="5977890"/>
            <a:ext cx="381000"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1</a:t>
            </a:r>
          </a:p>
        </p:txBody>
      </p:sp>
      <p:sp>
        <p:nvSpPr>
          <p:cNvPr id="60" name="Line 60"/>
          <p:cNvSpPr/>
          <p:nvPr/>
        </p:nvSpPr>
        <p:spPr>
          <a:xfrm>
            <a:off x="4707255" y="5886450"/>
            <a:ext cx="9525" cy="47625"/>
          </a:xfrm>
          <a:custGeom>
            <a:avLst/>
            <a:gdLst/>
            <a:ahLst/>
            <a:cxnLst/>
            <a:rect l="l" t="t" r="r" b="b"/>
            <a:pathLst>
              <a:path w="9525" h="47625">
                <a:moveTo>
                  <a:pt x="0" y="0"/>
                </a:moveTo>
                <a:lnTo>
                  <a:pt x="0" y="47625"/>
                </a:lnTo>
              </a:path>
            </a:pathLst>
          </a:custGeom>
          <a:noFill/>
          <a:ln w="9525">
            <a:solidFill>
              <a:srgbClr val="3F3F3F"/>
            </a:solidFill>
          </a:ln>
        </p:spPr>
      </p:sp>
      <p:sp>
        <p:nvSpPr>
          <p:cNvPr id="61" name="TextBox 61"/>
          <p:cNvSpPr txBox="1"/>
          <p:nvPr/>
        </p:nvSpPr>
        <p:spPr>
          <a:xfrm>
            <a:off x="4516755" y="5977890"/>
            <a:ext cx="381000"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2</a:t>
            </a:r>
          </a:p>
        </p:txBody>
      </p:sp>
      <p:sp>
        <p:nvSpPr>
          <p:cNvPr id="62" name="Line 62"/>
          <p:cNvSpPr/>
          <p:nvPr/>
        </p:nvSpPr>
        <p:spPr>
          <a:xfrm>
            <a:off x="5181600" y="5886450"/>
            <a:ext cx="9525" cy="47625"/>
          </a:xfrm>
          <a:custGeom>
            <a:avLst/>
            <a:gdLst/>
            <a:ahLst/>
            <a:cxnLst/>
            <a:rect l="l" t="t" r="r" b="b"/>
            <a:pathLst>
              <a:path w="9525" h="47625">
                <a:moveTo>
                  <a:pt x="0" y="0"/>
                </a:moveTo>
                <a:lnTo>
                  <a:pt x="0" y="47625"/>
                </a:lnTo>
              </a:path>
            </a:pathLst>
          </a:custGeom>
          <a:noFill/>
          <a:ln w="9525">
            <a:solidFill>
              <a:srgbClr val="3F3F3F"/>
            </a:solidFill>
          </a:ln>
        </p:spPr>
      </p:sp>
      <p:sp>
        <p:nvSpPr>
          <p:cNvPr id="63" name="TextBox 63"/>
          <p:cNvSpPr txBox="1"/>
          <p:nvPr/>
        </p:nvSpPr>
        <p:spPr>
          <a:xfrm>
            <a:off x="4991100" y="5977890"/>
            <a:ext cx="381000"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3</a:t>
            </a:r>
          </a:p>
        </p:txBody>
      </p:sp>
      <p:sp>
        <p:nvSpPr>
          <p:cNvPr id="64" name="Rectangle 64"/>
          <p:cNvSpPr/>
          <p:nvPr/>
        </p:nvSpPr>
        <p:spPr>
          <a:xfrm>
            <a:off x="6838950" y="1390650"/>
            <a:ext cx="4838700" cy="1581150"/>
          </a:xfrm>
          <a:prstGeom prst="roundRect">
            <a:avLst>
              <a:gd name="adj" fmla="val 6024"/>
            </a:avLst>
          </a:prstGeom>
          <a:solidFill>
            <a:srgbClr val="FFFFFF"/>
          </a:solidFill>
          <a:ln w="15240">
            <a:solidFill>
              <a:srgbClr val="8B0012"/>
            </a:solidFill>
          </a:ln>
        </p:spPr>
      </p:sp>
      <p:grpSp>
        <p:nvGrpSpPr>
          <p:cNvPr id="67" name="Group 67"/>
          <p:cNvGrpSpPr/>
          <p:nvPr/>
        </p:nvGrpSpPr>
        <p:grpSpPr>
          <a:xfrm>
            <a:off x="7009087" y="1541814"/>
            <a:ext cx="250277" cy="250076"/>
            <a:chOff x="7009087" y="1541814"/>
            <a:chExt cx="250277" cy="250076"/>
          </a:xfrm>
        </p:grpSpPr>
        <p:sp>
          <p:nvSpPr>
            <p:cNvPr id="65" name="Freeform 65"/>
            <p:cNvSpPr/>
            <p:nvPr/>
          </p:nvSpPr>
          <p:spPr>
            <a:xfrm>
              <a:off x="7016898" y="1550746"/>
              <a:ext cx="233484" cy="191698"/>
            </a:xfrm>
            <a:custGeom>
              <a:avLst/>
              <a:gdLst/>
              <a:ahLst/>
              <a:cxnLst/>
              <a:rect l="l" t="t" r="r" b="b"/>
              <a:pathLst>
                <a:path w="233484" h="191698">
                  <a:moveTo>
                    <a:pt x="233413" y="115928"/>
                  </a:moveTo>
                  <a:cubicBezTo>
                    <a:pt x="233484" y="142313"/>
                    <a:pt x="219006" y="166588"/>
                    <a:pt x="195757" y="179065"/>
                  </a:cubicBezTo>
                  <a:cubicBezTo>
                    <a:pt x="172509" y="191542"/>
                    <a:pt x="144276" y="190188"/>
                    <a:pt x="122328" y="175545"/>
                  </a:cubicBezTo>
                  <a:cubicBezTo>
                    <a:pt x="119297" y="173482"/>
                    <a:pt x="115313" y="173482"/>
                    <a:pt x="112282" y="175545"/>
                  </a:cubicBezTo>
                  <a:cubicBezTo>
                    <a:pt x="89934" y="190537"/>
                    <a:pt x="61056" y="191698"/>
                    <a:pt x="37577" y="178548"/>
                  </a:cubicBezTo>
                  <a:cubicBezTo>
                    <a:pt x="14097" y="165398"/>
                    <a:pt x="0" y="140168"/>
                    <a:pt x="1107" y="113280"/>
                  </a:cubicBezTo>
                  <a:cubicBezTo>
                    <a:pt x="2215" y="86392"/>
                    <a:pt x="18339" y="62407"/>
                    <a:pt x="42820" y="51232"/>
                  </a:cubicBezTo>
                  <a:cubicBezTo>
                    <a:pt x="44836" y="50291"/>
                    <a:pt x="46429" y="48631"/>
                    <a:pt x="47285" y="46578"/>
                  </a:cubicBezTo>
                  <a:cubicBezTo>
                    <a:pt x="59103" y="18363"/>
                    <a:pt x="86704" y="0"/>
                    <a:pt x="117294" y="0"/>
                  </a:cubicBezTo>
                  <a:cubicBezTo>
                    <a:pt x="147884" y="0"/>
                    <a:pt x="175484" y="18363"/>
                    <a:pt x="187303" y="46578"/>
                  </a:cubicBezTo>
                  <a:cubicBezTo>
                    <a:pt x="188159" y="48631"/>
                    <a:pt x="189751" y="50291"/>
                    <a:pt x="191767" y="51232"/>
                  </a:cubicBezTo>
                  <a:cubicBezTo>
                    <a:pt x="217069" y="62841"/>
                    <a:pt x="233322" y="88090"/>
                    <a:pt x="233413" y="115928"/>
                  </a:cubicBezTo>
                  <a:close/>
                </a:path>
              </a:pathLst>
            </a:custGeom>
            <a:solidFill>
              <a:srgbClr val="8B0012">
                <a:alpha val="20000"/>
              </a:srgbClr>
            </a:solidFill>
            <a:ln>
              <a:noFill/>
            </a:ln>
          </p:spPr>
        </p:sp>
        <p:sp>
          <p:nvSpPr>
            <p:cNvPr id="66" name="Freeform 66"/>
            <p:cNvSpPr/>
            <p:nvPr/>
          </p:nvSpPr>
          <p:spPr>
            <a:xfrm>
              <a:off x="7009087" y="1541814"/>
              <a:ext cx="250277" cy="250076"/>
            </a:xfrm>
            <a:custGeom>
              <a:avLst/>
              <a:gdLst/>
              <a:ahLst/>
              <a:cxnLst/>
              <a:rect l="l" t="t" r="r" b="b"/>
              <a:pathLst>
                <a:path w="250277" h="250076">
                  <a:moveTo>
                    <a:pt x="203385" y="52060"/>
                  </a:moveTo>
                  <a:cubicBezTo>
                    <a:pt x="190177" y="20525"/>
                    <a:pt x="159328" y="0"/>
                    <a:pt x="125138" y="0"/>
                  </a:cubicBezTo>
                  <a:cubicBezTo>
                    <a:pt x="90948" y="0"/>
                    <a:pt x="60100" y="20525"/>
                    <a:pt x="46892" y="52060"/>
                  </a:cubicBezTo>
                  <a:cubicBezTo>
                    <a:pt x="18517" y="65207"/>
                    <a:pt x="293" y="93565"/>
                    <a:pt x="123" y="124837"/>
                  </a:cubicBezTo>
                  <a:cubicBezTo>
                    <a:pt x="0" y="168169"/>
                    <a:pt x="35127" y="204312"/>
                    <a:pt x="78414" y="205428"/>
                  </a:cubicBezTo>
                  <a:cubicBezTo>
                    <a:pt x="91508" y="205770"/>
                    <a:pt x="104487" y="202891"/>
                    <a:pt x="116209" y="197045"/>
                  </a:cubicBezTo>
                  <a:lnTo>
                    <a:pt x="116209" y="241147"/>
                  </a:lnTo>
                  <a:cubicBezTo>
                    <a:pt x="116209" y="246078"/>
                    <a:pt x="120207" y="250076"/>
                    <a:pt x="125138" y="250076"/>
                  </a:cubicBezTo>
                  <a:cubicBezTo>
                    <a:pt x="130070" y="250076"/>
                    <a:pt x="134068" y="246078"/>
                    <a:pt x="134068" y="241147"/>
                  </a:cubicBezTo>
                  <a:lnTo>
                    <a:pt x="134068" y="197045"/>
                  </a:lnTo>
                  <a:cubicBezTo>
                    <a:pt x="145161" y="202577"/>
                    <a:pt x="157391" y="205447"/>
                    <a:pt x="169787" y="205428"/>
                  </a:cubicBezTo>
                  <a:lnTo>
                    <a:pt x="171863" y="205428"/>
                  </a:lnTo>
                  <a:cubicBezTo>
                    <a:pt x="215150" y="204312"/>
                    <a:pt x="250277" y="168191"/>
                    <a:pt x="250154" y="124860"/>
                  </a:cubicBezTo>
                  <a:cubicBezTo>
                    <a:pt x="250001" y="93577"/>
                    <a:pt x="231773" y="65204"/>
                    <a:pt x="203385" y="52060"/>
                  </a:cubicBezTo>
                  <a:close/>
                  <a:moveTo>
                    <a:pt x="171405" y="187568"/>
                  </a:moveTo>
                  <a:cubicBezTo>
                    <a:pt x="158510" y="187921"/>
                    <a:pt x="145824" y="184255"/>
                    <a:pt x="135106" y="177076"/>
                  </a:cubicBezTo>
                  <a:cubicBezTo>
                    <a:pt x="134756" y="176853"/>
                    <a:pt x="134410" y="176641"/>
                    <a:pt x="134068" y="176440"/>
                  </a:cubicBezTo>
                  <a:lnTo>
                    <a:pt x="134068" y="130575"/>
                  </a:lnTo>
                  <a:lnTo>
                    <a:pt x="182713" y="106264"/>
                  </a:lnTo>
                  <a:cubicBezTo>
                    <a:pt x="187126" y="104057"/>
                    <a:pt x="188916" y="98689"/>
                    <a:pt x="186709" y="94276"/>
                  </a:cubicBezTo>
                  <a:cubicBezTo>
                    <a:pt x="184502" y="89862"/>
                    <a:pt x="179134" y="88073"/>
                    <a:pt x="174720" y="90280"/>
                  </a:cubicBezTo>
                  <a:lnTo>
                    <a:pt x="134068" y="110617"/>
                  </a:lnTo>
                  <a:lnTo>
                    <a:pt x="134068" y="80412"/>
                  </a:lnTo>
                  <a:cubicBezTo>
                    <a:pt x="134068" y="75480"/>
                    <a:pt x="130070" y="71483"/>
                    <a:pt x="125138" y="71483"/>
                  </a:cubicBezTo>
                  <a:cubicBezTo>
                    <a:pt x="120207" y="71483"/>
                    <a:pt x="116209" y="75480"/>
                    <a:pt x="116209" y="80412"/>
                  </a:cubicBezTo>
                  <a:lnTo>
                    <a:pt x="116209" y="137406"/>
                  </a:lnTo>
                  <a:lnTo>
                    <a:pt x="75556" y="117069"/>
                  </a:lnTo>
                  <a:cubicBezTo>
                    <a:pt x="71142" y="114862"/>
                    <a:pt x="65775" y="116651"/>
                    <a:pt x="63568" y="121065"/>
                  </a:cubicBezTo>
                  <a:cubicBezTo>
                    <a:pt x="61361" y="125479"/>
                    <a:pt x="63150" y="130846"/>
                    <a:pt x="67564" y="133053"/>
                  </a:cubicBezTo>
                  <a:lnTo>
                    <a:pt x="116209" y="157364"/>
                  </a:lnTo>
                  <a:lnTo>
                    <a:pt x="116209" y="176406"/>
                  </a:lnTo>
                  <a:cubicBezTo>
                    <a:pt x="115863" y="176607"/>
                    <a:pt x="115517" y="176819"/>
                    <a:pt x="115182" y="177043"/>
                  </a:cubicBezTo>
                  <a:cubicBezTo>
                    <a:pt x="104463" y="184233"/>
                    <a:pt x="91774" y="187912"/>
                    <a:pt x="78871" y="187568"/>
                  </a:cubicBezTo>
                  <a:cubicBezTo>
                    <a:pt x="49802" y="186842"/>
                    <a:pt x="25072" y="166166"/>
                    <a:pt x="19209" y="137685"/>
                  </a:cubicBezTo>
                  <a:cubicBezTo>
                    <a:pt x="13345" y="109203"/>
                    <a:pt x="27896" y="80440"/>
                    <a:pt x="54315" y="68290"/>
                  </a:cubicBezTo>
                  <a:cubicBezTo>
                    <a:pt x="58373" y="66431"/>
                    <a:pt x="61581" y="63111"/>
                    <a:pt x="63300" y="58992"/>
                  </a:cubicBezTo>
                  <a:cubicBezTo>
                    <a:pt x="73722" y="34084"/>
                    <a:pt x="98082" y="17871"/>
                    <a:pt x="125083" y="17871"/>
                  </a:cubicBezTo>
                  <a:cubicBezTo>
                    <a:pt x="152083" y="17871"/>
                    <a:pt x="176443" y="34084"/>
                    <a:pt x="186865" y="58992"/>
                  </a:cubicBezTo>
                  <a:cubicBezTo>
                    <a:pt x="188584" y="63111"/>
                    <a:pt x="191793" y="66431"/>
                    <a:pt x="195850" y="68290"/>
                  </a:cubicBezTo>
                  <a:cubicBezTo>
                    <a:pt x="222269" y="80440"/>
                    <a:pt x="236820" y="109203"/>
                    <a:pt x="230957" y="137685"/>
                  </a:cubicBezTo>
                  <a:cubicBezTo>
                    <a:pt x="225093" y="166166"/>
                    <a:pt x="200363" y="186842"/>
                    <a:pt x="171294" y="187568"/>
                  </a:cubicBezTo>
                  <a:close/>
                </a:path>
              </a:pathLst>
            </a:custGeom>
            <a:solidFill>
              <a:srgbClr val="8B0012"/>
            </a:solidFill>
            <a:ln>
              <a:noFill/>
            </a:ln>
          </p:spPr>
        </p:sp>
      </p:grpSp>
      <p:sp>
        <p:nvSpPr>
          <p:cNvPr id="68" name="TextBox 68"/>
          <p:cNvSpPr txBox="1"/>
          <p:nvPr/>
        </p:nvSpPr>
        <p:spPr>
          <a:xfrm>
            <a:off x="7355205" y="1587818"/>
            <a:ext cx="3110734" cy="274320"/>
          </a:xfrm>
          <a:prstGeom prst="rect">
            <a:avLst/>
          </a:prstGeom>
          <a:noFill/>
          <a:ln>
            <a:noFill/>
          </a:ln>
        </p:spPr>
        <p:txBody>
          <a:bodyPr wrap="none" lIns="0" tIns="0" rIns="0" bIns="0" anchor="t" anchorCtr="0">
            <a:spAutoFit/>
          </a:bodyPr>
          <a:lstStyle/>
          <a:p>
            <a:pPr algn="l"/>
            <a:r>
              <a:rPr lang="zh-CN" sz="1350" b="1" dirty="0">
                <a:solidFill>
                  <a:srgbClr val="8B0012"/>
                </a:solidFill>
                <a:latin typeface="Arial"/>
                <a:ea typeface="Microsoft YaHei"/>
                <a:cs typeface="Arial"/>
              </a:rPr>
              <a:t>Few reserves carry the signal</a:t>
            </a:r>
          </a:p>
        </p:txBody>
      </p:sp>
      <p:sp>
        <p:nvSpPr>
          <p:cNvPr id="69" name="TextBox 69"/>
          <p:cNvSpPr txBox="1"/>
          <p:nvPr/>
        </p:nvSpPr>
        <p:spPr>
          <a:xfrm>
            <a:off x="7014210" y="1908810"/>
            <a:ext cx="2258035"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172 events in 68 reserves</a:t>
            </a:r>
          </a:p>
        </p:txBody>
      </p:sp>
      <p:sp>
        <p:nvSpPr>
          <p:cNvPr id="70" name="TextBox 70"/>
          <p:cNvSpPr txBox="1"/>
          <p:nvPr/>
        </p:nvSpPr>
        <p:spPr>
          <a:xfrm>
            <a:off x="7014210" y="2137410"/>
            <a:ext cx="2669896"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The top two hold 27.3% of them</a:t>
            </a:r>
          </a:p>
        </p:txBody>
      </p:sp>
      <p:sp>
        <p:nvSpPr>
          <p:cNvPr id="71" name="TextBox 71"/>
          <p:cNvSpPr txBox="1"/>
          <p:nvPr/>
        </p:nvSpPr>
        <p:spPr>
          <a:xfrm>
            <a:off x="7014210" y="2366010"/>
            <a:ext cx="1863700"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Without them: OR 1.16</a:t>
            </a:r>
          </a:p>
        </p:txBody>
      </p:sp>
      <p:sp>
        <p:nvSpPr>
          <p:cNvPr id="72" name="Rectangle 72"/>
          <p:cNvSpPr/>
          <p:nvPr/>
        </p:nvSpPr>
        <p:spPr>
          <a:xfrm>
            <a:off x="6838950" y="3124200"/>
            <a:ext cx="4838700" cy="1581150"/>
          </a:xfrm>
          <a:prstGeom prst="roundRect">
            <a:avLst>
              <a:gd name="adj" fmla="val 6024"/>
            </a:avLst>
          </a:prstGeom>
          <a:solidFill>
            <a:srgbClr val="FFFFFF"/>
          </a:solidFill>
          <a:ln w="15240">
            <a:solidFill>
              <a:srgbClr val="1F5F9E"/>
            </a:solidFill>
          </a:ln>
        </p:spPr>
      </p:sp>
      <p:grpSp>
        <p:nvGrpSpPr>
          <p:cNvPr id="75" name="Group 75"/>
          <p:cNvGrpSpPr/>
          <p:nvPr/>
        </p:nvGrpSpPr>
        <p:grpSpPr>
          <a:xfrm>
            <a:off x="7005150" y="3302159"/>
            <a:ext cx="258152" cy="200591"/>
            <a:chOff x="7005150" y="3302159"/>
            <a:chExt cx="258152" cy="200591"/>
          </a:xfrm>
        </p:grpSpPr>
        <p:sp>
          <p:nvSpPr>
            <p:cNvPr id="73" name="Freeform 73"/>
            <p:cNvSpPr/>
            <p:nvPr/>
          </p:nvSpPr>
          <p:spPr>
            <a:xfrm>
              <a:off x="7018139" y="3400425"/>
              <a:ext cx="232172" cy="89297"/>
            </a:xfrm>
            <a:custGeom>
              <a:avLst/>
              <a:gdLst/>
              <a:ahLst/>
              <a:cxnLst/>
              <a:rect l="l" t="t" r="r" b="b"/>
              <a:pathLst>
                <a:path w="232172" h="89297">
                  <a:moveTo>
                    <a:pt x="89297" y="44648"/>
                  </a:moveTo>
                  <a:cubicBezTo>
                    <a:pt x="89297" y="69307"/>
                    <a:pt x="69307" y="89297"/>
                    <a:pt x="44648" y="89297"/>
                  </a:cubicBezTo>
                  <a:cubicBezTo>
                    <a:pt x="19990" y="89297"/>
                    <a:pt x="0" y="69307"/>
                    <a:pt x="0" y="44648"/>
                  </a:cubicBezTo>
                  <a:cubicBezTo>
                    <a:pt x="0" y="19990"/>
                    <a:pt x="19990" y="0"/>
                    <a:pt x="44648" y="0"/>
                  </a:cubicBezTo>
                  <a:cubicBezTo>
                    <a:pt x="69307" y="0"/>
                    <a:pt x="89297" y="19990"/>
                    <a:pt x="89297" y="44648"/>
                  </a:cubicBezTo>
                  <a:close/>
                  <a:moveTo>
                    <a:pt x="187523" y="0"/>
                  </a:moveTo>
                  <a:cubicBezTo>
                    <a:pt x="162865" y="0"/>
                    <a:pt x="142875" y="19990"/>
                    <a:pt x="142875" y="44648"/>
                  </a:cubicBezTo>
                  <a:cubicBezTo>
                    <a:pt x="142875" y="69307"/>
                    <a:pt x="162865" y="89297"/>
                    <a:pt x="187523" y="89297"/>
                  </a:cubicBezTo>
                  <a:cubicBezTo>
                    <a:pt x="212182" y="89297"/>
                    <a:pt x="232172" y="69307"/>
                    <a:pt x="232172" y="44648"/>
                  </a:cubicBezTo>
                  <a:cubicBezTo>
                    <a:pt x="232172" y="19990"/>
                    <a:pt x="212182" y="0"/>
                    <a:pt x="187523" y="0"/>
                  </a:cubicBezTo>
                  <a:close/>
                </a:path>
              </a:pathLst>
            </a:custGeom>
            <a:solidFill>
              <a:srgbClr val="1F5F9E">
                <a:alpha val="20000"/>
              </a:srgbClr>
            </a:solidFill>
            <a:ln>
              <a:noFill/>
            </a:ln>
          </p:spPr>
        </p:sp>
        <p:sp>
          <p:nvSpPr>
            <p:cNvPr id="74" name="Freeform 74"/>
            <p:cNvSpPr/>
            <p:nvPr/>
          </p:nvSpPr>
          <p:spPr>
            <a:xfrm>
              <a:off x="7005150" y="3302159"/>
              <a:ext cx="258152" cy="200591"/>
            </a:xfrm>
            <a:custGeom>
              <a:avLst/>
              <a:gdLst/>
              <a:ahLst/>
              <a:cxnLst/>
              <a:rect l="l" t="t" r="r" b="b"/>
              <a:pathLst>
                <a:path w="258152" h="200591">
                  <a:moveTo>
                    <a:pt x="250966" y="124910"/>
                  </a:moveTo>
                  <a:lnTo>
                    <a:pt x="250966" y="124910"/>
                  </a:lnTo>
                  <a:cubicBezTo>
                    <a:pt x="250220" y="122829"/>
                    <a:pt x="249344" y="120797"/>
                    <a:pt x="248343" y="118826"/>
                  </a:cubicBezTo>
                  <a:lnTo>
                    <a:pt x="201919" y="13211"/>
                  </a:lnTo>
                  <a:cubicBezTo>
                    <a:pt x="201480" y="12193"/>
                    <a:pt x="200851" y="11269"/>
                    <a:pt x="200066" y="10487"/>
                  </a:cubicBezTo>
                  <a:cubicBezTo>
                    <a:pt x="193368" y="3787"/>
                    <a:pt x="184281" y="22"/>
                    <a:pt x="174807" y="22"/>
                  </a:cubicBezTo>
                  <a:cubicBezTo>
                    <a:pt x="165332" y="22"/>
                    <a:pt x="156246" y="3787"/>
                    <a:pt x="149547" y="10487"/>
                  </a:cubicBezTo>
                  <a:cubicBezTo>
                    <a:pt x="147878" y="12158"/>
                    <a:pt x="146939" y="14421"/>
                    <a:pt x="146935" y="16782"/>
                  </a:cubicBezTo>
                  <a:lnTo>
                    <a:pt x="146935" y="44688"/>
                  </a:lnTo>
                  <a:lnTo>
                    <a:pt x="111216" y="44688"/>
                  </a:lnTo>
                  <a:lnTo>
                    <a:pt x="111216" y="16782"/>
                  </a:lnTo>
                  <a:cubicBezTo>
                    <a:pt x="111218" y="14413"/>
                    <a:pt x="110278" y="12141"/>
                    <a:pt x="108604" y="10465"/>
                  </a:cubicBezTo>
                  <a:cubicBezTo>
                    <a:pt x="101905" y="3764"/>
                    <a:pt x="92819" y="0"/>
                    <a:pt x="83344" y="0"/>
                  </a:cubicBezTo>
                  <a:cubicBezTo>
                    <a:pt x="73870" y="0"/>
                    <a:pt x="64783" y="3764"/>
                    <a:pt x="58084" y="10465"/>
                  </a:cubicBezTo>
                  <a:cubicBezTo>
                    <a:pt x="57300" y="11247"/>
                    <a:pt x="56671" y="12171"/>
                    <a:pt x="56232" y="13188"/>
                  </a:cubicBezTo>
                  <a:lnTo>
                    <a:pt x="9808" y="118804"/>
                  </a:lnTo>
                  <a:cubicBezTo>
                    <a:pt x="8807" y="120775"/>
                    <a:pt x="7931" y="122807"/>
                    <a:pt x="7185" y="124887"/>
                  </a:cubicBezTo>
                  <a:lnTo>
                    <a:pt x="7185" y="124887"/>
                  </a:lnTo>
                  <a:cubicBezTo>
                    <a:pt x="0" y="144992"/>
                    <a:pt x="5437" y="167443"/>
                    <a:pt x="21023" y="182034"/>
                  </a:cubicBezTo>
                  <a:cubicBezTo>
                    <a:pt x="36609" y="196624"/>
                    <a:pt x="59371" y="200568"/>
                    <a:pt x="78957" y="192073"/>
                  </a:cubicBezTo>
                  <a:cubicBezTo>
                    <a:pt x="98544" y="183577"/>
                    <a:pt x="111218" y="164264"/>
                    <a:pt x="111216" y="142914"/>
                  </a:cubicBezTo>
                  <a:lnTo>
                    <a:pt x="111216" y="62547"/>
                  </a:lnTo>
                  <a:lnTo>
                    <a:pt x="146935" y="62547"/>
                  </a:lnTo>
                  <a:lnTo>
                    <a:pt x="146935" y="142914"/>
                  </a:lnTo>
                  <a:cubicBezTo>
                    <a:pt x="146924" y="164267"/>
                    <a:pt x="159593" y="183587"/>
                    <a:pt x="179180" y="192089"/>
                  </a:cubicBezTo>
                  <a:cubicBezTo>
                    <a:pt x="198767" y="200591"/>
                    <a:pt x="221532" y="196651"/>
                    <a:pt x="237122" y="182061"/>
                  </a:cubicBezTo>
                  <a:cubicBezTo>
                    <a:pt x="252713" y="167471"/>
                    <a:pt x="258152" y="145017"/>
                    <a:pt x="250966" y="124910"/>
                  </a:cubicBezTo>
                  <a:close/>
                  <a:moveTo>
                    <a:pt x="71825" y="22084"/>
                  </a:moveTo>
                  <a:cubicBezTo>
                    <a:pt x="77943" y="16933"/>
                    <a:pt x="86739" y="16477"/>
                    <a:pt x="93357" y="20968"/>
                  </a:cubicBezTo>
                  <a:lnTo>
                    <a:pt x="93357" y="103021"/>
                  </a:lnTo>
                  <a:cubicBezTo>
                    <a:pt x="79168" y="90280"/>
                    <a:pt x="59267" y="86061"/>
                    <a:pt x="41129" y="91948"/>
                  </a:cubicBezTo>
                  <a:close/>
                  <a:moveTo>
                    <a:pt x="57638" y="178633"/>
                  </a:moveTo>
                  <a:cubicBezTo>
                    <a:pt x="37911" y="178633"/>
                    <a:pt x="21919" y="162641"/>
                    <a:pt x="21919" y="142914"/>
                  </a:cubicBezTo>
                  <a:cubicBezTo>
                    <a:pt x="21919" y="123187"/>
                    <a:pt x="37911" y="107196"/>
                    <a:pt x="57638" y="107196"/>
                  </a:cubicBezTo>
                  <a:cubicBezTo>
                    <a:pt x="77365" y="107196"/>
                    <a:pt x="93357" y="123187"/>
                    <a:pt x="93357" y="142914"/>
                  </a:cubicBezTo>
                  <a:cubicBezTo>
                    <a:pt x="93357" y="162641"/>
                    <a:pt x="77365" y="178633"/>
                    <a:pt x="57638" y="178633"/>
                  </a:cubicBezTo>
                  <a:close/>
                  <a:moveTo>
                    <a:pt x="164794" y="20957"/>
                  </a:moveTo>
                  <a:cubicBezTo>
                    <a:pt x="171412" y="16466"/>
                    <a:pt x="180208" y="16922"/>
                    <a:pt x="186326" y="22073"/>
                  </a:cubicBezTo>
                  <a:lnTo>
                    <a:pt x="217022" y="91926"/>
                  </a:lnTo>
                  <a:cubicBezTo>
                    <a:pt x="198882" y="86042"/>
                    <a:pt x="178981" y="90265"/>
                    <a:pt x="164794" y="103010"/>
                  </a:cubicBezTo>
                  <a:close/>
                  <a:moveTo>
                    <a:pt x="200513" y="178633"/>
                  </a:moveTo>
                  <a:cubicBezTo>
                    <a:pt x="180786" y="178633"/>
                    <a:pt x="164794" y="162641"/>
                    <a:pt x="164794" y="142914"/>
                  </a:cubicBezTo>
                  <a:cubicBezTo>
                    <a:pt x="164794" y="123187"/>
                    <a:pt x="180786" y="107196"/>
                    <a:pt x="200513" y="107196"/>
                  </a:cubicBezTo>
                  <a:cubicBezTo>
                    <a:pt x="220240" y="107196"/>
                    <a:pt x="236232" y="123187"/>
                    <a:pt x="236232" y="142914"/>
                  </a:cubicBezTo>
                  <a:cubicBezTo>
                    <a:pt x="236232" y="162641"/>
                    <a:pt x="220240" y="178633"/>
                    <a:pt x="200513" y="178633"/>
                  </a:cubicBezTo>
                  <a:close/>
                </a:path>
              </a:pathLst>
            </a:custGeom>
            <a:solidFill>
              <a:srgbClr val="1F5F9E"/>
            </a:solidFill>
            <a:ln>
              <a:noFill/>
            </a:ln>
          </p:spPr>
        </p:sp>
      </p:grpSp>
      <p:sp>
        <p:nvSpPr>
          <p:cNvPr id="76" name="TextBox 76"/>
          <p:cNvSpPr txBox="1"/>
          <p:nvPr/>
        </p:nvSpPr>
        <p:spPr>
          <a:xfrm>
            <a:off x="7355205" y="3321368"/>
            <a:ext cx="2634220" cy="274320"/>
          </a:xfrm>
          <a:prstGeom prst="rect">
            <a:avLst/>
          </a:prstGeom>
          <a:noFill/>
          <a:ln>
            <a:noFill/>
          </a:ln>
        </p:spPr>
        <p:txBody>
          <a:bodyPr wrap="none" lIns="0" tIns="0" rIns="0" bIns="0" anchor="t" anchorCtr="0">
            <a:spAutoFit/>
          </a:bodyPr>
          <a:lstStyle/>
          <a:p>
            <a:pPr algn="l"/>
            <a:r>
              <a:rPr lang="zh-CN" sz="1350" b="1" dirty="0">
                <a:solidFill>
                  <a:srgbClr val="1F5F9E"/>
                </a:solidFill>
                <a:latin typeface="Arial"/>
                <a:ea typeface="Microsoft YaHei"/>
                <a:cs typeface="Arial"/>
              </a:rPr>
              <a:t>Only after birding boomed</a:t>
            </a:r>
          </a:p>
        </p:txBody>
      </p:sp>
      <p:sp>
        <p:nvSpPr>
          <p:cNvPr id="77" name="TextBox 77"/>
          <p:cNvSpPr txBox="1"/>
          <p:nvPr/>
        </p:nvSpPr>
        <p:spPr>
          <a:xfrm>
            <a:off x="7014210" y="3642360"/>
            <a:ext cx="1672666"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2002–2012: OR 0.97</a:t>
            </a:r>
          </a:p>
        </p:txBody>
      </p:sp>
      <p:sp>
        <p:nvSpPr>
          <p:cNvPr id="78" name="TextBox 78"/>
          <p:cNvSpPr txBox="1"/>
          <p:nvPr/>
        </p:nvSpPr>
        <p:spPr>
          <a:xfrm>
            <a:off x="7014210" y="3870960"/>
            <a:ext cx="1672666"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2013–2023: OR 2.05</a:t>
            </a:r>
          </a:p>
        </p:txBody>
      </p:sp>
      <p:sp>
        <p:nvSpPr>
          <p:cNvPr id="79" name="TextBox 79"/>
          <p:cNvSpPr txBox="1"/>
          <p:nvPr/>
        </p:nvSpPr>
        <p:spPr>
          <a:xfrm>
            <a:off x="7014210" y="4099560"/>
            <a:ext cx="2860929"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24% more species per visit inside</a:t>
            </a:r>
          </a:p>
        </p:txBody>
      </p:sp>
      <p:sp>
        <p:nvSpPr>
          <p:cNvPr id="80" name="Rectangle 80"/>
          <p:cNvSpPr/>
          <p:nvPr/>
        </p:nvSpPr>
        <p:spPr>
          <a:xfrm>
            <a:off x="6838950" y="4857750"/>
            <a:ext cx="4838700" cy="1581150"/>
          </a:xfrm>
          <a:prstGeom prst="roundRect">
            <a:avLst>
              <a:gd name="adj" fmla="val 4819"/>
            </a:avLst>
          </a:prstGeom>
          <a:solidFill>
            <a:srgbClr val="8B0012"/>
          </a:solidFill>
          <a:ln>
            <a:noFill/>
          </a:ln>
        </p:spPr>
      </p:sp>
      <p:sp>
        <p:nvSpPr>
          <p:cNvPr id="81" name="TextBox 81"/>
          <p:cNvSpPr txBox="1"/>
          <p:nvPr/>
        </p:nvSpPr>
        <p:spPr>
          <a:xfrm>
            <a:off x="6934200" y="5407342"/>
            <a:ext cx="4648200" cy="271462"/>
          </a:xfrm>
          <a:prstGeom prst="rect">
            <a:avLst/>
          </a:prstGeom>
          <a:noFill/>
          <a:ln>
            <a:noFill/>
          </a:ln>
        </p:spPr>
        <p:txBody>
          <a:bodyPr wrap="square" lIns="0" tIns="0" rIns="0" bIns="0" anchor="t" anchorCtr="0">
            <a:normAutofit/>
          </a:bodyPr>
          <a:lstStyle/>
          <a:p>
            <a:pPr algn="ctr"/>
            <a:r>
              <a:rPr lang="zh-CN" sz="1425" b="1" dirty="0">
                <a:solidFill>
                  <a:srgbClr val="FFFFFF"/>
                </a:solidFill>
                <a:latin typeface="Arial"/>
                <a:ea typeface="Microsoft YaHei"/>
                <a:cs typeface="Arial"/>
              </a:rPr>
              <a:t>Record counts should not</a:t>
            </a:r>
          </a:p>
        </p:txBody>
      </p:sp>
      <p:sp>
        <p:nvSpPr>
          <p:cNvPr id="82" name="TextBox 82"/>
          <p:cNvSpPr txBox="1"/>
          <p:nvPr/>
        </p:nvSpPr>
        <p:spPr>
          <a:xfrm>
            <a:off x="6934200" y="5660708"/>
            <a:ext cx="4648200" cy="271462"/>
          </a:xfrm>
          <a:prstGeom prst="rect">
            <a:avLst/>
          </a:prstGeom>
          <a:noFill/>
          <a:ln>
            <a:noFill/>
          </a:ln>
        </p:spPr>
        <p:txBody>
          <a:bodyPr wrap="square" lIns="0" tIns="0" rIns="0" bIns="0" anchor="t" anchorCtr="0">
            <a:normAutofit/>
          </a:bodyPr>
          <a:lstStyle/>
          <a:p>
            <a:pPr algn="ctr"/>
            <a:r>
              <a:rPr lang="zh-CN" sz="1425" b="1" dirty="0">
                <a:solidFill>
                  <a:srgbClr val="FFFFFF"/>
                </a:solidFill>
                <a:latin typeface="Arial"/>
                <a:ea typeface="Microsoft YaHei"/>
                <a:cs typeface="Arial"/>
              </a:rPr>
              <a:t>index reserve performance</a:t>
            </a:r>
          </a:p>
        </p:txBody>
      </p:sp>
      <p:sp>
        <p:nvSpPr>
          <p:cNvPr id="83" name="TextBox 83"/>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84" name="TextBox 84"/>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13</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Rectangle 10"/>
          <p:cNvSpPr/>
          <p:nvPr/>
        </p:nvSpPr>
        <p:spPr>
          <a:xfrm>
            <a:off x="8382000" y="0"/>
            <a:ext cx="1866900" cy="609600"/>
          </a:xfrm>
          <a:prstGeom prst="rect">
            <a:avLst/>
          </a:prstGeom>
          <a:solidFill>
            <a:srgbClr val="FFFFFF"/>
          </a:solidFill>
          <a:ln>
            <a:noFill/>
          </a:ln>
        </p:spPr>
      </p:sp>
      <p:sp>
        <p:nvSpPr>
          <p:cNvPr id="11" name="TextBox 11"/>
          <p:cNvSpPr txBox="1"/>
          <p:nvPr/>
        </p:nvSpPr>
        <p:spPr>
          <a:xfrm>
            <a:off x="84201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185501"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Futures</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7989296"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Future record counts follow survey effort, not the emission scenario</a:t>
            </a:r>
          </a:p>
        </p:txBody>
      </p:sp>
      <p:sp>
        <p:nvSpPr>
          <p:cNvPr id="17" name="Rectangle 17"/>
          <p:cNvSpPr/>
          <p:nvPr/>
        </p:nvSpPr>
        <p:spPr>
          <a:xfrm>
            <a:off x="514350" y="1390650"/>
            <a:ext cx="6667500" cy="5029200"/>
          </a:xfrm>
          <a:prstGeom prst="roundRect">
            <a:avLst>
              <a:gd name="adj" fmla="val 1894"/>
            </a:avLst>
          </a:prstGeom>
          <a:solidFill>
            <a:srgbClr val="FFFFFF"/>
          </a:solidFill>
          <a:ln w="14288">
            <a:solidFill>
              <a:srgbClr val="D9C7CA"/>
            </a:solidFill>
          </a:ln>
        </p:spPr>
      </p:sp>
      <p:grpSp>
        <p:nvGrpSpPr>
          <p:cNvPr id="20" name="Group 20"/>
          <p:cNvGrpSpPr/>
          <p:nvPr/>
        </p:nvGrpSpPr>
        <p:grpSpPr>
          <a:xfrm>
            <a:off x="695579" y="1551153"/>
            <a:ext cx="249182" cy="222878"/>
            <a:chOff x="695579" y="1551153"/>
            <a:chExt cx="249182" cy="222878"/>
          </a:xfrm>
        </p:grpSpPr>
        <p:sp>
          <p:nvSpPr>
            <p:cNvPr id="18" name="Freeform 18"/>
            <p:cNvSpPr/>
            <p:nvPr/>
          </p:nvSpPr>
          <p:spPr>
            <a:xfrm>
              <a:off x="726632" y="1586390"/>
              <a:ext cx="106330" cy="88634"/>
            </a:xfrm>
            <a:custGeom>
              <a:avLst/>
              <a:gdLst/>
              <a:ahLst/>
              <a:cxnLst/>
              <a:rect l="l" t="t" r="r" b="b"/>
              <a:pathLst>
                <a:path w="106330" h="88634">
                  <a:moveTo>
                    <a:pt x="106330" y="31830"/>
                  </a:moveTo>
                  <a:lnTo>
                    <a:pt x="106330" y="31830"/>
                  </a:lnTo>
                  <a:cubicBezTo>
                    <a:pt x="83495" y="40499"/>
                    <a:pt x="66205" y="59595"/>
                    <a:pt x="59839" y="83175"/>
                  </a:cubicBezTo>
                  <a:lnTo>
                    <a:pt x="59839" y="83053"/>
                  </a:lnTo>
                  <a:cubicBezTo>
                    <a:pt x="45409" y="78150"/>
                    <a:pt x="29522" y="80211"/>
                    <a:pt x="16821" y="88634"/>
                  </a:cubicBezTo>
                  <a:lnTo>
                    <a:pt x="16821" y="88634"/>
                  </a:lnTo>
                  <a:cubicBezTo>
                    <a:pt x="3130" y="72715"/>
                    <a:pt x="0" y="50267"/>
                    <a:pt x="8813" y="31210"/>
                  </a:cubicBezTo>
                  <a:cubicBezTo>
                    <a:pt x="17625" y="12153"/>
                    <a:pt x="36757" y="0"/>
                    <a:pt x="57753" y="121"/>
                  </a:cubicBezTo>
                  <a:cubicBezTo>
                    <a:pt x="78748" y="243"/>
                    <a:pt x="97738" y="12616"/>
                    <a:pt x="106330" y="31774"/>
                  </a:cubicBezTo>
                  <a:close/>
                </a:path>
              </a:pathLst>
            </a:custGeom>
            <a:solidFill>
              <a:srgbClr val="D1552C">
                <a:alpha val="20000"/>
              </a:srgbClr>
            </a:solidFill>
            <a:ln>
              <a:noFill/>
            </a:ln>
          </p:spPr>
        </p:sp>
        <p:sp>
          <p:nvSpPr>
            <p:cNvPr id="19" name="Freeform 19"/>
            <p:cNvSpPr/>
            <p:nvPr/>
          </p:nvSpPr>
          <p:spPr>
            <a:xfrm>
              <a:off x="695579" y="1551153"/>
              <a:ext cx="249182" cy="222878"/>
            </a:xfrm>
            <a:custGeom>
              <a:avLst/>
              <a:gdLst/>
              <a:ahLst/>
              <a:cxnLst/>
              <a:rect l="l" t="t" r="r" b="b"/>
              <a:pathLst>
                <a:path w="249182" h="222878">
                  <a:moveTo>
                    <a:pt x="164350" y="53214"/>
                  </a:moveTo>
                  <a:cubicBezTo>
                    <a:pt x="156709" y="53210"/>
                    <a:pt x="149102" y="54235"/>
                    <a:pt x="141735" y="56261"/>
                  </a:cubicBezTo>
                  <a:cubicBezTo>
                    <a:pt x="138827" y="51516"/>
                    <a:pt x="135294" y="47184"/>
                    <a:pt x="131232" y="43380"/>
                  </a:cubicBezTo>
                  <a:lnTo>
                    <a:pt x="141847" y="28233"/>
                  </a:lnTo>
                  <a:cubicBezTo>
                    <a:pt x="143677" y="25619"/>
                    <a:pt x="143974" y="22227"/>
                    <a:pt x="142625" y="19335"/>
                  </a:cubicBezTo>
                  <a:cubicBezTo>
                    <a:pt x="141277" y="16443"/>
                    <a:pt x="138488" y="14490"/>
                    <a:pt x="135309" y="14212"/>
                  </a:cubicBezTo>
                  <a:cubicBezTo>
                    <a:pt x="132130" y="13934"/>
                    <a:pt x="129044" y="15373"/>
                    <a:pt x="127213" y="17987"/>
                  </a:cubicBezTo>
                  <a:lnTo>
                    <a:pt x="116598" y="33122"/>
                  </a:lnTo>
                  <a:cubicBezTo>
                    <a:pt x="107869" y="28715"/>
                    <a:pt x="98226" y="26421"/>
                    <a:pt x="88447" y="26425"/>
                  </a:cubicBezTo>
                  <a:cubicBezTo>
                    <a:pt x="87800" y="26425"/>
                    <a:pt x="87152" y="26425"/>
                    <a:pt x="86505" y="26425"/>
                  </a:cubicBezTo>
                  <a:lnTo>
                    <a:pt x="83279" y="8242"/>
                  </a:lnTo>
                  <a:cubicBezTo>
                    <a:pt x="82818" y="5016"/>
                    <a:pt x="80636" y="2297"/>
                    <a:pt x="77587" y="1149"/>
                  </a:cubicBezTo>
                  <a:cubicBezTo>
                    <a:pt x="74537" y="0"/>
                    <a:pt x="71104" y="604"/>
                    <a:pt x="68629" y="2724"/>
                  </a:cubicBezTo>
                  <a:cubicBezTo>
                    <a:pt x="66155" y="4844"/>
                    <a:pt x="65031" y="8144"/>
                    <a:pt x="65699" y="11334"/>
                  </a:cubicBezTo>
                  <a:lnTo>
                    <a:pt x="68914" y="29573"/>
                  </a:lnTo>
                  <a:cubicBezTo>
                    <a:pt x="59010" y="32848"/>
                    <a:pt x="50082" y="38546"/>
                    <a:pt x="42939" y="46149"/>
                  </a:cubicBezTo>
                  <a:lnTo>
                    <a:pt x="27736" y="35511"/>
                  </a:lnTo>
                  <a:cubicBezTo>
                    <a:pt x="25124" y="33635"/>
                    <a:pt x="21704" y="33309"/>
                    <a:pt x="18784" y="34658"/>
                  </a:cubicBezTo>
                  <a:cubicBezTo>
                    <a:pt x="15864" y="36007"/>
                    <a:pt x="13895" y="38822"/>
                    <a:pt x="13629" y="42027"/>
                  </a:cubicBezTo>
                  <a:cubicBezTo>
                    <a:pt x="13364" y="45233"/>
                    <a:pt x="14843" y="48334"/>
                    <a:pt x="17501" y="50145"/>
                  </a:cubicBezTo>
                  <a:lnTo>
                    <a:pt x="32637" y="60771"/>
                  </a:lnTo>
                  <a:cubicBezTo>
                    <a:pt x="28214" y="69498"/>
                    <a:pt x="25919" y="79149"/>
                    <a:pt x="25939" y="88933"/>
                  </a:cubicBezTo>
                  <a:cubicBezTo>
                    <a:pt x="25939" y="89569"/>
                    <a:pt x="25939" y="90217"/>
                    <a:pt x="25939" y="90853"/>
                  </a:cubicBezTo>
                  <a:lnTo>
                    <a:pt x="7756" y="94067"/>
                  </a:lnTo>
                  <a:cubicBezTo>
                    <a:pt x="3194" y="94867"/>
                    <a:pt x="0" y="99022"/>
                    <a:pt x="401" y="103636"/>
                  </a:cubicBezTo>
                  <a:cubicBezTo>
                    <a:pt x="802" y="108251"/>
                    <a:pt x="4665" y="111793"/>
                    <a:pt x="9297" y="111793"/>
                  </a:cubicBezTo>
                  <a:cubicBezTo>
                    <a:pt x="9817" y="111792"/>
                    <a:pt x="10336" y="111747"/>
                    <a:pt x="10848" y="111659"/>
                  </a:cubicBezTo>
                  <a:lnTo>
                    <a:pt x="29065" y="108444"/>
                  </a:lnTo>
                  <a:cubicBezTo>
                    <a:pt x="30665" y="113317"/>
                    <a:pt x="32862" y="117974"/>
                    <a:pt x="35606" y="122308"/>
                  </a:cubicBezTo>
                  <a:cubicBezTo>
                    <a:pt x="18126" y="138543"/>
                    <a:pt x="12361" y="163821"/>
                    <a:pt x="21072" y="186030"/>
                  </a:cubicBezTo>
                  <a:cubicBezTo>
                    <a:pt x="29783" y="208238"/>
                    <a:pt x="51196" y="222856"/>
                    <a:pt x="75053" y="222878"/>
                  </a:cubicBezTo>
                  <a:lnTo>
                    <a:pt x="164350" y="222878"/>
                  </a:lnTo>
                  <a:cubicBezTo>
                    <a:pt x="211201" y="222878"/>
                    <a:pt x="249182" y="184898"/>
                    <a:pt x="249182" y="138046"/>
                  </a:cubicBezTo>
                  <a:cubicBezTo>
                    <a:pt x="249182" y="91195"/>
                    <a:pt x="211201" y="53214"/>
                    <a:pt x="164350" y="53214"/>
                  </a:cubicBezTo>
                  <a:close/>
                  <a:moveTo>
                    <a:pt x="43799" y="88933"/>
                  </a:moveTo>
                  <a:cubicBezTo>
                    <a:pt x="43810" y="69532"/>
                    <a:pt x="56349" y="52358"/>
                    <a:pt x="74825" y="46438"/>
                  </a:cubicBezTo>
                  <a:cubicBezTo>
                    <a:pt x="93301" y="40519"/>
                    <a:pt x="113486" y="47209"/>
                    <a:pt x="124769" y="62992"/>
                  </a:cubicBezTo>
                  <a:cubicBezTo>
                    <a:pt x="106553" y="72578"/>
                    <a:pt x="92428" y="88440"/>
                    <a:pt x="85009" y="107641"/>
                  </a:cubicBezTo>
                  <a:cubicBezTo>
                    <a:pt x="73271" y="105614"/>
                    <a:pt x="61193" y="107239"/>
                    <a:pt x="50407" y="112295"/>
                  </a:cubicBezTo>
                  <a:cubicBezTo>
                    <a:pt x="46088" y="105268"/>
                    <a:pt x="43801" y="97181"/>
                    <a:pt x="43799" y="88933"/>
                  </a:cubicBezTo>
                  <a:close/>
                  <a:moveTo>
                    <a:pt x="164350" y="205019"/>
                  </a:moveTo>
                  <a:lnTo>
                    <a:pt x="75053" y="205019"/>
                  </a:lnTo>
                  <a:cubicBezTo>
                    <a:pt x="60075" y="204991"/>
                    <a:pt x="46356" y="196636"/>
                    <a:pt x="39458" y="183341"/>
                  </a:cubicBezTo>
                  <a:cubicBezTo>
                    <a:pt x="32560" y="170047"/>
                    <a:pt x="33629" y="154019"/>
                    <a:pt x="42231" y="141758"/>
                  </a:cubicBezTo>
                  <a:cubicBezTo>
                    <a:pt x="50832" y="129496"/>
                    <a:pt x="65539" y="123037"/>
                    <a:pt x="80388" y="124998"/>
                  </a:cubicBezTo>
                  <a:cubicBezTo>
                    <a:pt x="79975" y="127643"/>
                    <a:pt x="79685" y="130344"/>
                    <a:pt x="79529" y="133068"/>
                  </a:cubicBezTo>
                  <a:cubicBezTo>
                    <a:pt x="79245" y="138000"/>
                    <a:pt x="83013" y="142227"/>
                    <a:pt x="87945" y="142511"/>
                  </a:cubicBezTo>
                  <a:cubicBezTo>
                    <a:pt x="92877" y="142795"/>
                    <a:pt x="97104" y="139027"/>
                    <a:pt x="97388" y="134095"/>
                  </a:cubicBezTo>
                  <a:cubicBezTo>
                    <a:pt x="97639" y="129641"/>
                    <a:pt x="98342" y="125224"/>
                    <a:pt x="99487" y="120912"/>
                  </a:cubicBezTo>
                  <a:cubicBezTo>
                    <a:pt x="99487" y="120734"/>
                    <a:pt x="99587" y="120555"/>
                    <a:pt x="99620" y="120377"/>
                  </a:cubicBezTo>
                  <a:cubicBezTo>
                    <a:pt x="108737" y="86873"/>
                    <a:pt x="141927" y="65875"/>
                    <a:pt x="176107" y="71986"/>
                  </a:cubicBezTo>
                  <a:cubicBezTo>
                    <a:pt x="210286" y="78097"/>
                    <a:pt x="234144" y="109294"/>
                    <a:pt x="231087" y="143881"/>
                  </a:cubicBezTo>
                  <a:cubicBezTo>
                    <a:pt x="228031" y="178468"/>
                    <a:pt x="199071" y="204997"/>
                    <a:pt x="164350" y="205019"/>
                  </a:cubicBezTo>
                  <a:close/>
                </a:path>
              </a:pathLst>
            </a:custGeom>
            <a:solidFill>
              <a:srgbClr val="D1552C"/>
            </a:solidFill>
            <a:ln>
              <a:noFill/>
            </a:ln>
          </p:spPr>
        </p:sp>
      </p:grpSp>
      <p:sp>
        <p:nvSpPr>
          <p:cNvPr id="21" name="TextBox 21"/>
          <p:cNvSpPr txBox="1"/>
          <p:nvPr/>
        </p:nvSpPr>
        <p:spPr>
          <a:xfrm>
            <a:off x="1049655" y="1587818"/>
            <a:ext cx="3879845" cy="274320"/>
          </a:xfrm>
          <a:prstGeom prst="rect">
            <a:avLst/>
          </a:prstGeom>
          <a:noFill/>
          <a:ln>
            <a:noFill/>
          </a:ln>
        </p:spPr>
        <p:txBody>
          <a:bodyPr wrap="none" lIns="0" tIns="0" rIns="0" bIns="0" anchor="t" anchorCtr="0">
            <a:spAutoFit/>
          </a:bodyPr>
          <a:lstStyle/>
          <a:p>
            <a:pPr algn="l"/>
            <a:r>
              <a:rPr lang="zh-CN" sz="1350" b="1" dirty="0">
                <a:solidFill>
                  <a:srgbClr val="68000D"/>
                </a:solidFill>
                <a:latin typeface="Arial"/>
                <a:ea typeface="Microsoft YaHei"/>
                <a:cs typeface="Arial"/>
              </a:rPr>
              <a:t>Expected new records per year, China</a:t>
            </a:r>
          </a:p>
        </p:txBody>
      </p:sp>
      <p:sp>
        <p:nvSpPr>
          <p:cNvPr id="22" name="Line 22"/>
          <p:cNvSpPr/>
          <p:nvPr/>
        </p:nvSpPr>
        <p:spPr>
          <a:xfrm>
            <a:off x="1123950" y="5505450"/>
            <a:ext cx="5867400" cy="9525"/>
          </a:xfrm>
          <a:custGeom>
            <a:avLst/>
            <a:gdLst/>
            <a:ahLst/>
            <a:cxnLst/>
            <a:rect l="l" t="t" r="r" b="b"/>
            <a:pathLst>
              <a:path w="5867400" h="9525">
                <a:moveTo>
                  <a:pt x="0" y="0"/>
                </a:moveTo>
                <a:lnTo>
                  <a:pt x="5867400" y="0"/>
                </a:lnTo>
              </a:path>
            </a:pathLst>
          </a:custGeom>
          <a:noFill/>
          <a:ln w="9525">
            <a:solidFill>
              <a:srgbClr val="EEEEEE"/>
            </a:solidFill>
          </a:ln>
        </p:spPr>
      </p:sp>
      <p:sp>
        <p:nvSpPr>
          <p:cNvPr id="23" name="TextBox 23"/>
          <p:cNvSpPr txBox="1"/>
          <p:nvPr/>
        </p:nvSpPr>
        <p:spPr>
          <a:xfrm>
            <a:off x="937998" y="5447824"/>
            <a:ext cx="103084" cy="198120"/>
          </a:xfrm>
          <a:prstGeom prst="rect">
            <a:avLst/>
          </a:prstGeom>
          <a:noFill/>
          <a:ln>
            <a:noFill/>
          </a:ln>
        </p:spPr>
        <p:txBody>
          <a:bodyPr wrap="none" lIns="0" tIns="0" rIns="0" bIns="0" anchor="t" anchorCtr="0">
            <a:spAutoFit/>
          </a:bodyPr>
          <a:lstStyle/>
          <a:p>
            <a:pPr algn="r"/>
            <a:r>
              <a:rPr lang="zh-CN" sz="975" dirty="0">
                <a:solidFill>
                  <a:srgbClr val="6B6B6B"/>
                </a:solidFill>
                <a:latin typeface="Arial"/>
                <a:ea typeface="Microsoft YaHei"/>
                <a:cs typeface="Arial"/>
              </a:rPr>
              <a:t>0</a:t>
            </a:r>
          </a:p>
        </p:txBody>
      </p:sp>
      <p:sp>
        <p:nvSpPr>
          <p:cNvPr id="24" name="Line 24"/>
          <p:cNvSpPr/>
          <p:nvPr/>
        </p:nvSpPr>
        <p:spPr>
          <a:xfrm>
            <a:off x="1123950" y="4547235"/>
            <a:ext cx="5867400" cy="9525"/>
          </a:xfrm>
          <a:custGeom>
            <a:avLst/>
            <a:gdLst/>
            <a:ahLst/>
            <a:cxnLst/>
            <a:rect l="l" t="t" r="r" b="b"/>
            <a:pathLst>
              <a:path w="5867400" h="9525">
                <a:moveTo>
                  <a:pt x="0" y="0"/>
                </a:moveTo>
                <a:lnTo>
                  <a:pt x="5867400" y="0"/>
                </a:lnTo>
              </a:path>
            </a:pathLst>
          </a:custGeom>
          <a:noFill/>
          <a:ln w="9525">
            <a:solidFill>
              <a:srgbClr val="EEEEEE"/>
            </a:solidFill>
          </a:ln>
        </p:spPr>
      </p:sp>
      <p:sp>
        <p:nvSpPr>
          <p:cNvPr id="25" name="TextBox 25"/>
          <p:cNvSpPr txBox="1"/>
          <p:nvPr/>
        </p:nvSpPr>
        <p:spPr>
          <a:xfrm>
            <a:off x="859679" y="4489609"/>
            <a:ext cx="181404" cy="198120"/>
          </a:xfrm>
          <a:prstGeom prst="rect">
            <a:avLst/>
          </a:prstGeom>
          <a:noFill/>
          <a:ln>
            <a:noFill/>
          </a:ln>
        </p:spPr>
        <p:txBody>
          <a:bodyPr wrap="none" lIns="0" tIns="0" rIns="0" bIns="0" anchor="t" anchorCtr="0">
            <a:spAutoFit/>
          </a:bodyPr>
          <a:lstStyle/>
          <a:p>
            <a:pPr algn="r"/>
            <a:r>
              <a:rPr lang="zh-CN" sz="975" dirty="0">
                <a:solidFill>
                  <a:srgbClr val="6B6B6B"/>
                </a:solidFill>
                <a:latin typeface="Arial"/>
                <a:ea typeface="Microsoft YaHei"/>
                <a:cs typeface="Arial"/>
              </a:rPr>
              <a:t>20</a:t>
            </a:r>
          </a:p>
        </p:txBody>
      </p:sp>
      <p:sp>
        <p:nvSpPr>
          <p:cNvPr id="26" name="Line 26"/>
          <p:cNvSpPr/>
          <p:nvPr/>
        </p:nvSpPr>
        <p:spPr>
          <a:xfrm>
            <a:off x="1123950" y="3589972"/>
            <a:ext cx="5867400" cy="9525"/>
          </a:xfrm>
          <a:custGeom>
            <a:avLst/>
            <a:gdLst/>
            <a:ahLst/>
            <a:cxnLst/>
            <a:rect l="l" t="t" r="r" b="b"/>
            <a:pathLst>
              <a:path w="5867400" h="9525">
                <a:moveTo>
                  <a:pt x="0" y="0"/>
                </a:moveTo>
                <a:lnTo>
                  <a:pt x="5867400" y="0"/>
                </a:lnTo>
              </a:path>
            </a:pathLst>
          </a:custGeom>
          <a:noFill/>
          <a:ln w="9525">
            <a:solidFill>
              <a:srgbClr val="EEEEEE"/>
            </a:solidFill>
          </a:ln>
        </p:spPr>
      </p:sp>
      <p:sp>
        <p:nvSpPr>
          <p:cNvPr id="27" name="TextBox 27"/>
          <p:cNvSpPr txBox="1"/>
          <p:nvPr/>
        </p:nvSpPr>
        <p:spPr>
          <a:xfrm>
            <a:off x="859679" y="3532346"/>
            <a:ext cx="181404" cy="198120"/>
          </a:xfrm>
          <a:prstGeom prst="rect">
            <a:avLst/>
          </a:prstGeom>
          <a:noFill/>
          <a:ln>
            <a:noFill/>
          </a:ln>
        </p:spPr>
        <p:txBody>
          <a:bodyPr wrap="none" lIns="0" tIns="0" rIns="0" bIns="0" anchor="t" anchorCtr="0">
            <a:spAutoFit/>
          </a:bodyPr>
          <a:lstStyle/>
          <a:p>
            <a:pPr algn="r"/>
            <a:r>
              <a:rPr lang="zh-CN" sz="975" dirty="0">
                <a:solidFill>
                  <a:srgbClr val="6B6B6B"/>
                </a:solidFill>
                <a:latin typeface="Arial"/>
                <a:ea typeface="Microsoft YaHei"/>
                <a:cs typeface="Arial"/>
              </a:rPr>
              <a:t>40</a:t>
            </a:r>
          </a:p>
        </p:txBody>
      </p:sp>
      <p:sp>
        <p:nvSpPr>
          <p:cNvPr id="28" name="Line 28"/>
          <p:cNvSpPr/>
          <p:nvPr/>
        </p:nvSpPr>
        <p:spPr>
          <a:xfrm>
            <a:off x="1123950" y="2631758"/>
            <a:ext cx="5867400" cy="9525"/>
          </a:xfrm>
          <a:custGeom>
            <a:avLst/>
            <a:gdLst/>
            <a:ahLst/>
            <a:cxnLst/>
            <a:rect l="l" t="t" r="r" b="b"/>
            <a:pathLst>
              <a:path w="5867400" h="9525">
                <a:moveTo>
                  <a:pt x="0" y="0"/>
                </a:moveTo>
                <a:lnTo>
                  <a:pt x="5867400" y="0"/>
                </a:lnTo>
              </a:path>
            </a:pathLst>
          </a:custGeom>
          <a:noFill/>
          <a:ln w="9525">
            <a:solidFill>
              <a:srgbClr val="EEEEEE"/>
            </a:solidFill>
          </a:ln>
        </p:spPr>
      </p:sp>
      <p:sp>
        <p:nvSpPr>
          <p:cNvPr id="29" name="TextBox 29"/>
          <p:cNvSpPr txBox="1"/>
          <p:nvPr/>
        </p:nvSpPr>
        <p:spPr>
          <a:xfrm>
            <a:off x="859679" y="2574131"/>
            <a:ext cx="181404" cy="198120"/>
          </a:xfrm>
          <a:prstGeom prst="rect">
            <a:avLst/>
          </a:prstGeom>
          <a:noFill/>
          <a:ln>
            <a:noFill/>
          </a:ln>
        </p:spPr>
        <p:txBody>
          <a:bodyPr wrap="none" lIns="0" tIns="0" rIns="0" bIns="0" anchor="t" anchorCtr="0">
            <a:spAutoFit/>
          </a:bodyPr>
          <a:lstStyle/>
          <a:p>
            <a:pPr algn="r"/>
            <a:r>
              <a:rPr lang="zh-CN" sz="975" dirty="0">
                <a:solidFill>
                  <a:srgbClr val="6B6B6B"/>
                </a:solidFill>
                <a:latin typeface="Arial"/>
                <a:ea typeface="Microsoft YaHei"/>
                <a:cs typeface="Arial"/>
              </a:rPr>
              <a:t>60</a:t>
            </a:r>
          </a:p>
        </p:txBody>
      </p:sp>
      <p:sp>
        <p:nvSpPr>
          <p:cNvPr id="30" name="Rectangle 30"/>
          <p:cNvSpPr/>
          <p:nvPr/>
        </p:nvSpPr>
        <p:spPr>
          <a:xfrm>
            <a:off x="1355408" y="4394835"/>
            <a:ext cx="436245" cy="1110615"/>
          </a:xfrm>
          <a:prstGeom prst="roundRect">
            <a:avLst>
              <a:gd name="adj" fmla="val 4367"/>
            </a:avLst>
          </a:prstGeom>
          <a:solidFill>
            <a:srgbClr val="E6A28B"/>
          </a:solidFill>
          <a:ln>
            <a:noFill/>
          </a:ln>
        </p:spPr>
      </p:sp>
      <p:sp>
        <p:nvSpPr>
          <p:cNvPr id="31" name="TextBox 31"/>
          <p:cNvSpPr txBox="1"/>
          <p:nvPr/>
        </p:nvSpPr>
        <p:spPr>
          <a:xfrm>
            <a:off x="1260158" y="4191952"/>
            <a:ext cx="626745" cy="200025"/>
          </a:xfrm>
          <a:prstGeom prst="rect">
            <a:avLst/>
          </a:prstGeom>
          <a:noFill/>
          <a:ln>
            <a:noFill/>
          </a:ln>
        </p:spPr>
        <p:txBody>
          <a:bodyPr wrap="square" lIns="0" tIns="0" rIns="0" bIns="0" anchor="t" anchorCtr="0">
            <a:normAutofit/>
          </a:bodyPr>
          <a:lstStyle/>
          <a:p>
            <a:pPr algn="ctr"/>
            <a:r>
              <a:rPr lang="zh-CN" sz="1050" b="1" dirty="0">
                <a:solidFill>
                  <a:srgbClr val="111111"/>
                </a:solidFill>
                <a:latin typeface="Arial"/>
                <a:ea typeface="Microsoft YaHei"/>
                <a:cs typeface="Arial"/>
              </a:rPr>
              <a:t>23.2</a:t>
            </a:r>
          </a:p>
        </p:txBody>
      </p:sp>
      <p:sp>
        <p:nvSpPr>
          <p:cNvPr id="32" name="Rectangle 32"/>
          <p:cNvSpPr/>
          <p:nvPr/>
        </p:nvSpPr>
        <p:spPr>
          <a:xfrm>
            <a:off x="1848802" y="4399598"/>
            <a:ext cx="436245" cy="1105852"/>
          </a:xfrm>
          <a:prstGeom prst="roundRect">
            <a:avLst>
              <a:gd name="adj" fmla="val 4367"/>
            </a:avLst>
          </a:prstGeom>
          <a:solidFill>
            <a:srgbClr val="D1552C"/>
          </a:solidFill>
          <a:ln>
            <a:noFill/>
          </a:ln>
        </p:spPr>
      </p:sp>
      <p:sp>
        <p:nvSpPr>
          <p:cNvPr id="33" name="TextBox 33"/>
          <p:cNvSpPr txBox="1"/>
          <p:nvPr/>
        </p:nvSpPr>
        <p:spPr>
          <a:xfrm>
            <a:off x="1753552" y="4196715"/>
            <a:ext cx="626745" cy="200025"/>
          </a:xfrm>
          <a:prstGeom prst="rect">
            <a:avLst/>
          </a:prstGeom>
          <a:noFill/>
          <a:ln>
            <a:noFill/>
          </a:ln>
        </p:spPr>
        <p:txBody>
          <a:bodyPr wrap="square" lIns="0" tIns="0" rIns="0" bIns="0" anchor="t" anchorCtr="0">
            <a:normAutofit/>
          </a:bodyPr>
          <a:lstStyle/>
          <a:p>
            <a:pPr algn="ctr"/>
            <a:r>
              <a:rPr lang="zh-CN" sz="1050" b="1" dirty="0">
                <a:solidFill>
                  <a:srgbClr val="111111"/>
                </a:solidFill>
                <a:latin typeface="Arial"/>
                <a:ea typeface="Microsoft YaHei"/>
                <a:cs typeface="Arial"/>
              </a:rPr>
              <a:t>23.1</a:t>
            </a:r>
          </a:p>
        </p:txBody>
      </p:sp>
      <p:sp>
        <p:nvSpPr>
          <p:cNvPr id="34" name="TextBox 34"/>
          <p:cNvSpPr txBox="1"/>
          <p:nvPr/>
        </p:nvSpPr>
        <p:spPr>
          <a:xfrm>
            <a:off x="1093470" y="5598795"/>
            <a:ext cx="1452562" cy="214312"/>
          </a:xfrm>
          <a:prstGeom prst="rect">
            <a:avLst/>
          </a:prstGeom>
          <a:noFill/>
          <a:ln>
            <a:noFill/>
          </a:ln>
        </p:spPr>
        <p:txBody>
          <a:bodyPr wrap="square" lIns="0" tIns="0" rIns="0" bIns="0" anchor="t" anchorCtr="0">
            <a:normAutofit/>
          </a:bodyPr>
          <a:lstStyle/>
          <a:p>
            <a:pPr algn="ctr"/>
            <a:r>
              <a:rPr lang="zh-CN" sz="1125" b="1" dirty="0">
                <a:solidFill>
                  <a:srgbClr val="111111"/>
                </a:solidFill>
                <a:latin typeface="Arial"/>
                <a:ea typeface="Microsoft YaHei"/>
                <a:cs typeface="Arial"/>
              </a:rPr>
              <a:t>2030</a:t>
            </a:r>
          </a:p>
        </p:txBody>
      </p:sp>
      <p:sp>
        <p:nvSpPr>
          <p:cNvPr id="35" name="TextBox 35"/>
          <p:cNvSpPr txBox="1"/>
          <p:nvPr/>
        </p:nvSpPr>
        <p:spPr>
          <a:xfrm>
            <a:off x="1093470" y="5807392"/>
            <a:ext cx="1452562" cy="200025"/>
          </a:xfrm>
          <a:prstGeom prst="rect">
            <a:avLst/>
          </a:prstGeom>
          <a:noFill/>
          <a:ln>
            <a:noFill/>
          </a:ln>
        </p:spPr>
        <p:txBody>
          <a:bodyPr wrap="square" lIns="0" tIns="0" rIns="0" bIns="0" anchor="t" anchorCtr="0">
            <a:normAutofit/>
          </a:bodyPr>
          <a:lstStyle/>
          <a:p>
            <a:pPr algn="ctr"/>
            <a:r>
              <a:rPr lang="zh-CN" sz="1050" dirty="0">
                <a:solidFill>
                  <a:srgbClr val="3F3F3F"/>
                </a:solidFill>
                <a:latin typeface="Arial"/>
                <a:ea typeface="Microsoft YaHei"/>
                <a:cs typeface="Arial"/>
              </a:rPr>
              <a:t>frozen effort</a:t>
            </a:r>
          </a:p>
        </p:txBody>
      </p:sp>
      <p:sp>
        <p:nvSpPr>
          <p:cNvPr id="36" name="TextBox 36"/>
          <p:cNvSpPr txBox="1"/>
          <p:nvPr/>
        </p:nvSpPr>
        <p:spPr>
          <a:xfrm>
            <a:off x="1093470" y="6015990"/>
            <a:ext cx="1452562"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51–55% in support</a:t>
            </a:r>
          </a:p>
        </p:txBody>
      </p:sp>
      <p:sp>
        <p:nvSpPr>
          <p:cNvPr id="37" name="Rectangle 37"/>
          <p:cNvSpPr/>
          <p:nvPr/>
        </p:nvSpPr>
        <p:spPr>
          <a:xfrm>
            <a:off x="2807970" y="4221480"/>
            <a:ext cx="436245" cy="1283970"/>
          </a:xfrm>
          <a:prstGeom prst="roundRect">
            <a:avLst>
              <a:gd name="adj" fmla="val 4367"/>
            </a:avLst>
          </a:prstGeom>
          <a:solidFill>
            <a:srgbClr val="E6A28B"/>
          </a:solidFill>
          <a:ln>
            <a:noFill/>
          </a:ln>
        </p:spPr>
      </p:sp>
      <p:sp>
        <p:nvSpPr>
          <p:cNvPr id="38" name="TextBox 38"/>
          <p:cNvSpPr txBox="1"/>
          <p:nvPr/>
        </p:nvSpPr>
        <p:spPr>
          <a:xfrm>
            <a:off x="2712720" y="4018598"/>
            <a:ext cx="626745" cy="200025"/>
          </a:xfrm>
          <a:prstGeom prst="rect">
            <a:avLst/>
          </a:prstGeom>
          <a:noFill/>
          <a:ln>
            <a:noFill/>
          </a:ln>
        </p:spPr>
        <p:txBody>
          <a:bodyPr wrap="square" lIns="0" tIns="0" rIns="0" bIns="0" anchor="t" anchorCtr="0">
            <a:normAutofit/>
          </a:bodyPr>
          <a:lstStyle/>
          <a:p>
            <a:pPr algn="ctr"/>
            <a:r>
              <a:rPr lang="zh-CN" sz="1050" b="1" dirty="0">
                <a:solidFill>
                  <a:srgbClr val="111111"/>
                </a:solidFill>
                <a:latin typeface="Arial"/>
                <a:ea typeface="Microsoft YaHei"/>
                <a:cs typeface="Arial"/>
              </a:rPr>
              <a:t>26.8</a:t>
            </a:r>
          </a:p>
        </p:txBody>
      </p:sp>
      <p:sp>
        <p:nvSpPr>
          <p:cNvPr id="39" name="Rectangle 39"/>
          <p:cNvSpPr/>
          <p:nvPr/>
        </p:nvSpPr>
        <p:spPr>
          <a:xfrm>
            <a:off x="3301365" y="4238625"/>
            <a:ext cx="436245" cy="1266825"/>
          </a:xfrm>
          <a:prstGeom prst="roundRect">
            <a:avLst>
              <a:gd name="adj" fmla="val 4367"/>
            </a:avLst>
          </a:prstGeom>
          <a:solidFill>
            <a:srgbClr val="D1552C"/>
          </a:solidFill>
          <a:ln>
            <a:noFill/>
          </a:ln>
        </p:spPr>
      </p:sp>
      <p:sp>
        <p:nvSpPr>
          <p:cNvPr id="40" name="TextBox 40"/>
          <p:cNvSpPr txBox="1"/>
          <p:nvPr/>
        </p:nvSpPr>
        <p:spPr>
          <a:xfrm>
            <a:off x="3206115" y="4035742"/>
            <a:ext cx="626745" cy="200025"/>
          </a:xfrm>
          <a:prstGeom prst="rect">
            <a:avLst/>
          </a:prstGeom>
          <a:noFill/>
          <a:ln>
            <a:noFill/>
          </a:ln>
        </p:spPr>
        <p:txBody>
          <a:bodyPr wrap="square" lIns="0" tIns="0" rIns="0" bIns="0" anchor="t" anchorCtr="0">
            <a:normAutofit/>
          </a:bodyPr>
          <a:lstStyle/>
          <a:p>
            <a:pPr algn="ctr"/>
            <a:r>
              <a:rPr lang="zh-CN" sz="1050" b="1" dirty="0">
                <a:solidFill>
                  <a:srgbClr val="111111"/>
                </a:solidFill>
                <a:latin typeface="Arial"/>
                <a:ea typeface="Microsoft YaHei"/>
                <a:cs typeface="Arial"/>
              </a:rPr>
              <a:t>26.5</a:t>
            </a:r>
          </a:p>
        </p:txBody>
      </p:sp>
      <p:sp>
        <p:nvSpPr>
          <p:cNvPr id="41" name="TextBox 41"/>
          <p:cNvSpPr txBox="1"/>
          <p:nvPr/>
        </p:nvSpPr>
        <p:spPr>
          <a:xfrm>
            <a:off x="2546032" y="5598795"/>
            <a:ext cx="1452562" cy="214312"/>
          </a:xfrm>
          <a:prstGeom prst="rect">
            <a:avLst/>
          </a:prstGeom>
          <a:noFill/>
          <a:ln>
            <a:noFill/>
          </a:ln>
        </p:spPr>
        <p:txBody>
          <a:bodyPr wrap="square" lIns="0" tIns="0" rIns="0" bIns="0" anchor="t" anchorCtr="0">
            <a:normAutofit/>
          </a:bodyPr>
          <a:lstStyle/>
          <a:p>
            <a:pPr algn="ctr"/>
            <a:r>
              <a:rPr lang="zh-CN" sz="1125" b="1" dirty="0">
                <a:solidFill>
                  <a:srgbClr val="111111"/>
                </a:solidFill>
                <a:latin typeface="Arial"/>
                <a:ea typeface="Microsoft YaHei"/>
                <a:cs typeface="Arial"/>
              </a:rPr>
              <a:t>2030</a:t>
            </a:r>
          </a:p>
        </p:txBody>
      </p:sp>
      <p:sp>
        <p:nvSpPr>
          <p:cNvPr id="42" name="TextBox 42"/>
          <p:cNvSpPr txBox="1"/>
          <p:nvPr/>
        </p:nvSpPr>
        <p:spPr>
          <a:xfrm>
            <a:off x="2546032" y="5807392"/>
            <a:ext cx="1452562" cy="200025"/>
          </a:xfrm>
          <a:prstGeom prst="rect">
            <a:avLst/>
          </a:prstGeom>
          <a:noFill/>
          <a:ln>
            <a:noFill/>
          </a:ln>
        </p:spPr>
        <p:txBody>
          <a:bodyPr wrap="square" lIns="0" tIns="0" rIns="0" bIns="0" anchor="t" anchorCtr="0">
            <a:normAutofit/>
          </a:bodyPr>
          <a:lstStyle/>
          <a:p>
            <a:pPr algn="ctr"/>
            <a:r>
              <a:rPr lang="zh-CN" sz="1050" dirty="0">
                <a:solidFill>
                  <a:srgbClr val="3F3F3F"/>
                </a:solidFill>
                <a:latin typeface="Arial"/>
                <a:ea typeface="Microsoft YaHei"/>
                <a:cs typeface="Arial"/>
              </a:rPr>
              <a:t>growing effort</a:t>
            </a:r>
          </a:p>
        </p:txBody>
      </p:sp>
      <p:sp>
        <p:nvSpPr>
          <p:cNvPr id="43" name="TextBox 43"/>
          <p:cNvSpPr txBox="1"/>
          <p:nvPr/>
        </p:nvSpPr>
        <p:spPr>
          <a:xfrm>
            <a:off x="2546032" y="6015990"/>
            <a:ext cx="1452562"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34–37% in support</a:t>
            </a:r>
          </a:p>
        </p:txBody>
      </p:sp>
      <p:sp>
        <p:nvSpPr>
          <p:cNvPr id="44" name="Rectangle 44"/>
          <p:cNvSpPr/>
          <p:nvPr/>
        </p:nvSpPr>
        <p:spPr>
          <a:xfrm>
            <a:off x="4260532" y="4374832"/>
            <a:ext cx="436245" cy="1130618"/>
          </a:xfrm>
          <a:prstGeom prst="roundRect">
            <a:avLst>
              <a:gd name="adj" fmla="val 4367"/>
            </a:avLst>
          </a:prstGeom>
          <a:solidFill>
            <a:srgbClr val="E6A28B"/>
          </a:solidFill>
          <a:ln>
            <a:noFill/>
          </a:ln>
        </p:spPr>
      </p:sp>
      <p:sp>
        <p:nvSpPr>
          <p:cNvPr id="45" name="TextBox 45"/>
          <p:cNvSpPr txBox="1"/>
          <p:nvPr/>
        </p:nvSpPr>
        <p:spPr>
          <a:xfrm>
            <a:off x="4165282" y="4171950"/>
            <a:ext cx="626745" cy="200025"/>
          </a:xfrm>
          <a:prstGeom prst="rect">
            <a:avLst/>
          </a:prstGeom>
          <a:noFill/>
          <a:ln>
            <a:noFill/>
          </a:ln>
        </p:spPr>
        <p:txBody>
          <a:bodyPr wrap="square" lIns="0" tIns="0" rIns="0" bIns="0" anchor="t" anchorCtr="0">
            <a:normAutofit/>
          </a:bodyPr>
          <a:lstStyle/>
          <a:p>
            <a:pPr algn="ctr"/>
            <a:r>
              <a:rPr lang="zh-CN" sz="1050" b="1" dirty="0">
                <a:solidFill>
                  <a:srgbClr val="111111"/>
                </a:solidFill>
                <a:latin typeface="Arial"/>
                <a:ea typeface="Microsoft YaHei"/>
                <a:cs typeface="Arial"/>
              </a:rPr>
              <a:t>23.6</a:t>
            </a:r>
          </a:p>
        </p:txBody>
      </p:sp>
      <p:sp>
        <p:nvSpPr>
          <p:cNvPr id="46" name="Rectangle 46"/>
          <p:cNvSpPr/>
          <p:nvPr/>
        </p:nvSpPr>
        <p:spPr>
          <a:xfrm>
            <a:off x="4753928" y="4371975"/>
            <a:ext cx="436245" cy="1133475"/>
          </a:xfrm>
          <a:prstGeom prst="roundRect">
            <a:avLst>
              <a:gd name="adj" fmla="val 4367"/>
            </a:avLst>
          </a:prstGeom>
          <a:solidFill>
            <a:srgbClr val="D1552C"/>
          </a:solidFill>
          <a:ln>
            <a:noFill/>
          </a:ln>
        </p:spPr>
      </p:sp>
      <p:sp>
        <p:nvSpPr>
          <p:cNvPr id="47" name="TextBox 47"/>
          <p:cNvSpPr txBox="1"/>
          <p:nvPr/>
        </p:nvSpPr>
        <p:spPr>
          <a:xfrm>
            <a:off x="4657725" y="4169092"/>
            <a:ext cx="626745" cy="200025"/>
          </a:xfrm>
          <a:prstGeom prst="rect">
            <a:avLst/>
          </a:prstGeom>
          <a:noFill/>
          <a:ln>
            <a:noFill/>
          </a:ln>
        </p:spPr>
        <p:txBody>
          <a:bodyPr wrap="square" lIns="0" tIns="0" rIns="0" bIns="0" anchor="t" anchorCtr="0">
            <a:normAutofit/>
          </a:bodyPr>
          <a:lstStyle/>
          <a:p>
            <a:pPr algn="ctr"/>
            <a:r>
              <a:rPr lang="zh-CN" sz="1050" b="1" dirty="0">
                <a:solidFill>
                  <a:srgbClr val="111111"/>
                </a:solidFill>
                <a:latin typeface="Arial"/>
                <a:ea typeface="Microsoft YaHei"/>
                <a:cs typeface="Arial"/>
              </a:rPr>
              <a:t>23.7</a:t>
            </a:r>
          </a:p>
        </p:txBody>
      </p:sp>
      <p:sp>
        <p:nvSpPr>
          <p:cNvPr id="48" name="TextBox 48"/>
          <p:cNvSpPr txBox="1"/>
          <p:nvPr/>
        </p:nvSpPr>
        <p:spPr>
          <a:xfrm>
            <a:off x="3998595" y="5598795"/>
            <a:ext cx="1452562" cy="214312"/>
          </a:xfrm>
          <a:prstGeom prst="rect">
            <a:avLst/>
          </a:prstGeom>
          <a:noFill/>
          <a:ln>
            <a:noFill/>
          </a:ln>
        </p:spPr>
        <p:txBody>
          <a:bodyPr wrap="square" lIns="0" tIns="0" rIns="0" bIns="0" anchor="t" anchorCtr="0">
            <a:normAutofit/>
          </a:bodyPr>
          <a:lstStyle/>
          <a:p>
            <a:pPr algn="ctr"/>
            <a:r>
              <a:rPr lang="zh-CN" sz="1125" b="1" dirty="0">
                <a:solidFill>
                  <a:srgbClr val="111111"/>
                </a:solidFill>
                <a:latin typeface="Arial"/>
                <a:ea typeface="Microsoft YaHei"/>
                <a:cs typeface="Arial"/>
              </a:rPr>
              <a:t>2050</a:t>
            </a:r>
          </a:p>
        </p:txBody>
      </p:sp>
      <p:sp>
        <p:nvSpPr>
          <p:cNvPr id="49" name="TextBox 49"/>
          <p:cNvSpPr txBox="1"/>
          <p:nvPr/>
        </p:nvSpPr>
        <p:spPr>
          <a:xfrm>
            <a:off x="3998595" y="5807392"/>
            <a:ext cx="1452562" cy="200025"/>
          </a:xfrm>
          <a:prstGeom prst="rect">
            <a:avLst/>
          </a:prstGeom>
          <a:noFill/>
          <a:ln>
            <a:noFill/>
          </a:ln>
        </p:spPr>
        <p:txBody>
          <a:bodyPr wrap="square" lIns="0" tIns="0" rIns="0" bIns="0" anchor="t" anchorCtr="0">
            <a:normAutofit/>
          </a:bodyPr>
          <a:lstStyle/>
          <a:p>
            <a:pPr algn="ctr"/>
            <a:r>
              <a:rPr lang="zh-CN" sz="1050" dirty="0">
                <a:solidFill>
                  <a:srgbClr val="3F3F3F"/>
                </a:solidFill>
                <a:latin typeface="Arial"/>
                <a:ea typeface="Microsoft YaHei"/>
                <a:cs typeface="Arial"/>
              </a:rPr>
              <a:t>frozen effort</a:t>
            </a:r>
          </a:p>
        </p:txBody>
      </p:sp>
      <p:sp>
        <p:nvSpPr>
          <p:cNvPr id="50" name="TextBox 50"/>
          <p:cNvSpPr txBox="1"/>
          <p:nvPr/>
        </p:nvSpPr>
        <p:spPr>
          <a:xfrm>
            <a:off x="3998595" y="6015990"/>
            <a:ext cx="1452562"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40–44% in support</a:t>
            </a:r>
          </a:p>
        </p:txBody>
      </p:sp>
      <p:sp>
        <p:nvSpPr>
          <p:cNvPr id="51" name="Rectangle 51"/>
          <p:cNvSpPr/>
          <p:nvPr/>
        </p:nvSpPr>
        <p:spPr>
          <a:xfrm>
            <a:off x="5713095" y="2754630"/>
            <a:ext cx="436245" cy="2750820"/>
          </a:xfrm>
          <a:prstGeom prst="roundRect">
            <a:avLst>
              <a:gd name="adj" fmla="val 4367"/>
            </a:avLst>
          </a:prstGeom>
          <a:solidFill>
            <a:srgbClr val="E6A28B">
              <a:alpha val="45000"/>
            </a:srgbClr>
          </a:solidFill>
          <a:ln>
            <a:noFill/>
          </a:ln>
        </p:spPr>
      </p:sp>
      <p:sp>
        <p:nvSpPr>
          <p:cNvPr id="52" name="TextBox 52"/>
          <p:cNvSpPr txBox="1"/>
          <p:nvPr/>
        </p:nvSpPr>
        <p:spPr>
          <a:xfrm>
            <a:off x="5617845" y="2551748"/>
            <a:ext cx="626745" cy="200025"/>
          </a:xfrm>
          <a:prstGeom prst="rect">
            <a:avLst/>
          </a:prstGeom>
          <a:noFill/>
          <a:ln>
            <a:noFill/>
          </a:ln>
        </p:spPr>
        <p:txBody>
          <a:bodyPr wrap="square" lIns="0" tIns="0" rIns="0" bIns="0" anchor="t" anchorCtr="0">
            <a:normAutofit/>
          </a:bodyPr>
          <a:lstStyle/>
          <a:p>
            <a:pPr algn="ctr"/>
            <a:r>
              <a:rPr lang="zh-CN" sz="1050" b="1" dirty="0">
                <a:solidFill>
                  <a:srgbClr val="111111"/>
                </a:solidFill>
                <a:latin typeface="Arial"/>
                <a:ea typeface="Microsoft YaHei"/>
                <a:cs typeface="Arial"/>
              </a:rPr>
              <a:t>57.4</a:t>
            </a:r>
          </a:p>
        </p:txBody>
      </p:sp>
      <p:sp>
        <p:nvSpPr>
          <p:cNvPr id="53" name="Rectangle 53"/>
          <p:cNvSpPr/>
          <p:nvPr/>
        </p:nvSpPr>
        <p:spPr>
          <a:xfrm>
            <a:off x="6205538" y="2543175"/>
            <a:ext cx="436245" cy="2962275"/>
          </a:xfrm>
          <a:prstGeom prst="roundRect">
            <a:avLst>
              <a:gd name="adj" fmla="val 4367"/>
            </a:avLst>
          </a:prstGeom>
          <a:solidFill>
            <a:srgbClr val="D1552C">
              <a:alpha val="45000"/>
            </a:srgbClr>
          </a:solidFill>
          <a:ln>
            <a:noFill/>
          </a:ln>
        </p:spPr>
      </p:sp>
      <p:sp>
        <p:nvSpPr>
          <p:cNvPr id="54" name="TextBox 54"/>
          <p:cNvSpPr txBox="1"/>
          <p:nvPr/>
        </p:nvSpPr>
        <p:spPr>
          <a:xfrm>
            <a:off x="6110288" y="2340292"/>
            <a:ext cx="626745" cy="200025"/>
          </a:xfrm>
          <a:prstGeom prst="rect">
            <a:avLst/>
          </a:prstGeom>
          <a:noFill/>
          <a:ln>
            <a:noFill/>
          </a:ln>
        </p:spPr>
        <p:txBody>
          <a:bodyPr wrap="square" lIns="0" tIns="0" rIns="0" bIns="0" anchor="t" anchorCtr="0">
            <a:normAutofit/>
          </a:bodyPr>
          <a:lstStyle/>
          <a:p>
            <a:pPr algn="ctr"/>
            <a:r>
              <a:rPr lang="zh-CN" sz="1050" b="1" dirty="0">
                <a:solidFill>
                  <a:srgbClr val="111111"/>
                </a:solidFill>
                <a:latin typeface="Arial"/>
                <a:ea typeface="Microsoft YaHei"/>
                <a:cs typeface="Arial"/>
              </a:rPr>
              <a:t>61.9</a:t>
            </a:r>
          </a:p>
        </p:txBody>
      </p:sp>
      <p:sp>
        <p:nvSpPr>
          <p:cNvPr id="55" name="TextBox 55"/>
          <p:cNvSpPr txBox="1"/>
          <p:nvPr/>
        </p:nvSpPr>
        <p:spPr>
          <a:xfrm>
            <a:off x="5451158" y="5598795"/>
            <a:ext cx="1452562" cy="214312"/>
          </a:xfrm>
          <a:prstGeom prst="rect">
            <a:avLst/>
          </a:prstGeom>
          <a:noFill/>
          <a:ln>
            <a:noFill/>
          </a:ln>
        </p:spPr>
        <p:txBody>
          <a:bodyPr wrap="square" lIns="0" tIns="0" rIns="0" bIns="0" anchor="t" anchorCtr="0">
            <a:normAutofit/>
          </a:bodyPr>
          <a:lstStyle/>
          <a:p>
            <a:pPr algn="ctr"/>
            <a:r>
              <a:rPr lang="zh-CN" sz="1125" b="1" dirty="0">
                <a:solidFill>
                  <a:srgbClr val="111111"/>
                </a:solidFill>
                <a:latin typeface="Arial"/>
                <a:ea typeface="Microsoft YaHei"/>
                <a:cs typeface="Arial"/>
              </a:rPr>
              <a:t>2050</a:t>
            </a:r>
          </a:p>
        </p:txBody>
      </p:sp>
      <p:sp>
        <p:nvSpPr>
          <p:cNvPr id="56" name="TextBox 56"/>
          <p:cNvSpPr txBox="1"/>
          <p:nvPr/>
        </p:nvSpPr>
        <p:spPr>
          <a:xfrm>
            <a:off x="5451158" y="5807392"/>
            <a:ext cx="1452562" cy="200025"/>
          </a:xfrm>
          <a:prstGeom prst="rect">
            <a:avLst/>
          </a:prstGeom>
          <a:noFill/>
          <a:ln>
            <a:noFill/>
          </a:ln>
        </p:spPr>
        <p:txBody>
          <a:bodyPr wrap="square" lIns="0" tIns="0" rIns="0" bIns="0" anchor="t" anchorCtr="0">
            <a:normAutofit/>
          </a:bodyPr>
          <a:lstStyle/>
          <a:p>
            <a:pPr algn="ctr"/>
            <a:r>
              <a:rPr lang="zh-CN" sz="1050" dirty="0">
                <a:solidFill>
                  <a:srgbClr val="3F3F3F"/>
                </a:solidFill>
                <a:latin typeface="Arial"/>
                <a:ea typeface="Microsoft YaHei"/>
                <a:cs typeface="Arial"/>
              </a:rPr>
              <a:t>growing effort</a:t>
            </a:r>
          </a:p>
        </p:txBody>
      </p:sp>
      <p:sp>
        <p:nvSpPr>
          <p:cNvPr id="57" name="TextBox 57"/>
          <p:cNvSpPr txBox="1"/>
          <p:nvPr/>
        </p:nvSpPr>
        <p:spPr>
          <a:xfrm>
            <a:off x="5451158" y="6015990"/>
            <a:ext cx="1452562"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2% in support</a:t>
            </a:r>
          </a:p>
        </p:txBody>
      </p:sp>
      <p:sp>
        <p:nvSpPr>
          <p:cNvPr id="58" name="Rectangle 58"/>
          <p:cNvSpPr/>
          <p:nvPr/>
        </p:nvSpPr>
        <p:spPr>
          <a:xfrm>
            <a:off x="4610100" y="1619250"/>
            <a:ext cx="133350" cy="133350"/>
          </a:xfrm>
          <a:prstGeom prst="roundRect">
            <a:avLst>
              <a:gd name="adj" fmla="val 14286"/>
            </a:avLst>
          </a:prstGeom>
          <a:solidFill>
            <a:srgbClr val="E6A28B"/>
          </a:solidFill>
          <a:ln>
            <a:noFill/>
          </a:ln>
        </p:spPr>
      </p:sp>
      <p:sp>
        <p:nvSpPr>
          <p:cNvPr id="59" name="TextBox 59"/>
          <p:cNvSpPr txBox="1"/>
          <p:nvPr/>
        </p:nvSpPr>
        <p:spPr>
          <a:xfrm>
            <a:off x="4787265" y="1620202"/>
            <a:ext cx="666150"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SSP2-4.5</a:t>
            </a:r>
          </a:p>
        </p:txBody>
      </p:sp>
      <p:sp>
        <p:nvSpPr>
          <p:cNvPr id="60" name="Rectangle 60"/>
          <p:cNvSpPr/>
          <p:nvPr/>
        </p:nvSpPr>
        <p:spPr>
          <a:xfrm>
            <a:off x="5753100" y="1619250"/>
            <a:ext cx="133350" cy="133350"/>
          </a:xfrm>
          <a:prstGeom prst="roundRect">
            <a:avLst>
              <a:gd name="adj" fmla="val 14286"/>
            </a:avLst>
          </a:prstGeom>
          <a:solidFill>
            <a:srgbClr val="D1552C"/>
          </a:solidFill>
          <a:ln>
            <a:noFill/>
          </a:ln>
        </p:spPr>
      </p:sp>
      <p:sp>
        <p:nvSpPr>
          <p:cNvPr id="61" name="TextBox 61"/>
          <p:cNvSpPr txBox="1"/>
          <p:nvPr/>
        </p:nvSpPr>
        <p:spPr>
          <a:xfrm>
            <a:off x="5930265" y="1620202"/>
            <a:ext cx="666150"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SSP5-8.5</a:t>
            </a:r>
          </a:p>
        </p:txBody>
      </p:sp>
      <p:sp>
        <p:nvSpPr>
          <p:cNvPr id="62" name="Line 62"/>
          <p:cNvSpPr/>
          <p:nvPr/>
        </p:nvSpPr>
        <p:spPr>
          <a:xfrm>
            <a:off x="1123950" y="5505450"/>
            <a:ext cx="5867400" cy="9525"/>
          </a:xfrm>
          <a:custGeom>
            <a:avLst/>
            <a:gdLst/>
            <a:ahLst/>
            <a:cxnLst/>
            <a:rect l="l" t="t" r="r" b="b"/>
            <a:pathLst>
              <a:path w="5867400" h="9525">
                <a:moveTo>
                  <a:pt x="0" y="0"/>
                </a:moveTo>
                <a:lnTo>
                  <a:pt x="5867400" y="0"/>
                </a:lnTo>
              </a:path>
            </a:pathLst>
          </a:custGeom>
          <a:noFill/>
          <a:ln w="9525">
            <a:solidFill>
              <a:srgbClr val="3F3F3F"/>
            </a:solidFill>
          </a:ln>
        </p:spPr>
      </p:sp>
      <p:sp>
        <p:nvSpPr>
          <p:cNvPr id="63" name="Rectangle 63"/>
          <p:cNvSpPr/>
          <p:nvPr/>
        </p:nvSpPr>
        <p:spPr>
          <a:xfrm>
            <a:off x="7410450" y="1390650"/>
            <a:ext cx="4267200" cy="1428750"/>
          </a:xfrm>
          <a:prstGeom prst="roundRect">
            <a:avLst>
              <a:gd name="adj" fmla="val 6667"/>
            </a:avLst>
          </a:prstGeom>
          <a:solidFill>
            <a:srgbClr val="FFFFFF"/>
          </a:solidFill>
          <a:ln w="15240">
            <a:solidFill>
              <a:srgbClr val="8B0012"/>
            </a:solidFill>
          </a:ln>
        </p:spPr>
      </p:sp>
      <p:grpSp>
        <p:nvGrpSpPr>
          <p:cNvPr id="66" name="Group 66"/>
          <p:cNvGrpSpPr/>
          <p:nvPr/>
        </p:nvGrpSpPr>
        <p:grpSpPr>
          <a:xfrm>
            <a:off x="7572629" y="1551153"/>
            <a:ext cx="249182" cy="222878"/>
            <a:chOff x="7572629" y="1551153"/>
            <a:chExt cx="249182" cy="222878"/>
          </a:xfrm>
        </p:grpSpPr>
        <p:sp>
          <p:nvSpPr>
            <p:cNvPr id="64" name="Freeform 64"/>
            <p:cNvSpPr/>
            <p:nvPr/>
          </p:nvSpPr>
          <p:spPr>
            <a:xfrm>
              <a:off x="7603682" y="1586390"/>
              <a:ext cx="106330" cy="88634"/>
            </a:xfrm>
            <a:custGeom>
              <a:avLst/>
              <a:gdLst/>
              <a:ahLst/>
              <a:cxnLst/>
              <a:rect l="l" t="t" r="r" b="b"/>
              <a:pathLst>
                <a:path w="106330" h="88634">
                  <a:moveTo>
                    <a:pt x="106330" y="31830"/>
                  </a:moveTo>
                  <a:lnTo>
                    <a:pt x="106330" y="31830"/>
                  </a:lnTo>
                  <a:cubicBezTo>
                    <a:pt x="83495" y="40499"/>
                    <a:pt x="66205" y="59595"/>
                    <a:pt x="59839" y="83175"/>
                  </a:cubicBezTo>
                  <a:lnTo>
                    <a:pt x="59839" y="83053"/>
                  </a:lnTo>
                  <a:cubicBezTo>
                    <a:pt x="45409" y="78150"/>
                    <a:pt x="29522" y="80211"/>
                    <a:pt x="16821" y="88634"/>
                  </a:cubicBezTo>
                  <a:lnTo>
                    <a:pt x="16821" y="88634"/>
                  </a:lnTo>
                  <a:cubicBezTo>
                    <a:pt x="3130" y="72715"/>
                    <a:pt x="0" y="50267"/>
                    <a:pt x="8813" y="31210"/>
                  </a:cubicBezTo>
                  <a:cubicBezTo>
                    <a:pt x="17625" y="12153"/>
                    <a:pt x="36757" y="0"/>
                    <a:pt x="57753" y="121"/>
                  </a:cubicBezTo>
                  <a:cubicBezTo>
                    <a:pt x="78748" y="243"/>
                    <a:pt x="97738" y="12616"/>
                    <a:pt x="106330" y="31774"/>
                  </a:cubicBezTo>
                  <a:close/>
                </a:path>
              </a:pathLst>
            </a:custGeom>
            <a:solidFill>
              <a:srgbClr val="8B0012">
                <a:alpha val="20000"/>
              </a:srgbClr>
            </a:solidFill>
            <a:ln>
              <a:noFill/>
            </a:ln>
          </p:spPr>
        </p:sp>
        <p:sp>
          <p:nvSpPr>
            <p:cNvPr id="65" name="Freeform 65"/>
            <p:cNvSpPr/>
            <p:nvPr/>
          </p:nvSpPr>
          <p:spPr>
            <a:xfrm>
              <a:off x="7572629" y="1551153"/>
              <a:ext cx="249182" cy="222878"/>
            </a:xfrm>
            <a:custGeom>
              <a:avLst/>
              <a:gdLst/>
              <a:ahLst/>
              <a:cxnLst/>
              <a:rect l="l" t="t" r="r" b="b"/>
              <a:pathLst>
                <a:path w="249182" h="222878">
                  <a:moveTo>
                    <a:pt x="164350" y="53214"/>
                  </a:moveTo>
                  <a:cubicBezTo>
                    <a:pt x="156709" y="53210"/>
                    <a:pt x="149102" y="54235"/>
                    <a:pt x="141735" y="56261"/>
                  </a:cubicBezTo>
                  <a:cubicBezTo>
                    <a:pt x="138827" y="51516"/>
                    <a:pt x="135294" y="47184"/>
                    <a:pt x="131232" y="43380"/>
                  </a:cubicBezTo>
                  <a:lnTo>
                    <a:pt x="141847" y="28233"/>
                  </a:lnTo>
                  <a:cubicBezTo>
                    <a:pt x="143677" y="25619"/>
                    <a:pt x="143974" y="22227"/>
                    <a:pt x="142625" y="19335"/>
                  </a:cubicBezTo>
                  <a:cubicBezTo>
                    <a:pt x="141277" y="16443"/>
                    <a:pt x="138488" y="14490"/>
                    <a:pt x="135309" y="14212"/>
                  </a:cubicBezTo>
                  <a:cubicBezTo>
                    <a:pt x="132130" y="13934"/>
                    <a:pt x="129044" y="15373"/>
                    <a:pt x="127213" y="17987"/>
                  </a:cubicBezTo>
                  <a:lnTo>
                    <a:pt x="116598" y="33122"/>
                  </a:lnTo>
                  <a:cubicBezTo>
                    <a:pt x="107869" y="28715"/>
                    <a:pt x="98226" y="26421"/>
                    <a:pt x="88447" y="26425"/>
                  </a:cubicBezTo>
                  <a:cubicBezTo>
                    <a:pt x="87800" y="26425"/>
                    <a:pt x="87152" y="26425"/>
                    <a:pt x="86505" y="26425"/>
                  </a:cubicBezTo>
                  <a:lnTo>
                    <a:pt x="83279" y="8242"/>
                  </a:lnTo>
                  <a:cubicBezTo>
                    <a:pt x="82818" y="5016"/>
                    <a:pt x="80636" y="2297"/>
                    <a:pt x="77587" y="1149"/>
                  </a:cubicBezTo>
                  <a:cubicBezTo>
                    <a:pt x="74537" y="0"/>
                    <a:pt x="71104" y="604"/>
                    <a:pt x="68629" y="2724"/>
                  </a:cubicBezTo>
                  <a:cubicBezTo>
                    <a:pt x="66155" y="4844"/>
                    <a:pt x="65031" y="8144"/>
                    <a:pt x="65699" y="11334"/>
                  </a:cubicBezTo>
                  <a:lnTo>
                    <a:pt x="68914" y="29573"/>
                  </a:lnTo>
                  <a:cubicBezTo>
                    <a:pt x="59010" y="32848"/>
                    <a:pt x="50082" y="38546"/>
                    <a:pt x="42939" y="46149"/>
                  </a:cubicBezTo>
                  <a:lnTo>
                    <a:pt x="27736" y="35511"/>
                  </a:lnTo>
                  <a:cubicBezTo>
                    <a:pt x="25124" y="33635"/>
                    <a:pt x="21704" y="33309"/>
                    <a:pt x="18784" y="34658"/>
                  </a:cubicBezTo>
                  <a:cubicBezTo>
                    <a:pt x="15864" y="36007"/>
                    <a:pt x="13895" y="38822"/>
                    <a:pt x="13629" y="42027"/>
                  </a:cubicBezTo>
                  <a:cubicBezTo>
                    <a:pt x="13364" y="45233"/>
                    <a:pt x="14843" y="48334"/>
                    <a:pt x="17501" y="50145"/>
                  </a:cubicBezTo>
                  <a:lnTo>
                    <a:pt x="32637" y="60771"/>
                  </a:lnTo>
                  <a:cubicBezTo>
                    <a:pt x="28214" y="69498"/>
                    <a:pt x="25919" y="79149"/>
                    <a:pt x="25939" y="88933"/>
                  </a:cubicBezTo>
                  <a:cubicBezTo>
                    <a:pt x="25939" y="89569"/>
                    <a:pt x="25939" y="90217"/>
                    <a:pt x="25939" y="90853"/>
                  </a:cubicBezTo>
                  <a:lnTo>
                    <a:pt x="7756" y="94067"/>
                  </a:lnTo>
                  <a:cubicBezTo>
                    <a:pt x="3194" y="94867"/>
                    <a:pt x="0" y="99022"/>
                    <a:pt x="401" y="103636"/>
                  </a:cubicBezTo>
                  <a:cubicBezTo>
                    <a:pt x="802" y="108251"/>
                    <a:pt x="4665" y="111793"/>
                    <a:pt x="9297" y="111793"/>
                  </a:cubicBezTo>
                  <a:cubicBezTo>
                    <a:pt x="9817" y="111792"/>
                    <a:pt x="10336" y="111747"/>
                    <a:pt x="10848" y="111659"/>
                  </a:cubicBezTo>
                  <a:lnTo>
                    <a:pt x="29065" y="108444"/>
                  </a:lnTo>
                  <a:cubicBezTo>
                    <a:pt x="30665" y="113317"/>
                    <a:pt x="32862" y="117974"/>
                    <a:pt x="35606" y="122308"/>
                  </a:cubicBezTo>
                  <a:cubicBezTo>
                    <a:pt x="18126" y="138543"/>
                    <a:pt x="12361" y="163821"/>
                    <a:pt x="21072" y="186030"/>
                  </a:cubicBezTo>
                  <a:cubicBezTo>
                    <a:pt x="29783" y="208238"/>
                    <a:pt x="51196" y="222856"/>
                    <a:pt x="75053" y="222878"/>
                  </a:cubicBezTo>
                  <a:lnTo>
                    <a:pt x="164350" y="222878"/>
                  </a:lnTo>
                  <a:cubicBezTo>
                    <a:pt x="211201" y="222878"/>
                    <a:pt x="249182" y="184898"/>
                    <a:pt x="249182" y="138046"/>
                  </a:cubicBezTo>
                  <a:cubicBezTo>
                    <a:pt x="249182" y="91195"/>
                    <a:pt x="211201" y="53214"/>
                    <a:pt x="164350" y="53214"/>
                  </a:cubicBezTo>
                  <a:close/>
                  <a:moveTo>
                    <a:pt x="43799" y="88933"/>
                  </a:moveTo>
                  <a:cubicBezTo>
                    <a:pt x="43810" y="69532"/>
                    <a:pt x="56349" y="52358"/>
                    <a:pt x="74825" y="46438"/>
                  </a:cubicBezTo>
                  <a:cubicBezTo>
                    <a:pt x="93301" y="40519"/>
                    <a:pt x="113486" y="47209"/>
                    <a:pt x="124769" y="62992"/>
                  </a:cubicBezTo>
                  <a:cubicBezTo>
                    <a:pt x="106553" y="72578"/>
                    <a:pt x="92428" y="88440"/>
                    <a:pt x="85009" y="107641"/>
                  </a:cubicBezTo>
                  <a:cubicBezTo>
                    <a:pt x="73271" y="105614"/>
                    <a:pt x="61193" y="107239"/>
                    <a:pt x="50407" y="112295"/>
                  </a:cubicBezTo>
                  <a:cubicBezTo>
                    <a:pt x="46088" y="105268"/>
                    <a:pt x="43801" y="97181"/>
                    <a:pt x="43799" y="88933"/>
                  </a:cubicBezTo>
                  <a:close/>
                  <a:moveTo>
                    <a:pt x="164350" y="205019"/>
                  </a:moveTo>
                  <a:lnTo>
                    <a:pt x="75053" y="205019"/>
                  </a:lnTo>
                  <a:cubicBezTo>
                    <a:pt x="60075" y="204991"/>
                    <a:pt x="46356" y="196636"/>
                    <a:pt x="39458" y="183341"/>
                  </a:cubicBezTo>
                  <a:cubicBezTo>
                    <a:pt x="32560" y="170047"/>
                    <a:pt x="33629" y="154019"/>
                    <a:pt x="42231" y="141758"/>
                  </a:cubicBezTo>
                  <a:cubicBezTo>
                    <a:pt x="50832" y="129496"/>
                    <a:pt x="65539" y="123037"/>
                    <a:pt x="80388" y="124998"/>
                  </a:cubicBezTo>
                  <a:cubicBezTo>
                    <a:pt x="79975" y="127643"/>
                    <a:pt x="79685" y="130344"/>
                    <a:pt x="79529" y="133068"/>
                  </a:cubicBezTo>
                  <a:cubicBezTo>
                    <a:pt x="79245" y="138000"/>
                    <a:pt x="83013" y="142227"/>
                    <a:pt x="87945" y="142511"/>
                  </a:cubicBezTo>
                  <a:cubicBezTo>
                    <a:pt x="92877" y="142795"/>
                    <a:pt x="97104" y="139027"/>
                    <a:pt x="97388" y="134095"/>
                  </a:cubicBezTo>
                  <a:cubicBezTo>
                    <a:pt x="97639" y="129641"/>
                    <a:pt x="98342" y="125224"/>
                    <a:pt x="99487" y="120912"/>
                  </a:cubicBezTo>
                  <a:cubicBezTo>
                    <a:pt x="99487" y="120734"/>
                    <a:pt x="99587" y="120555"/>
                    <a:pt x="99620" y="120377"/>
                  </a:cubicBezTo>
                  <a:cubicBezTo>
                    <a:pt x="108737" y="86873"/>
                    <a:pt x="141927" y="65875"/>
                    <a:pt x="176107" y="71986"/>
                  </a:cubicBezTo>
                  <a:cubicBezTo>
                    <a:pt x="210286" y="78097"/>
                    <a:pt x="234144" y="109294"/>
                    <a:pt x="231087" y="143881"/>
                  </a:cubicBezTo>
                  <a:cubicBezTo>
                    <a:pt x="228031" y="178468"/>
                    <a:pt x="199071" y="204997"/>
                    <a:pt x="164350" y="205019"/>
                  </a:cubicBezTo>
                  <a:close/>
                </a:path>
              </a:pathLst>
            </a:custGeom>
            <a:solidFill>
              <a:srgbClr val="8B0012"/>
            </a:solidFill>
            <a:ln>
              <a:noFill/>
            </a:ln>
          </p:spPr>
        </p:sp>
      </p:grpSp>
      <p:sp>
        <p:nvSpPr>
          <p:cNvPr id="67" name="TextBox 67"/>
          <p:cNvSpPr txBox="1"/>
          <p:nvPr/>
        </p:nvSpPr>
        <p:spPr>
          <a:xfrm>
            <a:off x="7926705" y="1587818"/>
            <a:ext cx="3679207" cy="274320"/>
          </a:xfrm>
          <a:prstGeom prst="rect">
            <a:avLst/>
          </a:prstGeom>
          <a:noFill/>
          <a:ln>
            <a:noFill/>
          </a:ln>
        </p:spPr>
        <p:txBody>
          <a:bodyPr wrap="none" lIns="0" tIns="0" rIns="0" bIns="0" anchor="t" anchorCtr="0">
            <a:spAutoFit/>
          </a:bodyPr>
          <a:lstStyle/>
          <a:p>
            <a:pPr algn="l"/>
            <a:r>
              <a:rPr lang="zh-CN" sz="1350" b="1" dirty="0">
                <a:solidFill>
                  <a:srgbClr val="8B0012"/>
                </a:solidFill>
                <a:latin typeface="Arial"/>
                <a:ea typeface="Microsoft YaHei"/>
                <a:cs typeface="Arial"/>
              </a:rPr>
              <a:t>Two climate × two effort scenarios</a:t>
            </a:r>
          </a:p>
        </p:txBody>
      </p:sp>
      <p:sp>
        <p:nvSpPr>
          <p:cNvPr id="68" name="TextBox 68"/>
          <p:cNvSpPr txBox="1"/>
          <p:nvPr/>
        </p:nvSpPr>
        <p:spPr>
          <a:xfrm>
            <a:off x="7585710" y="1908810"/>
            <a:ext cx="1800606" cy="243840"/>
          </a:xfrm>
          <a:prstGeom prst="rect">
            <a:avLst/>
          </a:prstGeom>
          <a:noFill/>
          <a:ln>
            <a:noFill/>
          </a:ln>
        </p:spPr>
        <p:txBody>
          <a:bodyPr wrap="none" lIns="0" tIns="0" rIns="0" bIns="0" anchor="t" anchorCtr="0">
            <a:spAutoFit/>
          </a:bodyPr>
          <a:lstStyle/>
          <a:p>
            <a:pPr algn="l"/>
            <a:r>
              <a:rPr lang="zh-CN" sz="1200" dirty="0">
                <a:solidFill>
                  <a:srgbClr val="D1552C"/>
                </a:solidFill>
                <a:latin typeface="Arial"/>
                <a:ea typeface="Microsoft YaHei"/>
                <a:cs typeface="Arial"/>
              </a:rPr>
              <a:t>SSP2-4.5 or SSP5-8.5</a:t>
            </a:r>
          </a:p>
        </p:txBody>
      </p:sp>
      <p:sp>
        <p:nvSpPr>
          <p:cNvPr id="69" name="TextBox 69"/>
          <p:cNvSpPr txBox="1"/>
          <p:nvPr/>
        </p:nvSpPr>
        <p:spPr>
          <a:xfrm>
            <a:off x="7585710" y="2137410"/>
            <a:ext cx="2659380" cy="243840"/>
          </a:xfrm>
          <a:prstGeom prst="rect">
            <a:avLst/>
          </a:prstGeom>
          <a:noFill/>
          <a:ln>
            <a:noFill/>
          </a:ln>
        </p:spPr>
        <p:txBody>
          <a:bodyPr wrap="none" lIns="0" tIns="0" rIns="0" bIns="0" anchor="t" anchorCtr="0">
            <a:spAutoFit/>
          </a:bodyPr>
          <a:lstStyle/>
          <a:p>
            <a:pPr algn="l"/>
            <a:r>
              <a:rPr lang="zh-CN" sz="1200" dirty="0">
                <a:solidFill>
                  <a:srgbClr val="1F5F9E"/>
                </a:solidFill>
                <a:latin typeface="Arial"/>
                <a:ea typeface="Microsoft YaHei"/>
                <a:cs typeface="Arial"/>
              </a:rPr>
              <a:t>Effort frozen, or still growing</a:t>
            </a:r>
          </a:p>
        </p:txBody>
      </p:sp>
      <p:sp>
        <p:nvSpPr>
          <p:cNvPr id="70" name="Rectangle 70"/>
          <p:cNvSpPr/>
          <p:nvPr/>
        </p:nvSpPr>
        <p:spPr>
          <a:xfrm>
            <a:off x="7410450" y="2971800"/>
            <a:ext cx="4267200" cy="1428750"/>
          </a:xfrm>
          <a:prstGeom prst="roundRect">
            <a:avLst>
              <a:gd name="adj" fmla="val 6667"/>
            </a:avLst>
          </a:prstGeom>
          <a:solidFill>
            <a:srgbClr val="FFFFFF"/>
          </a:solidFill>
          <a:ln w="15240">
            <a:solidFill>
              <a:srgbClr val="1F5F9E"/>
            </a:solidFill>
          </a:ln>
        </p:spPr>
      </p:sp>
      <p:grpSp>
        <p:nvGrpSpPr>
          <p:cNvPr id="73" name="Group 73"/>
          <p:cNvGrpSpPr/>
          <p:nvPr/>
        </p:nvGrpSpPr>
        <p:grpSpPr>
          <a:xfrm>
            <a:off x="7576650" y="3149759"/>
            <a:ext cx="258152" cy="200591"/>
            <a:chOff x="7576650" y="3149759"/>
            <a:chExt cx="258152" cy="200591"/>
          </a:xfrm>
        </p:grpSpPr>
        <p:sp>
          <p:nvSpPr>
            <p:cNvPr id="71" name="Freeform 71"/>
            <p:cNvSpPr/>
            <p:nvPr/>
          </p:nvSpPr>
          <p:spPr>
            <a:xfrm>
              <a:off x="7589639" y="3248025"/>
              <a:ext cx="232172" cy="89297"/>
            </a:xfrm>
            <a:custGeom>
              <a:avLst/>
              <a:gdLst/>
              <a:ahLst/>
              <a:cxnLst/>
              <a:rect l="l" t="t" r="r" b="b"/>
              <a:pathLst>
                <a:path w="232172" h="89297">
                  <a:moveTo>
                    <a:pt x="89297" y="44648"/>
                  </a:moveTo>
                  <a:cubicBezTo>
                    <a:pt x="89297" y="69307"/>
                    <a:pt x="69307" y="89297"/>
                    <a:pt x="44648" y="89297"/>
                  </a:cubicBezTo>
                  <a:cubicBezTo>
                    <a:pt x="19990" y="89297"/>
                    <a:pt x="0" y="69307"/>
                    <a:pt x="0" y="44648"/>
                  </a:cubicBezTo>
                  <a:cubicBezTo>
                    <a:pt x="0" y="19990"/>
                    <a:pt x="19990" y="0"/>
                    <a:pt x="44648" y="0"/>
                  </a:cubicBezTo>
                  <a:cubicBezTo>
                    <a:pt x="69307" y="0"/>
                    <a:pt x="89297" y="19990"/>
                    <a:pt x="89297" y="44648"/>
                  </a:cubicBezTo>
                  <a:close/>
                  <a:moveTo>
                    <a:pt x="187523" y="0"/>
                  </a:moveTo>
                  <a:cubicBezTo>
                    <a:pt x="162865" y="0"/>
                    <a:pt x="142875" y="19990"/>
                    <a:pt x="142875" y="44648"/>
                  </a:cubicBezTo>
                  <a:cubicBezTo>
                    <a:pt x="142875" y="69307"/>
                    <a:pt x="162865" y="89297"/>
                    <a:pt x="187523" y="89297"/>
                  </a:cubicBezTo>
                  <a:cubicBezTo>
                    <a:pt x="212182" y="89297"/>
                    <a:pt x="232172" y="69307"/>
                    <a:pt x="232172" y="44648"/>
                  </a:cubicBezTo>
                  <a:cubicBezTo>
                    <a:pt x="232172" y="19990"/>
                    <a:pt x="212182" y="0"/>
                    <a:pt x="187523" y="0"/>
                  </a:cubicBezTo>
                  <a:close/>
                </a:path>
              </a:pathLst>
            </a:custGeom>
            <a:solidFill>
              <a:srgbClr val="1F5F9E">
                <a:alpha val="20000"/>
              </a:srgbClr>
            </a:solidFill>
            <a:ln>
              <a:noFill/>
            </a:ln>
          </p:spPr>
        </p:sp>
        <p:sp>
          <p:nvSpPr>
            <p:cNvPr id="72" name="Freeform 72"/>
            <p:cNvSpPr/>
            <p:nvPr/>
          </p:nvSpPr>
          <p:spPr>
            <a:xfrm>
              <a:off x="7576650" y="3149759"/>
              <a:ext cx="258152" cy="200591"/>
            </a:xfrm>
            <a:custGeom>
              <a:avLst/>
              <a:gdLst/>
              <a:ahLst/>
              <a:cxnLst/>
              <a:rect l="l" t="t" r="r" b="b"/>
              <a:pathLst>
                <a:path w="258152" h="200591">
                  <a:moveTo>
                    <a:pt x="250966" y="124910"/>
                  </a:moveTo>
                  <a:lnTo>
                    <a:pt x="250966" y="124910"/>
                  </a:lnTo>
                  <a:cubicBezTo>
                    <a:pt x="250220" y="122829"/>
                    <a:pt x="249344" y="120797"/>
                    <a:pt x="248343" y="118826"/>
                  </a:cubicBezTo>
                  <a:lnTo>
                    <a:pt x="201919" y="13211"/>
                  </a:lnTo>
                  <a:cubicBezTo>
                    <a:pt x="201480" y="12193"/>
                    <a:pt x="200851" y="11269"/>
                    <a:pt x="200066" y="10487"/>
                  </a:cubicBezTo>
                  <a:cubicBezTo>
                    <a:pt x="193368" y="3787"/>
                    <a:pt x="184281" y="22"/>
                    <a:pt x="174807" y="22"/>
                  </a:cubicBezTo>
                  <a:cubicBezTo>
                    <a:pt x="165332" y="22"/>
                    <a:pt x="156246" y="3787"/>
                    <a:pt x="149547" y="10487"/>
                  </a:cubicBezTo>
                  <a:cubicBezTo>
                    <a:pt x="147878" y="12158"/>
                    <a:pt x="146939" y="14421"/>
                    <a:pt x="146935" y="16782"/>
                  </a:cubicBezTo>
                  <a:lnTo>
                    <a:pt x="146935" y="44688"/>
                  </a:lnTo>
                  <a:lnTo>
                    <a:pt x="111216" y="44688"/>
                  </a:lnTo>
                  <a:lnTo>
                    <a:pt x="111216" y="16782"/>
                  </a:lnTo>
                  <a:cubicBezTo>
                    <a:pt x="111218" y="14413"/>
                    <a:pt x="110278" y="12141"/>
                    <a:pt x="108604" y="10465"/>
                  </a:cubicBezTo>
                  <a:cubicBezTo>
                    <a:pt x="101905" y="3764"/>
                    <a:pt x="92819" y="0"/>
                    <a:pt x="83344" y="0"/>
                  </a:cubicBezTo>
                  <a:cubicBezTo>
                    <a:pt x="73870" y="0"/>
                    <a:pt x="64783" y="3764"/>
                    <a:pt x="58084" y="10465"/>
                  </a:cubicBezTo>
                  <a:cubicBezTo>
                    <a:pt x="57300" y="11247"/>
                    <a:pt x="56671" y="12171"/>
                    <a:pt x="56232" y="13188"/>
                  </a:cubicBezTo>
                  <a:lnTo>
                    <a:pt x="9808" y="118804"/>
                  </a:lnTo>
                  <a:cubicBezTo>
                    <a:pt x="8807" y="120775"/>
                    <a:pt x="7931" y="122807"/>
                    <a:pt x="7185" y="124887"/>
                  </a:cubicBezTo>
                  <a:lnTo>
                    <a:pt x="7185" y="124887"/>
                  </a:lnTo>
                  <a:cubicBezTo>
                    <a:pt x="0" y="144992"/>
                    <a:pt x="5437" y="167443"/>
                    <a:pt x="21023" y="182034"/>
                  </a:cubicBezTo>
                  <a:cubicBezTo>
                    <a:pt x="36609" y="196624"/>
                    <a:pt x="59371" y="200568"/>
                    <a:pt x="78957" y="192073"/>
                  </a:cubicBezTo>
                  <a:cubicBezTo>
                    <a:pt x="98544" y="183577"/>
                    <a:pt x="111218" y="164264"/>
                    <a:pt x="111216" y="142914"/>
                  </a:cubicBezTo>
                  <a:lnTo>
                    <a:pt x="111216" y="62547"/>
                  </a:lnTo>
                  <a:lnTo>
                    <a:pt x="146935" y="62547"/>
                  </a:lnTo>
                  <a:lnTo>
                    <a:pt x="146935" y="142914"/>
                  </a:lnTo>
                  <a:cubicBezTo>
                    <a:pt x="146924" y="164267"/>
                    <a:pt x="159593" y="183587"/>
                    <a:pt x="179180" y="192089"/>
                  </a:cubicBezTo>
                  <a:cubicBezTo>
                    <a:pt x="198767" y="200591"/>
                    <a:pt x="221532" y="196651"/>
                    <a:pt x="237122" y="182061"/>
                  </a:cubicBezTo>
                  <a:cubicBezTo>
                    <a:pt x="252713" y="167471"/>
                    <a:pt x="258152" y="145017"/>
                    <a:pt x="250966" y="124910"/>
                  </a:cubicBezTo>
                  <a:close/>
                  <a:moveTo>
                    <a:pt x="71825" y="22084"/>
                  </a:moveTo>
                  <a:cubicBezTo>
                    <a:pt x="77943" y="16933"/>
                    <a:pt x="86739" y="16477"/>
                    <a:pt x="93357" y="20968"/>
                  </a:cubicBezTo>
                  <a:lnTo>
                    <a:pt x="93357" y="103021"/>
                  </a:lnTo>
                  <a:cubicBezTo>
                    <a:pt x="79168" y="90280"/>
                    <a:pt x="59267" y="86061"/>
                    <a:pt x="41129" y="91948"/>
                  </a:cubicBezTo>
                  <a:close/>
                  <a:moveTo>
                    <a:pt x="57638" y="178633"/>
                  </a:moveTo>
                  <a:cubicBezTo>
                    <a:pt x="37911" y="178633"/>
                    <a:pt x="21919" y="162641"/>
                    <a:pt x="21919" y="142914"/>
                  </a:cubicBezTo>
                  <a:cubicBezTo>
                    <a:pt x="21919" y="123187"/>
                    <a:pt x="37911" y="107196"/>
                    <a:pt x="57638" y="107196"/>
                  </a:cubicBezTo>
                  <a:cubicBezTo>
                    <a:pt x="77365" y="107196"/>
                    <a:pt x="93357" y="123187"/>
                    <a:pt x="93357" y="142914"/>
                  </a:cubicBezTo>
                  <a:cubicBezTo>
                    <a:pt x="93357" y="162641"/>
                    <a:pt x="77365" y="178633"/>
                    <a:pt x="57638" y="178633"/>
                  </a:cubicBezTo>
                  <a:close/>
                  <a:moveTo>
                    <a:pt x="164794" y="20957"/>
                  </a:moveTo>
                  <a:cubicBezTo>
                    <a:pt x="171412" y="16466"/>
                    <a:pt x="180208" y="16922"/>
                    <a:pt x="186326" y="22073"/>
                  </a:cubicBezTo>
                  <a:lnTo>
                    <a:pt x="217022" y="91926"/>
                  </a:lnTo>
                  <a:cubicBezTo>
                    <a:pt x="198882" y="86042"/>
                    <a:pt x="178981" y="90265"/>
                    <a:pt x="164794" y="103010"/>
                  </a:cubicBezTo>
                  <a:close/>
                  <a:moveTo>
                    <a:pt x="200513" y="178633"/>
                  </a:moveTo>
                  <a:cubicBezTo>
                    <a:pt x="180786" y="178633"/>
                    <a:pt x="164794" y="162641"/>
                    <a:pt x="164794" y="142914"/>
                  </a:cubicBezTo>
                  <a:cubicBezTo>
                    <a:pt x="164794" y="123187"/>
                    <a:pt x="180786" y="107196"/>
                    <a:pt x="200513" y="107196"/>
                  </a:cubicBezTo>
                  <a:cubicBezTo>
                    <a:pt x="220240" y="107196"/>
                    <a:pt x="236232" y="123187"/>
                    <a:pt x="236232" y="142914"/>
                  </a:cubicBezTo>
                  <a:cubicBezTo>
                    <a:pt x="236232" y="162641"/>
                    <a:pt x="220240" y="178633"/>
                    <a:pt x="200513" y="178633"/>
                  </a:cubicBezTo>
                  <a:close/>
                </a:path>
              </a:pathLst>
            </a:custGeom>
            <a:solidFill>
              <a:srgbClr val="1F5F9E"/>
            </a:solidFill>
            <a:ln>
              <a:noFill/>
            </a:ln>
          </p:spPr>
        </p:sp>
      </p:grpSp>
      <p:sp>
        <p:nvSpPr>
          <p:cNvPr id="74" name="TextBox 74"/>
          <p:cNvSpPr txBox="1"/>
          <p:nvPr/>
        </p:nvSpPr>
        <p:spPr>
          <a:xfrm>
            <a:off x="7926705" y="3168968"/>
            <a:ext cx="2636309" cy="274320"/>
          </a:xfrm>
          <a:prstGeom prst="rect">
            <a:avLst/>
          </a:prstGeom>
          <a:noFill/>
          <a:ln>
            <a:noFill/>
          </a:ln>
        </p:spPr>
        <p:txBody>
          <a:bodyPr wrap="none" lIns="0" tIns="0" rIns="0" bIns="0" anchor="t" anchorCtr="0">
            <a:spAutoFit/>
          </a:bodyPr>
          <a:lstStyle/>
          <a:p>
            <a:pPr algn="l"/>
            <a:r>
              <a:rPr lang="zh-CN" sz="1350" b="1" dirty="0">
                <a:solidFill>
                  <a:srgbClr val="1F5F9E"/>
                </a:solidFill>
                <a:latin typeface="Arial"/>
                <a:ea typeface="Microsoft YaHei"/>
                <a:cs typeface="Arial"/>
              </a:rPr>
              <a:t>What changes the count?</a:t>
            </a:r>
          </a:p>
        </p:txBody>
      </p:sp>
      <p:sp>
        <p:nvSpPr>
          <p:cNvPr id="75" name="TextBox 75"/>
          <p:cNvSpPr txBox="1"/>
          <p:nvPr/>
        </p:nvSpPr>
        <p:spPr>
          <a:xfrm>
            <a:off x="7585710" y="3489960"/>
            <a:ext cx="2848661" cy="243840"/>
          </a:xfrm>
          <a:prstGeom prst="rect">
            <a:avLst/>
          </a:prstGeom>
          <a:noFill/>
          <a:ln>
            <a:noFill/>
          </a:ln>
        </p:spPr>
        <p:txBody>
          <a:bodyPr wrap="none" lIns="0" tIns="0" rIns="0" bIns="0" anchor="t" anchorCtr="0">
            <a:spAutoFit/>
          </a:bodyPr>
          <a:lstStyle/>
          <a:p>
            <a:pPr algn="l"/>
            <a:r>
              <a:rPr lang="zh-CN" sz="1200" dirty="0">
                <a:solidFill>
                  <a:srgbClr val="D1552C"/>
                </a:solidFill>
                <a:latin typeface="Arial"/>
                <a:ea typeface="Microsoft YaHei"/>
                <a:cs typeface="Arial"/>
              </a:rPr>
              <a:t>Climate scenario: barely anything</a:t>
            </a:r>
          </a:p>
        </p:txBody>
      </p:sp>
      <p:sp>
        <p:nvSpPr>
          <p:cNvPr id="76" name="TextBox 76"/>
          <p:cNvSpPr txBox="1"/>
          <p:nvPr/>
        </p:nvSpPr>
        <p:spPr>
          <a:xfrm>
            <a:off x="7585710" y="3718560"/>
            <a:ext cx="2855671" cy="243840"/>
          </a:xfrm>
          <a:prstGeom prst="rect">
            <a:avLst/>
          </a:prstGeom>
          <a:noFill/>
          <a:ln>
            <a:noFill/>
          </a:ln>
        </p:spPr>
        <p:txBody>
          <a:bodyPr wrap="none" lIns="0" tIns="0" rIns="0" bIns="0" anchor="t" anchorCtr="0">
            <a:spAutoFit/>
          </a:bodyPr>
          <a:lstStyle/>
          <a:p>
            <a:pPr algn="l"/>
            <a:r>
              <a:rPr lang="zh-CN" sz="1200" dirty="0">
                <a:solidFill>
                  <a:srgbClr val="1F5F9E"/>
                </a:solidFill>
                <a:latin typeface="Arial"/>
                <a:ea typeface="Microsoft YaHei"/>
                <a:cs typeface="Arial"/>
              </a:rPr>
              <a:t>Growing effort: more than double</a:t>
            </a:r>
          </a:p>
        </p:txBody>
      </p:sp>
      <p:sp>
        <p:nvSpPr>
          <p:cNvPr id="77" name="Rectangle 77"/>
          <p:cNvSpPr/>
          <p:nvPr/>
        </p:nvSpPr>
        <p:spPr>
          <a:xfrm>
            <a:off x="7410450" y="4552950"/>
            <a:ext cx="4267200" cy="1866900"/>
          </a:xfrm>
          <a:prstGeom prst="roundRect">
            <a:avLst>
              <a:gd name="adj" fmla="val 4082"/>
            </a:avLst>
          </a:prstGeom>
          <a:solidFill>
            <a:srgbClr val="8B0012"/>
          </a:solidFill>
          <a:ln>
            <a:noFill/>
          </a:ln>
        </p:spPr>
      </p:sp>
      <p:sp>
        <p:nvSpPr>
          <p:cNvPr id="78" name="TextBox 78"/>
          <p:cNvSpPr txBox="1"/>
          <p:nvPr/>
        </p:nvSpPr>
        <p:spPr>
          <a:xfrm>
            <a:off x="7505700" y="5138738"/>
            <a:ext cx="4076700" cy="257175"/>
          </a:xfrm>
          <a:prstGeom prst="rect">
            <a:avLst/>
          </a:prstGeom>
          <a:noFill/>
          <a:ln>
            <a:noFill/>
          </a:ln>
        </p:spPr>
        <p:txBody>
          <a:bodyPr wrap="square" lIns="0" tIns="0" rIns="0" bIns="0" anchor="t" anchorCtr="0">
            <a:normAutofit/>
          </a:bodyPr>
          <a:lstStyle/>
          <a:p>
            <a:pPr algn="ctr"/>
            <a:r>
              <a:rPr lang="zh-CN" sz="1350" b="1" dirty="0">
                <a:solidFill>
                  <a:srgbClr val="FFFFFF"/>
                </a:solidFill>
                <a:latin typeface="Arial"/>
                <a:ea typeface="Microsoft YaHei"/>
                <a:cs typeface="Arial"/>
              </a:rPr>
              <a:t>Most of that rise lies</a:t>
            </a:r>
          </a:p>
        </p:txBody>
      </p:sp>
      <p:sp>
        <p:nvSpPr>
          <p:cNvPr id="79" name="TextBox 79"/>
          <p:cNvSpPr txBox="1"/>
          <p:nvPr/>
        </p:nvSpPr>
        <p:spPr>
          <a:xfrm>
            <a:off x="7505700" y="5378768"/>
            <a:ext cx="4076700" cy="257175"/>
          </a:xfrm>
          <a:prstGeom prst="rect">
            <a:avLst/>
          </a:prstGeom>
          <a:noFill/>
          <a:ln>
            <a:noFill/>
          </a:ln>
        </p:spPr>
        <p:txBody>
          <a:bodyPr wrap="square" lIns="0" tIns="0" rIns="0" bIns="0" anchor="t" anchorCtr="0">
            <a:normAutofit/>
          </a:bodyPr>
          <a:lstStyle/>
          <a:p>
            <a:pPr algn="ctr"/>
            <a:r>
              <a:rPr lang="zh-CN" sz="1350" b="1" dirty="0">
                <a:solidFill>
                  <a:srgbClr val="FFFFFF"/>
                </a:solidFill>
                <a:latin typeface="Arial"/>
                <a:ea typeface="Microsoft YaHei"/>
                <a:cs typeface="Arial"/>
              </a:rPr>
              <a:t>outside the fitted data</a:t>
            </a:r>
          </a:p>
        </p:txBody>
      </p:sp>
      <p:sp>
        <p:nvSpPr>
          <p:cNvPr id="80" name="TextBox 80"/>
          <p:cNvSpPr txBox="1"/>
          <p:nvPr/>
        </p:nvSpPr>
        <p:spPr>
          <a:xfrm>
            <a:off x="7505700" y="5618798"/>
            <a:ext cx="4076700" cy="257175"/>
          </a:xfrm>
          <a:prstGeom prst="rect">
            <a:avLst/>
          </a:prstGeom>
          <a:noFill/>
          <a:ln>
            <a:noFill/>
          </a:ln>
        </p:spPr>
        <p:txBody>
          <a:bodyPr wrap="square" lIns="0" tIns="0" rIns="0" bIns="0" anchor="t" anchorCtr="0">
            <a:normAutofit/>
          </a:bodyPr>
          <a:lstStyle/>
          <a:p>
            <a:pPr algn="ctr"/>
            <a:r>
              <a:rPr lang="zh-CN" sz="1350" b="1" dirty="0">
                <a:solidFill>
                  <a:srgbClr val="FFFFFF"/>
                </a:solidFill>
                <a:latin typeface="Arial"/>
                <a:ea typeface="Microsoft YaHei"/>
                <a:cs typeface="Arial"/>
              </a:rPr>
              <a:t>(faded bars: 2% in support)</a:t>
            </a:r>
          </a:p>
        </p:txBody>
      </p:sp>
      <p:sp>
        <p:nvSpPr>
          <p:cNvPr id="81" name="TextBox 81"/>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82" name="TextBox 82"/>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Rectangle 10"/>
          <p:cNvSpPr/>
          <p:nvPr/>
        </p:nvSpPr>
        <p:spPr>
          <a:xfrm>
            <a:off x="8382000" y="0"/>
            <a:ext cx="1866900" cy="609600"/>
          </a:xfrm>
          <a:prstGeom prst="rect">
            <a:avLst/>
          </a:prstGeom>
          <a:solidFill>
            <a:srgbClr val="FFFFFF"/>
          </a:solidFill>
          <a:ln>
            <a:noFill/>
          </a:ln>
        </p:spPr>
      </p:sp>
      <p:sp>
        <p:nvSpPr>
          <p:cNvPr id="11" name="TextBox 11"/>
          <p:cNvSpPr txBox="1"/>
          <p:nvPr/>
        </p:nvSpPr>
        <p:spPr>
          <a:xfrm>
            <a:off x="84201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Results</a:t>
            </a:r>
          </a:p>
        </p:txBody>
      </p:sp>
      <p:sp>
        <p:nvSpPr>
          <p:cNvPr id="12" name="TextBox 12"/>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185501"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Futures</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6215139"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Data support, not ambition, sets the forecast horizon</a:t>
            </a:r>
          </a:p>
        </p:txBody>
      </p:sp>
      <p:sp>
        <p:nvSpPr>
          <p:cNvPr id="17" name="Rectangle 17"/>
          <p:cNvSpPr/>
          <p:nvPr/>
        </p:nvSpPr>
        <p:spPr>
          <a:xfrm>
            <a:off x="514350" y="1390650"/>
            <a:ext cx="6096000" cy="4659630"/>
          </a:xfrm>
          <a:prstGeom prst="roundRect">
            <a:avLst>
              <a:gd name="adj" fmla="val 2044"/>
            </a:avLst>
          </a:prstGeom>
          <a:solidFill>
            <a:srgbClr val="FFFFFF"/>
          </a:solidFill>
          <a:ln w="14288">
            <a:solidFill>
              <a:srgbClr val="D9C7CA"/>
            </a:solidFill>
          </a:ln>
        </p:spPr>
      </p:sp>
      <p:pic>
        <p:nvPicPr>
          <p:cNvPr id="18" name="Image 18"/>
          <p:cNvPicPr>
            <a:picLocks noChangeAspect="1"/>
          </p:cNvPicPr>
          <p:nvPr/>
        </p:nvPicPr>
        <p:blipFill>
          <a:blip r:embed="rId3"/>
          <a:stretch>
            <a:fillRect/>
          </a:stretch>
        </p:blipFill>
        <p:spPr>
          <a:xfrm>
            <a:off x="609600" y="1485900"/>
            <a:ext cx="5905500" cy="4183380"/>
          </a:xfrm>
          <a:prstGeom prst="rect">
            <a:avLst/>
          </a:prstGeom>
        </p:spPr>
      </p:pic>
      <p:grpSp>
        <p:nvGrpSpPr>
          <p:cNvPr id="21" name="Group 21"/>
          <p:cNvGrpSpPr/>
          <p:nvPr/>
        </p:nvGrpSpPr>
        <p:grpSpPr>
          <a:xfrm>
            <a:off x="635822" y="5736817"/>
            <a:ext cx="182733" cy="163444"/>
            <a:chOff x="635822" y="5736817"/>
            <a:chExt cx="182733" cy="163444"/>
          </a:xfrm>
        </p:grpSpPr>
        <p:sp>
          <p:nvSpPr>
            <p:cNvPr id="19" name="Freeform 19"/>
            <p:cNvSpPr/>
            <p:nvPr/>
          </p:nvSpPr>
          <p:spPr>
            <a:xfrm>
              <a:off x="658593" y="5762657"/>
              <a:ext cx="77975" cy="64998"/>
            </a:xfrm>
            <a:custGeom>
              <a:avLst/>
              <a:gdLst/>
              <a:ahLst/>
              <a:cxnLst/>
              <a:rect l="l" t="t" r="r" b="b"/>
              <a:pathLst>
                <a:path w="77975" h="64998">
                  <a:moveTo>
                    <a:pt x="77975" y="23342"/>
                  </a:moveTo>
                  <a:lnTo>
                    <a:pt x="77975" y="23342"/>
                  </a:lnTo>
                  <a:cubicBezTo>
                    <a:pt x="61230" y="29699"/>
                    <a:pt x="48550" y="43703"/>
                    <a:pt x="43882" y="60995"/>
                  </a:cubicBezTo>
                  <a:lnTo>
                    <a:pt x="43882" y="60905"/>
                  </a:lnTo>
                  <a:cubicBezTo>
                    <a:pt x="33300" y="57310"/>
                    <a:pt x="21649" y="58822"/>
                    <a:pt x="12335" y="64998"/>
                  </a:cubicBezTo>
                  <a:lnTo>
                    <a:pt x="12335" y="64998"/>
                  </a:lnTo>
                  <a:cubicBezTo>
                    <a:pt x="2296" y="53324"/>
                    <a:pt x="0" y="36862"/>
                    <a:pt x="6463" y="22887"/>
                  </a:cubicBezTo>
                  <a:cubicBezTo>
                    <a:pt x="12925" y="8912"/>
                    <a:pt x="26955" y="0"/>
                    <a:pt x="42352" y="89"/>
                  </a:cubicBezTo>
                  <a:cubicBezTo>
                    <a:pt x="57749" y="178"/>
                    <a:pt x="71674" y="9252"/>
                    <a:pt x="77975" y="23301"/>
                  </a:cubicBezTo>
                  <a:close/>
                </a:path>
              </a:pathLst>
            </a:custGeom>
            <a:solidFill>
              <a:srgbClr val="D1552C">
                <a:alpha val="20000"/>
              </a:srgbClr>
            </a:solidFill>
            <a:ln>
              <a:noFill/>
            </a:ln>
          </p:spPr>
        </p:sp>
        <p:sp>
          <p:nvSpPr>
            <p:cNvPr id="20" name="Freeform 20"/>
            <p:cNvSpPr/>
            <p:nvPr/>
          </p:nvSpPr>
          <p:spPr>
            <a:xfrm>
              <a:off x="635822" y="5736817"/>
              <a:ext cx="182733" cy="163444"/>
            </a:xfrm>
            <a:custGeom>
              <a:avLst/>
              <a:gdLst/>
              <a:ahLst/>
              <a:cxnLst/>
              <a:rect l="l" t="t" r="r" b="b"/>
              <a:pathLst>
                <a:path w="182733" h="163444">
                  <a:moveTo>
                    <a:pt x="120523" y="39024"/>
                  </a:moveTo>
                  <a:cubicBezTo>
                    <a:pt x="114920" y="39020"/>
                    <a:pt x="109342" y="39772"/>
                    <a:pt x="103939" y="41258"/>
                  </a:cubicBezTo>
                  <a:cubicBezTo>
                    <a:pt x="101806" y="37779"/>
                    <a:pt x="99216" y="34602"/>
                    <a:pt x="96236" y="31812"/>
                  </a:cubicBezTo>
                  <a:lnTo>
                    <a:pt x="104021" y="20704"/>
                  </a:lnTo>
                  <a:cubicBezTo>
                    <a:pt x="105363" y="18788"/>
                    <a:pt x="105581" y="16300"/>
                    <a:pt x="104592" y="14179"/>
                  </a:cubicBezTo>
                  <a:cubicBezTo>
                    <a:pt x="103603" y="12058"/>
                    <a:pt x="101558" y="10626"/>
                    <a:pt x="99226" y="10422"/>
                  </a:cubicBezTo>
                  <a:cubicBezTo>
                    <a:pt x="96895" y="10218"/>
                    <a:pt x="94632" y="11273"/>
                    <a:pt x="93290" y="13190"/>
                  </a:cubicBezTo>
                  <a:lnTo>
                    <a:pt x="85505" y="24290"/>
                  </a:lnTo>
                  <a:cubicBezTo>
                    <a:pt x="79104" y="21058"/>
                    <a:pt x="72032" y="19375"/>
                    <a:pt x="64861" y="19378"/>
                  </a:cubicBezTo>
                  <a:cubicBezTo>
                    <a:pt x="64387" y="19378"/>
                    <a:pt x="63912" y="19378"/>
                    <a:pt x="63437" y="19378"/>
                  </a:cubicBezTo>
                  <a:lnTo>
                    <a:pt x="61071" y="6044"/>
                  </a:lnTo>
                  <a:cubicBezTo>
                    <a:pt x="60733" y="3678"/>
                    <a:pt x="59133" y="1685"/>
                    <a:pt x="56897" y="842"/>
                  </a:cubicBezTo>
                  <a:cubicBezTo>
                    <a:pt x="54661" y="0"/>
                    <a:pt x="52143" y="443"/>
                    <a:pt x="50328" y="1998"/>
                  </a:cubicBezTo>
                  <a:cubicBezTo>
                    <a:pt x="48513" y="3552"/>
                    <a:pt x="47690" y="5972"/>
                    <a:pt x="48179" y="8312"/>
                  </a:cubicBezTo>
                  <a:lnTo>
                    <a:pt x="50537" y="21687"/>
                  </a:lnTo>
                  <a:cubicBezTo>
                    <a:pt x="43274" y="24089"/>
                    <a:pt x="36727" y="28267"/>
                    <a:pt x="31489" y="33842"/>
                  </a:cubicBezTo>
                  <a:lnTo>
                    <a:pt x="20340" y="26041"/>
                  </a:lnTo>
                  <a:cubicBezTo>
                    <a:pt x="18424" y="24666"/>
                    <a:pt x="15916" y="24427"/>
                    <a:pt x="13775" y="25416"/>
                  </a:cubicBezTo>
                  <a:cubicBezTo>
                    <a:pt x="11633" y="26405"/>
                    <a:pt x="10189" y="28469"/>
                    <a:pt x="9995" y="30820"/>
                  </a:cubicBezTo>
                  <a:cubicBezTo>
                    <a:pt x="9800" y="33171"/>
                    <a:pt x="10885" y="35445"/>
                    <a:pt x="12834" y="36773"/>
                  </a:cubicBezTo>
                  <a:lnTo>
                    <a:pt x="23934" y="44565"/>
                  </a:lnTo>
                  <a:cubicBezTo>
                    <a:pt x="20690" y="50965"/>
                    <a:pt x="19007" y="58042"/>
                    <a:pt x="19022" y="65217"/>
                  </a:cubicBezTo>
                  <a:cubicBezTo>
                    <a:pt x="19022" y="65684"/>
                    <a:pt x="19022" y="66159"/>
                    <a:pt x="19022" y="66625"/>
                  </a:cubicBezTo>
                  <a:lnTo>
                    <a:pt x="5688" y="68983"/>
                  </a:lnTo>
                  <a:cubicBezTo>
                    <a:pt x="2342" y="69569"/>
                    <a:pt x="0" y="72616"/>
                    <a:pt x="294" y="76000"/>
                  </a:cubicBezTo>
                  <a:cubicBezTo>
                    <a:pt x="588" y="79384"/>
                    <a:pt x="3421" y="81981"/>
                    <a:pt x="6818" y="81981"/>
                  </a:cubicBezTo>
                  <a:cubicBezTo>
                    <a:pt x="7199" y="81981"/>
                    <a:pt x="7580" y="81948"/>
                    <a:pt x="7955" y="81883"/>
                  </a:cubicBezTo>
                  <a:lnTo>
                    <a:pt x="21314" y="79526"/>
                  </a:lnTo>
                  <a:cubicBezTo>
                    <a:pt x="22488" y="83099"/>
                    <a:pt x="24099" y="86514"/>
                    <a:pt x="26111" y="89692"/>
                  </a:cubicBezTo>
                  <a:cubicBezTo>
                    <a:pt x="13293" y="101598"/>
                    <a:pt x="9065" y="120135"/>
                    <a:pt x="15453" y="136422"/>
                  </a:cubicBezTo>
                  <a:cubicBezTo>
                    <a:pt x="21841" y="152708"/>
                    <a:pt x="37544" y="163428"/>
                    <a:pt x="55039" y="163444"/>
                  </a:cubicBezTo>
                  <a:lnTo>
                    <a:pt x="120523" y="163444"/>
                  </a:lnTo>
                  <a:cubicBezTo>
                    <a:pt x="154881" y="163444"/>
                    <a:pt x="182733" y="135592"/>
                    <a:pt x="182733" y="101234"/>
                  </a:cubicBezTo>
                  <a:cubicBezTo>
                    <a:pt x="182733" y="66876"/>
                    <a:pt x="154881" y="39024"/>
                    <a:pt x="120523" y="39024"/>
                  </a:cubicBezTo>
                  <a:close/>
                  <a:moveTo>
                    <a:pt x="32119" y="65217"/>
                  </a:moveTo>
                  <a:cubicBezTo>
                    <a:pt x="32127" y="50990"/>
                    <a:pt x="41322" y="38396"/>
                    <a:pt x="54872" y="34055"/>
                  </a:cubicBezTo>
                  <a:cubicBezTo>
                    <a:pt x="68421" y="29714"/>
                    <a:pt x="83223" y="34620"/>
                    <a:pt x="91497" y="46194"/>
                  </a:cubicBezTo>
                  <a:cubicBezTo>
                    <a:pt x="78139" y="53224"/>
                    <a:pt x="67781" y="64856"/>
                    <a:pt x="62340" y="78936"/>
                  </a:cubicBezTo>
                  <a:cubicBezTo>
                    <a:pt x="53732" y="77450"/>
                    <a:pt x="44875" y="78642"/>
                    <a:pt x="36965" y="82350"/>
                  </a:cubicBezTo>
                  <a:cubicBezTo>
                    <a:pt x="33798" y="77196"/>
                    <a:pt x="32121" y="71266"/>
                    <a:pt x="32119" y="65217"/>
                  </a:cubicBezTo>
                  <a:close/>
                  <a:moveTo>
                    <a:pt x="120523" y="150347"/>
                  </a:moveTo>
                  <a:lnTo>
                    <a:pt x="55039" y="150347"/>
                  </a:lnTo>
                  <a:cubicBezTo>
                    <a:pt x="44055" y="150327"/>
                    <a:pt x="33994" y="144200"/>
                    <a:pt x="28936" y="134450"/>
                  </a:cubicBezTo>
                  <a:cubicBezTo>
                    <a:pt x="23878" y="124701"/>
                    <a:pt x="24661" y="112947"/>
                    <a:pt x="30969" y="103956"/>
                  </a:cubicBezTo>
                  <a:cubicBezTo>
                    <a:pt x="37277" y="94964"/>
                    <a:pt x="48062" y="90227"/>
                    <a:pt x="58951" y="91665"/>
                  </a:cubicBezTo>
                  <a:cubicBezTo>
                    <a:pt x="58648" y="93605"/>
                    <a:pt x="58436" y="95586"/>
                    <a:pt x="58321" y="97583"/>
                  </a:cubicBezTo>
                  <a:cubicBezTo>
                    <a:pt x="58113" y="101200"/>
                    <a:pt x="60876" y="104300"/>
                    <a:pt x="64493" y="104508"/>
                  </a:cubicBezTo>
                  <a:cubicBezTo>
                    <a:pt x="68110" y="104716"/>
                    <a:pt x="71210" y="101953"/>
                    <a:pt x="71418" y="98336"/>
                  </a:cubicBezTo>
                  <a:cubicBezTo>
                    <a:pt x="71602" y="95070"/>
                    <a:pt x="72117" y="91831"/>
                    <a:pt x="72957" y="88669"/>
                  </a:cubicBezTo>
                  <a:cubicBezTo>
                    <a:pt x="72957" y="88538"/>
                    <a:pt x="73030" y="88407"/>
                    <a:pt x="73055" y="88276"/>
                  </a:cubicBezTo>
                  <a:cubicBezTo>
                    <a:pt x="79741" y="63707"/>
                    <a:pt x="104080" y="48308"/>
                    <a:pt x="129145" y="52790"/>
                  </a:cubicBezTo>
                  <a:cubicBezTo>
                    <a:pt x="154210" y="57271"/>
                    <a:pt x="171706" y="80149"/>
                    <a:pt x="169464" y="105513"/>
                  </a:cubicBezTo>
                  <a:cubicBezTo>
                    <a:pt x="167222" y="130876"/>
                    <a:pt x="145986" y="150331"/>
                    <a:pt x="120523" y="150347"/>
                  </a:cubicBezTo>
                  <a:close/>
                </a:path>
              </a:pathLst>
            </a:custGeom>
            <a:solidFill>
              <a:srgbClr val="D1552C"/>
            </a:solidFill>
            <a:ln>
              <a:noFill/>
            </a:ln>
          </p:spPr>
        </p:sp>
      </p:grpSp>
      <p:sp>
        <p:nvSpPr>
          <p:cNvPr id="22" name="TextBox 22"/>
          <p:cNvSpPr txBox="1"/>
          <p:nvPr/>
        </p:nvSpPr>
        <p:spPr>
          <a:xfrm>
            <a:off x="902018" y="5773579"/>
            <a:ext cx="2768789"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7b Hazard model vs machine learning</a:t>
            </a:r>
          </a:p>
        </p:txBody>
      </p:sp>
      <p:sp>
        <p:nvSpPr>
          <p:cNvPr id="23" name="Rectangle 23"/>
          <p:cNvSpPr/>
          <p:nvPr/>
        </p:nvSpPr>
        <p:spPr>
          <a:xfrm>
            <a:off x="6838950" y="1390650"/>
            <a:ext cx="4838700" cy="1676400"/>
          </a:xfrm>
          <a:prstGeom prst="roundRect">
            <a:avLst>
              <a:gd name="adj" fmla="val 5682"/>
            </a:avLst>
          </a:prstGeom>
          <a:solidFill>
            <a:srgbClr val="FFFFFF"/>
          </a:solidFill>
          <a:ln w="15240">
            <a:solidFill>
              <a:srgbClr val="8B0012"/>
            </a:solidFill>
          </a:ln>
        </p:spPr>
      </p:sp>
      <p:grpSp>
        <p:nvGrpSpPr>
          <p:cNvPr id="26" name="Group 26"/>
          <p:cNvGrpSpPr/>
          <p:nvPr/>
        </p:nvGrpSpPr>
        <p:grpSpPr>
          <a:xfrm>
            <a:off x="7005762" y="1539991"/>
            <a:ext cx="258907" cy="257115"/>
            <a:chOff x="7005762" y="1539991"/>
            <a:chExt cx="258907" cy="257115"/>
          </a:xfrm>
        </p:grpSpPr>
        <p:sp>
          <p:nvSpPr>
            <p:cNvPr id="24" name="Freeform 24"/>
            <p:cNvSpPr/>
            <p:nvPr/>
          </p:nvSpPr>
          <p:spPr>
            <a:xfrm>
              <a:off x="7080647" y="1613297"/>
              <a:ext cx="107156" cy="107156"/>
            </a:xfrm>
            <a:custGeom>
              <a:avLst/>
              <a:gdLst/>
              <a:ahLst/>
              <a:cxnLst/>
              <a:rect l="l" t="t" r="r" b="b"/>
              <a:pathLst>
                <a:path w="107156" h="107156">
                  <a:moveTo>
                    <a:pt x="107156" y="53578"/>
                  </a:moveTo>
                  <a:cubicBezTo>
                    <a:pt x="107156" y="83169"/>
                    <a:pt x="83169" y="107156"/>
                    <a:pt x="53578" y="107156"/>
                  </a:cubicBezTo>
                  <a:cubicBezTo>
                    <a:pt x="23988" y="107156"/>
                    <a:pt x="0" y="83169"/>
                    <a:pt x="0" y="53578"/>
                  </a:cubicBezTo>
                  <a:cubicBezTo>
                    <a:pt x="0" y="23988"/>
                    <a:pt x="23988" y="0"/>
                    <a:pt x="53578" y="0"/>
                  </a:cubicBezTo>
                  <a:cubicBezTo>
                    <a:pt x="83169" y="0"/>
                    <a:pt x="107156" y="23988"/>
                    <a:pt x="107156" y="53578"/>
                  </a:cubicBezTo>
                  <a:close/>
                </a:path>
              </a:pathLst>
            </a:custGeom>
            <a:solidFill>
              <a:srgbClr val="8B0012">
                <a:alpha val="20000"/>
              </a:srgbClr>
            </a:solidFill>
            <a:ln>
              <a:noFill/>
            </a:ln>
          </p:spPr>
        </p:sp>
        <p:sp>
          <p:nvSpPr>
            <p:cNvPr id="25" name="Freeform 25"/>
            <p:cNvSpPr/>
            <p:nvPr/>
          </p:nvSpPr>
          <p:spPr>
            <a:xfrm>
              <a:off x="7005762" y="1539991"/>
              <a:ext cx="258907" cy="257115"/>
            </a:xfrm>
            <a:custGeom>
              <a:avLst/>
              <a:gdLst/>
              <a:ahLst/>
              <a:cxnLst/>
              <a:rect l="l" t="t" r="r" b="b"/>
              <a:pathLst>
                <a:path w="258907" h="257115">
                  <a:moveTo>
                    <a:pt x="233242" y="76833"/>
                  </a:moveTo>
                  <a:cubicBezTo>
                    <a:pt x="258907" y="130511"/>
                    <a:pt x="239879" y="194903"/>
                    <a:pt x="189160" y="226009"/>
                  </a:cubicBezTo>
                  <a:cubicBezTo>
                    <a:pt x="138441" y="257115"/>
                    <a:pt x="72419" y="244883"/>
                    <a:pt x="36210" y="197673"/>
                  </a:cubicBezTo>
                  <a:cubicBezTo>
                    <a:pt x="0" y="150462"/>
                    <a:pt x="5302" y="83527"/>
                    <a:pt x="48493" y="42606"/>
                  </a:cubicBezTo>
                  <a:cubicBezTo>
                    <a:pt x="91684" y="1684"/>
                    <a:pt x="158808" y="0"/>
                    <a:pt x="203997" y="38703"/>
                  </a:cubicBezTo>
                  <a:lnTo>
                    <a:pt x="229302" y="13388"/>
                  </a:lnTo>
                  <a:cubicBezTo>
                    <a:pt x="232791" y="9898"/>
                    <a:pt x="238448" y="9898"/>
                    <a:pt x="241937" y="13388"/>
                  </a:cubicBezTo>
                  <a:cubicBezTo>
                    <a:pt x="245426" y="16877"/>
                    <a:pt x="245426" y="22534"/>
                    <a:pt x="241937" y="26023"/>
                  </a:cubicBezTo>
                  <a:lnTo>
                    <a:pt x="134781" y="133179"/>
                  </a:lnTo>
                  <a:cubicBezTo>
                    <a:pt x="131292" y="136669"/>
                    <a:pt x="125635" y="136669"/>
                    <a:pt x="122145" y="133179"/>
                  </a:cubicBezTo>
                  <a:cubicBezTo>
                    <a:pt x="118656" y="129690"/>
                    <a:pt x="118656" y="124033"/>
                    <a:pt x="122145" y="120544"/>
                  </a:cubicBezTo>
                  <a:lnTo>
                    <a:pt x="153087" y="89602"/>
                  </a:lnTo>
                  <a:cubicBezTo>
                    <a:pt x="135823" y="78185"/>
                    <a:pt x="112977" y="80129"/>
                    <a:pt x="97890" y="94299"/>
                  </a:cubicBezTo>
                  <a:cubicBezTo>
                    <a:pt x="82804" y="108468"/>
                    <a:pt x="79433" y="131148"/>
                    <a:pt x="89748" y="149093"/>
                  </a:cubicBezTo>
                  <a:cubicBezTo>
                    <a:pt x="100062" y="167037"/>
                    <a:pt x="121356" y="175540"/>
                    <a:pt x="141193" y="169637"/>
                  </a:cubicBezTo>
                  <a:cubicBezTo>
                    <a:pt x="161031" y="163733"/>
                    <a:pt x="174210" y="144969"/>
                    <a:pt x="173033" y="124305"/>
                  </a:cubicBezTo>
                  <a:cubicBezTo>
                    <a:pt x="172756" y="119374"/>
                    <a:pt x="176529" y="115151"/>
                    <a:pt x="181461" y="114873"/>
                  </a:cubicBezTo>
                  <a:cubicBezTo>
                    <a:pt x="186393" y="114596"/>
                    <a:pt x="190615" y="118369"/>
                    <a:pt x="190893" y="123301"/>
                  </a:cubicBezTo>
                  <a:cubicBezTo>
                    <a:pt x="192570" y="152568"/>
                    <a:pt x="173683" y="179069"/>
                    <a:pt x="145470" y="187033"/>
                  </a:cubicBezTo>
                  <a:cubicBezTo>
                    <a:pt x="117258" y="194998"/>
                    <a:pt x="87301" y="182287"/>
                    <a:pt x="73425" y="156464"/>
                  </a:cubicBezTo>
                  <a:cubicBezTo>
                    <a:pt x="59550" y="130641"/>
                    <a:pt x="65484" y="98644"/>
                    <a:pt x="87696" y="79513"/>
                  </a:cubicBezTo>
                  <a:cubicBezTo>
                    <a:pt x="109909" y="60383"/>
                    <a:pt x="142432" y="59259"/>
                    <a:pt x="165912" y="76811"/>
                  </a:cubicBezTo>
                  <a:lnTo>
                    <a:pt x="191306" y="51417"/>
                  </a:lnTo>
                  <a:cubicBezTo>
                    <a:pt x="152769" y="19421"/>
                    <a:pt x="96317" y="21599"/>
                    <a:pt x="60359" y="56467"/>
                  </a:cubicBezTo>
                  <a:cubicBezTo>
                    <a:pt x="24400" y="91336"/>
                    <a:pt x="20488" y="147695"/>
                    <a:pt x="51283" y="187197"/>
                  </a:cubicBezTo>
                  <a:cubicBezTo>
                    <a:pt x="82079" y="226700"/>
                    <a:pt x="137689" y="236657"/>
                    <a:pt x="180277" y="210293"/>
                  </a:cubicBezTo>
                  <a:cubicBezTo>
                    <a:pt x="222865" y="183929"/>
                    <a:pt x="238750" y="129714"/>
                    <a:pt x="217124" y="84535"/>
                  </a:cubicBezTo>
                  <a:cubicBezTo>
                    <a:pt x="214997" y="80084"/>
                    <a:pt x="216881" y="74752"/>
                    <a:pt x="221332" y="72625"/>
                  </a:cubicBezTo>
                  <a:cubicBezTo>
                    <a:pt x="225783" y="70498"/>
                    <a:pt x="231115" y="72382"/>
                    <a:pt x="233242" y="76833"/>
                  </a:cubicBezTo>
                  <a:close/>
                </a:path>
              </a:pathLst>
            </a:custGeom>
            <a:solidFill>
              <a:srgbClr val="8B0012"/>
            </a:solidFill>
            <a:ln>
              <a:noFill/>
            </a:ln>
          </p:spPr>
        </p:sp>
      </p:grpSp>
      <p:sp>
        <p:nvSpPr>
          <p:cNvPr id="27" name="TextBox 27"/>
          <p:cNvSpPr txBox="1"/>
          <p:nvPr/>
        </p:nvSpPr>
        <p:spPr>
          <a:xfrm>
            <a:off x="7355205" y="1587818"/>
            <a:ext cx="2216224" cy="274320"/>
          </a:xfrm>
          <a:prstGeom prst="rect">
            <a:avLst/>
          </a:prstGeom>
          <a:noFill/>
          <a:ln>
            <a:noFill/>
          </a:ln>
        </p:spPr>
        <p:txBody>
          <a:bodyPr wrap="none" lIns="0" tIns="0" rIns="0" bIns="0" anchor="t" anchorCtr="0">
            <a:spAutoFit/>
          </a:bodyPr>
          <a:lstStyle/>
          <a:p>
            <a:pPr algn="l"/>
            <a:r>
              <a:rPr lang="zh-CN" sz="1350" b="1" dirty="0">
                <a:solidFill>
                  <a:srgbClr val="8B0012"/>
                </a:solidFill>
                <a:latin typeface="Arial"/>
                <a:ea typeface="Microsoft YaHei"/>
                <a:cs typeface="Arial"/>
              </a:rPr>
              <a:t>Support shrinks fast</a:t>
            </a:r>
          </a:p>
        </p:txBody>
      </p:sp>
      <p:sp>
        <p:nvSpPr>
          <p:cNvPr id="28" name="TextBox 28"/>
          <p:cNvSpPr txBox="1"/>
          <p:nvPr/>
        </p:nvSpPr>
        <p:spPr>
          <a:xfrm>
            <a:off x="7014210" y="1908810"/>
            <a:ext cx="2512162"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Cells inside the fitted range:</a:t>
            </a:r>
          </a:p>
        </p:txBody>
      </p:sp>
      <p:sp>
        <p:nvSpPr>
          <p:cNvPr id="29" name="TextBox 29"/>
          <p:cNvSpPr txBox="1"/>
          <p:nvPr/>
        </p:nvSpPr>
        <p:spPr>
          <a:xfrm>
            <a:off x="7014210" y="2137410"/>
            <a:ext cx="2100020" cy="243840"/>
          </a:xfrm>
          <a:prstGeom prst="rect">
            <a:avLst/>
          </a:prstGeom>
          <a:noFill/>
          <a:ln>
            <a:noFill/>
          </a:ln>
        </p:spPr>
        <p:txBody>
          <a:bodyPr wrap="none" lIns="0" tIns="0" rIns="0" bIns="0" anchor="t" anchorCtr="0">
            <a:spAutoFit/>
          </a:bodyPr>
          <a:lstStyle/>
          <a:p>
            <a:pPr algn="l"/>
            <a:r>
              <a:rPr lang="zh-CN" sz="1200" b="1" dirty="0">
                <a:solidFill>
                  <a:srgbClr val="111111"/>
                </a:solidFill>
                <a:latin typeface="Arial"/>
                <a:ea typeface="Microsoft YaHei"/>
                <a:cs typeface="Arial"/>
              </a:rPr>
              <a:t>2030: 48% → 2050: 10%</a:t>
            </a:r>
          </a:p>
        </p:txBody>
      </p:sp>
      <p:sp>
        <p:nvSpPr>
          <p:cNvPr id="30" name="TextBox 30"/>
          <p:cNvSpPr txBox="1"/>
          <p:nvPr/>
        </p:nvSpPr>
        <p:spPr>
          <a:xfrm>
            <a:off x="7014210" y="2366010"/>
            <a:ext cx="1852939" cy="243840"/>
          </a:xfrm>
          <a:prstGeom prst="rect">
            <a:avLst/>
          </a:prstGeom>
          <a:noFill/>
          <a:ln>
            <a:noFill/>
          </a:ln>
        </p:spPr>
        <p:txBody>
          <a:bodyPr wrap="none" lIns="0" tIns="0" rIns="0" bIns="0" anchor="t" anchorCtr="0">
            <a:spAutoFit/>
          </a:bodyPr>
          <a:lstStyle/>
          <a:p>
            <a:pPr algn="l"/>
            <a:r>
              <a:rPr lang="zh-CN" sz="1200" b="1" dirty="0">
                <a:solidFill>
                  <a:srgbClr val="111111"/>
                </a:solidFill>
                <a:latin typeface="Arial"/>
                <a:ea typeface="Microsoft YaHei"/>
                <a:cs typeface="Arial"/>
              </a:rPr>
              <a:t>2080: 2% (SSP2-4.5)</a:t>
            </a:r>
          </a:p>
        </p:txBody>
      </p:sp>
      <p:sp>
        <p:nvSpPr>
          <p:cNvPr id="31" name="Rectangle 31"/>
          <p:cNvSpPr/>
          <p:nvPr/>
        </p:nvSpPr>
        <p:spPr>
          <a:xfrm>
            <a:off x="6838950" y="3219450"/>
            <a:ext cx="4838700" cy="1428750"/>
          </a:xfrm>
          <a:prstGeom prst="roundRect">
            <a:avLst>
              <a:gd name="adj" fmla="val 6667"/>
            </a:avLst>
          </a:prstGeom>
          <a:solidFill>
            <a:srgbClr val="FFFFFF"/>
          </a:solidFill>
          <a:ln w="15240">
            <a:solidFill>
              <a:srgbClr val="1F5F9E"/>
            </a:solidFill>
          </a:ln>
        </p:spPr>
      </p:sp>
      <p:grpSp>
        <p:nvGrpSpPr>
          <p:cNvPr id="34" name="Group 34"/>
          <p:cNvGrpSpPr/>
          <p:nvPr/>
        </p:nvGrpSpPr>
        <p:grpSpPr>
          <a:xfrm>
            <a:off x="7044928" y="3388499"/>
            <a:ext cx="178594" cy="214351"/>
            <a:chOff x="7044928" y="3388499"/>
            <a:chExt cx="178594" cy="214351"/>
          </a:xfrm>
        </p:grpSpPr>
        <p:sp>
          <p:nvSpPr>
            <p:cNvPr id="32" name="Freeform 32"/>
            <p:cNvSpPr/>
            <p:nvPr/>
          </p:nvSpPr>
          <p:spPr>
            <a:xfrm>
              <a:off x="7071717" y="3397448"/>
              <a:ext cx="125016" cy="196453"/>
            </a:xfrm>
            <a:custGeom>
              <a:avLst/>
              <a:gdLst/>
              <a:ahLst/>
              <a:cxnLst/>
              <a:rect l="l" t="t" r="r" b="b"/>
              <a:pathLst>
                <a:path w="125016" h="196453">
                  <a:moveTo>
                    <a:pt x="125016" y="8930"/>
                  </a:moveTo>
                  <a:lnTo>
                    <a:pt x="125016" y="187523"/>
                  </a:lnTo>
                  <a:cubicBezTo>
                    <a:pt x="125016" y="192455"/>
                    <a:pt x="121018" y="196453"/>
                    <a:pt x="116086" y="196453"/>
                  </a:cubicBezTo>
                  <a:lnTo>
                    <a:pt x="8930" y="196453"/>
                  </a:lnTo>
                  <a:cubicBezTo>
                    <a:pt x="3998" y="196453"/>
                    <a:pt x="0" y="192455"/>
                    <a:pt x="0" y="187523"/>
                  </a:cubicBezTo>
                  <a:lnTo>
                    <a:pt x="0" y="8930"/>
                  </a:lnTo>
                  <a:cubicBezTo>
                    <a:pt x="0" y="3998"/>
                    <a:pt x="3998" y="0"/>
                    <a:pt x="8930" y="0"/>
                  </a:cubicBezTo>
                  <a:lnTo>
                    <a:pt x="116086" y="0"/>
                  </a:lnTo>
                  <a:cubicBezTo>
                    <a:pt x="121018" y="0"/>
                    <a:pt x="125016" y="3998"/>
                    <a:pt x="125016" y="8930"/>
                  </a:cubicBezTo>
                  <a:close/>
                </a:path>
              </a:pathLst>
            </a:custGeom>
            <a:solidFill>
              <a:srgbClr val="1F5F9E">
                <a:alpha val="20000"/>
              </a:srgbClr>
            </a:solidFill>
            <a:ln>
              <a:noFill/>
            </a:ln>
          </p:spPr>
        </p:sp>
        <p:sp>
          <p:nvSpPr>
            <p:cNvPr id="33" name="Freeform 33"/>
            <p:cNvSpPr/>
            <p:nvPr/>
          </p:nvSpPr>
          <p:spPr>
            <a:xfrm>
              <a:off x="7044928" y="3388499"/>
              <a:ext cx="178594" cy="214351"/>
            </a:xfrm>
            <a:custGeom>
              <a:avLst/>
              <a:gdLst/>
              <a:ahLst/>
              <a:cxnLst/>
              <a:rect l="l" t="t" r="r" b="b"/>
              <a:pathLst>
                <a:path w="178594" h="214351">
                  <a:moveTo>
                    <a:pt x="178594" y="8949"/>
                  </a:moveTo>
                  <a:cubicBezTo>
                    <a:pt x="178594" y="13881"/>
                    <a:pt x="174596" y="17879"/>
                    <a:pt x="169664" y="17879"/>
                  </a:cubicBezTo>
                  <a:lnTo>
                    <a:pt x="136970" y="17879"/>
                  </a:lnTo>
                  <a:cubicBezTo>
                    <a:pt x="124019" y="17875"/>
                    <a:pt x="112920" y="27137"/>
                    <a:pt x="110605" y="39879"/>
                  </a:cubicBezTo>
                  <a:lnTo>
                    <a:pt x="100001" y="98246"/>
                  </a:lnTo>
                  <a:lnTo>
                    <a:pt x="151805" y="98246"/>
                  </a:lnTo>
                  <a:cubicBezTo>
                    <a:pt x="156736" y="98246"/>
                    <a:pt x="160734" y="102244"/>
                    <a:pt x="160734" y="107176"/>
                  </a:cubicBezTo>
                  <a:cubicBezTo>
                    <a:pt x="160734" y="112107"/>
                    <a:pt x="156736" y="116105"/>
                    <a:pt x="151805" y="116105"/>
                  </a:cubicBezTo>
                  <a:lnTo>
                    <a:pt x="96753" y="116105"/>
                  </a:lnTo>
                  <a:lnTo>
                    <a:pt x="85591" y="177676"/>
                  </a:lnTo>
                  <a:cubicBezTo>
                    <a:pt x="81726" y="198918"/>
                    <a:pt x="63215" y="214351"/>
                    <a:pt x="41624" y="214332"/>
                  </a:cubicBezTo>
                  <a:lnTo>
                    <a:pt x="8930" y="214332"/>
                  </a:lnTo>
                  <a:cubicBezTo>
                    <a:pt x="3998" y="214332"/>
                    <a:pt x="0" y="210334"/>
                    <a:pt x="0" y="205402"/>
                  </a:cubicBezTo>
                  <a:cubicBezTo>
                    <a:pt x="0" y="200471"/>
                    <a:pt x="3998" y="196473"/>
                    <a:pt x="8930" y="196473"/>
                  </a:cubicBezTo>
                  <a:lnTo>
                    <a:pt x="41624" y="196473"/>
                  </a:lnTo>
                  <a:cubicBezTo>
                    <a:pt x="54574" y="196476"/>
                    <a:pt x="65673" y="187214"/>
                    <a:pt x="67988" y="174472"/>
                  </a:cubicBezTo>
                  <a:lnTo>
                    <a:pt x="78592" y="116105"/>
                  </a:lnTo>
                  <a:lnTo>
                    <a:pt x="26789" y="116105"/>
                  </a:lnTo>
                  <a:cubicBezTo>
                    <a:pt x="21857" y="116105"/>
                    <a:pt x="17859" y="112107"/>
                    <a:pt x="17859" y="107176"/>
                  </a:cubicBezTo>
                  <a:cubicBezTo>
                    <a:pt x="17859" y="102244"/>
                    <a:pt x="21857" y="98246"/>
                    <a:pt x="26789" y="98246"/>
                  </a:cubicBezTo>
                  <a:lnTo>
                    <a:pt x="81841" y="98246"/>
                  </a:lnTo>
                  <a:lnTo>
                    <a:pt x="93003" y="36676"/>
                  </a:lnTo>
                  <a:cubicBezTo>
                    <a:pt x="96868" y="15433"/>
                    <a:pt x="115379" y="0"/>
                    <a:pt x="136970" y="19"/>
                  </a:cubicBezTo>
                  <a:lnTo>
                    <a:pt x="169664" y="19"/>
                  </a:lnTo>
                  <a:cubicBezTo>
                    <a:pt x="174596" y="19"/>
                    <a:pt x="178594" y="4017"/>
                    <a:pt x="178594" y="8949"/>
                  </a:cubicBezTo>
                  <a:close/>
                </a:path>
              </a:pathLst>
            </a:custGeom>
            <a:solidFill>
              <a:srgbClr val="1F5F9E"/>
            </a:solidFill>
            <a:ln>
              <a:noFill/>
            </a:ln>
          </p:spPr>
        </p:sp>
      </p:grpSp>
      <p:sp>
        <p:nvSpPr>
          <p:cNvPr id="35" name="TextBox 35"/>
          <p:cNvSpPr txBox="1"/>
          <p:nvPr/>
        </p:nvSpPr>
        <p:spPr>
          <a:xfrm>
            <a:off x="7355205" y="3416618"/>
            <a:ext cx="3171343" cy="274320"/>
          </a:xfrm>
          <a:prstGeom prst="rect">
            <a:avLst/>
          </a:prstGeom>
          <a:noFill/>
          <a:ln>
            <a:noFill/>
          </a:ln>
        </p:spPr>
        <p:txBody>
          <a:bodyPr wrap="none" lIns="0" tIns="0" rIns="0" bIns="0" anchor="t" anchorCtr="0">
            <a:spAutoFit/>
          </a:bodyPr>
          <a:lstStyle/>
          <a:p>
            <a:pPr algn="l"/>
            <a:r>
              <a:rPr lang="zh-CN" sz="1350" b="1" dirty="0">
                <a:solidFill>
                  <a:srgbClr val="1F5F9E"/>
                </a:solidFill>
                <a:latin typeface="Arial"/>
                <a:ea typeface="Microsoft YaHei"/>
                <a:cs typeface="Arial"/>
              </a:rPr>
              <a:t>Machine learning does not help</a:t>
            </a:r>
          </a:p>
        </p:txBody>
      </p:sp>
      <p:sp>
        <p:nvSpPr>
          <p:cNvPr id="36" name="TextBox 36"/>
          <p:cNvSpPr txBox="1"/>
          <p:nvPr/>
        </p:nvSpPr>
        <p:spPr>
          <a:xfrm>
            <a:off x="7014210" y="3737610"/>
            <a:ext cx="2941549"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Agree inside the range (ρ = 0.54)</a:t>
            </a:r>
          </a:p>
        </p:txBody>
      </p:sp>
      <p:sp>
        <p:nvSpPr>
          <p:cNvPr id="37" name="TextBox 37"/>
          <p:cNvSpPr txBox="1"/>
          <p:nvPr/>
        </p:nvSpPr>
        <p:spPr>
          <a:xfrm>
            <a:off x="7014210" y="3966210"/>
            <a:ext cx="1565758"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Diverge outside it</a:t>
            </a:r>
          </a:p>
        </p:txBody>
      </p:sp>
      <p:sp>
        <p:nvSpPr>
          <p:cNvPr id="38" name="Rectangle 38"/>
          <p:cNvSpPr/>
          <p:nvPr/>
        </p:nvSpPr>
        <p:spPr>
          <a:xfrm>
            <a:off x="6838950" y="4800600"/>
            <a:ext cx="4838700" cy="1619250"/>
          </a:xfrm>
          <a:prstGeom prst="roundRect">
            <a:avLst>
              <a:gd name="adj" fmla="val 4706"/>
            </a:avLst>
          </a:prstGeom>
          <a:solidFill>
            <a:srgbClr val="8B0012"/>
          </a:solidFill>
          <a:ln>
            <a:noFill/>
          </a:ln>
        </p:spPr>
      </p:sp>
      <p:sp>
        <p:nvSpPr>
          <p:cNvPr id="39" name="TextBox 39"/>
          <p:cNvSpPr txBox="1"/>
          <p:nvPr/>
        </p:nvSpPr>
        <p:spPr>
          <a:xfrm>
            <a:off x="6934200" y="5262562"/>
            <a:ext cx="4648200" cy="257175"/>
          </a:xfrm>
          <a:prstGeom prst="rect">
            <a:avLst/>
          </a:prstGeom>
          <a:noFill/>
          <a:ln>
            <a:noFill/>
          </a:ln>
        </p:spPr>
        <p:txBody>
          <a:bodyPr wrap="square" lIns="0" tIns="0" rIns="0" bIns="0" anchor="t" anchorCtr="0">
            <a:normAutofit/>
          </a:bodyPr>
          <a:lstStyle/>
          <a:p>
            <a:pPr algn="ctr"/>
            <a:r>
              <a:rPr lang="zh-CN" sz="1350" b="1" dirty="0">
                <a:solidFill>
                  <a:srgbClr val="FFFFFF"/>
                </a:solidFill>
                <a:latin typeface="Arial"/>
                <a:ea typeface="Microsoft YaHei"/>
                <a:cs typeface="Arial"/>
              </a:rPr>
              <a:t>2030: usable</a:t>
            </a:r>
          </a:p>
        </p:txBody>
      </p:sp>
      <p:sp>
        <p:nvSpPr>
          <p:cNvPr id="40" name="TextBox 40"/>
          <p:cNvSpPr txBox="1"/>
          <p:nvPr/>
        </p:nvSpPr>
        <p:spPr>
          <a:xfrm>
            <a:off x="6934200" y="5502592"/>
            <a:ext cx="4648200" cy="257175"/>
          </a:xfrm>
          <a:prstGeom prst="rect">
            <a:avLst/>
          </a:prstGeom>
          <a:noFill/>
          <a:ln>
            <a:noFill/>
          </a:ln>
        </p:spPr>
        <p:txBody>
          <a:bodyPr wrap="square" lIns="0" tIns="0" rIns="0" bIns="0" anchor="t" anchorCtr="0">
            <a:normAutofit/>
          </a:bodyPr>
          <a:lstStyle/>
          <a:p>
            <a:pPr algn="ctr"/>
            <a:r>
              <a:rPr lang="zh-CN" sz="1350" b="1" dirty="0">
                <a:solidFill>
                  <a:srgbClr val="FFFFFF"/>
                </a:solidFill>
                <a:latin typeface="Arial"/>
                <a:ea typeface="Microsoft YaHei"/>
                <a:cs typeface="Arial"/>
              </a:rPr>
              <a:t>End of century:</a:t>
            </a:r>
          </a:p>
        </p:txBody>
      </p:sp>
      <p:sp>
        <p:nvSpPr>
          <p:cNvPr id="41" name="TextBox 41"/>
          <p:cNvSpPr txBox="1"/>
          <p:nvPr/>
        </p:nvSpPr>
        <p:spPr>
          <a:xfrm>
            <a:off x="6934200" y="5742622"/>
            <a:ext cx="4648200" cy="257175"/>
          </a:xfrm>
          <a:prstGeom prst="rect">
            <a:avLst/>
          </a:prstGeom>
          <a:noFill/>
          <a:ln>
            <a:noFill/>
          </a:ln>
        </p:spPr>
        <p:txBody>
          <a:bodyPr wrap="square" lIns="0" tIns="0" rIns="0" bIns="0" anchor="t" anchorCtr="0">
            <a:normAutofit/>
          </a:bodyPr>
          <a:lstStyle/>
          <a:p>
            <a:pPr algn="ctr"/>
            <a:r>
              <a:rPr lang="zh-CN" sz="1350" b="1" dirty="0">
                <a:solidFill>
                  <a:srgbClr val="FFFFFF"/>
                </a:solidFill>
                <a:latin typeface="Arial"/>
                <a:ea typeface="Microsoft YaHei"/>
                <a:cs typeface="Arial"/>
              </a:rPr>
              <a:t>illustration, not forecast</a:t>
            </a:r>
          </a:p>
        </p:txBody>
      </p:sp>
      <p:sp>
        <p:nvSpPr>
          <p:cNvPr id="42" name="TextBox 42"/>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43" name="TextBox 43"/>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TextBox 10"/>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1" name="Rectangle 11"/>
          <p:cNvSpPr/>
          <p:nvPr/>
        </p:nvSpPr>
        <p:spPr>
          <a:xfrm>
            <a:off x="10248900" y="0"/>
            <a:ext cx="1866900" cy="609600"/>
          </a:xfrm>
          <a:prstGeom prst="rect">
            <a:avLst/>
          </a:prstGeom>
          <a:solidFill>
            <a:srgbClr val="FFFFFF"/>
          </a:solidFill>
          <a:ln>
            <a:noFill/>
          </a:ln>
        </p:spPr>
      </p:sp>
      <p:sp>
        <p:nvSpPr>
          <p:cNvPr id="12" name="TextBox 12"/>
          <p:cNvSpPr txBox="1"/>
          <p:nvPr/>
        </p:nvSpPr>
        <p:spPr>
          <a:xfrm>
            <a:off x="102870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860393"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Limits</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4636046"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Four limits travel with these conclusions</a:t>
            </a:r>
          </a:p>
        </p:txBody>
      </p:sp>
      <p:sp>
        <p:nvSpPr>
          <p:cNvPr id="17" name="Rectangle 17"/>
          <p:cNvSpPr/>
          <p:nvPr/>
        </p:nvSpPr>
        <p:spPr>
          <a:xfrm>
            <a:off x="514350" y="1390650"/>
            <a:ext cx="11163300" cy="1143000"/>
          </a:xfrm>
          <a:prstGeom prst="roundRect">
            <a:avLst>
              <a:gd name="adj" fmla="val 8333"/>
            </a:avLst>
          </a:prstGeom>
          <a:solidFill>
            <a:srgbClr val="FFFFFF"/>
          </a:solidFill>
          <a:ln w="14288">
            <a:solidFill>
              <a:srgbClr val="D9C7CA"/>
            </a:solidFill>
          </a:ln>
        </p:spPr>
      </p:sp>
      <p:sp>
        <p:nvSpPr>
          <p:cNvPr id="18" name="Ellipse 18"/>
          <p:cNvSpPr/>
          <p:nvPr/>
        </p:nvSpPr>
        <p:spPr>
          <a:xfrm>
            <a:off x="742950" y="1638300"/>
            <a:ext cx="647700" cy="647700"/>
          </a:xfrm>
          <a:prstGeom prst="ellipse">
            <a:avLst/>
          </a:prstGeom>
          <a:solidFill>
            <a:srgbClr val="F8F2F3"/>
          </a:solidFill>
          <a:ln>
            <a:noFill/>
          </a:ln>
        </p:spPr>
      </p:sp>
      <p:grpSp>
        <p:nvGrpSpPr>
          <p:cNvPr id="21" name="Group 21"/>
          <p:cNvGrpSpPr/>
          <p:nvPr/>
        </p:nvGrpSpPr>
        <p:grpSpPr>
          <a:xfrm>
            <a:off x="866775" y="1819275"/>
            <a:ext cx="400050" cy="342900"/>
            <a:chOff x="866775" y="1819275"/>
            <a:chExt cx="400050" cy="342900"/>
          </a:xfrm>
        </p:grpSpPr>
        <p:sp>
          <p:nvSpPr>
            <p:cNvPr id="19" name="Freeform 19"/>
            <p:cNvSpPr/>
            <p:nvPr/>
          </p:nvSpPr>
          <p:spPr>
            <a:xfrm>
              <a:off x="881062" y="1833562"/>
              <a:ext cx="371475" cy="314325"/>
            </a:xfrm>
            <a:custGeom>
              <a:avLst/>
              <a:gdLst/>
              <a:ahLst/>
              <a:cxnLst/>
              <a:rect l="l" t="t" r="r" b="b"/>
              <a:pathLst>
                <a:path w="371475" h="314325">
                  <a:moveTo>
                    <a:pt x="371475" y="14288"/>
                  </a:moveTo>
                  <a:lnTo>
                    <a:pt x="371475" y="242888"/>
                  </a:lnTo>
                  <a:cubicBezTo>
                    <a:pt x="371475" y="250778"/>
                    <a:pt x="365078" y="257175"/>
                    <a:pt x="357188" y="257175"/>
                  </a:cubicBezTo>
                  <a:lnTo>
                    <a:pt x="242888" y="257175"/>
                  </a:lnTo>
                  <a:cubicBezTo>
                    <a:pt x="211324" y="257175"/>
                    <a:pt x="185738" y="282762"/>
                    <a:pt x="185738" y="314325"/>
                  </a:cubicBezTo>
                  <a:cubicBezTo>
                    <a:pt x="185738" y="282762"/>
                    <a:pt x="160151" y="257175"/>
                    <a:pt x="128588" y="257175"/>
                  </a:cubicBezTo>
                  <a:lnTo>
                    <a:pt x="14288" y="257175"/>
                  </a:lnTo>
                  <a:cubicBezTo>
                    <a:pt x="6397" y="257175"/>
                    <a:pt x="0" y="250778"/>
                    <a:pt x="0" y="242888"/>
                  </a:cubicBezTo>
                  <a:lnTo>
                    <a:pt x="0" y="14288"/>
                  </a:lnTo>
                  <a:cubicBezTo>
                    <a:pt x="0" y="6397"/>
                    <a:pt x="6397" y="0"/>
                    <a:pt x="14288" y="0"/>
                  </a:cubicBezTo>
                  <a:lnTo>
                    <a:pt x="128588" y="0"/>
                  </a:lnTo>
                  <a:cubicBezTo>
                    <a:pt x="160151" y="0"/>
                    <a:pt x="185738" y="25587"/>
                    <a:pt x="185738" y="57150"/>
                  </a:cubicBezTo>
                  <a:cubicBezTo>
                    <a:pt x="185738" y="25587"/>
                    <a:pt x="211324" y="0"/>
                    <a:pt x="242888" y="0"/>
                  </a:cubicBezTo>
                  <a:lnTo>
                    <a:pt x="357188" y="0"/>
                  </a:lnTo>
                  <a:cubicBezTo>
                    <a:pt x="365078" y="0"/>
                    <a:pt x="371475" y="6397"/>
                    <a:pt x="371475" y="14288"/>
                  </a:cubicBezTo>
                  <a:close/>
                </a:path>
              </a:pathLst>
            </a:custGeom>
            <a:solidFill>
              <a:srgbClr val="8B0012">
                <a:alpha val="20000"/>
              </a:srgbClr>
            </a:solidFill>
            <a:ln>
              <a:noFill/>
            </a:ln>
          </p:spPr>
        </p:sp>
        <p:sp>
          <p:nvSpPr>
            <p:cNvPr id="20" name="Freeform 20"/>
            <p:cNvSpPr/>
            <p:nvPr/>
          </p:nvSpPr>
          <p:spPr>
            <a:xfrm>
              <a:off x="866775" y="1819275"/>
              <a:ext cx="400050" cy="342900"/>
            </a:xfrm>
            <a:custGeom>
              <a:avLst/>
              <a:gdLst/>
              <a:ahLst/>
              <a:cxnLst/>
              <a:rect l="l" t="t" r="r" b="b"/>
              <a:pathLst>
                <a:path w="400050" h="342900">
                  <a:moveTo>
                    <a:pt x="371475" y="0"/>
                  </a:moveTo>
                  <a:lnTo>
                    <a:pt x="257175" y="0"/>
                  </a:lnTo>
                  <a:cubicBezTo>
                    <a:pt x="234690" y="0"/>
                    <a:pt x="213516" y="10587"/>
                    <a:pt x="200025" y="28575"/>
                  </a:cubicBezTo>
                  <a:cubicBezTo>
                    <a:pt x="186534" y="10587"/>
                    <a:pt x="165360" y="0"/>
                    <a:pt x="142875" y="0"/>
                  </a:cubicBezTo>
                  <a:lnTo>
                    <a:pt x="28575" y="0"/>
                  </a:lnTo>
                  <a:cubicBezTo>
                    <a:pt x="12793" y="0"/>
                    <a:pt x="0" y="12793"/>
                    <a:pt x="0" y="28575"/>
                  </a:cubicBezTo>
                  <a:lnTo>
                    <a:pt x="0" y="257175"/>
                  </a:lnTo>
                  <a:cubicBezTo>
                    <a:pt x="0" y="272957"/>
                    <a:pt x="12793" y="285750"/>
                    <a:pt x="28575" y="285750"/>
                  </a:cubicBezTo>
                  <a:lnTo>
                    <a:pt x="142875" y="285750"/>
                  </a:lnTo>
                  <a:cubicBezTo>
                    <a:pt x="166547" y="285750"/>
                    <a:pt x="185738" y="304940"/>
                    <a:pt x="185738" y="328612"/>
                  </a:cubicBezTo>
                  <a:cubicBezTo>
                    <a:pt x="185738" y="336503"/>
                    <a:pt x="192134" y="342900"/>
                    <a:pt x="200025" y="342900"/>
                  </a:cubicBezTo>
                  <a:cubicBezTo>
                    <a:pt x="207916" y="342900"/>
                    <a:pt x="214312" y="336503"/>
                    <a:pt x="214312" y="328612"/>
                  </a:cubicBezTo>
                  <a:cubicBezTo>
                    <a:pt x="214312" y="304940"/>
                    <a:pt x="233503" y="285750"/>
                    <a:pt x="257175" y="285750"/>
                  </a:cubicBezTo>
                  <a:lnTo>
                    <a:pt x="371475" y="285750"/>
                  </a:lnTo>
                  <a:cubicBezTo>
                    <a:pt x="387257" y="285750"/>
                    <a:pt x="400050" y="272957"/>
                    <a:pt x="400050" y="257175"/>
                  </a:cubicBezTo>
                  <a:lnTo>
                    <a:pt x="400050" y="28575"/>
                  </a:lnTo>
                  <a:cubicBezTo>
                    <a:pt x="400050" y="12793"/>
                    <a:pt x="387257" y="0"/>
                    <a:pt x="371475" y="0"/>
                  </a:cubicBezTo>
                  <a:close/>
                  <a:moveTo>
                    <a:pt x="142875" y="257175"/>
                  </a:moveTo>
                  <a:lnTo>
                    <a:pt x="28575" y="257175"/>
                  </a:lnTo>
                  <a:lnTo>
                    <a:pt x="28575" y="28575"/>
                  </a:lnTo>
                  <a:lnTo>
                    <a:pt x="142875" y="28575"/>
                  </a:lnTo>
                  <a:cubicBezTo>
                    <a:pt x="166547" y="28575"/>
                    <a:pt x="185738" y="47765"/>
                    <a:pt x="185738" y="71438"/>
                  </a:cubicBezTo>
                  <a:lnTo>
                    <a:pt x="185738" y="271462"/>
                  </a:lnTo>
                  <a:cubicBezTo>
                    <a:pt x="173384" y="262166"/>
                    <a:pt x="158336" y="257150"/>
                    <a:pt x="142875" y="257175"/>
                  </a:cubicBezTo>
                  <a:close/>
                  <a:moveTo>
                    <a:pt x="371475" y="257175"/>
                  </a:moveTo>
                  <a:lnTo>
                    <a:pt x="257175" y="257175"/>
                  </a:lnTo>
                  <a:cubicBezTo>
                    <a:pt x="241714" y="257150"/>
                    <a:pt x="226666" y="262166"/>
                    <a:pt x="214312" y="271462"/>
                  </a:cubicBezTo>
                  <a:lnTo>
                    <a:pt x="214312" y="71438"/>
                  </a:lnTo>
                  <a:cubicBezTo>
                    <a:pt x="214312" y="47765"/>
                    <a:pt x="233503" y="28575"/>
                    <a:pt x="257175" y="28575"/>
                  </a:cubicBezTo>
                  <a:lnTo>
                    <a:pt x="371475" y="28575"/>
                  </a:lnTo>
                  <a:close/>
                </a:path>
              </a:pathLst>
            </a:custGeom>
            <a:solidFill>
              <a:srgbClr val="8B0012"/>
            </a:solidFill>
            <a:ln>
              <a:noFill/>
            </a:ln>
          </p:spPr>
        </p:sp>
      </p:grpSp>
      <p:sp>
        <p:nvSpPr>
          <p:cNvPr id="22" name="TextBox 22"/>
          <p:cNvSpPr txBox="1"/>
          <p:nvPr/>
        </p:nvSpPr>
        <p:spPr>
          <a:xfrm>
            <a:off x="1600200" y="1704975"/>
            <a:ext cx="5221239" cy="304800"/>
          </a:xfrm>
          <a:prstGeom prst="rect">
            <a:avLst/>
          </a:prstGeom>
          <a:noFill/>
          <a:ln>
            <a:noFill/>
          </a:ln>
        </p:spPr>
        <p:txBody>
          <a:bodyPr wrap="none" lIns="0" tIns="0" rIns="0" bIns="0" anchor="t" anchorCtr="0">
            <a:spAutoFit/>
          </a:bodyPr>
          <a:lstStyle/>
          <a:p>
            <a:pPr algn="l"/>
            <a:r>
              <a:rPr lang="zh-CN" sz="1500" b="1" dirty="0">
                <a:solidFill>
                  <a:srgbClr val="111111"/>
                </a:solidFill>
                <a:latin typeface="Arial"/>
                <a:ea typeface="Microsoft YaHei"/>
                <a:cs typeface="Arial"/>
              </a:rPr>
              <a:t>Events are published records, not detections</a:t>
            </a:r>
          </a:p>
        </p:txBody>
      </p:sp>
      <p:sp>
        <p:nvSpPr>
          <p:cNvPr id="23" name="TextBox 23"/>
          <p:cNvSpPr txBox="1"/>
          <p:nvPr/>
        </p:nvSpPr>
        <p:spPr>
          <a:xfrm>
            <a:off x="1603058" y="2072164"/>
            <a:ext cx="6201647" cy="259080"/>
          </a:xfrm>
          <a:prstGeom prst="rect">
            <a:avLst/>
          </a:prstGeom>
          <a:noFill/>
          <a:ln>
            <a:noFill/>
          </a:ln>
        </p:spPr>
        <p:txBody>
          <a:bodyPr wrap="none" lIns="0" tIns="0" rIns="0" bIns="0" anchor="t" anchorCtr="0">
            <a:spAutoFit/>
          </a:bodyPr>
          <a:lstStyle/>
          <a:p>
            <a:pPr algn="l"/>
            <a:r>
              <a:rPr lang="zh-CN" sz="1275" dirty="0">
                <a:solidFill>
                  <a:srgbClr val="3F3F3F"/>
                </a:solidFill>
                <a:latin typeface="Arial"/>
                <a:ea typeface="Microsoft YaHei"/>
                <a:cs typeface="Arial"/>
              </a:rPr>
              <a:t>We explain how records are documented, not range expansion itself.</a:t>
            </a:r>
          </a:p>
        </p:txBody>
      </p:sp>
      <p:sp>
        <p:nvSpPr>
          <p:cNvPr id="24" name="Rectangle 24"/>
          <p:cNvSpPr/>
          <p:nvPr/>
        </p:nvSpPr>
        <p:spPr>
          <a:xfrm>
            <a:off x="514350" y="2667000"/>
            <a:ext cx="11163300" cy="1143000"/>
          </a:xfrm>
          <a:prstGeom prst="roundRect">
            <a:avLst>
              <a:gd name="adj" fmla="val 8333"/>
            </a:avLst>
          </a:prstGeom>
          <a:solidFill>
            <a:srgbClr val="FFFFFF"/>
          </a:solidFill>
          <a:ln w="14288">
            <a:solidFill>
              <a:srgbClr val="D9C7CA"/>
            </a:solidFill>
          </a:ln>
        </p:spPr>
      </p:sp>
      <p:sp>
        <p:nvSpPr>
          <p:cNvPr id="25" name="Ellipse 25"/>
          <p:cNvSpPr/>
          <p:nvPr/>
        </p:nvSpPr>
        <p:spPr>
          <a:xfrm>
            <a:off x="742950" y="2914650"/>
            <a:ext cx="647700" cy="647700"/>
          </a:xfrm>
          <a:prstGeom prst="ellipse">
            <a:avLst/>
          </a:prstGeom>
          <a:solidFill>
            <a:srgbClr val="F8F2F3"/>
          </a:solidFill>
          <a:ln>
            <a:noFill/>
          </a:ln>
        </p:spPr>
      </p:sp>
      <p:grpSp>
        <p:nvGrpSpPr>
          <p:cNvPr id="28" name="Group 28"/>
          <p:cNvGrpSpPr/>
          <p:nvPr/>
        </p:nvGrpSpPr>
        <p:grpSpPr>
          <a:xfrm>
            <a:off x="909638" y="3038475"/>
            <a:ext cx="314325" cy="400908"/>
            <a:chOff x="909638" y="3038475"/>
            <a:chExt cx="314325" cy="400908"/>
          </a:xfrm>
        </p:grpSpPr>
        <p:sp>
          <p:nvSpPr>
            <p:cNvPr id="26" name="Freeform 26"/>
            <p:cNvSpPr/>
            <p:nvPr/>
          </p:nvSpPr>
          <p:spPr>
            <a:xfrm>
              <a:off x="923925" y="3052762"/>
              <a:ext cx="285750" cy="371475"/>
            </a:xfrm>
            <a:custGeom>
              <a:avLst/>
              <a:gdLst/>
              <a:ahLst/>
              <a:cxnLst/>
              <a:rect l="l" t="t" r="r" b="b"/>
              <a:pathLst>
                <a:path w="285750" h="371475">
                  <a:moveTo>
                    <a:pt x="142875" y="0"/>
                  </a:moveTo>
                  <a:cubicBezTo>
                    <a:pt x="63967" y="0"/>
                    <a:pt x="0" y="63967"/>
                    <a:pt x="0" y="142875"/>
                  </a:cubicBezTo>
                  <a:cubicBezTo>
                    <a:pt x="0" y="271462"/>
                    <a:pt x="142875" y="371475"/>
                    <a:pt x="142875" y="371475"/>
                  </a:cubicBezTo>
                  <a:cubicBezTo>
                    <a:pt x="142875" y="371475"/>
                    <a:pt x="285750" y="271462"/>
                    <a:pt x="285750" y="142875"/>
                  </a:cubicBezTo>
                  <a:cubicBezTo>
                    <a:pt x="285750" y="63967"/>
                    <a:pt x="221783" y="0"/>
                    <a:pt x="142875" y="0"/>
                  </a:cubicBezTo>
                  <a:close/>
                  <a:moveTo>
                    <a:pt x="142875" y="200025"/>
                  </a:moveTo>
                  <a:cubicBezTo>
                    <a:pt x="111312" y="200025"/>
                    <a:pt x="85725" y="174438"/>
                    <a:pt x="85725" y="142875"/>
                  </a:cubicBezTo>
                  <a:cubicBezTo>
                    <a:pt x="85725" y="111312"/>
                    <a:pt x="111312" y="85725"/>
                    <a:pt x="142875" y="85725"/>
                  </a:cubicBezTo>
                  <a:cubicBezTo>
                    <a:pt x="174438" y="85725"/>
                    <a:pt x="200025" y="111312"/>
                    <a:pt x="200025" y="142875"/>
                  </a:cubicBezTo>
                  <a:cubicBezTo>
                    <a:pt x="200025" y="174438"/>
                    <a:pt x="174438" y="200025"/>
                    <a:pt x="142875" y="200025"/>
                  </a:cubicBezTo>
                  <a:close/>
                </a:path>
              </a:pathLst>
            </a:custGeom>
            <a:solidFill>
              <a:srgbClr val="8B0012">
                <a:alpha val="20000"/>
              </a:srgbClr>
            </a:solidFill>
            <a:ln>
              <a:noFill/>
            </a:ln>
          </p:spPr>
        </p:sp>
        <p:sp>
          <p:nvSpPr>
            <p:cNvPr id="27" name="Freeform 27"/>
            <p:cNvSpPr/>
            <p:nvPr/>
          </p:nvSpPr>
          <p:spPr>
            <a:xfrm>
              <a:off x="909638" y="3038475"/>
              <a:ext cx="314325" cy="400908"/>
            </a:xfrm>
            <a:custGeom>
              <a:avLst/>
              <a:gdLst/>
              <a:ahLst/>
              <a:cxnLst/>
              <a:rect l="l" t="t" r="r" b="b"/>
              <a:pathLst>
                <a:path w="314325" h="400908">
                  <a:moveTo>
                    <a:pt x="157162" y="85725"/>
                  </a:moveTo>
                  <a:cubicBezTo>
                    <a:pt x="117709" y="85725"/>
                    <a:pt x="85725" y="117709"/>
                    <a:pt x="85725" y="157162"/>
                  </a:cubicBezTo>
                  <a:cubicBezTo>
                    <a:pt x="85725" y="196616"/>
                    <a:pt x="117709" y="228600"/>
                    <a:pt x="157162" y="228600"/>
                  </a:cubicBezTo>
                  <a:cubicBezTo>
                    <a:pt x="196616" y="228600"/>
                    <a:pt x="228600" y="196616"/>
                    <a:pt x="228600" y="157162"/>
                  </a:cubicBezTo>
                  <a:cubicBezTo>
                    <a:pt x="228600" y="117709"/>
                    <a:pt x="196616" y="85725"/>
                    <a:pt x="157162" y="85725"/>
                  </a:cubicBezTo>
                  <a:close/>
                  <a:moveTo>
                    <a:pt x="157162" y="200025"/>
                  </a:moveTo>
                  <a:cubicBezTo>
                    <a:pt x="133490" y="200025"/>
                    <a:pt x="114300" y="180835"/>
                    <a:pt x="114300" y="157162"/>
                  </a:cubicBezTo>
                  <a:cubicBezTo>
                    <a:pt x="114300" y="133490"/>
                    <a:pt x="133490" y="114300"/>
                    <a:pt x="157162" y="114300"/>
                  </a:cubicBezTo>
                  <a:cubicBezTo>
                    <a:pt x="180835" y="114300"/>
                    <a:pt x="200025" y="133490"/>
                    <a:pt x="200025" y="157162"/>
                  </a:cubicBezTo>
                  <a:cubicBezTo>
                    <a:pt x="200025" y="180835"/>
                    <a:pt x="180835" y="200025"/>
                    <a:pt x="157162" y="200025"/>
                  </a:cubicBezTo>
                  <a:close/>
                  <a:moveTo>
                    <a:pt x="157162" y="0"/>
                  </a:moveTo>
                  <a:cubicBezTo>
                    <a:pt x="70405" y="98"/>
                    <a:pt x="98" y="70405"/>
                    <a:pt x="0" y="157162"/>
                  </a:cubicBezTo>
                  <a:cubicBezTo>
                    <a:pt x="0" y="213241"/>
                    <a:pt x="25914" y="272677"/>
                    <a:pt x="75009" y="329059"/>
                  </a:cubicBezTo>
                  <a:cubicBezTo>
                    <a:pt x="97070" y="354537"/>
                    <a:pt x="121898" y="377478"/>
                    <a:pt x="149036" y="397460"/>
                  </a:cubicBezTo>
                  <a:cubicBezTo>
                    <a:pt x="153958" y="400908"/>
                    <a:pt x="160510" y="400908"/>
                    <a:pt x="165431" y="397460"/>
                  </a:cubicBezTo>
                  <a:cubicBezTo>
                    <a:pt x="192520" y="377470"/>
                    <a:pt x="217300" y="354529"/>
                    <a:pt x="239316" y="329059"/>
                  </a:cubicBezTo>
                  <a:cubicBezTo>
                    <a:pt x="288340" y="272677"/>
                    <a:pt x="314325" y="213241"/>
                    <a:pt x="314325" y="157162"/>
                  </a:cubicBezTo>
                  <a:cubicBezTo>
                    <a:pt x="314227" y="70405"/>
                    <a:pt x="243920" y="98"/>
                    <a:pt x="157162" y="0"/>
                  </a:cubicBezTo>
                  <a:close/>
                  <a:moveTo>
                    <a:pt x="157162" y="367903"/>
                  </a:moveTo>
                  <a:cubicBezTo>
                    <a:pt x="127641" y="344686"/>
                    <a:pt x="28575" y="259407"/>
                    <a:pt x="28575" y="157162"/>
                  </a:cubicBezTo>
                  <a:cubicBezTo>
                    <a:pt x="28575" y="86146"/>
                    <a:pt x="86146" y="28575"/>
                    <a:pt x="157162" y="28575"/>
                  </a:cubicBezTo>
                  <a:cubicBezTo>
                    <a:pt x="228179" y="28575"/>
                    <a:pt x="285750" y="86146"/>
                    <a:pt x="285750" y="157162"/>
                  </a:cubicBezTo>
                  <a:cubicBezTo>
                    <a:pt x="285750" y="259372"/>
                    <a:pt x="186684" y="344686"/>
                    <a:pt x="157162" y="367903"/>
                  </a:cubicBezTo>
                  <a:close/>
                </a:path>
              </a:pathLst>
            </a:custGeom>
            <a:solidFill>
              <a:srgbClr val="8B0012"/>
            </a:solidFill>
            <a:ln>
              <a:noFill/>
            </a:ln>
          </p:spPr>
        </p:sp>
      </p:grpSp>
      <p:sp>
        <p:nvSpPr>
          <p:cNvPr id="29" name="TextBox 29"/>
          <p:cNvSpPr txBox="1"/>
          <p:nvPr/>
        </p:nvSpPr>
        <p:spPr>
          <a:xfrm>
            <a:off x="1600200" y="2981325"/>
            <a:ext cx="5311805" cy="304800"/>
          </a:xfrm>
          <a:prstGeom prst="rect">
            <a:avLst/>
          </a:prstGeom>
          <a:noFill/>
          <a:ln>
            <a:noFill/>
          </a:ln>
        </p:spPr>
        <p:txBody>
          <a:bodyPr wrap="none" lIns="0" tIns="0" rIns="0" bIns="0" anchor="t" anchorCtr="0">
            <a:spAutoFit/>
          </a:bodyPr>
          <a:lstStyle/>
          <a:p>
            <a:pPr algn="l"/>
            <a:r>
              <a:rPr lang="zh-CN" sz="1500" b="1" dirty="0">
                <a:solidFill>
                  <a:srgbClr val="111111"/>
                </a:solidFill>
                <a:latin typeface="Arial"/>
                <a:ea typeface="Microsoft YaHei"/>
                <a:cs typeface="Arial"/>
              </a:rPr>
              <a:t>Coordinates are precise to about 1 km at best</a:t>
            </a:r>
          </a:p>
        </p:txBody>
      </p:sp>
      <p:sp>
        <p:nvSpPr>
          <p:cNvPr id="30" name="TextBox 30"/>
          <p:cNvSpPr txBox="1"/>
          <p:nvPr/>
        </p:nvSpPr>
        <p:spPr>
          <a:xfrm>
            <a:off x="1603058" y="3348514"/>
            <a:ext cx="7119680" cy="259080"/>
          </a:xfrm>
          <a:prstGeom prst="rect">
            <a:avLst/>
          </a:prstGeom>
          <a:noFill/>
          <a:ln>
            <a:noFill/>
          </a:ln>
        </p:spPr>
        <p:txBody>
          <a:bodyPr wrap="none" lIns="0" tIns="0" rIns="0" bIns="0" anchor="t" anchorCtr="0">
            <a:spAutoFit/>
          </a:bodyPr>
          <a:lstStyle/>
          <a:p>
            <a:pPr algn="l"/>
            <a:r>
              <a:rPr lang="zh-CN" sz="1275" dirty="0">
                <a:solidFill>
                  <a:srgbClr val="3F3F3F"/>
                </a:solidFill>
                <a:latin typeface="Arial"/>
                <a:ea typeface="Microsoft YaHei"/>
                <a:cs typeface="Arial"/>
              </a:rPr>
              <a:t>Reserve-overlap tests therefore use 0–5 km buffers as a sensitivity check.</a:t>
            </a:r>
          </a:p>
        </p:txBody>
      </p:sp>
      <p:sp>
        <p:nvSpPr>
          <p:cNvPr id="31" name="Rectangle 31"/>
          <p:cNvSpPr/>
          <p:nvPr/>
        </p:nvSpPr>
        <p:spPr>
          <a:xfrm>
            <a:off x="514350" y="3943350"/>
            <a:ext cx="11163300" cy="1143000"/>
          </a:xfrm>
          <a:prstGeom prst="roundRect">
            <a:avLst>
              <a:gd name="adj" fmla="val 8333"/>
            </a:avLst>
          </a:prstGeom>
          <a:solidFill>
            <a:srgbClr val="FFFFFF"/>
          </a:solidFill>
          <a:ln w="14288">
            <a:solidFill>
              <a:srgbClr val="D9C7CA"/>
            </a:solidFill>
          </a:ln>
        </p:spPr>
      </p:sp>
      <p:sp>
        <p:nvSpPr>
          <p:cNvPr id="32" name="Ellipse 32"/>
          <p:cNvSpPr/>
          <p:nvPr/>
        </p:nvSpPr>
        <p:spPr>
          <a:xfrm>
            <a:off x="742950" y="4191000"/>
            <a:ext cx="647700" cy="647700"/>
          </a:xfrm>
          <a:prstGeom prst="ellipse">
            <a:avLst/>
          </a:prstGeom>
          <a:solidFill>
            <a:srgbClr val="F8F2F3"/>
          </a:solidFill>
          <a:ln>
            <a:noFill/>
          </a:ln>
        </p:spPr>
      </p:sp>
      <p:grpSp>
        <p:nvGrpSpPr>
          <p:cNvPr id="35" name="Group 35"/>
          <p:cNvGrpSpPr/>
          <p:nvPr/>
        </p:nvGrpSpPr>
        <p:grpSpPr>
          <a:xfrm>
            <a:off x="866579" y="4314753"/>
            <a:ext cx="400443" cy="400122"/>
            <a:chOff x="866579" y="4314753"/>
            <a:chExt cx="400443" cy="400122"/>
          </a:xfrm>
        </p:grpSpPr>
        <p:sp>
          <p:nvSpPr>
            <p:cNvPr id="33" name="Freeform 33"/>
            <p:cNvSpPr/>
            <p:nvPr/>
          </p:nvSpPr>
          <p:spPr>
            <a:xfrm>
              <a:off x="879076" y="4329044"/>
              <a:ext cx="373574" cy="306716"/>
            </a:xfrm>
            <a:custGeom>
              <a:avLst/>
              <a:gdLst/>
              <a:ahLst/>
              <a:cxnLst/>
              <a:rect l="l" t="t" r="r" b="b"/>
              <a:pathLst>
                <a:path w="373574" h="306716">
                  <a:moveTo>
                    <a:pt x="373461" y="185484"/>
                  </a:moveTo>
                  <a:cubicBezTo>
                    <a:pt x="373574" y="227700"/>
                    <a:pt x="350409" y="266541"/>
                    <a:pt x="313212" y="286504"/>
                  </a:cubicBezTo>
                  <a:cubicBezTo>
                    <a:pt x="276014" y="306467"/>
                    <a:pt x="230842" y="304301"/>
                    <a:pt x="195725" y="280871"/>
                  </a:cubicBezTo>
                  <a:cubicBezTo>
                    <a:pt x="190875" y="277572"/>
                    <a:pt x="184501" y="277572"/>
                    <a:pt x="179651" y="280871"/>
                  </a:cubicBezTo>
                  <a:cubicBezTo>
                    <a:pt x="143894" y="304859"/>
                    <a:pt x="97690" y="306716"/>
                    <a:pt x="60123" y="285676"/>
                  </a:cubicBezTo>
                  <a:cubicBezTo>
                    <a:pt x="22556" y="264636"/>
                    <a:pt x="0" y="224269"/>
                    <a:pt x="1772" y="181248"/>
                  </a:cubicBezTo>
                  <a:cubicBezTo>
                    <a:pt x="3544" y="138226"/>
                    <a:pt x="29342" y="99851"/>
                    <a:pt x="68512" y="81972"/>
                  </a:cubicBezTo>
                  <a:cubicBezTo>
                    <a:pt x="71738" y="80466"/>
                    <a:pt x="74286" y="77810"/>
                    <a:pt x="75656" y="74524"/>
                  </a:cubicBezTo>
                  <a:cubicBezTo>
                    <a:pt x="94565" y="29381"/>
                    <a:pt x="138726" y="0"/>
                    <a:pt x="187670" y="0"/>
                  </a:cubicBezTo>
                  <a:cubicBezTo>
                    <a:pt x="236614" y="0"/>
                    <a:pt x="280775" y="29381"/>
                    <a:pt x="299684" y="74524"/>
                  </a:cubicBezTo>
                  <a:cubicBezTo>
                    <a:pt x="301054" y="77810"/>
                    <a:pt x="303602" y="80466"/>
                    <a:pt x="306828" y="81972"/>
                  </a:cubicBezTo>
                  <a:cubicBezTo>
                    <a:pt x="347310" y="100546"/>
                    <a:pt x="373315" y="140945"/>
                    <a:pt x="373461" y="185484"/>
                  </a:cubicBezTo>
                  <a:close/>
                </a:path>
              </a:pathLst>
            </a:custGeom>
            <a:solidFill>
              <a:srgbClr val="8B0012">
                <a:alpha val="20000"/>
              </a:srgbClr>
            </a:solidFill>
            <a:ln>
              <a:noFill/>
            </a:ln>
          </p:spPr>
        </p:sp>
        <p:sp>
          <p:nvSpPr>
            <p:cNvPr id="34" name="Freeform 34"/>
            <p:cNvSpPr/>
            <p:nvPr/>
          </p:nvSpPr>
          <p:spPr>
            <a:xfrm>
              <a:off x="866579" y="4314753"/>
              <a:ext cx="400443" cy="400122"/>
            </a:xfrm>
            <a:custGeom>
              <a:avLst/>
              <a:gdLst/>
              <a:ahLst/>
              <a:cxnLst/>
              <a:rect l="l" t="t" r="r" b="b"/>
              <a:pathLst>
                <a:path w="400443" h="400122">
                  <a:moveTo>
                    <a:pt x="325416" y="83297"/>
                  </a:moveTo>
                  <a:cubicBezTo>
                    <a:pt x="304283" y="32839"/>
                    <a:pt x="254926" y="0"/>
                    <a:pt x="200221" y="0"/>
                  </a:cubicBezTo>
                  <a:cubicBezTo>
                    <a:pt x="145517" y="0"/>
                    <a:pt x="96160" y="32839"/>
                    <a:pt x="75027" y="83297"/>
                  </a:cubicBezTo>
                  <a:cubicBezTo>
                    <a:pt x="29627" y="104331"/>
                    <a:pt x="468" y="149704"/>
                    <a:pt x="196" y="199740"/>
                  </a:cubicBezTo>
                  <a:cubicBezTo>
                    <a:pt x="0" y="269070"/>
                    <a:pt x="56203" y="326899"/>
                    <a:pt x="125462" y="328685"/>
                  </a:cubicBezTo>
                  <a:cubicBezTo>
                    <a:pt x="146413" y="329231"/>
                    <a:pt x="167179" y="324626"/>
                    <a:pt x="185934" y="315272"/>
                  </a:cubicBezTo>
                  <a:lnTo>
                    <a:pt x="185934" y="385835"/>
                  </a:lnTo>
                  <a:cubicBezTo>
                    <a:pt x="185934" y="393725"/>
                    <a:pt x="192331" y="400122"/>
                    <a:pt x="200221" y="400122"/>
                  </a:cubicBezTo>
                  <a:cubicBezTo>
                    <a:pt x="208112" y="400122"/>
                    <a:pt x="214509" y="393725"/>
                    <a:pt x="214509" y="385835"/>
                  </a:cubicBezTo>
                  <a:lnTo>
                    <a:pt x="214509" y="315272"/>
                  </a:lnTo>
                  <a:cubicBezTo>
                    <a:pt x="232258" y="324124"/>
                    <a:pt x="251825" y="328716"/>
                    <a:pt x="271659" y="328685"/>
                  </a:cubicBezTo>
                  <a:lnTo>
                    <a:pt x="274981" y="328685"/>
                  </a:lnTo>
                  <a:cubicBezTo>
                    <a:pt x="344239" y="326899"/>
                    <a:pt x="400443" y="269106"/>
                    <a:pt x="400246" y="199776"/>
                  </a:cubicBezTo>
                  <a:cubicBezTo>
                    <a:pt x="400002" y="149723"/>
                    <a:pt x="370837" y="104326"/>
                    <a:pt x="325416" y="83297"/>
                  </a:cubicBezTo>
                  <a:close/>
                  <a:moveTo>
                    <a:pt x="274249" y="300110"/>
                  </a:moveTo>
                  <a:cubicBezTo>
                    <a:pt x="253616" y="300674"/>
                    <a:pt x="233319" y="294807"/>
                    <a:pt x="216170" y="283322"/>
                  </a:cubicBezTo>
                  <a:cubicBezTo>
                    <a:pt x="215610" y="282965"/>
                    <a:pt x="215057" y="282625"/>
                    <a:pt x="214509" y="282304"/>
                  </a:cubicBezTo>
                  <a:lnTo>
                    <a:pt x="214509" y="208920"/>
                  </a:lnTo>
                  <a:lnTo>
                    <a:pt x="292340" y="170022"/>
                  </a:lnTo>
                  <a:cubicBezTo>
                    <a:pt x="299402" y="166491"/>
                    <a:pt x="302265" y="157903"/>
                    <a:pt x="298734" y="150841"/>
                  </a:cubicBezTo>
                  <a:cubicBezTo>
                    <a:pt x="295203" y="143779"/>
                    <a:pt x="286615" y="140916"/>
                    <a:pt x="279553" y="144447"/>
                  </a:cubicBezTo>
                  <a:lnTo>
                    <a:pt x="214509" y="176987"/>
                  </a:lnTo>
                  <a:lnTo>
                    <a:pt x="214509" y="128660"/>
                  </a:lnTo>
                  <a:cubicBezTo>
                    <a:pt x="214509" y="120769"/>
                    <a:pt x="208112" y="114372"/>
                    <a:pt x="200221" y="114372"/>
                  </a:cubicBezTo>
                  <a:cubicBezTo>
                    <a:pt x="192331" y="114372"/>
                    <a:pt x="185934" y="120769"/>
                    <a:pt x="185934" y="128660"/>
                  </a:cubicBezTo>
                  <a:lnTo>
                    <a:pt x="185934" y="219850"/>
                  </a:lnTo>
                  <a:lnTo>
                    <a:pt x="120890" y="187310"/>
                  </a:lnTo>
                  <a:cubicBezTo>
                    <a:pt x="113828" y="183779"/>
                    <a:pt x="105240" y="186641"/>
                    <a:pt x="101709" y="193703"/>
                  </a:cubicBezTo>
                  <a:cubicBezTo>
                    <a:pt x="98178" y="200766"/>
                    <a:pt x="101041" y="209353"/>
                    <a:pt x="108103" y="212884"/>
                  </a:cubicBezTo>
                  <a:lnTo>
                    <a:pt x="185934" y="251782"/>
                  </a:lnTo>
                  <a:lnTo>
                    <a:pt x="185934" y="282250"/>
                  </a:lnTo>
                  <a:cubicBezTo>
                    <a:pt x="185380" y="282572"/>
                    <a:pt x="184827" y="282911"/>
                    <a:pt x="184291" y="283268"/>
                  </a:cubicBezTo>
                  <a:cubicBezTo>
                    <a:pt x="167141" y="294773"/>
                    <a:pt x="146838" y="300659"/>
                    <a:pt x="126194" y="300110"/>
                  </a:cubicBezTo>
                  <a:cubicBezTo>
                    <a:pt x="79683" y="298948"/>
                    <a:pt x="40116" y="265866"/>
                    <a:pt x="30734" y="220296"/>
                  </a:cubicBezTo>
                  <a:cubicBezTo>
                    <a:pt x="21352" y="174725"/>
                    <a:pt x="44634" y="128704"/>
                    <a:pt x="86904" y="109264"/>
                  </a:cubicBezTo>
                  <a:cubicBezTo>
                    <a:pt x="93396" y="106290"/>
                    <a:pt x="98529" y="100978"/>
                    <a:pt x="101281" y="94387"/>
                  </a:cubicBezTo>
                  <a:cubicBezTo>
                    <a:pt x="117956" y="54535"/>
                    <a:pt x="156931" y="28593"/>
                    <a:pt x="200132" y="28593"/>
                  </a:cubicBezTo>
                  <a:cubicBezTo>
                    <a:pt x="243333" y="28593"/>
                    <a:pt x="282308" y="54535"/>
                    <a:pt x="298984" y="94387"/>
                  </a:cubicBezTo>
                  <a:cubicBezTo>
                    <a:pt x="301735" y="100978"/>
                    <a:pt x="306868" y="106290"/>
                    <a:pt x="313361" y="109264"/>
                  </a:cubicBezTo>
                  <a:cubicBezTo>
                    <a:pt x="355631" y="128704"/>
                    <a:pt x="378912" y="174725"/>
                    <a:pt x="369531" y="220296"/>
                  </a:cubicBezTo>
                  <a:cubicBezTo>
                    <a:pt x="360149" y="265866"/>
                    <a:pt x="320581" y="298948"/>
                    <a:pt x="274070" y="300110"/>
                  </a:cubicBezTo>
                  <a:close/>
                </a:path>
              </a:pathLst>
            </a:custGeom>
            <a:solidFill>
              <a:srgbClr val="8B0012"/>
            </a:solidFill>
            <a:ln>
              <a:noFill/>
            </a:ln>
          </p:spPr>
        </p:sp>
      </p:grpSp>
      <p:sp>
        <p:nvSpPr>
          <p:cNvPr id="36" name="TextBox 36"/>
          <p:cNvSpPr txBox="1"/>
          <p:nvPr/>
        </p:nvSpPr>
        <p:spPr>
          <a:xfrm>
            <a:off x="1600200" y="4257675"/>
            <a:ext cx="6484513" cy="304800"/>
          </a:xfrm>
          <a:prstGeom prst="rect">
            <a:avLst/>
          </a:prstGeom>
          <a:noFill/>
          <a:ln>
            <a:noFill/>
          </a:ln>
        </p:spPr>
        <p:txBody>
          <a:bodyPr wrap="none" lIns="0" tIns="0" rIns="0" bIns="0" anchor="t" anchorCtr="0">
            <a:spAutoFit/>
          </a:bodyPr>
          <a:lstStyle/>
          <a:p>
            <a:pPr algn="l"/>
            <a:r>
              <a:rPr lang="zh-CN" sz="1500" b="1" dirty="0">
                <a:solidFill>
                  <a:srgbClr val="111111"/>
                </a:solidFill>
                <a:latin typeface="Arial"/>
                <a:ea typeface="Microsoft YaHei"/>
                <a:cs typeface="Arial"/>
              </a:rPr>
              <a:t>Reserve polygons cover about a third of listed reserves</a:t>
            </a:r>
          </a:p>
        </p:txBody>
      </p:sp>
      <p:sp>
        <p:nvSpPr>
          <p:cNvPr id="37" name="TextBox 37"/>
          <p:cNvSpPr txBox="1"/>
          <p:nvPr/>
        </p:nvSpPr>
        <p:spPr>
          <a:xfrm>
            <a:off x="1603058" y="4624864"/>
            <a:ext cx="5164436" cy="259080"/>
          </a:xfrm>
          <a:prstGeom prst="rect">
            <a:avLst/>
          </a:prstGeom>
          <a:noFill/>
          <a:ln>
            <a:noFill/>
          </a:ln>
        </p:spPr>
        <p:txBody>
          <a:bodyPr wrap="none" lIns="0" tIns="0" rIns="0" bIns="0" anchor="t" anchorCtr="0">
            <a:spAutoFit/>
          </a:bodyPr>
          <a:lstStyle/>
          <a:p>
            <a:pPr algn="l"/>
            <a:r>
              <a:rPr lang="zh-CN" sz="1275" dirty="0">
                <a:solidFill>
                  <a:srgbClr val="3F3F3F"/>
                </a:solidFill>
                <a:latin typeface="Arial"/>
                <a:ea typeface="Microsoft YaHei"/>
                <a:cs typeface="Arial"/>
              </a:rPr>
              <a:t>1,028 mapped reserves: no gap analysis, no 30×30 claims.</a:t>
            </a:r>
          </a:p>
        </p:txBody>
      </p:sp>
      <p:sp>
        <p:nvSpPr>
          <p:cNvPr id="38" name="Rectangle 38"/>
          <p:cNvSpPr/>
          <p:nvPr/>
        </p:nvSpPr>
        <p:spPr>
          <a:xfrm>
            <a:off x="514350" y="5219700"/>
            <a:ext cx="11163300" cy="1143000"/>
          </a:xfrm>
          <a:prstGeom prst="roundRect">
            <a:avLst>
              <a:gd name="adj" fmla="val 8333"/>
            </a:avLst>
          </a:prstGeom>
          <a:solidFill>
            <a:srgbClr val="FFFFFF"/>
          </a:solidFill>
          <a:ln w="14288">
            <a:solidFill>
              <a:srgbClr val="D9C7CA"/>
            </a:solidFill>
          </a:ln>
        </p:spPr>
      </p:sp>
      <p:sp>
        <p:nvSpPr>
          <p:cNvPr id="39" name="Ellipse 39"/>
          <p:cNvSpPr/>
          <p:nvPr/>
        </p:nvSpPr>
        <p:spPr>
          <a:xfrm>
            <a:off x="742950" y="5467350"/>
            <a:ext cx="647700" cy="647700"/>
          </a:xfrm>
          <a:prstGeom prst="ellipse">
            <a:avLst/>
          </a:prstGeom>
          <a:solidFill>
            <a:srgbClr val="F8F2F3"/>
          </a:solidFill>
          <a:ln>
            <a:noFill/>
          </a:ln>
        </p:spPr>
      </p:sp>
      <p:grpSp>
        <p:nvGrpSpPr>
          <p:cNvPr id="42" name="Group 42"/>
          <p:cNvGrpSpPr/>
          <p:nvPr/>
        </p:nvGrpSpPr>
        <p:grpSpPr>
          <a:xfrm>
            <a:off x="864844" y="5605461"/>
            <a:ext cx="403900" cy="357352"/>
            <a:chOff x="864844" y="5605461"/>
            <a:chExt cx="403900" cy="357352"/>
          </a:xfrm>
        </p:grpSpPr>
        <p:sp>
          <p:nvSpPr>
            <p:cNvPr id="40" name="Freeform 40"/>
            <p:cNvSpPr/>
            <p:nvPr/>
          </p:nvSpPr>
          <p:spPr>
            <a:xfrm>
              <a:off x="873919" y="5614785"/>
              <a:ext cx="385762" cy="333577"/>
            </a:xfrm>
            <a:custGeom>
              <a:avLst/>
              <a:gdLst/>
              <a:ahLst/>
              <a:cxnLst/>
              <a:rect l="l" t="t" r="r" b="b"/>
              <a:pathLst>
                <a:path w="385762" h="333577">
                  <a:moveTo>
                    <a:pt x="349079" y="333577"/>
                  </a:moveTo>
                  <a:lnTo>
                    <a:pt x="36683" y="333577"/>
                  </a:lnTo>
                  <a:cubicBezTo>
                    <a:pt x="14145" y="333577"/>
                    <a:pt x="0" y="309985"/>
                    <a:pt x="10948" y="290876"/>
                  </a:cubicBezTo>
                  <a:lnTo>
                    <a:pt x="167146" y="19645"/>
                  </a:lnTo>
                  <a:cubicBezTo>
                    <a:pt x="178397" y="0"/>
                    <a:pt x="207365" y="0"/>
                    <a:pt x="218617" y="19645"/>
                  </a:cubicBezTo>
                  <a:lnTo>
                    <a:pt x="374815" y="290876"/>
                  </a:lnTo>
                  <a:cubicBezTo>
                    <a:pt x="385762" y="309985"/>
                    <a:pt x="371618" y="333577"/>
                    <a:pt x="349079" y="333577"/>
                  </a:cubicBezTo>
                  <a:close/>
                </a:path>
              </a:pathLst>
            </a:custGeom>
            <a:solidFill>
              <a:srgbClr val="8B0012">
                <a:alpha val="20000"/>
              </a:srgbClr>
            </a:solidFill>
            <a:ln>
              <a:noFill/>
            </a:ln>
          </p:spPr>
        </p:sp>
        <p:sp>
          <p:nvSpPr>
            <p:cNvPr id="41" name="Freeform 41"/>
            <p:cNvSpPr/>
            <p:nvPr/>
          </p:nvSpPr>
          <p:spPr>
            <a:xfrm>
              <a:off x="864844" y="5605461"/>
              <a:ext cx="403900" cy="357352"/>
            </a:xfrm>
            <a:custGeom>
              <a:avLst/>
              <a:gdLst/>
              <a:ahLst/>
              <a:cxnLst/>
              <a:rect l="l" t="t" r="r" b="b"/>
              <a:pathLst>
                <a:path w="403900" h="357352">
                  <a:moveTo>
                    <a:pt x="396266" y="293056"/>
                  </a:moveTo>
                  <a:lnTo>
                    <a:pt x="240085" y="21825"/>
                  </a:lnTo>
                  <a:lnTo>
                    <a:pt x="240085" y="21825"/>
                  </a:lnTo>
                  <a:cubicBezTo>
                    <a:pt x="232144" y="8304"/>
                    <a:pt x="217636" y="0"/>
                    <a:pt x="201956" y="0"/>
                  </a:cubicBezTo>
                  <a:cubicBezTo>
                    <a:pt x="186275" y="0"/>
                    <a:pt x="171767" y="8304"/>
                    <a:pt x="163826" y="21825"/>
                  </a:cubicBezTo>
                  <a:lnTo>
                    <a:pt x="7646" y="293056"/>
                  </a:lnTo>
                  <a:cubicBezTo>
                    <a:pt x="0" y="306142"/>
                    <a:pt x="0" y="322332"/>
                    <a:pt x="7646" y="335418"/>
                  </a:cubicBezTo>
                  <a:cubicBezTo>
                    <a:pt x="15490" y="349030"/>
                    <a:pt x="30066" y="357352"/>
                    <a:pt x="45775" y="357189"/>
                  </a:cubicBezTo>
                  <a:lnTo>
                    <a:pt x="358136" y="357189"/>
                  </a:lnTo>
                  <a:cubicBezTo>
                    <a:pt x="373832" y="357339"/>
                    <a:pt x="388392" y="349018"/>
                    <a:pt x="396230" y="335418"/>
                  </a:cubicBezTo>
                  <a:cubicBezTo>
                    <a:pt x="403886" y="322339"/>
                    <a:pt x="403900" y="306148"/>
                    <a:pt x="396266" y="293056"/>
                  </a:cubicBezTo>
                  <a:close/>
                  <a:moveTo>
                    <a:pt x="371495" y="321113"/>
                  </a:moveTo>
                  <a:cubicBezTo>
                    <a:pt x="368722" y="325842"/>
                    <a:pt x="363616" y="328709"/>
                    <a:pt x="358136" y="328614"/>
                  </a:cubicBezTo>
                  <a:lnTo>
                    <a:pt x="45775" y="328614"/>
                  </a:lnTo>
                  <a:cubicBezTo>
                    <a:pt x="40295" y="328709"/>
                    <a:pt x="35189" y="325842"/>
                    <a:pt x="32416" y="321113"/>
                  </a:cubicBezTo>
                  <a:cubicBezTo>
                    <a:pt x="29905" y="316860"/>
                    <a:pt x="29905" y="311578"/>
                    <a:pt x="32416" y="307325"/>
                  </a:cubicBezTo>
                  <a:lnTo>
                    <a:pt x="188597" y="36095"/>
                  </a:lnTo>
                  <a:cubicBezTo>
                    <a:pt x="191422" y="31393"/>
                    <a:pt x="196506" y="28517"/>
                    <a:pt x="201991" y="28517"/>
                  </a:cubicBezTo>
                  <a:cubicBezTo>
                    <a:pt x="207477" y="28517"/>
                    <a:pt x="212560" y="31393"/>
                    <a:pt x="215386" y="36095"/>
                  </a:cubicBezTo>
                  <a:lnTo>
                    <a:pt x="371566" y="307325"/>
                  </a:lnTo>
                  <a:cubicBezTo>
                    <a:pt x="374056" y="311591"/>
                    <a:pt x="374028" y="316873"/>
                    <a:pt x="371495" y="321113"/>
                  </a:cubicBezTo>
                  <a:close/>
                  <a:moveTo>
                    <a:pt x="187668" y="214314"/>
                  </a:moveTo>
                  <a:lnTo>
                    <a:pt x="187668" y="142876"/>
                  </a:lnTo>
                  <a:cubicBezTo>
                    <a:pt x="187668" y="134985"/>
                    <a:pt x="194065" y="128589"/>
                    <a:pt x="201956" y="128589"/>
                  </a:cubicBezTo>
                  <a:cubicBezTo>
                    <a:pt x="209846" y="128589"/>
                    <a:pt x="216243" y="134985"/>
                    <a:pt x="216243" y="142876"/>
                  </a:cubicBezTo>
                  <a:lnTo>
                    <a:pt x="216243" y="214314"/>
                  </a:lnTo>
                  <a:cubicBezTo>
                    <a:pt x="216243" y="222204"/>
                    <a:pt x="209846" y="228601"/>
                    <a:pt x="201956" y="228601"/>
                  </a:cubicBezTo>
                  <a:cubicBezTo>
                    <a:pt x="194065" y="228601"/>
                    <a:pt x="187668" y="222204"/>
                    <a:pt x="187668" y="214314"/>
                  </a:cubicBezTo>
                  <a:close/>
                  <a:moveTo>
                    <a:pt x="223387" y="278607"/>
                  </a:moveTo>
                  <a:cubicBezTo>
                    <a:pt x="223387" y="290444"/>
                    <a:pt x="213792" y="300039"/>
                    <a:pt x="201956" y="300039"/>
                  </a:cubicBezTo>
                  <a:cubicBezTo>
                    <a:pt x="190119" y="300039"/>
                    <a:pt x="180524" y="290444"/>
                    <a:pt x="180524" y="278607"/>
                  </a:cubicBezTo>
                  <a:cubicBezTo>
                    <a:pt x="180524" y="266771"/>
                    <a:pt x="190119" y="257176"/>
                    <a:pt x="201956" y="257176"/>
                  </a:cubicBezTo>
                  <a:cubicBezTo>
                    <a:pt x="213792" y="257176"/>
                    <a:pt x="223387" y="266771"/>
                    <a:pt x="223387" y="278607"/>
                  </a:cubicBezTo>
                  <a:close/>
                </a:path>
              </a:pathLst>
            </a:custGeom>
            <a:solidFill>
              <a:srgbClr val="8B0012"/>
            </a:solidFill>
            <a:ln>
              <a:noFill/>
            </a:ln>
          </p:spPr>
        </p:sp>
      </p:grpSp>
      <p:sp>
        <p:nvSpPr>
          <p:cNvPr id="43" name="TextBox 43"/>
          <p:cNvSpPr txBox="1"/>
          <p:nvPr/>
        </p:nvSpPr>
        <p:spPr>
          <a:xfrm>
            <a:off x="1600200" y="5534025"/>
            <a:ext cx="5611368" cy="304800"/>
          </a:xfrm>
          <a:prstGeom prst="rect">
            <a:avLst/>
          </a:prstGeom>
          <a:noFill/>
          <a:ln>
            <a:noFill/>
          </a:ln>
        </p:spPr>
        <p:txBody>
          <a:bodyPr wrap="none" lIns="0" tIns="0" rIns="0" bIns="0" anchor="t" anchorCtr="0">
            <a:spAutoFit/>
          </a:bodyPr>
          <a:lstStyle/>
          <a:p>
            <a:pPr algn="l"/>
            <a:r>
              <a:rPr lang="zh-CN" sz="1500" b="1" dirty="0">
                <a:solidFill>
                  <a:srgbClr val="111111"/>
                </a:solidFill>
                <a:latin typeface="Arial"/>
                <a:ea typeface="Microsoft YaHei"/>
                <a:cs typeface="Arial"/>
              </a:rPr>
              <a:t>Projections leave the fitted support after 2030</a:t>
            </a:r>
          </a:p>
        </p:txBody>
      </p:sp>
      <p:sp>
        <p:nvSpPr>
          <p:cNvPr id="44" name="TextBox 44"/>
          <p:cNvSpPr txBox="1"/>
          <p:nvPr/>
        </p:nvSpPr>
        <p:spPr>
          <a:xfrm>
            <a:off x="1603058" y="5901214"/>
            <a:ext cx="7726737" cy="259080"/>
          </a:xfrm>
          <a:prstGeom prst="rect">
            <a:avLst/>
          </a:prstGeom>
          <a:noFill/>
          <a:ln>
            <a:noFill/>
          </a:ln>
        </p:spPr>
        <p:txBody>
          <a:bodyPr wrap="none" lIns="0" tIns="0" rIns="0" bIns="0" anchor="t" anchorCtr="0">
            <a:spAutoFit/>
          </a:bodyPr>
          <a:lstStyle/>
          <a:p>
            <a:pPr algn="l"/>
            <a:r>
              <a:rPr lang="zh-CN" sz="1275" dirty="0">
                <a:solidFill>
                  <a:srgbClr val="3F3F3F"/>
                </a:solidFill>
                <a:latin typeface="Arial"/>
                <a:ea typeface="Microsoft YaHei"/>
                <a:cs typeface="Arial"/>
              </a:rPr>
              <a:t>Late-century maps are illustrations; the effort coefficient used is an upper bound.</a:t>
            </a:r>
          </a:p>
        </p:txBody>
      </p:sp>
      <p:sp>
        <p:nvSpPr>
          <p:cNvPr id="45" name="TextBox 45"/>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46" name="TextBox 46"/>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16</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TextBox 10"/>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1" name="Rectangle 11"/>
          <p:cNvSpPr/>
          <p:nvPr/>
        </p:nvSpPr>
        <p:spPr>
          <a:xfrm>
            <a:off x="10248900" y="0"/>
            <a:ext cx="1866900" cy="609600"/>
          </a:xfrm>
          <a:prstGeom prst="rect">
            <a:avLst/>
          </a:prstGeom>
          <a:solidFill>
            <a:srgbClr val="FFFFFF"/>
          </a:solidFill>
          <a:ln>
            <a:noFill/>
          </a:ln>
        </p:spPr>
      </p:sp>
      <p:sp>
        <p:nvSpPr>
          <p:cNvPr id="12" name="TextBox 12"/>
          <p:cNvSpPr txBox="1"/>
          <p:nvPr/>
        </p:nvSpPr>
        <p:spPr>
          <a:xfrm>
            <a:off x="10287000" y="218122"/>
            <a:ext cx="1790700" cy="242888"/>
          </a:xfrm>
          <a:prstGeom prst="rect">
            <a:avLst/>
          </a:prstGeom>
          <a:noFill/>
          <a:ln>
            <a:noFill/>
          </a:ln>
        </p:spPr>
        <p:txBody>
          <a:bodyPr wrap="square" lIns="0" tIns="0" rIns="0" bIns="0" anchor="t" anchorCtr="0">
            <a:normAutofit/>
          </a:bodyPr>
          <a:lstStyle/>
          <a:p>
            <a:pPr algn="ctr"/>
            <a:r>
              <a:rPr lang="zh-CN" sz="1275" b="1" dirty="0">
                <a:solidFill>
                  <a:srgbClr val="8B0012"/>
                </a:solidFill>
                <a:latin typeface="Arial"/>
                <a:ea typeface="Microsoft YaHei"/>
                <a:cs typeface="Arial"/>
              </a:rPr>
              <a:t>Synthesis</a:t>
            </a:r>
          </a:p>
        </p:txBody>
      </p:sp>
      <p:sp>
        <p:nvSpPr>
          <p:cNvPr id="13" name="Freeform 13"/>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4" name="TextBox 14"/>
          <p:cNvSpPr txBox="1"/>
          <p:nvPr/>
        </p:nvSpPr>
        <p:spPr>
          <a:xfrm>
            <a:off x="738188" y="864394"/>
            <a:ext cx="1185501"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Summary</a:t>
            </a:r>
          </a:p>
        </p:txBody>
      </p:sp>
      <p:sp>
        <p:nvSpPr>
          <p:cNvPr id="15" name="Rectangle 15"/>
          <p:cNvSpPr/>
          <p:nvPr/>
        </p:nvSpPr>
        <p:spPr>
          <a:xfrm>
            <a:off x="2743200" y="762000"/>
            <a:ext cx="8934450" cy="438150"/>
          </a:xfrm>
          <a:prstGeom prst="roundRect">
            <a:avLst>
              <a:gd name="adj" fmla="val 17391"/>
            </a:avLst>
          </a:prstGeom>
          <a:solidFill>
            <a:srgbClr val="F8F2F3"/>
          </a:solidFill>
          <a:ln>
            <a:noFill/>
          </a:ln>
        </p:spPr>
      </p:sp>
      <p:sp>
        <p:nvSpPr>
          <p:cNvPr id="16" name="TextBox 16"/>
          <p:cNvSpPr txBox="1"/>
          <p:nvPr/>
        </p:nvSpPr>
        <p:spPr>
          <a:xfrm>
            <a:off x="2914650" y="885825"/>
            <a:ext cx="6291771" cy="304800"/>
          </a:xfrm>
          <a:prstGeom prst="rect">
            <a:avLst/>
          </a:prstGeom>
          <a:noFill/>
          <a:ln>
            <a:noFill/>
          </a:ln>
        </p:spPr>
        <p:txBody>
          <a:bodyPr wrap="none" lIns="0" tIns="0" rIns="0" bIns="0" anchor="t" anchorCtr="0">
            <a:spAutoFit/>
          </a:bodyPr>
          <a:lstStyle/>
          <a:p>
            <a:pPr algn="l"/>
            <a:r>
              <a:rPr lang="zh-CN" sz="1500" b="1" dirty="0">
                <a:solidFill>
                  <a:srgbClr val="3A0008"/>
                </a:solidFill>
                <a:latin typeface="Arial"/>
                <a:ea typeface="Microsoft YaHei"/>
                <a:cs typeface="Arial"/>
              </a:rPr>
              <a:t>Warming and survey effort leave signals of similar size</a:t>
            </a:r>
          </a:p>
        </p:txBody>
      </p:sp>
      <p:sp>
        <p:nvSpPr>
          <p:cNvPr id="17" name="Rectangle 17"/>
          <p:cNvSpPr/>
          <p:nvPr/>
        </p:nvSpPr>
        <p:spPr>
          <a:xfrm>
            <a:off x="514350" y="1390650"/>
            <a:ext cx="11163300" cy="457200"/>
          </a:xfrm>
          <a:prstGeom prst="roundRect">
            <a:avLst>
              <a:gd name="adj" fmla="val 16667"/>
            </a:avLst>
          </a:prstGeom>
          <a:solidFill>
            <a:srgbClr val="F8F2F3"/>
          </a:solidFill>
          <a:ln>
            <a:noFill/>
          </a:ln>
        </p:spPr>
      </p:sp>
      <p:sp>
        <p:nvSpPr>
          <p:cNvPr id="18" name="TextBox 18"/>
          <p:cNvSpPr txBox="1"/>
          <p:nvPr/>
        </p:nvSpPr>
        <p:spPr>
          <a:xfrm>
            <a:off x="609600" y="1504950"/>
            <a:ext cx="10972800" cy="271462"/>
          </a:xfrm>
          <a:prstGeom prst="rect">
            <a:avLst/>
          </a:prstGeom>
          <a:noFill/>
          <a:ln>
            <a:noFill/>
          </a:ln>
        </p:spPr>
        <p:txBody>
          <a:bodyPr wrap="square" lIns="0" tIns="0" rIns="0" bIns="0" anchor="t" anchorCtr="0">
            <a:normAutofit/>
          </a:bodyPr>
          <a:lstStyle/>
          <a:p>
            <a:pPr algn="ctr"/>
            <a:r>
              <a:rPr lang="zh-CN" sz="1425" b="1" dirty="0">
                <a:solidFill>
                  <a:srgbClr val="68000D"/>
                </a:solidFill>
                <a:latin typeface="Arial"/>
                <a:ea typeface="Microsoft YaHei"/>
                <a:cs typeface="Arial"/>
              </a:rPr>
              <a:t>New records carry a climate signal mixed with an observation signal</a:t>
            </a:r>
          </a:p>
        </p:txBody>
      </p:sp>
      <p:sp>
        <p:nvSpPr>
          <p:cNvPr id="19" name="Rectangle 19"/>
          <p:cNvSpPr/>
          <p:nvPr/>
        </p:nvSpPr>
        <p:spPr>
          <a:xfrm>
            <a:off x="514350" y="2019300"/>
            <a:ext cx="2662238" cy="1866900"/>
          </a:xfrm>
          <a:prstGeom prst="roundRect">
            <a:avLst>
              <a:gd name="adj" fmla="val 5102"/>
            </a:avLst>
          </a:prstGeom>
          <a:solidFill>
            <a:srgbClr val="FFFFFF"/>
          </a:solidFill>
          <a:ln w="17145">
            <a:solidFill>
              <a:srgbClr val="D1552C"/>
            </a:solidFill>
          </a:ln>
        </p:spPr>
      </p:sp>
      <p:sp>
        <p:nvSpPr>
          <p:cNvPr id="20" name="TextBox 20"/>
          <p:cNvSpPr txBox="1"/>
          <p:nvPr/>
        </p:nvSpPr>
        <p:spPr>
          <a:xfrm>
            <a:off x="664845" y="2165032"/>
            <a:ext cx="322896" cy="335280"/>
          </a:xfrm>
          <a:prstGeom prst="rect">
            <a:avLst/>
          </a:prstGeom>
          <a:noFill/>
          <a:ln>
            <a:noFill/>
          </a:ln>
        </p:spPr>
        <p:txBody>
          <a:bodyPr wrap="none" lIns="0" tIns="0" rIns="0" bIns="0" anchor="t" anchorCtr="0">
            <a:spAutoFit/>
          </a:bodyPr>
          <a:lstStyle/>
          <a:p>
            <a:pPr algn="l"/>
            <a:r>
              <a:rPr lang="zh-CN" sz="1650" b="1" dirty="0">
                <a:solidFill>
                  <a:srgbClr val="D1552C"/>
                </a:solidFill>
                <a:latin typeface="Arial"/>
                <a:ea typeface="Microsoft YaHei"/>
                <a:cs typeface="Arial"/>
              </a:rPr>
              <a:t>01</a:t>
            </a:r>
          </a:p>
        </p:txBody>
      </p:sp>
      <p:grpSp>
        <p:nvGrpSpPr>
          <p:cNvPr id="23" name="Group 23"/>
          <p:cNvGrpSpPr/>
          <p:nvPr/>
        </p:nvGrpSpPr>
        <p:grpSpPr>
          <a:xfrm>
            <a:off x="2716697" y="2126456"/>
            <a:ext cx="296741" cy="364627"/>
            <a:chOff x="2716697" y="2126456"/>
            <a:chExt cx="296741" cy="364627"/>
          </a:xfrm>
        </p:grpSpPr>
        <p:sp>
          <p:nvSpPr>
            <p:cNvPr id="21" name="Freeform 21"/>
            <p:cNvSpPr/>
            <p:nvPr/>
          </p:nvSpPr>
          <p:spPr>
            <a:xfrm>
              <a:off x="2731357" y="2138362"/>
              <a:ext cx="180848" cy="333310"/>
            </a:xfrm>
            <a:custGeom>
              <a:avLst/>
              <a:gdLst/>
              <a:ahLst/>
              <a:cxnLst/>
              <a:rect l="l" t="t" r="r" b="b"/>
              <a:pathLst>
                <a:path w="180848" h="333310">
                  <a:moveTo>
                    <a:pt x="138049" y="181570"/>
                  </a:moveTo>
                  <a:lnTo>
                    <a:pt x="138049" y="47625"/>
                  </a:lnTo>
                  <a:cubicBezTo>
                    <a:pt x="138049" y="21322"/>
                    <a:pt x="116726" y="0"/>
                    <a:pt x="90424" y="0"/>
                  </a:cubicBezTo>
                  <a:cubicBezTo>
                    <a:pt x="64121" y="0"/>
                    <a:pt x="42799" y="21322"/>
                    <a:pt x="42799" y="47625"/>
                  </a:cubicBezTo>
                  <a:lnTo>
                    <a:pt x="42799" y="181570"/>
                  </a:lnTo>
                  <a:cubicBezTo>
                    <a:pt x="12915" y="202379"/>
                    <a:pt x="0" y="240180"/>
                    <a:pt x="10905" y="274924"/>
                  </a:cubicBezTo>
                  <a:cubicBezTo>
                    <a:pt x="21810" y="309668"/>
                    <a:pt x="54009" y="333310"/>
                    <a:pt x="90424" y="333310"/>
                  </a:cubicBezTo>
                  <a:cubicBezTo>
                    <a:pt x="126839" y="333310"/>
                    <a:pt x="159038" y="309668"/>
                    <a:pt x="169943" y="274924"/>
                  </a:cubicBezTo>
                  <a:cubicBezTo>
                    <a:pt x="180848" y="240180"/>
                    <a:pt x="167933" y="202379"/>
                    <a:pt x="138049" y="181570"/>
                  </a:cubicBezTo>
                  <a:close/>
                  <a:moveTo>
                    <a:pt x="90424" y="285750"/>
                  </a:moveTo>
                  <a:cubicBezTo>
                    <a:pt x="70697" y="285750"/>
                    <a:pt x="54705" y="269758"/>
                    <a:pt x="54705" y="250031"/>
                  </a:cubicBezTo>
                  <a:cubicBezTo>
                    <a:pt x="54705" y="230304"/>
                    <a:pt x="70697" y="214312"/>
                    <a:pt x="90424" y="214312"/>
                  </a:cubicBezTo>
                  <a:cubicBezTo>
                    <a:pt x="110151" y="214312"/>
                    <a:pt x="126143" y="230304"/>
                    <a:pt x="126143" y="250031"/>
                  </a:cubicBezTo>
                  <a:cubicBezTo>
                    <a:pt x="126143" y="269758"/>
                    <a:pt x="110151" y="285750"/>
                    <a:pt x="90424" y="285750"/>
                  </a:cubicBezTo>
                  <a:close/>
                </a:path>
              </a:pathLst>
            </a:custGeom>
            <a:solidFill>
              <a:srgbClr val="D1552C">
                <a:alpha val="20000"/>
              </a:srgbClr>
            </a:solidFill>
            <a:ln>
              <a:noFill/>
            </a:ln>
          </p:spPr>
        </p:sp>
        <p:sp>
          <p:nvSpPr>
            <p:cNvPr id="22" name="Freeform 22"/>
            <p:cNvSpPr/>
            <p:nvPr/>
          </p:nvSpPr>
          <p:spPr>
            <a:xfrm>
              <a:off x="2716697" y="2126456"/>
              <a:ext cx="296741" cy="364627"/>
            </a:xfrm>
            <a:custGeom>
              <a:avLst/>
              <a:gdLst/>
              <a:ahLst/>
              <a:cxnLst/>
              <a:rect l="l" t="t" r="r" b="b"/>
              <a:pathLst>
                <a:path w="296741" h="364627">
                  <a:moveTo>
                    <a:pt x="190526" y="107960"/>
                  </a:moveTo>
                  <a:cubicBezTo>
                    <a:pt x="186803" y="102547"/>
                    <a:pt x="188168" y="95140"/>
                    <a:pt x="193577" y="91410"/>
                  </a:cubicBezTo>
                  <a:cubicBezTo>
                    <a:pt x="209055" y="80724"/>
                    <a:pt x="233285" y="80724"/>
                    <a:pt x="248763" y="91410"/>
                  </a:cubicBezTo>
                  <a:cubicBezTo>
                    <a:pt x="256204" y="96575"/>
                    <a:pt x="269420" y="96575"/>
                    <a:pt x="276921" y="91410"/>
                  </a:cubicBezTo>
                  <a:cubicBezTo>
                    <a:pt x="282323" y="87978"/>
                    <a:pt x="289472" y="89430"/>
                    <a:pt x="293106" y="94698"/>
                  </a:cubicBezTo>
                  <a:cubicBezTo>
                    <a:pt x="296741" y="99966"/>
                    <a:pt x="295561" y="107164"/>
                    <a:pt x="290435" y="110996"/>
                  </a:cubicBezTo>
                  <a:cubicBezTo>
                    <a:pt x="273588" y="121670"/>
                    <a:pt x="252096" y="121670"/>
                    <a:pt x="235249" y="110996"/>
                  </a:cubicBezTo>
                  <a:cubicBezTo>
                    <a:pt x="227808" y="105832"/>
                    <a:pt x="214592" y="105832"/>
                    <a:pt x="207091" y="110996"/>
                  </a:cubicBezTo>
                  <a:cubicBezTo>
                    <a:pt x="204492" y="112790"/>
                    <a:pt x="201286" y="113479"/>
                    <a:pt x="198180" y="112909"/>
                  </a:cubicBezTo>
                  <a:cubicBezTo>
                    <a:pt x="195073" y="112340"/>
                    <a:pt x="192320" y="110560"/>
                    <a:pt x="190526" y="107960"/>
                  </a:cubicBezTo>
                  <a:close/>
                  <a:moveTo>
                    <a:pt x="276921" y="139035"/>
                  </a:moveTo>
                  <a:cubicBezTo>
                    <a:pt x="269480" y="144200"/>
                    <a:pt x="256264" y="144200"/>
                    <a:pt x="248763" y="139035"/>
                  </a:cubicBezTo>
                  <a:cubicBezTo>
                    <a:pt x="233285" y="128349"/>
                    <a:pt x="209055" y="128349"/>
                    <a:pt x="193577" y="139035"/>
                  </a:cubicBezTo>
                  <a:cubicBezTo>
                    <a:pt x="189896" y="141374"/>
                    <a:pt x="187788" y="145539"/>
                    <a:pt x="188084" y="149890"/>
                  </a:cubicBezTo>
                  <a:cubicBezTo>
                    <a:pt x="188379" y="154242"/>
                    <a:pt x="191029" y="158083"/>
                    <a:pt x="194993" y="159904"/>
                  </a:cubicBezTo>
                  <a:cubicBezTo>
                    <a:pt x="198956" y="161724"/>
                    <a:pt x="203597" y="161232"/>
                    <a:pt x="207091" y="158621"/>
                  </a:cubicBezTo>
                  <a:cubicBezTo>
                    <a:pt x="214532" y="153457"/>
                    <a:pt x="227748" y="153457"/>
                    <a:pt x="235249" y="158621"/>
                  </a:cubicBezTo>
                  <a:cubicBezTo>
                    <a:pt x="252096" y="169295"/>
                    <a:pt x="273588" y="169295"/>
                    <a:pt x="290435" y="158621"/>
                  </a:cubicBezTo>
                  <a:cubicBezTo>
                    <a:pt x="295561" y="154789"/>
                    <a:pt x="296741" y="147591"/>
                    <a:pt x="293106" y="142323"/>
                  </a:cubicBezTo>
                  <a:cubicBezTo>
                    <a:pt x="289472" y="137055"/>
                    <a:pt x="282323" y="135603"/>
                    <a:pt x="276921" y="139035"/>
                  </a:cubicBezTo>
                  <a:close/>
                  <a:moveTo>
                    <a:pt x="152709" y="261938"/>
                  </a:moveTo>
                  <a:cubicBezTo>
                    <a:pt x="152697" y="286684"/>
                    <a:pt x="133734" y="307297"/>
                    <a:pt x="109075" y="309371"/>
                  </a:cubicBezTo>
                  <a:cubicBezTo>
                    <a:pt x="84415" y="311445"/>
                    <a:pt x="62277" y="294287"/>
                    <a:pt x="58132" y="269890"/>
                  </a:cubicBezTo>
                  <a:cubicBezTo>
                    <a:pt x="53987" y="245494"/>
                    <a:pt x="69217" y="221987"/>
                    <a:pt x="93178" y="215801"/>
                  </a:cubicBezTo>
                  <a:lnTo>
                    <a:pt x="93178" y="59531"/>
                  </a:lnTo>
                  <a:cubicBezTo>
                    <a:pt x="93178" y="52956"/>
                    <a:pt x="98508" y="47625"/>
                    <a:pt x="105084" y="47625"/>
                  </a:cubicBezTo>
                  <a:cubicBezTo>
                    <a:pt x="111660" y="47625"/>
                    <a:pt x="116990" y="52956"/>
                    <a:pt x="116990" y="59531"/>
                  </a:cubicBezTo>
                  <a:lnTo>
                    <a:pt x="116990" y="215801"/>
                  </a:lnTo>
                  <a:cubicBezTo>
                    <a:pt x="138008" y="221260"/>
                    <a:pt x="152689" y="240222"/>
                    <a:pt x="152709" y="261938"/>
                  </a:cubicBezTo>
                  <a:close/>
                  <a:moveTo>
                    <a:pt x="128897" y="261938"/>
                  </a:moveTo>
                  <a:cubicBezTo>
                    <a:pt x="128897" y="248786"/>
                    <a:pt x="118235" y="238125"/>
                    <a:pt x="105084" y="238125"/>
                  </a:cubicBezTo>
                  <a:cubicBezTo>
                    <a:pt x="91933" y="238125"/>
                    <a:pt x="81272" y="248786"/>
                    <a:pt x="81272" y="261938"/>
                  </a:cubicBezTo>
                  <a:cubicBezTo>
                    <a:pt x="81272" y="275089"/>
                    <a:pt x="91933" y="285750"/>
                    <a:pt x="105084" y="285750"/>
                  </a:cubicBezTo>
                  <a:cubicBezTo>
                    <a:pt x="118235" y="285750"/>
                    <a:pt x="128897" y="275089"/>
                    <a:pt x="128897" y="261938"/>
                  </a:cubicBezTo>
                  <a:close/>
                  <a:moveTo>
                    <a:pt x="200334" y="261938"/>
                  </a:moveTo>
                  <a:cubicBezTo>
                    <a:pt x="200306" y="306346"/>
                    <a:pt x="169593" y="344843"/>
                    <a:pt x="126300" y="354735"/>
                  </a:cubicBezTo>
                  <a:cubicBezTo>
                    <a:pt x="83007" y="364627"/>
                    <a:pt x="38623" y="343288"/>
                    <a:pt x="19311" y="303298"/>
                  </a:cubicBezTo>
                  <a:cubicBezTo>
                    <a:pt x="0" y="263308"/>
                    <a:pt x="10886" y="215279"/>
                    <a:pt x="45553" y="187523"/>
                  </a:cubicBezTo>
                  <a:lnTo>
                    <a:pt x="45553" y="59531"/>
                  </a:lnTo>
                  <a:cubicBezTo>
                    <a:pt x="45553" y="26653"/>
                    <a:pt x="72206" y="0"/>
                    <a:pt x="105084" y="0"/>
                  </a:cubicBezTo>
                  <a:cubicBezTo>
                    <a:pt x="137962" y="0"/>
                    <a:pt x="164615" y="26653"/>
                    <a:pt x="164615" y="59531"/>
                  </a:cubicBezTo>
                  <a:lnTo>
                    <a:pt x="164615" y="187523"/>
                  </a:lnTo>
                  <a:cubicBezTo>
                    <a:pt x="187195" y="205624"/>
                    <a:pt x="200335" y="232998"/>
                    <a:pt x="200334" y="261938"/>
                  </a:cubicBezTo>
                  <a:close/>
                  <a:moveTo>
                    <a:pt x="176522" y="261938"/>
                  </a:moveTo>
                  <a:cubicBezTo>
                    <a:pt x="176503" y="238562"/>
                    <a:pt x="165067" y="216669"/>
                    <a:pt x="145893" y="203299"/>
                  </a:cubicBezTo>
                  <a:cubicBezTo>
                    <a:pt x="142686" y="201060"/>
                    <a:pt x="140783" y="197388"/>
                    <a:pt x="140803" y="193477"/>
                  </a:cubicBezTo>
                  <a:lnTo>
                    <a:pt x="140803" y="59531"/>
                  </a:lnTo>
                  <a:cubicBezTo>
                    <a:pt x="140803" y="39804"/>
                    <a:pt x="124811" y="23812"/>
                    <a:pt x="105084" y="23812"/>
                  </a:cubicBezTo>
                  <a:cubicBezTo>
                    <a:pt x="85357" y="23812"/>
                    <a:pt x="69365" y="39804"/>
                    <a:pt x="69365" y="59531"/>
                  </a:cubicBezTo>
                  <a:lnTo>
                    <a:pt x="69365" y="193477"/>
                  </a:lnTo>
                  <a:cubicBezTo>
                    <a:pt x="69366" y="197367"/>
                    <a:pt x="67465" y="201012"/>
                    <a:pt x="64275" y="203240"/>
                  </a:cubicBezTo>
                  <a:cubicBezTo>
                    <a:pt x="36448" y="222607"/>
                    <a:pt x="26067" y="258865"/>
                    <a:pt x="39427" y="290025"/>
                  </a:cubicBezTo>
                  <a:cubicBezTo>
                    <a:pt x="52787" y="321185"/>
                    <a:pt x="86209" y="338662"/>
                    <a:pt x="119422" y="331858"/>
                  </a:cubicBezTo>
                  <a:cubicBezTo>
                    <a:pt x="152636" y="325053"/>
                    <a:pt x="176491" y="295841"/>
                    <a:pt x="176522" y="261938"/>
                  </a:cubicBezTo>
                  <a:close/>
                </a:path>
              </a:pathLst>
            </a:custGeom>
            <a:solidFill>
              <a:srgbClr val="D1552C"/>
            </a:solidFill>
            <a:ln>
              <a:noFill/>
            </a:ln>
          </p:spPr>
        </p:sp>
      </p:grpSp>
      <p:sp>
        <p:nvSpPr>
          <p:cNvPr id="24" name="Line 24"/>
          <p:cNvSpPr/>
          <p:nvPr/>
        </p:nvSpPr>
        <p:spPr>
          <a:xfrm>
            <a:off x="685800" y="2495550"/>
            <a:ext cx="2319338" cy="9525"/>
          </a:xfrm>
          <a:custGeom>
            <a:avLst/>
            <a:gdLst/>
            <a:ahLst/>
            <a:cxnLst/>
            <a:rect l="l" t="t" r="r" b="b"/>
            <a:pathLst>
              <a:path w="2319338" h="9525">
                <a:moveTo>
                  <a:pt x="0" y="0"/>
                </a:moveTo>
                <a:lnTo>
                  <a:pt x="2319338" y="0"/>
                </a:lnTo>
              </a:path>
            </a:pathLst>
          </a:custGeom>
          <a:noFill/>
          <a:ln w="11430">
            <a:solidFill>
              <a:srgbClr val="EDBBAB"/>
            </a:solidFill>
          </a:ln>
        </p:spPr>
      </p:sp>
      <p:sp>
        <p:nvSpPr>
          <p:cNvPr id="25" name="TextBox 25"/>
          <p:cNvSpPr txBox="1"/>
          <p:nvPr/>
        </p:nvSpPr>
        <p:spPr>
          <a:xfrm>
            <a:off x="667702" y="2627471"/>
            <a:ext cx="1465738" cy="289560"/>
          </a:xfrm>
          <a:prstGeom prst="rect">
            <a:avLst/>
          </a:prstGeom>
          <a:noFill/>
          <a:ln>
            <a:noFill/>
          </a:ln>
        </p:spPr>
        <p:txBody>
          <a:bodyPr wrap="none" lIns="0" tIns="0" rIns="0" bIns="0" anchor="t" anchorCtr="0">
            <a:spAutoFit/>
          </a:bodyPr>
          <a:lstStyle/>
          <a:p>
            <a:pPr algn="l"/>
            <a:r>
              <a:rPr lang="zh-CN" sz="1425" b="1" dirty="0">
                <a:solidFill>
                  <a:srgbClr val="111111"/>
                </a:solidFill>
                <a:latin typeface="Arial"/>
                <a:ea typeface="Microsoft YaHei"/>
                <a:cs typeface="Arial"/>
              </a:rPr>
              <a:t>Climate signal</a:t>
            </a:r>
          </a:p>
        </p:txBody>
      </p:sp>
      <p:sp>
        <p:nvSpPr>
          <p:cNvPr id="26" name="TextBox 26"/>
          <p:cNvSpPr txBox="1"/>
          <p:nvPr/>
        </p:nvSpPr>
        <p:spPr>
          <a:xfrm>
            <a:off x="670560" y="2975610"/>
            <a:ext cx="1365961"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Warming 1.36 vs</a:t>
            </a:r>
          </a:p>
        </p:txBody>
      </p:sp>
      <p:sp>
        <p:nvSpPr>
          <p:cNvPr id="27" name="TextBox 27"/>
          <p:cNvSpPr txBox="1"/>
          <p:nvPr/>
        </p:nvSpPr>
        <p:spPr>
          <a:xfrm>
            <a:off x="670560" y="3213735"/>
            <a:ext cx="1665656"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effort 1.40 per SD:</a:t>
            </a:r>
          </a:p>
        </p:txBody>
      </p:sp>
      <p:sp>
        <p:nvSpPr>
          <p:cNvPr id="28" name="TextBox 28"/>
          <p:cNvSpPr txBox="1"/>
          <p:nvPr/>
        </p:nvSpPr>
        <p:spPr>
          <a:xfrm>
            <a:off x="670560" y="3451860"/>
            <a:ext cx="1902257"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comparable, separable</a:t>
            </a:r>
          </a:p>
        </p:txBody>
      </p:sp>
      <p:sp>
        <p:nvSpPr>
          <p:cNvPr id="29" name="Rectangle 29"/>
          <p:cNvSpPr/>
          <p:nvPr/>
        </p:nvSpPr>
        <p:spPr>
          <a:xfrm>
            <a:off x="3348038" y="2019300"/>
            <a:ext cx="2662238" cy="1866900"/>
          </a:xfrm>
          <a:prstGeom prst="roundRect">
            <a:avLst>
              <a:gd name="adj" fmla="val 5102"/>
            </a:avLst>
          </a:prstGeom>
          <a:solidFill>
            <a:srgbClr val="FFFFFF"/>
          </a:solidFill>
          <a:ln w="17145">
            <a:solidFill>
              <a:srgbClr val="1F5F9E"/>
            </a:solidFill>
          </a:ln>
        </p:spPr>
      </p:sp>
      <p:sp>
        <p:nvSpPr>
          <p:cNvPr id="30" name="TextBox 30"/>
          <p:cNvSpPr txBox="1"/>
          <p:nvPr/>
        </p:nvSpPr>
        <p:spPr>
          <a:xfrm>
            <a:off x="3498532" y="2165032"/>
            <a:ext cx="322896" cy="335280"/>
          </a:xfrm>
          <a:prstGeom prst="rect">
            <a:avLst/>
          </a:prstGeom>
          <a:noFill/>
          <a:ln>
            <a:noFill/>
          </a:ln>
        </p:spPr>
        <p:txBody>
          <a:bodyPr wrap="none" lIns="0" tIns="0" rIns="0" bIns="0" anchor="t" anchorCtr="0">
            <a:spAutoFit/>
          </a:bodyPr>
          <a:lstStyle/>
          <a:p>
            <a:pPr algn="l"/>
            <a:r>
              <a:rPr lang="zh-CN" sz="1650" b="1" dirty="0">
                <a:solidFill>
                  <a:srgbClr val="1F5F9E"/>
                </a:solidFill>
                <a:latin typeface="Arial"/>
                <a:ea typeface="Microsoft YaHei"/>
                <a:cs typeface="Arial"/>
              </a:rPr>
              <a:t>02</a:t>
            </a:r>
          </a:p>
        </p:txBody>
      </p:sp>
      <p:grpSp>
        <p:nvGrpSpPr>
          <p:cNvPr id="33" name="Group 33"/>
          <p:cNvGrpSpPr/>
          <p:nvPr/>
        </p:nvGrpSpPr>
        <p:grpSpPr>
          <a:xfrm>
            <a:off x="5495274" y="2174029"/>
            <a:ext cx="344202" cy="267455"/>
            <a:chOff x="5495274" y="2174029"/>
            <a:chExt cx="344202" cy="267455"/>
          </a:xfrm>
        </p:grpSpPr>
        <p:sp>
          <p:nvSpPr>
            <p:cNvPr id="31" name="Freeform 31"/>
            <p:cNvSpPr/>
            <p:nvPr/>
          </p:nvSpPr>
          <p:spPr>
            <a:xfrm>
              <a:off x="5512594" y="2305050"/>
              <a:ext cx="309562" cy="119062"/>
            </a:xfrm>
            <a:custGeom>
              <a:avLst/>
              <a:gdLst/>
              <a:ahLst/>
              <a:cxnLst/>
              <a:rect l="l" t="t" r="r" b="b"/>
              <a:pathLst>
                <a:path w="309562" h="119062">
                  <a:moveTo>
                    <a:pt x="119062" y="59531"/>
                  </a:moveTo>
                  <a:cubicBezTo>
                    <a:pt x="119062" y="92409"/>
                    <a:pt x="92409" y="119062"/>
                    <a:pt x="59531" y="119062"/>
                  </a:cubicBezTo>
                  <a:cubicBezTo>
                    <a:pt x="26653" y="119062"/>
                    <a:pt x="0" y="92409"/>
                    <a:pt x="0" y="59531"/>
                  </a:cubicBezTo>
                  <a:cubicBezTo>
                    <a:pt x="0" y="26653"/>
                    <a:pt x="26653" y="0"/>
                    <a:pt x="59531" y="0"/>
                  </a:cubicBezTo>
                  <a:cubicBezTo>
                    <a:pt x="92409" y="0"/>
                    <a:pt x="119062" y="26653"/>
                    <a:pt x="119062" y="59531"/>
                  </a:cubicBezTo>
                  <a:close/>
                  <a:moveTo>
                    <a:pt x="250031" y="0"/>
                  </a:moveTo>
                  <a:cubicBezTo>
                    <a:pt x="217153" y="0"/>
                    <a:pt x="190500" y="26653"/>
                    <a:pt x="190500" y="59531"/>
                  </a:cubicBezTo>
                  <a:cubicBezTo>
                    <a:pt x="190500" y="92409"/>
                    <a:pt x="217153" y="119062"/>
                    <a:pt x="250031" y="119062"/>
                  </a:cubicBezTo>
                  <a:cubicBezTo>
                    <a:pt x="282909" y="119062"/>
                    <a:pt x="309562" y="92409"/>
                    <a:pt x="309562" y="59531"/>
                  </a:cubicBezTo>
                  <a:cubicBezTo>
                    <a:pt x="309562" y="26653"/>
                    <a:pt x="282909" y="0"/>
                    <a:pt x="250031" y="0"/>
                  </a:cubicBezTo>
                  <a:close/>
                </a:path>
              </a:pathLst>
            </a:custGeom>
            <a:solidFill>
              <a:srgbClr val="1F5F9E">
                <a:alpha val="20000"/>
              </a:srgbClr>
            </a:solidFill>
            <a:ln>
              <a:noFill/>
            </a:ln>
          </p:spPr>
        </p:sp>
        <p:sp>
          <p:nvSpPr>
            <p:cNvPr id="32" name="Freeform 32"/>
            <p:cNvSpPr/>
            <p:nvPr/>
          </p:nvSpPr>
          <p:spPr>
            <a:xfrm>
              <a:off x="5495274" y="2174029"/>
              <a:ext cx="344202" cy="267455"/>
            </a:xfrm>
            <a:custGeom>
              <a:avLst/>
              <a:gdLst/>
              <a:ahLst/>
              <a:cxnLst/>
              <a:rect l="l" t="t" r="r" b="b"/>
              <a:pathLst>
                <a:path w="344202" h="267455">
                  <a:moveTo>
                    <a:pt x="334621" y="166546"/>
                  </a:moveTo>
                  <a:lnTo>
                    <a:pt x="334621" y="166546"/>
                  </a:lnTo>
                  <a:cubicBezTo>
                    <a:pt x="333627" y="163772"/>
                    <a:pt x="332459" y="161063"/>
                    <a:pt x="331123" y="158435"/>
                  </a:cubicBezTo>
                  <a:lnTo>
                    <a:pt x="269226" y="17614"/>
                  </a:lnTo>
                  <a:cubicBezTo>
                    <a:pt x="268640" y="16258"/>
                    <a:pt x="267802" y="15025"/>
                    <a:pt x="266755" y="13983"/>
                  </a:cubicBezTo>
                  <a:cubicBezTo>
                    <a:pt x="257824" y="5049"/>
                    <a:pt x="245708" y="30"/>
                    <a:pt x="233075" y="30"/>
                  </a:cubicBezTo>
                  <a:cubicBezTo>
                    <a:pt x="220443" y="30"/>
                    <a:pt x="208327" y="5049"/>
                    <a:pt x="199396" y="13983"/>
                  </a:cubicBezTo>
                  <a:cubicBezTo>
                    <a:pt x="197171" y="16210"/>
                    <a:pt x="195919" y="19228"/>
                    <a:pt x="195913" y="22377"/>
                  </a:cubicBezTo>
                  <a:lnTo>
                    <a:pt x="195913" y="59584"/>
                  </a:lnTo>
                  <a:lnTo>
                    <a:pt x="148288" y="59584"/>
                  </a:lnTo>
                  <a:lnTo>
                    <a:pt x="148288" y="22377"/>
                  </a:lnTo>
                  <a:cubicBezTo>
                    <a:pt x="148291" y="19218"/>
                    <a:pt x="147038" y="16188"/>
                    <a:pt x="144806" y="13953"/>
                  </a:cubicBezTo>
                  <a:cubicBezTo>
                    <a:pt x="135874" y="5019"/>
                    <a:pt x="123759" y="0"/>
                    <a:pt x="111126" y="0"/>
                  </a:cubicBezTo>
                  <a:cubicBezTo>
                    <a:pt x="98493" y="0"/>
                    <a:pt x="86378" y="5019"/>
                    <a:pt x="77446" y="13953"/>
                  </a:cubicBezTo>
                  <a:cubicBezTo>
                    <a:pt x="76399" y="14996"/>
                    <a:pt x="75561" y="16228"/>
                    <a:pt x="74975" y="17584"/>
                  </a:cubicBezTo>
                  <a:lnTo>
                    <a:pt x="13078" y="158405"/>
                  </a:lnTo>
                  <a:cubicBezTo>
                    <a:pt x="11743" y="161033"/>
                    <a:pt x="10574" y="163742"/>
                    <a:pt x="9580" y="166517"/>
                  </a:cubicBezTo>
                  <a:lnTo>
                    <a:pt x="9580" y="166517"/>
                  </a:lnTo>
                  <a:cubicBezTo>
                    <a:pt x="0" y="193322"/>
                    <a:pt x="7249" y="223258"/>
                    <a:pt x="28031" y="242712"/>
                  </a:cubicBezTo>
                  <a:cubicBezTo>
                    <a:pt x="48813" y="262165"/>
                    <a:pt x="79161" y="267424"/>
                    <a:pt x="105277" y="256097"/>
                  </a:cubicBezTo>
                  <a:cubicBezTo>
                    <a:pt x="131392" y="244770"/>
                    <a:pt x="148291" y="219019"/>
                    <a:pt x="148288" y="190552"/>
                  </a:cubicBezTo>
                  <a:lnTo>
                    <a:pt x="148288" y="83396"/>
                  </a:lnTo>
                  <a:lnTo>
                    <a:pt x="195913" y="83396"/>
                  </a:lnTo>
                  <a:lnTo>
                    <a:pt x="195913" y="190552"/>
                  </a:lnTo>
                  <a:cubicBezTo>
                    <a:pt x="195899" y="219022"/>
                    <a:pt x="212791" y="244783"/>
                    <a:pt x="238906" y="256119"/>
                  </a:cubicBezTo>
                  <a:cubicBezTo>
                    <a:pt x="265022" y="267455"/>
                    <a:pt x="295376" y="262202"/>
                    <a:pt x="316163" y="242748"/>
                  </a:cubicBezTo>
                  <a:cubicBezTo>
                    <a:pt x="336951" y="223295"/>
                    <a:pt x="344202" y="193356"/>
                    <a:pt x="334621" y="166546"/>
                  </a:cubicBezTo>
                  <a:close/>
                  <a:moveTo>
                    <a:pt x="95767" y="29446"/>
                  </a:moveTo>
                  <a:cubicBezTo>
                    <a:pt x="103924" y="22578"/>
                    <a:pt x="115652" y="21970"/>
                    <a:pt x="124476" y="27958"/>
                  </a:cubicBezTo>
                  <a:lnTo>
                    <a:pt x="124476" y="137361"/>
                  </a:lnTo>
                  <a:cubicBezTo>
                    <a:pt x="105557" y="120374"/>
                    <a:pt x="79023" y="114748"/>
                    <a:pt x="54839" y="122597"/>
                  </a:cubicBezTo>
                  <a:close/>
                  <a:moveTo>
                    <a:pt x="76851" y="238177"/>
                  </a:moveTo>
                  <a:cubicBezTo>
                    <a:pt x="50548" y="238177"/>
                    <a:pt x="29226" y="216855"/>
                    <a:pt x="29226" y="190552"/>
                  </a:cubicBezTo>
                  <a:cubicBezTo>
                    <a:pt x="29226" y="164250"/>
                    <a:pt x="50548" y="142927"/>
                    <a:pt x="76851" y="142927"/>
                  </a:cubicBezTo>
                  <a:cubicBezTo>
                    <a:pt x="103153" y="142927"/>
                    <a:pt x="124476" y="164250"/>
                    <a:pt x="124476" y="190552"/>
                  </a:cubicBezTo>
                  <a:cubicBezTo>
                    <a:pt x="124476" y="216855"/>
                    <a:pt x="103153" y="238177"/>
                    <a:pt x="76851" y="238177"/>
                  </a:cubicBezTo>
                  <a:close/>
                  <a:moveTo>
                    <a:pt x="219726" y="27943"/>
                  </a:moveTo>
                  <a:cubicBezTo>
                    <a:pt x="228549" y="21955"/>
                    <a:pt x="240278" y="22563"/>
                    <a:pt x="248435" y="29431"/>
                  </a:cubicBezTo>
                  <a:lnTo>
                    <a:pt x="289362" y="122568"/>
                  </a:lnTo>
                  <a:cubicBezTo>
                    <a:pt x="265176" y="114722"/>
                    <a:pt x="238641" y="120354"/>
                    <a:pt x="219726" y="137346"/>
                  </a:cubicBezTo>
                  <a:close/>
                  <a:moveTo>
                    <a:pt x="267351" y="238177"/>
                  </a:moveTo>
                  <a:cubicBezTo>
                    <a:pt x="241048" y="238177"/>
                    <a:pt x="219726" y="216855"/>
                    <a:pt x="219726" y="190552"/>
                  </a:cubicBezTo>
                  <a:cubicBezTo>
                    <a:pt x="219726" y="164250"/>
                    <a:pt x="241048" y="142927"/>
                    <a:pt x="267351" y="142927"/>
                  </a:cubicBezTo>
                  <a:cubicBezTo>
                    <a:pt x="293653" y="142927"/>
                    <a:pt x="314976" y="164250"/>
                    <a:pt x="314976" y="190552"/>
                  </a:cubicBezTo>
                  <a:cubicBezTo>
                    <a:pt x="314976" y="216855"/>
                    <a:pt x="293653" y="238177"/>
                    <a:pt x="267351" y="238177"/>
                  </a:cubicBezTo>
                  <a:close/>
                </a:path>
              </a:pathLst>
            </a:custGeom>
            <a:solidFill>
              <a:srgbClr val="1F5F9E"/>
            </a:solidFill>
            <a:ln>
              <a:noFill/>
            </a:ln>
          </p:spPr>
        </p:sp>
      </p:grpSp>
      <p:sp>
        <p:nvSpPr>
          <p:cNvPr id="34" name="Line 34"/>
          <p:cNvSpPr/>
          <p:nvPr/>
        </p:nvSpPr>
        <p:spPr>
          <a:xfrm>
            <a:off x="3519488" y="2495550"/>
            <a:ext cx="2319338" cy="9525"/>
          </a:xfrm>
          <a:custGeom>
            <a:avLst/>
            <a:gdLst/>
            <a:ahLst/>
            <a:cxnLst/>
            <a:rect l="l" t="t" r="r" b="b"/>
            <a:pathLst>
              <a:path w="2319338" h="9525">
                <a:moveTo>
                  <a:pt x="0" y="0"/>
                </a:moveTo>
                <a:lnTo>
                  <a:pt x="2319338" y="0"/>
                </a:lnTo>
              </a:path>
            </a:pathLst>
          </a:custGeom>
          <a:noFill/>
          <a:ln w="11430">
            <a:solidFill>
              <a:srgbClr val="A5BFD8"/>
            </a:solidFill>
          </a:ln>
        </p:spPr>
      </p:sp>
      <p:sp>
        <p:nvSpPr>
          <p:cNvPr id="35" name="TextBox 35"/>
          <p:cNvSpPr txBox="1"/>
          <p:nvPr/>
        </p:nvSpPr>
        <p:spPr>
          <a:xfrm>
            <a:off x="3501390" y="2627471"/>
            <a:ext cx="1662080" cy="289560"/>
          </a:xfrm>
          <a:prstGeom prst="rect">
            <a:avLst/>
          </a:prstGeom>
          <a:noFill/>
          <a:ln>
            <a:noFill/>
          </a:ln>
        </p:spPr>
        <p:txBody>
          <a:bodyPr wrap="none" lIns="0" tIns="0" rIns="0" bIns="0" anchor="t" anchorCtr="0">
            <a:spAutoFit/>
          </a:bodyPr>
          <a:lstStyle/>
          <a:p>
            <a:pPr algn="l"/>
            <a:r>
              <a:rPr lang="zh-CN" sz="1425" b="1" dirty="0">
                <a:solidFill>
                  <a:srgbClr val="111111"/>
                </a:solidFill>
                <a:latin typeface="Arial"/>
                <a:ea typeface="Microsoft YaHei"/>
                <a:cs typeface="Arial"/>
              </a:rPr>
              <a:t>Where few look</a:t>
            </a:r>
          </a:p>
        </p:txBody>
      </p:sp>
      <p:sp>
        <p:nvSpPr>
          <p:cNvPr id="36" name="TextBox 36"/>
          <p:cNvSpPr txBox="1"/>
          <p:nvPr/>
        </p:nvSpPr>
        <p:spPr>
          <a:xfrm>
            <a:off x="3504248" y="2975610"/>
            <a:ext cx="2038960"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Warming × effort 0.85:</a:t>
            </a:r>
          </a:p>
        </p:txBody>
      </p:sp>
      <p:sp>
        <p:nvSpPr>
          <p:cNvPr id="37" name="TextBox 37"/>
          <p:cNvSpPr txBox="1"/>
          <p:nvPr/>
        </p:nvSpPr>
        <p:spPr>
          <a:xfrm>
            <a:off x="3504248" y="3213735"/>
            <a:ext cx="2098548"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under-surveyed regions</a:t>
            </a:r>
          </a:p>
        </p:txBody>
      </p:sp>
      <p:sp>
        <p:nvSpPr>
          <p:cNvPr id="38" name="TextBox 38"/>
          <p:cNvSpPr txBox="1"/>
          <p:nvPr/>
        </p:nvSpPr>
        <p:spPr>
          <a:xfrm>
            <a:off x="3504248" y="3451860"/>
            <a:ext cx="1271321"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hide the signal</a:t>
            </a:r>
          </a:p>
        </p:txBody>
      </p:sp>
      <p:sp>
        <p:nvSpPr>
          <p:cNvPr id="39" name="Rectangle 39"/>
          <p:cNvSpPr/>
          <p:nvPr/>
        </p:nvSpPr>
        <p:spPr>
          <a:xfrm>
            <a:off x="6181725" y="2019300"/>
            <a:ext cx="2662238" cy="1866900"/>
          </a:xfrm>
          <a:prstGeom prst="roundRect">
            <a:avLst>
              <a:gd name="adj" fmla="val 5102"/>
            </a:avLst>
          </a:prstGeom>
          <a:solidFill>
            <a:srgbClr val="FFFFFF"/>
          </a:solidFill>
          <a:ln w="17145">
            <a:solidFill>
              <a:srgbClr val="2A9D8F"/>
            </a:solidFill>
          </a:ln>
        </p:spPr>
      </p:sp>
      <p:sp>
        <p:nvSpPr>
          <p:cNvPr id="40" name="TextBox 40"/>
          <p:cNvSpPr txBox="1"/>
          <p:nvPr/>
        </p:nvSpPr>
        <p:spPr>
          <a:xfrm>
            <a:off x="6332220" y="2165032"/>
            <a:ext cx="322896" cy="335280"/>
          </a:xfrm>
          <a:prstGeom prst="rect">
            <a:avLst/>
          </a:prstGeom>
          <a:noFill/>
          <a:ln>
            <a:noFill/>
          </a:ln>
        </p:spPr>
        <p:txBody>
          <a:bodyPr wrap="none" lIns="0" tIns="0" rIns="0" bIns="0" anchor="t" anchorCtr="0">
            <a:spAutoFit/>
          </a:bodyPr>
          <a:lstStyle/>
          <a:p>
            <a:pPr algn="l"/>
            <a:r>
              <a:rPr lang="zh-CN" sz="1650" b="1" dirty="0">
                <a:solidFill>
                  <a:srgbClr val="2A9D8F"/>
                </a:solidFill>
                <a:latin typeface="Arial"/>
                <a:ea typeface="Microsoft YaHei"/>
                <a:cs typeface="Arial"/>
              </a:rPr>
              <a:t>03</a:t>
            </a:r>
          </a:p>
        </p:txBody>
      </p:sp>
      <p:grpSp>
        <p:nvGrpSpPr>
          <p:cNvPr id="43" name="Group 43"/>
          <p:cNvGrpSpPr/>
          <p:nvPr/>
        </p:nvGrpSpPr>
        <p:grpSpPr>
          <a:xfrm>
            <a:off x="8320901" y="2184190"/>
            <a:ext cx="359123" cy="264227"/>
            <a:chOff x="8320901" y="2184190"/>
            <a:chExt cx="359123" cy="264227"/>
          </a:xfrm>
        </p:grpSpPr>
        <p:sp>
          <p:nvSpPr>
            <p:cNvPr id="41" name="Freeform 41"/>
            <p:cNvSpPr/>
            <p:nvPr/>
          </p:nvSpPr>
          <p:spPr>
            <a:xfrm>
              <a:off x="8358188" y="2197894"/>
              <a:ext cx="285750" cy="190500"/>
            </a:xfrm>
            <a:custGeom>
              <a:avLst/>
              <a:gdLst/>
              <a:ahLst/>
              <a:cxnLst/>
              <a:rect l="l" t="t" r="r" b="b"/>
              <a:pathLst>
                <a:path w="285750" h="190500">
                  <a:moveTo>
                    <a:pt x="202406" y="130969"/>
                  </a:moveTo>
                  <a:cubicBezTo>
                    <a:pt x="202406" y="163847"/>
                    <a:pt x="175753" y="190500"/>
                    <a:pt x="142875" y="190500"/>
                  </a:cubicBezTo>
                  <a:cubicBezTo>
                    <a:pt x="109997" y="190500"/>
                    <a:pt x="83344" y="163847"/>
                    <a:pt x="83344" y="130969"/>
                  </a:cubicBezTo>
                  <a:cubicBezTo>
                    <a:pt x="83344" y="98091"/>
                    <a:pt x="109997" y="71438"/>
                    <a:pt x="142875" y="71438"/>
                  </a:cubicBezTo>
                  <a:cubicBezTo>
                    <a:pt x="175753" y="71438"/>
                    <a:pt x="202406" y="98091"/>
                    <a:pt x="202406" y="130969"/>
                  </a:cubicBezTo>
                  <a:close/>
                  <a:moveTo>
                    <a:pt x="47625" y="0"/>
                  </a:moveTo>
                  <a:cubicBezTo>
                    <a:pt x="21322" y="0"/>
                    <a:pt x="0" y="21322"/>
                    <a:pt x="0" y="47625"/>
                  </a:cubicBezTo>
                  <a:cubicBezTo>
                    <a:pt x="0" y="73928"/>
                    <a:pt x="21322" y="95250"/>
                    <a:pt x="47625" y="95250"/>
                  </a:cubicBezTo>
                  <a:cubicBezTo>
                    <a:pt x="73928" y="95250"/>
                    <a:pt x="95250" y="73928"/>
                    <a:pt x="95250" y="47625"/>
                  </a:cubicBezTo>
                  <a:cubicBezTo>
                    <a:pt x="95250" y="21322"/>
                    <a:pt x="73928" y="0"/>
                    <a:pt x="47625" y="0"/>
                  </a:cubicBezTo>
                  <a:close/>
                  <a:moveTo>
                    <a:pt x="238125" y="0"/>
                  </a:moveTo>
                  <a:cubicBezTo>
                    <a:pt x="211822" y="0"/>
                    <a:pt x="190500" y="21322"/>
                    <a:pt x="190500" y="47625"/>
                  </a:cubicBezTo>
                  <a:cubicBezTo>
                    <a:pt x="190500" y="73928"/>
                    <a:pt x="211822" y="95250"/>
                    <a:pt x="238125" y="95250"/>
                  </a:cubicBezTo>
                  <a:cubicBezTo>
                    <a:pt x="264428" y="95250"/>
                    <a:pt x="285750" y="73928"/>
                    <a:pt x="285750" y="47625"/>
                  </a:cubicBezTo>
                  <a:cubicBezTo>
                    <a:pt x="285750" y="21322"/>
                    <a:pt x="264428" y="0"/>
                    <a:pt x="238125" y="0"/>
                  </a:cubicBezTo>
                  <a:close/>
                </a:path>
              </a:pathLst>
            </a:custGeom>
            <a:solidFill>
              <a:srgbClr val="2A9D8F">
                <a:alpha val="20000"/>
              </a:srgbClr>
            </a:solidFill>
            <a:ln>
              <a:noFill/>
            </a:ln>
          </p:spPr>
        </p:sp>
        <p:sp>
          <p:nvSpPr>
            <p:cNvPr id="42" name="Freeform 42"/>
            <p:cNvSpPr/>
            <p:nvPr/>
          </p:nvSpPr>
          <p:spPr>
            <a:xfrm>
              <a:off x="8320901" y="2184190"/>
              <a:ext cx="359123" cy="264227"/>
            </a:xfrm>
            <a:custGeom>
              <a:avLst/>
              <a:gdLst/>
              <a:ahLst/>
              <a:cxnLst/>
              <a:rect l="l" t="t" r="r" b="b"/>
              <a:pathLst>
                <a:path w="359123" h="264227">
                  <a:moveTo>
                    <a:pt x="353993" y="154197"/>
                  </a:moveTo>
                  <a:cubicBezTo>
                    <a:pt x="348733" y="158143"/>
                    <a:pt x="341270" y="157076"/>
                    <a:pt x="337324" y="151816"/>
                  </a:cubicBezTo>
                  <a:cubicBezTo>
                    <a:pt x="322771" y="132254"/>
                    <a:pt x="299793" y="120765"/>
                    <a:pt x="275412" y="120860"/>
                  </a:cubicBezTo>
                  <a:cubicBezTo>
                    <a:pt x="268836" y="120860"/>
                    <a:pt x="263506" y="115529"/>
                    <a:pt x="263506" y="108953"/>
                  </a:cubicBezTo>
                  <a:cubicBezTo>
                    <a:pt x="263506" y="102378"/>
                    <a:pt x="268836" y="97047"/>
                    <a:pt x="275412" y="97047"/>
                  </a:cubicBezTo>
                  <a:cubicBezTo>
                    <a:pt x="293974" y="97046"/>
                    <a:pt x="309441" y="82827"/>
                    <a:pt x="311001" y="64331"/>
                  </a:cubicBezTo>
                  <a:cubicBezTo>
                    <a:pt x="312562" y="45835"/>
                    <a:pt x="299695" y="29227"/>
                    <a:pt x="281396" y="26115"/>
                  </a:cubicBezTo>
                  <a:cubicBezTo>
                    <a:pt x="263097" y="23004"/>
                    <a:pt x="245465" y="34427"/>
                    <a:pt x="240824" y="52399"/>
                  </a:cubicBezTo>
                  <a:cubicBezTo>
                    <a:pt x="239180" y="58769"/>
                    <a:pt x="232684" y="62600"/>
                    <a:pt x="226314" y="60956"/>
                  </a:cubicBezTo>
                  <a:cubicBezTo>
                    <a:pt x="219943" y="59312"/>
                    <a:pt x="216112" y="52816"/>
                    <a:pt x="217756" y="46446"/>
                  </a:cubicBezTo>
                  <a:cubicBezTo>
                    <a:pt x="224115" y="21842"/>
                    <a:pt x="245390" y="3987"/>
                    <a:pt x="270724" y="1993"/>
                  </a:cubicBezTo>
                  <a:cubicBezTo>
                    <a:pt x="296057" y="0"/>
                    <a:pt x="319863" y="14308"/>
                    <a:pt x="329992" y="37614"/>
                  </a:cubicBezTo>
                  <a:cubicBezTo>
                    <a:pt x="340120" y="60920"/>
                    <a:pt x="334338" y="88087"/>
                    <a:pt x="315596" y="105248"/>
                  </a:cubicBezTo>
                  <a:cubicBezTo>
                    <a:pt x="331785" y="112257"/>
                    <a:pt x="345859" y="123381"/>
                    <a:pt x="356419" y="137514"/>
                  </a:cubicBezTo>
                  <a:cubicBezTo>
                    <a:pt x="358314" y="140046"/>
                    <a:pt x="359123" y="143229"/>
                    <a:pt x="358668" y="146359"/>
                  </a:cubicBezTo>
                  <a:cubicBezTo>
                    <a:pt x="358212" y="149489"/>
                    <a:pt x="356531" y="152309"/>
                    <a:pt x="353993" y="154197"/>
                  </a:cubicBezTo>
                  <a:close/>
                  <a:moveTo>
                    <a:pt x="273805" y="245875"/>
                  </a:moveTo>
                  <a:cubicBezTo>
                    <a:pt x="276068" y="249565"/>
                    <a:pt x="276150" y="254192"/>
                    <a:pt x="274019" y="257960"/>
                  </a:cubicBezTo>
                  <a:cubicBezTo>
                    <a:pt x="271889" y="261728"/>
                    <a:pt x="267881" y="264043"/>
                    <a:pt x="263553" y="264006"/>
                  </a:cubicBezTo>
                  <a:cubicBezTo>
                    <a:pt x="259225" y="263969"/>
                    <a:pt x="255257" y="261585"/>
                    <a:pt x="253192" y="257782"/>
                  </a:cubicBezTo>
                  <a:cubicBezTo>
                    <a:pt x="237930" y="231949"/>
                    <a:pt x="210158" y="216101"/>
                    <a:pt x="180155" y="216101"/>
                  </a:cubicBezTo>
                  <a:cubicBezTo>
                    <a:pt x="150151" y="216101"/>
                    <a:pt x="122379" y="231949"/>
                    <a:pt x="107117" y="257782"/>
                  </a:cubicBezTo>
                  <a:cubicBezTo>
                    <a:pt x="105090" y="261657"/>
                    <a:pt x="101101" y="264109"/>
                    <a:pt x="96728" y="264168"/>
                  </a:cubicBezTo>
                  <a:cubicBezTo>
                    <a:pt x="92355" y="264227"/>
                    <a:pt x="88302" y="261884"/>
                    <a:pt x="86171" y="258065"/>
                  </a:cubicBezTo>
                  <a:cubicBezTo>
                    <a:pt x="84039" y="254246"/>
                    <a:pt x="84173" y="249566"/>
                    <a:pt x="86519" y="245875"/>
                  </a:cubicBezTo>
                  <a:cubicBezTo>
                    <a:pt x="98062" y="226042"/>
                    <a:pt x="115663" y="210434"/>
                    <a:pt x="136734" y="201346"/>
                  </a:cubicBezTo>
                  <a:cubicBezTo>
                    <a:pt x="112423" y="182733"/>
                    <a:pt x="102677" y="150696"/>
                    <a:pt x="112503" y="121698"/>
                  </a:cubicBezTo>
                  <a:cubicBezTo>
                    <a:pt x="122330" y="92699"/>
                    <a:pt x="149544" y="73187"/>
                    <a:pt x="180162" y="73187"/>
                  </a:cubicBezTo>
                  <a:cubicBezTo>
                    <a:pt x="210780" y="73187"/>
                    <a:pt x="237994" y="92699"/>
                    <a:pt x="247821" y="121698"/>
                  </a:cubicBezTo>
                  <a:cubicBezTo>
                    <a:pt x="257647" y="150696"/>
                    <a:pt x="247901" y="182733"/>
                    <a:pt x="223590" y="201346"/>
                  </a:cubicBezTo>
                  <a:cubicBezTo>
                    <a:pt x="244661" y="210434"/>
                    <a:pt x="262262" y="226042"/>
                    <a:pt x="273805" y="245875"/>
                  </a:cubicBezTo>
                  <a:close/>
                  <a:moveTo>
                    <a:pt x="180162" y="192297"/>
                  </a:moveTo>
                  <a:cubicBezTo>
                    <a:pt x="206465" y="192297"/>
                    <a:pt x="227787" y="170975"/>
                    <a:pt x="227787" y="144672"/>
                  </a:cubicBezTo>
                  <a:cubicBezTo>
                    <a:pt x="227787" y="118370"/>
                    <a:pt x="206465" y="97047"/>
                    <a:pt x="180162" y="97047"/>
                  </a:cubicBezTo>
                  <a:cubicBezTo>
                    <a:pt x="153859" y="97047"/>
                    <a:pt x="132537" y="118370"/>
                    <a:pt x="132537" y="144672"/>
                  </a:cubicBezTo>
                  <a:cubicBezTo>
                    <a:pt x="132537" y="170975"/>
                    <a:pt x="153859" y="192297"/>
                    <a:pt x="180162" y="192297"/>
                  </a:cubicBezTo>
                  <a:close/>
                  <a:moveTo>
                    <a:pt x="96818" y="108953"/>
                  </a:moveTo>
                  <a:cubicBezTo>
                    <a:pt x="96818" y="102378"/>
                    <a:pt x="91488" y="97047"/>
                    <a:pt x="84912" y="97047"/>
                  </a:cubicBezTo>
                  <a:cubicBezTo>
                    <a:pt x="66350" y="97046"/>
                    <a:pt x="50883" y="82827"/>
                    <a:pt x="49323" y="64331"/>
                  </a:cubicBezTo>
                  <a:cubicBezTo>
                    <a:pt x="47762" y="45835"/>
                    <a:pt x="60629" y="29227"/>
                    <a:pt x="78928" y="26115"/>
                  </a:cubicBezTo>
                  <a:cubicBezTo>
                    <a:pt x="97227" y="23004"/>
                    <a:pt x="114859" y="34427"/>
                    <a:pt x="119500" y="52399"/>
                  </a:cubicBezTo>
                  <a:cubicBezTo>
                    <a:pt x="121144" y="58769"/>
                    <a:pt x="127640" y="62600"/>
                    <a:pt x="134010" y="60956"/>
                  </a:cubicBezTo>
                  <a:cubicBezTo>
                    <a:pt x="140381" y="59312"/>
                    <a:pt x="144212" y="52816"/>
                    <a:pt x="142568" y="46446"/>
                  </a:cubicBezTo>
                  <a:cubicBezTo>
                    <a:pt x="136209" y="21842"/>
                    <a:pt x="114934" y="3987"/>
                    <a:pt x="89600" y="1993"/>
                  </a:cubicBezTo>
                  <a:cubicBezTo>
                    <a:pt x="64267" y="0"/>
                    <a:pt x="40461" y="14308"/>
                    <a:pt x="30332" y="37614"/>
                  </a:cubicBezTo>
                  <a:cubicBezTo>
                    <a:pt x="20204" y="60920"/>
                    <a:pt x="25986" y="88087"/>
                    <a:pt x="44728" y="105248"/>
                  </a:cubicBezTo>
                  <a:cubicBezTo>
                    <a:pt x="28555" y="112264"/>
                    <a:pt x="14497" y="123387"/>
                    <a:pt x="3949" y="137514"/>
                  </a:cubicBezTo>
                  <a:cubicBezTo>
                    <a:pt x="0" y="142774"/>
                    <a:pt x="1063" y="150240"/>
                    <a:pt x="6323" y="154190"/>
                  </a:cubicBezTo>
                  <a:cubicBezTo>
                    <a:pt x="11584" y="158139"/>
                    <a:pt x="19050" y="157076"/>
                    <a:pt x="22999" y="151816"/>
                  </a:cubicBezTo>
                  <a:cubicBezTo>
                    <a:pt x="37553" y="132254"/>
                    <a:pt x="60530" y="120765"/>
                    <a:pt x="84912" y="120860"/>
                  </a:cubicBezTo>
                  <a:cubicBezTo>
                    <a:pt x="91488" y="120860"/>
                    <a:pt x="96818" y="115529"/>
                    <a:pt x="96818" y="108953"/>
                  </a:cubicBezTo>
                  <a:close/>
                </a:path>
              </a:pathLst>
            </a:custGeom>
            <a:solidFill>
              <a:srgbClr val="2A9D8F"/>
            </a:solidFill>
            <a:ln>
              <a:noFill/>
            </a:ln>
          </p:spPr>
        </p:sp>
      </p:grpSp>
      <p:sp>
        <p:nvSpPr>
          <p:cNvPr id="44" name="Line 44"/>
          <p:cNvSpPr/>
          <p:nvPr/>
        </p:nvSpPr>
        <p:spPr>
          <a:xfrm>
            <a:off x="6353175" y="2495550"/>
            <a:ext cx="2319338" cy="9525"/>
          </a:xfrm>
          <a:custGeom>
            <a:avLst/>
            <a:gdLst/>
            <a:ahLst/>
            <a:cxnLst/>
            <a:rect l="l" t="t" r="r" b="b"/>
            <a:pathLst>
              <a:path w="2319338" h="9525">
                <a:moveTo>
                  <a:pt x="0" y="0"/>
                </a:moveTo>
                <a:lnTo>
                  <a:pt x="2319338" y="0"/>
                </a:lnTo>
              </a:path>
            </a:pathLst>
          </a:custGeom>
          <a:noFill/>
          <a:ln w="11430">
            <a:solidFill>
              <a:srgbClr val="AAD8D2"/>
            </a:solidFill>
          </a:ln>
        </p:spPr>
      </p:sp>
      <p:sp>
        <p:nvSpPr>
          <p:cNvPr id="45" name="TextBox 45"/>
          <p:cNvSpPr txBox="1"/>
          <p:nvPr/>
        </p:nvSpPr>
        <p:spPr>
          <a:xfrm>
            <a:off x="6335078" y="2627471"/>
            <a:ext cx="2268753" cy="289560"/>
          </a:xfrm>
          <a:prstGeom prst="rect">
            <a:avLst/>
          </a:prstGeom>
          <a:noFill/>
          <a:ln>
            <a:noFill/>
          </a:ln>
        </p:spPr>
        <p:txBody>
          <a:bodyPr wrap="none" lIns="0" tIns="0" rIns="0" bIns="0" anchor="t" anchorCtr="0">
            <a:spAutoFit/>
          </a:bodyPr>
          <a:lstStyle/>
          <a:p>
            <a:pPr algn="l"/>
            <a:r>
              <a:rPr lang="zh-CN" sz="1425" b="1" dirty="0">
                <a:solidFill>
                  <a:srgbClr val="111111"/>
                </a:solidFill>
                <a:latin typeface="Arial"/>
                <a:ea typeface="Microsoft YaHei"/>
                <a:cs typeface="Arial"/>
              </a:rPr>
              <a:t>Observation process</a:t>
            </a:r>
          </a:p>
        </p:txBody>
      </p:sp>
      <p:sp>
        <p:nvSpPr>
          <p:cNvPr id="46" name="TextBox 46"/>
          <p:cNvSpPr txBox="1"/>
          <p:nvPr/>
        </p:nvSpPr>
        <p:spPr>
          <a:xfrm>
            <a:off x="6337935" y="2975610"/>
            <a:ext cx="2065249"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Province × year ×2.23;</a:t>
            </a:r>
          </a:p>
        </p:txBody>
      </p:sp>
      <p:sp>
        <p:nvSpPr>
          <p:cNvPr id="47" name="TextBox 47"/>
          <p:cNvSpPr txBox="1"/>
          <p:nvPr/>
        </p:nvSpPr>
        <p:spPr>
          <a:xfrm>
            <a:off x="6337935" y="3213735"/>
            <a:ext cx="1614830"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returns on effort</a:t>
            </a:r>
          </a:p>
        </p:txBody>
      </p:sp>
      <p:sp>
        <p:nvSpPr>
          <p:cNvPr id="48" name="TextBox 48"/>
          <p:cNvSpPr txBox="1"/>
          <p:nvPr/>
        </p:nvSpPr>
        <p:spPr>
          <a:xfrm>
            <a:off x="6337935" y="3451860"/>
            <a:ext cx="994410"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2.18 → 1.07</a:t>
            </a:r>
          </a:p>
        </p:txBody>
      </p:sp>
      <p:sp>
        <p:nvSpPr>
          <p:cNvPr id="49" name="Rectangle 49"/>
          <p:cNvSpPr/>
          <p:nvPr/>
        </p:nvSpPr>
        <p:spPr>
          <a:xfrm>
            <a:off x="9015412" y="2019300"/>
            <a:ext cx="2662238" cy="1866900"/>
          </a:xfrm>
          <a:prstGeom prst="roundRect">
            <a:avLst>
              <a:gd name="adj" fmla="val 5102"/>
            </a:avLst>
          </a:prstGeom>
          <a:solidFill>
            <a:srgbClr val="FFFFFF"/>
          </a:solidFill>
          <a:ln w="17145">
            <a:solidFill>
              <a:srgbClr val="8B0012"/>
            </a:solidFill>
          </a:ln>
        </p:spPr>
      </p:sp>
      <p:sp>
        <p:nvSpPr>
          <p:cNvPr id="50" name="TextBox 50"/>
          <p:cNvSpPr txBox="1"/>
          <p:nvPr/>
        </p:nvSpPr>
        <p:spPr>
          <a:xfrm>
            <a:off x="9165908" y="2165032"/>
            <a:ext cx="322896" cy="335280"/>
          </a:xfrm>
          <a:prstGeom prst="rect">
            <a:avLst/>
          </a:prstGeom>
          <a:noFill/>
          <a:ln>
            <a:noFill/>
          </a:ln>
        </p:spPr>
        <p:txBody>
          <a:bodyPr wrap="none" lIns="0" tIns="0" rIns="0" bIns="0" anchor="t" anchorCtr="0">
            <a:spAutoFit/>
          </a:bodyPr>
          <a:lstStyle/>
          <a:p>
            <a:pPr algn="l"/>
            <a:r>
              <a:rPr lang="zh-CN" sz="1650" b="1" dirty="0">
                <a:solidFill>
                  <a:srgbClr val="8B0012"/>
                </a:solidFill>
                <a:latin typeface="Arial"/>
                <a:ea typeface="Microsoft YaHei"/>
                <a:cs typeface="Arial"/>
              </a:rPr>
              <a:t>04</a:t>
            </a:r>
          </a:p>
        </p:txBody>
      </p:sp>
      <p:grpSp>
        <p:nvGrpSpPr>
          <p:cNvPr id="53" name="Group 53"/>
          <p:cNvGrpSpPr/>
          <p:nvPr/>
        </p:nvGrpSpPr>
        <p:grpSpPr>
          <a:xfrm>
            <a:off x="11157289" y="2150754"/>
            <a:ext cx="332242" cy="297171"/>
            <a:chOff x="11157289" y="2150754"/>
            <a:chExt cx="332242" cy="297171"/>
          </a:xfrm>
        </p:grpSpPr>
        <p:sp>
          <p:nvSpPr>
            <p:cNvPr id="51" name="Freeform 51"/>
            <p:cNvSpPr/>
            <p:nvPr/>
          </p:nvSpPr>
          <p:spPr>
            <a:xfrm>
              <a:off x="11198692" y="2197736"/>
              <a:ext cx="141773" cy="118178"/>
            </a:xfrm>
            <a:custGeom>
              <a:avLst/>
              <a:gdLst/>
              <a:ahLst/>
              <a:cxnLst/>
              <a:rect l="l" t="t" r="r" b="b"/>
              <a:pathLst>
                <a:path w="141773" h="118178">
                  <a:moveTo>
                    <a:pt x="141773" y="42440"/>
                  </a:moveTo>
                  <a:lnTo>
                    <a:pt x="141773" y="42440"/>
                  </a:lnTo>
                  <a:cubicBezTo>
                    <a:pt x="111327" y="53998"/>
                    <a:pt x="88273" y="79460"/>
                    <a:pt x="79786" y="110901"/>
                  </a:cubicBezTo>
                  <a:lnTo>
                    <a:pt x="79786" y="110737"/>
                  </a:lnTo>
                  <a:cubicBezTo>
                    <a:pt x="60546" y="104200"/>
                    <a:pt x="39363" y="106949"/>
                    <a:pt x="22427" y="118178"/>
                  </a:cubicBezTo>
                  <a:lnTo>
                    <a:pt x="22427" y="118178"/>
                  </a:lnTo>
                  <a:cubicBezTo>
                    <a:pt x="4174" y="96953"/>
                    <a:pt x="0" y="67022"/>
                    <a:pt x="11750" y="41613"/>
                  </a:cubicBezTo>
                  <a:cubicBezTo>
                    <a:pt x="23501" y="16204"/>
                    <a:pt x="49009" y="0"/>
                    <a:pt x="77003" y="162"/>
                  </a:cubicBezTo>
                  <a:cubicBezTo>
                    <a:pt x="104997" y="324"/>
                    <a:pt x="130317" y="16822"/>
                    <a:pt x="141773" y="42365"/>
                  </a:cubicBezTo>
                  <a:close/>
                </a:path>
              </a:pathLst>
            </a:custGeom>
            <a:solidFill>
              <a:srgbClr val="8B0012">
                <a:alpha val="20000"/>
              </a:srgbClr>
            </a:solidFill>
            <a:ln>
              <a:noFill/>
            </a:ln>
          </p:spPr>
        </p:sp>
        <p:sp>
          <p:nvSpPr>
            <p:cNvPr id="52" name="Freeform 52"/>
            <p:cNvSpPr/>
            <p:nvPr/>
          </p:nvSpPr>
          <p:spPr>
            <a:xfrm>
              <a:off x="11157289" y="2150754"/>
              <a:ext cx="332242" cy="297171"/>
            </a:xfrm>
            <a:custGeom>
              <a:avLst/>
              <a:gdLst/>
              <a:ahLst/>
              <a:cxnLst/>
              <a:rect l="l" t="t" r="r" b="b"/>
              <a:pathLst>
                <a:path w="332242" h="297171">
                  <a:moveTo>
                    <a:pt x="219133" y="70952"/>
                  </a:moveTo>
                  <a:cubicBezTo>
                    <a:pt x="208945" y="70946"/>
                    <a:pt x="198803" y="72313"/>
                    <a:pt x="188980" y="75015"/>
                  </a:cubicBezTo>
                  <a:cubicBezTo>
                    <a:pt x="185103" y="68689"/>
                    <a:pt x="180392" y="62912"/>
                    <a:pt x="174975" y="57840"/>
                  </a:cubicBezTo>
                  <a:lnTo>
                    <a:pt x="189129" y="37644"/>
                  </a:lnTo>
                  <a:cubicBezTo>
                    <a:pt x="191570" y="34159"/>
                    <a:pt x="191965" y="29636"/>
                    <a:pt x="190167" y="25780"/>
                  </a:cubicBezTo>
                  <a:cubicBezTo>
                    <a:pt x="188369" y="21924"/>
                    <a:pt x="184650" y="19320"/>
                    <a:pt x="180411" y="18949"/>
                  </a:cubicBezTo>
                  <a:cubicBezTo>
                    <a:pt x="176173" y="18578"/>
                    <a:pt x="172058" y="20497"/>
                    <a:pt x="169618" y="23982"/>
                  </a:cubicBezTo>
                  <a:lnTo>
                    <a:pt x="155464" y="44163"/>
                  </a:lnTo>
                  <a:cubicBezTo>
                    <a:pt x="143825" y="38286"/>
                    <a:pt x="130968" y="35228"/>
                    <a:pt x="117930" y="35233"/>
                  </a:cubicBezTo>
                  <a:cubicBezTo>
                    <a:pt x="117066" y="35233"/>
                    <a:pt x="116203" y="35233"/>
                    <a:pt x="115340" y="35233"/>
                  </a:cubicBezTo>
                  <a:lnTo>
                    <a:pt x="111039" y="10989"/>
                  </a:lnTo>
                  <a:cubicBezTo>
                    <a:pt x="110424" y="6688"/>
                    <a:pt x="107515" y="3063"/>
                    <a:pt x="103449" y="1532"/>
                  </a:cubicBezTo>
                  <a:cubicBezTo>
                    <a:pt x="99383" y="0"/>
                    <a:pt x="94805" y="805"/>
                    <a:pt x="91506" y="3632"/>
                  </a:cubicBezTo>
                  <a:cubicBezTo>
                    <a:pt x="88206" y="6459"/>
                    <a:pt x="86709" y="10859"/>
                    <a:pt x="87598" y="15112"/>
                  </a:cubicBezTo>
                  <a:lnTo>
                    <a:pt x="91885" y="39430"/>
                  </a:lnTo>
                  <a:cubicBezTo>
                    <a:pt x="78680" y="43798"/>
                    <a:pt x="66775" y="51395"/>
                    <a:pt x="57252" y="61531"/>
                  </a:cubicBezTo>
                  <a:lnTo>
                    <a:pt x="36982" y="47348"/>
                  </a:lnTo>
                  <a:cubicBezTo>
                    <a:pt x="33498" y="44847"/>
                    <a:pt x="28938" y="44412"/>
                    <a:pt x="25045" y="46211"/>
                  </a:cubicBezTo>
                  <a:cubicBezTo>
                    <a:pt x="21152" y="48009"/>
                    <a:pt x="18526" y="51762"/>
                    <a:pt x="18172" y="56037"/>
                  </a:cubicBezTo>
                  <a:cubicBezTo>
                    <a:pt x="17818" y="60311"/>
                    <a:pt x="19790" y="64445"/>
                    <a:pt x="23334" y="66859"/>
                  </a:cubicBezTo>
                  <a:lnTo>
                    <a:pt x="43516" y="81028"/>
                  </a:lnTo>
                  <a:cubicBezTo>
                    <a:pt x="37618" y="92664"/>
                    <a:pt x="34558" y="105532"/>
                    <a:pt x="34586" y="118577"/>
                  </a:cubicBezTo>
                  <a:cubicBezTo>
                    <a:pt x="34586" y="119426"/>
                    <a:pt x="34586" y="120289"/>
                    <a:pt x="34586" y="121137"/>
                  </a:cubicBezTo>
                  <a:lnTo>
                    <a:pt x="10342" y="125423"/>
                  </a:lnTo>
                  <a:cubicBezTo>
                    <a:pt x="4259" y="126489"/>
                    <a:pt x="0" y="132029"/>
                    <a:pt x="535" y="138182"/>
                  </a:cubicBezTo>
                  <a:cubicBezTo>
                    <a:pt x="1069" y="144334"/>
                    <a:pt x="6220" y="149057"/>
                    <a:pt x="12396" y="149057"/>
                  </a:cubicBezTo>
                  <a:cubicBezTo>
                    <a:pt x="13089" y="149056"/>
                    <a:pt x="13781" y="148997"/>
                    <a:pt x="14464" y="148879"/>
                  </a:cubicBezTo>
                  <a:lnTo>
                    <a:pt x="38753" y="144592"/>
                  </a:lnTo>
                  <a:cubicBezTo>
                    <a:pt x="40887" y="151090"/>
                    <a:pt x="43816" y="157298"/>
                    <a:pt x="47474" y="163077"/>
                  </a:cubicBezTo>
                  <a:cubicBezTo>
                    <a:pt x="24169" y="184724"/>
                    <a:pt x="16482" y="218427"/>
                    <a:pt x="28097" y="248039"/>
                  </a:cubicBezTo>
                  <a:cubicBezTo>
                    <a:pt x="39711" y="277651"/>
                    <a:pt x="68262" y="297141"/>
                    <a:pt x="100070" y="297171"/>
                  </a:cubicBezTo>
                  <a:lnTo>
                    <a:pt x="219133" y="297171"/>
                  </a:lnTo>
                  <a:cubicBezTo>
                    <a:pt x="281601" y="297171"/>
                    <a:pt x="332242" y="246530"/>
                    <a:pt x="332242" y="184062"/>
                  </a:cubicBezTo>
                  <a:cubicBezTo>
                    <a:pt x="332242" y="121593"/>
                    <a:pt x="281601" y="70952"/>
                    <a:pt x="219133" y="70952"/>
                  </a:cubicBezTo>
                  <a:close/>
                  <a:moveTo>
                    <a:pt x="58398" y="118577"/>
                  </a:moveTo>
                  <a:cubicBezTo>
                    <a:pt x="58413" y="92709"/>
                    <a:pt x="75132" y="69810"/>
                    <a:pt x="99767" y="61918"/>
                  </a:cubicBezTo>
                  <a:cubicBezTo>
                    <a:pt x="124402" y="54026"/>
                    <a:pt x="151314" y="62946"/>
                    <a:pt x="166358" y="83990"/>
                  </a:cubicBezTo>
                  <a:cubicBezTo>
                    <a:pt x="142071" y="96771"/>
                    <a:pt x="123237" y="117920"/>
                    <a:pt x="113346" y="143521"/>
                  </a:cubicBezTo>
                  <a:cubicBezTo>
                    <a:pt x="97694" y="140819"/>
                    <a:pt x="81590" y="142985"/>
                    <a:pt x="67209" y="149727"/>
                  </a:cubicBezTo>
                  <a:cubicBezTo>
                    <a:pt x="61451" y="140357"/>
                    <a:pt x="58402" y="129575"/>
                    <a:pt x="58398" y="118577"/>
                  </a:cubicBezTo>
                  <a:close/>
                  <a:moveTo>
                    <a:pt x="219133" y="273358"/>
                  </a:moveTo>
                  <a:lnTo>
                    <a:pt x="100070" y="273358"/>
                  </a:lnTo>
                  <a:cubicBezTo>
                    <a:pt x="80100" y="273322"/>
                    <a:pt x="61808" y="262181"/>
                    <a:pt x="52611" y="244455"/>
                  </a:cubicBezTo>
                  <a:cubicBezTo>
                    <a:pt x="43414" y="226729"/>
                    <a:pt x="44839" y="205359"/>
                    <a:pt x="56308" y="189010"/>
                  </a:cubicBezTo>
                  <a:cubicBezTo>
                    <a:pt x="67777" y="172662"/>
                    <a:pt x="87386" y="164049"/>
                    <a:pt x="107184" y="166664"/>
                  </a:cubicBezTo>
                  <a:cubicBezTo>
                    <a:pt x="106634" y="170191"/>
                    <a:pt x="106247" y="173792"/>
                    <a:pt x="106038" y="177424"/>
                  </a:cubicBezTo>
                  <a:cubicBezTo>
                    <a:pt x="105660" y="183999"/>
                    <a:pt x="110684" y="189637"/>
                    <a:pt x="117260" y="190015"/>
                  </a:cubicBezTo>
                  <a:cubicBezTo>
                    <a:pt x="123836" y="190393"/>
                    <a:pt x="129473" y="185369"/>
                    <a:pt x="129851" y="178793"/>
                  </a:cubicBezTo>
                  <a:cubicBezTo>
                    <a:pt x="130185" y="172854"/>
                    <a:pt x="131122" y="166965"/>
                    <a:pt x="132649" y="161216"/>
                  </a:cubicBezTo>
                  <a:cubicBezTo>
                    <a:pt x="132649" y="160978"/>
                    <a:pt x="132783" y="160740"/>
                    <a:pt x="132827" y="160502"/>
                  </a:cubicBezTo>
                  <a:cubicBezTo>
                    <a:pt x="144983" y="115831"/>
                    <a:pt x="189236" y="87834"/>
                    <a:pt x="234809" y="95981"/>
                  </a:cubicBezTo>
                  <a:cubicBezTo>
                    <a:pt x="280382" y="104129"/>
                    <a:pt x="312192" y="145725"/>
                    <a:pt x="308116" y="191841"/>
                  </a:cubicBezTo>
                  <a:cubicBezTo>
                    <a:pt x="304041" y="237957"/>
                    <a:pt x="265428" y="273330"/>
                    <a:pt x="219133" y="273358"/>
                  </a:cubicBezTo>
                  <a:close/>
                </a:path>
              </a:pathLst>
            </a:custGeom>
            <a:solidFill>
              <a:srgbClr val="8B0012"/>
            </a:solidFill>
            <a:ln>
              <a:noFill/>
            </a:ln>
          </p:spPr>
        </p:sp>
      </p:grpSp>
      <p:sp>
        <p:nvSpPr>
          <p:cNvPr id="54" name="Line 54"/>
          <p:cNvSpPr/>
          <p:nvPr/>
        </p:nvSpPr>
        <p:spPr>
          <a:xfrm>
            <a:off x="9186862" y="2495550"/>
            <a:ext cx="2319338" cy="9525"/>
          </a:xfrm>
          <a:custGeom>
            <a:avLst/>
            <a:gdLst/>
            <a:ahLst/>
            <a:cxnLst/>
            <a:rect l="l" t="t" r="r" b="b"/>
            <a:pathLst>
              <a:path w="2319338" h="9525">
                <a:moveTo>
                  <a:pt x="0" y="0"/>
                </a:moveTo>
                <a:lnTo>
                  <a:pt x="2319338" y="0"/>
                </a:lnTo>
              </a:path>
            </a:pathLst>
          </a:custGeom>
          <a:noFill/>
          <a:ln w="11430">
            <a:solidFill>
              <a:srgbClr val="D199A0"/>
            </a:solidFill>
          </a:ln>
        </p:spPr>
      </p:sp>
      <p:sp>
        <p:nvSpPr>
          <p:cNvPr id="55" name="TextBox 55"/>
          <p:cNvSpPr txBox="1"/>
          <p:nvPr/>
        </p:nvSpPr>
        <p:spPr>
          <a:xfrm>
            <a:off x="9168765" y="2627471"/>
            <a:ext cx="900980" cy="289560"/>
          </a:xfrm>
          <a:prstGeom prst="rect">
            <a:avLst/>
          </a:prstGeom>
          <a:noFill/>
          <a:ln>
            <a:noFill/>
          </a:ln>
        </p:spPr>
        <p:txBody>
          <a:bodyPr wrap="none" lIns="0" tIns="0" rIns="0" bIns="0" anchor="t" anchorCtr="0">
            <a:spAutoFit/>
          </a:bodyPr>
          <a:lstStyle/>
          <a:p>
            <a:pPr algn="l"/>
            <a:r>
              <a:rPr lang="zh-CN" sz="1425" b="1" dirty="0">
                <a:solidFill>
                  <a:srgbClr val="111111"/>
                </a:solidFill>
                <a:latin typeface="Arial"/>
                <a:ea typeface="Microsoft YaHei"/>
                <a:cs typeface="Arial"/>
              </a:rPr>
              <a:t>Futures</a:t>
            </a:r>
          </a:p>
        </p:txBody>
      </p:sp>
      <p:sp>
        <p:nvSpPr>
          <p:cNvPr id="56" name="TextBox 56"/>
          <p:cNvSpPr txBox="1"/>
          <p:nvPr/>
        </p:nvSpPr>
        <p:spPr>
          <a:xfrm>
            <a:off x="9171622" y="2975610"/>
            <a:ext cx="2105558"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Emission scenario barely</a:t>
            </a:r>
          </a:p>
        </p:txBody>
      </p:sp>
      <p:sp>
        <p:nvSpPr>
          <p:cNvPr id="57" name="TextBox 57"/>
          <p:cNvSpPr txBox="1"/>
          <p:nvPr/>
        </p:nvSpPr>
        <p:spPr>
          <a:xfrm>
            <a:off x="9171622" y="3213735"/>
            <a:ext cx="1860194"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matters; most change</a:t>
            </a:r>
          </a:p>
        </p:txBody>
      </p:sp>
      <p:sp>
        <p:nvSpPr>
          <p:cNvPr id="58" name="TextBox 58"/>
          <p:cNvSpPr txBox="1"/>
          <p:nvPr/>
        </p:nvSpPr>
        <p:spPr>
          <a:xfrm>
            <a:off x="9171622" y="3451860"/>
            <a:ext cx="1411529" cy="243840"/>
          </a:xfrm>
          <a:prstGeom prst="rect">
            <a:avLst/>
          </a:prstGeom>
          <a:noFill/>
          <a:ln>
            <a:noFill/>
          </a:ln>
        </p:spPr>
        <p:txBody>
          <a:bodyPr wrap="none" lIns="0" tIns="0" rIns="0" bIns="0" anchor="t" anchorCtr="0">
            <a:spAutoFit/>
          </a:bodyPr>
          <a:lstStyle/>
          <a:p>
            <a:pPr algn="l"/>
            <a:r>
              <a:rPr lang="zh-CN" sz="1200" dirty="0">
                <a:solidFill>
                  <a:srgbClr val="3F3F3F"/>
                </a:solidFill>
                <a:latin typeface="Arial"/>
                <a:ea typeface="Microsoft YaHei"/>
                <a:cs typeface="Arial"/>
              </a:rPr>
              <a:t>is extrapolation</a:t>
            </a:r>
          </a:p>
        </p:txBody>
      </p:sp>
      <p:sp>
        <p:nvSpPr>
          <p:cNvPr id="59" name="Rectangle 59"/>
          <p:cNvSpPr/>
          <p:nvPr/>
        </p:nvSpPr>
        <p:spPr>
          <a:xfrm>
            <a:off x="514350" y="4057650"/>
            <a:ext cx="11163300" cy="1524000"/>
          </a:xfrm>
          <a:prstGeom prst="roundRect">
            <a:avLst>
              <a:gd name="adj" fmla="val 6250"/>
            </a:avLst>
          </a:prstGeom>
          <a:solidFill>
            <a:srgbClr val="F8F2F3"/>
          </a:solidFill>
          <a:ln>
            <a:noFill/>
          </a:ln>
        </p:spPr>
      </p:sp>
      <p:grpSp>
        <p:nvGrpSpPr>
          <p:cNvPr id="62" name="Group 62"/>
          <p:cNvGrpSpPr/>
          <p:nvPr/>
        </p:nvGrpSpPr>
        <p:grpSpPr>
          <a:xfrm>
            <a:off x="774173" y="4248618"/>
            <a:ext cx="223064" cy="284091"/>
            <a:chOff x="774173" y="4248618"/>
            <a:chExt cx="223064" cy="284091"/>
          </a:xfrm>
        </p:grpSpPr>
        <p:sp>
          <p:nvSpPr>
            <p:cNvPr id="60" name="Freeform 60"/>
            <p:cNvSpPr/>
            <p:nvPr/>
          </p:nvSpPr>
          <p:spPr>
            <a:xfrm>
              <a:off x="784318" y="4258803"/>
              <a:ext cx="202737" cy="223305"/>
            </a:xfrm>
            <a:custGeom>
              <a:avLst/>
              <a:gdLst/>
              <a:ahLst/>
              <a:cxnLst/>
              <a:rect l="l" t="t" r="r" b="b"/>
              <a:pathLst>
                <a:path w="202737" h="223305">
                  <a:moveTo>
                    <a:pt x="202710" y="101861"/>
                  </a:moveTo>
                  <a:cubicBezTo>
                    <a:pt x="202737" y="132932"/>
                    <a:pt x="188465" y="162288"/>
                    <a:pt x="164012" y="181457"/>
                  </a:cubicBezTo>
                  <a:cubicBezTo>
                    <a:pt x="156545" y="187245"/>
                    <a:pt x="152155" y="196146"/>
                    <a:pt x="152108" y="205594"/>
                  </a:cubicBezTo>
                  <a:lnTo>
                    <a:pt x="152108" y="213184"/>
                  </a:lnTo>
                  <a:cubicBezTo>
                    <a:pt x="152108" y="218774"/>
                    <a:pt x="147577" y="223305"/>
                    <a:pt x="141988" y="223305"/>
                  </a:cubicBezTo>
                  <a:lnTo>
                    <a:pt x="61025" y="223305"/>
                  </a:lnTo>
                  <a:cubicBezTo>
                    <a:pt x="55436" y="223305"/>
                    <a:pt x="50905" y="218774"/>
                    <a:pt x="50905" y="213184"/>
                  </a:cubicBezTo>
                  <a:lnTo>
                    <a:pt x="50905" y="205594"/>
                  </a:lnTo>
                  <a:cubicBezTo>
                    <a:pt x="50895" y="196198"/>
                    <a:pt x="46555" y="187330"/>
                    <a:pt x="39140" y="181558"/>
                  </a:cubicBezTo>
                  <a:cubicBezTo>
                    <a:pt x="14766" y="162517"/>
                    <a:pt x="455" y="133360"/>
                    <a:pt x="304" y="102430"/>
                  </a:cubicBezTo>
                  <a:cubicBezTo>
                    <a:pt x="0" y="47578"/>
                    <a:pt x="44226" y="1923"/>
                    <a:pt x="99065" y="658"/>
                  </a:cubicBezTo>
                  <a:cubicBezTo>
                    <a:pt x="126326" y="0"/>
                    <a:pt x="152700" y="10371"/>
                    <a:pt x="172210" y="29422"/>
                  </a:cubicBezTo>
                  <a:cubicBezTo>
                    <a:pt x="191721" y="48473"/>
                    <a:pt x="202718" y="74592"/>
                    <a:pt x="202710" y="101861"/>
                  </a:cubicBezTo>
                  <a:close/>
                </a:path>
              </a:pathLst>
            </a:custGeom>
            <a:solidFill>
              <a:srgbClr val="8B0012">
                <a:alpha val="20000"/>
              </a:srgbClr>
            </a:solidFill>
            <a:ln>
              <a:noFill/>
            </a:ln>
          </p:spPr>
        </p:sp>
        <p:sp>
          <p:nvSpPr>
            <p:cNvPr id="61" name="Freeform 61"/>
            <p:cNvSpPr/>
            <p:nvPr/>
          </p:nvSpPr>
          <p:spPr>
            <a:xfrm>
              <a:off x="774173" y="4248618"/>
              <a:ext cx="223064" cy="284091"/>
            </a:xfrm>
            <a:custGeom>
              <a:avLst/>
              <a:gdLst/>
              <a:ahLst/>
              <a:cxnLst/>
              <a:rect l="l" t="t" r="r" b="b"/>
              <a:pathLst>
                <a:path w="223064" h="284091">
                  <a:moveTo>
                    <a:pt x="172374" y="273971"/>
                  </a:moveTo>
                  <a:cubicBezTo>
                    <a:pt x="172374" y="279560"/>
                    <a:pt x="167843" y="284091"/>
                    <a:pt x="162254" y="284091"/>
                  </a:cubicBezTo>
                  <a:lnTo>
                    <a:pt x="61051" y="284091"/>
                  </a:lnTo>
                  <a:cubicBezTo>
                    <a:pt x="55461" y="284091"/>
                    <a:pt x="50930" y="279560"/>
                    <a:pt x="50930" y="273971"/>
                  </a:cubicBezTo>
                  <a:cubicBezTo>
                    <a:pt x="50930" y="268382"/>
                    <a:pt x="55461" y="263851"/>
                    <a:pt x="61051" y="263851"/>
                  </a:cubicBezTo>
                  <a:lnTo>
                    <a:pt x="162254" y="263851"/>
                  </a:lnTo>
                  <a:cubicBezTo>
                    <a:pt x="167843" y="263851"/>
                    <a:pt x="172374" y="268382"/>
                    <a:pt x="172374" y="273971"/>
                  </a:cubicBezTo>
                  <a:close/>
                  <a:moveTo>
                    <a:pt x="222976" y="112046"/>
                  </a:moveTo>
                  <a:cubicBezTo>
                    <a:pt x="223064" y="146234"/>
                    <a:pt x="207358" y="178548"/>
                    <a:pt x="180420" y="199599"/>
                  </a:cubicBezTo>
                  <a:cubicBezTo>
                    <a:pt x="175383" y="203460"/>
                    <a:pt x="172413" y="209433"/>
                    <a:pt x="172374" y="215779"/>
                  </a:cubicBezTo>
                  <a:lnTo>
                    <a:pt x="172374" y="223369"/>
                  </a:lnTo>
                  <a:cubicBezTo>
                    <a:pt x="172374" y="234548"/>
                    <a:pt x="163312" y="243610"/>
                    <a:pt x="152134" y="243610"/>
                  </a:cubicBezTo>
                  <a:lnTo>
                    <a:pt x="71171" y="243610"/>
                  </a:lnTo>
                  <a:cubicBezTo>
                    <a:pt x="59993" y="243610"/>
                    <a:pt x="50930" y="234548"/>
                    <a:pt x="50930" y="223369"/>
                  </a:cubicBezTo>
                  <a:lnTo>
                    <a:pt x="50930" y="215779"/>
                  </a:lnTo>
                  <a:cubicBezTo>
                    <a:pt x="50926" y="209508"/>
                    <a:pt x="48016" y="203593"/>
                    <a:pt x="43049" y="199764"/>
                  </a:cubicBezTo>
                  <a:cubicBezTo>
                    <a:pt x="16181" y="178839"/>
                    <a:pt x="428" y="146721"/>
                    <a:pt x="329" y="112666"/>
                  </a:cubicBezTo>
                  <a:cubicBezTo>
                    <a:pt x="0" y="52374"/>
                    <a:pt x="48729" y="2165"/>
                    <a:pt x="108970" y="723"/>
                  </a:cubicBezTo>
                  <a:cubicBezTo>
                    <a:pt x="138957" y="0"/>
                    <a:pt x="167967" y="11409"/>
                    <a:pt x="189427" y="32365"/>
                  </a:cubicBezTo>
                  <a:cubicBezTo>
                    <a:pt x="210888" y="53321"/>
                    <a:pt x="222984" y="82051"/>
                    <a:pt x="222976" y="112046"/>
                  </a:cubicBezTo>
                  <a:close/>
                  <a:moveTo>
                    <a:pt x="202735" y="112046"/>
                  </a:moveTo>
                  <a:cubicBezTo>
                    <a:pt x="202742" y="87503"/>
                    <a:pt x="192845" y="63996"/>
                    <a:pt x="175284" y="46850"/>
                  </a:cubicBezTo>
                  <a:cubicBezTo>
                    <a:pt x="157724" y="29704"/>
                    <a:pt x="133987" y="20370"/>
                    <a:pt x="109451" y="20963"/>
                  </a:cubicBezTo>
                  <a:cubicBezTo>
                    <a:pt x="60115" y="22127"/>
                    <a:pt x="20304" y="63203"/>
                    <a:pt x="20570" y="112539"/>
                  </a:cubicBezTo>
                  <a:cubicBezTo>
                    <a:pt x="20663" y="140391"/>
                    <a:pt x="33556" y="166654"/>
                    <a:pt x="55535" y="183761"/>
                  </a:cubicBezTo>
                  <a:cubicBezTo>
                    <a:pt x="65417" y="191443"/>
                    <a:pt x="71189" y="203263"/>
                    <a:pt x="71171" y="215779"/>
                  </a:cubicBezTo>
                  <a:lnTo>
                    <a:pt x="71171" y="223369"/>
                  </a:lnTo>
                  <a:lnTo>
                    <a:pt x="152134" y="223369"/>
                  </a:lnTo>
                  <a:lnTo>
                    <a:pt x="152134" y="215779"/>
                  </a:lnTo>
                  <a:cubicBezTo>
                    <a:pt x="152162" y="203228"/>
                    <a:pt x="157984" y="191393"/>
                    <a:pt x="167909" y="183711"/>
                  </a:cubicBezTo>
                  <a:cubicBezTo>
                    <a:pt x="189958" y="166479"/>
                    <a:pt x="202811" y="140029"/>
                    <a:pt x="202735" y="112046"/>
                  </a:cubicBezTo>
                  <a:close/>
                  <a:moveTo>
                    <a:pt x="182355" y="100231"/>
                  </a:moveTo>
                  <a:cubicBezTo>
                    <a:pt x="176981" y="70209"/>
                    <a:pt x="153478" y="46711"/>
                    <a:pt x="123455" y="41343"/>
                  </a:cubicBezTo>
                  <a:cubicBezTo>
                    <a:pt x="117943" y="40414"/>
                    <a:pt x="112721" y="44129"/>
                    <a:pt x="111792" y="49642"/>
                  </a:cubicBezTo>
                  <a:cubicBezTo>
                    <a:pt x="110862" y="55154"/>
                    <a:pt x="114578" y="60376"/>
                    <a:pt x="120090" y="61305"/>
                  </a:cubicBezTo>
                  <a:cubicBezTo>
                    <a:pt x="141052" y="64835"/>
                    <a:pt x="158838" y="82621"/>
                    <a:pt x="162393" y="103621"/>
                  </a:cubicBezTo>
                  <a:cubicBezTo>
                    <a:pt x="163220" y="108488"/>
                    <a:pt x="167438" y="112048"/>
                    <a:pt x="172374" y="112046"/>
                  </a:cubicBezTo>
                  <a:cubicBezTo>
                    <a:pt x="172946" y="112043"/>
                    <a:pt x="173517" y="111996"/>
                    <a:pt x="174082" y="111907"/>
                  </a:cubicBezTo>
                  <a:cubicBezTo>
                    <a:pt x="179591" y="110966"/>
                    <a:pt x="183294" y="105739"/>
                    <a:pt x="182355" y="100231"/>
                  </a:cubicBezTo>
                  <a:close/>
                </a:path>
              </a:pathLst>
            </a:custGeom>
            <a:solidFill>
              <a:srgbClr val="8B0012"/>
            </a:solidFill>
            <a:ln>
              <a:noFill/>
            </a:ln>
          </p:spPr>
        </p:sp>
      </p:grpSp>
      <p:sp>
        <p:nvSpPr>
          <p:cNvPr id="63" name="TextBox 63"/>
          <p:cNvSpPr txBox="1"/>
          <p:nvPr/>
        </p:nvSpPr>
        <p:spPr>
          <a:xfrm>
            <a:off x="1122998" y="4306729"/>
            <a:ext cx="1473728" cy="320040"/>
          </a:xfrm>
          <a:prstGeom prst="rect">
            <a:avLst/>
          </a:prstGeom>
          <a:noFill/>
          <a:ln>
            <a:noFill/>
          </a:ln>
        </p:spPr>
        <p:txBody>
          <a:bodyPr wrap="none" lIns="0" tIns="0" rIns="0" bIns="0" anchor="t" anchorCtr="0">
            <a:spAutoFit/>
          </a:bodyPr>
          <a:lstStyle/>
          <a:p>
            <a:pPr algn="l"/>
            <a:r>
              <a:rPr lang="zh-CN" sz="1575" b="1" dirty="0">
                <a:solidFill>
                  <a:srgbClr val="8B0012"/>
                </a:solidFill>
                <a:latin typeface="Arial"/>
                <a:ea typeface="Microsoft YaHei"/>
                <a:cs typeface="Arial"/>
              </a:rPr>
              <a:t>Implications</a:t>
            </a:r>
          </a:p>
        </p:txBody>
      </p:sp>
      <p:sp>
        <p:nvSpPr>
          <p:cNvPr id="64" name="Rectangle 64"/>
          <p:cNvSpPr/>
          <p:nvPr/>
        </p:nvSpPr>
        <p:spPr>
          <a:xfrm>
            <a:off x="762000" y="4712018"/>
            <a:ext cx="123825" cy="123825"/>
          </a:xfrm>
          <a:prstGeom prst="roundRect">
            <a:avLst>
              <a:gd name="adj" fmla="val 11538"/>
            </a:avLst>
          </a:prstGeom>
          <a:solidFill>
            <a:srgbClr val="FFFFFF"/>
          </a:solidFill>
          <a:ln w="19050">
            <a:solidFill>
              <a:srgbClr val="8B0012"/>
            </a:solidFill>
          </a:ln>
        </p:spPr>
      </p:sp>
      <p:sp>
        <p:nvSpPr>
          <p:cNvPr id="65" name="TextBox 65"/>
          <p:cNvSpPr txBox="1"/>
          <p:nvPr/>
        </p:nvSpPr>
        <p:spPr>
          <a:xfrm>
            <a:off x="974408" y="4701064"/>
            <a:ext cx="6237027"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Send survey effort to climatically exposed, under-surveyed regions</a:t>
            </a:r>
          </a:p>
        </p:txBody>
      </p:sp>
      <p:sp>
        <p:nvSpPr>
          <p:cNvPr id="66" name="Rectangle 66"/>
          <p:cNvSpPr/>
          <p:nvPr/>
        </p:nvSpPr>
        <p:spPr>
          <a:xfrm>
            <a:off x="762000" y="4988242"/>
            <a:ext cx="123825" cy="123825"/>
          </a:xfrm>
          <a:prstGeom prst="roundRect">
            <a:avLst>
              <a:gd name="adj" fmla="val 11538"/>
            </a:avLst>
          </a:prstGeom>
          <a:solidFill>
            <a:srgbClr val="FFFFFF"/>
          </a:solidFill>
          <a:ln w="19050">
            <a:solidFill>
              <a:srgbClr val="8B0012"/>
            </a:solidFill>
          </a:ln>
        </p:spPr>
      </p:sp>
      <p:sp>
        <p:nvSpPr>
          <p:cNvPr id="67" name="TextBox 67"/>
          <p:cNvSpPr txBox="1"/>
          <p:nvPr/>
        </p:nvSpPr>
        <p:spPr>
          <a:xfrm>
            <a:off x="974408" y="4977289"/>
            <a:ext cx="7622457"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Read counts of new records as observation-weighted evidence, not as range shifts</a:t>
            </a:r>
          </a:p>
        </p:txBody>
      </p:sp>
      <p:sp>
        <p:nvSpPr>
          <p:cNvPr id="68" name="Rectangle 68"/>
          <p:cNvSpPr/>
          <p:nvPr/>
        </p:nvSpPr>
        <p:spPr>
          <a:xfrm>
            <a:off x="762000" y="5264468"/>
            <a:ext cx="123825" cy="123825"/>
          </a:xfrm>
          <a:prstGeom prst="roundRect">
            <a:avLst>
              <a:gd name="adj" fmla="val 11538"/>
            </a:avLst>
          </a:prstGeom>
          <a:solidFill>
            <a:srgbClr val="FFFFFF"/>
          </a:solidFill>
          <a:ln w="19050">
            <a:solidFill>
              <a:srgbClr val="8B0012"/>
            </a:solidFill>
          </a:ln>
        </p:spPr>
      </p:sp>
      <p:sp>
        <p:nvSpPr>
          <p:cNvPr id="69" name="TextBox 69"/>
          <p:cNvSpPr txBox="1"/>
          <p:nvPr/>
        </p:nvSpPr>
        <p:spPr>
          <a:xfrm>
            <a:off x="974408" y="5253514"/>
            <a:ext cx="6631800" cy="259080"/>
          </a:xfrm>
          <a:prstGeom prst="rect">
            <a:avLst/>
          </a:prstGeom>
          <a:noFill/>
          <a:ln>
            <a:noFill/>
          </a:ln>
        </p:spPr>
        <p:txBody>
          <a:bodyPr wrap="none" lIns="0" tIns="0" rIns="0" bIns="0" anchor="t" anchorCtr="0">
            <a:spAutoFit/>
          </a:bodyPr>
          <a:lstStyle/>
          <a:p>
            <a:pPr algn="l"/>
            <a:r>
              <a:rPr lang="zh-CN" sz="1275" dirty="0">
                <a:solidFill>
                  <a:srgbClr val="111111"/>
                </a:solidFill>
                <a:latin typeface="Arial"/>
                <a:ea typeface="Microsoft YaHei"/>
                <a:cs typeface="Arial"/>
              </a:rPr>
              <a:t>Report where a model leaves its data support before mapping the future</a:t>
            </a:r>
          </a:p>
        </p:txBody>
      </p:sp>
      <p:sp>
        <p:nvSpPr>
          <p:cNvPr id="70" name="Rectangle 70"/>
          <p:cNvSpPr/>
          <p:nvPr/>
        </p:nvSpPr>
        <p:spPr>
          <a:xfrm>
            <a:off x="514350" y="5753100"/>
            <a:ext cx="11163300" cy="533400"/>
          </a:xfrm>
          <a:prstGeom prst="roundRect">
            <a:avLst>
              <a:gd name="adj" fmla="val 14286"/>
            </a:avLst>
          </a:prstGeom>
          <a:solidFill>
            <a:srgbClr val="8B0012"/>
          </a:solidFill>
          <a:ln>
            <a:noFill/>
          </a:ln>
        </p:spPr>
      </p:sp>
      <p:sp>
        <p:nvSpPr>
          <p:cNvPr id="71" name="TextBox 71"/>
          <p:cNvSpPr txBox="1"/>
          <p:nvPr/>
        </p:nvSpPr>
        <p:spPr>
          <a:xfrm>
            <a:off x="609600" y="5905500"/>
            <a:ext cx="10972800" cy="271462"/>
          </a:xfrm>
          <a:prstGeom prst="rect">
            <a:avLst/>
          </a:prstGeom>
          <a:noFill/>
          <a:ln>
            <a:noFill/>
          </a:ln>
        </p:spPr>
        <p:txBody>
          <a:bodyPr wrap="square" lIns="0" tIns="0" rIns="0" bIns="0" anchor="t" anchorCtr="0">
            <a:normAutofit/>
          </a:bodyPr>
          <a:lstStyle/>
          <a:p>
            <a:pPr algn="ctr"/>
            <a:r>
              <a:rPr lang="zh-CN" sz="1425" b="1" dirty="0">
                <a:solidFill>
                  <a:srgbClr val="FFFFFF"/>
                </a:solidFill>
                <a:latin typeface="Arial"/>
                <a:ea typeface="Microsoft YaHei"/>
                <a:cs typeface="Arial"/>
              </a:rPr>
              <a:t>Birds or birders? Both. Model how we look, and new records tell us how ranges change</a:t>
            </a:r>
          </a:p>
        </p:txBody>
      </p:sp>
      <p:sp>
        <p:nvSpPr>
          <p:cNvPr id="72" name="TextBox 72"/>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73" name="TextBox 73"/>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17</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4191000" cy="6858000"/>
          </a:xfrm>
          <a:prstGeom prst="rect">
            <a:avLst/>
          </a:prstGeom>
          <a:solidFill>
            <a:srgbClr val="8B0012"/>
          </a:solidFill>
          <a:ln>
            <a:noFill/>
          </a:ln>
        </p:spPr>
      </p:sp>
      <p:sp>
        <p:nvSpPr>
          <p:cNvPr id="4" name="Ellipse 4"/>
          <p:cNvSpPr/>
          <p:nvPr/>
        </p:nvSpPr>
        <p:spPr>
          <a:xfrm>
            <a:off x="1390650" y="1390650"/>
            <a:ext cx="1409700" cy="140970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1485900" y="1485900"/>
            <a:ext cx="1219200" cy="1219200"/>
          </a:xfrm>
          <a:prstGeom prst="rect">
            <a:avLst/>
          </a:prstGeom>
        </p:spPr>
      </p:pic>
      <p:sp>
        <p:nvSpPr>
          <p:cNvPr id="6" name="TextBox 6"/>
          <p:cNvSpPr txBox="1"/>
          <p:nvPr/>
        </p:nvSpPr>
        <p:spPr>
          <a:xfrm>
            <a:off x="190500" y="3222308"/>
            <a:ext cx="3810000" cy="657225"/>
          </a:xfrm>
          <a:prstGeom prst="rect">
            <a:avLst/>
          </a:prstGeom>
          <a:noFill/>
          <a:ln>
            <a:noFill/>
          </a:ln>
        </p:spPr>
        <p:txBody>
          <a:bodyPr wrap="square" lIns="0" tIns="0" rIns="0" bIns="0" anchor="t" anchorCtr="0">
            <a:normAutofit/>
          </a:bodyPr>
          <a:lstStyle/>
          <a:p>
            <a:pPr algn="ctr"/>
            <a:r>
              <a:rPr lang="zh-CN" sz="3450" b="1" dirty="0">
                <a:solidFill>
                  <a:srgbClr val="FFFFFF"/>
                </a:solidFill>
                <a:latin typeface="Arial"/>
                <a:ea typeface="Microsoft YaHei"/>
                <a:cs typeface="Arial"/>
              </a:rPr>
              <a:t>Thank you</a:t>
            </a:r>
          </a:p>
        </p:txBody>
      </p:sp>
      <p:sp>
        <p:nvSpPr>
          <p:cNvPr id="7" name="TextBox 7"/>
          <p:cNvSpPr txBox="1"/>
          <p:nvPr/>
        </p:nvSpPr>
        <p:spPr>
          <a:xfrm>
            <a:off x="190500" y="3849052"/>
            <a:ext cx="3810000" cy="300038"/>
          </a:xfrm>
          <a:prstGeom prst="rect">
            <a:avLst/>
          </a:prstGeom>
          <a:noFill/>
          <a:ln>
            <a:noFill/>
          </a:ln>
        </p:spPr>
        <p:txBody>
          <a:bodyPr wrap="square" lIns="0" tIns="0" rIns="0" bIns="0" anchor="t" anchorCtr="0">
            <a:normAutofit/>
          </a:bodyPr>
          <a:lstStyle/>
          <a:p>
            <a:pPr algn="ctr"/>
            <a:r>
              <a:rPr lang="zh-CN" sz="1575" dirty="0">
                <a:solidFill>
                  <a:srgbClr val="E8CDD1"/>
                </a:solidFill>
                <a:latin typeface="Arial"/>
                <a:ea typeface="Microsoft YaHei"/>
                <a:cs typeface="Arial"/>
              </a:rPr>
              <a:t>Questions welcome</a:t>
            </a:r>
          </a:p>
        </p:txBody>
      </p:sp>
      <p:sp>
        <p:nvSpPr>
          <p:cNvPr id="8" name="Line 8"/>
          <p:cNvSpPr/>
          <p:nvPr/>
        </p:nvSpPr>
        <p:spPr>
          <a:xfrm>
            <a:off x="1047750" y="4343400"/>
            <a:ext cx="2095500" cy="9525"/>
          </a:xfrm>
          <a:custGeom>
            <a:avLst/>
            <a:gdLst/>
            <a:ahLst/>
            <a:cxnLst/>
            <a:rect l="l" t="t" r="r" b="b"/>
            <a:pathLst>
              <a:path w="2095500" h="9525">
                <a:moveTo>
                  <a:pt x="0" y="0"/>
                </a:moveTo>
                <a:lnTo>
                  <a:pt x="2095500" y="0"/>
                </a:lnTo>
              </a:path>
            </a:pathLst>
          </a:custGeom>
          <a:noFill/>
          <a:ln w="9525">
            <a:solidFill>
              <a:srgbClr val="C46A78"/>
            </a:solidFill>
          </a:ln>
        </p:spPr>
      </p:sp>
      <p:sp>
        <p:nvSpPr>
          <p:cNvPr id="9" name="TextBox 9"/>
          <p:cNvSpPr txBox="1"/>
          <p:nvPr/>
        </p:nvSpPr>
        <p:spPr>
          <a:xfrm>
            <a:off x="190500" y="4542472"/>
            <a:ext cx="3810000" cy="257175"/>
          </a:xfrm>
          <a:prstGeom prst="rect">
            <a:avLst/>
          </a:prstGeom>
          <a:noFill/>
          <a:ln>
            <a:noFill/>
          </a:ln>
        </p:spPr>
        <p:txBody>
          <a:bodyPr wrap="square" lIns="0" tIns="0" rIns="0" bIns="0" anchor="t" anchorCtr="0">
            <a:normAutofit/>
          </a:bodyPr>
          <a:lstStyle/>
          <a:p>
            <a:pPr algn="ctr"/>
            <a:r>
              <a:rPr lang="zh-CN" sz="1350" dirty="0">
                <a:solidFill>
                  <a:srgbClr val="FFFFFF"/>
                </a:solidFill>
                <a:latin typeface="Arial"/>
                <a:ea typeface="Microsoft YaHei"/>
                <a:cs typeface="Arial"/>
              </a:rPr>
              <a:t>chenchen.ding@pku.edu.cn</a:t>
            </a:r>
          </a:p>
        </p:txBody>
      </p:sp>
      <p:grpSp>
        <p:nvGrpSpPr>
          <p:cNvPr id="12" name="Group 12"/>
          <p:cNvGrpSpPr/>
          <p:nvPr/>
        </p:nvGrpSpPr>
        <p:grpSpPr>
          <a:xfrm>
            <a:off x="551512" y="5354744"/>
            <a:ext cx="411707" cy="362641"/>
            <a:chOff x="551512" y="5354744"/>
            <a:chExt cx="411707" cy="362641"/>
          </a:xfrm>
        </p:grpSpPr>
        <p:sp>
          <p:nvSpPr>
            <p:cNvPr id="10" name="Freeform 10"/>
            <p:cNvSpPr/>
            <p:nvPr/>
          </p:nvSpPr>
          <p:spPr>
            <a:xfrm>
              <a:off x="566142" y="5370040"/>
              <a:ext cx="383381" cy="333649"/>
            </a:xfrm>
            <a:custGeom>
              <a:avLst/>
              <a:gdLst/>
              <a:ahLst/>
              <a:cxnLst/>
              <a:rect l="l" t="t" r="r" b="b"/>
              <a:pathLst>
                <a:path w="383381" h="333649">
                  <a:moveTo>
                    <a:pt x="383381" y="100882"/>
                  </a:moveTo>
                  <a:lnTo>
                    <a:pt x="342305" y="128266"/>
                  </a:lnTo>
                  <a:lnTo>
                    <a:pt x="342305" y="169343"/>
                  </a:lnTo>
                  <a:cubicBezTo>
                    <a:pt x="342305" y="260086"/>
                    <a:pt x="268742" y="333649"/>
                    <a:pt x="177998" y="333649"/>
                  </a:cubicBezTo>
                  <a:lnTo>
                    <a:pt x="0" y="333649"/>
                  </a:lnTo>
                  <a:lnTo>
                    <a:pt x="164306" y="128266"/>
                  </a:lnTo>
                  <a:lnTo>
                    <a:pt x="164306" y="94036"/>
                  </a:lnTo>
                  <a:cubicBezTo>
                    <a:pt x="164274" y="49231"/>
                    <a:pt x="197554" y="11387"/>
                    <a:pt x="241996" y="5694"/>
                  </a:cubicBezTo>
                  <a:cubicBezTo>
                    <a:pt x="286437" y="0"/>
                    <a:pt x="328183" y="28231"/>
                    <a:pt x="339446" y="71597"/>
                  </a:cubicBezTo>
                  <a:close/>
                </a:path>
              </a:pathLst>
            </a:custGeom>
            <a:solidFill>
              <a:srgbClr val="FFFFFF">
                <a:alpha val="20000"/>
              </a:srgbClr>
            </a:solidFill>
            <a:ln>
              <a:noFill/>
            </a:ln>
          </p:spPr>
        </p:sp>
        <p:sp>
          <p:nvSpPr>
            <p:cNvPr id="11" name="Freeform 11"/>
            <p:cNvSpPr/>
            <p:nvPr/>
          </p:nvSpPr>
          <p:spPr>
            <a:xfrm>
              <a:off x="551512" y="5354744"/>
              <a:ext cx="411707" cy="362641"/>
            </a:xfrm>
            <a:custGeom>
              <a:avLst/>
              <a:gdLst/>
              <a:ahLst/>
              <a:cxnLst/>
              <a:rect l="l" t="t" r="r" b="b"/>
              <a:pathLst>
                <a:path w="411707" h="362641">
                  <a:moveTo>
                    <a:pt x="302166" y="95640"/>
                  </a:moveTo>
                  <a:cubicBezTo>
                    <a:pt x="302166" y="106983"/>
                    <a:pt x="292971" y="116178"/>
                    <a:pt x="281628" y="116178"/>
                  </a:cubicBezTo>
                  <a:cubicBezTo>
                    <a:pt x="270285" y="116178"/>
                    <a:pt x="261090" y="106983"/>
                    <a:pt x="261090" y="95640"/>
                  </a:cubicBezTo>
                  <a:cubicBezTo>
                    <a:pt x="261090" y="84297"/>
                    <a:pt x="270285" y="75102"/>
                    <a:pt x="281628" y="75102"/>
                  </a:cubicBezTo>
                  <a:cubicBezTo>
                    <a:pt x="292971" y="75102"/>
                    <a:pt x="302166" y="84297"/>
                    <a:pt x="302166" y="95640"/>
                  </a:cubicBezTo>
                  <a:close/>
                  <a:moveTo>
                    <a:pt x="215084" y="201498"/>
                  </a:moveTo>
                  <a:cubicBezTo>
                    <a:pt x="212299" y="199167"/>
                    <a:pt x="208702" y="198037"/>
                    <a:pt x="205085" y="198358"/>
                  </a:cubicBezTo>
                  <a:cubicBezTo>
                    <a:pt x="201468" y="198679"/>
                    <a:pt x="198126" y="200424"/>
                    <a:pt x="195795" y="203209"/>
                  </a:cubicBezTo>
                  <a:lnTo>
                    <a:pt x="127334" y="285362"/>
                  </a:lnTo>
                  <a:cubicBezTo>
                    <a:pt x="122494" y="291176"/>
                    <a:pt x="123284" y="299812"/>
                    <a:pt x="129097" y="304651"/>
                  </a:cubicBezTo>
                  <a:cubicBezTo>
                    <a:pt x="134910" y="309491"/>
                    <a:pt x="143546" y="308702"/>
                    <a:pt x="148386" y="302888"/>
                  </a:cubicBezTo>
                  <a:lnTo>
                    <a:pt x="216847" y="220735"/>
                  </a:lnTo>
                  <a:cubicBezTo>
                    <a:pt x="221654" y="214931"/>
                    <a:pt x="220866" y="206332"/>
                    <a:pt x="215084" y="201498"/>
                  </a:cubicBezTo>
                  <a:close/>
                  <a:moveTo>
                    <a:pt x="411704" y="116178"/>
                  </a:moveTo>
                  <a:cubicBezTo>
                    <a:pt x="411707" y="120758"/>
                    <a:pt x="409420" y="125036"/>
                    <a:pt x="405611" y="127577"/>
                  </a:cubicBezTo>
                  <a:lnTo>
                    <a:pt x="370627" y="150888"/>
                  </a:lnTo>
                  <a:lnTo>
                    <a:pt x="370627" y="184639"/>
                  </a:lnTo>
                  <a:cubicBezTo>
                    <a:pt x="370523" y="282902"/>
                    <a:pt x="290892" y="362534"/>
                    <a:pt x="192629" y="362638"/>
                  </a:cubicBezTo>
                  <a:lnTo>
                    <a:pt x="14630" y="362638"/>
                  </a:lnTo>
                  <a:cubicBezTo>
                    <a:pt x="9364" y="362641"/>
                    <a:pt x="4563" y="359624"/>
                    <a:pt x="2282" y="354878"/>
                  </a:cubicBezTo>
                  <a:cubicBezTo>
                    <a:pt x="0" y="350132"/>
                    <a:pt x="642" y="344499"/>
                    <a:pt x="3933" y="340388"/>
                  </a:cubicBezTo>
                  <a:lnTo>
                    <a:pt x="165244" y="138753"/>
                  </a:lnTo>
                  <a:lnTo>
                    <a:pt x="165244" y="109332"/>
                  </a:lnTo>
                  <a:cubicBezTo>
                    <a:pt x="165197" y="58645"/>
                    <a:pt x="202139" y="15505"/>
                    <a:pt x="252230" y="7752"/>
                  </a:cubicBezTo>
                  <a:cubicBezTo>
                    <a:pt x="302321" y="0"/>
                    <a:pt x="350575" y="29955"/>
                    <a:pt x="365852" y="78285"/>
                  </a:cubicBezTo>
                  <a:lnTo>
                    <a:pt x="405611" y="104780"/>
                  </a:lnTo>
                  <a:cubicBezTo>
                    <a:pt x="409420" y="107321"/>
                    <a:pt x="411707" y="111599"/>
                    <a:pt x="411704" y="116178"/>
                  </a:cubicBezTo>
                  <a:close/>
                  <a:moveTo>
                    <a:pt x="373331" y="116178"/>
                  </a:moveTo>
                  <a:lnTo>
                    <a:pt x="346495" y="98276"/>
                  </a:lnTo>
                  <a:cubicBezTo>
                    <a:pt x="343695" y="96414"/>
                    <a:pt x="341679" y="93587"/>
                    <a:pt x="340830" y="90334"/>
                  </a:cubicBezTo>
                  <a:cubicBezTo>
                    <a:pt x="331307" y="53628"/>
                    <a:pt x="295975" y="29728"/>
                    <a:pt x="258360" y="34550"/>
                  </a:cubicBezTo>
                  <a:cubicBezTo>
                    <a:pt x="220746" y="39372"/>
                    <a:pt x="192585" y="71410"/>
                    <a:pt x="192629" y="109332"/>
                  </a:cubicBezTo>
                  <a:lnTo>
                    <a:pt x="192629" y="143563"/>
                  </a:lnTo>
                  <a:cubicBezTo>
                    <a:pt x="192631" y="146673"/>
                    <a:pt x="191575" y="149691"/>
                    <a:pt x="189634" y="152120"/>
                  </a:cubicBezTo>
                  <a:lnTo>
                    <a:pt x="43110" y="335253"/>
                  </a:lnTo>
                  <a:lnTo>
                    <a:pt x="192629" y="335253"/>
                  </a:lnTo>
                  <a:cubicBezTo>
                    <a:pt x="275772" y="335159"/>
                    <a:pt x="343149" y="267782"/>
                    <a:pt x="343243" y="184639"/>
                  </a:cubicBezTo>
                  <a:lnTo>
                    <a:pt x="343243" y="143563"/>
                  </a:lnTo>
                  <a:cubicBezTo>
                    <a:pt x="343240" y="138983"/>
                    <a:pt x="345526" y="134706"/>
                    <a:pt x="349336" y="132164"/>
                  </a:cubicBezTo>
                  <a:close/>
                </a:path>
              </a:pathLst>
            </a:custGeom>
            <a:solidFill>
              <a:srgbClr val="FFFFFF"/>
            </a:solidFill>
            <a:ln>
              <a:noFill/>
            </a:ln>
          </p:spPr>
        </p:sp>
      </p:grpSp>
      <p:grpSp>
        <p:nvGrpSpPr>
          <p:cNvPr id="15" name="Group 15"/>
          <p:cNvGrpSpPr/>
          <p:nvPr/>
        </p:nvGrpSpPr>
        <p:grpSpPr>
          <a:xfrm>
            <a:off x="1199497" y="5634180"/>
            <a:ext cx="286405" cy="252272"/>
            <a:chOff x="1199497" y="5634180"/>
            <a:chExt cx="286405" cy="252272"/>
          </a:xfrm>
        </p:grpSpPr>
        <p:sp>
          <p:nvSpPr>
            <p:cNvPr id="13" name="Freeform 13"/>
            <p:cNvSpPr/>
            <p:nvPr/>
          </p:nvSpPr>
          <p:spPr>
            <a:xfrm>
              <a:off x="1209675" y="5644821"/>
              <a:ext cx="266700" cy="232104"/>
            </a:xfrm>
            <a:custGeom>
              <a:avLst/>
              <a:gdLst/>
              <a:ahLst/>
              <a:cxnLst/>
              <a:rect l="l" t="t" r="r" b="b"/>
              <a:pathLst>
                <a:path w="266700" h="232104">
                  <a:moveTo>
                    <a:pt x="266700" y="70179"/>
                  </a:moveTo>
                  <a:lnTo>
                    <a:pt x="238125" y="89229"/>
                  </a:lnTo>
                  <a:lnTo>
                    <a:pt x="238125" y="117804"/>
                  </a:lnTo>
                  <a:cubicBezTo>
                    <a:pt x="238125" y="180930"/>
                    <a:pt x="186951" y="232104"/>
                    <a:pt x="123825" y="232104"/>
                  </a:cubicBezTo>
                  <a:lnTo>
                    <a:pt x="0" y="232104"/>
                  </a:lnTo>
                  <a:lnTo>
                    <a:pt x="114300" y="89229"/>
                  </a:lnTo>
                  <a:lnTo>
                    <a:pt x="114300" y="65416"/>
                  </a:lnTo>
                  <a:cubicBezTo>
                    <a:pt x="114278" y="34247"/>
                    <a:pt x="137429" y="7922"/>
                    <a:pt x="168345" y="3961"/>
                  </a:cubicBezTo>
                  <a:cubicBezTo>
                    <a:pt x="199261" y="0"/>
                    <a:pt x="228301" y="19639"/>
                    <a:pt x="236137" y="49807"/>
                  </a:cubicBezTo>
                  <a:close/>
                </a:path>
              </a:pathLst>
            </a:custGeom>
            <a:solidFill>
              <a:srgbClr val="FFFFFF">
                <a:alpha val="20000"/>
              </a:srgbClr>
            </a:solidFill>
            <a:ln>
              <a:noFill/>
            </a:ln>
          </p:spPr>
        </p:sp>
        <p:sp>
          <p:nvSpPr>
            <p:cNvPr id="14" name="Freeform 14"/>
            <p:cNvSpPr/>
            <p:nvPr/>
          </p:nvSpPr>
          <p:spPr>
            <a:xfrm>
              <a:off x="1199497" y="5634180"/>
              <a:ext cx="286405" cy="252272"/>
            </a:xfrm>
            <a:custGeom>
              <a:avLst/>
              <a:gdLst/>
              <a:ahLst/>
              <a:cxnLst/>
              <a:rect l="l" t="t" r="r" b="b"/>
              <a:pathLst>
                <a:path w="286405" h="252272">
                  <a:moveTo>
                    <a:pt x="210203" y="66532"/>
                  </a:moveTo>
                  <a:cubicBezTo>
                    <a:pt x="210203" y="74423"/>
                    <a:pt x="203806" y="80820"/>
                    <a:pt x="195915" y="80820"/>
                  </a:cubicBezTo>
                  <a:cubicBezTo>
                    <a:pt x="188024" y="80820"/>
                    <a:pt x="181628" y="74423"/>
                    <a:pt x="181628" y="66532"/>
                  </a:cubicBezTo>
                  <a:cubicBezTo>
                    <a:pt x="181628" y="58641"/>
                    <a:pt x="188024" y="52245"/>
                    <a:pt x="195915" y="52245"/>
                  </a:cubicBezTo>
                  <a:cubicBezTo>
                    <a:pt x="203806" y="52245"/>
                    <a:pt x="210203" y="58641"/>
                    <a:pt x="210203" y="66532"/>
                  </a:cubicBezTo>
                  <a:close/>
                  <a:moveTo>
                    <a:pt x="149624" y="140172"/>
                  </a:moveTo>
                  <a:cubicBezTo>
                    <a:pt x="147686" y="138551"/>
                    <a:pt x="145184" y="137765"/>
                    <a:pt x="142668" y="137988"/>
                  </a:cubicBezTo>
                  <a:cubicBezTo>
                    <a:pt x="140151" y="138212"/>
                    <a:pt x="137827" y="139426"/>
                    <a:pt x="136205" y="141363"/>
                  </a:cubicBezTo>
                  <a:lnTo>
                    <a:pt x="88580" y="198513"/>
                  </a:lnTo>
                  <a:cubicBezTo>
                    <a:pt x="85214" y="202557"/>
                    <a:pt x="85763" y="208565"/>
                    <a:pt x="89807" y="211931"/>
                  </a:cubicBezTo>
                  <a:cubicBezTo>
                    <a:pt x="93851" y="215298"/>
                    <a:pt x="99858" y="214749"/>
                    <a:pt x="103225" y="210705"/>
                  </a:cubicBezTo>
                  <a:lnTo>
                    <a:pt x="150850" y="153555"/>
                  </a:lnTo>
                  <a:cubicBezTo>
                    <a:pt x="154194" y="149517"/>
                    <a:pt x="153646" y="143535"/>
                    <a:pt x="149624" y="140172"/>
                  </a:cubicBezTo>
                  <a:close/>
                  <a:moveTo>
                    <a:pt x="286403" y="80820"/>
                  </a:moveTo>
                  <a:cubicBezTo>
                    <a:pt x="286405" y="84005"/>
                    <a:pt x="284814" y="86981"/>
                    <a:pt x="282164" y="88749"/>
                  </a:cubicBezTo>
                  <a:lnTo>
                    <a:pt x="257828" y="104966"/>
                  </a:lnTo>
                  <a:lnTo>
                    <a:pt x="257828" y="128445"/>
                  </a:lnTo>
                  <a:cubicBezTo>
                    <a:pt x="257755" y="196801"/>
                    <a:pt x="202359" y="252198"/>
                    <a:pt x="134003" y="252270"/>
                  </a:cubicBezTo>
                  <a:lnTo>
                    <a:pt x="10178" y="252270"/>
                  </a:lnTo>
                  <a:cubicBezTo>
                    <a:pt x="6514" y="252272"/>
                    <a:pt x="3174" y="250173"/>
                    <a:pt x="1587" y="246872"/>
                  </a:cubicBezTo>
                  <a:cubicBezTo>
                    <a:pt x="0" y="243570"/>
                    <a:pt x="447" y="239651"/>
                    <a:pt x="2736" y="236792"/>
                  </a:cubicBezTo>
                  <a:lnTo>
                    <a:pt x="114953" y="96524"/>
                  </a:lnTo>
                  <a:lnTo>
                    <a:pt x="114953" y="76057"/>
                  </a:lnTo>
                  <a:cubicBezTo>
                    <a:pt x="114919" y="40797"/>
                    <a:pt x="140618" y="10786"/>
                    <a:pt x="175464" y="5393"/>
                  </a:cubicBezTo>
                  <a:cubicBezTo>
                    <a:pt x="210310" y="0"/>
                    <a:pt x="243879" y="20838"/>
                    <a:pt x="254506" y="54459"/>
                  </a:cubicBezTo>
                  <a:lnTo>
                    <a:pt x="282164" y="72890"/>
                  </a:lnTo>
                  <a:cubicBezTo>
                    <a:pt x="284814" y="74658"/>
                    <a:pt x="286405" y="77634"/>
                    <a:pt x="286403" y="80820"/>
                  </a:cubicBezTo>
                  <a:close/>
                  <a:moveTo>
                    <a:pt x="259709" y="80820"/>
                  </a:moveTo>
                  <a:lnTo>
                    <a:pt x="241040" y="68366"/>
                  </a:lnTo>
                  <a:cubicBezTo>
                    <a:pt x="239092" y="67071"/>
                    <a:pt x="237690" y="65104"/>
                    <a:pt x="237099" y="62841"/>
                  </a:cubicBezTo>
                  <a:cubicBezTo>
                    <a:pt x="230474" y="37306"/>
                    <a:pt x="205895" y="20680"/>
                    <a:pt x="179729" y="24035"/>
                  </a:cubicBezTo>
                  <a:cubicBezTo>
                    <a:pt x="153563" y="27389"/>
                    <a:pt x="133972" y="49677"/>
                    <a:pt x="134003" y="76057"/>
                  </a:cubicBezTo>
                  <a:lnTo>
                    <a:pt x="134003" y="99870"/>
                  </a:lnTo>
                  <a:cubicBezTo>
                    <a:pt x="134004" y="102033"/>
                    <a:pt x="133269" y="104133"/>
                    <a:pt x="131919" y="105823"/>
                  </a:cubicBezTo>
                  <a:lnTo>
                    <a:pt x="29990" y="233220"/>
                  </a:lnTo>
                  <a:lnTo>
                    <a:pt x="134003" y="233220"/>
                  </a:lnTo>
                  <a:cubicBezTo>
                    <a:pt x="191841" y="233154"/>
                    <a:pt x="238712" y="186283"/>
                    <a:pt x="238778" y="128445"/>
                  </a:cubicBezTo>
                  <a:lnTo>
                    <a:pt x="238778" y="99870"/>
                  </a:lnTo>
                  <a:cubicBezTo>
                    <a:pt x="238776" y="96684"/>
                    <a:pt x="240366" y="93708"/>
                    <a:pt x="243016" y="91940"/>
                  </a:cubicBezTo>
                  <a:close/>
                </a:path>
              </a:pathLst>
            </a:custGeom>
            <a:solidFill>
              <a:srgbClr val="FFFFFF"/>
            </a:solidFill>
            <a:ln>
              <a:noFill/>
            </a:ln>
          </p:spPr>
        </p:sp>
      </p:grpSp>
      <p:grpSp>
        <p:nvGrpSpPr>
          <p:cNvPr id="18" name="Group 18"/>
          <p:cNvGrpSpPr/>
          <p:nvPr/>
        </p:nvGrpSpPr>
        <p:grpSpPr>
          <a:xfrm>
            <a:off x="1675911" y="5401973"/>
            <a:ext cx="214804" cy="189204"/>
            <a:chOff x="1675911" y="5401973"/>
            <a:chExt cx="214804" cy="189204"/>
          </a:xfrm>
        </p:grpSpPr>
        <p:sp>
          <p:nvSpPr>
            <p:cNvPr id="16" name="Freeform 16"/>
            <p:cNvSpPr/>
            <p:nvPr/>
          </p:nvSpPr>
          <p:spPr>
            <a:xfrm>
              <a:off x="1683544" y="5409954"/>
              <a:ext cx="200025" cy="174078"/>
            </a:xfrm>
            <a:custGeom>
              <a:avLst/>
              <a:gdLst/>
              <a:ahLst/>
              <a:cxnLst/>
              <a:rect l="l" t="t" r="r" b="b"/>
              <a:pathLst>
                <a:path w="200025" h="174078">
                  <a:moveTo>
                    <a:pt x="200025" y="52634"/>
                  </a:moveTo>
                  <a:lnTo>
                    <a:pt x="178594" y="66921"/>
                  </a:lnTo>
                  <a:lnTo>
                    <a:pt x="178594" y="88353"/>
                  </a:lnTo>
                  <a:cubicBezTo>
                    <a:pt x="178594" y="135697"/>
                    <a:pt x="140213" y="174078"/>
                    <a:pt x="92869" y="174078"/>
                  </a:cubicBezTo>
                  <a:lnTo>
                    <a:pt x="0" y="174078"/>
                  </a:lnTo>
                  <a:lnTo>
                    <a:pt x="85725" y="66921"/>
                  </a:lnTo>
                  <a:lnTo>
                    <a:pt x="85725" y="49062"/>
                  </a:lnTo>
                  <a:cubicBezTo>
                    <a:pt x="85708" y="25686"/>
                    <a:pt x="103072" y="5941"/>
                    <a:pt x="126259" y="2971"/>
                  </a:cubicBezTo>
                  <a:cubicBezTo>
                    <a:pt x="149446" y="0"/>
                    <a:pt x="171226" y="14729"/>
                    <a:pt x="177102" y="37355"/>
                  </a:cubicBezTo>
                  <a:close/>
                </a:path>
              </a:pathLst>
            </a:custGeom>
            <a:solidFill>
              <a:srgbClr val="FFFFFF">
                <a:alpha val="20000"/>
              </a:srgbClr>
            </a:solidFill>
            <a:ln>
              <a:noFill/>
            </a:ln>
          </p:spPr>
        </p:sp>
        <p:sp>
          <p:nvSpPr>
            <p:cNvPr id="17" name="Freeform 17"/>
            <p:cNvSpPr/>
            <p:nvPr/>
          </p:nvSpPr>
          <p:spPr>
            <a:xfrm>
              <a:off x="1675911" y="5401973"/>
              <a:ext cx="214804" cy="189204"/>
            </a:xfrm>
            <a:custGeom>
              <a:avLst/>
              <a:gdLst/>
              <a:ahLst/>
              <a:cxnLst/>
              <a:rect l="l" t="t" r="r" b="b"/>
              <a:pathLst>
                <a:path w="214804" h="189204">
                  <a:moveTo>
                    <a:pt x="157652" y="49899"/>
                  </a:moveTo>
                  <a:cubicBezTo>
                    <a:pt x="157652" y="55817"/>
                    <a:pt x="152854" y="60615"/>
                    <a:pt x="146936" y="60615"/>
                  </a:cubicBezTo>
                  <a:cubicBezTo>
                    <a:pt x="141018" y="60615"/>
                    <a:pt x="136221" y="55817"/>
                    <a:pt x="136221" y="49899"/>
                  </a:cubicBezTo>
                  <a:cubicBezTo>
                    <a:pt x="136221" y="43981"/>
                    <a:pt x="141018" y="39184"/>
                    <a:pt x="146936" y="39184"/>
                  </a:cubicBezTo>
                  <a:cubicBezTo>
                    <a:pt x="152854" y="39184"/>
                    <a:pt x="157652" y="43981"/>
                    <a:pt x="157652" y="49899"/>
                  </a:cubicBezTo>
                  <a:close/>
                  <a:moveTo>
                    <a:pt x="112218" y="105129"/>
                  </a:moveTo>
                  <a:cubicBezTo>
                    <a:pt x="110765" y="103913"/>
                    <a:pt x="108888" y="103324"/>
                    <a:pt x="107001" y="103491"/>
                  </a:cubicBezTo>
                  <a:cubicBezTo>
                    <a:pt x="105114" y="103659"/>
                    <a:pt x="103370" y="104569"/>
                    <a:pt x="102154" y="106022"/>
                  </a:cubicBezTo>
                  <a:lnTo>
                    <a:pt x="66435" y="148885"/>
                  </a:lnTo>
                  <a:cubicBezTo>
                    <a:pt x="63910" y="151918"/>
                    <a:pt x="64322" y="156423"/>
                    <a:pt x="67355" y="158949"/>
                  </a:cubicBezTo>
                  <a:cubicBezTo>
                    <a:pt x="70388" y="161474"/>
                    <a:pt x="74894" y="161062"/>
                    <a:pt x="77419" y="158029"/>
                  </a:cubicBezTo>
                  <a:lnTo>
                    <a:pt x="113137" y="115166"/>
                  </a:lnTo>
                  <a:cubicBezTo>
                    <a:pt x="115646" y="112138"/>
                    <a:pt x="115234" y="107652"/>
                    <a:pt x="112218" y="105129"/>
                  </a:cubicBezTo>
                  <a:close/>
                  <a:moveTo>
                    <a:pt x="214802" y="60615"/>
                  </a:moveTo>
                  <a:cubicBezTo>
                    <a:pt x="214804" y="63004"/>
                    <a:pt x="213611" y="65236"/>
                    <a:pt x="211623" y="66562"/>
                  </a:cubicBezTo>
                  <a:lnTo>
                    <a:pt x="193371" y="78724"/>
                  </a:lnTo>
                  <a:lnTo>
                    <a:pt x="193371" y="96334"/>
                  </a:lnTo>
                  <a:cubicBezTo>
                    <a:pt x="193317" y="147601"/>
                    <a:pt x="151770" y="189148"/>
                    <a:pt x="100502" y="189202"/>
                  </a:cubicBezTo>
                  <a:lnTo>
                    <a:pt x="7633" y="189202"/>
                  </a:lnTo>
                  <a:cubicBezTo>
                    <a:pt x="4886" y="189204"/>
                    <a:pt x="2381" y="187630"/>
                    <a:pt x="1190" y="185154"/>
                  </a:cubicBezTo>
                  <a:cubicBezTo>
                    <a:pt x="0" y="182678"/>
                    <a:pt x="335" y="179738"/>
                    <a:pt x="2052" y="177594"/>
                  </a:cubicBezTo>
                  <a:lnTo>
                    <a:pt x="86214" y="72393"/>
                  </a:lnTo>
                  <a:lnTo>
                    <a:pt x="86214" y="57043"/>
                  </a:lnTo>
                  <a:cubicBezTo>
                    <a:pt x="86190" y="30597"/>
                    <a:pt x="105464" y="8089"/>
                    <a:pt x="131598" y="4045"/>
                  </a:cubicBezTo>
                  <a:cubicBezTo>
                    <a:pt x="157732" y="0"/>
                    <a:pt x="182909" y="15629"/>
                    <a:pt x="190879" y="40844"/>
                  </a:cubicBezTo>
                  <a:lnTo>
                    <a:pt x="211623" y="54668"/>
                  </a:lnTo>
                  <a:cubicBezTo>
                    <a:pt x="213611" y="55994"/>
                    <a:pt x="214804" y="58226"/>
                    <a:pt x="214802" y="60615"/>
                  </a:cubicBezTo>
                  <a:close/>
                  <a:moveTo>
                    <a:pt x="194782" y="60615"/>
                  </a:moveTo>
                  <a:lnTo>
                    <a:pt x="180780" y="51274"/>
                  </a:lnTo>
                  <a:cubicBezTo>
                    <a:pt x="179319" y="50303"/>
                    <a:pt x="178267" y="48828"/>
                    <a:pt x="177824" y="47131"/>
                  </a:cubicBezTo>
                  <a:cubicBezTo>
                    <a:pt x="172856" y="27980"/>
                    <a:pt x="154422" y="15510"/>
                    <a:pt x="134797" y="18026"/>
                  </a:cubicBezTo>
                  <a:cubicBezTo>
                    <a:pt x="115172" y="20542"/>
                    <a:pt x="100479" y="37258"/>
                    <a:pt x="100502" y="57043"/>
                  </a:cubicBezTo>
                  <a:lnTo>
                    <a:pt x="100502" y="74902"/>
                  </a:lnTo>
                  <a:cubicBezTo>
                    <a:pt x="100503" y="76525"/>
                    <a:pt x="99952" y="78100"/>
                    <a:pt x="98939" y="79367"/>
                  </a:cubicBezTo>
                  <a:lnTo>
                    <a:pt x="22492" y="174915"/>
                  </a:lnTo>
                  <a:lnTo>
                    <a:pt x="100502" y="174915"/>
                  </a:lnTo>
                  <a:cubicBezTo>
                    <a:pt x="143881" y="174866"/>
                    <a:pt x="179034" y="139712"/>
                    <a:pt x="179083" y="96334"/>
                  </a:cubicBezTo>
                  <a:lnTo>
                    <a:pt x="179083" y="74902"/>
                  </a:lnTo>
                  <a:cubicBezTo>
                    <a:pt x="179082" y="72513"/>
                    <a:pt x="180275" y="70281"/>
                    <a:pt x="182262" y="68955"/>
                  </a:cubicBezTo>
                  <a:close/>
                </a:path>
              </a:pathLst>
            </a:custGeom>
            <a:solidFill>
              <a:srgbClr val="FFFFFF"/>
            </a:solidFill>
            <a:ln>
              <a:noFill/>
            </a:ln>
          </p:spPr>
        </p:sp>
      </p:grpSp>
      <p:grpSp>
        <p:nvGrpSpPr>
          <p:cNvPr id="21" name="Group 21"/>
          <p:cNvGrpSpPr/>
          <p:nvPr/>
        </p:nvGrpSpPr>
        <p:grpSpPr>
          <a:xfrm>
            <a:off x="3142638" y="5823778"/>
            <a:ext cx="268504" cy="236505"/>
            <a:chOff x="3142638" y="5823778"/>
            <a:chExt cx="268504" cy="236505"/>
          </a:xfrm>
        </p:grpSpPr>
        <p:sp>
          <p:nvSpPr>
            <p:cNvPr id="19" name="Freeform 19"/>
            <p:cNvSpPr/>
            <p:nvPr/>
          </p:nvSpPr>
          <p:spPr>
            <a:xfrm>
              <a:off x="3152180" y="5833754"/>
              <a:ext cx="250031" cy="217597"/>
            </a:xfrm>
            <a:custGeom>
              <a:avLst/>
              <a:gdLst/>
              <a:ahLst/>
              <a:cxnLst/>
              <a:rect l="l" t="t" r="r" b="b"/>
              <a:pathLst>
                <a:path w="250031" h="217597">
                  <a:moveTo>
                    <a:pt x="250031" y="65792"/>
                  </a:moveTo>
                  <a:lnTo>
                    <a:pt x="223242" y="83652"/>
                  </a:lnTo>
                  <a:lnTo>
                    <a:pt x="223242" y="110441"/>
                  </a:lnTo>
                  <a:cubicBezTo>
                    <a:pt x="223242" y="169622"/>
                    <a:pt x="175267" y="217597"/>
                    <a:pt x="116086" y="217597"/>
                  </a:cubicBezTo>
                  <a:lnTo>
                    <a:pt x="0" y="217597"/>
                  </a:lnTo>
                  <a:lnTo>
                    <a:pt x="107156" y="83652"/>
                  </a:lnTo>
                  <a:lnTo>
                    <a:pt x="107156" y="61328"/>
                  </a:lnTo>
                  <a:cubicBezTo>
                    <a:pt x="107135" y="32107"/>
                    <a:pt x="128840" y="7426"/>
                    <a:pt x="157823" y="3713"/>
                  </a:cubicBezTo>
                  <a:cubicBezTo>
                    <a:pt x="186807" y="0"/>
                    <a:pt x="214032" y="18412"/>
                    <a:pt x="221378" y="46694"/>
                  </a:cubicBezTo>
                  <a:close/>
                </a:path>
              </a:pathLst>
            </a:custGeom>
            <a:solidFill>
              <a:srgbClr val="FFFFFF">
                <a:alpha val="20000"/>
              </a:srgbClr>
            </a:solidFill>
            <a:ln>
              <a:noFill/>
            </a:ln>
          </p:spPr>
        </p:sp>
        <p:sp>
          <p:nvSpPr>
            <p:cNvPr id="20" name="Freeform 20"/>
            <p:cNvSpPr/>
            <p:nvPr/>
          </p:nvSpPr>
          <p:spPr>
            <a:xfrm>
              <a:off x="3142638" y="5823778"/>
              <a:ext cx="268504" cy="236505"/>
            </a:xfrm>
            <a:custGeom>
              <a:avLst/>
              <a:gdLst/>
              <a:ahLst/>
              <a:cxnLst/>
              <a:rect l="l" t="t" r="r" b="b"/>
              <a:pathLst>
                <a:path w="268504" h="236505">
                  <a:moveTo>
                    <a:pt x="197065" y="62374"/>
                  </a:moveTo>
                  <a:cubicBezTo>
                    <a:pt x="197065" y="69772"/>
                    <a:pt x="191068" y="75768"/>
                    <a:pt x="183670" y="75768"/>
                  </a:cubicBezTo>
                  <a:cubicBezTo>
                    <a:pt x="176273" y="75768"/>
                    <a:pt x="170276" y="69772"/>
                    <a:pt x="170276" y="62374"/>
                  </a:cubicBezTo>
                  <a:cubicBezTo>
                    <a:pt x="170276" y="54976"/>
                    <a:pt x="176273" y="48979"/>
                    <a:pt x="183670" y="48979"/>
                  </a:cubicBezTo>
                  <a:cubicBezTo>
                    <a:pt x="191068" y="48979"/>
                    <a:pt x="197065" y="54976"/>
                    <a:pt x="197065" y="62374"/>
                  </a:cubicBezTo>
                  <a:close/>
                  <a:moveTo>
                    <a:pt x="140272" y="131412"/>
                  </a:moveTo>
                  <a:cubicBezTo>
                    <a:pt x="138456" y="129891"/>
                    <a:pt x="136110" y="129155"/>
                    <a:pt x="133751" y="129364"/>
                  </a:cubicBezTo>
                  <a:cubicBezTo>
                    <a:pt x="131392" y="129574"/>
                    <a:pt x="129213" y="130712"/>
                    <a:pt x="127692" y="132528"/>
                  </a:cubicBezTo>
                  <a:lnTo>
                    <a:pt x="83044" y="186106"/>
                  </a:lnTo>
                  <a:cubicBezTo>
                    <a:pt x="79888" y="189897"/>
                    <a:pt x="80402" y="195529"/>
                    <a:pt x="84194" y="198686"/>
                  </a:cubicBezTo>
                  <a:cubicBezTo>
                    <a:pt x="87985" y="201842"/>
                    <a:pt x="93617" y="201327"/>
                    <a:pt x="96773" y="197536"/>
                  </a:cubicBezTo>
                  <a:lnTo>
                    <a:pt x="141422" y="143958"/>
                  </a:lnTo>
                  <a:cubicBezTo>
                    <a:pt x="144557" y="140172"/>
                    <a:pt x="144043" y="134564"/>
                    <a:pt x="140272" y="131412"/>
                  </a:cubicBezTo>
                  <a:close/>
                  <a:moveTo>
                    <a:pt x="268502" y="75768"/>
                  </a:moveTo>
                  <a:cubicBezTo>
                    <a:pt x="268504" y="78755"/>
                    <a:pt x="267013" y="81545"/>
                    <a:pt x="264529" y="83202"/>
                  </a:cubicBezTo>
                  <a:lnTo>
                    <a:pt x="241713" y="98405"/>
                  </a:lnTo>
                  <a:lnTo>
                    <a:pt x="241713" y="120417"/>
                  </a:lnTo>
                  <a:cubicBezTo>
                    <a:pt x="241646" y="184501"/>
                    <a:pt x="189712" y="236435"/>
                    <a:pt x="125627" y="236503"/>
                  </a:cubicBezTo>
                  <a:lnTo>
                    <a:pt x="9542" y="236503"/>
                  </a:lnTo>
                  <a:cubicBezTo>
                    <a:pt x="6107" y="236505"/>
                    <a:pt x="2976" y="234537"/>
                    <a:pt x="1488" y="231442"/>
                  </a:cubicBezTo>
                  <a:cubicBezTo>
                    <a:pt x="0" y="228347"/>
                    <a:pt x="419" y="224673"/>
                    <a:pt x="2565" y="221992"/>
                  </a:cubicBezTo>
                  <a:lnTo>
                    <a:pt x="107768" y="90491"/>
                  </a:lnTo>
                  <a:lnTo>
                    <a:pt x="107768" y="71304"/>
                  </a:lnTo>
                  <a:cubicBezTo>
                    <a:pt x="107737" y="38247"/>
                    <a:pt x="131830" y="10112"/>
                    <a:pt x="164498" y="5056"/>
                  </a:cubicBezTo>
                  <a:cubicBezTo>
                    <a:pt x="197166" y="0"/>
                    <a:pt x="228636" y="19536"/>
                    <a:pt x="238599" y="51056"/>
                  </a:cubicBezTo>
                  <a:lnTo>
                    <a:pt x="264529" y="68335"/>
                  </a:lnTo>
                  <a:cubicBezTo>
                    <a:pt x="267013" y="69992"/>
                    <a:pt x="268504" y="72782"/>
                    <a:pt x="268502" y="75768"/>
                  </a:cubicBezTo>
                  <a:close/>
                  <a:moveTo>
                    <a:pt x="243477" y="75768"/>
                  </a:moveTo>
                  <a:lnTo>
                    <a:pt x="225975" y="64093"/>
                  </a:lnTo>
                  <a:cubicBezTo>
                    <a:pt x="224149" y="62879"/>
                    <a:pt x="222834" y="61035"/>
                    <a:pt x="222280" y="58914"/>
                  </a:cubicBezTo>
                  <a:cubicBezTo>
                    <a:pt x="216069" y="34974"/>
                    <a:pt x="193027" y="19388"/>
                    <a:pt x="168496" y="22533"/>
                  </a:cubicBezTo>
                  <a:cubicBezTo>
                    <a:pt x="143965" y="25677"/>
                    <a:pt x="125599" y="46572"/>
                    <a:pt x="125627" y="71304"/>
                  </a:cubicBezTo>
                  <a:lnTo>
                    <a:pt x="125627" y="93628"/>
                  </a:lnTo>
                  <a:cubicBezTo>
                    <a:pt x="125629" y="95656"/>
                    <a:pt x="124940" y="97624"/>
                    <a:pt x="123674" y="99209"/>
                  </a:cubicBezTo>
                  <a:lnTo>
                    <a:pt x="28115" y="218643"/>
                  </a:lnTo>
                  <a:lnTo>
                    <a:pt x="125627" y="218643"/>
                  </a:lnTo>
                  <a:cubicBezTo>
                    <a:pt x="179851" y="218582"/>
                    <a:pt x="223793" y="174640"/>
                    <a:pt x="223854" y="120417"/>
                  </a:cubicBezTo>
                  <a:lnTo>
                    <a:pt x="223854" y="93628"/>
                  </a:lnTo>
                  <a:cubicBezTo>
                    <a:pt x="223852" y="90641"/>
                    <a:pt x="225343" y="87851"/>
                    <a:pt x="227828" y="86194"/>
                  </a:cubicBezTo>
                  <a:close/>
                </a:path>
              </a:pathLst>
            </a:custGeom>
            <a:solidFill>
              <a:srgbClr val="FFFFFF"/>
            </a:solidFill>
            <a:ln>
              <a:noFill/>
            </a:ln>
          </p:spPr>
        </p:sp>
      </p:grpSp>
      <p:grpSp>
        <p:nvGrpSpPr>
          <p:cNvPr id="24" name="Group 24"/>
          <p:cNvGrpSpPr/>
          <p:nvPr/>
        </p:nvGrpSpPr>
        <p:grpSpPr>
          <a:xfrm>
            <a:off x="4656470" y="665312"/>
            <a:ext cx="287298" cy="211382"/>
            <a:chOff x="4656470" y="665312"/>
            <a:chExt cx="287298" cy="211382"/>
          </a:xfrm>
        </p:grpSpPr>
        <p:sp>
          <p:nvSpPr>
            <p:cNvPr id="22" name="Freeform 22"/>
            <p:cNvSpPr/>
            <p:nvPr/>
          </p:nvSpPr>
          <p:spPr>
            <a:xfrm>
              <a:off x="4686300" y="676275"/>
              <a:ext cx="228600" cy="152400"/>
            </a:xfrm>
            <a:custGeom>
              <a:avLst/>
              <a:gdLst/>
              <a:ahLst/>
              <a:cxnLst/>
              <a:rect l="l" t="t" r="r" b="b"/>
              <a:pathLst>
                <a:path w="228600" h="152400">
                  <a:moveTo>
                    <a:pt x="161925" y="104775"/>
                  </a:moveTo>
                  <a:cubicBezTo>
                    <a:pt x="161925" y="131078"/>
                    <a:pt x="140603" y="152400"/>
                    <a:pt x="114300" y="152400"/>
                  </a:cubicBezTo>
                  <a:cubicBezTo>
                    <a:pt x="87997" y="152400"/>
                    <a:pt x="66675" y="131078"/>
                    <a:pt x="66675" y="104775"/>
                  </a:cubicBezTo>
                  <a:cubicBezTo>
                    <a:pt x="66675" y="78472"/>
                    <a:pt x="87997" y="57150"/>
                    <a:pt x="114300" y="57150"/>
                  </a:cubicBezTo>
                  <a:cubicBezTo>
                    <a:pt x="140603" y="57150"/>
                    <a:pt x="161925" y="78472"/>
                    <a:pt x="161925" y="104775"/>
                  </a:cubicBezTo>
                  <a:close/>
                  <a:moveTo>
                    <a:pt x="38100" y="0"/>
                  </a:moveTo>
                  <a:cubicBezTo>
                    <a:pt x="17058" y="0"/>
                    <a:pt x="0" y="17058"/>
                    <a:pt x="0" y="38100"/>
                  </a:cubicBezTo>
                  <a:cubicBezTo>
                    <a:pt x="0" y="59142"/>
                    <a:pt x="17058" y="76200"/>
                    <a:pt x="38100" y="76200"/>
                  </a:cubicBezTo>
                  <a:cubicBezTo>
                    <a:pt x="59142" y="76200"/>
                    <a:pt x="76200" y="59142"/>
                    <a:pt x="76200" y="38100"/>
                  </a:cubicBezTo>
                  <a:cubicBezTo>
                    <a:pt x="76200" y="17058"/>
                    <a:pt x="59142" y="0"/>
                    <a:pt x="38100" y="0"/>
                  </a:cubicBezTo>
                  <a:close/>
                  <a:moveTo>
                    <a:pt x="190500" y="0"/>
                  </a:moveTo>
                  <a:cubicBezTo>
                    <a:pt x="169458" y="0"/>
                    <a:pt x="152400" y="17058"/>
                    <a:pt x="152400" y="38100"/>
                  </a:cubicBezTo>
                  <a:cubicBezTo>
                    <a:pt x="152400" y="59142"/>
                    <a:pt x="169458" y="76200"/>
                    <a:pt x="190500" y="76200"/>
                  </a:cubicBezTo>
                  <a:cubicBezTo>
                    <a:pt x="211542" y="76200"/>
                    <a:pt x="228600" y="59142"/>
                    <a:pt x="228600" y="38100"/>
                  </a:cubicBezTo>
                  <a:cubicBezTo>
                    <a:pt x="228600" y="17058"/>
                    <a:pt x="211542" y="0"/>
                    <a:pt x="190500" y="0"/>
                  </a:cubicBezTo>
                  <a:close/>
                </a:path>
              </a:pathLst>
            </a:custGeom>
            <a:solidFill>
              <a:srgbClr val="8B0012">
                <a:alpha val="20000"/>
              </a:srgbClr>
            </a:solidFill>
            <a:ln>
              <a:noFill/>
            </a:ln>
          </p:spPr>
        </p:sp>
        <p:sp>
          <p:nvSpPr>
            <p:cNvPr id="23" name="Freeform 23"/>
            <p:cNvSpPr/>
            <p:nvPr/>
          </p:nvSpPr>
          <p:spPr>
            <a:xfrm>
              <a:off x="4656470" y="665312"/>
              <a:ext cx="287298" cy="211382"/>
            </a:xfrm>
            <a:custGeom>
              <a:avLst/>
              <a:gdLst/>
              <a:ahLst/>
              <a:cxnLst/>
              <a:rect l="l" t="t" r="r" b="b"/>
              <a:pathLst>
                <a:path w="287298" h="211382">
                  <a:moveTo>
                    <a:pt x="283195" y="123358"/>
                  </a:moveTo>
                  <a:cubicBezTo>
                    <a:pt x="278986" y="126514"/>
                    <a:pt x="273016" y="125661"/>
                    <a:pt x="269860" y="121453"/>
                  </a:cubicBezTo>
                  <a:cubicBezTo>
                    <a:pt x="258217" y="105803"/>
                    <a:pt x="239835" y="96612"/>
                    <a:pt x="220330" y="96688"/>
                  </a:cubicBezTo>
                  <a:cubicBezTo>
                    <a:pt x="215069" y="96688"/>
                    <a:pt x="210805" y="92423"/>
                    <a:pt x="210805" y="87163"/>
                  </a:cubicBezTo>
                  <a:cubicBezTo>
                    <a:pt x="210805" y="81902"/>
                    <a:pt x="215069" y="77638"/>
                    <a:pt x="220330" y="77638"/>
                  </a:cubicBezTo>
                  <a:cubicBezTo>
                    <a:pt x="235179" y="77636"/>
                    <a:pt x="247553" y="66262"/>
                    <a:pt x="248801" y="51465"/>
                  </a:cubicBezTo>
                  <a:cubicBezTo>
                    <a:pt x="250049" y="36668"/>
                    <a:pt x="239756" y="23381"/>
                    <a:pt x="225117" y="20892"/>
                  </a:cubicBezTo>
                  <a:cubicBezTo>
                    <a:pt x="210478" y="18403"/>
                    <a:pt x="196372" y="27541"/>
                    <a:pt x="192659" y="41919"/>
                  </a:cubicBezTo>
                  <a:cubicBezTo>
                    <a:pt x="191344" y="47015"/>
                    <a:pt x="186147" y="50080"/>
                    <a:pt x="181051" y="48765"/>
                  </a:cubicBezTo>
                  <a:cubicBezTo>
                    <a:pt x="175955" y="47450"/>
                    <a:pt x="172890" y="42253"/>
                    <a:pt x="174205" y="37156"/>
                  </a:cubicBezTo>
                  <a:cubicBezTo>
                    <a:pt x="179292" y="17473"/>
                    <a:pt x="196312" y="3190"/>
                    <a:pt x="216579" y="1595"/>
                  </a:cubicBezTo>
                  <a:cubicBezTo>
                    <a:pt x="236846" y="0"/>
                    <a:pt x="255891" y="11446"/>
                    <a:pt x="263994" y="30091"/>
                  </a:cubicBezTo>
                  <a:cubicBezTo>
                    <a:pt x="272096" y="48736"/>
                    <a:pt x="267470" y="70469"/>
                    <a:pt x="252476" y="84198"/>
                  </a:cubicBezTo>
                  <a:cubicBezTo>
                    <a:pt x="265428" y="89806"/>
                    <a:pt x="276687" y="98705"/>
                    <a:pt x="285135" y="110011"/>
                  </a:cubicBezTo>
                  <a:cubicBezTo>
                    <a:pt x="286651" y="112037"/>
                    <a:pt x="287298" y="114583"/>
                    <a:pt x="286934" y="117087"/>
                  </a:cubicBezTo>
                  <a:cubicBezTo>
                    <a:pt x="286570" y="119591"/>
                    <a:pt x="285225" y="121847"/>
                    <a:pt x="283195" y="123358"/>
                  </a:cubicBezTo>
                  <a:close/>
                  <a:moveTo>
                    <a:pt x="219044" y="196700"/>
                  </a:moveTo>
                  <a:cubicBezTo>
                    <a:pt x="220854" y="199652"/>
                    <a:pt x="220920" y="203354"/>
                    <a:pt x="219215" y="206368"/>
                  </a:cubicBezTo>
                  <a:cubicBezTo>
                    <a:pt x="217511" y="209382"/>
                    <a:pt x="214305" y="211234"/>
                    <a:pt x="210842" y="211205"/>
                  </a:cubicBezTo>
                  <a:cubicBezTo>
                    <a:pt x="207380" y="211175"/>
                    <a:pt x="204206" y="209268"/>
                    <a:pt x="202554" y="206225"/>
                  </a:cubicBezTo>
                  <a:cubicBezTo>
                    <a:pt x="190344" y="185560"/>
                    <a:pt x="168127" y="172880"/>
                    <a:pt x="144124" y="172880"/>
                  </a:cubicBezTo>
                  <a:cubicBezTo>
                    <a:pt x="120121" y="172880"/>
                    <a:pt x="97903" y="185560"/>
                    <a:pt x="85694" y="206225"/>
                  </a:cubicBezTo>
                  <a:cubicBezTo>
                    <a:pt x="84072" y="209325"/>
                    <a:pt x="80881" y="211287"/>
                    <a:pt x="77383" y="211334"/>
                  </a:cubicBezTo>
                  <a:cubicBezTo>
                    <a:pt x="73884" y="211382"/>
                    <a:pt x="70641" y="209507"/>
                    <a:pt x="68936" y="206452"/>
                  </a:cubicBezTo>
                  <a:cubicBezTo>
                    <a:pt x="67231" y="203397"/>
                    <a:pt x="67338" y="199653"/>
                    <a:pt x="69215" y="196700"/>
                  </a:cubicBezTo>
                  <a:cubicBezTo>
                    <a:pt x="78450" y="180834"/>
                    <a:pt x="92530" y="168348"/>
                    <a:pt x="109387" y="161077"/>
                  </a:cubicBezTo>
                  <a:cubicBezTo>
                    <a:pt x="89938" y="146186"/>
                    <a:pt x="82142" y="120557"/>
                    <a:pt x="90003" y="97358"/>
                  </a:cubicBezTo>
                  <a:cubicBezTo>
                    <a:pt x="97864" y="74159"/>
                    <a:pt x="119635" y="58550"/>
                    <a:pt x="144130" y="58550"/>
                  </a:cubicBezTo>
                  <a:cubicBezTo>
                    <a:pt x="168624" y="58550"/>
                    <a:pt x="190395" y="74159"/>
                    <a:pt x="198256" y="97358"/>
                  </a:cubicBezTo>
                  <a:cubicBezTo>
                    <a:pt x="206118" y="120557"/>
                    <a:pt x="198321" y="146186"/>
                    <a:pt x="178872" y="161077"/>
                  </a:cubicBezTo>
                  <a:cubicBezTo>
                    <a:pt x="195729" y="168348"/>
                    <a:pt x="209809" y="180834"/>
                    <a:pt x="219044" y="196700"/>
                  </a:cubicBezTo>
                  <a:close/>
                  <a:moveTo>
                    <a:pt x="144130" y="153838"/>
                  </a:moveTo>
                  <a:cubicBezTo>
                    <a:pt x="165172" y="153838"/>
                    <a:pt x="182230" y="136780"/>
                    <a:pt x="182230" y="115738"/>
                  </a:cubicBezTo>
                  <a:cubicBezTo>
                    <a:pt x="182230" y="94696"/>
                    <a:pt x="165172" y="77638"/>
                    <a:pt x="144130" y="77638"/>
                  </a:cubicBezTo>
                  <a:cubicBezTo>
                    <a:pt x="123088" y="77638"/>
                    <a:pt x="106030" y="94696"/>
                    <a:pt x="106030" y="115738"/>
                  </a:cubicBezTo>
                  <a:cubicBezTo>
                    <a:pt x="106030" y="136780"/>
                    <a:pt x="123088" y="153838"/>
                    <a:pt x="144130" y="153838"/>
                  </a:cubicBezTo>
                  <a:close/>
                  <a:moveTo>
                    <a:pt x="77455" y="87163"/>
                  </a:moveTo>
                  <a:cubicBezTo>
                    <a:pt x="77455" y="81902"/>
                    <a:pt x="73190" y="77638"/>
                    <a:pt x="67930" y="77638"/>
                  </a:cubicBezTo>
                  <a:cubicBezTo>
                    <a:pt x="53080" y="77636"/>
                    <a:pt x="40707" y="66262"/>
                    <a:pt x="39458" y="51465"/>
                  </a:cubicBezTo>
                  <a:cubicBezTo>
                    <a:pt x="38210" y="36668"/>
                    <a:pt x="48503" y="23381"/>
                    <a:pt x="63142" y="20892"/>
                  </a:cubicBezTo>
                  <a:cubicBezTo>
                    <a:pt x="77781" y="18403"/>
                    <a:pt x="91887" y="27541"/>
                    <a:pt x="95600" y="41919"/>
                  </a:cubicBezTo>
                  <a:cubicBezTo>
                    <a:pt x="96915" y="47015"/>
                    <a:pt x="102112" y="50080"/>
                    <a:pt x="107208" y="48765"/>
                  </a:cubicBezTo>
                  <a:cubicBezTo>
                    <a:pt x="112304" y="47450"/>
                    <a:pt x="115370" y="42253"/>
                    <a:pt x="114054" y="37156"/>
                  </a:cubicBezTo>
                  <a:cubicBezTo>
                    <a:pt x="108968" y="17473"/>
                    <a:pt x="91947" y="3190"/>
                    <a:pt x="71680" y="1595"/>
                  </a:cubicBezTo>
                  <a:cubicBezTo>
                    <a:pt x="51413" y="0"/>
                    <a:pt x="32368" y="11446"/>
                    <a:pt x="24266" y="30091"/>
                  </a:cubicBezTo>
                  <a:cubicBezTo>
                    <a:pt x="16163" y="48736"/>
                    <a:pt x="20789" y="70469"/>
                    <a:pt x="35783" y="84198"/>
                  </a:cubicBezTo>
                  <a:cubicBezTo>
                    <a:pt x="22844" y="89811"/>
                    <a:pt x="11598" y="98710"/>
                    <a:pt x="3160" y="110011"/>
                  </a:cubicBezTo>
                  <a:cubicBezTo>
                    <a:pt x="0" y="114219"/>
                    <a:pt x="850" y="120192"/>
                    <a:pt x="5059" y="123352"/>
                  </a:cubicBezTo>
                  <a:cubicBezTo>
                    <a:pt x="9267" y="126511"/>
                    <a:pt x="15240" y="125661"/>
                    <a:pt x="18400" y="121453"/>
                  </a:cubicBezTo>
                  <a:cubicBezTo>
                    <a:pt x="30042" y="105803"/>
                    <a:pt x="48424" y="96612"/>
                    <a:pt x="67930" y="96688"/>
                  </a:cubicBezTo>
                  <a:cubicBezTo>
                    <a:pt x="73190" y="96688"/>
                    <a:pt x="77455" y="92423"/>
                    <a:pt x="77455" y="87163"/>
                  </a:cubicBezTo>
                  <a:close/>
                </a:path>
              </a:pathLst>
            </a:custGeom>
            <a:solidFill>
              <a:srgbClr val="8B0012"/>
            </a:solidFill>
            <a:ln>
              <a:noFill/>
            </a:ln>
          </p:spPr>
        </p:sp>
      </p:grpSp>
      <p:sp>
        <p:nvSpPr>
          <p:cNvPr id="25" name="TextBox 25"/>
          <p:cNvSpPr txBox="1"/>
          <p:nvPr/>
        </p:nvSpPr>
        <p:spPr>
          <a:xfrm>
            <a:off x="5046345" y="660082"/>
            <a:ext cx="1472382" cy="335280"/>
          </a:xfrm>
          <a:prstGeom prst="rect">
            <a:avLst/>
          </a:prstGeom>
          <a:noFill/>
          <a:ln>
            <a:noFill/>
          </a:ln>
        </p:spPr>
        <p:txBody>
          <a:bodyPr wrap="none" lIns="0" tIns="0" rIns="0" bIns="0" anchor="t" anchorCtr="0">
            <a:spAutoFit/>
          </a:bodyPr>
          <a:lstStyle/>
          <a:p>
            <a:pPr algn="l"/>
            <a:r>
              <a:rPr lang="zh-CN" sz="1650" b="1" dirty="0">
                <a:solidFill>
                  <a:srgbClr val="8B0012"/>
                </a:solidFill>
                <a:latin typeface="Arial"/>
                <a:ea typeface="Microsoft YaHei"/>
                <a:cs typeface="Arial"/>
              </a:rPr>
              <a:t>Co-authors</a:t>
            </a:r>
          </a:p>
        </p:txBody>
      </p:sp>
      <p:sp>
        <p:nvSpPr>
          <p:cNvPr id="26" name="Ellipse 26"/>
          <p:cNvSpPr/>
          <p:nvPr/>
        </p:nvSpPr>
        <p:spPr>
          <a:xfrm>
            <a:off x="4676775" y="1133475"/>
            <a:ext cx="95250" cy="95250"/>
          </a:xfrm>
          <a:prstGeom prst="ellipse">
            <a:avLst/>
          </a:prstGeom>
          <a:solidFill>
            <a:srgbClr val="8B0012"/>
          </a:solidFill>
          <a:ln>
            <a:noFill/>
          </a:ln>
        </p:spPr>
      </p:sp>
      <p:sp>
        <p:nvSpPr>
          <p:cNvPr id="27" name="TextBox 27"/>
          <p:cNvSpPr txBox="1"/>
          <p:nvPr/>
        </p:nvSpPr>
        <p:spPr>
          <a:xfrm>
            <a:off x="4858702" y="1084421"/>
            <a:ext cx="1527509" cy="289560"/>
          </a:xfrm>
          <a:prstGeom prst="rect">
            <a:avLst/>
          </a:prstGeom>
          <a:noFill/>
          <a:ln>
            <a:noFill/>
          </a:ln>
        </p:spPr>
        <p:txBody>
          <a:bodyPr wrap="none" lIns="0" tIns="0" rIns="0" bIns="0" anchor="t" anchorCtr="0">
            <a:spAutoFit/>
          </a:bodyPr>
          <a:lstStyle/>
          <a:p>
            <a:pPr algn="l"/>
            <a:r>
              <a:rPr lang="zh-CN" sz="1425" b="1" dirty="0">
                <a:solidFill>
                  <a:srgbClr val="111111"/>
                </a:solidFill>
                <a:latin typeface="Arial"/>
                <a:ea typeface="Microsoft YaHei"/>
                <a:cs typeface="Arial"/>
              </a:rPr>
              <a:t>Chenchen Ding</a:t>
            </a:r>
          </a:p>
        </p:txBody>
      </p:sp>
      <p:sp>
        <p:nvSpPr>
          <p:cNvPr id="28" name="TextBox 28"/>
          <p:cNvSpPr txBox="1"/>
          <p:nvPr/>
        </p:nvSpPr>
        <p:spPr>
          <a:xfrm>
            <a:off x="4863465" y="1372552"/>
            <a:ext cx="6357061"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Institute of Ecology, College of Urban and Environmental Sciences, Peking University</a:t>
            </a:r>
          </a:p>
        </p:txBody>
      </p:sp>
      <p:sp>
        <p:nvSpPr>
          <p:cNvPr id="29" name="Ellipse 29"/>
          <p:cNvSpPr/>
          <p:nvPr/>
        </p:nvSpPr>
        <p:spPr>
          <a:xfrm>
            <a:off x="4676775" y="1724025"/>
            <a:ext cx="95250" cy="95250"/>
          </a:xfrm>
          <a:prstGeom prst="ellipse">
            <a:avLst/>
          </a:prstGeom>
          <a:solidFill>
            <a:srgbClr val="8B0012"/>
          </a:solidFill>
          <a:ln>
            <a:noFill/>
          </a:ln>
        </p:spPr>
      </p:sp>
      <p:sp>
        <p:nvSpPr>
          <p:cNvPr id="30" name="TextBox 30"/>
          <p:cNvSpPr txBox="1"/>
          <p:nvPr/>
        </p:nvSpPr>
        <p:spPr>
          <a:xfrm>
            <a:off x="4858702" y="1674971"/>
            <a:ext cx="1836361" cy="289560"/>
          </a:xfrm>
          <a:prstGeom prst="rect">
            <a:avLst/>
          </a:prstGeom>
          <a:noFill/>
          <a:ln>
            <a:noFill/>
          </a:ln>
        </p:spPr>
        <p:txBody>
          <a:bodyPr wrap="none" lIns="0" tIns="0" rIns="0" bIns="0" anchor="t" anchorCtr="0">
            <a:spAutoFit/>
          </a:bodyPr>
          <a:lstStyle/>
          <a:p>
            <a:pPr algn="l"/>
            <a:r>
              <a:rPr lang="zh-CN" sz="1425" b="1" dirty="0">
                <a:solidFill>
                  <a:srgbClr val="111111"/>
                </a:solidFill>
                <a:latin typeface="Arial"/>
                <a:ea typeface="Microsoft YaHei"/>
                <a:cs typeface="Arial"/>
              </a:rPr>
              <a:t>Zhengwang Zhang</a:t>
            </a:r>
          </a:p>
        </p:txBody>
      </p:sp>
      <p:sp>
        <p:nvSpPr>
          <p:cNvPr id="31" name="TextBox 31"/>
          <p:cNvSpPr txBox="1"/>
          <p:nvPr/>
        </p:nvSpPr>
        <p:spPr>
          <a:xfrm>
            <a:off x="4863465" y="1963102"/>
            <a:ext cx="3713264"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School of Life Sciences, Beijing Normal University</a:t>
            </a:r>
          </a:p>
        </p:txBody>
      </p:sp>
      <p:sp>
        <p:nvSpPr>
          <p:cNvPr id="32" name="Ellipse 32"/>
          <p:cNvSpPr/>
          <p:nvPr/>
        </p:nvSpPr>
        <p:spPr>
          <a:xfrm>
            <a:off x="4676775" y="2314575"/>
            <a:ext cx="95250" cy="95250"/>
          </a:xfrm>
          <a:prstGeom prst="ellipse">
            <a:avLst/>
          </a:prstGeom>
          <a:solidFill>
            <a:srgbClr val="8B0012"/>
          </a:solidFill>
          <a:ln>
            <a:noFill/>
          </a:ln>
        </p:spPr>
      </p:sp>
      <p:sp>
        <p:nvSpPr>
          <p:cNvPr id="33" name="TextBox 33"/>
          <p:cNvSpPr txBox="1"/>
          <p:nvPr/>
        </p:nvSpPr>
        <p:spPr>
          <a:xfrm>
            <a:off x="4858702" y="2265521"/>
            <a:ext cx="1465738" cy="289560"/>
          </a:xfrm>
          <a:prstGeom prst="rect">
            <a:avLst/>
          </a:prstGeom>
          <a:noFill/>
          <a:ln>
            <a:noFill/>
          </a:ln>
        </p:spPr>
        <p:txBody>
          <a:bodyPr wrap="none" lIns="0" tIns="0" rIns="0" bIns="0" anchor="t" anchorCtr="0">
            <a:spAutoFit/>
          </a:bodyPr>
          <a:lstStyle/>
          <a:p>
            <a:pPr algn="l"/>
            <a:r>
              <a:rPr lang="zh-CN" sz="1425" b="1" dirty="0">
                <a:solidFill>
                  <a:srgbClr val="111111"/>
                </a:solidFill>
                <a:latin typeface="Arial"/>
                <a:ea typeface="Microsoft YaHei"/>
                <a:cs typeface="Arial"/>
              </a:rPr>
              <a:t>Zhigang Jiang</a:t>
            </a:r>
          </a:p>
        </p:txBody>
      </p:sp>
      <p:sp>
        <p:nvSpPr>
          <p:cNvPr id="34" name="TextBox 34"/>
          <p:cNvSpPr txBox="1"/>
          <p:nvPr/>
        </p:nvSpPr>
        <p:spPr>
          <a:xfrm>
            <a:off x="4863465" y="2553652"/>
            <a:ext cx="3799141"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Institute of Zoology, Chinese Academy of Sciences</a:t>
            </a:r>
          </a:p>
        </p:txBody>
      </p:sp>
      <p:sp>
        <p:nvSpPr>
          <p:cNvPr id="35" name="Ellipse 35"/>
          <p:cNvSpPr/>
          <p:nvPr/>
        </p:nvSpPr>
        <p:spPr>
          <a:xfrm>
            <a:off x="4676775" y="2905125"/>
            <a:ext cx="95250" cy="95250"/>
          </a:xfrm>
          <a:prstGeom prst="ellipse">
            <a:avLst/>
          </a:prstGeom>
          <a:solidFill>
            <a:srgbClr val="8B0012"/>
          </a:solidFill>
          <a:ln>
            <a:noFill/>
          </a:ln>
        </p:spPr>
      </p:sp>
      <p:sp>
        <p:nvSpPr>
          <p:cNvPr id="36" name="TextBox 36"/>
          <p:cNvSpPr txBox="1"/>
          <p:nvPr/>
        </p:nvSpPr>
        <p:spPr>
          <a:xfrm>
            <a:off x="4858702" y="2856071"/>
            <a:ext cx="1467944" cy="289560"/>
          </a:xfrm>
          <a:prstGeom prst="rect">
            <a:avLst/>
          </a:prstGeom>
          <a:noFill/>
          <a:ln>
            <a:noFill/>
          </a:ln>
        </p:spPr>
        <p:txBody>
          <a:bodyPr wrap="none" lIns="0" tIns="0" rIns="0" bIns="0" anchor="t" anchorCtr="0">
            <a:spAutoFit/>
          </a:bodyPr>
          <a:lstStyle/>
          <a:p>
            <a:pPr algn="l"/>
            <a:r>
              <a:rPr lang="zh-CN" sz="1425" b="1" dirty="0">
                <a:solidFill>
                  <a:srgbClr val="111111"/>
                </a:solidFill>
                <a:latin typeface="Arial"/>
                <a:ea typeface="Microsoft YaHei"/>
                <a:cs typeface="Arial"/>
              </a:rPr>
              <a:t>Zhiheng Wang</a:t>
            </a:r>
          </a:p>
        </p:txBody>
      </p:sp>
      <p:sp>
        <p:nvSpPr>
          <p:cNvPr id="37" name="TextBox 37"/>
          <p:cNvSpPr txBox="1"/>
          <p:nvPr/>
        </p:nvSpPr>
        <p:spPr>
          <a:xfrm>
            <a:off x="4863465" y="3144202"/>
            <a:ext cx="6357061"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Institute of Ecology, College of Urban and Environmental Sciences, Peking University</a:t>
            </a:r>
          </a:p>
        </p:txBody>
      </p:sp>
      <p:sp>
        <p:nvSpPr>
          <p:cNvPr id="38" name="Line 38"/>
          <p:cNvSpPr/>
          <p:nvPr/>
        </p:nvSpPr>
        <p:spPr>
          <a:xfrm>
            <a:off x="4648200" y="3657600"/>
            <a:ext cx="7029450" cy="9525"/>
          </a:xfrm>
          <a:custGeom>
            <a:avLst/>
            <a:gdLst/>
            <a:ahLst/>
            <a:cxnLst/>
            <a:rect l="l" t="t" r="r" b="b"/>
            <a:pathLst>
              <a:path w="7029450" h="9525">
                <a:moveTo>
                  <a:pt x="0" y="0"/>
                </a:moveTo>
                <a:lnTo>
                  <a:pt x="7029450" y="0"/>
                </a:lnTo>
              </a:path>
            </a:pathLst>
          </a:custGeom>
          <a:noFill/>
          <a:ln w="9525">
            <a:solidFill>
              <a:srgbClr val="E7E2E3"/>
            </a:solidFill>
          </a:ln>
        </p:spPr>
      </p:sp>
      <p:grpSp>
        <p:nvGrpSpPr>
          <p:cNvPr id="41" name="Group 41"/>
          <p:cNvGrpSpPr/>
          <p:nvPr/>
        </p:nvGrpSpPr>
        <p:grpSpPr>
          <a:xfrm>
            <a:off x="4686300" y="3876675"/>
            <a:ext cx="228600" cy="247650"/>
            <a:chOff x="4686300" y="3876675"/>
            <a:chExt cx="228600" cy="247650"/>
          </a:xfrm>
        </p:grpSpPr>
        <p:sp>
          <p:nvSpPr>
            <p:cNvPr id="39" name="Freeform 39"/>
            <p:cNvSpPr/>
            <p:nvPr/>
          </p:nvSpPr>
          <p:spPr>
            <a:xfrm>
              <a:off x="4695825" y="3886200"/>
              <a:ext cx="209550" cy="114300"/>
            </a:xfrm>
            <a:custGeom>
              <a:avLst/>
              <a:gdLst/>
              <a:ahLst/>
              <a:cxnLst/>
              <a:rect l="l" t="t" r="r" b="b"/>
              <a:pathLst>
                <a:path w="209550" h="114300">
                  <a:moveTo>
                    <a:pt x="209550" y="57150"/>
                  </a:moveTo>
                  <a:cubicBezTo>
                    <a:pt x="209550" y="88713"/>
                    <a:pt x="162639" y="114300"/>
                    <a:pt x="104775" y="114300"/>
                  </a:cubicBezTo>
                  <a:cubicBezTo>
                    <a:pt x="46911" y="114300"/>
                    <a:pt x="0" y="88713"/>
                    <a:pt x="0" y="57150"/>
                  </a:cubicBezTo>
                  <a:cubicBezTo>
                    <a:pt x="0" y="25587"/>
                    <a:pt x="46911" y="0"/>
                    <a:pt x="104775" y="0"/>
                  </a:cubicBezTo>
                  <a:cubicBezTo>
                    <a:pt x="162639" y="0"/>
                    <a:pt x="209550" y="25587"/>
                    <a:pt x="209550" y="57150"/>
                  </a:cubicBezTo>
                  <a:close/>
                </a:path>
              </a:pathLst>
            </a:custGeom>
            <a:solidFill>
              <a:srgbClr val="8B0012">
                <a:alpha val="20000"/>
              </a:srgbClr>
            </a:solidFill>
            <a:ln>
              <a:noFill/>
            </a:ln>
          </p:spPr>
        </p:sp>
        <p:sp>
          <p:nvSpPr>
            <p:cNvPr id="40" name="Freeform 40"/>
            <p:cNvSpPr/>
            <p:nvPr/>
          </p:nvSpPr>
          <p:spPr>
            <a:xfrm>
              <a:off x="4686300" y="3876675"/>
              <a:ext cx="228600" cy="247650"/>
            </a:xfrm>
            <a:custGeom>
              <a:avLst/>
              <a:gdLst/>
              <a:ahLst/>
              <a:cxnLst/>
              <a:rect l="l" t="t" r="r" b="b"/>
              <a:pathLst>
                <a:path w="228600" h="247650">
                  <a:moveTo>
                    <a:pt x="114300" y="0"/>
                  </a:moveTo>
                  <a:cubicBezTo>
                    <a:pt x="50209" y="0"/>
                    <a:pt x="0" y="29289"/>
                    <a:pt x="0" y="66675"/>
                  </a:cubicBezTo>
                  <a:lnTo>
                    <a:pt x="0" y="180975"/>
                  </a:lnTo>
                  <a:cubicBezTo>
                    <a:pt x="0" y="218361"/>
                    <a:pt x="50209" y="247650"/>
                    <a:pt x="114300" y="247650"/>
                  </a:cubicBezTo>
                  <a:cubicBezTo>
                    <a:pt x="178391" y="247650"/>
                    <a:pt x="228600" y="218361"/>
                    <a:pt x="228600" y="180975"/>
                  </a:cubicBezTo>
                  <a:lnTo>
                    <a:pt x="228600" y="66675"/>
                  </a:lnTo>
                  <a:cubicBezTo>
                    <a:pt x="228600" y="29289"/>
                    <a:pt x="178391" y="0"/>
                    <a:pt x="114300" y="0"/>
                  </a:cubicBezTo>
                  <a:close/>
                  <a:moveTo>
                    <a:pt x="209550" y="123825"/>
                  </a:moveTo>
                  <a:cubicBezTo>
                    <a:pt x="209550" y="135279"/>
                    <a:pt x="200168" y="146959"/>
                    <a:pt x="183821" y="155877"/>
                  </a:cubicBezTo>
                  <a:cubicBezTo>
                    <a:pt x="165414" y="165914"/>
                    <a:pt x="140720" y="171450"/>
                    <a:pt x="114300" y="171450"/>
                  </a:cubicBezTo>
                  <a:cubicBezTo>
                    <a:pt x="87880" y="171450"/>
                    <a:pt x="63186" y="165914"/>
                    <a:pt x="44779" y="155877"/>
                  </a:cubicBezTo>
                  <a:cubicBezTo>
                    <a:pt x="28432" y="146959"/>
                    <a:pt x="19050" y="135279"/>
                    <a:pt x="19050" y="123825"/>
                  </a:cubicBezTo>
                  <a:lnTo>
                    <a:pt x="19050" y="104013"/>
                  </a:lnTo>
                  <a:cubicBezTo>
                    <a:pt x="39362" y="121872"/>
                    <a:pt x="74093" y="133350"/>
                    <a:pt x="114300" y="133350"/>
                  </a:cubicBezTo>
                  <a:cubicBezTo>
                    <a:pt x="154507" y="133350"/>
                    <a:pt x="189238" y="121825"/>
                    <a:pt x="209550" y="104013"/>
                  </a:cubicBezTo>
                  <a:close/>
                  <a:moveTo>
                    <a:pt x="44779" y="34623"/>
                  </a:moveTo>
                  <a:cubicBezTo>
                    <a:pt x="63186" y="24586"/>
                    <a:pt x="87880" y="19050"/>
                    <a:pt x="114300" y="19050"/>
                  </a:cubicBezTo>
                  <a:cubicBezTo>
                    <a:pt x="140720" y="19050"/>
                    <a:pt x="165414" y="24586"/>
                    <a:pt x="183821" y="34623"/>
                  </a:cubicBezTo>
                  <a:cubicBezTo>
                    <a:pt x="200168" y="43541"/>
                    <a:pt x="209550" y="55221"/>
                    <a:pt x="209550" y="66675"/>
                  </a:cubicBezTo>
                  <a:cubicBezTo>
                    <a:pt x="209550" y="78129"/>
                    <a:pt x="200168" y="89809"/>
                    <a:pt x="183821" y="98727"/>
                  </a:cubicBezTo>
                  <a:cubicBezTo>
                    <a:pt x="165414" y="108764"/>
                    <a:pt x="140720" y="114300"/>
                    <a:pt x="114300" y="114300"/>
                  </a:cubicBezTo>
                  <a:cubicBezTo>
                    <a:pt x="87880" y="114300"/>
                    <a:pt x="63186" y="108764"/>
                    <a:pt x="44779" y="98727"/>
                  </a:cubicBezTo>
                  <a:cubicBezTo>
                    <a:pt x="28432" y="89809"/>
                    <a:pt x="19050" y="78129"/>
                    <a:pt x="19050" y="66675"/>
                  </a:cubicBezTo>
                  <a:cubicBezTo>
                    <a:pt x="19050" y="55221"/>
                    <a:pt x="28432" y="43541"/>
                    <a:pt x="44779" y="34623"/>
                  </a:cubicBezTo>
                  <a:close/>
                  <a:moveTo>
                    <a:pt x="183821" y="213027"/>
                  </a:moveTo>
                  <a:cubicBezTo>
                    <a:pt x="165414" y="223064"/>
                    <a:pt x="140720" y="228600"/>
                    <a:pt x="114300" y="228600"/>
                  </a:cubicBezTo>
                  <a:cubicBezTo>
                    <a:pt x="87880" y="228600"/>
                    <a:pt x="63186" y="223064"/>
                    <a:pt x="44779" y="213027"/>
                  </a:cubicBezTo>
                  <a:cubicBezTo>
                    <a:pt x="28432" y="204109"/>
                    <a:pt x="19050" y="192429"/>
                    <a:pt x="19050" y="180975"/>
                  </a:cubicBezTo>
                  <a:lnTo>
                    <a:pt x="19050" y="161163"/>
                  </a:lnTo>
                  <a:cubicBezTo>
                    <a:pt x="39362" y="179022"/>
                    <a:pt x="74093" y="190500"/>
                    <a:pt x="114300" y="190500"/>
                  </a:cubicBezTo>
                  <a:cubicBezTo>
                    <a:pt x="154507" y="190500"/>
                    <a:pt x="189238" y="178975"/>
                    <a:pt x="209550" y="161163"/>
                  </a:cubicBezTo>
                  <a:lnTo>
                    <a:pt x="209550" y="180975"/>
                  </a:lnTo>
                  <a:cubicBezTo>
                    <a:pt x="209550" y="192429"/>
                    <a:pt x="200168" y="204109"/>
                    <a:pt x="183821" y="213027"/>
                  </a:cubicBezTo>
                  <a:close/>
                </a:path>
              </a:pathLst>
            </a:custGeom>
            <a:solidFill>
              <a:srgbClr val="8B0012"/>
            </a:solidFill>
            <a:ln>
              <a:noFill/>
            </a:ln>
          </p:spPr>
        </p:sp>
      </p:grpSp>
      <p:sp>
        <p:nvSpPr>
          <p:cNvPr id="42" name="TextBox 42"/>
          <p:cNvSpPr txBox="1"/>
          <p:nvPr/>
        </p:nvSpPr>
        <p:spPr>
          <a:xfrm>
            <a:off x="5046345" y="3898582"/>
            <a:ext cx="2432842" cy="335280"/>
          </a:xfrm>
          <a:prstGeom prst="rect">
            <a:avLst/>
          </a:prstGeom>
          <a:noFill/>
          <a:ln>
            <a:noFill/>
          </a:ln>
        </p:spPr>
        <p:txBody>
          <a:bodyPr wrap="none" lIns="0" tIns="0" rIns="0" bIns="0" anchor="t" anchorCtr="0">
            <a:spAutoFit/>
          </a:bodyPr>
          <a:lstStyle/>
          <a:p>
            <a:pPr algn="l"/>
            <a:r>
              <a:rPr lang="zh-CN" sz="1650" b="1" dirty="0">
                <a:solidFill>
                  <a:srgbClr val="8B0012"/>
                </a:solidFill>
                <a:latin typeface="Arial"/>
                <a:ea typeface="Microsoft YaHei"/>
                <a:cs typeface="Arial"/>
              </a:rPr>
              <a:t>Open data and code</a:t>
            </a:r>
          </a:p>
        </p:txBody>
      </p:sp>
      <p:sp>
        <p:nvSpPr>
          <p:cNvPr id="43" name="TextBox 43"/>
          <p:cNvSpPr txBox="1"/>
          <p:nvPr/>
        </p:nvSpPr>
        <p:spPr>
          <a:xfrm>
            <a:off x="4632960" y="4328160"/>
            <a:ext cx="4781779"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CBNR v2 (CC BY 4.0) · doi.org/10.5281/zenodo.20809949</a:t>
            </a:r>
          </a:p>
        </p:txBody>
      </p:sp>
      <p:grpSp>
        <p:nvGrpSpPr>
          <p:cNvPr id="46" name="Group 46"/>
          <p:cNvGrpSpPr/>
          <p:nvPr/>
        </p:nvGrpSpPr>
        <p:grpSpPr>
          <a:xfrm>
            <a:off x="4648200" y="4648763"/>
            <a:ext cx="176808" cy="176840"/>
            <a:chOff x="4648200" y="4648763"/>
            <a:chExt cx="176808" cy="176840"/>
          </a:xfrm>
        </p:grpSpPr>
        <p:sp>
          <p:nvSpPr>
            <p:cNvPr id="44" name="Freeform 44"/>
            <p:cNvSpPr/>
            <p:nvPr/>
          </p:nvSpPr>
          <p:spPr>
            <a:xfrm>
              <a:off x="4700588" y="4655340"/>
              <a:ext cx="117872" cy="163714"/>
            </a:xfrm>
            <a:custGeom>
              <a:avLst/>
              <a:gdLst/>
              <a:ahLst/>
              <a:cxnLst/>
              <a:rect l="l" t="t" r="r" b="b"/>
              <a:pathLst>
                <a:path w="117872" h="163714">
                  <a:moveTo>
                    <a:pt x="117872" y="58939"/>
                  </a:moveTo>
                  <a:lnTo>
                    <a:pt x="117872" y="65488"/>
                  </a:lnTo>
                  <a:cubicBezTo>
                    <a:pt x="117872" y="87187"/>
                    <a:pt x="100281" y="104778"/>
                    <a:pt x="78581" y="104778"/>
                  </a:cubicBezTo>
                  <a:lnTo>
                    <a:pt x="58936" y="104778"/>
                  </a:lnTo>
                  <a:cubicBezTo>
                    <a:pt x="73402" y="104778"/>
                    <a:pt x="85130" y="116506"/>
                    <a:pt x="85130" y="130972"/>
                  </a:cubicBezTo>
                  <a:lnTo>
                    <a:pt x="85130" y="163714"/>
                  </a:lnTo>
                  <a:lnTo>
                    <a:pt x="32742" y="163714"/>
                  </a:lnTo>
                  <a:lnTo>
                    <a:pt x="32742" y="130972"/>
                  </a:lnTo>
                  <a:cubicBezTo>
                    <a:pt x="32742" y="116506"/>
                    <a:pt x="44470" y="104778"/>
                    <a:pt x="58936" y="104778"/>
                  </a:cubicBezTo>
                  <a:lnTo>
                    <a:pt x="39291" y="104778"/>
                  </a:lnTo>
                  <a:cubicBezTo>
                    <a:pt x="17591" y="104778"/>
                    <a:pt x="0" y="87187"/>
                    <a:pt x="0" y="65488"/>
                  </a:cubicBezTo>
                  <a:lnTo>
                    <a:pt x="0" y="58939"/>
                  </a:lnTo>
                  <a:cubicBezTo>
                    <a:pt x="62" y="50966"/>
                    <a:pt x="2486" y="43189"/>
                    <a:pt x="6966" y="36593"/>
                  </a:cubicBezTo>
                  <a:cubicBezTo>
                    <a:pt x="2331" y="24593"/>
                    <a:pt x="3382" y="11139"/>
                    <a:pt x="9823" y="3"/>
                  </a:cubicBezTo>
                  <a:cubicBezTo>
                    <a:pt x="24351" y="0"/>
                    <a:pt x="37877" y="7407"/>
                    <a:pt x="45700" y="19649"/>
                  </a:cubicBezTo>
                  <a:lnTo>
                    <a:pt x="72172" y="19649"/>
                  </a:lnTo>
                  <a:cubicBezTo>
                    <a:pt x="79995" y="7407"/>
                    <a:pt x="93521" y="0"/>
                    <a:pt x="108049" y="3"/>
                  </a:cubicBezTo>
                  <a:cubicBezTo>
                    <a:pt x="114490" y="11139"/>
                    <a:pt x="115540" y="24593"/>
                    <a:pt x="110906" y="36593"/>
                  </a:cubicBezTo>
                  <a:cubicBezTo>
                    <a:pt x="115386" y="43189"/>
                    <a:pt x="117810" y="50966"/>
                    <a:pt x="117872" y="58939"/>
                  </a:cubicBezTo>
                  <a:close/>
                </a:path>
              </a:pathLst>
            </a:custGeom>
            <a:solidFill>
              <a:srgbClr val="3F3F3F">
                <a:alpha val="20000"/>
              </a:srgbClr>
            </a:solidFill>
            <a:ln>
              <a:noFill/>
            </a:ln>
          </p:spPr>
        </p:sp>
        <p:sp>
          <p:nvSpPr>
            <p:cNvPr id="45" name="Freeform 45"/>
            <p:cNvSpPr/>
            <p:nvPr/>
          </p:nvSpPr>
          <p:spPr>
            <a:xfrm>
              <a:off x="4648200" y="4648763"/>
              <a:ext cx="176808" cy="176840"/>
            </a:xfrm>
            <a:custGeom>
              <a:avLst/>
              <a:gdLst/>
              <a:ahLst/>
              <a:cxnLst/>
              <a:rect l="l" t="t" r="r" b="b"/>
              <a:pathLst>
                <a:path w="176808" h="176840">
                  <a:moveTo>
                    <a:pt x="170505" y="42335"/>
                  </a:moveTo>
                  <a:cubicBezTo>
                    <a:pt x="174558" y="29283"/>
                    <a:pt x="172964" y="15130"/>
                    <a:pt x="166109" y="3307"/>
                  </a:cubicBezTo>
                  <a:cubicBezTo>
                    <a:pt x="164939" y="1280"/>
                    <a:pt x="162777" y="32"/>
                    <a:pt x="160437" y="32"/>
                  </a:cubicBezTo>
                  <a:cubicBezTo>
                    <a:pt x="144970" y="0"/>
                    <a:pt x="130400" y="7285"/>
                    <a:pt x="121146" y="19678"/>
                  </a:cubicBezTo>
                  <a:lnTo>
                    <a:pt x="101501" y="19678"/>
                  </a:lnTo>
                  <a:cubicBezTo>
                    <a:pt x="92247" y="7285"/>
                    <a:pt x="77677" y="0"/>
                    <a:pt x="62210" y="32"/>
                  </a:cubicBezTo>
                  <a:cubicBezTo>
                    <a:pt x="59870" y="32"/>
                    <a:pt x="57708" y="1280"/>
                    <a:pt x="56538" y="3307"/>
                  </a:cubicBezTo>
                  <a:cubicBezTo>
                    <a:pt x="49684" y="15130"/>
                    <a:pt x="48087" y="29282"/>
                    <a:pt x="52134" y="42335"/>
                  </a:cubicBezTo>
                  <a:cubicBezTo>
                    <a:pt x="48088" y="49397"/>
                    <a:pt x="45921" y="57378"/>
                    <a:pt x="45839" y="65517"/>
                  </a:cubicBezTo>
                  <a:lnTo>
                    <a:pt x="45839" y="72065"/>
                  </a:lnTo>
                  <a:cubicBezTo>
                    <a:pt x="45868" y="94977"/>
                    <a:pt x="62791" y="114356"/>
                    <a:pt x="85490" y="117470"/>
                  </a:cubicBezTo>
                  <a:cubicBezTo>
                    <a:pt x="81009" y="123204"/>
                    <a:pt x="78577" y="130273"/>
                    <a:pt x="78581" y="137550"/>
                  </a:cubicBezTo>
                  <a:lnTo>
                    <a:pt x="78581" y="144098"/>
                  </a:lnTo>
                  <a:lnTo>
                    <a:pt x="58936" y="144098"/>
                  </a:lnTo>
                  <a:cubicBezTo>
                    <a:pt x="48086" y="144098"/>
                    <a:pt x="39291" y="135302"/>
                    <a:pt x="39291" y="124453"/>
                  </a:cubicBezTo>
                  <a:cubicBezTo>
                    <a:pt x="39291" y="106370"/>
                    <a:pt x="24631" y="91710"/>
                    <a:pt x="6548" y="91710"/>
                  </a:cubicBezTo>
                  <a:cubicBezTo>
                    <a:pt x="2932" y="91710"/>
                    <a:pt x="0" y="94642"/>
                    <a:pt x="0" y="98259"/>
                  </a:cubicBezTo>
                  <a:cubicBezTo>
                    <a:pt x="0" y="101876"/>
                    <a:pt x="2932" y="104807"/>
                    <a:pt x="6548" y="104807"/>
                  </a:cubicBezTo>
                  <a:cubicBezTo>
                    <a:pt x="17398" y="104807"/>
                    <a:pt x="26194" y="113603"/>
                    <a:pt x="26194" y="124453"/>
                  </a:cubicBezTo>
                  <a:cubicBezTo>
                    <a:pt x="26194" y="142536"/>
                    <a:pt x="40853" y="157195"/>
                    <a:pt x="58936" y="157195"/>
                  </a:cubicBezTo>
                  <a:lnTo>
                    <a:pt x="78581" y="157195"/>
                  </a:lnTo>
                  <a:lnTo>
                    <a:pt x="78581" y="170292"/>
                  </a:lnTo>
                  <a:cubicBezTo>
                    <a:pt x="78581" y="173908"/>
                    <a:pt x="81513" y="176840"/>
                    <a:pt x="85130" y="176840"/>
                  </a:cubicBezTo>
                  <a:cubicBezTo>
                    <a:pt x="88746" y="176840"/>
                    <a:pt x="91678" y="173908"/>
                    <a:pt x="91678" y="170292"/>
                  </a:cubicBezTo>
                  <a:lnTo>
                    <a:pt x="91678" y="137550"/>
                  </a:lnTo>
                  <a:cubicBezTo>
                    <a:pt x="91678" y="126700"/>
                    <a:pt x="100474" y="117904"/>
                    <a:pt x="111323" y="117904"/>
                  </a:cubicBezTo>
                  <a:cubicBezTo>
                    <a:pt x="122173" y="117904"/>
                    <a:pt x="130969" y="126700"/>
                    <a:pt x="130969" y="137550"/>
                  </a:cubicBezTo>
                  <a:lnTo>
                    <a:pt x="130969" y="170292"/>
                  </a:lnTo>
                  <a:cubicBezTo>
                    <a:pt x="130969" y="173908"/>
                    <a:pt x="133901" y="176840"/>
                    <a:pt x="137517" y="176840"/>
                  </a:cubicBezTo>
                  <a:cubicBezTo>
                    <a:pt x="141134" y="176840"/>
                    <a:pt x="144066" y="173908"/>
                    <a:pt x="144066" y="170292"/>
                  </a:cubicBezTo>
                  <a:lnTo>
                    <a:pt x="144066" y="137550"/>
                  </a:lnTo>
                  <a:cubicBezTo>
                    <a:pt x="144070" y="130273"/>
                    <a:pt x="141638" y="123204"/>
                    <a:pt x="137157" y="117470"/>
                  </a:cubicBezTo>
                  <a:cubicBezTo>
                    <a:pt x="159856" y="114356"/>
                    <a:pt x="176779" y="94977"/>
                    <a:pt x="176808" y="72065"/>
                  </a:cubicBezTo>
                  <a:lnTo>
                    <a:pt x="176808" y="65517"/>
                  </a:lnTo>
                  <a:cubicBezTo>
                    <a:pt x="176729" y="57377"/>
                    <a:pt x="174558" y="49394"/>
                    <a:pt x="170505" y="42335"/>
                  </a:cubicBezTo>
                  <a:close/>
                  <a:moveTo>
                    <a:pt x="163711" y="72065"/>
                  </a:moveTo>
                  <a:cubicBezTo>
                    <a:pt x="163711" y="90148"/>
                    <a:pt x="149052" y="104807"/>
                    <a:pt x="130969" y="104807"/>
                  </a:cubicBezTo>
                  <a:lnTo>
                    <a:pt x="91678" y="104807"/>
                  </a:lnTo>
                  <a:cubicBezTo>
                    <a:pt x="73595" y="104807"/>
                    <a:pt x="58936" y="90148"/>
                    <a:pt x="58936" y="72065"/>
                  </a:cubicBezTo>
                  <a:lnTo>
                    <a:pt x="58936" y="65517"/>
                  </a:lnTo>
                  <a:cubicBezTo>
                    <a:pt x="59016" y="58969"/>
                    <a:pt x="60977" y="52581"/>
                    <a:pt x="64584" y="47116"/>
                  </a:cubicBezTo>
                  <a:cubicBezTo>
                    <a:pt x="65951" y="45314"/>
                    <a:pt x="66291" y="42934"/>
                    <a:pt x="65484" y="40821"/>
                  </a:cubicBezTo>
                  <a:cubicBezTo>
                    <a:pt x="62039" y="31937"/>
                    <a:pt x="62272" y="22046"/>
                    <a:pt x="66131" y="13334"/>
                  </a:cubicBezTo>
                  <a:cubicBezTo>
                    <a:pt x="76987" y="14502"/>
                    <a:pt x="86722" y="20544"/>
                    <a:pt x="92587" y="29754"/>
                  </a:cubicBezTo>
                  <a:cubicBezTo>
                    <a:pt x="93785" y="31629"/>
                    <a:pt x="95854" y="32766"/>
                    <a:pt x="98079" y="32775"/>
                  </a:cubicBezTo>
                  <a:lnTo>
                    <a:pt x="124559" y="32775"/>
                  </a:lnTo>
                  <a:cubicBezTo>
                    <a:pt x="126793" y="32775"/>
                    <a:pt x="128873" y="31636"/>
                    <a:pt x="130077" y="29754"/>
                  </a:cubicBezTo>
                  <a:cubicBezTo>
                    <a:pt x="135940" y="20543"/>
                    <a:pt x="145676" y="14501"/>
                    <a:pt x="156532" y="13334"/>
                  </a:cubicBezTo>
                  <a:cubicBezTo>
                    <a:pt x="160386" y="22049"/>
                    <a:pt x="160613" y="31939"/>
                    <a:pt x="157162" y="40821"/>
                  </a:cubicBezTo>
                  <a:cubicBezTo>
                    <a:pt x="156358" y="42912"/>
                    <a:pt x="156666" y="45268"/>
                    <a:pt x="157981" y="47083"/>
                  </a:cubicBezTo>
                  <a:cubicBezTo>
                    <a:pt x="161622" y="52549"/>
                    <a:pt x="163612" y="58949"/>
                    <a:pt x="163711" y="65517"/>
                  </a:cubicBezTo>
                  <a:close/>
                </a:path>
              </a:pathLst>
            </a:custGeom>
            <a:solidFill>
              <a:srgbClr val="3F3F3F"/>
            </a:solidFill>
            <a:ln>
              <a:noFill/>
            </a:ln>
          </p:spPr>
        </p:sp>
      </p:grpSp>
      <p:sp>
        <p:nvSpPr>
          <p:cNvPr id="47" name="TextBox 47"/>
          <p:cNvSpPr txBox="1"/>
          <p:nvPr/>
        </p:nvSpPr>
        <p:spPr>
          <a:xfrm>
            <a:off x="4918710" y="4661535"/>
            <a:ext cx="5181371" cy="243840"/>
          </a:xfrm>
          <a:prstGeom prst="rect">
            <a:avLst/>
          </a:prstGeom>
          <a:noFill/>
          <a:ln>
            <a:noFill/>
          </a:ln>
        </p:spPr>
        <p:txBody>
          <a:bodyPr wrap="none" lIns="0" tIns="0" rIns="0" bIns="0" anchor="t" anchorCtr="0">
            <a:spAutoFit/>
          </a:bodyPr>
          <a:lstStyle/>
          <a:p>
            <a:pPr algn="l"/>
            <a:r>
              <a:rPr lang="zh-CN" sz="1200" dirty="0">
                <a:solidFill>
                  <a:srgbClr val="111111"/>
                </a:solidFill>
                <a:latin typeface="Arial"/>
                <a:ea typeface="Microsoft YaHei"/>
                <a:cs typeface="Arial"/>
              </a:rPr>
              <a:t>github.com/dingchenchen6/bird-newrecord-discovery-dated</a:t>
            </a:r>
          </a:p>
        </p:txBody>
      </p:sp>
      <p:sp>
        <p:nvSpPr>
          <p:cNvPr id="48" name="TextBox 48"/>
          <p:cNvSpPr txBox="1"/>
          <p:nvPr/>
        </p:nvSpPr>
        <p:spPr>
          <a:xfrm>
            <a:off x="4634865" y="5030152"/>
            <a:ext cx="5130241"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Climate: WorldClim 2.1 / CRU TS 4.09 · Ranges: BirdLife International</a:t>
            </a:r>
          </a:p>
        </p:txBody>
      </p:sp>
      <p:sp>
        <p:nvSpPr>
          <p:cNvPr id="49" name="TextBox 49"/>
          <p:cNvSpPr txBox="1"/>
          <p:nvPr/>
        </p:nvSpPr>
        <p:spPr>
          <a:xfrm>
            <a:off x="4634865" y="5239702"/>
            <a:ext cx="5117973" cy="213360"/>
          </a:xfrm>
          <a:prstGeom prst="rect">
            <a:avLst/>
          </a:prstGeom>
          <a:noFill/>
          <a:ln>
            <a:noFill/>
          </a:ln>
        </p:spPr>
        <p:txBody>
          <a:bodyPr wrap="none" lIns="0" tIns="0" rIns="0" bIns="0" anchor="t" anchorCtr="0">
            <a:spAutoFit/>
          </a:bodyPr>
          <a:lstStyle/>
          <a:p>
            <a:pPr algn="l"/>
            <a:r>
              <a:rPr lang="zh-CN" sz="1050" dirty="0">
                <a:solidFill>
                  <a:srgbClr val="3F3F3F"/>
                </a:solidFill>
                <a:latin typeface="Arial"/>
                <a:ea typeface="Microsoft YaHei"/>
                <a:cs typeface="Arial"/>
              </a:rPr>
              <a:t>Effort: eBird/GBIF and China Bird Report · Base map: GS(2019)1822</a:t>
            </a:r>
          </a:p>
        </p:txBody>
      </p:sp>
      <p:sp>
        <p:nvSpPr>
          <p:cNvPr id="50" name="Rectangle 50"/>
          <p:cNvSpPr/>
          <p:nvPr/>
        </p:nvSpPr>
        <p:spPr>
          <a:xfrm>
            <a:off x="4648200" y="5619750"/>
            <a:ext cx="5619750" cy="819150"/>
          </a:xfrm>
          <a:prstGeom prst="roundRect">
            <a:avLst>
              <a:gd name="adj" fmla="val 11628"/>
            </a:avLst>
          </a:prstGeom>
          <a:solidFill>
            <a:srgbClr val="F8F2F3"/>
          </a:solidFill>
          <a:ln>
            <a:noFill/>
          </a:ln>
        </p:spPr>
      </p:sp>
      <p:sp>
        <p:nvSpPr>
          <p:cNvPr id="51" name="TextBox 51"/>
          <p:cNvSpPr txBox="1"/>
          <p:nvPr/>
        </p:nvSpPr>
        <p:spPr>
          <a:xfrm>
            <a:off x="4823460" y="5814060"/>
            <a:ext cx="4743221" cy="243840"/>
          </a:xfrm>
          <a:prstGeom prst="rect">
            <a:avLst/>
          </a:prstGeom>
          <a:noFill/>
          <a:ln>
            <a:noFill/>
          </a:ln>
        </p:spPr>
        <p:txBody>
          <a:bodyPr wrap="none" lIns="0" tIns="0" rIns="0" bIns="0" anchor="t" anchorCtr="0">
            <a:spAutoFit/>
          </a:bodyPr>
          <a:lstStyle/>
          <a:p>
            <a:pPr algn="l"/>
            <a:r>
              <a:rPr lang="zh-CN" sz="1200" dirty="0">
                <a:solidFill>
                  <a:srgbClr val="68000D"/>
                </a:solidFill>
                <a:latin typeface="Arial"/>
                <a:ea typeface="Microsoft YaHei"/>
                <a:cs typeface="Arial"/>
              </a:rPr>
              <a:t>We thank birdwatchers across China, and every author</a:t>
            </a:r>
          </a:p>
        </p:txBody>
      </p:sp>
      <p:sp>
        <p:nvSpPr>
          <p:cNvPr id="52" name="TextBox 52"/>
          <p:cNvSpPr txBox="1"/>
          <p:nvPr/>
        </p:nvSpPr>
        <p:spPr>
          <a:xfrm>
            <a:off x="4823460" y="6061710"/>
            <a:ext cx="2953817" cy="243840"/>
          </a:xfrm>
          <a:prstGeom prst="rect">
            <a:avLst/>
          </a:prstGeom>
          <a:noFill/>
          <a:ln>
            <a:noFill/>
          </a:ln>
        </p:spPr>
        <p:txBody>
          <a:bodyPr wrap="none" lIns="0" tIns="0" rIns="0" bIns="0" anchor="t" anchorCtr="0">
            <a:spAutoFit/>
          </a:bodyPr>
          <a:lstStyle/>
          <a:p>
            <a:pPr algn="l"/>
            <a:r>
              <a:rPr lang="zh-CN" sz="1200" dirty="0">
                <a:solidFill>
                  <a:srgbClr val="68000D"/>
                </a:solidFill>
                <a:latin typeface="Arial"/>
                <a:ea typeface="Microsoft YaHei"/>
                <a:cs typeface="Arial"/>
              </a:rPr>
              <a:t>whose records made CBNR possible.</a:t>
            </a:r>
          </a:p>
        </p:txBody>
      </p:sp>
      <p:sp>
        <p:nvSpPr>
          <p:cNvPr id="53" name="Rectangle 53"/>
          <p:cNvSpPr/>
          <p:nvPr/>
        </p:nvSpPr>
        <p:spPr>
          <a:xfrm>
            <a:off x="10496550" y="5295900"/>
            <a:ext cx="1181100" cy="1181100"/>
          </a:xfrm>
          <a:prstGeom prst="roundRect">
            <a:avLst>
              <a:gd name="adj" fmla="val 4839"/>
            </a:avLst>
          </a:prstGeom>
          <a:solidFill>
            <a:srgbClr val="FFFFFF"/>
          </a:solidFill>
          <a:ln w="9525">
            <a:solidFill>
              <a:srgbClr val="D9C7CA"/>
            </a:solidFill>
          </a:ln>
        </p:spPr>
      </p:sp>
      <p:pic>
        <p:nvPicPr>
          <p:cNvPr id="54" name="Image 54"/>
          <p:cNvPicPr>
            <a:picLocks noChangeAspect="1"/>
          </p:cNvPicPr>
          <p:nvPr/>
        </p:nvPicPr>
        <p:blipFill>
          <a:blip r:embed="rId3"/>
          <a:stretch>
            <a:fillRect/>
          </a:stretch>
        </p:blipFill>
        <p:spPr>
          <a:xfrm>
            <a:off x="10553700" y="5353050"/>
            <a:ext cx="1066800" cy="1066800"/>
          </a:xfrm>
          <a:prstGeom prst="rect">
            <a:avLst/>
          </a:prstGeom>
        </p:spPr>
      </p:pic>
      <p:sp>
        <p:nvSpPr>
          <p:cNvPr id="55" name="TextBox 55"/>
          <p:cNvSpPr txBox="1"/>
          <p:nvPr/>
        </p:nvSpPr>
        <p:spPr>
          <a:xfrm>
            <a:off x="10496550" y="5101590"/>
            <a:ext cx="1181100" cy="185738"/>
          </a:xfrm>
          <a:prstGeom prst="rect">
            <a:avLst/>
          </a:prstGeom>
          <a:noFill/>
          <a:ln>
            <a:noFill/>
          </a:ln>
        </p:spPr>
        <p:txBody>
          <a:bodyPr wrap="square" lIns="0" tIns="0" rIns="0" bIns="0" anchor="t" anchorCtr="0">
            <a:normAutofit/>
          </a:bodyPr>
          <a:lstStyle/>
          <a:p>
            <a:pPr algn="ctr"/>
            <a:r>
              <a:rPr lang="zh-CN" sz="975" dirty="0">
                <a:solidFill>
                  <a:srgbClr val="6B6B6B"/>
                </a:solidFill>
                <a:latin typeface="Arial"/>
                <a:ea typeface="Microsoft YaHei"/>
                <a:cs typeface="Arial"/>
              </a:rPr>
              <a:t>CBNR data</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TextBox 10"/>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1" name="TextBox 11"/>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2" name="Freeform 12"/>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3" name="TextBox 13"/>
          <p:cNvSpPr txBox="1"/>
          <p:nvPr/>
        </p:nvSpPr>
        <p:spPr>
          <a:xfrm>
            <a:off x="738188" y="864394"/>
            <a:ext cx="1022947"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Backup</a:t>
            </a:r>
          </a:p>
        </p:txBody>
      </p:sp>
      <p:sp>
        <p:nvSpPr>
          <p:cNvPr id="14" name="Rectangle 14"/>
          <p:cNvSpPr/>
          <p:nvPr/>
        </p:nvSpPr>
        <p:spPr>
          <a:xfrm>
            <a:off x="2743200" y="762000"/>
            <a:ext cx="8934450" cy="438150"/>
          </a:xfrm>
          <a:prstGeom prst="roundRect">
            <a:avLst>
              <a:gd name="adj" fmla="val 17391"/>
            </a:avLst>
          </a:prstGeom>
          <a:solidFill>
            <a:srgbClr val="F8F2F3"/>
          </a:solidFill>
          <a:ln>
            <a:noFill/>
          </a:ln>
        </p:spPr>
      </p:sp>
      <p:sp>
        <p:nvSpPr>
          <p:cNvPr id="15" name="TextBox 15"/>
          <p:cNvSpPr txBox="1"/>
          <p:nvPr/>
        </p:nvSpPr>
        <p:spPr>
          <a:xfrm>
            <a:off x="2915602" y="893921"/>
            <a:ext cx="8154589" cy="289560"/>
          </a:xfrm>
          <a:prstGeom prst="rect">
            <a:avLst/>
          </a:prstGeom>
          <a:noFill/>
          <a:ln>
            <a:noFill/>
          </a:ln>
        </p:spPr>
        <p:txBody>
          <a:bodyPr wrap="none" lIns="0" tIns="0" rIns="0" bIns="0" anchor="t" anchorCtr="0">
            <a:spAutoFit/>
          </a:bodyPr>
          <a:lstStyle/>
          <a:p>
            <a:pPr algn="l"/>
            <a:r>
              <a:rPr lang="zh-CN" sz="1425" b="1" dirty="0">
                <a:solidFill>
                  <a:srgbClr val="3A0008"/>
                </a:solidFill>
                <a:latin typeface="Arial"/>
                <a:ea typeface="Microsoft YaHei"/>
                <a:cs typeface="Arial"/>
              </a:rPr>
              <a:t>Dating to publication inflates effort and creates a phantom climate effect</a:t>
            </a:r>
          </a:p>
        </p:txBody>
      </p:sp>
      <p:sp>
        <p:nvSpPr>
          <p:cNvPr id="16" name="Rectangle 16"/>
          <p:cNvSpPr/>
          <p:nvPr/>
        </p:nvSpPr>
        <p:spPr>
          <a:xfrm>
            <a:off x="2362200" y="1390650"/>
            <a:ext cx="7466648" cy="5048250"/>
          </a:xfrm>
          <a:prstGeom prst="roundRect">
            <a:avLst>
              <a:gd name="adj" fmla="val 1887"/>
            </a:avLst>
          </a:prstGeom>
          <a:solidFill>
            <a:srgbClr val="FFFFFF"/>
          </a:solidFill>
          <a:ln w="14288">
            <a:solidFill>
              <a:srgbClr val="D9C7CA"/>
            </a:solidFill>
          </a:ln>
        </p:spPr>
      </p:sp>
      <p:pic>
        <p:nvPicPr>
          <p:cNvPr id="17" name="Image 17"/>
          <p:cNvPicPr>
            <a:picLocks noChangeAspect="1"/>
          </p:cNvPicPr>
          <p:nvPr/>
        </p:nvPicPr>
        <p:blipFill>
          <a:blip r:embed="rId3"/>
          <a:stretch>
            <a:fillRect/>
          </a:stretch>
        </p:blipFill>
        <p:spPr>
          <a:xfrm>
            <a:off x="2457450" y="1485900"/>
            <a:ext cx="7276148" cy="4572000"/>
          </a:xfrm>
          <a:prstGeom prst="rect">
            <a:avLst/>
          </a:prstGeom>
        </p:spPr>
      </p:pic>
      <p:grpSp>
        <p:nvGrpSpPr>
          <p:cNvPr id="20" name="Group 20"/>
          <p:cNvGrpSpPr/>
          <p:nvPr/>
        </p:nvGrpSpPr>
        <p:grpSpPr>
          <a:xfrm>
            <a:off x="2502694" y="6118622"/>
            <a:ext cx="157162" cy="170259"/>
            <a:chOff x="2502694" y="6118622"/>
            <a:chExt cx="157162" cy="170259"/>
          </a:xfrm>
        </p:grpSpPr>
        <p:sp>
          <p:nvSpPr>
            <p:cNvPr id="18" name="Freeform 18"/>
            <p:cNvSpPr/>
            <p:nvPr/>
          </p:nvSpPr>
          <p:spPr>
            <a:xfrm>
              <a:off x="2509242" y="6138267"/>
              <a:ext cx="144066" cy="39291"/>
            </a:xfrm>
            <a:custGeom>
              <a:avLst/>
              <a:gdLst/>
              <a:ahLst/>
              <a:cxnLst/>
              <a:rect l="l" t="t" r="r" b="b"/>
              <a:pathLst>
                <a:path w="144066" h="39291">
                  <a:moveTo>
                    <a:pt x="144066" y="6548"/>
                  </a:moveTo>
                  <a:lnTo>
                    <a:pt x="144066" y="39291"/>
                  </a:lnTo>
                  <a:lnTo>
                    <a:pt x="0" y="39291"/>
                  </a:lnTo>
                  <a:lnTo>
                    <a:pt x="0" y="6548"/>
                  </a:lnTo>
                  <a:cubicBezTo>
                    <a:pt x="0" y="2932"/>
                    <a:pt x="2932" y="0"/>
                    <a:pt x="6548" y="0"/>
                  </a:cubicBezTo>
                  <a:lnTo>
                    <a:pt x="137517" y="0"/>
                  </a:lnTo>
                  <a:cubicBezTo>
                    <a:pt x="141134" y="0"/>
                    <a:pt x="144066" y="2932"/>
                    <a:pt x="144066" y="6548"/>
                  </a:cubicBezTo>
                  <a:close/>
                </a:path>
              </a:pathLst>
            </a:custGeom>
            <a:solidFill>
              <a:srgbClr val="2F4A6D">
                <a:alpha val="20000"/>
              </a:srgbClr>
            </a:solidFill>
            <a:ln>
              <a:noFill/>
            </a:ln>
          </p:spPr>
        </p:sp>
        <p:sp>
          <p:nvSpPr>
            <p:cNvPr id="19" name="Freeform 19"/>
            <p:cNvSpPr/>
            <p:nvPr/>
          </p:nvSpPr>
          <p:spPr>
            <a:xfrm>
              <a:off x="2502694" y="6118622"/>
              <a:ext cx="157162" cy="170259"/>
            </a:xfrm>
            <a:custGeom>
              <a:avLst/>
              <a:gdLst/>
              <a:ahLst/>
              <a:cxnLst/>
              <a:rect l="l" t="t" r="r" b="b"/>
              <a:pathLst>
                <a:path w="157162" h="170259">
                  <a:moveTo>
                    <a:pt x="144066" y="13097"/>
                  </a:moveTo>
                  <a:lnTo>
                    <a:pt x="124420" y="13097"/>
                  </a:lnTo>
                  <a:lnTo>
                    <a:pt x="124420" y="6548"/>
                  </a:lnTo>
                  <a:cubicBezTo>
                    <a:pt x="124420" y="2932"/>
                    <a:pt x="121488" y="0"/>
                    <a:pt x="117872" y="0"/>
                  </a:cubicBezTo>
                  <a:cubicBezTo>
                    <a:pt x="114255" y="0"/>
                    <a:pt x="111323" y="2932"/>
                    <a:pt x="111323" y="6548"/>
                  </a:cubicBezTo>
                  <a:lnTo>
                    <a:pt x="111323" y="13097"/>
                  </a:lnTo>
                  <a:lnTo>
                    <a:pt x="45839" y="13097"/>
                  </a:lnTo>
                  <a:lnTo>
                    <a:pt x="45839" y="6548"/>
                  </a:lnTo>
                  <a:cubicBezTo>
                    <a:pt x="45839" y="2932"/>
                    <a:pt x="42907" y="0"/>
                    <a:pt x="39291" y="0"/>
                  </a:cubicBezTo>
                  <a:cubicBezTo>
                    <a:pt x="35674" y="0"/>
                    <a:pt x="32742" y="2932"/>
                    <a:pt x="32742" y="6548"/>
                  </a:cubicBezTo>
                  <a:lnTo>
                    <a:pt x="32742" y="13097"/>
                  </a:lnTo>
                  <a:lnTo>
                    <a:pt x="13097" y="13097"/>
                  </a:lnTo>
                  <a:cubicBezTo>
                    <a:pt x="5864" y="13097"/>
                    <a:pt x="0" y="18961"/>
                    <a:pt x="0" y="26194"/>
                  </a:cubicBezTo>
                  <a:lnTo>
                    <a:pt x="0" y="157162"/>
                  </a:lnTo>
                  <a:cubicBezTo>
                    <a:pt x="0" y="164396"/>
                    <a:pt x="5864" y="170259"/>
                    <a:pt x="13097" y="170259"/>
                  </a:cubicBezTo>
                  <a:lnTo>
                    <a:pt x="144066" y="170259"/>
                  </a:lnTo>
                  <a:cubicBezTo>
                    <a:pt x="151299" y="170259"/>
                    <a:pt x="157162" y="164396"/>
                    <a:pt x="157162" y="157162"/>
                  </a:cubicBezTo>
                  <a:lnTo>
                    <a:pt x="157162" y="26194"/>
                  </a:lnTo>
                  <a:cubicBezTo>
                    <a:pt x="157162" y="18961"/>
                    <a:pt x="151299" y="13097"/>
                    <a:pt x="144066" y="13097"/>
                  </a:cubicBezTo>
                  <a:close/>
                  <a:moveTo>
                    <a:pt x="32742" y="26194"/>
                  </a:moveTo>
                  <a:lnTo>
                    <a:pt x="32742" y="32742"/>
                  </a:lnTo>
                  <a:cubicBezTo>
                    <a:pt x="32742" y="36359"/>
                    <a:pt x="35674" y="39291"/>
                    <a:pt x="39291" y="39291"/>
                  </a:cubicBezTo>
                  <a:cubicBezTo>
                    <a:pt x="42907" y="39291"/>
                    <a:pt x="45839" y="36359"/>
                    <a:pt x="45839" y="32742"/>
                  </a:cubicBezTo>
                  <a:lnTo>
                    <a:pt x="45839" y="26194"/>
                  </a:lnTo>
                  <a:lnTo>
                    <a:pt x="111323" y="26194"/>
                  </a:lnTo>
                  <a:lnTo>
                    <a:pt x="111323" y="32742"/>
                  </a:lnTo>
                  <a:cubicBezTo>
                    <a:pt x="111323" y="36359"/>
                    <a:pt x="114255" y="39291"/>
                    <a:pt x="117872" y="39291"/>
                  </a:cubicBezTo>
                  <a:cubicBezTo>
                    <a:pt x="121488" y="39291"/>
                    <a:pt x="124420" y="36359"/>
                    <a:pt x="124420" y="32742"/>
                  </a:cubicBezTo>
                  <a:lnTo>
                    <a:pt x="124420" y="26194"/>
                  </a:lnTo>
                  <a:lnTo>
                    <a:pt x="144066" y="26194"/>
                  </a:lnTo>
                  <a:lnTo>
                    <a:pt x="144066" y="52388"/>
                  </a:lnTo>
                  <a:lnTo>
                    <a:pt x="13097" y="52388"/>
                  </a:lnTo>
                  <a:lnTo>
                    <a:pt x="13097" y="26194"/>
                  </a:lnTo>
                  <a:close/>
                  <a:moveTo>
                    <a:pt x="144066" y="157162"/>
                  </a:moveTo>
                  <a:lnTo>
                    <a:pt x="13097" y="157162"/>
                  </a:lnTo>
                  <a:lnTo>
                    <a:pt x="13097" y="65484"/>
                  </a:lnTo>
                  <a:lnTo>
                    <a:pt x="144066" y="65484"/>
                  </a:lnTo>
                  <a:lnTo>
                    <a:pt x="144066" y="157162"/>
                  </a:lnTo>
                  <a:close/>
                </a:path>
              </a:pathLst>
            </a:custGeom>
            <a:solidFill>
              <a:srgbClr val="2F4A6D"/>
            </a:solidFill>
            <a:ln>
              <a:noFill/>
            </a:ln>
          </p:spPr>
        </p:sp>
      </p:grpSp>
      <p:sp>
        <p:nvSpPr>
          <p:cNvPr id="21" name="TextBox 21"/>
          <p:cNvSpPr txBox="1"/>
          <p:nvPr/>
        </p:nvSpPr>
        <p:spPr>
          <a:xfrm>
            <a:off x="2749868" y="6162199"/>
            <a:ext cx="2603606"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2 Discovery vs publication dating</a:t>
            </a:r>
          </a:p>
        </p:txBody>
      </p:sp>
      <p:sp>
        <p:nvSpPr>
          <p:cNvPr id="22" name="TextBox 22"/>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23" name="TextBox 23"/>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19</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TextBox 10"/>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1" name="TextBox 11"/>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2" name="Freeform 12"/>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3" name="TextBox 13"/>
          <p:cNvSpPr txBox="1"/>
          <p:nvPr/>
        </p:nvSpPr>
        <p:spPr>
          <a:xfrm>
            <a:off x="738188" y="864394"/>
            <a:ext cx="1022947"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Backup</a:t>
            </a:r>
          </a:p>
        </p:txBody>
      </p:sp>
      <p:sp>
        <p:nvSpPr>
          <p:cNvPr id="14" name="Rectangle 14"/>
          <p:cNvSpPr/>
          <p:nvPr/>
        </p:nvSpPr>
        <p:spPr>
          <a:xfrm>
            <a:off x="2743200" y="762000"/>
            <a:ext cx="8934450" cy="438150"/>
          </a:xfrm>
          <a:prstGeom prst="roundRect">
            <a:avLst>
              <a:gd name="adj" fmla="val 17391"/>
            </a:avLst>
          </a:prstGeom>
          <a:solidFill>
            <a:srgbClr val="F8F2F3"/>
          </a:solidFill>
          <a:ln>
            <a:noFill/>
          </a:ln>
        </p:spPr>
      </p:sp>
      <p:sp>
        <p:nvSpPr>
          <p:cNvPr id="15" name="TextBox 15"/>
          <p:cNvSpPr txBox="1"/>
          <p:nvPr/>
        </p:nvSpPr>
        <p:spPr>
          <a:xfrm>
            <a:off x="2915602" y="893921"/>
            <a:ext cx="7448641" cy="289560"/>
          </a:xfrm>
          <a:prstGeom prst="rect">
            <a:avLst/>
          </a:prstGeom>
          <a:noFill/>
          <a:ln>
            <a:noFill/>
          </a:ln>
        </p:spPr>
        <p:txBody>
          <a:bodyPr wrap="none" lIns="0" tIns="0" rIns="0" bIns="0" anchor="t" anchorCtr="0">
            <a:spAutoFit/>
          </a:bodyPr>
          <a:lstStyle/>
          <a:p>
            <a:pPr algn="l"/>
            <a:r>
              <a:rPr lang="zh-CN" sz="1425" b="1" dirty="0">
                <a:solidFill>
                  <a:srgbClr val="3A0008"/>
                </a:solidFill>
                <a:latin typeface="Arial"/>
                <a:ea typeface="Microsoft YaHei"/>
                <a:cs typeface="Arial"/>
              </a:rPr>
              <a:t>Specification robustness: climate indicator, window and effort proxy</a:t>
            </a:r>
          </a:p>
        </p:txBody>
      </p:sp>
      <p:sp>
        <p:nvSpPr>
          <p:cNvPr id="16" name="Rectangle 16"/>
          <p:cNvSpPr/>
          <p:nvPr/>
        </p:nvSpPr>
        <p:spPr>
          <a:xfrm>
            <a:off x="2515552" y="1390650"/>
            <a:ext cx="7161848" cy="5048250"/>
          </a:xfrm>
          <a:prstGeom prst="roundRect">
            <a:avLst>
              <a:gd name="adj" fmla="val 1887"/>
            </a:avLst>
          </a:prstGeom>
          <a:solidFill>
            <a:srgbClr val="FFFFFF"/>
          </a:solidFill>
          <a:ln w="14288">
            <a:solidFill>
              <a:srgbClr val="D9C7CA"/>
            </a:solidFill>
          </a:ln>
        </p:spPr>
      </p:sp>
      <p:pic>
        <p:nvPicPr>
          <p:cNvPr id="17" name="Image 17"/>
          <p:cNvPicPr>
            <a:picLocks noChangeAspect="1"/>
          </p:cNvPicPr>
          <p:nvPr/>
        </p:nvPicPr>
        <p:blipFill>
          <a:blip r:embed="rId3"/>
          <a:stretch>
            <a:fillRect/>
          </a:stretch>
        </p:blipFill>
        <p:spPr>
          <a:xfrm>
            <a:off x="2610802" y="1485900"/>
            <a:ext cx="6971348" cy="4572000"/>
          </a:xfrm>
          <a:prstGeom prst="rect">
            <a:avLst/>
          </a:prstGeom>
        </p:spPr>
      </p:pic>
      <p:grpSp>
        <p:nvGrpSpPr>
          <p:cNvPr id="20" name="Group 20"/>
          <p:cNvGrpSpPr/>
          <p:nvPr/>
        </p:nvGrpSpPr>
        <p:grpSpPr>
          <a:xfrm>
            <a:off x="2670283" y="6112073"/>
            <a:ext cx="163207" cy="200545"/>
            <a:chOff x="2670283" y="6112073"/>
            <a:chExt cx="163207" cy="200545"/>
          </a:xfrm>
        </p:grpSpPr>
        <p:sp>
          <p:nvSpPr>
            <p:cNvPr id="18" name="Freeform 18"/>
            <p:cNvSpPr/>
            <p:nvPr/>
          </p:nvSpPr>
          <p:spPr>
            <a:xfrm>
              <a:off x="2678346" y="6118622"/>
              <a:ext cx="99466" cy="183321"/>
            </a:xfrm>
            <a:custGeom>
              <a:avLst/>
              <a:gdLst/>
              <a:ahLst/>
              <a:cxnLst/>
              <a:rect l="l" t="t" r="r" b="b"/>
              <a:pathLst>
                <a:path w="99466" h="183321">
                  <a:moveTo>
                    <a:pt x="75927" y="99864"/>
                  </a:moveTo>
                  <a:lnTo>
                    <a:pt x="75927" y="26194"/>
                  </a:lnTo>
                  <a:cubicBezTo>
                    <a:pt x="75927" y="11727"/>
                    <a:pt x="64200" y="0"/>
                    <a:pt x="49733" y="0"/>
                  </a:cubicBezTo>
                  <a:cubicBezTo>
                    <a:pt x="35267" y="0"/>
                    <a:pt x="23539" y="11727"/>
                    <a:pt x="23539" y="26194"/>
                  </a:cubicBezTo>
                  <a:lnTo>
                    <a:pt x="23539" y="99864"/>
                  </a:lnTo>
                  <a:cubicBezTo>
                    <a:pt x="7103" y="111308"/>
                    <a:pt x="0" y="132099"/>
                    <a:pt x="5998" y="151208"/>
                  </a:cubicBezTo>
                  <a:cubicBezTo>
                    <a:pt x="11995" y="170318"/>
                    <a:pt x="29705" y="183321"/>
                    <a:pt x="49733" y="183321"/>
                  </a:cubicBezTo>
                  <a:cubicBezTo>
                    <a:pt x="69761" y="183321"/>
                    <a:pt x="87471" y="170318"/>
                    <a:pt x="93469" y="151208"/>
                  </a:cubicBezTo>
                  <a:cubicBezTo>
                    <a:pt x="99466" y="132099"/>
                    <a:pt x="92363" y="111308"/>
                    <a:pt x="75927" y="99864"/>
                  </a:cubicBezTo>
                  <a:close/>
                  <a:moveTo>
                    <a:pt x="49733" y="157162"/>
                  </a:moveTo>
                  <a:cubicBezTo>
                    <a:pt x="38883" y="157162"/>
                    <a:pt x="30088" y="148367"/>
                    <a:pt x="30088" y="137517"/>
                  </a:cubicBezTo>
                  <a:cubicBezTo>
                    <a:pt x="30088" y="126667"/>
                    <a:pt x="38883" y="117872"/>
                    <a:pt x="49733" y="117872"/>
                  </a:cubicBezTo>
                  <a:cubicBezTo>
                    <a:pt x="60583" y="117872"/>
                    <a:pt x="69378" y="126667"/>
                    <a:pt x="69378" y="137517"/>
                  </a:cubicBezTo>
                  <a:cubicBezTo>
                    <a:pt x="69378" y="148367"/>
                    <a:pt x="60583" y="157162"/>
                    <a:pt x="49733" y="157162"/>
                  </a:cubicBezTo>
                  <a:close/>
                </a:path>
              </a:pathLst>
            </a:custGeom>
            <a:solidFill>
              <a:srgbClr val="D1552C">
                <a:alpha val="20000"/>
              </a:srgbClr>
            </a:solidFill>
            <a:ln>
              <a:noFill/>
            </a:ln>
          </p:spPr>
        </p:sp>
        <p:sp>
          <p:nvSpPr>
            <p:cNvPr id="19" name="Freeform 19"/>
            <p:cNvSpPr/>
            <p:nvPr/>
          </p:nvSpPr>
          <p:spPr>
            <a:xfrm>
              <a:off x="2670283" y="6112073"/>
              <a:ext cx="163207" cy="200545"/>
            </a:xfrm>
            <a:custGeom>
              <a:avLst/>
              <a:gdLst/>
              <a:ahLst/>
              <a:cxnLst/>
              <a:rect l="l" t="t" r="r" b="b"/>
              <a:pathLst>
                <a:path w="163207" h="200545">
                  <a:moveTo>
                    <a:pt x="104789" y="59378"/>
                  </a:moveTo>
                  <a:cubicBezTo>
                    <a:pt x="102741" y="56401"/>
                    <a:pt x="103492" y="52327"/>
                    <a:pt x="106467" y="50276"/>
                  </a:cubicBezTo>
                  <a:cubicBezTo>
                    <a:pt x="114980" y="44398"/>
                    <a:pt x="128307" y="44398"/>
                    <a:pt x="136819" y="50276"/>
                  </a:cubicBezTo>
                  <a:cubicBezTo>
                    <a:pt x="140912" y="53116"/>
                    <a:pt x="148181" y="53116"/>
                    <a:pt x="152307" y="50276"/>
                  </a:cubicBezTo>
                  <a:cubicBezTo>
                    <a:pt x="155278" y="48388"/>
                    <a:pt x="159209" y="49187"/>
                    <a:pt x="161208" y="52084"/>
                  </a:cubicBezTo>
                  <a:cubicBezTo>
                    <a:pt x="163207" y="54981"/>
                    <a:pt x="162558" y="58940"/>
                    <a:pt x="159739" y="61048"/>
                  </a:cubicBezTo>
                  <a:cubicBezTo>
                    <a:pt x="150473" y="66919"/>
                    <a:pt x="138653" y="66919"/>
                    <a:pt x="129387" y="61048"/>
                  </a:cubicBezTo>
                  <a:cubicBezTo>
                    <a:pt x="125294" y="58207"/>
                    <a:pt x="118025" y="58207"/>
                    <a:pt x="113900" y="61048"/>
                  </a:cubicBezTo>
                  <a:cubicBezTo>
                    <a:pt x="112470" y="62035"/>
                    <a:pt x="110707" y="62413"/>
                    <a:pt x="108999" y="62100"/>
                  </a:cubicBezTo>
                  <a:cubicBezTo>
                    <a:pt x="107290" y="61787"/>
                    <a:pt x="105776" y="60808"/>
                    <a:pt x="104789" y="59378"/>
                  </a:cubicBezTo>
                  <a:close/>
                  <a:moveTo>
                    <a:pt x="152307" y="76469"/>
                  </a:moveTo>
                  <a:cubicBezTo>
                    <a:pt x="148214" y="79310"/>
                    <a:pt x="140945" y="79310"/>
                    <a:pt x="136819" y="76469"/>
                  </a:cubicBezTo>
                  <a:cubicBezTo>
                    <a:pt x="128307" y="70592"/>
                    <a:pt x="114980" y="70592"/>
                    <a:pt x="106467" y="76469"/>
                  </a:cubicBezTo>
                  <a:cubicBezTo>
                    <a:pt x="104443" y="77756"/>
                    <a:pt x="103284" y="80046"/>
                    <a:pt x="103446" y="82440"/>
                  </a:cubicBezTo>
                  <a:cubicBezTo>
                    <a:pt x="103608" y="84833"/>
                    <a:pt x="105066" y="86946"/>
                    <a:pt x="107246" y="87947"/>
                  </a:cubicBezTo>
                  <a:cubicBezTo>
                    <a:pt x="109426" y="88948"/>
                    <a:pt x="111979" y="88678"/>
                    <a:pt x="113900" y="87242"/>
                  </a:cubicBezTo>
                  <a:cubicBezTo>
                    <a:pt x="117993" y="84401"/>
                    <a:pt x="125262" y="84401"/>
                    <a:pt x="129387" y="87242"/>
                  </a:cubicBezTo>
                  <a:cubicBezTo>
                    <a:pt x="138653" y="93112"/>
                    <a:pt x="150473" y="93112"/>
                    <a:pt x="159739" y="87242"/>
                  </a:cubicBezTo>
                  <a:cubicBezTo>
                    <a:pt x="162558" y="85134"/>
                    <a:pt x="163207" y="81175"/>
                    <a:pt x="161208" y="78278"/>
                  </a:cubicBezTo>
                  <a:cubicBezTo>
                    <a:pt x="159209" y="75380"/>
                    <a:pt x="155278" y="74582"/>
                    <a:pt x="152307" y="76469"/>
                  </a:cubicBezTo>
                  <a:close/>
                  <a:moveTo>
                    <a:pt x="83990" y="144066"/>
                  </a:moveTo>
                  <a:cubicBezTo>
                    <a:pt x="83983" y="157676"/>
                    <a:pt x="73554" y="169014"/>
                    <a:pt x="59991" y="170154"/>
                  </a:cubicBezTo>
                  <a:cubicBezTo>
                    <a:pt x="46428" y="171295"/>
                    <a:pt x="34252" y="161858"/>
                    <a:pt x="31973" y="148440"/>
                  </a:cubicBezTo>
                  <a:cubicBezTo>
                    <a:pt x="29693" y="135021"/>
                    <a:pt x="38070" y="122093"/>
                    <a:pt x="51248" y="118690"/>
                  </a:cubicBezTo>
                  <a:lnTo>
                    <a:pt x="51248" y="32742"/>
                  </a:lnTo>
                  <a:cubicBezTo>
                    <a:pt x="51248" y="29126"/>
                    <a:pt x="54180" y="26194"/>
                    <a:pt x="57796" y="26194"/>
                  </a:cubicBezTo>
                  <a:cubicBezTo>
                    <a:pt x="61413" y="26194"/>
                    <a:pt x="64345" y="29126"/>
                    <a:pt x="64345" y="32742"/>
                  </a:cubicBezTo>
                  <a:lnTo>
                    <a:pt x="64345" y="118690"/>
                  </a:lnTo>
                  <a:cubicBezTo>
                    <a:pt x="75904" y="121693"/>
                    <a:pt x="83979" y="132122"/>
                    <a:pt x="83990" y="144066"/>
                  </a:cubicBezTo>
                  <a:close/>
                  <a:moveTo>
                    <a:pt x="70893" y="144066"/>
                  </a:moveTo>
                  <a:cubicBezTo>
                    <a:pt x="70893" y="136832"/>
                    <a:pt x="65029" y="130969"/>
                    <a:pt x="57796" y="130969"/>
                  </a:cubicBezTo>
                  <a:cubicBezTo>
                    <a:pt x="50563" y="130969"/>
                    <a:pt x="44699" y="136832"/>
                    <a:pt x="44699" y="144066"/>
                  </a:cubicBezTo>
                  <a:cubicBezTo>
                    <a:pt x="44699" y="151299"/>
                    <a:pt x="50563" y="157162"/>
                    <a:pt x="57796" y="157162"/>
                  </a:cubicBezTo>
                  <a:cubicBezTo>
                    <a:pt x="65029" y="157162"/>
                    <a:pt x="70893" y="151299"/>
                    <a:pt x="70893" y="144066"/>
                  </a:cubicBezTo>
                  <a:close/>
                  <a:moveTo>
                    <a:pt x="110184" y="144066"/>
                  </a:moveTo>
                  <a:cubicBezTo>
                    <a:pt x="110168" y="168490"/>
                    <a:pt x="93276" y="189664"/>
                    <a:pt x="69465" y="195104"/>
                  </a:cubicBezTo>
                  <a:cubicBezTo>
                    <a:pt x="45654" y="200545"/>
                    <a:pt x="21243" y="188809"/>
                    <a:pt x="10621" y="166814"/>
                  </a:cubicBezTo>
                  <a:cubicBezTo>
                    <a:pt x="0" y="144819"/>
                    <a:pt x="5987" y="118403"/>
                    <a:pt x="25054" y="103138"/>
                  </a:cubicBezTo>
                  <a:lnTo>
                    <a:pt x="25054" y="32742"/>
                  </a:lnTo>
                  <a:cubicBezTo>
                    <a:pt x="25054" y="14659"/>
                    <a:pt x="39713" y="0"/>
                    <a:pt x="57796" y="0"/>
                  </a:cubicBezTo>
                  <a:cubicBezTo>
                    <a:pt x="75879" y="0"/>
                    <a:pt x="90538" y="14659"/>
                    <a:pt x="90538" y="32742"/>
                  </a:cubicBezTo>
                  <a:lnTo>
                    <a:pt x="90538" y="103138"/>
                  </a:lnTo>
                  <a:cubicBezTo>
                    <a:pt x="102957" y="113093"/>
                    <a:pt x="110184" y="128149"/>
                    <a:pt x="110184" y="144066"/>
                  </a:cubicBezTo>
                  <a:close/>
                  <a:moveTo>
                    <a:pt x="97087" y="144066"/>
                  </a:moveTo>
                  <a:cubicBezTo>
                    <a:pt x="97076" y="131209"/>
                    <a:pt x="90787" y="119168"/>
                    <a:pt x="80241" y="111815"/>
                  </a:cubicBezTo>
                  <a:cubicBezTo>
                    <a:pt x="78477" y="110583"/>
                    <a:pt x="77431" y="108563"/>
                    <a:pt x="77442" y="106412"/>
                  </a:cubicBezTo>
                  <a:lnTo>
                    <a:pt x="77442" y="32742"/>
                  </a:lnTo>
                  <a:cubicBezTo>
                    <a:pt x="77442" y="21892"/>
                    <a:pt x="68646" y="13097"/>
                    <a:pt x="57796" y="13097"/>
                  </a:cubicBezTo>
                  <a:cubicBezTo>
                    <a:pt x="46946" y="13097"/>
                    <a:pt x="38151" y="21892"/>
                    <a:pt x="38151" y="32742"/>
                  </a:cubicBezTo>
                  <a:lnTo>
                    <a:pt x="38151" y="106412"/>
                  </a:lnTo>
                  <a:cubicBezTo>
                    <a:pt x="38151" y="108552"/>
                    <a:pt x="37106" y="110557"/>
                    <a:pt x="35351" y="111782"/>
                  </a:cubicBezTo>
                  <a:cubicBezTo>
                    <a:pt x="20047" y="122434"/>
                    <a:pt x="14337" y="142376"/>
                    <a:pt x="21685" y="159514"/>
                  </a:cubicBezTo>
                  <a:cubicBezTo>
                    <a:pt x="29033" y="176652"/>
                    <a:pt x="47415" y="186264"/>
                    <a:pt x="65682" y="182522"/>
                  </a:cubicBezTo>
                  <a:cubicBezTo>
                    <a:pt x="83950" y="178779"/>
                    <a:pt x="97070" y="162712"/>
                    <a:pt x="97087" y="144066"/>
                  </a:cubicBezTo>
                  <a:close/>
                </a:path>
              </a:pathLst>
            </a:custGeom>
            <a:solidFill>
              <a:srgbClr val="D1552C"/>
            </a:solidFill>
            <a:ln>
              <a:noFill/>
            </a:ln>
          </p:spPr>
        </p:sp>
      </p:grpSp>
      <p:grpSp>
        <p:nvGrpSpPr>
          <p:cNvPr id="23" name="Group 23"/>
          <p:cNvGrpSpPr/>
          <p:nvPr/>
        </p:nvGrpSpPr>
        <p:grpSpPr>
          <a:xfrm>
            <a:off x="2887622" y="6138238"/>
            <a:ext cx="189311" cy="147100"/>
            <a:chOff x="2887622" y="6138238"/>
            <a:chExt cx="189311" cy="147100"/>
          </a:xfrm>
        </p:grpSpPr>
        <p:sp>
          <p:nvSpPr>
            <p:cNvPr id="21" name="Freeform 21"/>
            <p:cNvSpPr/>
            <p:nvPr/>
          </p:nvSpPr>
          <p:spPr>
            <a:xfrm>
              <a:off x="2897148" y="6210300"/>
              <a:ext cx="170259" cy="65484"/>
            </a:xfrm>
            <a:custGeom>
              <a:avLst/>
              <a:gdLst/>
              <a:ahLst/>
              <a:cxnLst/>
              <a:rect l="l" t="t" r="r" b="b"/>
              <a:pathLst>
                <a:path w="170259" h="65484">
                  <a:moveTo>
                    <a:pt x="65484" y="32742"/>
                  </a:moveTo>
                  <a:cubicBezTo>
                    <a:pt x="65484" y="50825"/>
                    <a:pt x="50825" y="65484"/>
                    <a:pt x="32742" y="65484"/>
                  </a:cubicBezTo>
                  <a:cubicBezTo>
                    <a:pt x="14659" y="65484"/>
                    <a:pt x="0" y="50825"/>
                    <a:pt x="0" y="32742"/>
                  </a:cubicBezTo>
                  <a:cubicBezTo>
                    <a:pt x="0" y="14659"/>
                    <a:pt x="14659" y="0"/>
                    <a:pt x="32742" y="0"/>
                  </a:cubicBezTo>
                  <a:cubicBezTo>
                    <a:pt x="50825" y="0"/>
                    <a:pt x="65484" y="14659"/>
                    <a:pt x="65484" y="32742"/>
                  </a:cubicBezTo>
                  <a:close/>
                  <a:moveTo>
                    <a:pt x="137517" y="0"/>
                  </a:moveTo>
                  <a:cubicBezTo>
                    <a:pt x="119434" y="0"/>
                    <a:pt x="104775" y="14659"/>
                    <a:pt x="104775" y="32742"/>
                  </a:cubicBezTo>
                  <a:cubicBezTo>
                    <a:pt x="104775" y="50825"/>
                    <a:pt x="119434" y="65484"/>
                    <a:pt x="137517" y="65484"/>
                  </a:cubicBezTo>
                  <a:cubicBezTo>
                    <a:pt x="155600" y="65484"/>
                    <a:pt x="170259" y="50825"/>
                    <a:pt x="170259" y="32742"/>
                  </a:cubicBezTo>
                  <a:cubicBezTo>
                    <a:pt x="170259" y="14659"/>
                    <a:pt x="155600" y="0"/>
                    <a:pt x="137517" y="0"/>
                  </a:cubicBezTo>
                  <a:close/>
                </a:path>
              </a:pathLst>
            </a:custGeom>
            <a:solidFill>
              <a:srgbClr val="1F5F9E">
                <a:alpha val="20000"/>
              </a:srgbClr>
            </a:solidFill>
            <a:ln>
              <a:noFill/>
            </a:ln>
          </p:spPr>
        </p:sp>
        <p:sp>
          <p:nvSpPr>
            <p:cNvPr id="22" name="Freeform 22"/>
            <p:cNvSpPr/>
            <p:nvPr/>
          </p:nvSpPr>
          <p:spPr>
            <a:xfrm>
              <a:off x="2887622" y="6138238"/>
              <a:ext cx="189311" cy="147100"/>
            </a:xfrm>
            <a:custGeom>
              <a:avLst/>
              <a:gdLst/>
              <a:ahLst/>
              <a:cxnLst/>
              <a:rect l="l" t="t" r="r" b="b"/>
              <a:pathLst>
                <a:path w="189311" h="147100">
                  <a:moveTo>
                    <a:pt x="184042" y="91600"/>
                  </a:moveTo>
                  <a:lnTo>
                    <a:pt x="184042" y="91600"/>
                  </a:lnTo>
                  <a:cubicBezTo>
                    <a:pt x="183495" y="90074"/>
                    <a:pt x="182852" y="88584"/>
                    <a:pt x="182118" y="87139"/>
                  </a:cubicBezTo>
                  <a:lnTo>
                    <a:pt x="148074" y="9688"/>
                  </a:lnTo>
                  <a:cubicBezTo>
                    <a:pt x="147752" y="8942"/>
                    <a:pt x="147291" y="8264"/>
                    <a:pt x="146715" y="7690"/>
                  </a:cubicBezTo>
                  <a:cubicBezTo>
                    <a:pt x="141803" y="2777"/>
                    <a:pt x="135140" y="16"/>
                    <a:pt x="128192" y="16"/>
                  </a:cubicBezTo>
                  <a:cubicBezTo>
                    <a:pt x="121243" y="16"/>
                    <a:pt x="114580" y="2777"/>
                    <a:pt x="109668" y="7690"/>
                  </a:cubicBezTo>
                  <a:cubicBezTo>
                    <a:pt x="108444" y="8916"/>
                    <a:pt x="107755" y="10576"/>
                    <a:pt x="107752" y="12307"/>
                  </a:cubicBezTo>
                  <a:lnTo>
                    <a:pt x="107752" y="32771"/>
                  </a:lnTo>
                  <a:lnTo>
                    <a:pt x="81558" y="32771"/>
                  </a:lnTo>
                  <a:lnTo>
                    <a:pt x="81558" y="12307"/>
                  </a:lnTo>
                  <a:cubicBezTo>
                    <a:pt x="81560" y="10570"/>
                    <a:pt x="80871" y="8903"/>
                    <a:pt x="79643" y="7674"/>
                  </a:cubicBezTo>
                  <a:cubicBezTo>
                    <a:pt x="74731" y="2761"/>
                    <a:pt x="68067" y="0"/>
                    <a:pt x="61119" y="0"/>
                  </a:cubicBezTo>
                  <a:cubicBezTo>
                    <a:pt x="54171" y="0"/>
                    <a:pt x="47508" y="2761"/>
                    <a:pt x="42595" y="7674"/>
                  </a:cubicBezTo>
                  <a:cubicBezTo>
                    <a:pt x="42020" y="8248"/>
                    <a:pt x="41559" y="8925"/>
                    <a:pt x="41236" y="9671"/>
                  </a:cubicBezTo>
                  <a:lnTo>
                    <a:pt x="7193" y="87123"/>
                  </a:lnTo>
                  <a:cubicBezTo>
                    <a:pt x="6458" y="88568"/>
                    <a:pt x="5816" y="90058"/>
                    <a:pt x="5269" y="91584"/>
                  </a:cubicBezTo>
                  <a:lnTo>
                    <a:pt x="5269" y="91584"/>
                  </a:lnTo>
                  <a:cubicBezTo>
                    <a:pt x="0" y="106327"/>
                    <a:pt x="3987" y="122792"/>
                    <a:pt x="15417" y="133491"/>
                  </a:cubicBezTo>
                  <a:cubicBezTo>
                    <a:pt x="26847" y="144191"/>
                    <a:pt x="43538" y="147083"/>
                    <a:pt x="57902" y="140853"/>
                  </a:cubicBezTo>
                  <a:cubicBezTo>
                    <a:pt x="72266" y="134623"/>
                    <a:pt x="81560" y="120460"/>
                    <a:pt x="81558" y="104804"/>
                  </a:cubicBezTo>
                  <a:lnTo>
                    <a:pt x="81558" y="45868"/>
                  </a:lnTo>
                  <a:lnTo>
                    <a:pt x="107752" y="45868"/>
                  </a:lnTo>
                  <a:lnTo>
                    <a:pt x="107752" y="104804"/>
                  </a:lnTo>
                  <a:cubicBezTo>
                    <a:pt x="107744" y="120462"/>
                    <a:pt x="117035" y="134631"/>
                    <a:pt x="131399" y="140865"/>
                  </a:cubicBezTo>
                  <a:cubicBezTo>
                    <a:pt x="145762" y="147100"/>
                    <a:pt x="162457" y="144211"/>
                    <a:pt x="173890" y="133511"/>
                  </a:cubicBezTo>
                  <a:cubicBezTo>
                    <a:pt x="185323" y="122812"/>
                    <a:pt x="189311" y="106346"/>
                    <a:pt x="184042" y="91600"/>
                  </a:cubicBezTo>
                  <a:close/>
                  <a:moveTo>
                    <a:pt x="52672" y="16195"/>
                  </a:moveTo>
                  <a:cubicBezTo>
                    <a:pt x="57158" y="12418"/>
                    <a:pt x="63609" y="12083"/>
                    <a:pt x="68462" y="15377"/>
                  </a:cubicBezTo>
                  <a:lnTo>
                    <a:pt x="68462" y="75549"/>
                  </a:lnTo>
                  <a:cubicBezTo>
                    <a:pt x="58056" y="66206"/>
                    <a:pt x="43463" y="63111"/>
                    <a:pt x="30161" y="67429"/>
                  </a:cubicBezTo>
                  <a:close/>
                  <a:moveTo>
                    <a:pt x="42268" y="130998"/>
                  </a:moveTo>
                  <a:cubicBezTo>
                    <a:pt x="27801" y="130998"/>
                    <a:pt x="16074" y="119270"/>
                    <a:pt x="16074" y="104804"/>
                  </a:cubicBezTo>
                  <a:cubicBezTo>
                    <a:pt x="16074" y="90337"/>
                    <a:pt x="27801" y="78610"/>
                    <a:pt x="42268" y="78610"/>
                  </a:cubicBezTo>
                  <a:cubicBezTo>
                    <a:pt x="56734" y="78610"/>
                    <a:pt x="68462" y="90337"/>
                    <a:pt x="68462" y="104804"/>
                  </a:cubicBezTo>
                  <a:cubicBezTo>
                    <a:pt x="68462" y="119270"/>
                    <a:pt x="56734" y="130998"/>
                    <a:pt x="42268" y="130998"/>
                  </a:cubicBezTo>
                  <a:close/>
                  <a:moveTo>
                    <a:pt x="120849" y="15369"/>
                  </a:moveTo>
                  <a:cubicBezTo>
                    <a:pt x="125702" y="12075"/>
                    <a:pt x="132153" y="12410"/>
                    <a:pt x="136639" y="16187"/>
                  </a:cubicBezTo>
                  <a:lnTo>
                    <a:pt x="159149" y="67412"/>
                  </a:lnTo>
                  <a:cubicBezTo>
                    <a:pt x="145847" y="63097"/>
                    <a:pt x="131253" y="66194"/>
                    <a:pt x="120849" y="75540"/>
                  </a:cubicBezTo>
                  <a:close/>
                  <a:moveTo>
                    <a:pt x="147043" y="130998"/>
                  </a:moveTo>
                  <a:cubicBezTo>
                    <a:pt x="132576" y="130998"/>
                    <a:pt x="120849" y="119270"/>
                    <a:pt x="120849" y="104804"/>
                  </a:cubicBezTo>
                  <a:cubicBezTo>
                    <a:pt x="120849" y="90337"/>
                    <a:pt x="132576" y="78610"/>
                    <a:pt x="147043" y="78610"/>
                  </a:cubicBezTo>
                  <a:cubicBezTo>
                    <a:pt x="161509" y="78610"/>
                    <a:pt x="173237" y="90337"/>
                    <a:pt x="173237" y="104804"/>
                  </a:cubicBezTo>
                  <a:cubicBezTo>
                    <a:pt x="173237" y="119270"/>
                    <a:pt x="161509" y="130998"/>
                    <a:pt x="147043" y="130998"/>
                  </a:cubicBezTo>
                  <a:close/>
                </a:path>
              </a:pathLst>
            </a:custGeom>
            <a:solidFill>
              <a:srgbClr val="1F5F9E"/>
            </a:solidFill>
            <a:ln>
              <a:noFill/>
            </a:ln>
          </p:spPr>
        </p:sp>
      </p:grpSp>
      <p:sp>
        <p:nvSpPr>
          <p:cNvPr id="24" name="TextBox 24"/>
          <p:cNvSpPr txBox="1"/>
          <p:nvPr/>
        </p:nvSpPr>
        <p:spPr>
          <a:xfrm>
            <a:off x="3150870" y="6162199"/>
            <a:ext cx="1675167"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3 Specification grid</a:t>
            </a:r>
          </a:p>
        </p:txBody>
      </p:sp>
      <p:sp>
        <p:nvSpPr>
          <p:cNvPr id="25" name="TextBox 25"/>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26" name="TextBox 26"/>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20</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TextBox 10"/>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1" name="TextBox 11"/>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2" name="Freeform 12"/>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3" name="TextBox 13"/>
          <p:cNvSpPr txBox="1"/>
          <p:nvPr/>
        </p:nvSpPr>
        <p:spPr>
          <a:xfrm>
            <a:off x="738188" y="864394"/>
            <a:ext cx="1022947"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Backup</a:t>
            </a:r>
          </a:p>
        </p:txBody>
      </p:sp>
      <p:sp>
        <p:nvSpPr>
          <p:cNvPr id="14" name="Rectangle 14"/>
          <p:cNvSpPr/>
          <p:nvPr/>
        </p:nvSpPr>
        <p:spPr>
          <a:xfrm>
            <a:off x="2743200" y="762000"/>
            <a:ext cx="8934450" cy="438150"/>
          </a:xfrm>
          <a:prstGeom prst="roundRect">
            <a:avLst>
              <a:gd name="adj" fmla="val 17391"/>
            </a:avLst>
          </a:prstGeom>
          <a:solidFill>
            <a:srgbClr val="F8F2F3"/>
          </a:solidFill>
          <a:ln>
            <a:noFill/>
          </a:ln>
        </p:spPr>
      </p:sp>
      <p:sp>
        <p:nvSpPr>
          <p:cNvPr id="15" name="TextBox 15"/>
          <p:cNvSpPr txBox="1"/>
          <p:nvPr/>
        </p:nvSpPr>
        <p:spPr>
          <a:xfrm>
            <a:off x="2915602" y="893921"/>
            <a:ext cx="6277210" cy="289560"/>
          </a:xfrm>
          <a:prstGeom prst="rect">
            <a:avLst/>
          </a:prstGeom>
          <a:noFill/>
          <a:ln>
            <a:noFill/>
          </a:ln>
        </p:spPr>
        <p:txBody>
          <a:bodyPr wrap="none" lIns="0" tIns="0" rIns="0" bIns="0" anchor="t" anchorCtr="0">
            <a:spAutoFit/>
          </a:bodyPr>
          <a:lstStyle/>
          <a:p>
            <a:pPr algn="l"/>
            <a:r>
              <a:rPr lang="zh-CN" sz="1425" b="1" dirty="0">
                <a:solidFill>
                  <a:srgbClr val="3A0008"/>
                </a:solidFill>
                <a:latin typeface="Arial"/>
                <a:ea typeface="Microsoft YaHei"/>
                <a:cs typeface="Arial"/>
              </a:rPr>
              <a:t>Model anatomy: climate referenced to each species' range</a:t>
            </a:r>
          </a:p>
        </p:txBody>
      </p:sp>
      <p:sp>
        <p:nvSpPr>
          <p:cNvPr id="16" name="Rectangle 16"/>
          <p:cNvSpPr/>
          <p:nvPr/>
        </p:nvSpPr>
        <p:spPr>
          <a:xfrm>
            <a:off x="2830830" y="1390650"/>
            <a:ext cx="6529388" cy="5048250"/>
          </a:xfrm>
          <a:prstGeom prst="roundRect">
            <a:avLst>
              <a:gd name="adj" fmla="val 1887"/>
            </a:avLst>
          </a:prstGeom>
          <a:solidFill>
            <a:srgbClr val="FFFFFF"/>
          </a:solidFill>
          <a:ln w="14288">
            <a:solidFill>
              <a:srgbClr val="D9C7CA"/>
            </a:solidFill>
          </a:ln>
        </p:spPr>
      </p:sp>
      <p:pic>
        <p:nvPicPr>
          <p:cNvPr id="17" name="Image 17"/>
          <p:cNvPicPr>
            <a:picLocks noChangeAspect="1"/>
          </p:cNvPicPr>
          <p:nvPr/>
        </p:nvPicPr>
        <p:blipFill>
          <a:blip r:embed="rId3"/>
          <a:stretch>
            <a:fillRect/>
          </a:stretch>
        </p:blipFill>
        <p:spPr>
          <a:xfrm>
            <a:off x="2926080" y="1485900"/>
            <a:ext cx="6338888" cy="4572000"/>
          </a:xfrm>
          <a:prstGeom prst="rect">
            <a:avLst/>
          </a:prstGeom>
        </p:spPr>
      </p:pic>
      <p:grpSp>
        <p:nvGrpSpPr>
          <p:cNvPr id="20" name="Group 20"/>
          <p:cNvGrpSpPr/>
          <p:nvPr/>
        </p:nvGrpSpPr>
        <p:grpSpPr>
          <a:xfrm>
            <a:off x="2985560" y="6112073"/>
            <a:ext cx="163207" cy="200545"/>
            <a:chOff x="2985560" y="6112073"/>
            <a:chExt cx="163207" cy="200545"/>
          </a:xfrm>
        </p:grpSpPr>
        <p:sp>
          <p:nvSpPr>
            <p:cNvPr id="18" name="Freeform 18"/>
            <p:cNvSpPr/>
            <p:nvPr/>
          </p:nvSpPr>
          <p:spPr>
            <a:xfrm>
              <a:off x="2993623" y="6118622"/>
              <a:ext cx="99466" cy="183321"/>
            </a:xfrm>
            <a:custGeom>
              <a:avLst/>
              <a:gdLst/>
              <a:ahLst/>
              <a:cxnLst/>
              <a:rect l="l" t="t" r="r" b="b"/>
              <a:pathLst>
                <a:path w="99466" h="183321">
                  <a:moveTo>
                    <a:pt x="75927" y="99864"/>
                  </a:moveTo>
                  <a:lnTo>
                    <a:pt x="75927" y="26194"/>
                  </a:lnTo>
                  <a:cubicBezTo>
                    <a:pt x="75927" y="11727"/>
                    <a:pt x="64200" y="0"/>
                    <a:pt x="49733" y="0"/>
                  </a:cubicBezTo>
                  <a:cubicBezTo>
                    <a:pt x="35267" y="0"/>
                    <a:pt x="23539" y="11727"/>
                    <a:pt x="23539" y="26194"/>
                  </a:cubicBezTo>
                  <a:lnTo>
                    <a:pt x="23539" y="99864"/>
                  </a:lnTo>
                  <a:cubicBezTo>
                    <a:pt x="7103" y="111308"/>
                    <a:pt x="0" y="132099"/>
                    <a:pt x="5998" y="151208"/>
                  </a:cubicBezTo>
                  <a:cubicBezTo>
                    <a:pt x="11995" y="170318"/>
                    <a:pt x="29705" y="183321"/>
                    <a:pt x="49733" y="183321"/>
                  </a:cubicBezTo>
                  <a:cubicBezTo>
                    <a:pt x="69761" y="183321"/>
                    <a:pt x="87471" y="170318"/>
                    <a:pt x="93469" y="151208"/>
                  </a:cubicBezTo>
                  <a:cubicBezTo>
                    <a:pt x="99466" y="132099"/>
                    <a:pt x="92363" y="111308"/>
                    <a:pt x="75927" y="99864"/>
                  </a:cubicBezTo>
                  <a:close/>
                  <a:moveTo>
                    <a:pt x="49733" y="157162"/>
                  </a:moveTo>
                  <a:cubicBezTo>
                    <a:pt x="38883" y="157162"/>
                    <a:pt x="30088" y="148367"/>
                    <a:pt x="30088" y="137517"/>
                  </a:cubicBezTo>
                  <a:cubicBezTo>
                    <a:pt x="30088" y="126667"/>
                    <a:pt x="38883" y="117872"/>
                    <a:pt x="49733" y="117872"/>
                  </a:cubicBezTo>
                  <a:cubicBezTo>
                    <a:pt x="60583" y="117872"/>
                    <a:pt x="69378" y="126667"/>
                    <a:pt x="69378" y="137517"/>
                  </a:cubicBezTo>
                  <a:cubicBezTo>
                    <a:pt x="69378" y="148367"/>
                    <a:pt x="60583" y="157162"/>
                    <a:pt x="49733" y="157162"/>
                  </a:cubicBezTo>
                  <a:close/>
                </a:path>
              </a:pathLst>
            </a:custGeom>
            <a:solidFill>
              <a:srgbClr val="D1552C">
                <a:alpha val="20000"/>
              </a:srgbClr>
            </a:solidFill>
            <a:ln>
              <a:noFill/>
            </a:ln>
          </p:spPr>
        </p:sp>
        <p:sp>
          <p:nvSpPr>
            <p:cNvPr id="19" name="Freeform 19"/>
            <p:cNvSpPr/>
            <p:nvPr/>
          </p:nvSpPr>
          <p:spPr>
            <a:xfrm>
              <a:off x="2985560" y="6112073"/>
              <a:ext cx="163207" cy="200545"/>
            </a:xfrm>
            <a:custGeom>
              <a:avLst/>
              <a:gdLst/>
              <a:ahLst/>
              <a:cxnLst/>
              <a:rect l="l" t="t" r="r" b="b"/>
              <a:pathLst>
                <a:path w="163207" h="200545">
                  <a:moveTo>
                    <a:pt x="104789" y="59378"/>
                  </a:moveTo>
                  <a:cubicBezTo>
                    <a:pt x="102741" y="56401"/>
                    <a:pt x="103492" y="52327"/>
                    <a:pt x="106467" y="50276"/>
                  </a:cubicBezTo>
                  <a:cubicBezTo>
                    <a:pt x="114980" y="44398"/>
                    <a:pt x="128307" y="44398"/>
                    <a:pt x="136819" y="50276"/>
                  </a:cubicBezTo>
                  <a:cubicBezTo>
                    <a:pt x="140912" y="53116"/>
                    <a:pt x="148181" y="53116"/>
                    <a:pt x="152307" y="50276"/>
                  </a:cubicBezTo>
                  <a:cubicBezTo>
                    <a:pt x="155278" y="48388"/>
                    <a:pt x="159209" y="49187"/>
                    <a:pt x="161208" y="52084"/>
                  </a:cubicBezTo>
                  <a:cubicBezTo>
                    <a:pt x="163207" y="54981"/>
                    <a:pt x="162558" y="58940"/>
                    <a:pt x="159739" y="61048"/>
                  </a:cubicBezTo>
                  <a:cubicBezTo>
                    <a:pt x="150473" y="66919"/>
                    <a:pt x="138653" y="66919"/>
                    <a:pt x="129387" y="61048"/>
                  </a:cubicBezTo>
                  <a:cubicBezTo>
                    <a:pt x="125294" y="58207"/>
                    <a:pt x="118025" y="58207"/>
                    <a:pt x="113900" y="61048"/>
                  </a:cubicBezTo>
                  <a:cubicBezTo>
                    <a:pt x="112470" y="62035"/>
                    <a:pt x="110707" y="62413"/>
                    <a:pt x="108999" y="62100"/>
                  </a:cubicBezTo>
                  <a:cubicBezTo>
                    <a:pt x="107290" y="61787"/>
                    <a:pt x="105776" y="60808"/>
                    <a:pt x="104789" y="59378"/>
                  </a:cubicBezTo>
                  <a:close/>
                  <a:moveTo>
                    <a:pt x="152307" y="76469"/>
                  </a:moveTo>
                  <a:cubicBezTo>
                    <a:pt x="148214" y="79310"/>
                    <a:pt x="140945" y="79310"/>
                    <a:pt x="136819" y="76469"/>
                  </a:cubicBezTo>
                  <a:cubicBezTo>
                    <a:pt x="128307" y="70592"/>
                    <a:pt x="114980" y="70592"/>
                    <a:pt x="106467" y="76469"/>
                  </a:cubicBezTo>
                  <a:cubicBezTo>
                    <a:pt x="104443" y="77756"/>
                    <a:pt x="103284" y="80046"/>
                    <a:pt x="103446" y="82440"/>
                  </a:cubicBezTo>
                  <a:cubicBezTo>
                    <a:pt x="103608" y="84833"/>
                    <a:pt x="105066" y="86946"/>
                    <a:pt x="107246" y="87947"/>
                  </a:cubicBezTo>
                  <a:cubicBezTo>
                    <a:pt x="109426" y="88948"/>
                    <a:pt x="111979" y="88678"/>
                    <a:pt x="113900" y="87242"/>
                  </a:cubicBezTo>
                  <a:cubicBezTo>
                    <a:pt x="117993" y="84401"/>
                    <a:pt x="125262" y="84401"/>
                    <a:pt x="129387" y="87242"/>
                  </a:cubicBezTo>
                  <a:cubicBezTo>
                    <a:pt x="138653" y="93112"/>
                    <a:pt x="150473" y="93112"/>
                    <a:pt x="159739" y="87242"/>
                  </a:cubicBezTo>
                  <a:cubicBezTo>
                    <a:pt x="162558" y="85134"/>
                    <a:pt x="163207" y="81175"/>
                    <a:pt x="161208" y="78278"/>
                  </a:cubicBezTo>
                  <a:cubicBezTo>
                    <a:pt x="159209" y="75380"/>
                    <a:pt x="155278" y="74582"/>
                    <a:pt x="152307" y="76469"/>
                  </a:cubicBezTo>
                  <a:close/>
                  <a:moveTo>
                    <a:pt x="83990" y="144066"/>
                  </a:moveTo>
                  <a:cubicBezTo>
                    <a:pt x="83983" y="157676"/>
                    <a:pt x="73554" y="169014"/>
                    <a:pt x="59991" y="170154"/>
                  </a:cubicBezTo>
                  <a:cubicBezTo>
                    <a:pt x="46428" y="171295"/>
                    <a:pt x="34252" y="161858"/>
                    <a:pt x="31973" y="148440"/>
                  </a:cubicBezTo>
                  <a:cubicBezTo>
                    <a:pt x="29693" y="135021"/>
                    <a:pt x="38070" y="122093"/>
                    <a:pt x="51248" y="118690"/>
                  </a:cubicBezTo>
                  <a:lnTo>
                    <a:pt x="51248" y="32742"/>
                  </a:lnTo>
                  <a:cubicBezTo>
                    <a:pt x="51248" y="29126"/>
                    <a:pt x="54180" y="26194"/>
                    <a:pt x="57796" y="26194"/>
                  </a:cubicBezTo>
                  <a:cubicBezTo>
                    <a:pt x="61413" y="26194"/>
                    <a:pt x="64345" y="29126"/>
                    <a:pt x="64345" y="32742"/>
                  </a:cubicBezTo>
                  <a:lnTo>
                    <a:pt x="64345" y="118690"/>
                  </a:lnTo>
                  <a:cubicBezTo>
                    <a:pt x="75904" y="121693"/>
                    <a:pt x="83979" y="132122"/>
                    <a:pt x="83990" y="144066"/>
                  </a:cubicBezTo>
                  <a:close/>
                  <a:moveTo>
                    <a:pt x="70893" y="144066"/>
                  </a:moveTo>
                  <a:cubicBezTo>
                    <a:pt x="70893" y="136832"/>
                    <a:pt x="65029" y="130969"/>
                    <a:pt x="57796" y="130969"/>
                  </a:cubicBezTo>
                  <a:cubicBezTo>
                    <a:pt x="50563" y="130969"/>
                    <a:pt x="44699" y="136832"/>
                    <a:pt x="44699" y="144066"/>
                  </a:cubicBezTo>
                  <a:cubicBezTo>
                    <a:pt x="44699" y="151299"/>
                    <a:pt x="50563" y="157162"/>
                    <a:pt x="57796" y="157162"/>
                  </a:cubicBezTo>
                  <a:cubicBezTo>
                    <a:pt x="65029" y="157162"/>
                    <a:pt x="70893" y="151299"/>
                    <a:pt x="70893" y="144066"/>
                  </a:cubicBezTo>
                  <a:close/>
                  <a:moveTo>
                    <a:pt x="110184" y="144066"/>
                  </a:moveTo>
                  <a:cubicBezTo>
                    <a:pt x="110168" y="168490"/>
                    <a:pt x="93276" y="189664"/>
                    <a:pt x="69465" y="195104"/>
                  </a:cubicBezTo>
                  <a:cubicBezTo>
                    <a:pt x="45654" y="200545"/>
                    <a:pt x="21243" y="188809"/>
                    <a:pt x="10621" y="166814"/>
                  </a:cubicBezTo>
                  <a:cubicBezTo>
                    <a:pt x="0" y="144819"/>
                    <a:pt x="5987" y="118403"/>
                    <a:pt x="25054" y="103138"/>
                  </a:cubicBezTo>
                  <a:lnTo>
                    <a:pt x="25054" y="32742"/>
                  </a:lnTo>
                  <a:cubicBezTo>
                    <a:pt x="25054" y="14659"/>
                    <a:pt x="39713" y="0"/>
                    <a:pt x="57796" y="0"/>
                  </a:cubicBezTo>
                  <a:cubicBezTo>
                    <a:pt x="75879" y="0"/>
                    <a:pt x="90538" y="14659"/>
                    <a:pt x="90538" y="32742"/>
                  </a:cubicBezTo>
                  <a:lnTo>
                    <a:pt x="90538" y="103138"/>
                  </a:lnTo>
                  <a:cubicBezTo>
                    <a:pt x="102957" y="113093"/>
                    <a:pt x="110184" y="128149"/>
                    <a:pt x="110184" y="144066"/>
                  </a:cubicBezTo>
                  <a:close/>
                  <a:moveTo>
                    <a:pt x="97087" y="144066"/>
                  </a:moveTo>
                  <a:cubicBezTo>
                    <a:pt x="97076" y="131209"/>
                    <a:pt x="90787" y="119168"/>
                    <a:pt x="80241" y="111815"/>
                  </a:cubicBezTo>
                  <a:cubicBezTo>
                    <a:pt x="78477" y="110583"/>
                    <a:pt x="77431" y="108563"/>
                    <a:pt x="77442" y="106412"/>
                  </a:cubicBezTo>
                  <a:lnTo>
                    <a:pt x="77442" y="32742"/>
                  </a:lnTo>
                  <a:cubicBezTo>
                    <a:pt x="77442" y="21892"/>
                    <a:pt x="68646" y="13097"/>
                    <a:pt x="57796" y="13097"/>
                  </a:cubicBezTo>
                  <a:cubicBezTo>
                    <a:pt x="46946" y="13097"/>
                    <a:pt x="38151" y="21892"/>
                    <a:pt x="38151" y="32742"/>
                  </a:cubicBezTo>
                  <a:lnTo>
                    <a:pt x="38151" y="106412"/>
                  </a:lnTo>
                  <a:cubicBezTo>
                    <a:pt x="38151" y="108552"/>
                    <a:pt x="37106" y="110557"/>
                    <a:pt x="35351" y="111782"/>
                  </a:cubicBezTo>
                  <a:cubicBezTo>
                    <a:pt x="20047" y="122434"/>
                    <a:pt x="14337" y="142376"/>
                    <a:pt x="21685" y="159514"/>
                  </a:cubicBezTo>
                  <a:cubicBezTo>
                    <a:pt x="29033" y="176652"/>
                    <a:pt x="47415" y="186264"/>
                    <a:pt x="65682" y="182522"/>
                  </a:cubicBezTo>
                  <a:cubicBezTo>
                    <a:pt x="83950" y="178779"/>
                    <a:pt x="97070" y="162712"/>
                    <a:pt x="97087" y="144066"/>
                  </a:cubicBezTo>
                  <a:close/>
                </a:path>
              </a:pathLst>
            </a:custGeom>
            <a:solidFill>
              <a:srgbClr val="D1552C"/>
            </a:solidFill>
            <a:ln>
              <a:noFill/>
            </a:ln>
          </p:spPr>
        </p:sp>
      </p:grpSp>
      <p:sp>
        <p:nvSpPr>
          <p:cNvPr id="21" name="TextBox 21"/>
          <p:cNvSpPr txBox="1"/>
          <p:nvPr/>
        </p:nvSpPr>
        <p:spPr>
          <a:xfrm>
            <a:off x="3218498" y="6162199"/>
            <a:ext cx="1437361"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Fig. 4 Model anatomy</a:t>
            </a:r>
          </a:p>
        </p:txBody>
      </p:sp>
      <p:sp>
        <p:nvSpPr>
          <p:cNvPr id="22" name="TextBox 22"/>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23" name="TextBox 23"/>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21</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09600"/>
          </a:xfrm>
          <a:prstGeom prst="rect">
            <a:avLst/>
          </a:prstGeom>
          <a:solidFill>
            <a:srgbClr val="8B0012"/>
          </a:solidFill>
          <a:ln>
            <a:noFill/>
          </a:ln>
        </p:spPr>
      </p:sp>
      <p:sp>
        <p:nvSpPr>
          <p:cNvPr id="4" name="Ellipse 4"/>
          <p:cNvSpPr/>
          <p:nvPr/>
        </p:nvSpPr>
        <p:spPr>
          <a:xfrm>
            <a:off x="200025" y="66675"/>
            <a:ext cx="476250" cy="476250"/>
          </a:xfrm>
          <a:prstGeom prst="ellipse">
            <a:avLst/>
          </a:prstGeom>
          <a:solidFill>
            <a:srgbClr val="FFFFFF"/>
          </a:solidFill>
          <a:ln>
            <a:noFill/>
          </a:ln>
        </p:spPr>
      </p:sp>
      <p:pic>
        <p:nvPicPr>
          <p:cNvPr id="5" name="Image 5"/>
          <p:cNvPicPr>
            <a:picLocks noChangeAspect="1"/>
          </p:cNvPicPr>
          <p:nvPr/>
        </p:nvPicPr>
        <p:blipFill>
          <a:blip r:embed="rId2"/>
          <a:stretch>
            <a:fillRect/>
          </a:stretch>
        </p:blipFill>
        <p:spPr>
          <a:xfrm>
            <a:off x="228600" y="95250"/>
            <a:ext cx="419100" cy="419100"/>
          </a:xfrm>
          <a:prstGeom prst="rect">
            <a:avLst/>
          </a:prstGeom>
        </p:spPr>
      </p:pic>
      <p:sp>
        <p:nvSpPr>
          <p:cNvPr id="6" name="TextBox 6"/>
          <p:cNvSpPr txBox="1"/>
          <p:nvPr/>
        </p:nvSpPr>
        <p:spPr>
          <a:xfrm>
            <a:off x="9525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Background</a:t>
            </a:r>
          </a:p>
        </p:txBody>
      </p:sp>
      <p:sp>
        <p:nvSpPr>
          <p:cNvPr id="7" name="TextBox 7"/>
          <p:cNvSpPr txBox="1"/>
          <p:nvPr/>
        </p:nvSpPr>
        <p:spPr>
          <a:xfrm>
            <a:off x="28194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Research gaps</a:t>
            </a:r>
          </a:p>
        </p:txBody>
      </p:sp>
      <p:sp>
        <p:nvSpPr>
          <p:cNvPr id="8" name="TextBox 8"/>
          <p:cNvSpPr txBox="1"/>
          <p:nvPr/>
        </p:nvSpPr>
        <p:spPr>
          <a:xfrm>
            <a:off x="46863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Questions</a:t>
            </a:r>
          </a:p>
        </p:txBody>
      </p:sp>
      <p:sp>
        <p:nvSpPr>
          <p:cNvPr id="9" name="TextBox 9"/>
          <p:cNvSpPr txBox="1"/>
          <p:nvPr/>
        </p:nvSpPr>
        <p:spPr>
          <a:xfrm>
            <a:off x="65532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Approach</a:t>
            </a:r>
          </a:p>
        </p:txBody>
      </p:sp>
      <p:sp>
        <p:nvSpPr>
          <p:cNvPr id="10" name="TextBox 10"/>
          <p:cNvSpPr txBox="1"/>
          <p:nvPr/>
        </p:nvSpPr>
        <p:spPr>
          <a:xfrm>
            <a:off x="84201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Results</a:t>
            </a:r>
          </a:p>
        </p:txBody>
      </p:sp>
      <p:sp>
        <p:nvSpPr>
          <p:cNvPr id="11" name="TextBox 11"/>
          <p:cNvSpPr txBox="1"/>
          <p:nvPr/>
        </p:nvSpPr>
        <p:spPr>
          <a:xfrm>
            <a:off x="10287000" y="226695"/>
            <a:ext cx="1790700" cy="228600"/>
          </a:xfrm>
          <a:prstGeom prst="rect">
            <a:avLst/>
          </a:prstGeom>
          <a:noFill/>
          <a:ln>
            <a:noFill/>
          </a:ln>
        </p:spPr>
        <p:txBody>
          <a:bodyPr wrap="square" lIns="0" tIns="0" rIns="0" bIns="0" anchor="t" anchorCtr="0">
            <a:normAutofit/>
          </a:bodyPr>
          <a:lstStyle/>
          <a:p>
            <a:pPr algn="ctr"/>
            <a:r>
              <a:rPr lang="zh-CN" sz="1200" dirty="0">
                <a:solidFill>
                  <a:srgbClr val="F2D7DB"/>
                </a:solidFill>
                <a:latin typeface="Arial"/>
                <a:ea typeface="Microsoft YaHei"/>
                <a:cs typeface="Arial"/>
              </a:rPr>
              <a:t>Synthesis</a:t>
            </a:r>
          </a:p>
        </p:txBody>
      </p:sp>
      <p:sp>
        <p:nvSpPr>
          <p:cNvPr id="12" name="Freeform 12"/>
          <p:cNvSpPr/>
          <p:nvPr/>
        </p:nvSpPr>
        <p:spPr>
          <a:xfrm>
            <a:off x="523875" y="9144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8B0012"/>
          </a:solidFill>
          <a:ln>
            <a:noFill/>
          </a:ln>
        </p:spPr>
      </p:sp>
      <p:sp>
        <p:nvSpPr>
          <p:cNvPr id="13" name="TextBox 13"/>
          <p:cNvSpPr txBox="1"/>
          <p:nvPr/>
        </p:nvSpPr>
        <p:spPr>
          <a:xfrm>
            <a:off x="738188" y="864394"/>
            <a:ext cx="1022947" cy="381000"/>
          </a:xfrm>
          <a:prstGeom prst="rect">
            <a:avLst/>
          </a:prstGeom>
          <a:noFill/>
          <a:ln>
            <a:noFill/>
          </a:ln>
        </p:spPr>
        <p:txBody>
          <a:bodyPr wrap="none" lIns="0" tIns="0" rIns="0" bIns="0" anchor="t" anchorCtr="0">
            <a:spAutoFit/>
          </a:bodyPr>
          <a:lstStyle/>
          <a:p>
            <a:pPr algn="l"/>
            <a:r>
              <a:rPr lang="zh-CN" sz="1875" b="1" dirty="0">
                <a:solidFill>
                  <a:srgbClr val="111111"/>
                </a:solidFill>
                <a:latin typeface="Arial"/>
                <a:ea typeface="Microsoft YaHei"/>
                <a:cs typeface="Arial"/>
              </a:rPr>
              <a:t>Backup</a:t>
            </a:r>
          </a:p>
        </p:txBody>
      </p:sp>
      <p:sp>
        <p:nvSpPr>
          <p:cNvPr id="14" name="Rectangle 14"/>
          <p:cNvSpPr/>
          <p:nvPr/>
        </p:nvSpPr>
        <p:spPr>
          <a:xfrm>
            <a:off x="2743200" y="762000"/>
            <a:ext cx="8934450" cy="438150"/>
          </a:xfrm>
          <a:prstGeom prst="roundRect">
            <a:avLst>
              <a:gd name="adj" fmla="val 17391"/>
            </a:avLst>
          </a:prstGeom>
          <a:solidFill>
            <a:srgbClr val="F8F2F3"/>
          </a:solidFill>
          <a:ln>
            <a:noFill/>
          </a:ln>
        </p:spPr>
      </p:sp>
      <p:sp>
        <p:nvSpPr>
          <p:cNvPr id="15" name="TextBox 15"/>
          <p:cNvSpPr txBox="1"/>
          <p:nvPr/>
        </p:nvSpPr>
        <p:spPr>
          <a:xfrm>
            <a:off x="2915602" y="893921"/>
            <a:ext cx="4651325" cy="289560"/>
          </a:xfrm>
          <a:prstGeom prst="rect">
            <a:avLst/>
          </a:prstGeom>
          <a:noFill/>
          <a:ln>
            <a:noFill/>
          </a:ln>
        </p:spPr>
        <p:txBody>
          <a:bodyPr wrap="none" lIns="0" tIns="0" rIns="0" bIns="0" anchor="t" anchorCtr="0">
            <a:spAutoFit/>
          </a:bodyPr>
          <a:lstStyle/>
          <a:p>
            <a:pPr algn="l"/>
            <a:r>
              <a:rPr lang="zh-CN" sz="1425" b="1" dirty="0">
                <a:solidFill>
                  <a:srgbClr val="3A0008"/>
                </a:solidFill>
                <a:latin typeface="Arial"/>
                <a:ea typeface="Microsoft YaHei"/>
                <a:cs typeface="Arial"/>
              </a:rPr>
              <a:t>County-level surfaces: where to look first</a:t>
            </a:r>
          </a:p>
        </p:txBody>
      </p:sp>
      <p:sp>
        <p:nvSpPr>
          <p:cNvPr id="16" name="Rectangle 16"/>
          <p:cNvSpPr/>
          <p:nvPr/>
        </p:nvSpPr>
        <p:spPr>
          <a:xfrm>
            <a:off x="3434715" y="1390650"/>
            <a:ext cx="5322570" cy="5048250"/>
          </a:xfrm>
          <a:prstGeom prst="roundRect">
            <a:avLst>
              <a:gd name="adj" fmla="val 1887"/>
            </a:avLst>
          </a:prstGeom>
          <a:solidFill>
            <a:srgbClr val="FFFFFF"/>
          </a:solidFill>
          <a:ln w="14288">
            <a:solidFill>
              <a:srgbClr val="D9C7CA"/>
            </a:solidFill>
          </a:ln>
        </p:spPr>
      </p:sp>
      <p:pic>
        <p:nvPicPr>
          <p:cNvPr id="17" name="Image 17"/>
          <p:cNvPicPr>
            <a:picLocks noChangeAspect="1"/>
          </p:cNvPicPr>
          <p:nvPr/>
        </p:nvPicPr>
        <p:blipFill>
          <a:blip r:embed="rId3"/>
          <a:stretch>
            <a:fillRect/>
          </a:stretch>
        </p:blipFill>
        <p:spPr>
          <a:xfrm>
            <a:off x="3529965" y="1485900"/>
            <a:ext cx="5132070" cy="4572000"/>
          </a:xfrm>
          <a:prstGeom prst="rect">
            <a:avLst/>
          </a:prstGeom>
        </p:spPr>
      </p:pic>
      <p:grpSp>
        <p:nvGrpSpPr>
          <p:cNvPr id="20" name="Group 20"/>
          <p:cNvGrpSpPr/>
          <p:nvPr/>
        </p:nvGrpSpPr>
        <p:grpSpPr>
          <a:xfrm>
            <a:off x="3581757" y="6118622"/>
            <a:ext cx="144066" cy="183749"/>
            <a:chOff x="3581757" y="6118622"/>
            <a:chExt cx="144066" cy="183749"/>
          </a:xfrm>
        </p:grpSpPr>
        <p:sp>
          <p:nvSpPr>
            <p:cNvPr id="18" name="Freeform 18"/>
            <p:cNvSpPr/>
            <p:nvPr/>
          </p:nvSpPr>
          <p:spPr>
            <a:xfrm>
              <a:off x="3588306" y="6125170"/>
              <a:ext cx="130969" cy="170259"/>
            </a:xfrm>
            <a:custGeom>
              <a:avLst/>
              <a:gdLst/>
              <a:ahLst/>
              <a:cxnLst/>
              <a:rect l="l" t="t" r="r" b="b"/>
              <a:pathLst>
                <a:path w="130969" h="170259">
                  <a:moveTo>
                    <a:pt x="65484" y="0"/>
                  </a:moveTo>
                  <a:cubicBezTo>
                    <a:pt x="29318" y="0"/>
                    <a:pt x="0" y="29318"/>
                    <a:pt x="0" y="65484"/>
                  </a:cubicBezTo>
                  <a:cubicBezTo>
                    <a:pt x="0" y="124420"/>
                    <a:pt x="65484" y="170259"/>
                    <a:pt x="65484" y="170259"/>
                  </a:cubicBezTo>
                  <a:cubicBezTo>
                    <a:pt x="65484" y="170259"/>
                    <a:pt x="130969" y="124420"/>
                    <a:pt x="130969" y="65484"/>
                  </a:cubicBezTo>
                  <a:cubicBezTo>
                    <a:pt x="130969" y="29318"/>
                    <a:pt x="101650" y="0"/>
                    <a:pt x="65484" y="0"/>
                  </a:cubicBezTo>
                  <a:close/>
                  <a:moveTo>
                    <a:pt x="65484" y="91678"/>
                  </a:moveTo>
                  <a:cubicBezTo>
                    <a:pt x="51018" y="91678"/>
                    <a:pt x="39291" y="79951"/>
                    <a:pt x="39291" y="65484"/>
                  </a:cubicBezTo>
                  <a:cubicBezTo>
                    <a:pt x="39291" y="51018"/>
                    <a:pt x="51018" y="39291"/>
                    <a:pt x="65484" y="39291"/>
                  </a:cubicBezTo>
                  <a:cubicBezTo>
                    <a:pt x="79951" y="39291"/>
                    <a:pt x="91678" y="51018"/>
                    <a:pt x="91678" y="65484"/>
                  </a:cubicBezTo>
                  <a:cubicBezTo>
                    <a:pt x="91678" y="79951"/>
                    <a:pt x="79951" y="91678"/>
                    <a:pt x="65484" y="91678"/>
                  </a:cubicBezTo>
                  <a:close/>
                </a:path>
              </a:pathLst>
            </a:custGeom>
            <a:solidFill>
              <a:srgbClr val="A86A00">
                <a:alpha val="20000"/>
              </a:srgbClr>
            </a:solidFill>
            <a:ln>
              <a:noFill/>
            </a:ln>
          </p:spPr>
        </p:sp>
        <p:sp>
          <p:nvSpPr>
            <p:cNvPr id="19" name="Freeform 19"/>
            <p:cNvSpPr/>
            <p:nvPr/>
          </p:nvSpPr>
          <p:spPr>
            <a:xfrm>
              <a:off x="3581757" y="6118622"/>
              <a:ext cx="144066" cy="183749"/>
            </a:xfrm>
            <a:custGeom>
              <a:avLst/>
              <a:gdLst/>
              <a:ahLst/>
              <a:cxnLst/>
              <a:rect l="l" t="t" r="r" b="b"/>
              <a:pathLst>
                <a:path w="144066" h="183749">
                  <a:moveTo>
                    <a:pt x="72033" y="39291"/>
                  </a:moveTo>
                  <a:cubicBezTo>
                    <a:pt x="53950" y="39291"/>
                    <a:pt x="39291" y="53950"/>
                    <a:pt x="39291" y="72033"/>
                  </a:cubicBezTo>
                  <a:cubicBezTo>
                    <a:pt x="39291" y="90116"/>
                    <a:pt x="53950" y="104775"/>
                    <a:pt x="72033" y="104775"/>
                  </a:cubicBezTo>
                  <a:cubicBezTo>
                    <a:pt x="90116" y="104775"/>
                    <a:pt x="104775" y="90116"/>
                    <a:pt x="104775" y="72033"/>
                  </a:cubicBezTo>
                  <a:cubicBezTo>
                    <a:pt x="104775" y="53950"/>
                    <a:pt x="90116" y="39291"/>
                    <a:pt x="72033" y="39291"/>
                  </a:cubicBezTo>
                  <a:close/>
                  <a:moveTo>
                    <a:pt x="72033" y="91678"/>
                  </a:moveTo>
                  <a:cubicBezTo>
                    <a:pt x="61183" y="91678"/>
                    <a:pt x="52388" y="82883"/>
                    <a:pt x="52388" y="72033"/>
                  </a:cubicBezTo>
                  <a:cubicBezTo>
                    <a:pt x="52388" y="61183"/>
                    <a:pt x="61183" y="52388"/>
                    <a:pt x="72033" y="52388"/>
                  </a:cubicBezTo>
                  <a:cubicBezTo>
                    <a:pt x="82883" y="52388"/>
                    <a:pt x="91678" y="61183"/>
                    <a:pt x="91678" y="72033"/>
                  </a:cubicBezTo>
                  <a:cubicBezTo>
                    <a:pt x="91678" y="82883"/>
                    <a:pt x="82883" y="91678"/>
                    <a:pt x="72033" y="91678"/>
                  </a:cubicBezTo>
                  <a:close/>
                  <a:moveTo>
                    <a:pt x="72033" y="0"/>
                  </a:moveTo>
                  <a:cubicBezTo>
                    <a:pt x="32269" y="45"/>
                    <a:pt x="45" y="32269"/>
                    <a:pt x="0" y="72033"/>
                  </a:cubicBezTo>
                  <a:cubicBezTo>
                    <a:pt x="0" y="97735"/>
                    <a:pt x="11877" y="124977"/>
                    <a:pt x="34379" y="150819"/>
                  </a:cubicBezTo>
                  <a:cubicBezTo>
                    <a:pt x="44490" y="162496"/>
                    <a:pt x="55870" y="173011"/>
                    <a:pt x="68308" y="182169"/>
                  </a:cubicBezTo>
                  <a:cubicBezTo>
                    <a:pt x="70564" y="183749"/>
                    <a:pt x="73567" y="183749"/>
                    <a:pt x="75823" y="182169"/>
                  </a:cubicBezTo>
                  <a:cubicBezTo>
                    <a:pt x="88238" y="173007"/>
                    <a:pt x="99596" y="162492"/>
                    <a:pt x="109686" y="150819"/>
                  </a:cubicBezTo>
                  <a:cubicBezTo>
                    <a:pt x="132156" y="124977"/>
                    <a:pt x="144066" y="97735"/>
                    <a:pt x="144066" y="72033"/>
                  </a:cubicBezTo>
                  <a:cubicBezTo>
                    <a:pt x="144021" y="32269"/>
                    <a:pt x="111797" y="45"/>
                    <a:pt x="72033" y="0"/>
                  </a:cubicBezTo>
                  <a:close/>
                  <a:moveTo>
                    <a:pt x="72033" y="168622"/>
                  </a:moveTo>
                  <a:cubicBezTo>
                    <a:pt x="58502" y="157981"/>
                    <a:pt x="13097" y="118895"/>
                    <a:pt x="13097" y="72033"/>
                  </a:cubicBezTo>
                  <a:cubicBezTo>
                    <a:pt x="13097" y="39483"/>
                    <a:pt x="39483" y="13097"/>
                    <a:pt x="72033" y="13097"/>
                  </a:cubicBezTo>
                  <a:cubicBezTo>
                    <a:pt x="104582" y="13097"/>
                    <a:pt x="130969" y="39483"/>
                    <a:pt x="130969" y="72033"/>
                  </a:cubicBezTo>
                  <a:cubicBezTo>
                    <a:pt x="130969" y="118879"/>
                    <a:pt x="85564" y="157981"/>
                    <a:pt x="72033" y="168622"/>
                  </a:cubicBezTo>
                  <a:close/>
                </a:path>
              </a:pathLst>
            </a:custGeom>
            <a:solidFill>
              <a:srgbClr val="A86A00"/>
            </a:solidFill>
            <a:ln>
              <a:noFill/>
            </a:ln>
          </p:spPr>
        </p:sp>
      </p:grpSp>
      <p:grpSp>
        <p:nvGrpSpPr>
          <p:cNvPr id="23" name="Group 23"/>
          <p:cNvGrpSpPr/>
          <p:nvPr/>
        </p:nvGrpSpPr>
        <p:grpSpPr>
          <a:xfrm>
            <a:off x="3796216" y="6115446"/>
            <a:ext cx="196903" cy="173437"/>
            <a:chOff x="3796216" y="6115446"/>
            <a:chExt cx="196903" cy="173437"/>
          </a:xfrm>
        </p:grpSpPr>
        <p:sp>
          <p:nvSpPr>
            <p:cNvPr id="21" name="Freeform 21"/>
            <p:cNvSpPr/>
            <p:nvPr/>
          </p:nvSpPr>
          <p:spPr>
            <a:xfrm>
              <a:off x="3803213" y="6122762"/>
              <a:ext cx="183356" cy="159571"/>
            </a:xfrm>
            <a:custGeom>
              <a:avLst/>
              <a:gdLst/>
              <a:ahLst/>
              <a:cxnLst/>
              <a:rect l="l" t="t" r="r" b="b"/>
              <a:pathLst>
                <a:path w="183356" h="159571">
                  <a:moveTo>
                    <a:pt x="183356" y="48248"/>
                  </a:moveTo>
                  <a:lnTo>
                    <a:pt x="163711" y="61345"/>
                  </a:lnTo>
                  <a:lnTo>
                    <a:pt x="163711" y="80990"/>
                  </a:lnTo>
                  <a:cubicBezTo>
                    <a:pt x="163711" y="124389"/>
                    <a:pt x="128529" y="159571"/>
                    <a:pt x="85130" y="159571"/>
                  </a:cubicBezTo>
                  <a:lnTo>
                    <a:pt x="0" y="159571"/>
                  </a:lnTo>
                  <a:lnTo>
                    <a:pt x="78581" y="61345"/>
                  </a:lnTo>
                  <a:lnTo>
                    <a:pt x="78581" y="44974"/>
                  </a:lnTo>
                  <a:cubicBezTo>
                    <a:pt x="78566" y="23545"/>
                    <a:pt x="94482" y="5446"/>
                    <a:pt x="115737" y="2723"/>
                  </a:cubicBezTo>
                  <a:cubicBezTo>
                    <a:pt x="136992" y="0"/>
                    <a:pt x="156957" y="13502"/>
                    <a:pt x="162344" y="34242"/>
                  </a:cubicBezTo>
                  <a:close/>
                </a:path>
              </a:pathLst>
            </a:custGeom>
            <a:solidFill>
              <a:srgbClr val="A86A00">
                <a:alpha val="20000"/>
              </a:srgbClr>
            </a:solidFill>
            <a:ln>
              <a:noFill/>
            </a:ln>
          </p:spPr>
        </p:sp>
        <p:sp>
          <p:nvSpPr>
            <p:cNvPr id="22" name="Freeform 22"/>
            <p:cNvSpPr/>
            <p:nvPr/>
          </p:nvSpPr>
          <p:spPr>
            <a:xfrm>
              <a:off x="3796216" y="6115446"/>
              <a:ext cx="196903" cy="173437"/>
            </a:xfrm>
            <a:custGeom>
              <a:avLst/>
              <a:gdLst/>
              <a:ahLst/>
              <a:cxnLst/>
              <a:rect l="l" t="t" r="r" b="b"/>
              <a:pathLst>
                <a:path w="196903" h="173437">
                  <a:moveTo>
                    <a:pt x="144514" y="45741"/>
                  </a:moveTo>
                  <a:cubicBezTo>
                    <a:pt x="144514" y="51166"/>
                    <a:pt x="140117" y="55564"/>
                    <a:pt x="134692" y="55564"/>
                  </a:cubicBezTo>
                  <a:cubicBezTo>
                    <a:pt x="129267" y="55564"/>
                    <a:pt x="124869" y="51166"/>
                    <a:pt x="124869" y="45741"/>
                  </a:cubicBezTo>
                  <a:cubicBezTo>
                    <a:pt x="124869" y="40316"/>
                    <a:pt x="129267" y="35918"/>
                    <a:pt x="134692" y="35918"/>
                  </a:cubicBezTo>
                  <a:cubicBezTo>
                    <a:pt x="140117" y="35918"/>
                    <a:pt x="144514" y="40316"/>
                    <a:pt x="144514" y="45741"/>
                  </a:cubicBezTo>
                  <a:close/>
                  <a:moveTo>
                    <a:pt x="102866" y="96369"/>
                  </a:moveTo>
                  <a:cubicBezTo>
                    <a:pt x="101534" y="95254"/>
                    <a:pt x="99814" y="94714"/>
                    <a:pt x="98084" y="94867"/>
                  </a:cubicBezTo>
                  <a:cubicBezTo>
                    <a:pt x="96354" y="95021"/>
                    <a:pt x="94756" y="95855"/>
                    <a:pt x="93641" y="97187"/>
                  </a:cubicBezTo>
                  <a:lnTo>
                    <a:pt x="60899" y="136478"/>
                  </a:lnTo>
                  <a:cubicBezTo>
                    <a:pt x="58584" y="139258"/>
                    <a:pt x="58962" y="143388"/>
                    <a:pt x="61742" y="145703"/>
                  </a:cubicBezTo>
                  <a:cubicBezTo>
                    <a:pt x="64522" y="148017"/>
                    <a:pt x="68653" y="147640"/>
                    <a:pt x="70967" y="144860"/>
                  </a:cubicBezTo>
                  <a:lnTo>
                    <a:pt x="103709" y="105569"/>
                  </a:lnTo>
                  <a:cubicBezTo>
                    <a:pt x="106008" y="102793"/>
                    <a:pt x="105632" y="98681"/>
                    <a:pt x="102866" y="96369"/>
                  </a:cubicBezTo>
                  <a:close/>
                  <a:moveTo>
                    <a:pt x="196902" y="55564"/>
                  </a:moveTo>
                  <a:cubicBezTo>
                    <a:pt x="196903" y="57754"/>
                    <a:pt x="195810" y="59800"/>
                    <a:pt x="193988" y="61015"/>
                  </a:cubicBezTo>
                  <a:lnTo>
                    <a:pt x="177256" y="72164"/>
                  </a:lnTo>
                  <a:lnTo>
                    <a:pt x="177256" y="88306"/>
                  </a:lnTo>
                  <a:cubicBezTo>
                    <a:pt x="177207" y="135301"/>
                    <a:pt x="139122" y="173386"/>
                    <a:pt x="92127" y="173435"/>
                  </a:cubicBezTo>
                  <a:lnTo>
                    <a:pt x="6997" y="173435"/>
                  </a:lnTo>
                  <a:cubicBezTo>
                    <a:pt x="4479" y="173437"/>
                    <a:pt x="2182" y="171994"/>
                    <a:pt x="1091" y="169724"/>
                  </a:cubicBezTo>
                  <a:cubicBezTo>
                    <a:pt x="0" y="167455"/>
                    <a:pt x="307" y="164760"/>
                    <a:pt x="1881" y="162794"/>
                  </a:cubicBezTo>
                  <a:lnTo>
                    <a:pt x="79030" y="66360"/>
                  </a:lnTo>
                  <a:lnTo>
                    <a:pt x="79030" y="52289"/>
                  </a:lnTo>
                  <a:cubicBezTo>
                    <a:pt x="79007" y="28048"/>
                    <a:pt x="96675" y="7415"/>
                    <a:pt x="120632" y="3708"/>
                  </a:cubicBezTo>
                  <a:cubicBezTo>
                    <a:pt x="144588" y="0"/>
                    <a:pt x="167666" y="14326"/>
                    <a:pt x="174973" y="37441"/>
                  </a:cubicBezTo>
                  <a:lnTo>
                    <a:pt x="193988" y="50112"/>
                  </a:lnTo>
                  <a:cubicBezTo>
                    <a:pt x="195810" y="51328"/>
                    <a:pt x="196903" y="53373"/>
                    <a:pt x="196902" y="55564"/>
                  </a:cubicBezTo>
                  <a:close/>
                  <a:moveTo>
                    <a:pt x="178550" y="55564"/>
                  </a:moveTo>
                  <a:lnTo>
                    <a:pt x="165715" y="47001"/>
                  </a:lnTo>
                  <a:cubicBezTo>
                    <a:pt x="164376" y="46111"/>
                    <a:pt x="163412" y="44759"/>
                    <a:pt x="163005" y="43203"/>
                  </a:cubicBezTo>
                  <a:cubicBezTo>
                    <a:pt x="158451" y="25648"/>
                    <a:pt x="141553" y="14218"/>
                    <a:pt x="123564" y="16524"/>
                  </a:cubicBezTo>
                  <a:cubicBezTo>
                    <a:pt x="105574" y="18830"/>
                    <a:pt x="92106" y="34153"/>
                    <a:pt x="92127" y="52289"/>
                  </a:cubicBezTo>
                  <a:lnTo>
                    <a:pt x="92127" y="68660"/>
                  </a:lnTo>
                  <a:cubicBezTo>
                    <a:pt x="92128" y="70148"/>
                    <a:pt x="91623" y="71591"/>
                    <a:pt x="90694" y="72753"/>
                  </a:cubicBezTo>
                  <a:lnTo>
                    <a:pt x="20618" y="160339"/>
                  </a:lnTo>
                  <a:lnTo>
                    <a:pt x="92127" y="160339"/>
                  </a:lnTo>
                  <a:cubicBezTo>
                    <a:pt x="131891" y="160293"/>
                    <a:pt x="164115" y="128070"/>
                    <a:pt x="164160" y="88306"/>
                  </a:cubicBezTo>
                  <a:lnTo>
                    <a:pt x="164160" y="68660"/>
                  </a:lnTo>
                  <a:cubicBezTo>
                    <a:pt x="164158" y="66470"/>
                    <a:pt x="165252" y="64424"/>
                    <a:pt x="167074" y="63209"/>
                  </a:cubicBezTo>
                  <a:close/>
                </a:path>
              </a:pathLst>
            </a:custGeom>
            <a:solidFill>
              <a:srgbClr val="A86A00"/>
            </a:solidFill>
            <a:ln>
              <a:noFill/>
            </a:ln>
          </p:spPr>
        </p:sp>
      </p:grpSp>
      <p:sp>
        <p:nvSpPr>
          <p:cNvPr id="24" name="TextBox 24"/>
          <p:cNvSpPr txBox="1"/>
          <p:nvPr/>
        </p:nvSpPr>
        <p:spPr>
          <a:xfrm>
            <a:off x="4070032" y="6162199"/>
            <a:ext cx="3875227" cy="198120"/>
          </a:xfrm>
          <a:prstGeom prst="rect">
            <a:avLst/>
          </a:prstGeom>
          <a:noFill/>
          <a:ln>
            <a:noFill/>
          </a:ln>
        </p:spPr>
        <p:txBody>
          <a:bodyPr wrap="none" lIns="0" tIns="0" rIns="0" bIns="0" anchor="t" anchorCtr="0">
            <a:spAutoFit/>
          </a:bodyPr>
          <a:lstStyle/>
          <a:p>
            <a:pPr algn="l"/>
            <a:r>
              <a:rPr lang="zh-CN" sz="975" dirty="0">
                <a:solidFill>
                  <a:srgbClr val="6B6B6B"/>
                </a:solidFill>
                <a:latin typeface="Arial"/>
                <a:ea typeface="Microsoft YaHei"/>
                <a:cs typeface="Arial"/>
              </a:rPr>
              <a:t>Repository module County-level expected records, 2024</a:t>
            </a:r>
          </a:p>
        </p:txBody>
      </p:sp>
      <p:sp>
        <p:nvSpPr>
          <p:cNvPr id="25" name="TextBox 25"/>
          <p:cNvSpPr txBox="1"/>
          <p:nvPr/>
        </p:nvSpPr>
        <p:spPr>
          <a:xfrm>
            <a:off x="502920" y="6627495"/>
            <a:ext cx="3099987" cy="182880"/>
          </a:xfrm>
          <a:prstGeom prst="rect">
            <a:avLst/>
          </a:prstGeom>
          <a:noFill/>
          <a:ln>
            <a:noFill/>
          </a:ln>
        </p:spPr>
        <p:txBody>
          <a:bodyPr wrap="none" lIns="0" tIns="0" rIns="0" bIns="0" anchor="t" anchorCtr="0">
            <a:spAutoFit/>
          </a:bodyPr>
          <a:lstStyle/>
          <a:p>
            <a:pPr algn="l"/>
            <a:r>
              <a:rPr lang="zh-CN" sz="900" dirty="0">
                <a:solidFill>
                  <a:srgbClr val="6B6B6B"/>
                </a:solidFill>
                <a:latin typeface="Arial"/>
                <a:ea typeface="Microsoft YaHei"/>
                <a:cs typeface="Arial"/>
              </a:rPr>
              <a:t>Ding, Zhang, Jiang &amp; Wang · AOC 2026, Singapore</a:t>
            </a:r>
          </a:p>
        </p:txBody>
      </p:sp>
      <p:sp>
        <p:nvSpPr>
          <p:cNvPr id="26" name="TextBox 26"/>
          <p:cNvSpPr txBox="1"/>
          <p:nvPr/>
        </p:nvSpPr>
        <p:spPr>
          <a:xfrm>
            <a:off x="11471781" y="6612731"/>
            <a:ext cx="220156" cy="228600"/>
          </a:xfrm>
          <a:prstGeom prst="rect">
            <a:avLst/>
          </a:prstGeom>
          <a:noFill/>
          <a:ln>
            <a:noFill/>
          </a:ln>
        </p:spPr>
        <p:txBody>
          <a:bodyPr wrap="none" lIns="0" tIns="0" rIns="0" bIns="0" anchor="t" anchorCtr="0">
            <a:spAutoFit/>
          </a:bodyPr>
          <a:lstStyle/>
          <a:p>
            <a:pPr algn="r"/>
            <a:r>
              <a:rPr lang="zh-CN" sz="1125" b="1" dirty="0">
                <a:solidFill>
                  <a:srgbClr val="8B0012"/>
                </a:solidFill>
                <a:latin typeface="Arial"/>
                <a:ea typeface="Microsoft YaHei"/>
                <a:cs typeface="Arial"/>
              </a:rPr>
              <a:t>22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Disentangling climate signals from survey effort in new bird distribution records across China</dc:title>
  <dc:subject/>
  <dc:creator>Chenchen Ding</dc:creator>
  <cp:keywords/>
  <dc:description/>
  <cp:lastModifiedBy>Chenchen Ding</cp:lastModifiedBy>
  <cp:revision>1</cp:revision>
  <dcterms:created xsi:type="dcterms:W3CDTF">2026-10-13T17:05:44Z</dcterms:created>
  <dcterms:modified xsi:type="dcterms:W3CDTF">2026-10-13T17:05:44Z</dcterms:modified>
  <cp:category/>
</cp:coreProperties>
</file>