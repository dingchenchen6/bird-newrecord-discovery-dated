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1.43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30 AIC units or more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2.22,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2.1 in 2002 to about 1.1 in 2024, and from 2023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0.59 and 0.89.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26.1 to 25.9 records a year: essentially nothing. If effort keeps growing, the count roughly triples by 2050. What we will record depends on how we look, more than on how the climate changes. But most of that increase lies outside the data we fitted.</a:t>
            </a:r>
          </a:p>
          <a:p>
            <a:endParaRPr lang="zh-CN" dirty="0"/>
          </a:p>
          <a:p>
            <a:r>
              <a:rPr lang="zh-CN" dirty="0"/>
              <a:t>If asked: Is 79 to 89 records a year a forecast? No. At 2050 no cell is inside the fitted support; the credible statement is about 26 to 31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79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46 percent in 2030, to 6 percent in 2050, and to none by 2080, mostly because effort outgrows its observed range.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e790484f26c03d9.png"/><Relationship Id="rId3" Type="http://schemas.openxmlformats.org/officeDocument/2006/relationships/image" Target="../media/image_ab39142e67679a8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7a3d9489f252ca8e.png"/><Relationship Id="rId3" Type="http://schemas.openxmlformats.org/officeDocument/2006/relationships/image" Target="../media/image_856418f0a5fe71c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e66f8cf422bab7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141cf03908ad41b.png"/><Relationship Id="rId3" Type="http://schemas.openxmlformats.org/officeDocument/2006/relationships/image" Target="../media/image_21df53a0ad8ed44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114f68919840e0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a5d5ae68b2f75f7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2f54da6e7fd7d5d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d4be9f55c9151a5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e3cf0eaa7a6199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44d57cb1ad123ad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ab39142e67679a8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9b09af498c19570d.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c55e941e334efe3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11d259cea8968742.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Rectangle 3"/>
          <p:cNvSpPr/>
          <p:nvPr/>
        </p:nvSpPr>
        <p:spPr>
          <a:xfrm>
            <a:off x="0" y="0"/>
            <a:ext cx="3810000" cy="6858000"/>
          </a:xfrm>
          <a:prstGeom prst="rect">
            <a:avLst/>
          </a:prstGeom>
          <a:solidFill>
            <a:srgbClr val="B4532A"/>
          </a:solidFill>
          <a:ln>
            <a:noFill/>
          </a:ln>
        </p:spPr>
      </p:sp>
      <p:sp>
        <p:nvSpPr>
          <p:cNvPr id="4" name="TextBox 4"/>
          <p:cNvSpPr txBox="1"/>
          <p:nvPr/>
        </p:nvSpPr>
        <p:spPr>
          <a:xfrm>
            <a:off x="481965" y="991552"/>
            <a:ext cx="1682891" cy="822960"/>
          </a:xfrm>
          <a:prstGeom prst="rect">
            <a:avLst/>
          </a:prstGeom>
          <a:noFill/>
          <a:ln>
            <a:noFill/>
          </a:ln>
        </p:spPr>
        <p:txBody>
          <a:bodyPr wrap="none" lIns="0" tIns="0" rIns="0" bIns="0" anchor="t" anchorCtr="0">
            <a:spAutoFit/>
          </a:bodyPr>
          <a:lstStyle/>
          <a:p>
            <a:pPr algn="l"/>
            <a:r>
              <a:rPr lang="zh-CN" sz="4050" b="1" dirty="0">
                <a:solidFill>
                  <a:srgbClr val="F6F1E7"/>
                </a:solidFill>
                <a:latin typeface="Arial"/>
                <a:ea typeface="Microsoft YaHei"/>
                <a:cs typeface="Arial"/>
              </a:rPr>
              <a:t>Birds</a:t>
            </a:r>
          </a:p>
        </p:txBody>
      </p:sp>
      <p:sp>
        <p:nvSpPr>
          <p:cNvPr id="5" name="TextBox 5"/>
          <p:cNvSpPr txBox="1"/>
          <p:nvPr/>
        </p:nvSpPr>
        <p:spPr>
          <a:xfrm>
            <a:off x="481965" y="1601152"/>
            <a:ext cx="3639109" cy="822960"/>
          </a:xfrm>
          <a:prstGeom prst="rect">
            <a:avLst/>
          </a:prstGeom>
          <a:noFill/>
          <a:ln>
            <a:noFill/>
          </a:ln>
        </p:spPr>
        <p:txBody>
          <a:bodyPr wrap="none" lIns="0" tIns="0" rIns="0" bIns="0" anchor="t" anchorCtr="0">
            <a:spAutoFit/>
          </a:bodyPr>
          <a:lstStyle/>
          <a:p>
            <a:pPr algn="l"/>
            <a:r>
              <a:rPr lang="zh-CN" sz="4050" b="1" dirty="0">
                <a:solidFill>
                  <a:srgbClr val="F6F1E7"/>
                </a:solidFill>
                <a:latin typeface="Arial"/>
                <a:ea typeface="Microsoft YaHei"/>
                <a:cs typeface="Arial"/>
              </a:rPr>
              <a:t>or birders?</a:t>
            </a:r>
          </a:p>
        </p:txBody>
      </p:sp>
      <p:sp>
        <p:nvSpPr>
          <p:cNvPr id="6" name="Line 6"/>
          <p:cNvSpPr/>
          <p:nvPr/>
        </p:nvSpPr>
        <p:spPr>
          <a:xfrm>
            <a:off x="533400" y="3143250"/>
            <a:ext cx="2743200" cy="9525"/>
          </a:xfrm>
          <a:custGeom>
            <a:avLst/>
            <a:gdLst/>
            <a:ahLst/>
            <a:cxnLst/>
            <a:rect l="l" t="t" r="r" b="b"/>
            <a:pathLst>
              <a:path w="2743200" h="9525">
                <a:moveTo>
                  <a:pt x="0" y="0"/>
                </a:moveTo>
                <a:lnTo>
                  <a:pt x="2743200" y="0"/>
                </a:lnTo>
              </a:path>
            </a:pathLst>
          </a:custGeom>
          <a:noFill/>
          <a:ln w="14288">
            <a:solidFill>
              <a:srgbClr val="F6F1E7"/>
            </a:solidFill>
          </a:ln>
        </p:spPr>
      </p:sp>
      <p:sp>
        <p:nvSpPr>
          <p:cNvPr id="7" name="TextBox 7"/>
          <p:cNvSpPr txBox="1"/>
          <p:nvPr/>
        </p:nvSpPr>
        <p:spPr>
          <a:xfrm>
            <a:off x="517208" y="3367564"/>
            <a:ext cx="2124683" cy="259080"/>
          </a:xfrm>
          <a:prstGeom prst="rect">
            <a:avLst/>
          </a:prstGeom>
          <a:noFill/>
          <a:ln>
            <a:noFill/>
          </a:ln>
        </p:spPr>
        <p:txBody>
          <a:bodyPr wrap="none" lIns="0" tIns="0" rIns="0" bIns="0" anchor="t" anchorCtr="0">
            <a:spAutoFit/>
          </a:bodyPr>
          <a:lstStyle/>
          <a:p>
            <a:pPr algn="l"/>
            <a:r>
              <a:rPr lang="zh-CN" sz="1275" b="1" dirty="0">
                <a:solidFill>
                  <a:srgbClr val="F6F1E7"/>
                </a:solidFill>
                <a:latin typeface="Arial"/>
                <a:ea typeface="Microsoft YaHei"/>
                <a:cs typeface="Arial"/>
              </a:rPr>
              <a:t>AOC 2026 · Singapore</a:t>
            </a:r>
          </a:p>
        </p:txBody>
      </p:sp>
      <p:sp>
        <p:nvSpPr>
          <p:cNvPr id="8" name="TextBox 8"/>
          <p:cNvSpPr txBox="1"/>
          <p:nvPr/>
        </p:nvSpPr>
        <p:spPr>
          <a:xfrm>
            <a:off x="4234815" y="1153478"/>
            <a:ext cx="7976024"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Disentangling climate signals from survey</a:t>
            </a:r>
          </a:p>
        </p:txBody>
      </p:sp>
      <p:sp>
        <p:nvSpPr>
          <p:cNvPr id="9" name="TextBox 9"/>
          <p:cNvSpPr txBox="1"/>
          <p:nvPr/>
        </p:nvSpPr>
        <p:spPr>
          <a:xfrm>
            <a:off x="4234815" y="1629728"/>
            <a:ext cx="9112971"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effort in new bird distribution records across</a:t>
            </a:r>
          </a:p>
        </p:txBody>
      </p:sp>
      <p:sp>
        <p:nvSpPr>
          <p:cNvPr id="10" name="TextBox 10"/>
          <p:cNvSpPr txBox="1"/>
          <p:nvPr/>
        </p:nvSpPr>
        <p:spPr>
          <a:xfrm>
            <a:off x="4234815" y="2105978"/>
            <a:ext cx="1059598"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China</a:t>
            </a:r>
          </a:p>
        </p:txBody>
      </p:sp>
      <p:sp>
        <p:nvSpPr>
          <p:cNvPr id="11" name="Rectangle 11"/>
          <p:cNvSpPr/>
          <p:nvPr/>
        </p:nvSpPr>
        <p:spPr>
          <a:xfrm>
            <a:off x="4267200" y="3200400"/>
            <a:ext cx="2336482" cy="1181100"/>
          </a:xfrm>
          <a:prstGeom prst="roundRect">
            <a:avLst>
              <a:gd name="adj" fmla="val 6452"/>
            </a:avLst>
          </a:prstGeom>
          <a:solidFill>
            <a:srgbClr val="FFFCF6"/>
          </a:solidFill>
          <a:ln w="9525">
            <a:solidFill>
              <a:srgbClr val="E5DACA"/>
            </a:solidFill>
          </a:ln>
        </p:spPr>
      </p:sp>
      <p:sp>
        <p:nvSpPr>
          <p:cNvPr id="12" name="TextBox 12"/>
          <p:cNvSpPr txBox="1"/>
          <p:nvPr/>
        </p:nvSpPr>
        <p:spPr>
          <a:xfrm>
            <a:off x="4444365" y="3420428"/>
            <a:ext cx="1043807"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1,076</a:t>
            </a:r>
          </a:p>
        </p:txBody>
      </p:sp>
      <p:sp>
        <p:nvSpPr>
          <p:cNvPr id="13" name="TextBox 13"/>
          <p:cNvSpPr txBox="1"/>
          <p:nvPr/>
        </p:nvSpPr>
        <p:spPr>
          <a:xfrm>
            <a:off x="4462462" y="3879056"/>
            <a:ext cx="183594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provincial new records</a:t>
            </a:r>
          </a:p>
        </p:txBody>
      </p:sp>
      <p:sp>
        <p:nvSpPr>
          <p:cNvPr id="14" name="TextBox 14"/>
          <p:cNvSpPr txBox="1"/>
          <p:nvPr/>
        </p:nvSpPr>
        <p:spPr>
          <a:xfrm>
            <a:off x="4464368" y="4123849"/>
            <a:ext cx="1697950"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588 species · CBNR v1.1</a:t>
            </a:r>
          </a:p>
        </p:txBody>
      </p:sp>
      <p:sp>
        <p:nvSpPr>
          <p:cNvPr id="15" name="Rectangle 15"/>
          <p:cNvSpPr/>
          <p:nvPr/>
        </p:nvSpPr>
        <p:spPr>
          <a:xfrm>
            <a:off x="6794182" y="3200400"/>
            <a:ext cx="2336482" cy="1181100"/>
          </a:xfrm>
          <a:prstGeom prst="roundRect">
            <a:avLst>
              <a:gd name="adj" fmla="val 6452"/>
            </a:avLst>
          </a:prstGeom>
          <a:solidFill>
            <a:srgbClr val="FFFCF6"/>
          </a:solidFill>
          <a:ln w="9525">
            <a:solidFill>
              <a:srgbClr val="E5DACA"/>
            </a:solidFill>
          </a:ln>
        </p:spPr>
      </p:sp>
      <p:sp>
        <p:nvSpPr>
          <p:cNvPr id="16" name="TextBox 16"/>
          <p:cNvSpPr txBox="1"/>
          <p:nvPr/>
        </p:nvSpPr>
        <p:spPr>
          <a:xfrm>
            <a:off x="6971348" y="3420428"/>
            <a:ext cx="1478058"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175,640</a:t>
            </a:r>
          </a:p>
        </p:txBody>
      </p:sp>
      <p:sp>
        <p:nvSpPr>
          <p:cNvPr id="17" name="TextBox 17"/>
          <p:cNvSpPr txBox="1"/>
          <p:nvPr/>
        </p:nvSpPr>
        <p:spPr>
          <a:xfrm>
            <a:off x="6989445" y="3879056"/>
            <a:ext cx="222370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species × province × year</a:t>
            </a:r>
          </a:p>
        </p:txBody>
      </p:sp>
      <p:sp>
        <p:nvSpPr>
          <p:cNvPr id="18" name="TextBox 18"/>
          <p:cNvSpPr txBox="1"/>
          <p:nvPr/>
        </p:nvSpPr>
        <p:spPr>
          <a:xfrm>
            <a:off x="6991350" y="4123849"/>
            <a:ext cx="140318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cells in the risk set</a:t>
            </a:r>
          </a:p>
        </p:txBody>
      </p:sp>
      <p:sp>
        <p:nvSpPr>
          <p:cNvPr id="19" name="Rectangle 19"/>
          <p:cNvSpPr/>
          <p:nvPr/>
        </p:nvSpPr>
        <p:spPr>
          <a:xfrm>
            <a:off x="9322118" y="3200400"/>
            <a:ext cx="2336482" cy="1181100"/>
          </a:xfrm>
          <a:prstGeom prst="roundRect">
            <a:avLst>
              <a:gd name="adj" fmla="val 6452"/>
            </a:avLst>
          </a:prstGeom>
          <a:solidFill>
            <a:srgbClr val="FFFCF6"/>
          </a:solidFill>
          <a:ln w="9525">
            <a:solidFill>
              <a:srgbClr val="E5DACA"/>
            </a:solidFill>
          </a:ln>
        </p:spPr>
      </p:sp>
      <p:sp>
        <p:nvSpPr>
          <p:cNvPr id="20" name="TextBox 20"/>
          <p:cNvSpPr txBox="1"/>
          <p:nvPr/>
        </p:nvSpPr>
        <p:spPr>
          <a:xfrm>
            <a:off x="9499282" y="3420428"/>
            <a:ext cx="716146"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649</a:t>
            </a:r>
          </a:p>
        </p:txBody>
      </p:sp>
      <p:sp>
        <p:nvSpPr>
          <p:cNvPr id="21" name="TextBox 21"/>
          <p:cNvSpPr txBox="1"/>
          <p:nvPr/>
        </p:nvSpPr>
        <p:spPr>
          <a:xfrm>
            <a:off x="9517380" y="3879056"/>
            <a:ext cx="183594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first records modelled</a:t>
            </a:r>
          </a:p>
        </p:txBody>
      </p:sp>
      <p:sp>
        <p:nvSpPr>
          <p:cNvPr id="22" name="TextBox 22"/>
          <p:cNvSpPr txBox="1"/>
          <p:nvPr/>
        </p:nvSpPr>
        <p:spPr>
          <a:xfrm>
            <a:off x="9519285" y="4123849"/>
            <a:ext cx="2300297"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392 species · 31 provinces (v2)</a:t>
            </a:r>
          </a:p>
        </p:txBody>
      </p:sp>
      <p:sp>
        <p:nvSpPr>
          <p:cNvPr id="23" name="TextBox 23"/>
          <p:cNvSpPr txBox="1"/>
          <p:nvPr/>
        </p:nvSpPr>
        <p:spPr>
          <a:xfrm>
            <a:off x="4247198" y="4821079"/>
            <a:ext cx="8254654" cy="320040"/>
          </a:xfrm>
          <a:prstGeom prst="rect">
            <a:avLst/>
          </a:prstGeom>
          <a:noFill/>
          <a:ln>
            <a:noFill/>
          </a:ln>
        </p:spPr>
        <p:txBody>
          <a:bodyPr wrap="none" lIns="0" tIns="0" rIns="0" bIns="0" anchor="t" anchorCtr="0">
            <a:spAutoFit/>
          </a:bodyPr>
          <a:lstStyle/>
          <a:p>
            <a:pPr algn="l"/>
            <a:r>
              <a:rPr lang="zh-CN" sz="1575" b="1" dirty="0">
                <a:solidFill>
                  <a:srgbClr val="2B2118"/>
                </a:solidFill>
                <a:latin typeface="Arial"/>
                <a:ea typeface="Microsoft YaHei"/>
                <a:cs typeface="Arial"/>
              </a:rPr>
              <a:t>Chenchen Ding¹, Zhengwang Zhang², Zhigang Jiang³, Zhiheng Wang¹</a:t>
            </a:r>
          </a:p>
        </p:txBody>
      </p:sp>
      <p:sp>
        <p:nvSpPr>
          <p:cNvPr id="24" name="TextBox 24"/>
          <p:cNvSpPr txBox="1"/>
          <p:nvPr/>
        </p:nvSpPr>
        <p:spPr>
          <a:xfrm>
            <a:off x="4253865" y="5163502"/>
            <a:ext cx="6490478"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1 Institute of Ecology, College of Urban and Environmental Sciences, Peking University</a:t>
            </a:r>
          </a:p>
        </p:txBody>
      </p:sp>
      <p:sp>
        <p:nvSpPr>
          <p:cNvPr id="25" name="TextBox 25"/>
          <p:cNvSpPr txBox="1"/>
          <p:nvPr/>
        </p:nvSpPr>
        <p:spPr>
          <a:xfrm>
            <a:off x="4253865" y="5392102"/>
            <a:ext cx="7801642"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2 School of Life Sciences, Beijing Normal University 3 Institute of Zoology, Chinese Academy of Sciences</a:t>
            </a:r>
          </a:p>
        </p:txBody>
      </p:sp>
      <p:sp>
        <p:nvSpPr>
          <p:cNvPr id="26" name="TextBox 26"/>
          <p:cNvSpPr txBox="1"/>
          <p:nvPr/>
        </p:nvSpPr>
        <p:spPr>
          <a:xfrm>
            <a:off x="4254818" y="6409849"/>
            <a:ext cx="6848513"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13919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FFFCF6"/>
          </a:solidFill>
          <a:ln w="9525">
            <a:solidFill>
              <a:srgbClr val="E5DACA"/>
            </a:solidFill>
          </a:ln>
        </p:spPr>
      </p:sp>
      <p:sp>
        <p:nvSpPr>
          <p:cNvPr id="17" name="Rectangle 17"/>
          <p:cNvSpPr/>
          <p:nvPr/>
        </p:nvSpPr>
        <p:spPr>
          <a:xfrm>
            <a:off x="6400800" y="1266825"/>
            <a:ext cx="38100" cy="180975"/>
          </a:xfrm>
          <a:prstGeom prst="roundRect">
            <a:avLst>
              <a:gd name="adj" fmla="val 50000"/>
            </a:avLst>
          </a:prstGeom>
          <a:solidFill>
            <a:srgbClr val="B4532A"/>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Birding visits rose about 200-fold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2B2118"/>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2B2118"/>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B4532A"/>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1F5F9E"/>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988A7A"/>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988A7A"/>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70878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03 / 19</a:t>
            </a:r>
          </a:p>
        </p:txBody>
      </p:sp>
      <p:sp>
        <p:nvSpPr>
          <p:cNvPr id="10" name="Rectangle 10"/>
          <p:cNvSpPr/>
          <p:nvPr/>
        </p:nvSpPr>
        <p:spPr>
          <a:xfrm>
            <a:off x="590550" y="1009650"/>
            <a:ext cx="6085522" cy="5410200"/>
          </a:xfrm>
          <a:prstGeom prst="roundRect">
            <a:avLst>
              <a:gd name="adj" fmla="val 14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04900"/>
            <a:ext cx="5895022" cy="5219700"/>
          </a:xfrm>
          <a:prstGeom prst="rect">
            <a:avLst/>
          </a:prstGeom>
        </p:spPr>
      </p:pic>
      <p:sp>
        <p:nvSpPr>
          <p:cNvPr id="12" name="Rectangle 12"/>
          <p:cNvSpPr/>
          <p:nvPr/>
        </p:nvSpPr>
        <p:spPr>
          <a:xfrm>
            <a:off x="6961822" y="1028700"/>
            <a:ext cx="4544378" cy="1447800"/>
          </a:xfrm>
          <a:prstGeom prst="roundRect">
            <a:avLst>
              <a:gd name="adj" fmla="val 5263"/>
            </a:avLst>
          </a:prstGeom>
          <a:solidFill>
            <a:srgbClr val="FFFCF6"/>
          </a:solidFill>
          <a:ln w="9525">
            <a:solidFill>
              <a:srgbClr val="E5DACA"/>
            </a:solidFill>
          </a:ln>
        </p:spPr>
      </p:sp>
      <p:sp>
        <p:nvSpPr>
          <p:cNvPr id="13" name="Rectangle 13"/>
          <p:cNvSpPr/>
          <p:nvPr/>
        </p:nvSpPr>
        <p:spPr>
          <a:xfrm>
            <a:off x="7152322" y="1228725"/>
            <a:ext cx="38100" cy="180975"/>
          </a:xfrm>
          <a:prstGeom prst="roundRect">
            <a:avLst>
              <a:gd name="adj" fmla="val 50000"/>
            </a:avLst>
          </a:prstGeom>
          <a:solidFill>
            <a:srgbClr val="B4532A"/>
          </a:solidFill>
          <a:ln>
            <a:noFill/>
          </a:ln>
        </p:spPr>
      </p:sp>
      <p:sp>
        <p:nvSpPr>
          <p:cNvPr id="14" name="TextBox 14"/>
          <p:cNvSpPr txBox="1"/>
          <p:nvPr/>
        </p:nvSpPr>
        <p:spPr>
          <a:xfrm>
            <a:off x="7269480" y="1243489"/>
            <a:ext cx="176149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CBNR, the dataset</a:t>
            </a:r>
          </a:p>
        </p:txBody>
      </p:sp>
      <p:sp>
        <p:nvSpPr>
          <p:cNvPr id="15" name="TextBox 15"/>
          <p:cNvSpPr txBox="1"/>
          <p:nvPr/>
        </p:nvSpPr>
        <p:spPr>
          <a:xfrm>
            <a:off x="7138035" y="1516856"/>
            <a:ext cx="2904033"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v1.1: 1,076 records · 588 species</a:t>
            </a:r>
          </a:p>
        </p:txBody>
      </p:sp>
      <p:sp>
        <p:nvSpPr>
          <p:cNvPr id="16" name="TextBox 16"/>
          <p:cNvSpPr txBox="1"/>
          <p:nvPr/>
        </p:nvSpPr>
        <p:spPr>
          <a:xfrm>
            <a:off x="7138035" y="1745456"/>
            <a:ext cx="372218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23 orders · 33 provincial units · 2000–2025</a:t>
            </a:r>
          </a:p>
        </p:txBody>
      </p:sp>
      <p:sp>
        <p:nvSpPr>
          <p:cNvPr id="17" name="TextBox 17"/>
          <p:cNvSpPr txBox="1"/>
          <p:nvPr/>
        </p:nvSpPr>
        <p:spPr>
          <a:xfrm>
            <a:off x="7138035" y="1974056"/>
            <a:ext cx="3276910"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Mined from peer-reviewed papers, every</a:t>
            </a:r>
          </a:p>
        </p:txBody>
      </p:sp>
      <p:sp>
        <p:nvSpPr>
          <p:cNvPr id="18" name="TextBox 18"/>
          <p:cNvSpPr txBox="1"/>
          <p:nvPr/>
        </p:nvSpPr>
        <p:spPr>
          <a:xfrm>
            <a:off x="7138035" y="2202656"/>
            <a:ext cx="23551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record then checked by hand</a:t>
            </a:r>
          </a:p>
        </p:txBody>
      </p:sp>
      <p:sp>
        <p:nvSpPr>
          <p:cNvPr id="19" name="Rectangle 19"/>
          <p:cNvSpPr/>
          <p:nvPr/>
        </p:nvSpPr>
        <p:spPr>
          <a:xfrm>
            <a:off x="6961822" y="2609850"/>
            <a:ext cx="4544378" cy="1219200"/>
          </a:xfrm>
          <a:prstGeom prst="roundRect">
            <a:avLst>
              <a:gd name="adj" fmla="val 6250"/>
            </a:avLst>
          </a:prstGeom>
          <a:solidFill>
            <a:srgbClr val="FFFCF6"/>
          </a:solidFill>
          <a:ln w="9525">
            <a:solidFill>
              <a:srgbClr val="E5DACA"/>
            </a:solidFill>
          </a:ln>
        </p:spPr>
      </p:sp>
      <p:sp>
        <p:nvSpPr>
          <p:cNvPr id="20" name="Rectangle 20"/>
          <p:cNvSpPr/>
          <p:nvPr/>
        </p:nvSpPr>
        <p:spPr>
          <a:xfrm>
            <a:off x="7152322" y="2809875"/>
            <a:ext cx="38100" cy="180975"/>
          </a:xfrm>
          <a:prstGeom prst="roundRect">
            <a:avLst>
              <a:gd name="adj" fmla="val 50000"/>
            </a:avLst>
          </a:prstGeom>
          <a:solidFill>
            <a:srgbClr val="2A7F74"/>
          </a:solidFill>
          <a:ln>
            <a:noFill/>
          </a:ln>
        </p:spPr>
      </p:sp>
      <p:sp>
        <p:nvSpPr>
          <p:cNvPr id="21" name="TextBox 21"/>
          <p:cNvSpPr txBox="1"/>
          <p:nvPr/>
        </p:nvSpPr>
        <p:spPr>
          <a:xfrm>
            <a:off x="7269480" y="2824639"/>
            <a:ext cx="199243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What the model uses</a:t>
            </a:r>
          </a:p>
        </p:txBody>
      </p:sp>
      <p:sp>
        <p:nvSpPr>
          <p:cNvPr id="22" name="TextBox 22"/>
          <p:cNvSpPr txBox="1"/>
          <p:nvPr/>
        </p:nvSpPr>
        <p:spPr>
          <a:xfrm>
            <a:off x="7138035" y="3098006"/>
            <a:ext cx="331962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The published v2 release (1,029 records)</a:t>
            </a:r>
          </a:p>
        </p:txBody>
      </p:sp>
      <p:sp>
        <p:nvSpPr>
          <p:cNvPr id="23" name="TextBox 23"/>
          <p:cNvSpPr txBox="1"/>
          <p:nvPr/>
        </p:nvSpPr>
        <p:spPr>
          <a:xfrm>
            <a:off x="7138035" y="3326606"/>
            <a:ext cx="314382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Records dated to their discovery year</a:t>
            </a:r>
          </a:p>
        </p:txBody>
      </p:sp>
      <p:sp>
        <p:nvSpPr>
          <p:cNvPr id="24" name="TextBox 24"/>
          <p:cNvSpPr txBox="1"/>
          <p:nvPr/>
        </p:nvSpPr>
        <p:spPr>
          <a:xfrm>
            <a:off x="7138035" y="3555206"/>
            <a:ext cx="259339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649 first records in 2002–2024</a:t>
            </a:r>
          </a:p>
        </p:txBody>
      </p:sp>
      <p:sp>
        <p:nvSpPr>
          <p:cNvPr id="25" name="Rectangle 25"/>
          <p:cNvSpPr/>
          <p:nvPr/>
        </p:nvSpPr>
        <p:spPr>
          <a:xfrm>
            <a:off x="6961822" y="3962400"/>
            <a:ext cx="4544378" cy="2457450"/>
          </a:xfrm>
          <a:prstGeom prst="roundRect">
            <a:avLst>
              <a:gd name="adj" fmla="val 3101"/>
            </a:avLst>
          </a:prstGeom>
          <a:solidFill>
            <a:srgbClr val="2B2118"/>
          </a:solidFill>
          <a:ln>
            <a:noFill/>
          </a:ln>
        </p:spPr>
      </p:sp>
      <p:sp>
        <p:nvSpPr>
          <p:cNvPr id="26" name="Rectangle 26"/>
          <p:cNvSpPr/>
          <p:nvPr/>
        </p:nvSpPr>
        <p:spPr>
          <a:xfrm>
            <a:off x="10191750" y="4581525"/>
            <a:ext cx="1219200" cy="1219200"/>
          </a:xfrm>
          <a:prstGeom prst="roundRect">
            <a:avLst>
              <a:gd name="adj" fmla="val 3125"/>
            </a:avLst>
          </a:prstGeom>
          <a:solidFill>
            <a:srgbClr val="FFFFFF"/>
          </a:solidFill>
          <a:ln>
            <a:noFill/>
          </a:ln>
        </p:spPr>
      </p:sp>
      <p:pic>
        <p:nvPicPr>
          <p:cNvPr id="27" name="Image 27"/>
          <p:cNvPicPr>
            <a:picLocks noChangeAspect="1"/>
          </p:cNvPicPr>
          <p:nvPr/>
        </p:nvPicPr>
        <p:blipFill>
          <a:blip r:embed="rId3"/>
          <a:stretch>
            <a:fillRect/>
          </a:stretch>
        </p:blipFill>
        <p:spPr>
          <a:xfrm>
            <a:off x="10229850" y="4619625"/>
            <a:ext cx="1143000" cy="1143000"/>
          </a:xfrm>
          <a:prstGeom prst="rect">
            <a:avLst/>
          </a:prstGeom>
        </p:spPr>
      </p:pic>
      <p:sp>
        <p:nvSpPr>
          <p:cNvPr id="28" name="TextBox 28"/>
          <p:cNvSpPr txBox="1"/>
          <p:nvPr/>
        </p:nvSpPr>
        <p:spPr>
          <a:xfrm>
            <a:off x="7155180" y="4186714"/>
            <a:ext cx="2144421" cy="259080"/>
          </a:xfrm>
          <a:prstGeom prst="rect">
            <a:avLst/>
          </a:prstGeom>
          <a:noFill/>
          <a:ln>
            <a:noFill/>
          </a:ln>
        </p:spPr>
        <p:txBody>
          <a:bodyPr wrap="none" lIns="0" tIns="0" rIns="0" bIns="0" anchor="t" anchorCtr="0">
            <a:spAutoFit/>
          </a:bodyPr>
          <a:lstStyle/>
          <a:p>
            <a:pPr algn="l"/>
            <a:r>
              <a:rPr lang="zh-CN" sz="1275" b="1" dirty="0">
                <a:solidFill>
                  <a:srgbClr val="F6F1E7"/>
                </a:solidFill>
                <a:latin typeface="Arial"/>
                <a:ea typeface="Microsoft YaHei"/>
                <a:cs typeface="Arial"/>
              </a:rPr>
              <a:t>Open data · CC BY 4.0</a:t>
            </a:r>
          </a:p>
        </p:txBody>
      </p:sp>
      <p:sp>
        <p:nvSpPr>
          <p:cNvPr id="29" name="TextBox 29"/>
          <p:cNvSpPr txBox="1"/>
          <p:nvPr/>
        </p:nvSpPr>
        <p:spPr>
          <a:xfrm>
            <a:off x="7157085" y="4469606"/>
            <a:ext cx="1352883" cy="228600"/>
          </a:xfrm>
          <a:prstGeom prst="rect">
            <a:avLst/>
          </a:prstGeom>
          <a:noFill/>
          <a:ln>
            <a:noFill/>
          </a:ln>
        </p:spPr>
        <p:txBody>
          <a:bodyPr wrap="none" lIns="0" tIns="0" rIns="0" bIns="0" anchor="t" anchorCtr="0">
            <a:spAutoFit/>
          </a:bodyPr>
          <a:lstStyle/>
          <a:p>
            <a:pPr algn="l"/>
            <a:r>
              <a:rPr lang="zh-CN" sz="1125" dirty="0">
                <a:solidFill>
                  <a:srgbClr val="D8CAB5"/>
                </a:solidFill>
                <a:latin typeface="Arial"/>
                <a:ea typeface="Microsoft YaHei"/>
                <a:cs typeface="Arial"/>
              </a:rPr>
              <a:t>doi.org/10.5281/</a:t>
            </a:r>
          </a:p>
        </p:txBody>
      </p:sp>
      <p:sp>
        <p:nvSpPr>
          <p:cNvPr id="30" name="TextBox 30"/>
          <p:cNvSpPr txBox="1"/>
          <p:nvPr/>
        </p:nvSpPr>
        <p:spPr>
          <a:xfrm>
            <a:off x="7157085" y="4679156"/>
            <a:ext cx="1349597" cy="228600"/>
          </a:xfrm>
          <a:prstGeom prst="rect">
            <a:avLst/>
          </a:prstGeom>
          <a:noFill/>
          <a:ln>
            <a:noFill/>
          </a:ln>
        </p:spPr>
        <p:txBody>
          <a:bodyPr wrap="none" lIns="0" tIns="0" rIns="0" bIns="0" anchor="t" anchorCtr="0">
            <a:spAutoFit/>
          </a:bodyPr>
          <a:lstStyle/>
          <a:p>
            <a:pPr algn="l"/>
            <a:r>
              <a:rPr lang="zh-CN" sz="1125" dirty="0">
                <a:solidFill>
                  <a:srgbClr val="D8CAB5"/>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227838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FFFCF6"/>
          </a:solidFill>
          <a:ln w="9525">
            <a:solidFill>
              <a:srgbClr val="E5DACA"/>
            </a:solid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2B2118"/>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2B2118"/>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5E5246"/>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988A7A"/>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FFFCF6"/>
          </a:solidFill>
          <a:ln w="9525">
            <a:solidFill>
              <a:srgbClr val="E5DACA"/>
            </a:solidFill>
          </a:ln>
        </p:spPr>
      </p:sp>
      <p:sp>
        <p:nvSpPr>
          <p:cNvPr id="17" name="Rectangle 17"/>
          <p:cNvSpPr/>
          <p:nvPr/>
        </p:nvSpPr>
        <p:spPr>
          <a:xfrm>
            <a:off x="876300" y="2847975"/>
            <a:ext cx="38100" cy="180975"/>
          </a:xfrm>
          <a:prstGeom prst="roundRect">
            <a:avLst>
              <a:gd name="adj" fmla="val 50000"/>
            </a:avLst>
          </a:prstGeom>
          <a:solidFill>
            <a:srgbClr val="B4532A"/>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FFFCF6"/>
          </a:solidFill>
          <a:ln w="9525">
            <a:solidFill>
              <a:srgbClr val="E5DACA"/>
            </a:solidFill>
          </a:ln>
        </p:spPr>
      </p:sp>
      <p:sp>
        <p:nvSpPr>
          <p:cNvPr id="23" name="Rectangle 23"/>
          <p:cNvSpPr/>
          <p:nvPr/>
        </p:nvSpPr>
        <p:spPr>
          <a:xfrm>
            <a:off x="6400800" y="2847975"/>
            <a:ext cx="38100" cy="180975"/>
          </a:xfrm>
          <a:prstGeom prst="roundRect">
            <a:avLst>
              <a:gd name="adj" fmla="val 50000"/>
            </a:avLst>
          </a:prstGeom>
          <a:solidFill>
            <a:srgbClr val="B4532A"/>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FFFCF6"/>
          </a:solidFill>
          <a:ln w="9525">
            <a:solidFill>
              <a:srgbClr val="E5DACA"/>
            </a:solidFill>
          </a:ln>
        </p:spPr>
      </p:sp>
      <p:sp>
        <p:nvSpPr>
          <p:cNvPr id="29" name="Rectangle 29"/>
          <p:cNvSpPr/>
          <p:nvPr/>
        </p:nvSpPr>
        <p:spPr>
          <a:xfrm>
            <a:off x="876300" y="4238625"/>
            <a:ext cx="38100" cy="180975"/>
          </a:xfrm>
          <a:prstGeom prst="roundRect">
            <a:avLst>
              <a:gd name="adj" fmla="val 50000"/>
            </a:avLst>
          </a:prstGeom>
          <a:solidFill>
            <a:srgbClr val="1F5F9E"/>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 SD = 7.9-fold more visits</a:t>
            </a:r>
          </a:p>
        </p:txBody>
      </p:sp>
      <p:sp>
        <p:nvSpPr>
          <p:cNvPr id="34" name="Rectangle 34"/>
          <p:cNvSpPr/>
          <p:nvPr/>
        </p:nvSpPr>
        <p:spPr>
          <a:xfrm>
            <a:off x="6210300" y="4038600"/>
            <a:ext cx="5295900" cy="1219200"/>
          </a:xfrm>
          <a:prstGeom prst="roundRect">
            <a:avLst>
              <a:gd name="adj" fmla="val 6250"/>
            </a:avLst>
          </a:prstGeom>
          <a:solidFill>
            <a:srgbClr val="FFFCF6"/>
          </a:solidFill>
          <a:ln w="9525">
            <a:solidFill>
              <a:srgbClr val="E5DACA"/>
            </a:solidFill>
          </a:ln>
        </p:spPr>
      </p:sp>
      <p:sp>
        <p:nvSpPr>
          <p:cNvPr id="35" name="Rectangle 35"/>
          <p:cNvSpPr/>
          <p:nvPr/>
        </p:nvSpPr>
        <p:spPr>
          <a:xfrm>
            <a:off x="6400800" y="4238625"/>
            <a:ext cx="38100" cy="180975"/>
          </a:xfrm>
          <a:prstGeom prst="roundRect">
            <a:avLst>
              <a:gd name="adj" fmla="val 50000"/>
            </a:avLst>
          </a:prstGeom>
          <a:solidFill>
            <a:srgbClr val="2A7F74"/>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988A7A"/>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284702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05 / 19</a:t>
            </a:r>
          </a:p>
        </p:txBody>
      </p:sp>
      <p:sp>
        <p:nvSpPr>
          <p:cNvPr id="10" name="Rectangle 10"/>
          <p:cNvSpPr/>
          <p:nvPr/>
        </p:nvSpPr>
        <p:spPr>
          <a:xfrm>
            <a:off x="590550" y="1028700"/>
            <a:ext cx="5457825" cy="3636645"/>
          </a:xfrm>
          <a:prstGeom prst="roundRect">
            <a:avLst>
              <a:gd name="adj" fmla="val 2095"/>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23950"/>
            <a:ext cx="5267325" cy="3446145"/>
          </a:xfrm>
          <a:prstGeom prst="rect">
            <a:avLst/>
          </a:prstGeom>
        </p:spPr>
      </p:pic>
      <p:sp>
        <p:nvSpPr>
          <p:cNvPr id="12" name="Rectangle 12"/>
          <p:cNvSpPr/>
          <p:nvPr/>
        </p:nvSpPr>
        <p:spPr>
          <a:xfrm>
            <a:off x="6143625" y="1028700"/>
            <a:ext cx="5457825" cy="3781425"/>
          </a:xfrm>
          <a:prstGeom prst="roundRect">
            <a:avLst>
              <a:gd name="adj" fmla="val 2015"/>
            </a:avLst>
          </a:prstGeom>
          <a:solidFill>
            <a:srgbClr val="FFFFFF"/>
          </a:solidFill>
          <a:ln w="9525">
            <a:solidFill>
              <a:srgbClr val="E5DACA"/>
            </a:solidFill>
          </a:ln>
        </p:spPr>
      </p:sp>
      <p:pic>
        <p:nvPicPr>
          <p:cNvPr id="13" name="Image 13"/>
          <p:cNvPicPr>
            <a:picLocks noChangeAspect="1"/>
          </p:cNvPicPr>
          <p:nvPr/>
        </p:nvPicPr>
        <p:blipFill>
          <a:blip r:embed="rId3"/>
          <a:stretch>
            <a:fillRect/>
          </a:stretch>
        </p:blipFill>
        <p:spPr>
          <a:xfrm>
            <a:off x="6238875" y="1123950"/>
            <a:ext cx="5267325" cy="3590925"/>
          </a:xfrm>
          <a:prstGeom prst="rect">
            <a:avLst/>
          </a:prstGeom>
        </p:spPr>
      </p:pic>
      <p:sp>
        <p:nvSpPr>
          <p:cNvPr id="14" name="Rectangle 14"/>
          <p:cNvSpPr/>
          <p:nvPr/>
        </p:nvSpPr>
        <p:spPr>
          <a:xfrm>
            <a:off x="685800" y="5019675"/>
            <a:ext cx="2562225" cy="1162050"/>
          </a:xfrm>
          <a:prstGeom prst="roundRect">
            <a:avLst>
              <a:gd name="adj" fmla="val 6557"/>
            </a:avLst>
          </a:prstGeom>
          <a:solidFill>
            <a:srgbClr val="FFFCF6"/>
          </a:solidFill>
          <a:ln w="9525">
            <a:solidFill>
              <a:srgbClr val="E5DACA"/>
            </a:solidFill>
          </a:ln>
        </p:spPr>
      </p:sp>
      <p:sp>
        <p:nvSpPr>
          <p:cNvPr id="15" name="TextBox 15"/>
          <p:cNvSpPr txBox="1"/>
          <p:nvPr/>
        </p:nvSpPr>
        <p:spPr>
          <a:xfrm>
            <a:off x="862965" y="5239702"/>
            <a:ext cx="826682"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1.36</a:t>
            </a:r>
          </a:p>
        </p:txBody>
      </p:sp>
      <p:sp>
        <p:nvSpPr>
          <p:cNvPr id="16" name="TextBox 16"/>
          <p:cNvSpPr txBox="1"/>
          <p:nvPr/>
        </p:nvSpPr>
        <p:spPr>
          <a:xfrm>
            <a:off x="881062" y="5698331"/>
            <a:ext cx="16453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Accumulated warming</a:t>
            </a:r>
          </a:p>
        </p:txBody>
      </p:sp>
      <p:sp>
        <p:nvSpPr>
          <p:cNvPr id="17" name="TextBox 17"/>
          <p:cNvSpPr txBox="1"/>
          <p:nvPr/>
        </p:nvSpPr>
        <p:spPr>
          <a:xfrm>
            <a:off x="882968" y="5943124"/>
            <a:ext cx="157121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HR per SD (1.22–1.53)</a:t>
            </a:r>
          </a:p>
        </p:txBody>
      </p:sp>
      <p:sp>
        <p:nvSpPr>
          <p:cNvPr id="18" name="Rectangle 18"/>
          <p:cNvSpPr/>
          <p:nvPr/>
        </p:nvSpPr>
        <p:spPr>
          <a:xfrm>
            <a:off x="3438525" y="5019675"/>
            <a:ext cx="2562225" cy="1162050"/>
          </a:xfrm>
          <a:prstGeom prst="roundRect">
            <a:avLst>
              <a:gd name="adj" fmla="val 6557"/>
            </a:avLst>
          </a:prstGeom>
          <a:solidFill>
            <a:srgbClr val="FFFCF6"/>
          </a:solidFill>
          <a:ln w="9525">
            <a:solidFill>
              <a:srgbClr val="E5DACA"/>
            </a:solidFill>
          </a:ln>
        </p:spPr>
      </p:sp>
      <p:sp>
        <p:nvSpPr>
          <p:cNvPr id="19" name="TextBox 19"/>
          <p:cNvSpPr txBox="1"/>
          <p:nvPr/>
        </p:nvSpPr>
        <p:spPr>
          <a:xfrm>
            <a:off x="3615690" y="5239702"/>
            <a:ext cx="826682"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1.43</a:t>
            </a:r>
          </a:p>
        </p:txBody>
      </p:sp>
      <p:sp>
        <p:nvSpPr>
          <p:cNvPr id="20" name="TextBox 20"/>
          <p:cNvSpPr txBox="1"/>
          <p:nvPr/>
        </p:nvSpPr>
        <p:spPr>
          <a:xfrm>
            <a:off x="3633788" y="5698331"/>
            <a:ext cx="118529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Survey effort</a:t>
            </a:r>
          </a:p>
        </p:txBody>
      </p:sp>
      <p:sp>
        <p:nvSpPr>
          <p:cNvPr id="21" name="TextBox 21"/>
          <p:cNvSpPr txBox="1"/>
          <p:nvPr/>
        </p:nvSpPr>
        <p:spPr>
          <a:xfrm>
            <a:off x="3635692" y="5943124"/>
            <a:ext cx="157121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HR per SD (1.27–1.61)</a:t>
            </a:r>
          </a:p>
        </p:txBody>
      </p:sp>
      <p:sp>
        <p:nvSpPr>
          <p:cNvPr id="22" name="Rectangle 22"/>
          <p:cNvSpPr/>
          <p:nvPr/>
        </p:nvSpPr>
        <p:spPr>
          <a:xfrm>
            <a:off x="6191250" y="5019675"/>
            <a:ext cx="2562225" cy="1162050"/>
          </a:xfrm>
          <a:prstGeom prst="roundRect">
            <a:avLst>
              <a:gd name="adj" fmla="val 6557"/>
            </a:avLst>
          </a:prstGeom>
          <a:solidFill>
            <a:srgbClr val="FFFCF6"/>
          </a:solidFill>
          <a:ln w="9525">
            <a:solidFill>
              <a:srgbClr val="E5DACA"/>
            </a:solidFill>
          </a:ln>
        </p:spPr>
      </p:sp>
      <p:sp>
        <p:nvSpPr>
          <p:cNvPr id="23" name="TextBox 23"/>
          <p:cNvSpPr txBox="1"/>
          <p:nvPr/>
        </p:nvSpPr>
        <p:spPr>
          <a:xfrm>
            <a:off x="6368415" y="5239702"/>
            <a:ext cx="826682"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0.84</a:t>
            </a:r>
          </a:p>
        </p:txBody>
      </p:sp>
      <p:sp>
        <p:nvSpPr>
          <p:cNvPr id="24" name="TextBox 24"/>
          <p:cNvSpPr txBox="1"/>
          <p:nvPr/>
        </p:nvSpPr>
        <p:spPr>
          <a:xfrm>
            <a:off x="6386512" y="5698331"/>
            <a:ext cx="149583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Warming × effort</a:t>
            </a:r>
          </a:p>
        </p:txBody>
      </p:sp>
      <p:sp>
        <p:nvSpPr>
          <p:cNvPr id="25" name="TextBox 25"/>
          <p:cNvSpPr txBox="1"/>
          <p:nvPr/>
        </p:nvSpPr>
        <p:spPr>
          <a:xfrm>
            <a:off x="6388418" y="5943124"/>
            <a:ext cx="179620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strongest where few look</a:t>
            </a:r>
          </a:p>
        </p:txBody>
      </p:sp>
      <p:sp>
        <p:nvSpPr>
          <p:cNvPr id="26" name="Rectangle 26"/>
          <p:cNvSpPr/>
          <p:nvPr/>
        </p:nvSpPr>
        <p:spPr>
          <a:xfrm>
            <a:off x="8943975" y="5019675"/>
            <a:ext cx="2562225" cy="1162050"/>
          </a:xfrm>
          <a:prstGeom prst="roundRect">
            <a:avLst>
              <a:gd name="adj" fmla="val 6557"/>
            </a:avLst>
          </a:prstGeom>
          <a:solidFill>
            <a:srgbClr val="FFFCF6"/>
          </a:solidFill>
          <a:ln w="9525">
            <a:solidFill>
              <a:srgbClr val="E5DACA"/>
            </a:solidFill>
          </a:ln>
        </p:spPr>
      </p:sp>
      <p:sp>
        <p:nvSpPr>
          <p:cNvPr id="27" name="TextBox 27"/>
          <p:cNvSpPr txBox="1"/>
          <p:nvPr/>
        </p:nvSpPr>
        <p:spPr>
          <a:xfrm>
            <a:off x="9121140" y="5239702"/>
            <a:ext cx="826682" cy="518160"/>
          </a:xfrm>
          <a:prstGeom prst="rect">
            <a:avLst/>
          </a:prstGeom>
          <a:noFill/>
          <a:ln>
            <a:noFill/>
          </a:ln>
        </p:spPr>
        <p:txBody>
          <a:bodyPr wrap="none" lIns="0" tIns="0" rIns="0" bIns="0" anchor="t" anchorCtr="0">
            <a:spAutoFit/>
          </a:bodyPr>
          <a:lstStyle/>
          <a:p>
            <a:pPr algn="l"/>
            <a:r>
              <a:rPr lang="zh-CN" sz="2550" b="1" dirty="0">
                <a:solidFill>
                  <a:srgbClr val="988A7A"/>
                </a:solidFill>
                <a:latin typeface="Arial"/>
                <a:ea typeface="Microsoft YaHei"/>
                <a:cs typeface="Arial"/>
              </a:rPr>
              <a:t>0.99</a:t>
            </a:r>
          </a:p>
        </p:txBody>
      </p:sp>
      <p:sp>
        <p:nvSpPr>
          <p:cNvPr id="28" name="TextBox 28"/>
          <p:cNvSpPr txBox="1"/>
          <p:nvPr/>
        </p:nvSpPr>
        <p:spPr>
          <a:xfrm>
            <a:off x="9139238" y="5698331"/>
            <a:ext cx="141532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Annual variability</a:t>
            </a:r>
          </a:p>
        </p:txBody>
      </p:sp>
      <p:sp>
        <p:nvSpPr>
          <p:cNvPr id="29" name="TextBox 29"/>
          <p:cNvSpPr txBox="1"/>
          <p:nvPr/>
        </p:nvSpPr>
        <p:spPr>
          <a:xfrm>
            <a:off x="9141142" y="5943124"/>
            <a:ext cx="708279"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341661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06 / 19</a:t>
            </a:r>
          </a:p>
        </p:txBody>
      </p:sp>
      <p:sp>
        <p:nvSpPr>
          <p:cNvPr id="10" name="Rectangle 10"/>
          <p:cNvSpPr/>
          <p:nvPr/>
        </p:nvSpPr>
        <p:spPr>
          <a:xfrm>
            <a:off x="2958465" y="1028700"/>
            <a:ext cx="6274118" cy="3333750"/>
          </a:xfrm>
          <a:prstGeom prst="roundRect">
            <a:avLst>
              <a:gd name="adj" fmla="val 2286"/>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3053715" y="1123950"/>
            <a:ext cx="6083618" cy="3143250"/>
          </a:xfrm>
          <a:prstGeom prst="rect">
            <a:avLst/>
          </a:prstGeom>
        </p:spPr>
      </p:pic>
      <p:sp>
        <p:nvSpPr>
          <p:cNvPr id="12" name="Rectangle 12"/>
          <p:cNvSpPr/>
          <p:nvPr/>
        </p:nvSpPr>
        <p:spPr>
          <a:xfrm>
            <a:off x="685800" y="5105400"/>
            <a:ext cx="3479482" cy="1219200"/>
          </a:xfrm>
          <a:prstGeom prst="roundRect">
            <a:avLst>
              <a:gd name="adj" fmla="val 6250"/>
            </a:avLst>
          </a:prstGeom>
          <a:solidFill>
            <a:srgbClr val="FFFCF6"/>
          </a:solidFill>
          <a:ln w="9525">
            <a:solidFill>
              <a:srgbClr val="E5DACA"/>
            </a:solidFill>
          </a:ln>
        </p:spPr>
      </p:sp>
      <p:sp>
        <p:nvSpPr>
          <p:cNvPr id="13" name="Rectangle 13"/>
          <p:cNvSpPr/>
          <p:nvPr/>
        </p:nvSpPr>
        <p:spPr>
          <a:xfrm>
            <a:off x="876300" y="5305425"/>
            <a:ext cx="38100" cy="180975"/>
          </a:xfrm>
          <a:prstGeom prst="roundRect">
            <a:avLst>
              <a:gd name="adj" fmla="val 50000"/>
            </a:avLst>
          </a:prstGeom>
          <a:solidFill>
            <a:srgbClr val="B4532A"/>
          </a:solidFill>
          <a:ln>
            <a:noFill/>
          </a:ln>
        </p:spPr>
      </p:sp>
      <p:sp>
        <p:nvSpPr>
          <p:cNvPr id="14" name="TextBox 14"/>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Cost of dropping each term</a:t>
            </a:r>
          </a:p>
        </p:txBody>
      </p:sp>
      <p:sp>
        <p:nvSpPr>
          <p:cNvPr id="15" name="TextBox 15"/>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ΔAIC: warming 29.9 · effort 33.4</a:t>
            </a:r>
          </a:p>
        </p:txBody>
      </p:sp>
      <p:sp>
        <p:nvSpPr>
          <p:cNvPr id="16" name="TextBox 16"/>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ΔAUC: warming 0.053 · effort 0.033</a:t>
            </a:r>
          </a:p>
        </p:txBody>
      </p:sp>
      <p:sp>
        <p:nvSpPr>
          <p:cNvPr id="17" name="TextBox 17"/>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Conditional R² and |β| agree</a:t>
            </a:r>
          </a:p>
        </p:txBody>
      </p:sp>
      <p:sp>
        <p:nvSpPr>
          <p:cNvPr id="18" name="Rectangle 18"/>
          <p:cNvSpPr/>
          <p:nvPr/>
        </p:nvSpPr>
        <p:spPr>
          <a:xfrm>
            <a:off x="4355782" y="5105400"/>
            <a:ext cx="3479482" cy="1219200"/>
          </a:xfrm>
          <a:prstGeom prst="roundRect">
            <a:avLst>
              <a:gd name="adj" fmla="val 6250"/>
            </a:avLst>
          </a:prstGeom>
          <a:solidFill>
            <a:srgbClr val="FFFCF6"/>
          </a:solidFill>
          <a:ln w="9525">
            <a:solidFill>
              <a:srgbClr val="E5DACA"/>
            </a:solidFill>
          </a:ln>
        </p:spPr>
      </p:sp>
      <p:sp>
        <p:nvSpPr>
          <p:cNvPr id="19" name="Rectangle 19"/>
          <p:cNvSpPr/>
          <p:nvPr/>
        </p:nvSpPr>
        <p:spPr>
          <a:xfrm>
            <a:off x="4546282" y="5305425"/>
            <a:ext cx="38100" cy="180975"/>
          </a:xfrm>
          <a:prstGeom prst="roundRect">
            <a:avLst>
              <a:gd name="adj" fmla="val 50000"/>
            </a:avLst>
          </a:prstGeom>
          <a:solidFill>
            <a:srgbClr val="1F5F9E"/>
          </a:solidFill>
          <a:ln>
            <a:noFill/>
          </a:ln>
        </p:spPr>
      </p:sp>
      <p:sp>
        <p:nvSpPr>
          <p:cNvPr id="20" name="TextBox 20"/>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Twelve specifications</a:t>
            </a:r>
          </a:p>
        </p:txBody>
      </p:sp>
      <p:sp>
        <p:nvSpPr>
          <p:cNvPr id="21" name="TextBox 21"/>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SDM thresholds 50/100/200: stable</a:t>
            </a:r>
          </a:p>
        </p:txBody>
      </p:sp>
      <p:sp>
        <p:nvSpPr>
          <p:cNvPr id="22" name="TextBox 22"/>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4 effort proxies × 3 missing-data rules</a:t>
            </a:r>
          </a:p>
        </p:txBody>
      </p:sp>
      <p:sp>
        <p:nvSpPr>
          <p:cNvPr id="23" name="TextBox 23"/>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Effort HR 1.25–1.55 · warming 1.33–1.39</a:t>
            </a:r>
          </a:p>
        </p:txBody>
      </p:sp>
      <p:sp>
        <p:nvSpPr>
          <p:cNvPr id="24" name="Rectangle 24"/>
          <p:cNvSpPr/>
          <p:nvPr/>
        </p:nvSpPr>
        <p:spPr>
          <a:xfrm>
            <a:off x="8026718" y="5105400"/>
            <a:ext cx="3479482" cy="1219200"/>
          </a:xfrm>
          <a:prstGeom prst="roundRect">
            <a:avLst>
              <a:gd name="adj" fmla="val 6250"/>
            </a:avLst>
          </a:prstGeom>
          <a:solidFill>
            <a:srgbClr val="FFFCF6"/>
          </a:solidFill>
          <a:ln w="9525">
            <a:solidFill>
              <a:srgbClr val="E5DACA"/>
            </a:solidFill>
          </a:ln>
        </p:spPr>
      </p:sp>
      <p:sp>
        <p:nvSpPr>
          <p:cNvPr id="25" name="Rectangle 25"/>
          <p:cNvSpPr/>
          <p:nvPr/>
        </p:nvSpPr>
        <p:spPr>
          <a:xfrm>
            <a:off x="8217218" y="5305425"/>
            <a:ext cx="38100" cy="180975"/>
          </a:xfrm>
          <a:prstGeom prst="roundRect">
            <a:avLst>
              <a:gd name="adj" fmla="val 50000"/>
            </a:avLst>
          </a:prstGeom>
          <a:solidFill>
            <a:srgbClr val="2A7F74"/>
          </a:solidFill>
          <a:ln>
            <a:noFill/>
          </a:ln>
        </p:spPr>
      </p:sp>
      <p:sp>
        <p:nvSpPr>
          <p:cNvPr id="26" name="TextBox 26"/>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Design-preserving nulls</a:t>
            </a:r>
          </a:p>
        </p:txBody>
      </p:sp>
      <p:sp>
        <p:nvSpPr>
          <p:cNvPr id="27" name="TextBox 27"/>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Warming null 1.16 → increment ×1.18</a:t>
            </a:r>
          </a:p>
        </p:txBody>
      </p:sp>
      <p:sp>
        <p:nvSpPr>
          <p:cNvPr id="28" name="TextBox 28"/>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Shuffle effort timing: falls to 0.98</a:t>
            </a:r>
          </a:p>
        </p:txBody>
      </p:sp>
      <p:sp>
        <p:nvSpPr>
          <p:cNvPr id="29" name="TextBox 29"/>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398621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07 / 19</a:t>
            </a:r>
          </a:p>
        </p:txBody>
      </p:sp>
      <p:sp>
        <p:nvSpPr>
          <p:cNvPr id="10" name="Rectangle 10"/>
          <p:cNvSpPr/>
          <p:nvPr/>
        </p:nvSpPr>
        <p:spPr>
          <a:xfrm>
            <a:off x="818198" y="1028700"/>
            <a:ext cx="5003482" cy="4000500"/>
          </a:xfrm>
          <a:prstGeom prst="roundRect">
            <a:avLst>
              <a:gd name="adj" fmla="val 1905"/>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913448" y="1123950"/>
            <a:ext cx="4812982" cy="3810000"/>
          </a:xfrm>
          <a:prstGeom prst="rect">
            <a:avLst/>
          </a:prstGeom>
        </p:spPr>
      </p:pic>
      <p:sp>
        <p:nvSpPr>
          <p:cNvPr id="12" name="Rectangle 12"/>
          <p:cNvSpPr/>
          <p:nvPr/>
        </p:nvSpPr>
        <p:spPr>
          <a:xfrm>
            <a:off x="6143625" y="1028700"/>
            <a:ext cx="5457825" cy="3921442"/>
          </a:xfrm>
          <a:prstGeom prst="roundRect">
            <a:avLst>
              <a:gd name="adj" fmla="val 1943"/>
            </a:avLst>
          </a:prstGeom>
          <a:solidFill>
            <a:srgbClr val="FFFFFF"/>
          </a:solidFill>
          <a:ln w="9525">
            <a:solidFill>
              <a:srgbClr val="E5DACA"/>
            </a:solidFill>
          </a:ln>
        </p:spPr>
      </p:sp>
      <p:pic>
        <p:nvPicPr>
          <p:cNvPr id="13" name="Image 13"/>
          <p:cNvPicPr>
            <a:picLocks noChangeAspect="1"/>
          </p:cNvPicPr>
          <p:nvPr/>
        </p:nvPicPr>
        <p:blipFill>
          <a:blip r:embed="rId3"/>
          <a:stretch>
            <a:fillRect/>
          </a:stretch>
        </p:blipFill>
        <p:spPr>
          <a:xfrm>
            <a:off x="6238875" y="1123950"/>
            <a:ext cx="5267325" cy="3730942"/>
          </a:xfrm>
          <a:prstGeom prst="rect">
            <a:avLst/>
          </a:prstGeom>
        </p:spPr>
      </p:pic>
      <p:sp>
        <p:nvSpPr>
          <p:cNvPr id="14" name="Rectangle 14"/>
          <p:cNvSpPr/>
          <p:nvPr/>
        </p:nvSpPr>
        <p:spPr>
          <a:xfrm>
            <a:off x="685800" y="5238750"/>
            <a:ext cx="3479482" cy="1085850"/>
          </a:xfrm>
          <a:prstGeom prst="roundRect">
            <a:avLst>
              <a:gd name="adj" fmla="val 7018"/>
            </a:avLst>
          </a:prstGeom>
          <a:solidFill>
            <a:srgbClr val="FFFCF6"/>
          </a:solidFill>
          <a:ln w="9525">
            <a:solidFill>
              <a:srgbClr val="E5DACA"/>
            </a:solidFill>
          </a:ln>
        </p:spPr>
      </p:sp>
      <p:sp>
        <p:nvSpPr>
          <p:cNvPr id="15" name="TextBox 15"/>
          <p:cNvSpPr txBox="1"/>
          <p:nvPr/>
        </p:nvSpPr>
        <p:spPr>
          <a:xfrm>
            <a:off x="862965"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×2.22</a:t>
            </a:r>
          </a:p>
        </p:txBody>
      </p:sp>
      <p:sp>
        <p:nvSpPr>
          <p:cNvPr id="16" name="TextBox 16"/>
          <p:cNvSpPr txBox="1"/>
          <p:nvPr/>
        </p:nvSpPr>
        <p:spPr>
          <a:xfrm>
            <a:off x="881062" y="5917406"/>
            <a:ext cx="135617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 × year</a:t>
            </a:r>
          </a:p>
        </p:txBody>
      </p:sp>
      <p:sp>
        <p:nvSpPr>
          <p:cNvPr id="17" name="TextBox 17"/>
          <p:cNvSpPr txBox="1"/>
          <p:nvPr/>
        </p:nvSpPr>
        <p:spPr>
          <a:xfrm>
            <a:off x="882968" y="6162199"/>
            <a:ext cx="1756334"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per SD: survey campaigns</a:t>
            </a:r>
          </a:p>
        </p:txBody>
      </p:sp>
      <p:sp>
        <p:nvSpPr>
          <p:cNvPr id="18" name="Rectangle 18"/>
          <p:cNvSpPr/>
          <p:nvPr/>
        </p:nvSpPr>
        <p:spPr>
          <a:xfrm>
            <a:off x="4355782" y="5238750"/>
            <a:ext cx="3479482" cy="1085850"/>
          </a:xfrm>
          <a:prstGeom prst="roundRect">
            <a:avLst>
              <a:gd name="adj" fmla="val 7018"/>
            </a:avLst>
          </a:prstGeom>
          <a:solidFill>
            <a:srgbClr val="FFFCF6"/>
          </a:solidFill>
          <a:ln w="9525">
            <a:solidFill>
              <a:srgbClr val="E5DACA"/>
            </a:solidFill>
          </a:ln>
        </p:spPr>
      </p:sp>
      <p:sp>
        <p:nvSpPr>
          <p:cNvPr id="19" name="TextBox 19"/>
          <p:cNvSpPr txBox="1"/>
          <p:nvPr/>
        </p:nvSpPr>
        <p:spPr>
          <a:xfrm>
            <a:off x="4532948"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×1.50</a:t>
            </a:r>
          </a:p>
        </p:txBody>
      </p:sp>
      <p:sp>
        <p:nvSpPr>
          <p:cNvPr id="20" name="TextBox 20"/>
          <p:cNvSpPr txBox="1"/>
          <p:nvPr/>
        </p:nvSpPr>
        <p:spPr>
          <a:xfrm>
            <a:off x="4551045" y="5917406"/>
            <a:ext cx="62665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Species</a:t>
            </a:r>
          </a:p>
        </p:txBody>
      </p:sp>
      <p:sp>
        <p:nvSpPr>
          <p:cNvPr id="21" name="TextBox 21"/>
          <p:cNvSpPr txBox="1"/>
          <p:nvPr/>
        </p:nvSpPr>
        <p:spPr>
          <a:xfrm>
            <a:off x="4552950" y="6162199"/>
            <a:ext cx="158545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intrinsic detectability</a:t>
            </a:r>
          </a:p>
        </p:txBody>
      </p:sp>
      <p:sp>
        <p:nvSpPr>
          <p:cNvPr id="22" name="Rectangle 22"/>
          <p:cNvSpPr/>
          <p:nvPr/>
        </p:nvSpPr>
        <p:spPr>
          <a:xfrm>
            <a:off x="8026718" y="5238750"/>
            <a:ext cx="3479482" cy="1085850"/>
          </a:xfrm>
          <a:prstGeom prst="roundRect">
            <a:avLst>
              <a:gd name="adj" fmla="val 7018"/>
            </a:avLst>
          </a:prstGeom>
          <a:solidFill>
            <a:srgbClr val="FFFCF6"/>
          </a:solidFill>
          <a:ln w="9525">
            <a:solidFill>
              <a:srgbClr val="E5DACA"/>
            </a:solidFill>
          </a:ln>
        </p:spPr>
      </p:sp>
      <p:sp>
        <p:nvSpPr>
          <p:cNvPr id="23" name="TextBox 23"/>
          <p:cNvSpPr txBox="1"/>
          <p:nvPr/>
        </p:nvSpPr>
        <p:spPr>
          <a:xfrm>
            <a:off x="8203883"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×1.39</a:t>
            </a:r>
          </a:p>
        </p:txBody>
      </p:sp>
      <p:sp>
        <p:nvSpPr>
          <p:cNvPr id="24" name="TextBox 24"/>
          <p:cNvSpPr txBox="1"/>
          <p:nvPr/>
        </p:nvSpPr>
        <p:spPr>
          <a:xfrm>
            <a:off x="8221980" y="5917406"/>
            <a:ext cx="71866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a:t>
            </a:r>
          </a:p>
        </p:txBody>
      </p:sp>
      <p:sp>
        <p:nvSpPr>
          <p:cNvPr id="25" name="TextBox 25"/>
          <p:cNvSpPr txBox="1"/>
          <p:nvPr/>
        </p:nvSpPr>
        <p:spPr>
          <a:xfrm>
            <a:off x="8223885" y="6162199"/>
            <a:ext cx="1186739"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455580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08 / 19</a:t>
            </a:r>
          </a:p>
        </p:txBody>
      </p:sp>
      <p:sp>
        <p:nvSpPr>
          <p:cNvPr id="10" name="Rectangle 10"/>
          <p:cNvSpPr/>
          <p:nvPr/>
        </p:nvSpPr>
        <p:spPr>
          <a:xfrm>
            <a:off x="590550" y="1047750"/>
            <a:ext cx="6286500" cy="4508182"/>
          </a:xfrm>
          <a:prstGeom prst="roundRect">
            <a:avLst>
              <a:gd name="adj" fmla="val 1690"/>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6096000" cy="4317682"/>
          </a:xfrm>
          <a:prstGeom prst="rect">
            <a:avLst/>
          </a:prstGeom>
        </p:spPr>
      </p:pic>
      <p:sp>
        <p:nvSpPr>
          <p:cNvPr id="12" name="Rectangle 12"/>
          <p:cNvSpPr/>
          <p:nvPr/>
        </p:nvSpPr>
        <p:spPr>
          <a:xfrm>
            <a:off x="7162800" y="1066800"/>
            <a:ext cx="4343400" cy="1426845"/>
          </a:xfrm>
          <a:prstGeom prst="roundRect">
            <a:avLst>
              <a:gd name="adj" fmla="val 5340"/>
            </a:avLst>
          </a:prstGeom>
          <a:solidFill>
            <a:srgbClr val="FFFCF6"/>
          </a:solidFill>
          <a:ln w="9525">
            <a:solidFill>
              <a:srgbClr val="E5DACA"/>
            </a:solidFill>
          </a:ln>
        </p:spPr>
      </p:sp>
      <p:sp>
        <p:nvSpPr>
          <p:cNvPr id="13" name="Rectangle 13"/>
          <p:cNvSpPr/>
          <p:nvPr/>
        </p:nvSpPr>
        <p:spPr>
          <a:xfrm>
            <a:off x="7353300" y="1266825"/>
            <a:ext cx="38100" cy="180975"/>
          </a:xfrm>
          <a:prstGeom prst="roundRect">
            <a:avLst>
              <a:gd name="adj" fmla="val 50000"/>
            </a:avLst>
          </a:prstGeom>
          <a:solidFill>
            <a:srgbClr val="1F5F9E"/>
          </a:solidFill>
          <a:ln>
            <a:noFill/>
          </a:ln>
        </p:spPr>
      </p:sp>
      <p:sp>
        <p:nvSpPr>
          <p:cNvPr id="14" name="TextBox 14"/>
          <p:cNvSpPr txBox="1"/>
          <p:nvPr/>
        </p:nvSpPr>
        <p:spPr>
          <a:xfrm>
            <a:off x="7470458" y="1281589"/>
            <a:ext cx="288264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Returns on effort are falling</a:t>
            </a:r>
          </a:p>
        </p:txBody>
      </p:sp>
      <p:sp>
        <p:nvSpPr>
          <p:cNvPr id="15" name="TextBox 15"/>
          <p:cNvSpPr txBox="1"/>
          <p:nvPr/>
        </p:nvSpPr>
        <p:spPr>
          <a:xfrm>
            <a:off x="7339012" y="15549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2002: HR 2.14 (1.61–2.85)</a:t>
            </a:r>
          </a:p>
        </p:txBody>
      </p:sp>
      <p:sp>
        <p:nvSpPr>
          <p:cNvPr id="16" name="TextBox 16"/>
          <p:cNvSpPr txBox="1"/>
          <p:nvPr/>
        </p:nvSpPr>
        <p:spPr>
          <a:xfrm>
            <a:off x="7339012" y="17835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2024: HR 1.13 (0.93–1.37)</a:t>
            </a:r>
          </a:p>
        </p:txBody>
      </p:sp>
      <p:sp>
        <p:nvSpPr>
          <p:cNvPr id="17" name="TextBox 17"/>
          <p:cNvSpPr txBox="1"/>
          <p:nvPr/>
        </p:nvSpPr>
        <p:spPr>
          <a:xfrm>
            <a:off x="7339012" y="2012156"/>
            <a:ext cx="2057757"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Effort × time: P = 0.0021</a:t>
            </a:r>
          </a:p>
        </p:txBody>
      </p:sp>
      <p:sp>
        <p:nvSpPr>
          <p:cNvPr id="18" name="Rectangle 18"/>
          <p:cNvSpPr/>
          <p:nvPr/>
        </p:nvSpPr>
        <p:spPr>
          <a:xfrm>
            <a:off x="7162800" y="2817495"/>
            <a:ext cx="4343400" cy="1198245"/>
          </a:xfrm>
          <a:prstGeom prst="roundRect">
            <a:avLst>
              <a:gd name="adj" fmla="val 6359"/>
            </a:avLst>
          </a:prstGeom>
          <a:solidFill>
            <a:srgbClr val="FFFCF6"/>
          </a:solidFill>
          <a:ln w="9525">
            <a:solidFill>
              <a:srgbClr val="E5DACA"/>
            </a:solidFill>
          </a:ln>
        </p:spPr>
      </p:sp>
      <p:sp>
        <p:nvSpPr>
          <p:cNvPr id="19" name="Rectangle 19"/>
          <p:cNvSpPr/>
          <p:nvPr/>
        </p:nvSpPr>
        <p:spPr>
          <a:xfrm>
            <a:off x="7353300" y="3017520"/>
            <a:ext cx="38100" cy="180975"/>
          </a:xfrm>
          <a:prstGeom prst="roundRect">
            <a:avLst>
              <a:gd name="adj" fmla="val 50000"/>
            </a:avLst>
          </a:prstGeom>
          <a:solidFill>
            <a:srgbClr val="B4532A"/>
          </a:solidFill>
          <a:ln>
            <a:noFill/>
          </a:ln>
        </p:spPr>
      </p:sp>
      <p:sp>
        <p:nvSpPr>
          <p:cNvPr id="20" name="TextBox 20"/>
          <p:cNvSpPr txBox="1"/>
          <p:nvPr/>
        </p:nvSpPr>
        <p:spPr>
          <a:xfrm>
            <a:off x="7470458" y="3032284"/>
            <a:ext cx="282935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Warming shows no such trend</a:t>
            </a:r>
          </a:p>
        </p:txBody>
      </p:sp>
      <p:sp>
        <p:nvSpPr>
          <p:cNvPr id="21" name="TextBox 21"/>
          <p:cNvSpPr txBox="1"/>
          <p:nvPr/>
        </p:nvSpPr>
        <p:spPr>
          <a:xfrm>
            <a:off x="7339012" y="3305651"/>
            <a:ext cx="197067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Warming × time: P = 1.00</a:t>
            </a:r>
          </a:p>
        </p:txBody>
      </p:sp>
      <p:sp>
        <p:nvSpPr>
          <p:cNvPr id="22" name="TextBox 22"/>
          <p:cNvSpPr txBox="1"/>
          <p:nvPr/>
        </p:nvSpPr>
        <p:spPr>
          <a:xfrm>
            <a:off x="7339012" y="3534251"/>
            <a:ext cx="2810280"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Time-varying model: warming HR 1.37</a:t>
            </a:r>
          </a:p>
        </p:txBody>
      </p:sp>
      <p:sp>
        <p:nvSpPr>
          <p:cNvPr id="23" name="Rectangle 23"/>
          <p:cNvSpPr/>
          <p:nvPr/>
        </p:nvSpPr>
        <p:spPr>
          <a:xfrm>
            <a:off x="7162800" y="4339590"/>
            <a:ext cx="4343400" cy="1217295"/>
          </a:xfrm>
          <a:prstGeom prst="roundRect">
            <a:avLst>
              <a:gd name="adj" fmla="val 6260"/>
            </a:avLst>
          </a:prstGeom>
          <a:solidFill>
            <a:srgbClr val="2B2118"/>
          </a:solidFill>
          <a:ln>
            <a:noFill/>
          </a:ln>
        </p:spPr>
      </p:sp>
      <p:sp>
        <p:nvSpPr>
          <p:cNvPr id="24" name="TextBox 24"/>
          <p:cNvSpPr txBox="1"/>
          <p:nvPr/>
        </p:nvSpPr>
        <p:spPr>
          <a:xfrm>
            <a:off x="8393586" y="4611052"/>
            <a:ext cx="1881828"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A stock and a flow</a:t>
            </a:r>
          </a:p>
        </p:txBody>
      </p:sp>
      <p:sp>
        <p:nvSpPr>
          <p:cNvPr id="25" name="TextBox 25"/>
          <p:cNvSpPr txBox="1"/>
          <p:nvPr/>
        </p:nvSpPr>
        <p:spPr>
          <a:xfrm>
            <a:off x="7776972" y="4903470"/>
            <a:ext cx="311505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Effort mines a finite stock of gaps;</a:t>
            </a:r>
          </a:p>
        </p:txBody>
      </p:sp>
      <p:sp>
        <p:nvSpPr>
          <p:cNvPr id="26" name="TextBox 26"/>
          <p:cNvSpPr txBox="1"/>
          <p:nvPr/>
        </p:nvSpPr>
        <p:spPr>
          <a:xfrm>
            <a:off x="7759446" y="5141595"/>
            <a:ext cx="3150108"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512540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09 / 19</a:t>
            </a:r>
          </a:p>
        </p:txBody>
      </p:sp>
      <p:sp>
        <p:nvSpPr>
          <p:cNvPr id="10" name="Rectangle 10"/>
          <p:cNvSpPr/>
          <p:nvPr/>
        </p:nvSpPr>
        <p:spPr>
          <a:xfrm>
            <a:off x="590550" y="1047750"/>
            <a:ext cx="5159692" cy="5410200"/>
          </a:xfrm>
          <a:prstGeom prst="roundRect">
            <a:avLst>
              <a:gd name="adj" fmla="val 1477"/>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4969192" cy="5219700"/>
          </a:xfrm>
          <a:prstGeom prst="rect">
            <a:avLst/>
          </a:prstGeom>
        </p:spPr>
      </p:pic>
      <p:sp>
        <p:nvSpPr>
          <p:cNvPr id="12" name="Rectangle 12"/>
          <p:cNvSpPr/>
          <p:nvPr/>
        </p:nvSpPr>
        <p:spPr>
          <a:xfrm>
            <a:off x="6035992" y="1066800"/>
            <a:ext cx="5470208" cy="1581150"/>
          </a:xfrm>
          <a:prstGeom prst="roundRect">
            <a:avLst>
              <a:gd name="adj" fmla="val 4819"/>
            </a:avLst>
          </a:prstGeom>
          <a:solidFill>
            <a:srgbClr val="FFFCF6"/>
          </a:solidFill>
          <a:ln w="9525">
            <a:solidFill>
              <a:srgbClr val="E5DACA"/>
            </a:solidFill>
          </a:ln>
        </p:spPr>
      </p:sp>
      <p:sp>
        <p:nvSpPr>
          <p:cNvPr id="13" name="Rectangle 13"/>
          <p:cNvSpPr/>
          <p:nvPr/>
        </p:nvSpPr>
        <p:spPr>
          <a:xfrm>
            <a:off x="6226492" y="1266825"/>
            <a:ext cx="38100" cy="180975"/>
          </a:xfrm>
          <a:prstGeom prst="roundRect">
            <a:avLst>
              <a:gd name="adj" fmla="val 50000"/>
            </a:avLst>
          </a:prstGeom>
          <a:solidFill>
            <a:srgbClr val="B4532A"/>
          </a:solidFill>
          <a:ln>
            <a:noFill/>
          </a:ln>
        </p:spPr>
      </p:sp>
      <p:sp>
        <p:nvSpPr>
          <p:cNvPr id="14" name="TextBox 14"/>
          <p:cNvSpPr txBox="1"/>
          <p:nvPr/>
        </p:nvSpPr>
        <p:spPr>
          <a:xfrm>
            <a:off x="6343650" y="1281589"/>
            <a:ext cx="270302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Raw bearings (642 records)</a:t>
            </a:r>
          </a:p>
        </p:txBody>
      </p:sp>
      <p:sp>
        <p:nvSpPr>
          <p:cNvPr id="15" name="TextBox 15"/>
          <p:cNvSpPr txBox="1"/>
          <p:nvPr/>
        </p:nvSpPr>
        <p:spPr>
          <a:xfrm>
            <a:off x="6212205" y="1554956"/>
            <a:ext cx="2604897"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East 36.9% · north-east 27.9%</a:t>
            </a:r>
          </a:p>
        </p:txBody>
      </p:sp>
      <p:sp>
        <p:nvSpPr>
          <p:cNvPr id="16" name="TextBox 16"/>
          <p:cNvSpPr txBox="1"/>
          <p:nvPr/>
        </p:nvSpPr>
        <p:spPr>
          <a:xfrm>
            <a:off x="6212205" y="1783556"/>
            <a:ext cx="278234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But China lies east of most ranges</a:t>
            </a:r>
          </a:p>
        </p:txBody>
      </p:sp>
      <p:sp>
        <p:nvSpPr>
          <p:cNvPr id="17" name="Rectangle 17"/>
          <p:cNvSpPr/>
          <p:nvPr/>
        </p:nvSpPr>
        <p:spPr>
          <a:xfrm>
            <a:off x="6035992" y="2971800"/>
            <a:ext cx="5470208" cy="1581150"/>
          </a:xfrm>
          <a:prstGeom prst="roundRect">
            <a:avLst>
              <a:gd name="adj" fmla="val 4819"/>
            </a:avLst>
          </a:prstGeom>
          <a:solidFill>
            <a:srgbClr val="FFFCF6"/>
          </a:solidFill>
          <a:ln w="9525">
            <a:solidFill>
              <a:srgbClr val="E5DACA"/>
            </a:solidFill>
          </a:ln>
        </p:spPr>
      </p:sp>
      <p:sp>
        <p:nvSpPr>
          <p:cNvPr id="18" name="Rectangle 18"/>
          <p:cNvSpPr/>
          <p:nvPr/>
        </p:nvSpPr>
        <p:spPr>
          <a:xfrm>
            <a:off x="6226492" y="3171825"/>
            <a:ext cx="38100" cy="180975"/>
          </a:xfrm>
          <a:prstGeom prst="roundRect">
            <a:avLst>
              <a:gd name="adj" fmla="val 50000"/>
            </a:avLst>
          </a:prstGeom>
          <a:solidFill>
            <a:srgbClr val="988A7A"/>
          </a:solidFill>
          <a:ln>
            <a:noFill/>
          </a:ln>
        </p:spPr>
      </p:sp>
      <p:sp>
        <p:nvSpPr>
          <p:cNvPr id="19" name="TextBox 19"/>
          <p:cNvSpPr txBox="1"/>
          <p:nvPr/>
        </p:nvSpPr>
        <p:spPr>
          <a:xfrm>
            <a:off x="6343650" y="3186589"/>
            <a:ext cx="230430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Null 1 · geography only</a:t>
            </a:r>
          </a:p>
        </p:txBody>
      </p:sp>
      <p:sp>
        <p:nvSpPr>
          <p:cNvPr id="20" name="TextBox 20"/>
          <p:cNvSpPr txBox="1"/>
          <p:nvPr/>
        </p:nvSpPr>
        <p:spPr>
          <a:xfrm>
            <a:off x="6212205" y="3459956"/>
            <a:ext cx="271333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East: 235 expected, 237 observed</a:t>
            </a:r>
          </a:p>
        </p:txBody>
      </p:sp>
      <p:sp>
        <p:nvSpPr>
          <p:cNvPr id="21" name="TextBox 21"/>
          <p:cNvSpPr txBox="1"/>
          <p:nvPr/>
        </p:nvSpPr>
        <p:spPr>
          <a:xfrm>
            <a:off x="6212205" y="3688556"/>
            <a:ext cx="146789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No sector differs</a:t>
            </a:r>
          </a:p>
        </p:txBody>
      </p:sp>
      <p:sp>
        <p:nvSpPr>
          <p:cNvPr id="22" name="Rectangle 22"/>
          <p:cNvSpPr/>
          <p:nvPr/>
        </p:nvSpPr>
        <p:spPr>
          <a:xfrm>
            <a:off x="6035992" y="4876800"/>
            <a:ext cx="5470208" cy="1581150"/>
          </a:xfrm>
          <a:prstGeom prst="roundRect">
            <a:avLst>
              <a:gd name="adj" fmla="val 4819"/>
            </a:avLst>
          </a:prstGeom>
          <a:solidFill>
            <a:srgbClr val="FFFCF6"/>
          </a:solidFill>
          <a:ln w="9525">
            <a:solidFill>
              <a:srgbClr val="E5DACA"/>
            </a:solidFill>
          </a:ln>
        </p:spPr>
      </p:sp>
      <p:sp>
        <p:nvSpPr>
          <p:cNvPr id="23" name="Rectangle 23"/>
          <p:cNvSpPr/>
          <p:nvPr/>
        </p:nvSpPr>
        <p:spPr>
          <a:xfrm>
            <a:off x="6226492" y="5076825"/>
            <a:ext cx="38100" cy="180975"/>
          </a:xfrm>
          <a:prstGeom prst="roundRect">
            <a:avLst>
              <a:gd name="adj" fmla="val 50000"/>
            </a:avLst>
          </a:prstGeom>
          <a:solidFill>
            <a:srgbClr val="1F5F9E"/>
          </a:solidFill>
          <a:ln>
            <a:noFill/>
          </a:ln>
        </p:spPr>
      </p:sp>
      <p:sp>
        <p:nvSpPr>
          <p:cNvPr id="24" name="TextBox 24"/>
          <p:cNvSpPr txBox="1"/>
          <p:nvPr/>
        </p:nvSpPr>
        <p:spPr>
          <a:xfrm>
            <a:off x="6343650" y="5091589"/>
            <a:ext cx="280961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Null 2 · geography + birders</a:t>
            </a:r>
          </a:p>
        </p:txBody>
      </p:sp>
      <p:sp>
        <p:nvSpPr>
          <p:cNvPr id="25" name="TextBox 25"/>
          <p:cNvSpPr txBox="1"/>
          <p:nvPr/>
        </p:nvSpPr>
        <p:spPr>
          <a:xfrm>
            <a:off x="6212205" y="5364956"/>
            <a:ext cx="327855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Northern sectors: 40% vs 33% expected</a:t>
            </a:r>
          </a:p>
        </p:txBody>
      </p:sp>
      <p:sp>
        <p:nvSpPr>
          <p:cNvPr id="26" name="TextBox 26"/>
          <p:cNvSpPr txBox="1"/>
          <p:nvPr/>
        </p:nvSpPr>
        <p:spPr>
          <a:xfrm>
            <a:off x="6212205" y="5593556"/>
            <a:ext cx="166670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χ² = 26.8,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569499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10 / 19</a:t>
            </a:r>
          </a:p>
        </p:txBody>
      </p:sp>
      <p:sp>
        <p:nvSpPr>
          <p:cNvPr id="10" name="Rectangle 10"/>
          <p:cNvSpPr/>
          <p:nvPr/>
        </p:nvSpPr>
        <p:spPr>
          <a:xfrm>
            <a:off x="590550" y="1047750"/>
            <a:ext cx="6477000" cy="4462462"/>
          </a:xfrm>
          <a:prstGeom prst="roundRect">
            <a:avLst>
              <a:gd name="adj" fmla="val 17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6286500" cy="4271962"/>
          </a:xfrm>
          <a:prstGeom prst="rect">
            <a:avLst/>
          </a:prstGeom>
        </p:spPr>
      </p:pic>
      <p:sp>
        <p:nvSpPr>
          <p:cNvPr id="12" name="Rectangle 12"/>
          <p:cNvSpPr/>
          <p:nvPr/>
        </p:nvSpPr>
        <p:spPr>
          <a:xfrm>
            <a:off x="7353300" y="1066800"/>
            <a:ext cx="4152900" cy="1335405"/>
          </a:xfrm>
          <a:prstGeom prst="roundRect">
            <a:avLst>
              <a:gd name="adj" fmla="val 5706"/>
            </a:avLst>
          </a:prstGeom>
          <a:solidFill>
            <a:srgbClr val="FFFCF6"/>
          </a:solidFill>
          <a:ln w="9525">
            <a:solidFill>
              <a:srgbClr val="E5DACA"/>
            </a:solidFill>
          </a:ln>
        </p:spPr>
      </p:sp>
      <p:sp>
        <p:nvSpPr>
          <p:cNvPr id="13" name="Rectangle 13"/>
          <p:cNvSpPr/>
          <p:nvPr/>
        </p:nvSpPr>
        <p:spPr>
          <a:xfrm>
            <a:off x="7543800" y="1266825"/>
            <a:ext cx="38100" cy="180975"/>
          </a:xfrm>
          <a:prstGeom prst="roundRect">
            <a:avLst>
              <a:gd name="adj" fmla="val 50000"/>
            </a:avLst>
          </a:prstGeom>
          <a:solidFill>
            <a:srgbClr val="B4532A"/>
          </a:solidFill>
          <a:ln>
            <a:noFill/>
          </a:ln>
        </p:spPr>
      </p:sp>
      <p:sp>
        <p:nvSpPr>
          <p:cNvPr id="14" name="TextBox 14"/>
          <p:cNvSpPr txBox="1"/>
          <p:nvPr/>
        </p:nvSpPr>
        <p:spPr>
          <a:xfrm>
            <a:off x="7660958" y="1281589"/>
            <a:ext cx="314714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An apparent 2.5-fold enrichment</a:t>
            </a:r>
          </a:p>
        </p:txBody>
      </p:sp>
      <p:sp>
        <p:nvSpPr>
          <p:cNvPr id="15" name="TextBox 15"/>
          <p:cNvSpPr txBox="1"/>
          <p:nvPr/>
        </p:nvSpPr>
        <p:spPr>
          <a:xfrm>
            <a:off x="7529512" y="1554956"/>
            <a:ext cx="252931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Records inside reserves: 26.2%</a:t>
            </a:r>
          </a:p>
        </p:txBody>
      </p:sp>
      <p:sp>
        <p:nvSpPr>
          <p:cNvPr id="16" name="TextBox 16"/>
          <p:cNvSpPr txBox="1"/>
          <p:nvPr/>
        </p:nvSpPr>
        <p:spPr>
          <a:xfrm>
            <a:off x="7529512" y="1783556"/>
            <a:ext cx="225328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Birding effort inside: 10.8%</a:t>
            </a:r>
          </a:p>
        </p:txBody>
      </p:sp>
      <p:sp>
        <p:nvSpPr>
          <p:cNvPr id="17" name="TextBox 17"/>
          <p:cNvSpPr txBox="1"/>
          <p:nvPr/>
        </p:nvSpPr>
        <p:spPr>
          <a:xfrm>
            <a:off x="7529512" y="2012156"/>
            <a:ext cx="188523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Land area inside: 10.4%</a:t>
            </a:r>
          </a:p>
        </p:txBody>
      </p:sp>
      <p:sp>
        <p:nvSpPr>
          <p:cNvPr id="18" name="Rectangle 18"/>
          <p:cNvSpPr/>
          <p:nvPr/>
        </p:nvSpPr>
        <p:spPr>
          <a:xfrm>
            <a:off x="7353300" y="2726055"/>
            <a:ext cx="4152900" cy="1335405"/>
          </a:xfrm>
          <a:prstGeom prst="roundRect">
            <a:avLst>
              <a:gd name="adj" fmla="val 5706"/>
            </a:avLst>
          </a:prstGeom>
          <a:solidFill>
            <a:srgbClr val="FFFCF6"/>
          </a:solidFill>
          <a:ln w="9525">
            <a:solidFill>
              <a:srgbClr val="E5DACA"/>
            </a:solidFill>
          </a:ln>
        </p:spPr>
      </p:sp>
      <p:sp>
        <p:nvSpPr>
          <p:cNvPr id="19" name="Rectangle 19"/>
          <p:cNvSpPr/>
          <p:nvPr/>
        </p:nvSpPr>
        <p:spPr>
          <a:xfrm>
            <a:off x="7543800" y="2926080"/>
            <a:ext cx="38100" cy="180975"/>
          </a:xfrm>
          <a:prstGeom prst="roundRect">
            <a:avLst>
              <a:gd name="adj" fmla="val 50000"/>
            </a:avLst>
          </a:prstGeom>
          <a:solidFill>
            <a:srgbClr val="1F5F9E"/>
          </a:solidFill>
          <a:ln>
            <a:noFill/>
          </a:ln>
        </p:spPr>
      </p:sp>
      <p:sp>
        <p:nvSpPr>
          <p:cNvPr id="20" name="TextBox 20"/>
          <p:cNvSpPr txBox="1"/>
          <p:nvPr/>
        </p:nvSpPr>
        <p:spPr>
          <a:xfrm>
            <a:off x="7660958" y="2940844"/>
            <a:ext cx="349059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Against where birders actually went</a:t>
            </a:r>
          </a:p>
        </p:txBody>
      </p:sp>
      <p:sp>
        <p:nvSpPr>
          <p:cNvPr id="21" name="TextBox 21"/>
          <p:cNvSpPr txBox="1"/>
          <p:nvPr/>
        </p:nvSpPr>
        <p:spPr>
          <a:xfrm>
            <a:off x="7529512" y="3214211"/>
            <a:ext cx="254081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Same province and year: OR 1.57</a:t>
            </a:r>
          </a:p>
        </p:txBody>
      </p:sp>
      <p:sp>
        <p:nvSpPr>
          <p:cNvPr id="22" name="TextBox 22"/>
          <p:cNvSpPr txBox="1"/>
          <p:nvPr/>
        </p:nvSpPr>
        <p:spPr>
          <a:xfrm>
            <a:off x="7529512" y="3442811"/>
            <a:ext cx="300087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Without the 2 largest reserves: 1.16</a:t>
            </a:r>
          </a:p>
        </p:txBody>
      </p:sp>
      <p:sp>
        <p:nvSpPr>
          <p:cNvPr id="23" name="TextBox 23"/>
          <p:cNvSpPr txBox="1"/>
          <p:nvPr/>
        </p:nvSpPr>
        <p:spPr>
          <a:xfrm>
            <a:off x="7529512" y="3671411"/>
            <a:ext cx="2435662"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Before 2013: no effect (0.97)</a:t>
            </a:r>
          </a:p>
        </p:txBody>
      </p:sp>
      <p:sp>
        <p:nvSpPr>
          <p:cNvPr id="24" name="Rectangle 24"/>
          <p:cNvSpPr/>
          <p:nvPr/>
        </p:nvSpPr>
        <p:spPr>
          <a:xfrm>
            <a:off x="7353300" y="4384358"/>
            <a:ext cx="4152900" cy="1125855"/>
          </a:xfrm>
          <a:prstGeom prst="roundRect">
            <a:avLst>
              <a:gd name="adj" fmla="val 6768"/>
            </a:avLst>
          </a:prstGeom>
          <a:solidFill>
            <a:srgbClr val="2B2118"/>
          </a:solidFill>
          <a:ln>
            <a:noFill/>
          </a:ln>
        </p:spPr>
      </p:sp>
      <p:sp>
        <p:nvSpPr>
          <p:cNvPr id="25" name="TextBox 25"/>
          <p:cNvSpPr txBox="1"/>
          <p:nvPr/>
        </p:nvSpPr>
        <p:spPr>
          <a:xfrm>
            <a:off x="7593281" y="4611052"/>
            <a:ext cx="3672937"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More records ≠ better protection</a:t>
            </a:r>
          </a:p>
        </p:txBody>
      </p:sp>
      <p:sp>
        <p:nvSpPr>
          <p:cNvPr id="26" name="TextBox 26"/>
          <p:cNvSpPr txBox="1"/>
          <p:nvPr/>
        </p:nvSpPr>
        <p:spPr>
          <a:xfrm>
            <a:off x="8103565" y="4903470"/>
            <a:ext cx="2652370"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Record counts cannot measure</a:t>
            </a:r>
          </a:p>
        </p:txBody>
      </p:sp>
      <p:sp>
        <p:nvSpPr>
          <p:cNvPr id="27" name="TextBox 27"/>
          <p:cNvSpPr txBox="1"/>
          <p:nvPr/>
        </p:nvSpPr>
        <p:spPr>
          <a:xfrm>
            <a:off x="8369960" y="5141595"/>
            <a:ext cx="2119579"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626459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11 / 19</a:t>
            </a:r>
          </a:p>
        </p:txBody>
      </p:sp>
      <p:sp>
        <p:nvSpPr>
          <p:cNvPr id="10" name="Rectangle 10"/>
          <p:cNvSpPr/>
          <p:nvPr/>
        </p:nvSpPr>
        <p:spPr>
          <a:xfrm>
            <a:off x="590550" y="1047750"/>
            <a:ext cx="6049328" cy="5410200"/>
          </a:xfrm>
          <a:prstGeom prst="roundRect">
            <a:avLst>
              <a:gd name="adj" fmla="val 14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5858828" cy="5219700"/>
          </a:xfrm>
          <a:prstGeom prst="rect">
            <a:avLst/>
          </a:prstGeom>
        </p:spPr>
      </p:pic>
      <p:sp>
        <p:nvSpPr>
          <p:cNvPr id="12" name="Rectangle 12"/>
          <p:cNvSpPr/>
          <p:nvPr/>
        </p:nvSpPr>
        <p:spPr>
          <a:xfrm>
            <a:off x="6925628" y="1066800"/>
            <a:ext cx="4580572" cy="1504950"/>
          </a:xfrm>
          <a:prstGeom prst="roundRect">
            <a:avLst>
              <a:gd name="adj" fmla="val 5063"/>
            </a:avLst>
          </a:prstGeom>
          <a:solidFill>
            <a:srgbClr val="FFFCF6"/>
          </a:solidFill>
          <a:ln w="9525">
            <a:solidFill>
              <a:srgbClr val="E5DACA"/>
            </a:solidFill>
          </a:ln>
        </p:spPr>
      </p:sp>
      <p:sp>
        <p:nvSpPr>
          <p:cNvPr id="13" name="Rectangle 13"/>
          <p:cNvSpPr/>
          <p:nvPr/>
        </p:nvSpPr>
        <p:spPr>
          <a:xfrm>
            <a:off x="7116128" y="1266825"/>
            <a:ext cx="38100" cy="180975"/>
          </a:xfrm>
          <a:prstGeom prst="roundRect">
            <a:avLst>
              <a:gd name="adj" fmla="val 50000"/>
            </a:avLst>
          </a:prstGeom>
          <a:solidFill>
            <a:srgbClr val="B4532A"/>
          </a:solidFill>
          <a:ln>
            <a:noFill/>
          </a:ln>
        </p:spPr>
      </p:sp>
      <p:sp>
        <p:nvSpPr>
          <p:cNvPr id="14" name="TextBox 14"/>
          <p:cNvSpPr txBox="1"/>
          <p:nvPr/>
        </p:nvSpPr>
        <p:spPr>
          <a:xfrm>
            <a:off x="7233285" y="1281589"/>
            <a:ext cx="97984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Two steps</a:t>
            </a:r>
          </a:p>
        </p:txBody>
      </p:sp>
      <p:sp>
        <p:nvSpPr>
          <p:cNvPr id="15" name="TextBox 15"/>
          <p:cNvSpPr txBox="1"/>
          <p:nvPr/>
        </p:nvSpPr>
        <p:spPr>
          <a:xfrm>
            <a:off x="7101840" y="1554956"/>
            <a:ext cx="30189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1 Will the province get a new record?</a:t>
            </a:r>
          </a:p>
        </p:txBody>
      </p:sp>
      <p:sp>
        <p:nvSpPr>
          <p:cNvPr id="16" name="TextBox 16"/>
          <p:cNvSpPr txBox="1"/>
          <p:nvPr/>
        </p:nvSpPr>
        <p:spPr>
          <a:xfrm>
            <a:off x="7101840" y="1783556"/>
            <a:ext cx="180143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2 If so, which county?</a:t>
            </a:r>
          </a:p>
        </p:txBody>
      </p:sp>
      <p:sp>
        <p:nvSpPr>
          <p:cNvPr id="17" name="Rectangle 17"/>
          <p:cNvSpPr/>
          <p:nvPr/>
        </p:nvSpPr>
        <p:spPr>
          <a:xfrm>
            <a:off x="6925628" y="2895600"/>
            <a:ext cx="4580572" cy="1733550"/>
          </a:xfrm>
          <a:prstGeom prst="roundRect">
            <a:avLst>
              <a:gd name="adj" fmla="val 4396"/>
            </a:avLst>
          </a:prstGeom>
          <a:solidFill>
            <a:srgbClr val="FFFCF6"/>
          </a:solidFill>
          <a:ln w="9525">
            <a:solidFill>
              <a:srgbClr val="E5DACA"/>
            </a:solidFill>
          </a:ln>
        </p:spPr>
      </p:sp>
      <p:sp>
        <p:nvSpPr>
          <p:cNvPr id="18" name="Rectangle 18"/>
          <p:cNvSpPr/>
          <p:nvPr/>
        </p:nvSpPr>
        <p:spPr>
          <a:xfrm>
            <a:off x="7116128" y="3095625"/>
            <a:ext cx="38100" cy="180975"/>
          </a:xfrm>
          <a:prstGeom prst="roundRect">
            <a:avLst>
              <a:gd name="adj" fmla="val 50000"/>
            </a:avLst>
          </a:prstGeom>
          <a:solidFill>
            <a:srgbClr val="1F5F9E"/>
          </a:solidFill>
          <a:ln>
            <a:noFill/>
          </a:ln>
        </p:spPr>
      </p:sp>
      <p:sp>
        <p:nvSpPr>
          <p:cNvPr id="19" name="TextBox 19"/>
          <p:cNvSpPr txBox="1"/>
          <p:nvPr/>
        </p:nvSpPr>
        <p:spPr>
          <a:xfrm>
            <a:off x="7233285" y="3110389"/>
            <a:ext cx="3048452"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Out-of-sample skill, 2019–2024</a:t>
            </a:r>
          </a:p>
        </p:txBody>
      </p:sp>
      <p:sp>
        <p:nvSpPr>
          <p:cNvPr id="20" name="TextBox 20"/>
          <p:cNvSpPr txBox="1"/>
          <p:nvPr/>
        </p:nvSpPr>
        <p:spPr>
          <a:xfrm>
            <a:off x="7101840" y="3383756"/>
            <a:ext cx="317339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Top county right 16.1% (random ≈ 1%)</a:t>
            </a:r>
          </a:p>
        </p:txBody>
      </p:sp>
      <p:sp>
        <p:nvSpPr>
          <p:cNvPr id="21" name="TextBox 21"/>
          <p:cNvSpPr txBox="1"/>
          <p:nvPr/>
        </p:nvSpPr>
        <p:spPr>
          <a:xfrm>
            <a:off x="7101840" y="3612356"/>
            <a:ext cx="277741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True county in the top 10%: 45.4%</a:t>
            </a:r>
          </a:p>
        </p:txBody>
      </p:sp>
      <p:sp>
        <p:nvSpPr>
          <p:cNvPr id="22" name="TextBox 22"/>
          <p:cNvSpPr txBox="1"/>
          <p:nvPr/>
        </p:nvSpPr>
        <p:spPr>
          <a:xfrm>
            <a:off x="7101840" y="3840956"/>
            <a:ext cx="263775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Leave one province out: 27 of 29</a:t>
            </a:r>
          </a:p>
        </p:txBody>
      </p:sp>
      <p:sp>
        <p:nvSpPr>
          <p:cNvPr id="23" name="Rectangle 23"/>
          <p:cNvSpPr/>
          <p:nvPr/>
        </p:nvSpPr>
        <p:spPr>
          <a:xfrm>
            <a:off x="6925628" y="4953000"/>
            <a:ext cx="4580572" cy="1504950"/>
          </a:xfrm>
          <a:prstGeom prst="roundRect">
            <a:avLst>
              <a:gd name="adj" fmla="val 5063"/>
            </a:avLst>
          </a:prstGeom>
          <a:solidFill>
            <a:srgbClr val="FFFCF6"/>
          </a:solidFill>
          <a:ln w="9525">
            <a:solidFill>
              <a:srgbClr val="E5DACA"/>
            </a:solidFill>
          </a:ln>
        </p:spPr>
      </p:sp>
      <p:sp>
        <p:nvSpPr>
          <p:cNvPr id="24" name="Rectangle 24"/>
          <p:cNvSpPr/>
          <p:nvPr/>
        </p:nvSpPr>
        <p:spPr>
          <a:xfrm>
            <a:off x="7116128" y="5153025"/>
            <a:ext cx="38100" cy="180975"/>
          </a:xfrm>
          <a:prstGeom prst="roundRect">
            <a:avLst>
              <a:gd name="adj" fmla="val 50000"/>
            </a:avLst>
          </a:prstGeom>
          <a:solidFill>
            <a:srgbClr val="B4532A"/>
          </a:solidFill>
          <a:ln>
            <a:noFill/>
          </a:ln>
        </p:spPr>
      </p:sp>
      <p:sp>
        <p:nvSpPr>
          <p:cNvPr id="25" name="TextBox 25"/>
          <p:cNvSpPr txBox="1"/>
          <p:nvPr/>
        </p:nvSpPr>
        <p:spPr>
          <a:xfrm>
            <a:off x="7233285" y="5167789"/>
            <a:ext cx="2827379"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Birders will know these names</a:t>
            </a:r>
          </a:p>
        </p:txBody>
      </p:sp>
      <p:sp>
        <p:nvSpPr>
          <p:cNvPr id="26" name="TextBox 26"/>
          <p:cNvSpPr txBox="1"/>
          <p:nvPr/>
        </p:nvSpPr>
        <p:spPr>
          <a:xfrm>
            <a:off x="7101840" y="5441156"/>
            <a:ext cx="315203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Medog · Pudong (Nanhui) · Chongming</a:t>
            </a:r>
          </a:p>
        </p:txBody>
      </p:sp>
      <p:sp>
        <p:nvSpPr>
          <p:cNvPr id="27" name="TextBox 27"/>
          <p:cNvSpPr txBox="1"/>
          <p:nvPr/>
        </p:nvSpPr>
        <p:spPr>
          <a:xfrm>
            <a:off x="7101840" y="5669756"/>
            <a:ext cx="284149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683418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12 / 19</a:t>
            </a:r>
          </a:p>
        </p:txBody>
      </p:sp>
      <p:sp>
        <p:nvSpPr>
          <p:cNvPr id="10" name="Rectangle 10"/>
          <p:cNvSpPr/>
          <p:nvPr/>
        </p:nvSpPr>
        <p:spPr>
          <a:xfrm>
            <a:off x="1566862" y="1028700"/>
            <a:ext cx="9057322" cy="4095750"/>
          </a:xfrm>
          <a:prstGeom prst="roundRect">
            <a:avLst>
              <a:gd name="adj" fmla="val 1860"/>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1662112" y="1123950"/>
            <a:ext cx="8866822" cy="3905250"/>
          </a:xfrm>
          <a:prstGeom prst="rect">
            <a:avLst/>
          </a:prstGeom>
        </p:spPr>
      </p:pic>
      <p:sp>
        <p:nvSpPr>
          <p:cNvPr id="12" name="Rectangle 12"/>
          <p:cNvSpPr/>
          <p:nvPr/>
        </p:nvSpPr>
        <p:spPr>
          <a:xfrm>
            <a:off x="685800" y="5295900"/>
            <a:ext cx="5295900" cy="990600"/>
          </a:xfrm>
          <a:prstGeom prst="roundRect">
            <a:avLst>
              <a:gd name="adj" fmla="val 7692"/>
            </a:avLst>
          </a:prstGeom>
          <a:solidFill>
            <a:srgbClr val="FFFCF6"/>
          </a:solidFill>
          <a:ln w="9525">
            <a:solidFill>
              <a:srgbClr val="E5DACA"/>
            </a:solidFill>
          </a:ln>
        </p:spPr>
      </p:sp>
      <p:sp>
        <p:nvSpPr>
          <p:cNvPr id="13" name="Rectangle 13"/>
          <p:cNvSpPr/>
          <p:nvPr/>
        </p:nvSpPr>
        <p:spPr>
          <a:xfrm>
            <a:off x="876300" y="5495925"/>
            <a:ext cx="38100" cy="180975"/>
          </a:xfrm>
          <a:prstGeom prst="roundRect">
            <a:avLst>
              <a:gd name="adj" fmla="val 50000"/>
            </a:avLst>
          </a:prstGeom>
          <a:solidFill>
            <a:srgbClr val="B4532A"/>
          </a:solidFill>
          <a:ln>
            <a:noFill/>
          </a:ln>
        </p:spPr>
      </p:sp>
      <p:sp>
        <p:nvSpPr>
          <p:cNvPr id="14" name="TextBox 14"/>
          <p:cNvSpPr txBox="1"/>
          <p:nvPr/>
        </p:nvSpPr>
        <p:spPr>
          <a:xfrm>
            <a:off x="993458" y="5510689"/>
            <a:ext cx="226680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One model, three scales</a:t>
            </a:r>
          </a:p>
        </p:txBody>
      </p:sp>
      <p:sp>
        <p:nvSpPr>
          <p:cNvPr id="15" name="TextBox 15"/>
          <p:cNvSpPr txBox="1"/>
          <p:nvPr/>
        </p:nvSpPr>
        <p:spPr>
          <a:xfrm>
            <a:off x="862012" y="5784056"/>
            <a:ext cx="367617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Expected records (province) × share (unit)</a:t>
            </a:r>
          </a:p>
        </p:txBody>
      </p:sp>
      <p:sp>
        <p:nvSpPr>
          <p:cNvPr id="16" name="TextBox 16"/>
          <p:cNvSpPr txBox="1"/>
          <p:nvPr/>
        </p:nvSpPr>
        <p:spPr>
          <a:xfrm>
            <a:off x="862012" y="6012656"/>
            <a:ext cx="278399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371 prefectures · 2,835 counties</a:t>
            </a:r>
          </a:p>
        </p:txBody>
      </p:sp>
      <p:sp>
        <p:nvSpPr>
          <p:cNvPr id="17" name="Rectangle 17"/>
          <p:cNvSpPr/>
          <p:nvPr/>
        </p:nvSpPr>
        <p:spPr>
          <a:xfrm>
            <a:off x="6210300" y="5295900"/>
            <a:ext cx="5295900" cy="990600"/>
          </a:xfrm>
          <a:prstGeom prst="roundRect">
            <a:avLst>
              <a:gd name="adj" fmla="val 7692"/>
            </a:avLst>
          </a:prstGeom>
          <a:solidFill>
            <a:srgbClr val="FFFCF6"/>
          </a:solidFill>
          <a:ln w="9525">
            <a:solidFill>
              <a:srgbClr val="E5DACA"/>
            </a:solidFill>
          </a:ln>
        </p:spPr>
      </p:sp>
      <p:sp>
        <p:nvSpPr>
          <p:cNvPr id="18" name="Rectangle 18"/>
          <p:cNvSpPr/>
          <p:nvPr/>
        </p:nvSpPr>
        <p:spPr>
          <a:xfrm>
            <a:off x="6400800" y="5495925"/>
            <a:ext cx="38100" cy="180975"/>
          </a:xfrm>
          <a:prstGeom prst="roundRect">
            <a:avLst>
              <a:gd name="adj" fmla="val 50000"/>
            </a:avLst>
          </a:prstGeom>
          <a:solidFill>
            <a:srgbClr val="1F5F9E"/>
          </a:solidFill>
          <a:ln>
            <a:noFill/>
          </a:ln>
        </p:spPr>
      </p:sp>
      <p:sp>
        <p:nvSpPr>
          <p:cNvPr id="19" name="TextBox 19"/>
          <p:cNvSpPr txBox="1"/>
          <p:nvPr/>
        </p:nvSpPr>
        <p:spPr>
          <a:xfrm>
            <a:off x="6517958" y="5510689"/>
            <a:ext cx="400380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Change the model family: maps barely move</a:t>
            </a:r>
          </a:p>
        </p:txBody>
      </p:sp>
      <p:sp>
        <p:nvSpPr>
          <p:cNvPr id="20" name="TextBox 20"/>
          <p:cNvSpPr txBox="1"/>
          <p:nvPr/>
        </p:nvSpPr>
        <p:spPr>
          <a:xfrm>
            <a:off x="6386512" y="5784056"/>
            <a:ext cx="3285125"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Random forest / XGBoost: ρ = 0.59–0.89</a:t>
            </a:r>
          </a:p>
        </p:txBody>
      </p:sp>
      <p:sp>
        <p:nvSpPr>
          <p:cNvPr id="21" name="TextBox 21"/>
          <p:cNvSpPr txBox="1"/>
          <p:nvPr/>
        </p:nvSpPr>
        <p:spPr>
          <a:xfrm>
            <a:off x="6386512" y="6012656"/>
            <a:ext cx="314382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740378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0</a:t>
            </a:r>
          </a:p>
        </p:txBody>
      </p:sp>
      <p:sp>
        <p:nvSpPr>
          <p:cNvPr id="12" name="Line 12"/>
          <p:cNvSpPr/>
          <p:nvPr/>
        </p:nvSpPr>
        <p:spPr>
          <a:xfrm>
            <a:off x="1066800" y="484632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3" name="TextBox 13"/>
          <p:cNvSpPr txBox="1"/>
          <p:nvPr/>
        </p:nvSpPr>
        <p:spPr>
          <a:xfrm>
            <a:off x="802529" y="478869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20</a:t>
            </a:r>
          </a:p>
        </p:txBody>
      </p:sp>
      <p:sp>
        <p:nvSpPr>
          <p:cNvPr id="14" name="Line 14"/>
          <p:cNvSpPr/>
          <p:nvPr/>
        </p:nvSpPr>
        <p:spPr>
          <a:xfrm>
            <a:off x="1066800" y="399669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5" name="TextBox 15"/>
          <p:cNvSpPr txBox="1"/>
          <p:nvPr/>
        </p:nvSpPr>
        <p:spPr>
          <a:xfrm>
            <a:off x="802529" y="393906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40</a:t>
            </a:r>
          </a:p>
        </p:txBody>
      </p:sp>
      <p:sp>
        <p:nvSpPr>
          <p:cNvPr id="16" name="Line 16"/>
          <p:cNvSpPr/>
          <p:nvPr/>
        </p:nvSpPr>
        <p:spPr>
          <a:xfrm>
            <a:off x="1066800" y="314706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7" name="TextBox 17"/>
          <p:cNvSpPr txBox="1"/>
          <p:nvPr/>
        </p:nvSpPr>
        <p:spPr>
          <a:xfrm>
            <a:off x="802529" y="308943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60</a:t>
            </a:r>
          </a:p>
        </p:txBody>
      </p:sp>
      <p:sp>
        <p:nvSpPr>
          <p:cNvPr id="18" name="Line 18"/>
          <p:cNvSpPr/>
          <p:nvPr/>
        </p:nvSpPr>
        <p:spPr>
          <a:xfrm>
            <a:off x="1066800" y="229743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9" name="TextBox 19"/>
          <p:cNvSpPr txBox="1"/>
          <p:nvPr/>
        </p:nvSpPr>
        <p:spPr>
          <a:xfrm>
            <a:off x="802529" y="223980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80</a:t>
            </a:r>
          </a:p>
        </p:txBody>
      </p:sp>
      <p:sp>
        <p:nvSpPr>
          <p:cNvPr id="20" name="Line 20"/>
          <p:cNvSpPr/>
          <p:nvPr/>
        </p:nvSpPr>
        <p:spPr>
          <a:xfrm>
            <a:off x="1066800" y="144780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21" name="TextBox 21"/>
          <p:cNvSpPr txBox="1"/>
          <p:nvPr/>
        </p:nvSpPr>
        <p:spPr>
          <a:xfrm>
            <a:off x="724210" y="1390174"/>
            <a:ext cx="259723"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100</a:t>
            </a:r>
          </a:p>
        </p:txBody>
      </p:sp>
      <p:sp>
        <p:nvSpPr>
          <p:cNvPr id="22" name="TextBox 22"/>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New records per year, China</a:t>
            </a:r>
          </a:p>
        </p:txBody>
      </p:sp>
      <p:sp>
        <p:nvSpPr>
          <p:cNvPr id="23" name="Rectangle 23"/>
          <p:cNvSpPr/>
          <p:nvPr/>
        </p:nvSpPr>
        <p:spPr>
          <a:xfrm>
            <a:off x="1361122" y="4589145"/>
            <a:ext cx="449580" cy="1106805"/>
          </a:xfrm>
          <a:prstGeom prst="roundRect">
            <a:avLst>
              <a:gd name="adj" fmla="val 4237"/>
            </a:avLst>
          </a:prstGeom>
          <a:solidFill>
            <a:srgbClr val="D6A08A"/>
          </a:solidFill>
          <a:ln>
            <a:noFill/>
          </a:ln>
        </p:spPr>
      </p:sp>
      <p:sp>
        <p:nvSpPr>
          <p:cNvPr id="24" name="TextBox 24"/>
          <p:cNvSpPr txBox="1"/>
          <p:nvPr/>
        </p:nvSpPr>
        <p:spPr>
          <a:xfrm>
            <a:off x="1415713" y="4399598"/>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26.1</a:t>
            </a:r>
          </a:p>
        </p:txBody>
      </p:sp>
      <p:sp>
        <p:nvSpPr>
          <p:cNvPr id="25" name="Rectangle 25"/>
          <p:cNvSpPr/>
          <p:nvPr/>
        </p:nvSpPr>
        <p:spPr>
          <a:xfrm>
            <a:off x="1868805" y="4597718"/>
            <a:ext cx="449580" cy="1098232"/>
          </a:xfrm>
          <a:prstGeom prst="roundRect">
            <a:avLst>
              <a:gd name="adj" fmla="val 4237"/>
            </a:avLst>
          </a:prstGeom>
          <a:solidFill>
            <a:srgbClr val="B4532A"/>
          </a:solidFill>
          <a:ln>
            <a:noFill/>
          </a:ln>
        </p:spPr>
      </p:sp>
      <p:sp>
        <p:nvSpPr>
          <p:cNvPr id="26" name="TextBox 26"/>
          <p:cNvSpPr txBox="1"/>
          <p:nvPr/>
        </p:nvSpPr>
        <p:spPr>
          <a:xfrm>
            <a:off x="1923396" y="4408170"/>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25.9</a:t>
            </a:r>
          </a:p>
        </p:txBody>
      </p:sp>
      <p:sp>
        <p:nvSpPr>
          <p:cNvPr id="27" name="TextBox 27"/>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2030</a:t>
            </a:r>
          </a:p>
        </p:txBody>
      </p:sp>
      <p:sp>
        <p:nvSpPr>
          <p:cNvPr id="28" name="TextBox 28"/>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frozen effort</a:t>
            </a:r>
          </a:p>
        </p:txBody>
      </p:sp>
      <p:sp>
        <p:nvSpPr>
          <p:cNvPr id="29" name="TextBox 29"/>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50–53% in support</a:t>
            </a:r>
          </a:p>
        </p:txBody>
      </p:sp>
      <p:sp>
        <p:nvSpPr>
          <p:cNvPr id="30" name="Rectangle 30"/>
          <p:cNvSpPr/>
          <p:nvPr/>
        </p:nvSpPr>
        <p:spPr>
          <a:xfrm>
            <a:off x="2861310" y="4384358"/>
            <a:ext cx="449580" cy="1311592"/>
          </a:xfrm>
          <a:prstGeom prst="roundRect">
            <a:avLst>
              <a:gd name="adj" fmla="val 4237"/>
            </a:avLst>
          </a:prstGeom>
          <a:solidFill>
            <a:srgbClr val="D6A08A"/>
          </a:solidFill>
          <a:ln>
            <a:noFill/>
          </a:ln>
        </p:spPr>
      </p:sp>
      <p:sp>
        <p:nvSpPr>
          <p:cNvPr id="31" name="TextBox 31"/>
          <p:cNvSpPr txBox="1"/>
          <p:nvPr/>
        </p:nvSpPr>
        <p:spPr>
          <a:xfrm>
            <a:off x="2915901" y="4194810"/>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30.9</a:t>
            </a:r>
          </a:p>
        </p:txBody>
      </p:sp>
      <p:sp>
        <p:nvSpPr>
          <p:cNvPr id="32" name="Rectangle 32"/>
          <p:cNvSpPr/>
          <p:nvPr/>
        </p:nvSpPr>
        <p:spPr>
          <a:xfrm>
            <a:off x="3368040" y="4400550"/>
            <a:ext cx="449580" cy="1295400"/>
          </a:xfrm>
          <a:prstGeom prst="roundRect">
            <a:avLst>
              <a:gd name="adj" fmla="val 4237"/>
            </a:avLst>
          </a:prstGeom>
          <a:solidFill>
            <a:srgbClr val="B4532A"/>
          </a:solidFill>
          <a:ln>
            <a:noFill/>
          </a:ln>
        </p:spPr>
      </p:sp>
      <p:sp>
        <p:nvSpPr>
          <p:cNvPr id="33" name="TextBox 33"/>
          <p:cNvSpPr txBox="1"/>
          <p:nvPr/>
        </p:nvSpPr>
        <p:spPr>
          <a:xfrm>
            <a:off x="3423583" y="4211002"/>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30.5</a:t>
            </a:r>
          </a:p>
        </p:txBody>
      </p:sp>
      <p:sp>
        <p:nvSpPr>
          <p:cNvPr id="34" name="TextBox 34"/>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2030</a:t>
            </a:r>
          </a:p>
        </p:txBody>
      </p:sp>
      <p:sp>
        <p:nvSpPr>
          <p:cNvPr id="35" name="TextBox 35"/>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growing effort</a:t>
            </a:r>
          </a:p>
        </p:txBody>
      </p:sp>
      <p:sp>
        <p:nvSpPr>
          <p:cNvPr id="36" name="TextBox 36"/>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30–33% in support</a:t>
            </a:r>
          </a:p>
        </p:txBody>
      </p:sp>
      <p:sp>
        <p:nvSpPr>
          <p:cNvPr id="37" name="Rectangle 37"/>
          <p:cNvSpPr/>
          <p:nvPr/>
        </p:nvSpPr>
        <p:spPr>
          <a:xfrm>
            <a:off x="4361498" y="4556760"/>
            <a:ext cx="449580" cy="1139190"/>
          </a:xfrm>
          <a:prstGeom prst="roundRect">
            <a:avLst>
              <a:gd name="adj" fmla="val 4237"/>
            </a:avLst>
          </a:prstGeom>
          <a:solidFill>
            <a:srgbClr val="D6A08A"/>
          </a:solidFill>
          <a:ln>
            <a:noFill/>
          </a:ln>
        </p:spPr>
      </p:sp>
      <p:sp>
        <p:nvSpPr>
          <p:cNvPr id="38" name="TextBox 38"/>
          <p:cNvSpPr txBox="1"/>
          <p:nvPr/>
        </p:nvSpPr>
        <p:spPr>
          <a:xfrm>
            <a:off x="4416088" y="4367212"/>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26.8</a:t>
            </a:r>
          </a:p>
        </p:txBody>
      </p:sp>
      <p:sp>
        <p:nvSpPr>
          <p:cNvPr id="39" name="Rectangle 39"/>
          <p:cNvSpPr/>
          <p:nvPr/>
        </p:nvSpPr>
        <p:spPr>
          <a:xfrm>
            <a:off x="4868228" y="4551045"/>
            <a:ext cx="449580" cy="1144905"/>
          </a:xfrm>
          <a:prstGeom prst="roundRect">
            <a:avLst>
              <a:gd name="adj" fmla="val 4237"/>
            </a:avLst>
          </a:prstGeom>
          <a:solidFill>
            <a:srgbClr val="B4532A"/>
          </a:solidFill>
          <a:ln>
            <a:noFill/>
          </a:ln>
        </p:spPr>
      </p:sp>
      <p:sp>
        <p:nvSpPr>
          <p:cNvPr id="40" name="TextBox 40"/>
          <p:cNvSpPr txBox="1"/>
          <p:nvPr/>
        </p:nvSpPr>
        <p:spPr>
          <a:xfrm>
            <a:off x="4923771" y="4361498"/>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26.9</a:t>
            </a:r>
          </a:p>
        </p:txBody>
      </p:sp>
      <p:sp>
        <p:nvSpPr>
          <p:cNvPr id="41" name="TextBox 41"/>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2050</a:t>
            </a:r>
          </a:p>
        </p:txBody>
      </p:sp>
      <p:sp>
        <p:nvSpPr>
          <p:cNvPr id="42" name="TextBox 42"/>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frozen effort</a:t>
            </a:r>
          </a:p>
        </p:txBody>
      </p:sp>
      <p:sp>
        <p:nvSpPr>
          <p:cNvPr id="43" name="TextBox 43"/>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38–43% in support</a:t>
            </a:r>
          </a:p>
        </p:txBody>
      </p:sp>
      <p:sp>
        <p:nvSpPr>
          <p:cNvPr id="44" name="Rectangle 44"/>
          <p:cNvSpPr/>
          <p:nvPr/>
        </p:nvSpPr>
        <p:spPr>
          <a:xfrm>
            <a:off x="5861685" y="2328862"/>
            <a:ext cx="449580" cy="3367088"/>
          </a:xfrm>
          <a:prstGeom prst="roundRect">
            <a:avLst>
              <a:gd name="adj" fmla="val 4237"/>
            </a:avLst>
          </a:prstGeom>
          <a:solidFill>
            <a:srgbClr val="D6A08A">
              <a:alpha val="45000"/>
            </a:srgbClr>
          </a:solidFill>
          <a:ln>
            <a:noFill/>
          </a:ln>
        </p:spPr>
      </p:sp>
      <p:sp>
        <p:nvSpPr>
          <p:cNvPr id="45" name="TextBox 45"/>
          <p:cNvSpPr txBox="1"/>
          <p:nvPr/>
        </p:nvSpPr>
        <p:spPr>
          <a:xfrm>
            <a:off x="5916276" y="2139315"/>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79.3</a:t>
            </a:r>
          </a:p>
        </p:txBody>
      </p:sp>
      <p:sp>
        <p:nvSpPr>
          <p:cNvPr id="46" name="Rectangle 46"/>
          <p:cNvSpPr/>
          <p:nvPr/>
        </p:nvSpPr>
        <p:spPr>
          <a:xfrm>
            <a:off x="6368415" y="1912620"/>
            <a:ext cx="449580" cy="3783330"/>
          </a:xfrm>
          <a:prstGeom prst="roundRect">
            <a:avLst>
              <a:gd name="adj" fmla="val 4237"/>
            </a:avLst>
          </a:prstGeom>
          <a:solidFill>
            <a:srgbClr val="B4532A">
              <a:alpha val="45000"/>
            </a:srgbClr>
          </a:solidFill>
          <a:ln>
            <a:noFill/>
          </a:ln>
        </p:spPr>
      </p:sp>
      <p:sp>
        <p:nvSpPr>
          <p:cNvPr id="47" name="TextBox 47"/>
          <p:cNvSpPr txBox="1"/>
          <p:nvPr/>
        </p:nvSpPr>
        <p:spPr>
          <a:xfrm>
            <a:off x="6423958" y="1723072"/>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89.0</a:t>
            </a:r>
          </a:p>
        </p:txBody>
      </p:sp>
      <p:sp>
        <p:nvSpPr>
          <p:cNvPr id="48" name="TextBox 48"/>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2050</a:t>
            </a:r>
          </a:p>
        </p:txBody>
      </p:sp>
      <p:sp>
        <p:nvSpPr>
          <p:cNvPr id="49" name="TextBox 49"/>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growing effort</a:t>
            </a:r>
          </a:p>
        </p:txBody>
      </p:sp>
      <p:sp>
        <p:nvSpPr>
          <p:cNvPr id="50" name="TextBox 50"/>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0% in support</a:t>
            </a:r>
          </a:p>
        </p:txBody>
      </p:sp>
      <p:sp>
        <p:nvSpPr>
          <p:cNvPr id="51" name="Rectangle 51"/>
          <p:cNvSpPr/>
          <p:nvPr/>
        </p:nvSpPr>
        <p:spPr>
          <a:xfrm>
            <a:off x="4876800" y="1085850"/>
            <a:ext cx="133350" cy="133350"/>
          </a:xfrm>
          <a:prstGeom prst="roundRect">
            <a:avLst>
              <a:gd name="adj" fmla="val 14286"/>
            </a:avLst>
          </a:prstGeom>
          <a:solidFill>
            <a:srgbClr val="D6A08A"/>
          </a:solidFill>
          <a:ln>
            <a:noFill/>
          </a:ln>
        </p:spPr>
      </p:sp>
      <p:sp>
        <p:nvSpPr>
          <p:cNvPr id="52" name="TextBox 52"/>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5E5246"/>
                </a:solidFill>
                <a:latin typeface="Arial"/>
                <a:ea typeface="Microsoft YaHei"/>
                <a:cs typeface="Arial"/>
              </a:rPr>
              <a:t>SSP2-4.5</a:t>
            </a:r>
          </a:p>
        </p:txBody>
      </p:sp>
      <p:sp>
        <p:nvSpPr>
          <p:cNvPr id="53" name="Rectangle 53"/>
          <p:cNvSpPr/>
          <p:nvPr/>
        </p:nvSpPr>
        <p:spPr>
          <a:xfrm>
            <a:off x="6019800" y="1085850"/>
            <a:ext cx="133350" cy="133350"/>
          </a:xfrm>
          <a:prstGeom prst="roundRect">
            <a:avLst>
              <a:gd name="adj" fmla="val 14286"/>
            </a:avLst>
          </a:prstGeom>
          <a:solidFill>
            <a:srgbClr val="B4532A"/>
          </a:solidFill>
          <a:ln>
            <a:noFill/>
          </a:ln>
        </p:spPr>
      </p:sp>
      <p:sp>
        <p:nvSpPr>
          <p:cNvPr id="54" name="TextBox 54"/>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5E5246"/>
                </a:solidFill>
                <a:latin typeface="Arial"/>
                <a:ea typeface="Microsoft YaHei"/>
                <a:cs typeface="Arial"/>
              </a:rPr>
              <a:t>SSP5-8.5</a:t>
            </a:r>
          </a:p>
        </p:txBody>
      </p:sp>
      <p:sp>
        <p:nvSpPr>
          <p:cNvPr id="55" name="Line 55"/>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5E5246"/>
            </a:solidFill>
          </a:ln>
        </p:spPr>
      </p:sp>
      <p:sp>
        <p:nvSpPr>
          <p:cNvPr id="56" name="Rectangle 56"/>
          <p:cNvSpPr/>
          <p:nvPr/>
        </p:nvSpPr>
        <p:spPr>
          <a:xfrm>
            <a:off x="7581900" y="1066800"/>
            <a:ext cx="3924300" cy="1759268"/>
          </a:xfrm>
          <a:prstGeom prst="roundRect">
            <a:avLst>
              <a:gd name="adj" fmla="val 4331"/>
            </a:avLst>
          </a:prstGeom>
          <a:solidFill>
            <a:srgbClr val="FFFCF6"/>
          </a:solidFill>
          <a:ln w="9525">
            <a:solidFill>
              <a:srgbClr val="E5DACA"/>
            </a:solidFill>
          </a:ln>
        </p:spPr>
      </p:sp>
      <p:sp>
        <p:nvSpPr>
          <p:cNvPr id="57" name="Rectangle 57"/>
          <p:cNvSpPr/>
          <p:nvPr/>
        </p:nvSpPr>
        <p:spPr>
          <a:xfrm>
            <a:off x="7772400" y="1266825"/>
            <a:ext cx="38100" cy="180975"/>
          </a:xfrm>
          <a:prstGeom prst="roundRect">
            <a:avLst>
              <a:gd name="adj" fmla="val 50000"/>
            </a:avLst>
          </a:prstGeom>
          <a:solidFill>
            <a:srgbClr val="B4532A"/>
          </a:solidFill>
          <a:ln>
            <a:noFill/>
          </a:ln>
        </p:spPr>
      </p:sp>
      <p:sp>
        <p:nvSpPr>
          <p:cNvPr id="58" name="TextBox 58"/>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Two climate × two effort scenarios</a:t>
            </a:r>
          </a:p>
        </p:txBody>
      </p:sp>
      <p:sp>
        <p:nvSpPr>
          <p:cNvPr id="59" name="TextBox 59"/>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Climate: SSP2-4.5 or SSP5-8.5</a:t>
            </a:r>
          </a:p>
        </p:txBody>
      </p:sp>
      <p:sp>
        <p:nvSpPr>
          <p:cNvPr id="60" name="TextBox 60"/>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Effort: frozen, or +0.6 SD a decade</a:t>
            </a:r>
          </a:p>
        </p:txBody>
      </p:sp>
      <p:sp>
        <p:nvSpPr>
          <p:cNvPr id="61" name="TextBox 61"/>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Horizons: 2030 and 2050</a:t>
            </a:r>
          </a:p>
        </p:txBody>
      </p:sp>
      <p:sp>
        <p:nvSpPr>
          <p:cNvPr id="62" name="Rectangle 62"/>
          <p:cNvSpPr/>
          <p:nvPr/>
        </p:nvSpPr>
        <p:spPr>
          <a:xfrm>
            <a:off x="7581900" y="3149918"/>
            <a:ext cx="3924300" cy="1530668"/>
          </a:xfrm>
          <a:prstGeom prst="roundRect">
            <a:avLst>
              <a:gd name="adj" fmla="val 4978"/>
            </a:avLst>
          </a:prstGeom>
          <a:solidFill>
            <a:srgbClr val="FFFCF6"/>
          </a:solidFill>
          <a:ln w="9525">
            <a:solidFill>
              <a:srgbClr val="E5DACA"/>
            </a:solidFill>
          </a:ln>
        </p:spPr>
      </p:sp>
      <p:sp>
        <p:nvSpPr>
          <p:cNvPr id="63" name="Rectangle 63"/>
          <p:cNvSpPr/>
          <p:nvPr/>
        </p:nvSpPr>
        <p:spPr>
          <a:xfrm>
            <a:off x="7772400" y="3349942"/>
            <a:ext cx="38100" cy="180975"/>
          </a:xfrm>
          <a:prstGeom prst="roundRect">
            <a:avLst>
              <a:gd name="adj" fmla="val 50000"/>
            </a:avLst>
          </a:prstGeom>
          <a:solidFill>
            <a:srgbClr val="1F5F9E"/>
          </a:solidFill>
          <a:ln>
            <a:noFill/>
          </a:ln>
        </p:spPr>
      </p:sp>
      <p:sp>
        <p:nvSpPr>
          <p:cNvPr id="64" name="TextBox 64"/>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What changes the expected count?</a:t>
            </a:r>
          </a:p>
        </p:txBody>
      </p:sp>
      <p:sp>
        <p:nvSpPr>
          <p:cNvPr id="65" name="TextBox 65"/>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Switch climate: barely anything</a:t>
            </a:r>
          </a:p>
        </p:txBody>
      </p:sp>
      <p:sp>
        <p:nvSpPr>
          <p:cNvPr id="66" name="TextBox 66"/>
          <p:cNvSpPr txBox="1"/>
          <p:nvPr/>
        </p:nvSpPr>
        <p:spPr>
          <a:xfrm>
            <a:off x="7758112" y="3866674"/>
            <a:ext cx="2861215"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Keep effort growing: roughly triple</a:t>
            </a:r>
          </a:p>
        </p:txBody>
      </p:sp>
      <p:sp>
        <p:nvSpPr>
          <p:cNvPr id="67" name="Rectangle 67"/>
          <p:cNvSpPr/>
          <p:nvPr/>
        </p:nvSpPr>
        <p:spPr>
          <a:xfrm>
            <a:off x="7581900" y="5003482"/>
            <a:ext cx="3924300" cy="1321118"/>
          </a:xfrm>
          <a:prstGeom prst="roundRect">
            <a:avLst>
              <a:gd name="adj" fmla="val 5768"/>
            </a:avLst>
          </a:prstGeom>
          <a:solidFill>
            <a:srgbClr val="2B2118"/>
          </a:solidFill>
          <a:ln>
            <a:noFill/>
          </a:ln>
        </p:spPr>
      </p:sp>
      <p:sp>
        <p:nvSpPr>
          <p:cNvPr id="68" name="TextBox 68"/>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Most of that rise lies outside the data</a:t>
            </a:r>
          </a:p>
        </p:txBody>
      </p:sp>
      <p:sp>
        <p:nvSpPr>
          <p:cNvPr id="69" name="TextBox 69"/>
          <p:cNvSpPr txBox="1"/>
          <p:nvPr/>
        </p:nvSpPr>
        <p:spPr>
          <a:xfrm>
            <a:off x="8259928" y="5739765"/>
            <a:ext cx="2568245"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Faded bars: no cell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797337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0</a:t>
            </a:r>
          </a:p>
        </p:txBody>
      </p:sp>
      <p:sp>
        <p:nvSpPr>
          <p:cNvPr id="12" name="Line 12"/>
          <p:cNvSpPr/>
          <p:nvPr/>
        </p:nvSpPr>
        <p:spPr>
          <a:xfrm>
            <a:off x="1257300" y="497205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3" name="TextBox 13"/>
          <p:cNvSpPr txBox="1"/>
          <p:nvPr/>
        </p:nvSpPr>
        <p:spPr>
          <a:xfrm>
            <a:off x="993029" y="491442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20</a:t>
            </a:r>
          </a:p>
        </p:txBody>
      </p:sp>
      <p:sp>
        <p:nvSpPr>
          <p:cNvPr id="14" name="Line 14"/>
          <p:cNvSpPr/>
          <p:nvPr/>
        </p:nvSpPr>
        <p:spPr>
          <a:xfrm>
            <a:off x="1257300" y="411480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5" name="TextBox 15"/>
          <p:cNvSpPr txBox="1"/>
          <p:nvPr/>
        </p:nvSpPr>
        <p:spPr>
          <a:xfrm>
            <a:off x="993029" y="405717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40</a:t>
            </a:r>
          </a:p>
        </p:txBody>
      </p:sp>
      <p:sp>
        <p:nvSpPr>
          <p:cNvPr id="16" name="Line 16"/>
          <p:cNvSpPr/>
          <p:nvPr/>
        </p:nvSpPr>
        <p:spPr>
          <a:xfrm>
            <a:off x="1257300" y="325755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7" name="TextBox 17"/>
          <p:cNvSpPr txBox="1"/>
          <p:nvPr/>
        </p:nvSpPr>
        <p:spPr>
          <a:xfrm>
            <a:off x="993029" y="319992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60</a:t>
            </a:r>
          </a:p>
        </p:txBody>
      </p:sp>
      <p:sp>
        <p:nvSpPr>
          <p:cNvPr id="18" name="Line 18"/>
          <p:cNvSpPr/>
          <p:nvPr/>
        </p:nvSpPr>
        <p:spPr>
          <a:xfrm>
            <a:off x="1257300" y="240030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9" name="TextBox 19"/>
          <p:cNvSpPr txBox="1"/>
          <p:nvPr/>
        </p:nvSpPr>
        <p:spPr>
          <a:xfrm>
            <a:off x="993029" y="2342674"/>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80</a:t>
            </a:r>
          </a:p>
        </p:txBody>
      </p:sp>
      <p:sp>
        <p:nvSpPr>
          <p:cNvPr id="20" name="Line 20"/>
          <p:cNvSpPr/>
          <p:nvPr/>
        </p:nvSpPr>
        <p:spPr>
          <a:xfrm>
            <a:off x="1257300" y="154305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21" name="TextBox 21"/>
          <p:cNvSpPr txBox="1"/>
          <p:nvPr/>
        </p:nvSpPr>
        <p:spPr>
          <a:xfrm>
            <a:off x="914710" y="1485424"/>
            <a:ext cx="259723"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100</a:t>
            </a:r>
          </a:p>
        </p:txBody>
      </p:sp>
      <p:sp>
        <p:nvSpPr>
          <p:cNvPr id="22" name="TextBox 22"/>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New records per year in 2050 (SSP2-4.5)</a:t>
            </a:r>
          </a:p>
        </p:txBody>
      </p:sp>
      <p:sp>
        <p:nvSpPr>
          <p:cNvPr id="23" name="TextBox 23"/>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5E5246"/>
                </a:solidFill>
                <a:latin typeface="Arial"/>
                <a:ea typeface="Microsoft YaHei"/>
                <a:cs typeface="Arial"/>
              </a:rPr>
              <a:t>effort frozen</a:t>
            </a:r>
          </a:p>
        </p:txBody>
      </p:sp>
      <p:sp>
        <p:nvSpPr>
          <p:cNvPr id="24" name="TextBox 24"/>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5E5246"/>
                </a:solidFill>
                <a:latin typeface="Arial"/>
                <a:ea typeface="Microsoft YaHei"/>
                <a:cs typeface="Arial"/>
              </a:rPr>
              <a:t>effort growing</a:t>
            </a:r>
          </a:p>
        </p:txBody>
      </p:sp>
      <p:sp>
        <p:nvSpPr>
          <p:cNvPr id="25" name="Line 25"/>
          <p:cNvSpPr/>
          <p:nvPr/>
        </p:nvSpPr>
        <p:spPr>
          <a:xfrm>
            <a:off x="1733550" y="2431732"/>
            <a:ext cx="3333750" cy="2247900"/>
          </a:xfrm>
          <a:custGeom>
            <a:avLst/>
            <a:gdLst/>
            <a:ahLst/>
            <a:cxnLst/>
            <a:rect l="l" t="t" r="r" b="b"/>
            <a:pathLst>
              <a:path w="3333750" h="2247900">
                <a:moveTo>
                  <a:pt x="0" y="2247900"/>
                </a:moveTo>
                <a:lnTo>
                  <a:pt x="3333750" y="0"/>
                </a:lnTo>
              </a:path>
            </a:pathLst>
          </a:custGeom>
          <a:noFill/>
          <a:ln w="38100">
            <a:solidFill>
              <a:srgbClr val="1F5F9E"/>
            </a:solidFill>
          </a:ln>
        </p:spPr>
      </p:sp>
      <p:sp>
        <p:nvSpPr>
          <p:cNvPr id="26" name="Ellipse 26"/>
          <p:cNvSpPr/>
          <p:nvPr/>
        </p:nvSpPr>
        <p:spPr>
          <a:xfrm>
            <a:off x="1666875" y="4612958"/>
            <a:ext cx="133350" cy="133350"/>
          </a:xfrm>
          <a:prstGeom prst="ellipse">
            <a:avLst/>
          </a:prstGeom>
          <a:solidFill>
            <a:srgbClr val="1F5F9E"/>
          </a:solidFill>
          <a:ln>
            <a:noFill/>
          </a:ln>
        </p:spPr>
      </p:sp>
      <p:sp>
        <p:nvSpPr>
          <p:cNvPr id="27" name="Ellipse 27"/>
          <p:cNvSpPr/>
          <p:nvPr/>
        </p:nvSpPr>
        <p:spPr>
          <a:xfrm>
            <a:off x="5000625" y="2365058"/>
            <a:ext cx="133350" cy="133350"/>
          </a:xfrm>
          <a:prstGeom prst="ellipse">
            <a:avLst/>
          </a:prstGeom>
          <a:solidFill>
            <a:srgbClr val="1F5F9E"/>
          </a:solidFill>
          <a:ln>
            <a:noFill/>
          </a:ln>
        </p:spPr>
      </p:sp>
      <p:sp>
        <p:nvSpPr>
          <p:cNvPr id="28" name="TextBox 28"/>
          <p:cNvSpPr txBox="1"/>
          <p:nvPr/>
        </p:nvSpPr>
        <p:spPr>
          <a:xfrm>
            <a:off x="5205412" y="2367439"/>
            <a:ext cx="2122034" cy="228600"/>
          </a:xfrm>
          <a:prstGeom prst="rect">
            <a:avLst/>
          </a:prstGeom>
          <a:noFill/>
          <a:ln>
            <a:noFill/>
          </a:ln>
        </p:spPr>
        <p:txBody>
          <a:bodyPr wrap="none" lIns="0" tIns="0" rIns="0" bIns="0" anchor="t" anchorCtr="0">
            <a:spAutoFit/>
          </a:bodyPr>
          <a:lstStyle/>
          <a:p>
            <a:pPr algn="l"/>
            <a:r>
              <a:rPr lang="zh-CN" sz="1125" b="1" dirty="0">
                <a:solidFill>
                  <a:srgbClr val="1F5F9E"/>
                </a:solidFill>
                <a:latin typeface="Arial"/>
                <a:ea typeface="Microsoft YaHei"/>
                <a:cs typeface="Arial"/>
              </a:rPr>
              <a:t>Hazard model 26.8 → 79.3</a:t>
            </a:r>
          </a:p>
        </p:txBody>
      </p:sp>
      <p:sp>
        <p:nvSpPr>
          <p:cNvPr id="29" name="Line 29"/>
          <p:cNvSpPr/>
          <p:nvPr/>
        </p:nvSpPr>
        <p:spPr>
          <a:xfrm>
            <a:off x="1733550" y="4777740"/>
            <a:ext cx="3333750" cy="26670"/>
          </a:xfrm>
          <a:custGeom>
            <a:avLst/>
            <a:gdLst/>
            <a:ahLst/>
            <a:cxnLst/>
            <a:rect l="l" t="t" r="r" b="b"/>
            <a:pathLst>
              <a:path w="3333750" h="26670">
                <a:moveTo>
                  <a:pt x="0" y="0"/>
                </a:moveTo>
                <a:lnTo>
                  <a:pt x="3333750" y="26670"/>
                </a:lnTo>
              </a:path>
            </a:pathLst>
          </a:custGeom>
          <a:noFill/>
          <a:ln w="38100">
            <a:solidFill>
              <a:srgbClr val="988A7A"/>
            </a:solidFill>
          </a:ln>
        </p:spPr>
      </p:sp>
      <p:sp>
        <p:nvSpPr>
          <p:cNvPr id="30" name="Ellipse 30"/>
          <p:cNvSpPr/>
          <p:nvPr/>
        </p:nvSpPr>
        <p:spPr>
          <a:xfrm>
            <a:off x="1666875" y="4711065"/>
            <a:ext cx="133350" cy="133350"/>
          </a:xfrm>
          <a:prstGeom prst="ellipse">
            <a:avLst/>
          </a:prstGeom>
          <a:solidFill>
            <a:srgbClr val="988A7A"/>
          </a:solidFill>
          <a:ln>
            <a:noFill/>
          </a:ln>
        </p:spPr>
      </p:sp>
      <p:sp>
        <p:nvSpPr>
          <p:cNvPr id="31" name="Ellipse 31"/>
          <p:cNvSpPr/>
          <p:nvPr/>
        </p:nvSpPr>
        <p:spPr>
          <a:xfrm>
            <a:off x="5000625" y="4737735"/>
            <a:ext cx="133350" cy="133350"/>
          </a:xfrm>
          <a:prstGeom prst="ellipse">
            <a:avLst/>
          </a:prstGeom>
          <a:solidFill>
            <a:srgbClr val="988A7A"/>
          </a:solidFill>
          <a:ln>
            <a:noFill/>
          </a:ln>
        </p:spPr>
      </p:sp>
      <p:sp>
        <p:nvSpPr>
          <p:cNvPr id="32" name="TextBox 32"/>
          <p:cNvSpPr txBox="1"/>
          <p:nvPr/>
        </p:nvSpPr>
        <p:spPr>
          <a:xfrm>
            <a:off x="5205412" y="4740116"/>
            <a:ext cx="2268332" cy="228600"/>
          </a:xfrm>
          <a:prstGeom prst="rect">
            <a:avLst/>
          </a:prstGeom>
          <a:noFill/>
          <a:ln>
            <a:noFill/>
          </a:ln>
        </p:spPr>
        <p:txBody>
          <a:bodyPr wrap="none" lIns="0" tIns="0" rIns="0" bIns="0" anchor="t" anchorCtr="0">
            <a:spAutoFit/>
          </a:bodyPr>
          <a:lstStyle/>
          <a:p>
            <a:pPr algn="l"/>
            <a:r>
              <a:rPr lang="zh-CN" sz="1125" b="1" dirty="0">
                <a:solidFill>
                  <a:srgbClr val="988A7A"/>
                </a:solidFill>
                <a:latin typeface="Arial"/>
                <a:ea typeface="Microsoft YaHei"/>
                <a:cs typeface="Arial"/>
              </a:rPr>
              <a:t>Random forest 24.5 → 23.9</a:t>
            </a:r>
          </a:p>
        </p:txBody>
      </p:sp>
      <p:sp>
        <p:nvSpPr>
          <p:cNvPr id="33" name="Line 33"/>
          <p:cNvSpPr/>
          <p:nvPr/>
        </p:nvSpPr>
        <p:spPr>
          <a:xfrm>
            <a:off x="1733550" y="5202555"/>
            <a:ext cx="3333750" cy="309562"/>
          </a:xfrm>
          <a:custGeom>
            <a:avLst/>
            <a:gdLst/>
            <a:ahLst/>
            <a:cxnLst/>
            <a:rect l="l" t="t" r="r" b="b"/>
            <a:pathLst>
              <a:path w="3333750" h="309562">
                <a:moveTo>
                  <a:pt x="0" y="0"/>
                </a:moveTo>
                <a:lnTo>
                  <a:pt x="3333750" y="309562"/>
                </a:lnTo>
              </a:path>
            </a:pathLst>
          </a:custGeom>
          <a:noFill/>
          <a:ln w="38100">
            <a:solidFill>
              <a:srgbClr val="B4532A"/>
            </a:solidFill>
          </a:ln>
        </p:spPr>
      </p:sp>
      <p:sp>
        <p:nvSpPr>
          <p:cNvPr id="34" name="Ellipse 34"/>
          <p:cNvSpPr/>
          <p:nvPr/>
        </p:nvSpPr>
        <p:spPr>
          <a:xfrm>
            <a:off x="1666875" y="5135880"/>
            <a:ext cx="133350" cy="133350"/>
          </a:xfrm>
          <a:prstGeom prst="ellipse">
            <a:avLst/>
          </a:prstGeom>
          <a:solidFill>
            <a:srgbClr val="B4532A"/>
          </a:solidFill>
          <a:ln>
            <a:noFill/>
          </a:ln>
        </p:spPr>
      </p:sp>
      <p:sp>
        <p:nvSpPr>
          <p:cNvPr id="35" name="Ellipse 35"/>
          <p:cNvSpPr/>
          <p:nvPr/>
        </p:nvSpPr>
        <p:spPr>
          <a:xfrm>
            <a:off x="5000625" y="5445442"/>
            <a:ext cx="133350" cy="133350"/>
          </a:xfrm>
          <a:prstGeom prst="ellipse">
            <a:avLst/>
          </a:prstGeom>
          <a:solidFill>
            <a:srgbClr val="B4532A"/>
          </a:solidFill>
          <a:ln>
            <a:noFill/>
          </a:ln>
        </p:spPr>
      </p:sp>
      <p:sp>
        <p:nvSpPr>
          <p:cNvPr id="36" name="TextBox 36"/>
          <p:cNvSpPr txBox="1"/>
          <p:nvPr/>
        </p:nvSpPr>
        <p:spPr>
          <a:xfrm>
            <a:off x="5205412" y="5447824"/>
            <a:ext cx="1629148" cy="228600"/>
          </a:xfrm>
          <a:prstGeom prst="rect">
            <a:avLst/>
          </a:prstGeom>
          <a:noFill/>
          <a:ln>
            <a:noFill/>
          </a:ln>
        </p:spPr>
        <p:txBody>
          <a:bodyPr wrap="none" lIns="0" tIns="0" rIns="0" bIns="0" anchor="t" anchorCtr="0">
            <a:spAutoFit/>
          </a:bodyPr>
          <a:lstStyle/>
          <a:p>
            <a:pPr algn="l"/>
            <a:r>
              <a:rPr lang="zh-CN" sz="1125" b="1" dirty="0">
                <a:solidFill>
                  <a:srgbClr val="B4532A"/>
                </a:solidFill>
                <a:latin typeface="Arial"/>
                <a:ea typeface="Microsoft YaHei"/>
                <a:cs typeface="Arial"/>
              </a:rPr>
              <a:t>XGBoost 14.6 → 7.4</a:t>
            </a:r>
          </a:p>
        </p:txBody>
      </p:sp>
      <p:sp>
        <p:nvSpPr>
          <p:cNvPr id="37" name="Rectangle 37"/>
          <p:cNvSpPr/>
          <p:nvPr/>
        </p:nvSpPr>
        <p:spPr>
          <a:xfrm>
            <a:off x="7581900" y="1066800"/>
            <a:ext cx="3924300" cy="1454468"/>
          </a:xfrm>
          <a:prstGeom prst="roundRect">
            <a:avLst>
              <a:gd name="adj" fmla="val 5239"/>
            </a:avLst>
          </a:prstGeom>
          <a:solidFill>
            <a:srgbClr val="FFFCF6"/>
          </a:solidFill>
          <a:ln w="9525">
            <a:solidFill>
              <a:srgbClr val="E5DACA"/>
            </a:solidFill>
          </a:ln>
        </p:spPr>
      </p:sp>
      <p:sp>
        <p:nvSpPr>
          <p:cNvPr id="38" name="Rectangle 38"/>
          <p:cNvSpPr/>
          <p:nvPr/>
        </p:nvSpPr>
        <p:spPr>
          <a:xfrm>
            <a:off x="7772400" y="1266825"/>
            <a:ext cx="38100" cy="180975"/>
          </a:xfrm>
          <a:prstGeom prst="roundRect">
            <a:avLst>
              <a:gd name="adj" fmla="val 50000"/>
            </a:avLst>
          </a:prstGeom>
          <a:solidFill>
            <a:srgbClr val="B4532A"/>
          </a:solidFill>
          <a:ln>
            <a:noFill/>
          </a:ln>
        </p:spPr>
      </p:sp>
      <p:sp>
        <p:nvSpPr>
          <p:cNvPr id="39" name="TextBox 39"/>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Same scenarios, three model families</a:t>
            </a:r>
          </a:p>
        </p:txBody>
      </p:sp>
      <p:sp>
        <p:nvSpPr>
          <p:cNvPr id="40" name="TextBox 40"/>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All agree on where records fall</a:t>
            </a:r>
          </a:p>
        </p:txBody>
      </p:sp>
      <p:sp>
        <p:nvSpPr>
          <p:cNvPr id="41" name="TextBox 41"/>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ρ = 0.59–0.89 across units</a:t>
            </a:r>
          </a:p>
        </p:txBody>
      </p:sp>
      <p:sp>
        <p:nvSpPr>
          <p:cNvPr id="42" name="Rectangle 42"/>
          <p:cNvSpPr/>
          <p:nvPr/>
        </p:nvSpPr>
        <p:spPr>
          <a:xfrm>
            <a:off x="7581900" y="2845118"/>
            <a:ext cx="3924300" cy="1683068"/>
          </a:xfrm>
          <a:prstGeom prst="roundRect">
            <a:avLst>
              <a:gd name="adj" fmla="val 4527"/>
            </a:avLst>
          </a:prstGeom>
          <a:solidFill>
            <a:srgbClr val="FFFCF6"/>
          </a:solidFill>
          <a:ln w="9525">
            <a:solidFill>
              <a:srgbClr val="E5DACA"/>
            </a:solidFill>
          </a:ln>
        </p:spPr>
      </p:sp>
      <p:sp>
        <p:nvSpPr>
          <p:cNvPr id="43" name="Rectangle 43"/>
          <p:cNvSpPr/>
          <p:nvPr/>
        </p:nvSpPr>
        <p:spPr>
          <a:xfrm>
            <a:off x="7772400" y="3045142"/>
            <a:ext cx="38100" cy="180975"/>
          </a:xfrm>
          <a:prstGeom prst="roundRect">
            <a:avLst>
              <a:gd name="adj" fmla="val 50000"/>
            </a:avLst>
          </a:prstGeom>
          <a:solidFill>
            <a:srgbClr val="1F5F9E"/>
          </a:solidFill>
          <a:ln>
            <a:noFill/>
          </a:ln>
        </p:spPr>
      </p:sp>
      <p:sp>
        <p:nvSpPr>
          <p:cNvPr id="44" name="TextBox 44"/>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They disagree on how many</a:t>
            </a:r>
          </a:p>
        </p:txBody>
      </p:sp>
      <p:sp>
        <p:nvSpPr>
          <p:cNvPr id="45" name="TextBox 45"/>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Hazard model rises</a:t>
            </a:r>
          </a:p>
        </p:txBody>
      </p:sp>
      <p:sp>
        <p:nvSpPr>
          <p:cNvPr id="46" name="TextBox 46"/>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Random forest stays flat</a:t>
            </a:r>
          </a:p>
        </p:txBody>
      </p:sp>
      <p:sp>
        <p:nvSpPr>
          <p:cNvPr id="47" name="TextBox 47"/>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XGBoost falls</a:t>
            </a:r>
          </a:p>
        </p:txBody>
      </p:sp>
      <p:sp>
        <p:nvSpPr>
          <p:cNvPr id="48" name="Rectangle 48"/>
          <p:cNvSpPr/>
          <p:nvPr/>
        </p:nvSpPr>
        <p:spPr>
          <a:xfrm>
            <a:off x="7581900" y="4851082"/>
            <a:ext cx="3924300" cy="1473518"/>
          </a:xfrm>
          <a:prstGeom prst="roundRect">
            <a:avLst>
              <a:gd name="adj" fmla="val 5171"/>
            </a:avLst>
          </a:prstGeom>
          <a:solidFill>
            <a:srgbClr val="2B2118"/>
          </a:solidFill>
          <a:ln>
            <a:noFill/>
          </a:ln>
        </p:spPr>
      </p:sp>
      <p:sp>
        <p:nvSpPr>
          <p:cNvPr id="49" name="TextBox 49"/>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Not a contest between models</a:t>
            </a:r>
          </a:p>
        </p:txBody>
      </p:sp>
      <p:sp>
        <p:nvSpPr>
          <p:cNvPr id="50" name="TextBox 50"/>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Outside the data nobody can check</a:t>
            </a:r>
          </a:p>
        </p:txBody>
      </p:sp>
      <p:sp>
        <p:nvSpPr>
          <p:cNvPr id="51" name="TextBox 51"/>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854202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15 / 19</a:t>
            </a:r>
          </a:p>
        </p:txBody>
      </p:sp>
      <p:sp>
        <p:nvSpPr>
          <p:cNvPr id="10" name="Rectangle 10"/>
          <p:cNvSpPr/>
          <p:nvPr/>
        </p:nvSpPr>
        <p:spPr>
          <a:xfrm>
            <a:off x="590550" y="1047750"/>
            <a:ext cx="6096000" cy="4373880"/>
          </a:xfrm>
          <a:prstGeom prst="roundRect">
            <a:avLst>
              <a:gd name="adj" fmla="val 1742"/>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5905500" cy="4183380"/>
          </a:xfrm>
          <a:prstGeom prst="rect">
            <a:avLst/>
          </a:prstGeom>
        </p:spPr>
      </p:pic>
      <p:sp>
        <p:nvSpPr>
          <p:cNvPr id="12" name="Rectangle 12"/>
          <p:cNvSpPr/>
          <p:nvPr/>
        </p:nvSpPr>
        <p:spPr>
          <a:xfrm>
            <a:off x="6972300" y="1066800"/>
            <a:ext cx="4533900" cy="1229678"/>
          </a:xfrm>
          <a:prstGeom prst="roundRect">
            <a:avLst>
              <a:gd name="adj" fmla="val 6197"/>
            </a:avLst>
          </a:prstGeom>
          <a:solidFill>
            <a:srgbClr val="FFFCF6"/>
          </a:solidFill>
          <a:ln w="9525">
            <a:solidFill>
              <a:srgbClr val="E5DACA"/>
            </a:solidFill>
          </a:ln>
        </p:spPr>
      </p:sp>
      <p:sp>
        <p:nvSpPr>
          <p:cNvPr id="13" name="Rectangle 13"/>
          <p:cNvSpPr/>
          <p:nvPr/>
        </p:nvSpPr>
        <p:spPr>
          <a:xfrm>
            <a:off x="7162800" y="1266825"/>
            <a:ext cx="38100" cy="180975"/>
          </a:xfrm>
          <a:prstGeom prst="roundRect">
            <a:avLst>
              <a:gd name="adj" fmla="val 50000"/>
            </a:avLst>
          </a:prstGeom>
          <a:solidFill>
            <a:srgbClr val="B4532A"/>
          </a:solidFill>
          <a:ln>
            <a:noFill/>
          </a:ln>
        </p:spPr>
      </p:sp>
      <p:sp>
        <p:nvSpPr>
          <p:cNvPr id="14" name="TextBox 14"/>
          <p:cNvSpPr txBox="1"/>
          <p:nvPr/>
        </p:nvSpPr>
        <p:spPr>
          <a:xfrm>
            <a:off x="7279958" y="1281589"/>
            <a:ext cx="3200440"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Support shrinks fast (SSP2-4.5)</a:t>
            </a:r>
          </a:p>
        </p:txBody>
      </p:sp>
      <p:sp>
        <p:nvSpPr>
          <p:cNvPr id="15" name="TextBox 15"/>
          <p:cNvSpPr txBox="1"/>
          <p:nvPr/>
        </p:nvSpPr>
        <p:spPr>
          <a:xfrm>
            <a:off x="7148512" y="1554956"/>
            <a:ext cx="235515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Cells inside the fitted range:</a:t>
            </a:r>
          </a:p>
        </p:txBody>
      </p:sp>
      <p:sp>
        <p:nvSpPr>
          <p:cNvPr id="16" name="TextBox 16"/>
          <p:cNvSpPr txBox="1"/>
          <p:nvPr/>
        </p:nvSpPr>
        <p:spPr>
          <a:xfrm>
            <a:off x="7148512" y="1783556"/>
            <a:ext cx="3036398"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2030: 46% → 2050: 6% → 2080: none</a:t>
            </a:r>
          </a:p>
        </p:txBody>
      </p:sp>
      <p:sp>
        <p:nvSpPr>
          <p:cNvPr id="17" name="Rectangle 17"/>
          <p:cNvSpPr/>
          <p:nvPr/>
        </p:nvSpPr>
        <p:spPr>
          <a:xfrm>
            <a:off x="6972300" y="2620328"/>
            <a:ext cx="4533900" cy="1229678"/>
          </a:xfrm>
          <a:prstGeom prst="roundRect">
            <a:avLst>
              <a:gd name="adj" fmla="val 6197"/>
            </a:avLst>
          </a:prstGeom>
          <a:solidFill>
            <a:srgbClr val="FFFCF6"/>
          </a:solidFill>
          <a:ln w="9525">
            <a:solidFill>
              <a:srgbClr val="E5DACA"/>
            </a:solidFill>
          </a:ln>
        </p:spPr>
      </p:sp>
      <p:sp>
        <p:nvSpPr>
          <p:cNvPr id="18" name="Rectangle 18"/>
          <p:cNvSpPr/>
          <p:nvPr/>
        </p:nvSpPr>
        <p:spPr>
          <a:xfrm>
            <a:off x="7162800" y="2820352"/>
            <a:ext cx="38100" cy="180975"/>
          </a:xfrm>
          <a:prstGeom prst="roundRect">
            <a:avLst>
              <a:gd name="adj" fmla="val 50000"/>
            </a:avLst>
          </a:prstGeom>
          <a:solidFill>
            <a:srgbClr val="1F5F9E"/>
          </a:solidFill>
          <a:ln>
            <a:noFill/>
          </a:ln>
        </p:spPr>
      </p:sp>
      <p:sp>
        <p:nvSpPr>
          <p:cNvPr id="19" name="TextBox 19"/>
          <p:cNvSpPr txBox="1"/>
          <p:nvPr/>
        </p:nvSpPr>
        <p:spPr>
          <a:xfrm>
            <a:off x="7279958" y="2835116"/>
            <a:ext cx="350046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Machine learning does not rescue it</a:t>
            </a:r>
          </a:p>
        </p:txBody>
      </p:sp>
      <p:sp>
        <p:nvSpPr>
          <p:cNvPr id="20" name="TextBox 20"/>
          <p:cNvSpPr txBox="1"/>
          <p:nvPr/>
        </p:nvSpPr>
        <p:spPr>
          <a:xfrm>
            <a:off x="7148512" y="3108484"/>
            <a:ext cx="275770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Agree inside the range (ρ = 0.56)</a:t>
            </a:r>
          </a:p>
        </p:txBody>
      </p:sp>
      <p:sp>
        <p:nvSpPr>
          <p:cNvPr id="21" name="TextBox 21"/>
          <p:cNvSpPr txBox="1"/>
          <p:nvPr/>
        </p:nvSpPr>
        <p:spPr>
          <a:xfrm>
            <a:off x="7148512" y="3337084"/>
            <a:ext cx="146789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Diverge outside it</a:t>
            </a:r>
          </a:p>
        </p:txBody>
      </p:sp>
      <p:sp>
        <p:nvSpPr>
          <p:cNvPr id="22" name="Rectangle 22"/>
          <p:cNvSpPr/>
          <p:nvPr/>
        </p:nvSpPr>
        <p:spPr>
          <a:xfrm>
            <a:off x="6972300" y="4172902"/>
            <a:ext cx="4533900" cy="1248728"/>
          </a:xfrm>
          <a:prstGeom prst="roundRect">
            <a:avLst>
              <a:gd name="adj" fmla="val 6102"/>
            </a:avLst>
          </a:prstGeom>
          <a:solidFill>
            <a:srgbClr val="2B2118"/>
          </a:solidFill>
          <a:ln>
            <a:noFill/>
          </a:ln>
        </p:spPr>
      </p:sp>
      <p:sp>
        <p:nvSpPr>
          <p:cNvPr id="23" name="TextBox 23"/>
          <p:cNvSpPr txBox="1"/>
          <p:nvPr/>
        </p:nvSpPr>
        <p:spPr>
          <a:xfrm>
            <a:off x="7771662" y="4460558"/>
            <a:ext cx="2935176"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Report where a model breaks</a:t>
            </a:r>
          </a:p>
        </p:txBody>
      </p:sp>
      <p:sp>
        <p:nvSpPr>
          <p:cNvPr id="24" name="TextBox 24"/>
          <p:cNvSpPr txBox="1"/>
          <p:nvPr/>
        </p:nvSpPr>
        <p:spPr>
          <a:xfrm>
            <a:off x="8708746" y="4752975"/>
            <a:ext cx="1061009"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2030: usable</a:t>
            </a:r>
          </a:p>
        </p:txBody>
      </p:sp>
      <p:sp>
        <p:nvSpPr>
          <p:cNvPr id="25" name="TextBox 25"/>
          <p:cNvSpPr txBox="1"/>
          <p:nvPr/>
        </p:nvSpPr>
        <p:spPr>
          <a:xfrm>
            <a:off x="7415327" y="4991100"/>
            <a:ext cx="364784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911161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FFFCF6"/>
          </a:solidFill>
          <a:ln w="9525">
            <a:solidFill>
              <a:srgbClr val="E5DACA"/>
            </a:solidFill>
          </a:ln>
        </p:spPr>
      </p:sp>
      <p:sp>
        <p:nvSpPr>
          <p:cNvPr id="11" name="Rectangle 11"/>
          <p:cNvSpPr/>
          <p:nvPr/>
        </p:nvSpPr>
        <p:spPr>
          <a:xfrm>
            <a:off x="685800" y="1066800"/>
            <a:ext cx="57150" cy="1123950"/>
          </a:xfrm>
          <a:prstGeom prst="roundRect">
            <a:avLst>
              <a:gd name="adj" fmla="val 50000"/>
            </a:avLst>
          </a:prstGeom>
          <a:solidFill>
            <a:srgbClr val="B4532A"/>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FFFCF6"/>
          </a:solidFill>
          <a:ln w="9525">
            <a:solidFill>
              <a:srgbClr val="E5DACA"/>
            </a:solidFill>
          </a:ln>
        </p:spPr>
      </p:sp>
      <p:sp>
        <p:nvSpPr>
          <p:cNvPr id="15" name="Rectangle 15"/>
          <p:cNvSpPr/>
          <p:nvPr/>
        </p:nvSpPr>
        <p:spPr>
          <a:xfrm>
            <a:off x="685800" y="2362200"/>
            <a:ext cx="57150" cy="1123950"/>
          </a:xfrm>
          <a:prstGeom prst="roundRect">
            <a:avLst>
              <a:gd name="adj" fmla="val 50000"/>
            </a:avLst>
          </a:prstGeom>
          <a:solidFill>
            <a:srgbClr val="B4532A"/>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FFFCF6"/>
          </a:solidFill>
          <a:ln w="9525">
            <a:solidFill>
              <a:srgbClr val="E5DACA"/>
            </a:solidFill>
          </a:ln>
        </p:spPr>
      </p:sp>
      <p:sp>
        <p:nvSpPr>
          <p:cNvPr id="19" name="Rectangle 19"/>
          <p:cNvSpPr/>
          <p:nvPr/>
        </p:nvSpPr>
        <p:spPr>
          <a:xfrm>
            <a:off x="685800" y="3657600"/>
            <a:ext cx="57150" cy="1123950"/>
          </a:xfrm>
          <a:prstGeom prst="roundRect">
            <a:avLst>
              <a:gd name="adj" fmla="val 50000"/>
            </a:avLst>
          </a:prstGeom>
          <a:solidFill>
            <a:srgbClr val="B4532A"/>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FFFCF6"/>
          </a:solidFill>
          <a:ln w="9525">
            <a:solidFill>
              <a:srgbClr val="E5DACA"/>
            </a:solidFill>
          </a:ln>
        </p:spPr>
      </p:sp>
      <p:sp>
        <p:nvSpPr>
          <p:cNvPr id="23" name="Rectangle 23"/>
          <p:cNvSpPr/>
          <p:nvPr/>
        </p:nvSpPr>
        <p:spPr>
          <a:xfrm>
            <a:off x="685800" y="4953000"/>
            <a:ext cx="57150" cy="1123950"/>
          </a:xfrm>
          <a:prstGeom prst="roundRect">
            <a:avLst>
              <a:gd name="adj" fmla="val 50000"/>
            </a:avLst>
          </a:prstGeom>
          <a:solidFill>
            <a:srgbClr val="B4532A"/>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968121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FFFCF6"/>
          </a:solidFill>
          <a:ln w="9525">
            <a:solidFill>
              <a:srgbClr val="E5DACA"/>
            </a:solidFill>
          </a:ln>
        </p:spPr>
      </p:sp>
      <p:sp>
        <p:nvSpPr>
          <p:cNvPr id="11" name="Rectangle 11"/>
          <p:cNvSpPr/>
          <p:nvPr/>
        </p:nvSpPr>
        <p:spPr>
          <a:xfrm>
            <a:off x="876300" y="1247775"/>
            <a:ext cx="38100" cy="180975"/>
          </a:xfrm>
          <a:prstGeom prst="roundRect">
            <a:avLst>
              <a:gd name="adj" fmla="val 50000"/>
            </a:avLst>
          </a:prstGeom>
          <a:solidFill>
            <a:srgbClr val="B4532A"/>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Warming 1.36 vs effort 1.43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FFFCF6"/>
          </a:solidFill>
          <a:ln w="9525">
            <a:solidFill>
              <a:srgbClr val="E5DACA"/>
            </a:solidFill>
          </a:ln>
        </p:spPr>
      </p:sp>
      <p:sp>
        <p:nvSpPr>
          <p:cNvPr id="16" name="Rectangle 16"/>
          <p:cNvSpPr/>
          <p:nvPr/>
        </p:nvSpPr>
        <p:spPr>
          <a:xfrm>
            <a:off x="6400800" y="1247775"/>
            <a:ext cx="38100" cy="180975"/>
          </a:xfrm>
          <a:prstGeom prst="roundRect">
            <a:avLst>
              <a:gd name="adj" fmla="val 50000"/>
            </a:avLst>
          </a:prstGeom>
          <a:solidFill>
            <a:srgbClr val="2B2118"/>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Warming × effort = 0.84</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FFFCF6"/>
          </a:solidFill>
          <a:ln w="9525">
            <a:solidFill>
              <a:srgbClr val="E5DACA"/>
            </a:solidFill>
          </a:ln>
        </p:spPr>
      </p:sp>
      <p:sp>
        <p:nvSpPr>
          <p:cNvPr id="21" name="Rectangle 21"/>
          <p:cNvSpPr/>
          <p:nvPr/>
        </p:nvSpPr>
        <p:spPr>
          <a:xfrm>
            <a:off x="876300" y="2657475"/>
            <a:ext cx="38100" cy="180975"/>
          </a:xfrm>
          <a:prstGeom prst="roundRect">
            <a:avLst>
              <a:gd name="adj" fmla="val 50000"/>
            </a:avLst>
          </a:prstGeom>
          <a:solidFill>
            <a:srgbClr val="2A7F74"/>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Province × year ×2.22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FFFCF6"/>
          </a:solidFill>
          <a:ln w="9525">
            <a:solidFill>
              <a:srgbClr val="E5DACA"/>
            </a:solidFill>
          </a:ln>
        </p:spPr>
      </p:sp>
      <p:sp>
        <p:nvSpPr>
          <p:cNvPr id="26" name="Rectangle 26"/>
          <p:cNvSpPr/>
          <p:nvPr/>
        </p:nvSpPr>
        <p:spPr>
          <a:xfrm>
            <a:off x="6400800" y="2657475"/>
            <a:ext cx="38100" cy="180975"/>
          </a:xfrm>
          <a:prstGeom prst="roundRect">
            <a:avLst>
              <a:gd name="adj" fmla="val 50000"/>
            </a:avLst>
          </a:prstGeom>
          <a:solidFill>
            <a:srgbClr val="1F5F9E"/>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2B2118"/>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F6F1E7"/>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2B2118"/>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025080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FFFCF6"/>
          </a:solidFill>
          <a:ln w="9525">
            <a:solidFill>
              <a:srgbClr val="E5DACA"/>
            </a:solidFill>
          </a:ln>
        </p:spPr>
      </p:sp>
      <p:sp>
        <p:nvSpPr>
          <p:cNvPr id="17" name="Rectangle 17"/>
          <p:cNvSpPr/>
          <p:nvPr/>
        </p:nvSpPr>
        <p:spPr>
          <a:xfrm>
            <a:off x="6400800" y="1266825"/>
            <a:ext cx="38100" cy="180975"/>
          </a:xfrm>
          <a:prstGeom prst="roundRect">
            <a:avLst>
              <a:gd name="adj" fmla="val 50000"/>
            </a:avLst>
          </a:prstGeom>
          <a:solidFill>
            <a:srgbClr val="1F5F9E"/>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Returns on effort fell from 2.14 to 1.13</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2B2118"/>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F6F1E7"/>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082040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FFFCF6"/>
          </a:solidFill>
          <a:ln w="9525">
            <a:solidFill>
              <a:srgbClr val="E5DACA"/>
            </a:solidFill>
          </a:ln>
        </p:spPr>
      </p:sp>
      <p:sp>
        <p:nvSpPr>
          <p:cNvPr id="18" name="Rectangle 18"/>
          <p:cNvSpPr/>
          <p:nvPr/>
        </p:nvSpPr>
        <p:spPr>
          <a:xfrm>
            <a:off x="6400800" y="1266825"/>
            <a:ext cx="38100" cy="180975"/>
          </a:xfrm>
          <a:prstGeom prst="roundRect">
            <a:avLst>
              <a:gd name="adj" fmla="val 50000"/>
            </a:avLst>
          </a:prstGeom>
          <a:solidFill>
            <a:srgbClr val="1F5F9E"/>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FFFCF6"/>
          </a:solidFill>
          <a:ln w="9525">
            <a:solidFill>
              <a:srgbClr val="E5DACA"/>
            </a:solid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5E5246"/>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988A7A"/>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B4532A"/>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B1</a:t>
            </a:r>
          </a:p>
        </p:txBody>
      </p:sp>
      <p:sp>
        <p:nvSpPr>
          <p:cNvPr id="9" name="Rectangle 9"/>
          <p:cNvSpPr/>
          <p:nvPr/>
        </p:nvSpPr>
        <p:spPr>
          <a:xfrm>
            <a:off x="1756410" y="971550"/>
            <a:ext cx="8679180"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B2</a:t>
            </a:r>
          </a:p>
        </p:txBody>
      </p:sp>
      <p:sp>
        <p:nvSpPr>
          <p:cNvPr id="9" name="Rectangle 9"/>
          <p:cNvSpPr/>
          <p:nvPr/>
        </p:nvSpPr>
        <p:spPr>
          <a:xfrm>
            <a:off x="1934528" y="971550"/>
            <a:ext cx="8323898"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B3</a:t>
            </a:r>
          </a:p>
        </p:txBody>
      </p:sp>
      <p:sp>
        <p:nvSpPr>
          <p:cNvPr id="9" name="Rectangle 9"/>
          <p:cNvSpPr/>
          <p:nvPr/>
        </p:nvSpPr>
        <p:spPr>
          <a:xfrm>
            <a:off x="2303145" y="971550"/>
            <a:ext cx="7585710"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Disentangling climate signals from survey effort in new bird distribution records across China</dc:title>
  <dc:subject/>
  <dc:creator>Chenchen Ding</dc:creator>
  <cp:keywords/>
  <dc:description/>
  <cp:lastModifiedBy>Chenchen Ding</cp:lastModifiedBy>
  <cp:revision>1</cp:revision>
  <dcterms:created xsi:type="dcterms:W3CDTF">2026-10-14T09:06:10Z</dcterms:created>
  <dcterms:modified xsi:type="dcterms:W3CDTF">2026-10-14T09:06:10Z</dcterms:modified>
  <cp:category/>
</cp:coreProperties>
</file>