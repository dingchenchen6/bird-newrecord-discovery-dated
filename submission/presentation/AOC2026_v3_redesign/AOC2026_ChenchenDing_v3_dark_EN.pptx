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a:t>
            </a:r>
          </a:p>
          <a:p>
            <a:endParaRPr lang="zh-CN" dirty="0"/>
          </a:p>
          <a:p>
            <a:r>
              <a:rPr lang="zh-CN" dirty="0"/>
              <a:t>Good morning, everyone. I'm Chenchen Ding, from Peking University. Today I'd like to ask a simple question about new bird records. When a species turns up in a new province, is that the bird moving, or is it us looking harder? Our answer is: both, in roughly equal measure, and I'll show you how a single model can tell the two apart.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50 s]</a:t>
            </a:r>
          </a:p>
          <a:p>
            <a:endParaRPr lang="zh-CN" dirty="0"/>
          </a:p>
          <a:p>
            <a:r>
              <a:rPr lang="zh-CN" dirty="0"/>
              <a:t>Every record needs two things: a bird, and a birder. So a map of records always mixes where the birds are with where people are looking. In China, both changed fast after 2000. The climate warmed, and birding visits rose roughly a hundred-and-seventy-five-fold. A model with only one of them will give it the credit for both. At the bottom you can see how the original papers explain their own records: sixty-one percent say range shift, only seven percent mention survey effort. So our question is: how much of the accumulation of new records reflects warming, and how much reflects effort?</a:t>
            </a:r>
          </a:p>
          <a:p>
            <a:endParaRPr lang="zh-CN" dirty="0"/>
          </a:p>
          <a:p>
            <a:r>
              <a:rPr lang="zh-CN" dirty="0"/>
              <a:t>If asked: Where do these percentages come from? From CBNR's 'inferred discovery reason' field, which records the reason given or implied in each source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Our data come from CBNR, the China Bird New Record dataset, which our team compiled from the peer-reviewed literature and checked record by record. The current version holds 1,076 records of 588 species, across 33 provincial units, from 2000 to 2025. The analysis I'll show uses the published v2 release of 1,029 records, which gives 649 first records in our modelling window. Each record is dated to the year it was discovered. The data are open, under a CC BY licence; scan the code to get them.</a:t>
            </a:r>
          </a:p>
          <a:p>
            <a:endParaRPr lang="zh-CN" dirty="0"/>
          </a:p>
          <a:p>
            <a:r>
              <a:rPr lang="zh-CN" dirty="0"/>
              <a:t>If asked: Why does the model use v2 and not v1.1? v2 is the citable Zenodo release; v1.1 adds 47 records and is not yet on Zenodo.</a:t>
            </a:r>
          </a:p>
          <a:p>
            <a:endParaRPr lang="zh-CN" dirty="0"/>
          </a:p>
          <a:p>
            <a:r>
              <a:rPr lang="zh-CN" dirty="0"/>
              <a:t>If asked: Is CBNR complete? It covers peer-reviewed provincial new records; grey literature and unpublished sightings are not included.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50 s]</a:t>
            </a:r>
          </a:p>
          <a:p>
            <a:endParaRPr lang="zh-CN" dirty="0"/>
          </a:p>
          <a:p>
            <a:r>
              <a:rPr lang="zh-CN" dirty="0"/>
              <a:t>We turned the question into a discrete-time hazard model. For every species, in every province it could plausibly reach, in every year, we ask: is this the year of its first record? Four parts matter. A complete risk set, so the denominator is real opportunities. Warming measured relative to each species' own range, because only the difference tells us something about that species. Survey effort, from millions of eBird and GBIF records. And a province-by-year random effect, which is where survey campaigns live. Records are dated to the year they were discovered, with an offset for the most recent years.</a:t>
            </a:r>
          </a:p>
          <a:p>
            <a:endParaRPr lang="zh-CN" dirty="0"/>
          </a:p>
          <a:p>
            <a:r>
              <a:rPr lang="zh-CN" dirty="0"/>
              <a:t>If asked: Why cloglog? It is the discrete-time form of a proportional-hazards model, so exp(beta) is a hazard ratio that does not depend on the time step.</a:t>
            </a:r>
          </a:p>
          <a:p>
            <a:endParaRPr lang="zh-CN" dirty="0"/>
          </a:p>
          <a:p>
            <a:r>
              <a:rPr lang="zh-CN" dirty="0"/>
              <a:t>If asked: How is 'could reach' defined? Provinces with at least 50 suitable cells in the species' distribution model; results are the same at 100 and 200.</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a:t>
            </a:r>
          </a:p>
          <a:p>
            <a:endParaRPr lang="zh-CN" dirty="0"/>
          </a:p>
          <a:p>
            <a:r>
              <a:rPr lang="zh-CN" dirty="0"/>
              <a:t>First finding. Warming and survey effort contribute about equally: a hazard ratio of 1.36 per standard deviation for warming, and 1.43 for effort. And they interact negatively. On the right you can see what that means: where few people are looking, the warming curve is steep; where many people are looking, it flattens out. Annual climate variability has no effect at all.</a:t>
            </a:r>
          </a:p>
          <a:p>
            <a:endParaRPr lang="zh-CN" dirty="0"/>
          </a:p>
          <a:p>
            <a:r>
              <a:rPr lang="zh-CN" dirty="0"/>
              <a:t>If asked: How big is the warming effect, really? A permutation null puts the baseline at 1.16, so the species-specific increment is about ×1.18 per SD.</a:t>
            </a:r>
          </a:p>
          <a:p>
            <a:endParaRPr lang="zh-CN" dirty="0"/>
          </a:p>
          <a:p>
            <a:r>
              <a:rPr lang="zh-CN" dirty="0"/>
              <a:t>If asked: What does 1 SD of warming mean? 0.18 °C of species-referenced accumulated warming.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  [optional: can be cut]</a:t>
            </a:r>
          </a:p>
          <a:p>
            <a:endParaRPr lang="zh-CN" dirty="0"/>
          </a:p>
          <a:p>
            <a:r>
              <a:rPr lang="zh-CN" dirty="0"/>
              <a:t>This balance is not fragile. Drop either term and the model loses about the same, around 30 AIC units or more each. Across twelve specifications, with different distribution-model thresholds, effort proxies and missing-data rules, the numbers stay put. And against design-preserving nulls, both effects stand: the warming increment over its null is about 1.18, and effort collapses to 0.98 if we break its timing.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a:t>
            </a:r>
          </a:p>
          <a:p>
            <a:endParaRPr lang="zh-CN" dirty="0"/>
          </a:p>
          <a:p>
            <a:r>
              <a:rPr lang="zh-CN" dirty="0"/>
              <a:t>Second finding. The biggest single component is not a driver at all. It is the province-by-year effect: one standard deviation multiplies the hazard by 2.22, more than warming or effort. This is where a provincial bird survey, a big birding event or a new reserve shows up. Adding this layer lifts conditional AUC from 0.72 to 0.85, and leaves the fixed effects unchanged. Treat it as noise, and survey history reads as range change.</a:t>
            </a:r>
          </a:p>
          <a:p>
            <a:endParaRPr lang="zh-CN" dirty="0"/>
          </a:p>
          <a:p>
            <a:r>
              <a:rPr lang="zh-CN" dirty="0"/>
              <a:t>If asked: Could the province-by-year effect absorb climate anomalies too? Partly; that protects the fixed effects at some cost in climatic signal, and we say so in the paper.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Third finding. Effort is saturating. Its hazard ratio fell from 2.1 in 2002 to about 1.1 in 2024, and from 2023 it is no longer different from one. The easy gaps have been filled. Warming shows no such trend. One way to read this is a stock and a flow: effort mines a finite stock of undiscovered records, while warming keeps adding new candidates. We haven't tested the two trends against each other, so I'd call it consistent, not proven.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  [optional: can be cut]</a:t>
            </a:r>
          </a:p>
          <a:p>
            <a:endParaRPr lang="zh-CN" dirty="0"/>
          </a:p>
          <a:p>
            <a:r>
              <a:rPr lang="zh-CN" dirty="0"/>
              <a:t>Fourth: direction. Measured from each species' range centre, new records look strongly biased to the east. But most of these species have ranges centred west or south of China, so almost any record inside China lands to the east. If we place each record at random among its species' possible provinces, geography alone reproduces the eastward pattern. Only when we also weight provinces by where birders go does a signal remain, and it points north. A modest poleward lean, visible only with the right null.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Now, some uses. Nature reserves look like hot spots for new records: twenty-six percent of records fall inside reserves that cover only ten percent of the land. But birders go there too. When we compare each record with places birders actually visited, in the same province and year, the effect shrinks, and it disappears if we drop the two largest host reserves or look before 2013. More records inside a reserve is not evidence that the reserve is working.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a:t>
            </a:r>
          </a:p>
          <a:p>
            <a:endParaRPr lang="zh-CN" dirty="0"/>
          </a:p>
          <a:p>
            <a:r>
              <a:rPr lang="zh-CN" dirty="0"/>
              <a:t>Second, we can push the predictions down to counties. We split the problem in two: will a province get a new record, and if it does, which county? Tested on 2019 to 2024, the top-ranked county was right sixteen percent of the time, against about one percent by chance. And look at the names: Medog, Pudong with Nanhui, Chongming, Luoshan with Dongzhai, Yang County. Birders in China know them. The model was never told.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20 s]  [optional: can be cut]</a:t>
            </a:r>
          </a:p>
          <a:p>
            <a:endParaRPr lang="zh-CN" dirty="0"/>
          </a:p>
          <a:p>
            <a:r>
              <a:rPr lang="zh-CN" dirty="0"/>
              <a:t>Here is the same model at three scales: province, prefecture and county. We also refitted it with random forests and with XGBoost. The maps barely change, with rank correlations between 0.59 and 0.89. Where to look first is robust to the choice of model.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a:t>
            </a:r>
          </a:p>
          <a:p>
            <a:endParaRPr lang="zh-CN" dirty="0"/>
          </a:p>
          <a:p>
            <a:r>
              <a:rPr lang="zh-CN" dirty="0"/>
              <a:t>What about the future? We crossed two climate scenarios with two effort scenarios. Switching from SSP2-4.5 to SSP5-8.5 changes the expected national count from 26.1 to 25.9 records a year: essentially nothing. If effort keeps growing, the count roughly triples by 2050. What we will record depends on how we look, more than on how the climate changes. But most of that increase lies outside the data we fitted.</a:t>
            </a:r>
          </a:p>
          <a:p>
            <a:endParaRPr lang="zh-CN" dirty="0"/>
          </a:p>
          <a:p>
            <a:r>
              <a:rPr lang="zh-CN" dirty="0"/>
              <a:t>If asked: Is 79 to 89 records a year a forecast? No. At 2050 no cell is inside the fitted support; the credible statement is about 26 to 31 records a year in 2030, under any scenario.</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  [optional: can be cut]</a:t>
            </a:r>
          </a:p>
          <a:p>
            <a:endParaRPr lang="zh-CN" dirty="0"/>
          </a:p>
          <a:p>
            <a:r>
              <a:rPr lang="zh-CN" dirty="0"/>
              <a:t>A warning about machine learning. We ran the same futures with three model families, all calibrated to the same 2024 baseline. Under continuing effort in 2050, the hazard model rises to 79 records a year, the random forest stays flat, and XGBoost goes down. They all agree on where records will appear. But outside the data, tree models simply return their edge values, and nobody can check which direction is right.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a:t>
            </a:r>
          </a:p>
          <a:p>
            <a:endParaRPr lang="zh-CN" dirty="0"/>
          </a:p>
          <a:p>
            <a:r>
              <a:rPr lang="zh-CN" dirty="0"/>
              <a:t>So our rule is simple: report where the model breaks. Under SSP2-4.5, the share of species-province combinations inside the fitted range drops from 46 percent in 2030, to 6 percent in 2050, and to none by 2080, mostly because effort outgrows its observed range. So 2030 is usable. End-of-century maps are illustrations, not forecasts.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a:t>
            </a:r>
          </a:p>
          <a:p>
            <a:endParaRPr lang="zh-CN" dirty="0"/>
          </a:p>
          <a:p>
            <a:r>
              <a:rPr lang="zh-CN" dirty="0"/>
              <a:t>Four limits travel with these results. Our events are published records, not detections, so we explain how records get documented, not how ranges expand. Coordinates are precise to about a kilometre at best. Our reserve map covers about a third of listed reserves. And projections leave the data after 2030, so late-century maps are illustrations.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Four messages to take home. One: new records carry a climate signal, and warming and survey effort contribute comparably. Two: warming matters most where few people are looking. Three: model the observation process; survey pulses are the largest component, and the return on effort is falling. Four: future record counts depend on how we look, and most projected change is extrapolation. So, birds or birders? Both. But we can read the climate signal only once we model how we look.</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a:t>
            </a:r>
          </a:p>
          <a:p>
            <a:endParaRPr lang="zh-CN" dirty="0"/>
          </a:p>
          <a:p>
            <a:r>
              <a:rPr lang="zh-CN" dirty="0"/>
              <a:t>What does this mean for monitoring? The warming effect is largest where effort is low, and the low-effort provinces lie mostly in the west and the interior. Meanwhile the return on effort in the eastern hotspots has nearly run out. So the monitoring priority is clear: send effort to climatically exposed, under-surveyed regions. That is where new records carry the most climate information.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a:t>
            </a:r>
          </a:p>
          <a:p>
            <a:endParaRPr lang="zh-CN" dirty="0"/>
          </a:p>
          <a:p>
            <a:r>
              <a:rPr lang="zh-CN" dirty="0"/>
              <a:t>Everything is open: the CBNR data on Zenodo, and all of the analysis code on GitHub, where every number in this talk traces back to a table. My thanks to birdwatchers across China, and to every author whose records made this possible. Thank you. I'm happy to take your questions.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  [optional: can be cut]</a:t>
            </a:r>
          </a:p>
          <a:p>
            <a:endParaRPr lang="zh-CN" dirty="0"/>
          </a:p>
          <a:p>
            <a:r>
              <a:rPr lang="zh-CN" dirty="0"/>
              <a:t>If asked about dating. Dated to publication year, as most compilations do, the effort hazard ratio is 1.79 instead of 1.31, inflated by 37 percent, and an annual climate-variability effect appears at 0.85 with P below 0.001. Dated to discovery it vanishes, and warming barely moves. Publication lags discovery by about two years, and the lag grew with the birding databases.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15 s]  [optional: can be cut]</a:t>
            </a:r>
          </a:p>
          <a:p>
            <a:endParaRPr lang="zh-CN" dirty="0"/>
          </a:p>
          <a:p>
            <a:r>
              <a:rPr lang="zh-CN" dirty="0"/>
              <a:t>If asked about specifications: the signal is confined to annual mean temperature over 15 to 20 years, and the coefficients are stable across effort proxies and missing-data rules.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15 s]  [optional: can be cut]</a:t>
            </a:r>
          </a:p>
          <a:p>
            <a:endParaRPr lang="zh-CN" dirty="0"/>
          </a:p>
          <a:p>
            <a:r>
              <a:rPr lang="zh-CN" dirty="0"/>
              <a:t>If asked how warming is measured: the same province in the same year can warm more or less than a given species' range; that species-specific difference is the climate covariate.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8e790484f26c03d9.png"/><Relationship Id="rId3" Type="http://schemas.openxmlformats.org/officeDocument/2006/relationships/image" Target="../media/image_ab39142e67679a80.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7a3d9489f252ca8e.png"/><Relationship Id="rId3" Type="http://schemas.openxmlformats.org/officeDocument/2006/relationships/image" Target="../media/image_856418f0a5fe71c8.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e66f8cf422bab7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8141cf03908ad41b.png"/><Relationship Id="rId3" Type="http://schemas.openxmlformats.org/officeDocument/2006/relationships/image" Target="../media/image_21df53a0ad8ed44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114f68919840e01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a5d5ae68b2f75f7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2f54da6e7fd7d5d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d4be9f55c9151a5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5e3cf0eaa7a6199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44d57cb1ad123ad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ab39142e67679a8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9b09af498c19570d.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55e941e334efe3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11d259cea8968742.png"/><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Rectangle 3"/>
          <p:cNvSpPr/>
          <p:nvPr/>
        </p:nvSpPr>
        <p:spPr>
          <a:xfrm>
            <a:off x="685800" y="1162050"/>
            <a:ext cx="533400" cy="57150"/>
          </a:xfrm>
          <a:prstGeom prst="roundRect">
            <a:avLst>
              <a:gd name="adj" fmla="val 50000"/>
            </a:avLst>
          </a:prstGeom>
          <a:solidFill>
            <a:srgbClr val="F07B4F"/>
          </a:solidFill>
          <a:ln>
            <a:noFill/>
          </a:ln>
        </p:spPr>
      </p:sp>
      <p:sp>
        <p:nvSpPr>
          <p:cNvPr id="4" name="TextBox 4"/>
          <p:cNvSpPr txBox="1"/>
          <p:nvPr/>
        </p:nvSpPr>
        <p:spPr>
          <a:xfrm>
            <a:off x="685800" y="855345"/>
            <a:ext cx="6667500" cy="214312"/>
          </a:xfrm>
          <a:prstGeom prst="rect">
            <a:avLst/>
          </a:prstGeom>
          <a:noFill/>
          <a:ln>
            <a:noFill/>
          </a:ln>
        </p:spPr>
        <p:txBody>
          <a:bodyPr wrap="square" lIns="0" tIns="0" rIns="0" bIns="0" anchor="t" anchorCtr="0">
            <a:normAutofit/>
          </a:bodyPr>
          <a:lstStyle/>
          <a:p>
            <a:pPr algn="l"/>
            <a:r>
              <a:rPr lang="zh-CN" sz="1125" b="1" dirty="0">
                <a:solidFill>
                  <a:srgbClr val="F07B4F"/>
                </a:solidFill>
                <a:latin typeface="Arial"/>
                <a:ea typeface="Microsoft YaHei"/>
                <a:cs typeface="Arial"/>
              </a:rPr>
              <a:t>BIRDS OR BIRDERS?</a:t>
            </a:r>
          </a:p>
        </p:txBody>
      </p:sp>
      <p:sp>
        <p:nvSpPr>
          <p:cNvPr id="5" name="TextBox 5"/>
          <p:cNvSpPr txBox="1"/>
          <p:nvPr/>
        </p:nvSpPr>
        <p:spPr>
          <a:xfrm>
            <a:off x="649605" y="1559242"/>
            <a:ext cx="12938279" cy="579120"/>
          </a:xfrm>
          <a:prstGeom prst="rect">
            <a:avLst/>
          </a:prstGeom>
          <a:noFill/>
          <a:ln>
            <a:noFill/>
          </a:ln>
        </p:spPr>
        <p:txBody>
          <a:bodyPr wrap="none" lIns="0" tIns="0" rIns="0" bIns="0" anchor="t" anchorCtr="0">
            <a:spAutoFit/>
          </a:bodyPr>
          <a:lstStyle/>
          <a:p>
            <a:pPr algn="l"/>
            <a:r>
              <a:rPr lang="zh-CN" sz="2850" b="1" dirty="0">
                <a:solidFill>
                  <a:srgbClr val="EEF2F6"/>
                </a:solidFill>
                <a:latin typeface="Arial"/>
                <a:ea typeface="Microsoft YaHei"/>
                <a:cs typeface="Arial"/>
              </a:rPr>
              <a:t>Disentangling climate signals from survey effort in new bird</a:t>
            </a:r>
          </a:p>
        </p:txBody>
      </p:sp>
      <p:sp>
        <p:nvSpPr>
          <p:cNvPr id="6" name="TextBox 6"/>
          <p:cNvSpPr txBox="1"/>
          <p:nvPr/>
        </p:nvSpPr>
        <p:spPr>
          <a:xfrm>
            <a:off x="649605" y="2035492"/>
            <a:ext cx="7414242" cy="579120"/>
          </a:xfrm>
          <a:prstGeom prst="rect">
            <a:avLst/>
          </a:prstGeom>
          <a:noFill/>
          <a:ln>
            <a:noFill/>
          </a:ln>
        </p:spPr>
        <p:txBody>
          <a:bodyPr wrap="none" lIns="0" tIns="0" rIns="0" bIns="0" anchor="t" anchorCtr="0">
            <a:spAutoFit/>
          </a:bodyPr>
          <a:lstStyle/>
          <a:p>
            <a:pPr algn="l"/>
            <a:r>
              <a:rPr lang="zh-CN" sz="2850" b="1" dirty="0">
                <a:solidFill>
                  <a:srgbClr val="EEF2F6"/>
                </a:solidFill>
                <a:latin typeface="Arial"/>
                <a:ea typeface="Microsoft YaHei"/>
                <a:cs typeface="Arial"/>
              </a:rPr>
              <a:t>distribution records across China</a:t>
            </a:r>
          </a:p>
        </p:txBody>
      </p:sp>
      <p:sp>
        <p:nvSpPr>
          <p:cNvPr id="7" name="Rectangle 7"/>
          <p:cNvSpPr/>
          <p:nvPr/>
        </p:nvSpPr>
        <p:spPr>
          <a:xfrm>
            <a:off x="685800" y="3162300"/>
            <a:ext cx="3365182" cy="1181100"/>
          </a:xfrm>
          <a:prstGeom prst="roundRect">
            <a:avLst>
              <a:gd name="adj" fmla="val 6452"/>
            </a:avLst>
          </a:prstGeom>
          <a:solidFill>
            <a:srgbClr val="17222D"/>
          </a:solidFill>
          <a:ln>
            <a:noFill/>
          </a:ln>
        </p:spPr>
      </p:sp>
      <p:sp>
        <p:nvSpPr>
          <p:cNvPr id="8" name="TextBox 8"/>
          <p:cNvSpPr txBox="1"/>
          <p:nvPr/>
        </p:nvSpPr>
        <p:spPr>
          <a:xfrm>
            <a:off x="862965" y="3382328"/>
            <a:ext cx="1043807" cy="518160"/>
          </a:xfrm>
          <a:prstGeom prst="rect">
            <a:avLst/>
          </a:prstGeom>
          <a:noFill/>
          <a:ln>
            <a:noFill/>
          </a:ln>
        </p:spPr>
        <p:txBody>
          <a:bodyPr wrap="none" lIns="0" tIns="0" rIns="0" bIns="0" anchor="t" anchorCtr="0">
            <a:spAutoFit/>
          </a:bodyPr>
          <a:lstStyle/>
          <a:p>
            <a:pPr algn="l"/>
            <a:r>
              <a:rPr lang="zh-CN" sz="2550" b="1" dirty="0">
                <a:solidFill>
                  <a:srgbClr val="F07B4F"/>
                </a:solidFill>
                <a:latin typeface="Arial"/>
                <a:ea typeface="Microsoft YaHei"/>
                <a:cs typeface="Arial"/>
              </a:rPr>
              <a:t>1,076</a:t>
            </a:r>
          </a:p>
        </p:txBody>
      </p:sp>
      <p:sp>
        <p:nvSpPr>
          <p:cNvPr id="9" name="TextBox 9"/>
          <p:cNvSpPr txBox="1"/>
          <p:nvPr/>
        </p:nvSpPr>
        <p:spPr>
          <a:xfrm>
            <a:off x="881062" y="3840956"/>
            <a:ext cx="1835944"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provincial new records</a:t>
            </a:r>
          </a:p>
        </p:txBody>
      </p:sp>
      <p:sp>
        <p:nvSpPr>
          <p:cNvPr id="10" name="TextBox 10"/>
          <p:cNvSpPr txBox="1"/>
          <p:nvPr/>
        </p:nvSpPr>
        <p:spPr>
          <a:xfrm>
            <a:off x="882968" y="4085749"/>
            <a:ext cx="1697950" cy="198120"/>
          </a:xfrm>
          <a:prstGeom prst="rect">
            <a:avLst/>
          </a:prstGeom>
          <a:noFill/>
          <a:ln>
            <a:noFill/>
          </a:ln>
        </p:spPr>
        <p:txBody>
          <a:bodyPr wrap="none" lIns="0" tIns="0" rIns="0" bIns="0" anchor="t" anchorCtr="0">
            <a:spAutoFit/>
          </a:bodyPr>
          <a:lstStyle/>
          <a:p>
            <a:pPr algn="l"/>
            <a:r>
              <a:rPr lang="zh-CN" sz="975" dirty="0">
                <a:solidFill>
                  <a:srgbClr val="7D8996"/>
                </a:solidFill>
                <a:latin typeface="Arial"/>
                <a:ea typeface="Microsoft YaHei"/>
                <a:cs typeface="Arial"/>
              </a:rPr>
              <a:t>588 species · CBNR v1.1</a:t>
            </a:r>
          </a:p>
        </p:txBody>
      </p:sp>
      <p:sp>
        <p:nvSpPr>
          <p:cNvPr id="11" name="Rectangle 11"/>
          <p:cNvSpPr/>
          <p:nvPr/>
        </p:nvSpPr>
        <p:spPr>
          <a:xfrm>
            <a:off x="4241482" y="3162300"/>
            <a:ext cx="3365182" cy="1181100"/>
          </a:xfrm>
          <a:prstGeom prst="roundRect">
            <a:avLst>
              <a:gd name="adj" fmla="val 6452"/>
            </a:avLst>
          </a:prstGeom>
          <a:solidFill>
            <a:srgbClr val="17222D"/>
          </a:solidFill>
          <a:ln>
            <a:noFill/>
          </a:ln>
        </p:spPr>
      </p:sp>
      <p:sp>
        <p:nvSpPr>
          <p:cNvPr id="12" name="TextBox 12"/>
          <p:cNvSpPr txBox="1"/>
          <p:nvPr/>
        </p:nvSpPr>
        <p:spPr>
          <a:xfrm>
            <a:off x="4418648" y="3382328"/>
            <a:ext cx="1478058" cy="518160"/>
          </a:xfrm>
          <a:prstGeom prst="rect">
            <a:avLst/>
          </a:prstGeom>
          <a:noFill/>
          <a:ln>
            <a:noFill/>
          </a:ln>
        </p:spPr>
        <p:txBody>
          <a:bodyPr wrap="none" lIns="0" tIns="0" rIns="0" bIns="0" anchor="t" anchorCtr="0">
            <a:spAutoFit/>
          </a:bodyPr>
          <a:lstStyle/>
          <a:p>
            <a:pPr algn="l"/>
            <a:r>
              <a:rPr lang="zh-CN" sz="2550" b="1" dirty="0">
                <a:solidFill>
                  <a:srgbClr val="7DB2E3"/>
                </a:solidFill>
                <a:latin typeface="Arial"/>
                <a:ea typeface="Microsoft YaHei"/>
                <a:cs typeface="Arial"/>
              </a:rPr>
              <a:t>175,640</a:t>
            </a:r>
          </a:p>
        </p:txBody>
      </p:sp>
      <p:sp>
        <p:nvSpPr>
          <p:cNvPr id="13" name="TextBox 13"/>
          <p:cNvSpPr txBox="1"/>
          <p:nvPr/>
        </p:nvSpPr>
        <p:spPr>
          <a:xfrm>
            <a:off x="4436745" y="3840956"/>
            <a:ext cx="2223707"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species × province × year</a:t>
            </a:r>
          </a:p>
        </p:txBody>
      </p:sp>
      <p:sp>
        <p:nvSpPr>
          <p:cNvPr id="14" name="TextBox 14"/>
          <p:cNvSpPr txBox="1"/>
          <p:nvPr/>
        </p:nvSpPr>
        <p:spPr>
          <a:xfrm>
            <a:off x="4438650" y="4085749"/>
            <a:ext cx="1403185" cy="198120"/>
          </a:xfrm>
          <a:prstGeom prst="rect">
            <a:avLst/>
          </a:prstGeom>
          <a:noFill/>
          <a:ln>
            <a:noFill/>
          </a:ln>
        </p:spPr>
        <p:txBody>
          <a:bodyPr wrap="none" lIns="0" tIns="0" rIns="0" bIns="0" anchor="t" anchorCtr="0">
            <a:spAutoFit/>
          </a:bodyPr>
          <a:lstStyle/>
          <a:p>
            <a:pPr algn="l"/>
            <a:r>
              <a:rPr lang="zh-CN" sz="975" dirty="0">
                <a:solidFill>
                  <a:srgbClr val="7D8996"/>
                </a:solidFill>
                <a:latin typeface="Arial"/>
                <a:ea typeface="Microsoft YaHei"/>
                <a:cs typeface="Arial"/>
              </a:rPr>
              <a:t>cells in the risk set</a:t>
            </a:r>
          </a:p>
        </p:txBody>
      </p:sp>
      <p:sp>
        <p:nvSpPr>
          <p:cNvPr id="15" name="Rectangle 15"/>
          <p:cNvSpPr/>
          <p:nvPr/>
        </p:nvSpPr>
        <p:spPr>
          <a:xfrm>
            <a:off x="7798118" y="3162300"/>
            <a:ext cx="3365182" cy="1181100"/>
          </a:xfrm>
          <a:prstGeom prst="roundRect">
            <a:avLst>
              <a:gd name="adj" fmla="val 6452"/>
            </a:avLst>
          </a:prstGeom>
          <a:solidFill>
            <a:srgbClr val="17222D"/>
          </a:solidFill>
          <a:ln>
            <a:noFill/>
          </a:ln>
        </p:spPr>
      </p:sp>
      <p:sp>
        <p:nvSpPr>
          <p:cNvPr id="16" name="TextBox 16"/>
          <p:cNvSpPr txBox="1"/>
          <p:nvPr/>
        </p:nvSpPr>
        <p:spPr>
          <a:xfrm>
            <a:off x="7975283" y="3382328"/>
            <a:ext cx="716146" cy="518160"/>
          </a:xfrm>
          <a:prstGeom prst="rect">
            <a:avLst/>
          </a:prstGeom>
          <a:noFill/>
          <a:ln>
            <a:noFill/>
          </a:ln>
        </p:spPr>
        <p:txBody>
          <a:bodyPr wrap="none" lIns="0" tIns="0" rIns="0" bIns="0" anchor="t" anchorCtr="0">
            <a:spAutoFit/>
          </a:bodyPr>
          <a:lstStyle/>
          <a:p>
            <a:pPr algn="l"/>
            <a:r>
              <a:rPr lang="zh-CN" sz="2550" b="1" dirty="0">
                <a:solidFill>
                  <a:srgbClr val="F2875A"/>
                </a:solidFill>
                <a:latin typeface="Arial"/>
                <a:ea typeface="Microsoft YaHei"/>
                <a:cs typeface="Arial"/>
              </a:rPr>
              <a:t>649</a:t>
            </a:r>
          </a:p>
        </p:txBody>
      </p:sp>
      <p:sp>
        <p:nvSpPr>
          <p:cNvPr id="17" name="TextBox 17"/>
          <p:cNvSpPr txBox="1"/>
          <p:nvPr/>
        </p:nvSpPr>
        <p:spPr>
          <a:xfrm>
            <a:off x="7993380" y="3840956"/>
            <a:ext cx="1835944"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first records modelled</a:t>
            </a:r>
          </a:p>
        </p:txBody>
      </p:sp>
      <p:sp>
        <p:nvSpPr>
          <p:cNvPr id="18" name="TextBox 18"/>
          <p:cNvSpPr txBox="1"/>
          <p:nvPr/>
        </p:nvSpPr>
        <p:spPr>
          <a:xfrm>
            <a:off x="7995285" y="4085749"/>
            <a:ext cx="2300297" cy="198120"/>
          </a:xfrm>
          <a:prstGeom prst="rect">
            <a:avLst/>
          </a:prstGeom>
          <a:noFill/>
          <a:ln>
            <a:noFill/>
          </a:ln>
        </p:spPr>
        <p:txBody>
          <a:bodyPr wrap="none" lIns="0" tIns="0" rIns="0" bIns="0" anchor="t" anchorCtr="0">
            <a:spAutoFit/>
          </a:bodyPr>
          <a:lstStyle/>
          <a:p>
            <a:pPr algn="l"/>
            <a:r>
              <a:rPr lang="zh-CN" sz="975" dirty="0">
                <a:solidFill>
                  <a:srgbClr val="7D8996"/>
                </a:solidFill>
                <a:latin typeface="Arial"/>
                <a:ea typeface="Microsoft YaHei"/>
                <a:cs typeface="Arial"/>
              </a:rPr>
              <a:t>392 species · 31 provinces (v2)</a:t>
            </a:r>
          </a:p>
        </p:txBody>
      </p:sp>
      <p:sp>
        <p:nvSpPr>
          <p:cNvPr id="19" name="TextBox 19"/>
          <p:cNvSpPr txBox="1"/>
          <p:nvPr/>
        </p:nvSpPr>
        <p:spPr>
          <a:xfrm>
            <a:off x="665798" y="4782979"/>
            <a:ext cx="8254654" cy="320040"/>
          </a:xfrm>
          <a:prstGeom prst="rect">
            <a:avLst/>
          </a:prstGeom>
          <a:noFill/>
          <a:ln>
            <a:noFill/>
          </a:ln>
        </p:spPr>
        <p:txBody>
          <a:bodyPr wrap="none" lIns="0" tIns="0" rIns="0" bIns="0" anchor="t" anchorCtr="0">
            <a:spAutoFit/>
          </a:bodyPr>
          <a:lstStyle/>
          <a:p>
            <a:pPr algn="l"/>
            <a:r>
              <a:rPr lang="zh-CN" sz="1575" b="1" dirty="0">
                <a:solidFill>
                  <a:srgbClr val="EEF2F6"/>
                </a:solidFill>
                <a:latin typeface="Arial"/>
                <a:ea typeface="Microsoft YaHei"/>
                <a:cs typeface="Arial"/>
              </a:rPr>
              <a:t>Chenchen Ding¹, Zhengwang Zhang², Zhigang Jiang³, Zhiheng Wang¹</a:t>
            </a:r>
          </a:p>
        </p:txBody>
      </p:sp>
      <p:sp>
        <p:nvSpPr>
          <p:cNvPr id="20" name="TextBox 20"/>
          <p:cNvSpPr txBox="1"/>
          <p:nvPr/>
        </p:nvSpPr>
        <p:spPr>
          <a:xfrm>
            <a:off x="672465" y="5125402"/>
            <a:ext cx="6490478" cy="213360"/>
          </a:xfrm>
          <a:prstGeom prst="rect">
            <a:avLst/>
          </a:prstGeom>
          <a:noFill/>
          <a:ln>
            <a:noFill/>
          </a:ln>
        </p:spPr>
        <p:txBody>
          <a:bodyPr wrap="none" lIns="0" tIns="0" rIns="0" bIns="0" anchor="t" anchorCtr="0">
            <a:spAutoFit/>
          </a:bodyPr>
          <a:lstStyle/>
          <a:p>
            <a:pPr algn="l"/>
            <a:r>
              <a:rPr lang="zh-CN" sz="1050" dirty="0">
                <a:solidFill>
                  <a:srgbClr val="B4BECA"/>
                </a:solidFill>
                <a:latin typeface="Arial"/>
                <a:ea typeface="Microsoft YaHei"/>
                <a:cs typeface="Arial"/>
              </a:rPr>
              <a:t>1 Institute of Ecology, College of Urban and Environmental Sciences, Peking University</a:t>
            </a:r>
          </a:p>
        </p:txBody>
      </p:sp>
      <p:sp>
        <p:nvSpPr>
          <p:cNvPr id="21" name="TextBox 21"/>
          <p:cNvSpPr txBox="1"/>
          <p:nvPr/>
        </p:nvSpPr>
        <p:spPr>
          <a:xfrm>
            <a:off x="672465" y="5354002"/>
            <a:ext cx="7801642" cy="213360"/>
          </a:xfrm>
          <a:prstGeom prst="rect">
            <a:avLst/>
          </a:prstGeom>
          <a:noFill/>
          <a:ln>
            <a:noFill/>
          </a:ln>
        </p:spPr>
        <p:txBody>
          <a:bodyPr wrap="none" lIns="0" tIns="0" rIns="0" bIns="0" anchor="t" anchorCtr="0">
            <a:spAutoFit/>
          </a:bodyPr>
          <a:lstStyle/>
          <a:p>
            <a:pPr algn="l"/>
            <a:r>
              <a:rPr lang="zh-CN" sz="1050" dirty="0">
                <a:solidFill>
                  <a:srgbClr val="B4BECA"/>
                </a:solidFill>
                <a:latin typeface="Arial"/>
                <a:ea typeface="Microsoft YaHei"/>
                <a:cs typeface="Arial"/>
              </a:rPr>
              <a:t>2 School of Life Sciences, Beijing Normal University 3 Institute of Zoology, Chinese Academy of Sciences</a:t>
            </a:r>
          </a:p>
        </p:txBody>
      </p:sp>
      <p:sp>
        <p:nvSpPr>
          <p:cNvPr id="22" name="TextBox 22"/>
          <p:cNvSpPr txBox="1"/>
          <p:nvPr/>
        </p:nvSpPr>
        <p:spPr>
          <a:xfrm>
            <a:off x="673418" y="6409849"/>
            <a:ext cx="6848513" cy="198120"/>
          </a:xfrm>
          <a:prstGeom prst="rect">
            <a:avLst/>
          </a:prstGeom>
          <a:noFill/>
          <a:ln>
            <a:noFill/>
          </a:ln>
        </p:spPr>
        <p:txBody>
          <a:bodyPr wrap="none" lIns="0" tIns="0" rIns="0" bIns="0" anchor="t" anchorCtr="0">
            <a:spAutoFit/>
          </a:bodyPr>
          <a:lstStyle/>
          <a:p>
            <a:pPr algn="l"/>
            <a:r>
              <a:rPr lang="zh-CN" sz="975" dirty="0">
                <a:solidFill>
                  <a:srgbClr val="7D8996"/>
                </a:solidFill>
                <a:latin typeface="Arial"/>
                <a:ea typeface="Microsoft YaHei"/>
                <a:cs typeface="Arial"/>
              </a:rPr>
              <a:t>Third Asian Ornithological Conference · National University of Singapore · 14–17 November 2026</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THE QUESTION</a:t>
            </a:r>
          </a:p>
        </p:txBody>
      </p:sp>
      <p:sp>
        <p:nvSpPr>
          <p:cNvPr id="4" name="TextBox 4"/>
          <p:cNvSpPr txBox="1"/>
          <p:nvPr/>
        </p:nvSpPr>
        <p:spPr>
          <a:xfrm>
            <a:off x="660082" y="600551"/>
            <a:ext cx="10559832"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A new record can mean the bird moved, or that someone finally looked</a:t>
            </a:r>
          </a:p>
        </p:txBody>
      </p:sp>
      <p:sp>
        <p:nvSpPr>
          <p:cNvPr id="5" name="TextBox 5"/>
          <p:cNvSpPr txBox="1"/>
          <p:nvPr/>
        </p:nvSpPr>
        <p:spPr>
          <a:xfrm>
            <a:off x="10648264" y="340995"/>
            <a:ext cx="869366"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Introduction</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1139190"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02 / 19</a:t>
            </a:r>
          </a:p>
        </p:txBody>
      </p:sp>
      <p:sp>
        <p:nvSpPr>
          <p:cNvPr id="10" name="Rectangle 10"/>
          <p:cNvSpPr/>
          <p:nvPr/>
        </p:nvSpPr>
        <p:spPr>
          <a:xfrm>
            <a:off x="685800" y="1066800"/>
            <a:ext cx="5295900" cy="1447800"/>
          </a:xfrm>
          <a:prstGeom prst="roundRect">
            <a:avLst>
              <a:gd name="adj" fmla="val 5263"/>
            </a:avLst>
          </a:prstGeom>
          <a:solidFill>
            <a:srgbClr val="17222D"/>
          </a:solidFill>
          <a:ln>
            <a:noFill/>
          </a:ln>
        </p:spPr>
      </p:sp>
      <p:sp>
        <p:nvSpPr>
          <p:cNvPr id="11" name="Rectangle 11"/>
          <p:cNvSpPr/>
          <p:nvPr/>
        </p:nvSpPr>
        <p:spPr>
          <a:xfrm>
            <a:off x="876300" y="1266825"/>
            <a:ext cx="38100" cy="180975"/>
          </a:xfrm>
          <a:prstGeom prst="roundRect">
            <a:avLst>
              <a:gd name="adj" fmla="val 50000"/>
            </a:avLst>
          </a:prstGeom>
          <a:solidFill>
            <a:srgbClr val="F07B4F"/>
          </a:solidFill>
          <a:ln>
            <a:noFill/>
          </a:ln>
        </p:spPr>
      </p:sp>
      <p:sp>
        <p:nvSpPr>
          <p:cNvPr id="12" name="TextBox 12"/>
          <p:cNvSpPr txBox="1"/>
          <p:nvPr/>
        </p:nvSpPr>
        <p:spPr>
          <a:xfrm>
            <a:off x="993458" y="1281589"/>
            <a:ext cx="3790625"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Every record needs a bird and a birder</a:t>
            </a:r>
          </a:p>
        </p:txBody>
      </p:sp>
      <p:sp>
        <p:nvSpPr>
          <p:cNvPr id="13" name="TextBox 13"/>
          <p:cNvSpPr txBox="1"/>
          <p:nvPr/>
        </p:nvSpPr>
        <p:spPr>
          <a:xfrm>
            <a:off x="862012" y="1554956"/>
            <a:ext cx="2821781"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Range maps are built from records.</a:t>
            </a:r>
          </a:p>
        </p:txBody>
      </p:sp>
      <p:sp>
        <p:nvSpPr>
          <p:cNvPr id="14" name="TextBox 14"/>
          <p:cNvSpPr txBox="1"/>
          <p:nvPr/>
        </p:nvSpPr>
        <p:spPr>
          <a:xfrm>
            <a:off x="862012" y="1783556"/>
            <a:ext cx="3886486"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A record = where birds are × where people look.</a:t>
            </a:r>
          </a:p>
        </p:txBody>
      </p:sp>
      <p:sp>
        <p:nvSpPr>
          <p:cNvPr id="15" name="TextBox 15"/>
          <p:cNvSpPr txBox="1"/>
          <p:nvPr/>
        </p:nvSpPr>
        <p:spPr>
          <a:xfrm>
            <a:off x="862012" y="2012156"/>
            <a:ext cx="3768185"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In the raw data, the two cannot be told apart.</a:t>
            </a:r>
          </a:p>
        </p:txBody>
      </p:sp>
      <p:sp>
        <p:nvSpPr>
          <p:cNvPr id="16" name="Rectangle 16"/>
          <p:cNvSpPr/>
          <p:nvPr/>
        </p:nvSpPr>
        <p:spPr>
          <a:xfrm>
            <a:off x="6210300" y="1066800"/>
            <a:ext cx="5295900" cy="1447800"/>
          </a:xfrm>
          <a:prstGeom prst="roundRect">
            <a:avLst>
              <a:gd name="adj" fmla="val 5263"/>
            </a:avLst>
          </a:prstGeom>
          <a:solidFill>
            <a:srgbClr val="17222D"/>
          </a:solidFill>
          <a:ln>
            <a:noFill/>
          </a:ln>
        </p:spPr>
      </p:sp>
      <p:sp>
        <p:nvSpPr>
          <p:cNvPr id="17" name="Rectangle 17"/>
          <p:cNvSpPr/>
          <p:nvPr/>
        </p:nvSpPr>
        <p:spPr>
          <a:xfrm>
            <a:off x="6400800" y="1266825"/>
            <a:ext cx="38100" cy="180975"/>
          </a:xfrm>
          <a:prstGeom prst="roundRect">
            <a:avLst>
              <a:gd name="adj" fmla="val 50000"/>
            </a:avLst>
          </a:prstGeom>
          <a:solidFill>
            <a:srgbClr val="F2875A"/>
          </a:solidFill>
          <a:ln>
            <a:noFill/>
          </a:ln>
        </p:spPr>
      </p:sp>
      <p:sp>
        <p:nvSpPr>
          <p:cNvPr id="18" name="TextBox 18"/>
          <p:cNvSpPr txBox="1"/>
          <p:nvPr/>
        </p:nvSpPr>
        <p:spPr>
          <a:xfrm>
            <a:off x="6517958" y="1281589"/>
            <a:ext cx="3498493"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In China, both grew fast after 2000</a:t>
            </a:r>
          </a:p>
        </p:txBody>
      </p:sp>
      <p:sp>
        <p:nvSpPr>
          <p:cNvPr id="19" name="TextBox 19"/>
          <p:cNvSpPr txBox="1"/>
          <p:nvPr/>
        </p:nvSpPr>
        <p:spPr>
          <a:xfrm>
            <a:off x="6386512" y="1554956"/>
            <a:ext cx="2164556" cy="228600"/>
          </a:xfrm>
          <a:prstGeom prst="rect">
            <a:avLst/>
          </a:prstGeom>
          <a:noFill/>
          <a:ln>
            <a:noFill/>
          </a:ln>
        </p:spPr>
        <p:txBody>
          <a:bodyPr wrap="none" lIns="0" tIns="0" rIns="0" bIns="0" anchor="t" anchorCtr="0">
            <a:spAutoFit/>
          </a:bodyPr>
          <a:lstStyle/>
          <a:p>
            <a:pPr algn="l"/>
            <a:r>
              <a:rPr lang="zh-CN" sz="1125" dirty="0">
                <a:solidFill>
                  <a:srgbClr val="F2875A"/>
                </a:solidFill>
                <a:latin typeface="Arial"/>
                <a:ea typeface="Microsoft YaHei"/>
                <a:cs typeface="Arial"/>
              </a:rPr>
              <a:t>The climate warmed quickly.</a:t>
            </a:r>
          </a:p>
        </p:txBody>
      </p:sp>
      <p:sp>
        <p:nvSpPr>
          <p:cNvPr id="20" name="TextBox 20"/>
          <p:cNvSpPr txBox="1"/>
          <p:nvPr/>
        </p:nvSpPr>
        <p:spPr>
          <a:xfrm>
            <a:off x="6386512" y="1783556"/>
            <a:ext cx="3934135" cy="228600"/>
          </a:xfrm>
          <a:prstGeom prst="rect">
            <a:avLst/>
          </a:prstGeom>
          <a:noFill/>
          <a:ln>
            <a:noFill/>
          </a:ln>
        </p:spPr>
        <p:txBody>
          <a:bodyPr wrap="none" lIns="0" tIns="0" rIns="0" bIns="0" anchor="t" anchorCtr="0">
            <a:spAutoFit/>
          </a:bodyPr>
          <a:lstStyle/>
          <a:p>
            <a:pPr algn="l"/>
            <a:r>
              <a:rPr lang="zh-CN" sz="1125" dirty="0">
                <a:solidFill>
                  <a:srgbClr val="7DB2E3"/>
                </a:solidFill>
                <a:latin typeface="Arial"/>
                <a:ea typeface="Microsoft YaHei"/>
                <a:cs typeface="Arial"/>
              </a:rPr>
              <a:t>Birding visits rose about 200-fold (2002–2024).</a:t>
            </a:r>
          </a:p>
        </p:txBody>
      </p:sp>
      <p:sp>
        <p:nvSpPr>
          <p:cNvPr id="21" name="TextBox 21"/>
          <p:cNvSpPr txBox="1"/>
          <p:nvPr/>
        </p:nvSpPr>
        <p:spPr>
          <a:xfrm>
            <a:off x="6386512" y="2012156"/>
            <a:ext cx="2979515"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A model with only one of them gives it</a:t>
            </a:r>
          </a:p>
        </p:txBody>
      </p:sp>
      <p:sp>
        <p:nvSpPr>
          <p:cNvPr id="22" name="TextBox 22"/>
          <p:cNvSpPr txBox="1"/>
          <p:nvPr/>
        </p:nvSpPr>
        <p:spPr>
          <a:xfrm>
            <a:off x="6386512" y="2240756"/>
            <a:ext cx="1658493"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the credit for both.</a:t>
            </a:r>
          </a:p>
        </p:txBody>
      </p:sp>
      <p:sp>
        <p:nvSpPr>
          <p:cNvPr id="23" name="Rectangle 23"/>
          <p:cNvSpPr/>
          <p:nvPr/>
        </p:nvSpPr>
        <p:spPr>
          <a:xfrm>
            <a:off x="685800" y="2743200"/>
            <a:ext cx="10820400" cy="1028700"/>
          </a:xfrm>
          <a:prstGeom prst="roundRect">
            <a:avLst>
              <a:gd name="adj" fmla="val 7407"/>
            </a:avLst>
          </a:prstGeom>
          <a:solidFill>
            <a:srgbClr val="F07B4F"/>
          </a:solidFill>
          <a:ln>
            <a:noFill/>
          </a:ln>
        </p:spPr>
      </p:sp>
      <p:sp>
        <p:nvSpPr>
          <p:cNvPr id="24" name="TextBox 24"/>
          <p:cNvSpPr txBox="1"/>
          <p:nvPr/>
        </p:nvSpPr>
        <p:spPr>
          <a:xfrm>
            <a:off x="5430963" y="2921318"/>
            <a:ext cx="1330075" cy="274320"/>
          </a:xfrm>
          <a:prstGeom prst="rect">
            <a:avLst/>
          </a:prstGeom>
          <a:noFill/>
          <a:ln>
            <a:noFill/>
          </a:ln>
        </p:spPr>
        <p:txBody>
          <a:bodyPr wrap="none" lIns="0" tIns="0" rIns="0" bIns="0" anchor="t" anchorCtr="0">
            <a:spAutoFit/>
          </a:bodyPr>
          <a:lstStyle/>
          <a:p>
            <a:pPr algn="ctr"/>
            <a:r>
              <a:rPr lang="zh-CN" sz="1350" b="1" dirty="0">
                <a:solidFill>
                  <a:srgbClr val="10171F"/>
                </a:solidFill>
                <a:latin typeface="Arial"/>
                <a:ea typeface="Microsoft YaHei"/>
                <a:cs typeface="Arial"/>
              </a:rPr>
              <a:t>Our question</a:t>
            </a:r>
          </a:p>
        </p:txBody>
      </p:sp>
      <p:sp>
        <p:nvSpPr>
          <p:cNvPr id="25" name="TextBox 25"/>
          <p:cNvSpPr txBox="1"/>
          <p:nvPr/>
        </p:nvSpPr>
        <p:spPr>
          <a:xfrm>
            <a:off x="3399282" y="3213735"/>
            <a:ext cx="5393436" cy="243840"/>
          </a:xfrm>
          <a:prstGeom prst="rect">
            <a:avLst/>
          </a:prstGeom>
          <a:noFill/>
          <a:ln>
            <a:noFill/>
          </a:ln>
        </p:spPr>
        <p:txBody>
          <a:bodyPr wrap="none" lIns="0" tIns="0" rIns="0" bIns="0" anchor="t" anchorCtr="0">
            <a:spAutoFit/>
          </a:bodyPr>
          <a:lstStyle/>
          <a:p>
            <a:pPr algn="ctr"/>
            <a:r>
              <a:rPr lang="zh-CN" sz="1200" dirty="0">
                <a:solidFill>
                  <a:srgbClr val="2C1A10"/>
                </a:solidFill>
                <a:latin typeface="Arial"/>
                <a:ea typeface="Microsoft YaHei"/>
                <a:cs typeface="Arial"/>
              </a:rPr>
              <a:t>How much of the accumulation of new records reflects warming,</a:t>
            </a:r>
          </a:p>
        </p:txBody>
      </p:sp>
      <p:sp>
        <p:nvSpPr>
          <p:cNvPr id="26" name="TextBox 26"/>
          <p:cNvSpPr txBox="1"/>
          <p:nvPr/>
        </p:nvSpPr>
        <p:spPr>
          <a:xfrm>
            <a:off x="4443832" y="3451860"/>
            <a:ext cx="3304337" cy="243840"/>
          </a:xfrm>
          <a:prstGeom prst="rect">
            <a:avLst/>
          </a:prstGeom>
          <a:noFill/>
          <a:ln>
            <a:noFill/>
          </a:ln>
        </p:spPr>
        <p:txBody>
          <a:bodyPr wrap="none" lIns="0" tIns="0" rIns="0" bIns="0" anchor="t" anchorCtr="0">
            <a:spAutoFit/>
          </a:bodyPr>
          <a:lstStyle/>
          <a:p>
            <a:pPr algn="ctr"/>
            <a:r>
              <a:rPr lang="zh-CN" sz="1200" dirty="0">
                <a:solidFill>
                  <a:srgbClr val="2C1A10"/>
                </a:solidFill>
                <a:latin typeface="Arial"/>
                <a:ea typeface="Microsoft YaHei"/>
                <a:cs typeface="Arial"/>
              </a:rPr>
              <a:t>and how much reflects survey effort?</a:t>
            </a:r>
          </a:p>
        </p:txBody>
      </p:sp>
      <p:sp>
        <p:nvSpPr>
          <p:cNvPr id="27" name="TextBox 27"/>
          <p:cNvSpPr txBox="1"/>
          <p:nvPr/>
        </p:nvSpPr>
        <p:spPr>
          <a:xfrm>
            <a:off x="670560" y="3947160"/>
            <a:ext cx="5772804" cy="243840"/>
          </a:xfrm>
          <a:prstGeom prst="rect">
            <a:avLst/>
          </a:prstGeom>
          <a:noFill/>
          <a:ln>
            <a:noFill/>
          </a:ln>
        </p:spPr>
        <p:txBody>
          <a:bodyPr wrap="none" lIns="0" tIns="0" rIns="0" bIns="0" anchor="t" anchorCtr="0">
            <a:spAutoFit/>
          </a:bodyPr>
          <a:lstStyle/>
          <a:p>
            <a:pPr algn="l"/>
            <a:r>
              <a:rPr lang="zh-CN" sz="1200" b="1" dirty="0">
                <a:solidFill>
                  <a:srgbClr val="EEF2F6"/>
                </a:solidFill>
                <a:latin typeface="Arial"/>
                <a:ea typeface="Microsoft YaHei"/>
                <a:cs typeface="Arial"/>
              </a:rPr>
              <a:t>How the original papers explain the CBNR v2 records (n = 1,029)</a:t>
            </a:r>
          </a:p>
        </p:txBody>
      </p:sp>
      <p:sp>
        <p:nvSpPr>
          <p:cNvPr id="28" name="TextBox 28"/>
          <p:cNvSpPr txBox="1"/>
          <p:nvPr/>
        </p:nvSpPr>
        <p:spPr>
          <a:xfrm>
            <a:off x="672465" y="4287202"/>
            <a:ext cx="891578" cy="213360"/>
          </a:xfrm>
          <a:prstGeom prst="rect">
            <a:avLst/>
          </a:prstGeom>
          <a:noFill/>
          <a:ln>
            <a:noFill/>
          </a:ln>
        </p:spPr>
        <p:txBody>
          <a:bodyPr wrap="none" lIns="0" tIns="0" rIns="0" bIns="0" anchor="t" anchorCtr="0">
            <a:spAutoFit/>
          </a:bodyPr>
          <a:lstStyle/>
          <a:p>
            <a:pPr algn="l"/>
            <a:r>
              <a:rPr lang="zh-CN" sz="1050" dirty="0">
                <a:solidFill>
                  <a:srgbClr val="B4BECA"/>
                </a:solidFill>
                <a:latin typeface="Arial"/>
                <a:ea typeface="Microsoft YaHei"/>
                <a:cs typeface="Arial"/>
              </a:rPr>
              <a:t>Range shift</a:t>
            </a:r>
          </a:p>
        </p:txBody>
      </p:sp>
      <p:sp>
        <p:nvSpPr>
          <p:cNvPr id="29" name="Rectangle 29"/>
          <p:cNvSpPr/>
          <p:nvPr/>
        </p:nvSpPr>
        <p:spPr>
          <a:xfrm>
            <a:off x="4191000" y="4276725"/>
            <a:ext cx="5715000" cy="171450"/>
          </a:xfrm>
          <a:prstGeom prst="roundRect">
            <a:avLst>
              <a:gd name="adj" fmla="val 16667"/>
            </a:avLst>
          </a:prstGeom>
          <a:solidFill>
            <a:srgbClr val="F2875A"/>
          </a:solidFill>
          <a:ln>
            <a:noFill/>
          </a:ln>
        </p:spPr>
      </p:sp>
      <p:sp>
        <p:nvSpPr>
          <p:cNvPr id="30" name="TextBox 30"/>
          <p:cNvSpPr txBox="1"/>
          <p:nvPr/>
        </p:nvSpPr>
        <p:spPr>
          <a:xfrm>
            <a:off x="9987915" y="4296728"/>
            <a:ext cx="478569" cy="213360"/>
          </a:xfrm>
          <a:prstGeom prst="rect">
            <a:avLst/>
          </a:prstGeom>
          <a:noFill/>
          <a:ln>
            <a:noFill/>
          </a:ln>
        </p:spPr>
        <p:txBody>
          <a:bodyPr wrap="none" lIns="0" tIns="0" rIns="0" bIns="0" anchor="t" anchorCtr="0">
            <a:spAutoFit/>
          </a:bodyPr>
          <a:lstStyle/>
          <a:p>
            <a:pPr algn="l"/>
            <a:r>
              <a:rPr lang="zh-CN" sz="1050" b="1" dirty="0">
                <a:solidFill>
                  <a:srgbClr val="EEF2F6"/>
                </a:solidFill>
                <a:latin typeface="Arial"/>
                <a:ea typeface="Microsoft YaHei"/>
                <a:cs typeface="Arial"/>
              </a:rPr>
              <a:t>61.1%</a:t>
            </a:r>
          </a:p>
        </p:txBody>
      </p:sp>
      <p:sp>
        <p:nvSpPr>
          <p:cNvPr id="31" name="TextBox 31"/>
          <p:cNvSpPr txBox="1"/>
          <p:nvPr/>
        </p:nvSpPr>
        <p:spPr>
          <a:xfrm>
            <a:off x="672465" y="4572952"/>
            <a:ext cx="3198000" cy="213360"/>
          </a:xfrm>
          <a:prstGeom prst="rect">
            <a:avLst/>
          </a:prstGeom>
          <a:noFill/>
          <a:ln>
            <a:noFill/>
          </a:ln>
        </p:spPr>
        <p:txBody>
          <a:bodyPr wrap="none" lIns="0" tIns="0" rIns="0" bIns="0" anchor="t" anchorCtr="0">
            <a:spAutoFit/>
          </a:bodyPr>
          <a:lstStyle/>
          <a:p>
            <a:pPr algn="l"/>
            <a:r>
              <a:rPr lang="zh-CN" sz="1050" dirty="0">
                <a:solidFill>
                  <a:srgbClr val="B4BECA"/>
                </a:solidFill>
                <a:latin typeface="Arial"/>
                <a:ea typeface="Microsoft YaHei"/>
                <a:cs typeface="Arial"/>
              </a:rPr>
              <a:t>Survey effort (alone or with range shift)</a:t>
            </a:r>
          </a:p>
        </p:txBody>
      </p:sp>
      <p:sp>
        <p:nvSpPr>
          <p:cNvPr id="32" name="Rectangle 32"/>
          <p:cNvSpPr/>
          <p:nvPr/>
        </p:nvSpPr>
        <p:spPr>
          <a:xfrm>
            <a:off x="4191000" y="4562475"/>
            <a:ext cx="682942" cy="171450"/>
          </a:xfrm>
          <a:prstGeom prst="roundRect">
            <a:avLst>
              <a:gd name="adj" fmla="val 16667"/>
            </a:avLst>
          </a:prstGeom>
          <a:solidFill>
            <a:srgbClr val="7DB2E3"/>
          </a:solidFill>
          <a:ln>
            <a:noFill/>
          </a:ln>
        </p:spPr>
      </p:sp>
      <p:sp>
        <p:nvSpPr>
          <p:cNvPr id="33" name="TextBox 33"/>
          <p:cNvSpPr txBox="1"/>
          <p:nvPr/>
        </p:nvSpPr>
        <p:spPr>
          <a:xfrm>
            <a:off x="4955858" y="4582478"/>
            <a:ext cx="389165" cy="213360"/>
          </a:xfrm>
          <a:prstGeom prst="rect">
            <a:avLst/>
          </a:prstGeom>
          <a:noFill/>
          <a:ln>
            <a:noFill/>
          </a:ln>
        </p:spPr>
        <p:txBody>
          <a:bodyPr wrap="none" lIns="0" tIns="0" rIns="0" bIns="0" anchor="t" anchorCtr="0">
            <a:spAutoFit/>
          </a:bodyPr>
          <a:lstStyle/>
          <a:p>
            <a:pPr algn="l"/>
            <a:r>
              <a:rPr lang="zh-CN" sz="1050" b="1" dirty="0">
                <a:solidFill>
                  <a:srgbClr val="EEF2F6"/>
                </a:solidFill>
                <a:latin typeface="Arial"/>
                <a:ea typeface="Microsoft YaHei"/>
                <a:cs typeface="Arial"/>
              </a:rPr>
              <a:t>7.3%</a:t>
            </a:r>
          </a:p>
        </p:txBody>
      </p:sp>
      <p:sp>
        <p:nvSpPr>
          <p:cNvPr id="34" name="TextBox 34"/>
          <p:cNvSpPr txBox="1"/>
          <p:nvPr/>
        </p:nvSpPr>
        <p:spPr>
          <a:xfrm>
            <a:off x="672465" y="4858702"/>
            <a:ext cx="848639" cy="213360"/>
          </a:xfrm>
          <a:prstGeom prst="rect">
            <a:avLst/>
          </a:prstGeom>
          <a:noFill/>
          <a:ln>
            <a:noFill/>
          </a:ln>
        </p:spPr>
        <p:txBody>
          <a:bodyPr wrap="none" lIns="0" tIns="0" rIns="0" bIns="0" anchor="t" anchorCtr="0">
            <a:spAutoFit/>
          </a:bodyPr>
          <a:lstStyle/>
          <a:p>
            <a:pPr algn="l"/>
            <a:r>
              <a:rPr lang="zh-CN" sz="1050" dirty="0">
                <a:solidFill>
                  <a:srgbClr val="B4BECA"/>
                </a:solidFill>
                <a:latin typeface="Arial"/>
                <a:ea typeface="Microsoft YaHei"/>
                <a:cs typeface="Arial"/>
              </a:rPr>
              <a:t>Not stated</a:t>
            </a:r>
          </a:p>
        </p:txBody>
      </p:sp>
      <p:sp>
        <p:nvSpPr>
          <p:cNvPr id="35" name="Rectangle 35"/>
          <p:cNvSpPr/>
          <p:nvPr/>
        </p:nvSpPr>
        <p:spPr>
          <a:xfrm>
            <a:off x="4191000" y="4848225"/>
            <a:ext cx="2899410" cy="171450"/>
          </a:xfrm>
          <a:prstGeom prst="roundRect">
            <a:avLst>
              <a:gd name="adj" fmla="val 16667"/>
            </a:avLst>
          </a:prstGeom>
          <a:solidFill>
            <a:srgbClr val="7D8996"/>
          </a:solidFill>
          <a:ln>
            <a:noFill/>
          </a:ln>
        </p:spPr>
      </p:sp>
      <p:sp>
        <p:nvSpPr>
          <p:cNvPr id="36" name="TextBox 36"/>
          <p:cNvSpPr txBox="1"/>
          <p:nvPr/>
        </p:nvSpPr>
        <p:spPr>
          <a:xfrm>
            <a:off x="7172325" y="4868228"/>
            <a:ext cx="478569" cy="213360"/>
          </a:xfrm>
          <a:prstGeom prst="rect">
            <a:avLst/>
          </a:prstGeom>
          <a:noFill/>
          <a:ln>
            <a:noFill/>
          </a:ln>
        </p:spPr>
        <p:txBody>
          <a:bodyPr wrap="none" lIns="0" tIns="0" rIns="0" bIns="0" anchor="t" anchorCtr="0">
            <a:spAutoFit/>
          </a:bodyPr>
          <a:lstStyle/>
          <a:p>
            <a:pPr algn="l"/>
            <a:r>
              <a:rPr lang="zh-CN" sz="1050" b="1" dirty="0">
                <a:solidFill>
                  <a:srgbClr val="EEF2F6"/>
                </a:solidFill>
                <a:latin typeface="Arial"/>
                <a:ea typeface="Microsoft YaHei"/>
                <a:cs typeface="Arial"/>
              </a:rPr>
              <a:t>31.0%</a:t>
            </a:r>
          </a:p>
        </p:txBody>
      </p:sp>
      <p:sp>
        <p:nvSpPr>
          <p:cNvPr id="37" name="TextBox 37"/>
          <p:cNvSpPr txBox="1"/>
          <p:nvPr/>
        </p:nvSpPr>
        <p:spPr>
          <a:xfrm>
            <a:off x="672465" y="5144452"/>
            <a:ext cx="2363762" cy="213360"/>
          </a:xfrm>
          <a:prstGeom prst="rect">
            <a:avLst/>
          </a:prstGeom>
          <a:noFill/>
          <a:ln>
            <a:noFill/>
          </a:ln>
        </p:spPr>
        <p:txBody>
          <a:bodyPr wrap="none" lIns="0" tIns="0" rIns="0" bIns="0" anchor="t" anchorCtr="0">
            <a:spAutoFit/>
          </a:bodyPr>
          <a:lstStyle/>
          <a:p>
            <a:pPr algn="l"/>
            <a:r>
              <a:rPr lang="zh-CN" sz="1050" dirty="0">
                <a:solidFill>
                  <a:srgbClr val="B4BECA"/>
                </a:solidFill>
                <a:latin typeface="Arial"/>
                <a:ea typeface="Microsoft YaHei"/>
                <a:cs typeface="Arial"/>
              </a:rPr>
              <a:t>Other (e.g. taxonomic revision)</a:t>
            </a:r>
          </a:p>
        </p:txBody>
      </p:sp>
      <p:sp>
        <p:nvSpPr>
          <p:cNvPr id="38" name="Rectangle 38"/>
          <p:cNvSpPr/>
          <p:nvPr/>
        </p:nvSpPr>
        <p:spPr>
          <a:xfrm>
            <a:off x="4191000" y="5133975"/>
            <a:ext cx="56198" cy="171450"/>
          </a:xfrm>
          <a:prstGeom prst="roundRect">
            <a:avLst>
              <a:gd name="adj" fmla="val 50000"/>
            </a:avLst>
          </a:prstGeom>
          <a:solidFill>
            <a:srgbClr val="7D8996"/>
          </a:solidFill>
          <a:ln>
            <a:noFill/>
          </a:ln>
        </p:spPr>
      </p:sp>
      <p:sp>
        <p:nvSpPr>
          <p:cNvPr id="39" name="TextBox 39"/>
          <p:cNvSpPr txBox="1"/>
          <p:nvPr/>
        </p:nvSpPr>
        <p:spPr>
          <a:xfrm>
            <a:off x="4329112" y="5153978"/>
            <a:ext cx="389165" cy="213360"/>
          </a:xfrm>
          <a:prstGeom prst="rect">
            <a:avLst/>
          </a:prstGeom>
          <a:noFill/>
          <a:ln>
            <a:noFill/>
          </a:ln>
        </p:spPr>
        <p:txBody>
          <a:bodyPr wrap="none" lIns="0" tIns="0" rIns="0" bIns="0" anchor="t" anchorCtr="0">
            <a:spAutoFit/>
          </a:bodyPr>
          <a:lstStyle/>
          <a:p>
            <a:pPr algn="l"/>
            <a:r>
              <a:rPr lang="zh-CN" sz="1050" b="1" dirty="0">
                <a:solidFill>
                  <a:srgbClr val="EEF2F6"/>
                </a:solidFill>
                <a:latin typeface="Arial"/>
                <a:ea typeface="Microsoft YaHei"/>
                <a:cs typeface="Arial"/>
              </a:rPr>
              <a:t>0.6%</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DATA</a:t>
            </a:r>
          </a:p>
        </p:txBody>
      </p:sp>
      <p:sp>
        <p:nvSpPr>
          <p:cNvPr id="4" name="TextBox 4"/>
          <p:cNvSpPr txBox="1"/>
          <p:nvPr/>
        </p:nvSpPr>
        <p:spPr>
          <a:xfrm>
            <a:off x="660082" y="600551"/>
            <a:ext cx="8239959"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CBNR: provincial new bird records in China, 2000–2025</a:t>
            </a:r>
          </a:p>
        </p:txBody>
      </p:sp>
      <p:sp>
        <p:nvSpPr>
          <p:cNvPr id="5" name="TextBox 5"/>
          <p:cNvSpPr txBox="1"/>
          <p:nvPr/>
        </p:nvSpPr>
        <p:spPr>
          <a:xfrm>
            <a:off x="9922688" y="340995"/>
            <a:ext cx="1594942"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CBNR · Zenodo 20809949</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1708785"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03 / 19</a:t>
            </a:r>
          </a:p>
        </p:txBody>
      </p:sp>
      <p:sp>
        <p:nvSpPr>
          <p:cNvPr id="10" name="Rectangle 10"/>
          <p:cNvSpPr/>
          <p:nvPr/>
        </p:nvSpPr>
        <p:spPr>
          <a:xfrm>
            <a:off x="590550" y="1009650"/>
            <a:ext cx="6085522" cy="5410200"/>
          </a:xfrm>
          <a:prstGeom prst="roundRect">
            <a:avLst>
              <a:gd name="adj" fmla="val 1408"/>
            </a:avLst>
          </a:prstGeom>
          <a:solidFill>
            <a:srgbClr val="FFFFFF"/>
          </a:solidFill>
          <a:ln>
            <a:noFill/>
          </a:ln>
        </p:spPr>
      </p:sp>
      <p:pic>
        <p:nvPicPr>
          <p:cNvPr id="11" name="Image 11"/>
          <p:cNvPicPr>
            <a:picLocks noChangeAspect="1"/>
          </p:cNvPicPr>
          <p:nvPr/>
        </p:nvPicPr>
        <p:blipFill>
          <a:blip r:embed="rId2"/>
          <a:stretch>
            <a:fillRect/>
          </a:stretch>
        </p:blipFill>
        <p:spPr>
          <a:xfrm>
            <a:off x="685800" y="1104900"/>
            <a:ext cx="5895022" cy="5219700"/>
          </a:xfrm>
          <a:prstGeom prst="rect">
            <a:avLst/>
          </a:prstGeom>
        </p:spPr>
      </p:pic>
      <p:sp>
        <p:nvSpPr>
          <p:cNvPr id="12" name="Rectangle 12"/>
          <p:cNvSpPr/>
          <p:nvPr/>
        </p:nvSpPr>
        <p:spPr>
          <a:xfrm>
            <a:off x="6961822" y="1028700"/>
            <a:ext cx="4544378" cy="1447800"/>
          </a:xfrm>
          <a:prstGeom prst="roundRect">
            <a:avLst>
              <a:gd name="adj" fmla="val 5263"/>
            </a:avLst>
          </a:prstGeom>
          <a:solidFill>
            <a:srgbClr val="17222D"/>
          </a:solidFill>
          <a:ln>
            <a:noFill/>
          </a:ln>
        </p:spPr>
      </p:sp>
      <p:sp>
        <p:nvSpPr>
          <p:cNvPr id="13" name="Rectangle 13"/>
          <p:cNvSpPr/>
          <p:nvPr/>
        </p:nvSpPr>
        <p:spPr>
          <a:xfrm>
            <a:off x="7152322" y="1228725"/>
            <a:ext cx="38100" cy="180975"/>
          </a:xfrm>
          <a:prstGeom prst="roundRect">
            <a:avLst>
              <a:gd name="adj" fmla="val 50000"/>
            </a:avLst>
          </a:prstGeom>
          <a:solidFill>
            <a:srgbClr val="F07B4F"/>
          </a:solidFill>
          <a:ln>
            <a:noFill/>
          </a:ln>
        </p:spPr>
      </p:sp>
      <p:sp>
        <p:nvSpPr>
          <p:cNvPr id="14" name="TextBox 14"/>
          <p:cNvSpPr txBox="1"/>
          <p:nvPr/>
        </p:nvSpPr>
        <p:spPr>
          <a:xfrm>
            <a:off x="7269480" y="1243489"/>
            <a:ext cx="1761491"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CBNR, the dataset</a:t>
            </a:r>
          </a:p>
        </p:txBody>
      </p:sp>
      <p:sp>
        <p:nvSpPr>
          <p:cNvPr id="15" name="TextBox 15"/>
          <p:cNvSpPr txBox="1"/>
          <p:nvPr/>
        </p:nvSpPr>
        <p:spPr>
          <a:xfrm>
            <a:off x="7138035" y="1516856"/>
            <a:ext cx="2904033" cy="228600"/>
          </a:xfrm>
          <a:prstGeom prst="rect">
            <a:avLst/>
          </a:prstGeom>
          <a:noFill/>
          <a:ln>
            <a:noFill/>
          </a:ln>
        </p:spPr>
        <p:txBody>
          <a:bodyPr wrap="none" lIns="0" tIns="0" rIns="0" bIns="0" anchor="t" anchorCtr="0">
            <a:spAutoFit/>
          </a:bodyPr>
          <a:lstStyle/>
          <a:p>
            <a:pPr algn="l"/>
            <a:r>
              <a:rPr lang="zh-CN" sz="1125" b="1" dirty="0">
                <a:solidFill>
                  <a:srgbClr val="EEF2F6"/>
                </a:solidFill>
                <a:latin typeface="Arial"/>
                <a:ea typeface="Microsoft YaHei"/>
                <a:cs typeface="Arial"/>
              </a:rPr>
              <a:t>v1.1: 1,076 records · 588 species</a:t>
            </a:r>
          </a:p>
        </p:txBody>
      </p:sp>
      <p:sp>
        <p:nvSpPr>
          <p:cNvPr id="16" name="TextBox 16"/>
          <p:cNvSpPr txBox="1"/>
          <p:nvPr/>
        </p:nvSpPr>
        <p:spPr>
          <a:xfrm>
            <a:off x="7138035" y="1745456"/>
            <a:ext cx="3722180"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23 orders · 33 provincial units · 2000–2025</a:t>
            </a:r>
          </a:p>
        </p:txBody>
      </p:sp>
      <p:sp>
        <p:nvSpPr>
          <p:cNvPr id="17" name="TextBox 17"/>
          <p:cNvSpPr txBox="1"/>
          <p:nvPr/>
        </p:nvSpPr>
        <p:spPr>
          <a:xfrm>
            <a:off x="7138035" y="1974056"/>
            <a:ext cx="3276910"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Mined from peer-reviewed papers, every</a:t>
            </a:r>
          </a:p>
        </p:txBody>
      </p:sp>
      <p:sp>
        <p:nvSpPr>
          <p:cNvPr id="18" name="TextBox 18"/>
          <p:cNvSpPr txBox="1"/>
          <p:nvPr/>
        </p:nvSpPr>
        <p:spPr>
          <a:xfrm>
            <a:off x="7138035" y="2202656"/>
            <a:ext cx="2355152"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record then checked by hand</a:t>
            </a:r>
          </a:p>
        </p:txBody>
      </p:sp>
      <p:sp>
        <p:nvSpPr>
          <p:cNvPr id="19" name="Rectangle 19"/>
          <p:cNvSpPr/>
          <p:nvPr/>
        </p:nvSpPr>
        <p:spPr>
          <a:xfrm>
            <a:off x="6961822" y="2609850"/>
            <a:ext cx="4544378" cy="1219200"/>
          </a:xfrm>
          <a:prstGeom prst="roundRect">
            <a:avLst>
              <a:gd name="adj" fmla="val 6250"/>
            </a:avLst>
          </a:prstGeom>
          <a:solidFill>
            <a:srgbClr val="17222D"/>
          </a:solidFill>
          <a:ln>
            <a:noFill/>
          </a:ln>
        </p:spPr>
      </p:sp>
      <p:sp>
        <p:nvSpPr>
          <p:cNvPr id="20" name="Rectangle 20"/>
          <p:cNvSpPr/>
          <p:nvPr/>
        </p:nvSpPr>
        <p:spPr>
          <a:xfrm>
            <a:off x="7152322" y="2809875"/>
            <a:ext cx="38100" cy="180975"/>
          </a:xfrm>
          <a:prstGeom prst="roundRect">
            <a:avLst>
              <a:gd name="adj" fmla="val 50000"/>
            </a:avLst>
          </a:prstGeom>
          <a:solidFill>
            <a:srgbClr val="52C7B6"/>
          </a:solidFill>
          <a:ln>
            <a:noFill/>
          </a:ln>
        </p:spPr>
      </p:sp>
      <p:sp>
        <p:nvSpPr>
          <p:cNvPr id="21" name="TextBox 21"/>
          <p:cNvSpPr txBox="1"/>
          <p:nvPr/>
        </p:nvSpPr>
        <p:spPr>
          <a:xfrm>
            <a:off x="7269480" y="2824639"/>
            <a:ext cx="1992434"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What the model uses</a:t>
            </a:r>
          </a:p>
        </p:txBody>
      </p:sp>
      <p:sp>
        <p:nvSpPr>
          <p:cNvPr id="22" name="TextBox 22"/>
          <p:cNvSpPr txBox="1"/>
          <p:nvPr/>
        </p:nvSpPr>
        <p:spPr>
          <a:xfrm>
            <a:off x="7138035" y="3098006"/>
            <a:ext cx="3319629"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The published v2 release (1,029 records)</a:t>
            </a:r>
          </a:p>
        </p:txBody>
      </p:sp>
      <p:sp>
        <p:nvSpPr>
          <p:cNvPr id="23" name="TextBox 23"/>
          <p:cNvSpPr txBox="1"/>
          <p:nvPr/>
        </p:nvSpPr>
        <p:spPr>
          <a:xfrm>
            <a:off x="7138035" y="3326606"/>
            <a:ext cx="3143822"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Records dated to their discovery year</a:t>
            </a:r>
          </a:p>
        </p:txBody>
      </p:sp>
      <p:sp>
        <p:nvSpPr>
          <p:cNvPr id="24" name="TextBox 24"/>
          <p:cNvSpPr txBox="1"/>
          <p:nvPr/>
        </p:nvSpPr>
        <p:spPr>
          <a:xfrm>
            <a:off x="7138035" y="3555206"/>
            <a:ext cx="2593396"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649 first records in 2002–2024</a:t>
            </a:r>
          </a:p>
        </p:txBody>
      </p:sp>
      <p:sp>
        <p:nvSpPr>
          <p:cNvPr id="25" name="Rectangle 25"/>
          <p:cNvSpPr/>
          <p:nvPr/>
        </p:nvSpPr>
        <p:spPr>
          <a:xfrm>
            <a:off x="6961822" y="3962400"/>
            <a:ext cx="4544378" cy="2457450"/>
          </a:xfrm>
          <a:prstGeom prst="roundRect">
            <a:avLst>
              <a:gd name="adj" fmla="val 3101"/>
            </a:avLst>
          </a:prstGeom>
          <a:solidFill>
            <a:srgbClr val="F07B4F"/>
          </a:solidFill>
          <a:ln>
            <a:noFill/>
          </a:ln>
        </p:spPr>
      </p:sp>
      <p:sp>
        <p:nvSpPr>
          <p:cNvPr id="26" name="Rectangle 26"/>
          <p:cNvSpPr/>
          <p:nvPr/>
        </p:nvSpPr>
        <p:spPr>
          <a:xfrm>
            <a:off x="10191750" y="4581525"/>
            <a:ext cx="1219200" cy="1219200"/>
          </a:xfrm>
          <a:prstGeom prst="roundRect">
            <a:avLst>
              <a:gd name="adj" fmla="val 3125"/>
            </a:avLst>
          </a:prstGeom>
          <a:solidFill>
            <a:srgbClr val="FFFFFF"/>
          </a:solidFill>
          <a:ln>
            <a:noFill/>
          </a:ln>
        </p:spPr>
      </p:sp>
      <p:pic>
        <p:nvPicPr>
          <p:cNvPr id="27" name="Image 27"/>
          <p:cNvPicPr>
            <a:picLocks noChangeAspect="1"/>
          </p:cNvPicPr>
          <p:nvPr/>
        </p:nvPicPr>
        <p:blipFill>
          <a:blip r:embed="rId3"/>
          <a:stretch>
            <a:fillRect/>
          </a:stretch>
        </p:blipFill>
        <p:spPr>
          <a:xfrm>
            <a:off x="10229850" y="4619625"/>
            <a:ext cx="1143000" cy="1143000"/>
          </a:xfrm>
          <a:prstGeom prst="rect">
            <a:avLst/>
          </a:prstGeom>
        </p:spPr>
      </p:pic>
      <p:sp>
        <p:nvSpPr>
          <p:cNvPr id="28" name="TextBox 28"/>
          <p:cNvSpPr txBox="1"/>
          <p:nvPr/>
        </p:nvSpPr>
        <p:spPr>
          <a:xfrm>
            <a:off x="7155180" y="4186714"/>
            <a:ext cx="2144421" cy="259080"/>
          </a:xfrm>
          <a:prstGeom prst="rect">
            <a:avLst/>
          </a:prstGeom>
          <a:noFill/>
          <a:ln>
            <a:noFill/>
          </a:ln>
        </p:spPr>
        <p:txBody>
          <a:bodyPr wrap="none" lIns="0" tIns="0" rIns="0" bIns="0" anchor="t" anchorCtr="0">
            <a:spAutoFit/>
          </a:bodyPr>
          <a:lstStyle/>
          <a:p>
            <a:pPr algn="l"/>
            <a:r>
              <a:rPr lang="zh-CN" sz="1275" b="1" dirty="0">
                <a:solidFill>
                  <a:srgbClr val="10171F"/>
                </a:solidFill>
                <a:latin typeface="Arial"/>
                <a:ea typeface="Microsoft YaHei"/>
                <a:cs typeface="Arial"/>
              </a:rPr>
              <a:t>Open data · CC BY 4.0</a:t>
            </a:r>
          </a:p>
        </p:txBody>
      </p:sp>
      <p:sp>
        <p:nvSpPr>
          <p:cNvPr id="29" name="TextBox 29"/>
          <p:cNvSpPr txBox="1"/>
          <p:nvPr/>
        </p:nvSpPr>
        <p:spPr>
          <a:xfrm>
            <a:off x="7157085" y="4469606"/>
            <a:ext cx="1352883" cy="228600"/>
          </a:xfrm>
          <a:prstGeom prst="rect">
            <a:avLst/>
          </a:prstGeom>
          <a:noFill/>
          <a:ln>
            <a:noFill/>
          </a:ln>
        </p:spPr>
        <p:txBody>
          <a:bodyPr wrap="none" lIns="0" tIns="0" rIns="0" bIns="0" anchor="t" anchorCtr="0">
            <a:spAutoFit/>
          </a:bodyPr>
          <a:lstStyle/>
          <a:p>
            <a:pPr algn="l"/>
            <a:r>
              <a:rPr lang="zh-CN" sz="1125" dirty="0">
                <a:solidFill>
                  <a:srgbClr val="2C1A10"/>
                </a:solidFill>
                <a:latin typeface="Arial"/>
                <a:ea typeface="Microsoft YaHei"/>
                <a:cs typeface="Arial"/>
              </a:rPr>
              <a:t>doi.org/10.5281/</a:t>
            </a:r>
          </a:p>
        </p:txBody>
      </p:sp>
      <p:sp>
        <p:nvSpPr>
          <p:cNvPr id="30" name="TextBox 30"/>
          <p:cNvSpPr txBox="1"/>
          <p:nvPr/>
        </p:nvSpPr>
        <p:spPr>
          <a:xfrm>
            <a:off x="7157085" y="4679156"/>
            <a:ext cx="1349597" cy="228600"/>
          </a:xfrm>
          <a:prstGeom prst="rect">
            <a:avLst/>
          </a:prstGeom>
          <a:noFill/>
          <a:ln>
            <a:noFill/>
          </a:ln>
        </p:spPr>
        <p:txBody>
          <a:bodyPr wrap="none" lIns="0" tIns="0" rIns="0" bIns="0" anchor="t" anchorCtr="0">
            <a:spAutoFit/>
          </a:bodyPr>
          <a:lstStyle/>
          <a:p>
            <a:pPr algn="l"/>
            <a:r>
              <a:rPr lang="zh-CN" sz="1125" dirty="0">
                <a:solidFill>
                  <a:srgbClr val="2C1A10"/>
                </a:solidFill>
                <a:latin typeface="Arial"/>
                <a:ea typeface="Microsoft YaHei"/>
                <a:cs typeface="Arial"/>
              </a:rPr>
              <a:t>zenodo.20809949</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APPROACH</a:t>
            </a:r>
          </a:p>
        </p:txBody>
      </p:sp>
      <p:sp>
        <p:nvSpPr>
          <p:cNvPr id="4" name="TextBox 4"/>
          <p:cNvSpPr txBox="1"/>
          <p:nvPr/>
        </p:nvSpPr>
        <p:spPr>
          <a:xfrm>
            <a:off x="660082" y="600551"/>
            <a:ext cx="9092669"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A discrete-time hazard model separates the two processes</a:t>
            </a:r>
          </a:p>
        </p:txBody>
      </p:sp>
      <p:sp>
        <p:nvSpPr>
          <p:cNvPr id="5" name="TextBox 5"/>
          <p:cNvSpPr txBox="1"/>
          <p:nvPr/>
        </p:nvSpPr>
        <p:spPr>
          <a:xfrm>
            <a:off x="10941387" y="340995"/>
            <a:ext cx="576243"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Methods</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2278380"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04 / 19</a:t>
            </a:r>
          </a:p>
        </p:txBody>
      </p:sp>
      <p:sp>
        <p:nvSpPr>
          <p:cNvPr id="10" name="TextBox 10"/>
          <p:cNvSpPr txBox="1"/>
          <p:nvPr/>
        </p:nvSpPr>
        <p:spPr>
          <a:xfrm>
            <a:off x="670560" y="1013460"/>
            <a:ext cx="8898636" cy="243840"/>
          </a:xfrm>
          <a:prstGeom prst="rect">
            <a:avLst/>
          </a:prstGeom>
          <a:noFill/>
          <a:ln>
            <a:noFill/>
          </a:ln>
        </p:spPr>
        <p:txBody>
          <a:bodyPr wrap="none" lIns="0" tIns="0" rIns="0" bIns="0" anchor="t" anchorCtr="0">
            <a:spAutoFit/>
          </a:bodyPr>
          <a:lstStyle/>
          <a:p>
            <a:pPr algn="l"/>
            <a:r>
              <a:rPr lang="zh-CN" sz="1200" dirty="0">
                <a:solidFill>
                  <a:srgbClr val="B4BECA"/>
                </a:solidFill>
                <a:latin typeface="Arial"/>
                <a:ea typeface="Microsoft YaHei"/>
                <a:cs typeface="Arial"/>
              </a:rPr>
              <a:t>For every species, in every province it could reach, in every year: is this the year of its first record?</a:t>
            </a:r>
          </a:p>
        </p:txBody>
      </p:sp>
      <p:sp>
        <p:nvSpPr>
          <p:cNvPr id="11" name="Rectangle 11"/>
          <p:cNvSpPr/>
          <p:nvPr/>
        </p:nvSpPr>
        <p:spPr>
          <a:xfrm>
            <a:off x="685800" y="1314450"/>
            <a:ext cx="10820400" cy="1104900"/>
          </a:xfrm>
          <a:prstGeom prst="roundRect">
            <a:avLst>
              <a:gd name="adj" fmla="val 6897"/>
            </a:avLst>
          </a:prstGeom>
          <a:solidFill>
            <a:srgbClr val="17222D"/>
          </a:solidFill>
          <a:ln>
            <a:noFill/>
          </a:ln>
        </p:spPr>
      </p:sp>
      <p:sp>
        <p:nvSpPr>
          <p:cNvPr id="12" name="TextBox 12"/>
          <p:cNvSpPr txBox="1"/>
          <p:nvPr/>
        </p:nvSpPr>
        <p:spPr>
          <a:xfrm>
            <a:off x="897255" y="1530668"/>
            <a:ext cx="7881557" cy="274320"/>
          </a:xfrm>
          <a:prstGeom prst="rect">
            <a:avLst/>
          </a:prstGeom>
          <a:noFill/>
          <a:ln>
            <a:noFill/>
          </a:ln>
        </p:spPr>
        <p:txBody>
          <a:bodyPr wrap="none" lIns="0" tIns="0" rIns="0" bIns="0" anchor="t" anchorCtr="0">
            <a:spAutoFit/>
          </a:bodyPr>
          <a:lstStyle/>
          <a:p>
            <a:pPr algn="l"/>
            <a:r>
              <a:rPr lang="zh-CN" sz="1350" dirty="0">
                <a:solidFill>
                  <a:srgbClr val="EEF2F6"/>
                </a:solidFill>
                <a:latin typeface="Arial"/>
                <a:ea typeface="Microsoft YaHei"/>
                <a:cs typeface="Arial"/>
              </a:rPr>
              <a:t>first record ~ warming × effort + climate variability + offset(log completeness)</a:t>
            </a:r>
          </a:p>
        </p:txBody>
      </p:sp>
      <p:sp>
        <p:nvSpPr>
          <p:cNvPr id="13" name="TextBox 13"/>
          <p:cNvSpPr txBox="1"/>
          <p:nvPr/>
        </p:nvSpPr>
        <p:spPr>
          <a:xfrm>
            <a:off x="897255" y="1835468"/>
            <a:ext cx="5351897" cy="274320"/>
          </a:xfrm>
          <a:prstGeom prst="rect">
            <a:avLst/>
          </a:prstGeom>
          <a:noFill/>
          <a:ln>
            <a:noFill/>
          </a:ln>
        </p:spPr>
        <p:txBody>
          <a:bodyPr wrap="none" lIns="0" tIns="0" rIns="0" bIns="0" anchor="t" anchorCtr="0">
            <a:spAutoFit/>
          </a:bodyPr>
          <a:lstStyle/>
          <a:p>
            <a:pPr algn="l"/>
            <a:r>
              <a:rPr lang="zh-CN" sz="1350" dirty="0">
                <a:solidFill>
                  <a:srgbClr val="EEF2F6"/>
                </a:solidFill>
                <a:latin typeface="Arial"/>
                <a:ea typeface="Microsoft YaHei"/>
                <a:cs typeface="Arial"/>
              </a:rPr>
              <a:t>+ (1 | species) + (1 | province) + (1 | province × year)</a:t>
            </a:r>
          </a:p>
        </p:txBody>
      </p:sp>
      <p:sp>
        <p:nvSpPr>
          <p:cNvPr id="14" name="TextBox 14"/>
          <p:cNvSpPr txBox="1"/>
          <p:nvPr/>
        </p:nvSpPr>
        <p:spPr>
          <a:xfrm>
            <a:off x="9685972" y="1859756"/>
            <a:ext cx="1605915" cy="228600"/>
          </a:xfrm>
          <a:prstGeom prst="rect">
            <a:avLst/>
          </a:prstGeom>
          <a:noFill/>
          <a:ln>
            <a:noFill/>
          </a:ln>
        </p:spPr>
        <p:txBody>
          <a:bodyPr wrap="none" lIns="0" tIns="0" rIns="0" bIns="0" anchor="t" anchorCtr="0">
            <a:spAutoFit/>
          </a:bodyPr>
          <a:lstStyle/>
          <a:p>
            <a:pPr algn="r"/>
            <a:r>
              <a:rPr lang="zh-CN" sz="1125" dirty="0">
                <a:solidFill>
                  <a:srgbClr val="B4BECA"/>
                </a:solidFill>
                <a:latin typeface="Arial"/>
                <a:ea typeface="Microsoft YaHei"/>
                <a:cs typeface="Arial"/>
              </a:rPr>
              <a:t>binomial, cloglog link</a:t>
            </a:r>
          </a:p>
        </p:txBody>
      </p:sp>
      <p:sp>
        <p:nvSpPr>
          <p:cNvPr id="15" name="TextBox 15"/>
          <p:cNvSpPr txBox="1"/>
          <p:nvPr/>
        </p:nvSpPr>
        <p:spPr>
          <a:xfrm>
            <a:off x="901065" y="2153602"/>
            <a:ext cx="6215977" cy="213360"/>
          </a:xfrm>
          <a:prstGeom prst="rect">
            <a:avLst/>
          </a:prstGeom>
          <a:noFill/>
          <a:ln>
            <a:noFill/>
          </a:ln>
        </p:spPr>
        <p:txBody>
          <a:bodyPr wrap="none" lIns="0" tIns="0" rIns="0" bIns="0" anchor="t" anchorCtr="0">
            <a:spAutoFit/>
          </a:bodyPr>
          <a:lstStyle/>
          <a:p>
            <a:pPr algn="l"/>
            <a:r>
              <a:rPr lang="zh-CN" sz="1050" dirty="0">
                <a:solidFill>
                  <a:srgbClr val="7D8996"/>
                </a:solidFill>
                <a:latin typeface="Arial"/>
                <a:ea typeface="Microsoft YaHei"/>
                <a:cs typeface="Arial"/>
              </a:rPr>
              <a:t>Discrete-time hazard model: exp(β) is a hazard ratio (HR) per standard deviation</a:t>
            </a:r>
          </a:p>
        </p:txBody>
      </p:sp>
      <p:sp>
        <p:nvSpPr>
          <p:cNvPr id="16" name="Rectangle 16"/>
          <p:cNvSpPr/>
          <p:nvPr/>
        </p:nvSpPr>
        <p:spPr>
          <a:xfrm>
            <a:off x="685800" y="2647950"/>
            <a:ext cx="5295900" cy="1219200"/>
          </a:xfrm>
          <a:prstGeom prst="roundRect">
            <a:avLst>
              <a:gd name="adj" fmla="val 6250"/>
            </a:avLst>
          </a:prstGeom>
          <a:solidFill>
            <a:srgbClr val="17222D"/>
          </a:solidFill>
          <a:ln>
            <a:noFill/>
          </a:ln>
        </p:spPr>
      </p:sp>
      <p:sp>
        <p:nvSpPr>
          <p:cNvPr id="17" name="Rectangle 17"/>
          <p:cNvSpPr/>
          <p:nvPr/>
        </p:nvSpPr>
        <p:spPr>
          <a:xfrm>
            <a:off x="876300" y="2847975"/>
            <a:ext cx="38100" cy="180975"/>
          </a:xfrm>
          <a:prstGeom prst="roundRect">
            <a:avLst>
              <a:gd name="adj" fmla="val 50000"/>
            </a:avLst>
          </a:prstGeom>
          <a:solidFill>
            <a:srgbClr val="F07B4F"/>
          </a:solidFill>
          <a:ln>
            <a:noFill/>
          </a:ln>
        </p:spPr>
      </p:sp>
      <p:sp>
        <p:nvSpPr>
          <p:cNvPr id="18" name="TextBox 18"/>
          <p:cNvSpPr txBox="1"/>
          <p:nvPr/>
        </p:nvSpPr>
        <p:spPr>
          <a:xfrm>
            <a:off x="993458" y="2862739"/>
            <a:ext cx="1706223"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Complete risk set</a:t>
            </a:r>
          </a:p>
        </p:txBody>
      </p:sp>
      <p:sp>
        <p:nvSpPr>
          <p:cNvPr id="19" name="TextBox 19"/>
          <p:cNvSpPr txBox="1"/>
          <p:nvPr/>
        </p:nvSpPr>
        <p:spPr>
          <a:xfrm>
            <a:off x="862012" y="3136106"/>
            <a:ext cx="3143822"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Only provinces the species could reach</a:t>
            </a:r>
          </a:p>
        </p:txBody>
      </p:sp>
      <p:sp>
        <p:nvSpPr>
          <p:cNvPr id="20" name="TextBox 20"/>
          <p:cNvSpPr txBox="1"/>
          <p:nvPr/>
        </p:nvSpPr>
        <p:spPr>
          <a:xfrm>
            <a:off x="862012" y="3364706"/>
            <a:ext cx="3479006"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Leaves the risk set after its first record</a:t>
            </a:r>
          </a:p>
        </p:txBody>
      </p:sp>
      <p:sp>
        <p:nvSpPr>
          <p:cNvPr id="21" name="TextBox 21"/>
          <p:cNvSpPr txBox="1"/>
          <p:nvPr/>
        </p:nvSpPr>
        <p:spPr>
          <a:xfrm>
            <a:off x="862012" y="3593306"/>
            <a:ext cx="2670620"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Denominator = real opportunities</a:t>
            </a:r>
          </a:p>
        </p:txBody>
      </p:sp>
      <p:sp>
        <p:nvSpPr>
          <p:cNvPr id="22" name="Rectangle 22"/>
          <p:cNvSpPr/>
          <p:nvPr/>
        </p:nvSpPr>
        <p:spPr>
          <a:xfrm>
            <a:off x="6210300" y="2647950"/>
            <a:ext cx="5295900" cy="1219200"/>
          </a:xfrm>
          <a:prstGeom prst="roundRect">
            <a:avLst>
              <a:gd name="adj" fmla="val 6250"/>
            </a:avLst>
          </a:prstGeom>
          <a:solidFill>
            <a:srgbClr val="17222D"/>
          </a:solidFill>
          <a:ln>
            <a:noFill/>
          </a:ln>
        </p:spPr>
      </p:sp>
      <p:sp>
        <p:nvSpPr>
          <p:cNvPr id="23" name="Rectangle 23"/>
          <p:cNvSpPr/>
          <p:nvPr/>
        </p:nvSpPr>
        <p:spPr>
          <a:xfrm>
            <a:off x="6400800" y="2847975"/>
            <a:ext cx="38100" cy="180975"/>
          </a:xfrm>
          <a:prstGeom prst="roundRect">
            <a:avLst>
              <a:gd name="adj" fmla="val 50000"/>
            </a:avLst>
          </a:prstGeom>
          <a:solidFill>
            <a:srgbClr val="F2875A"/>
          </a:solidFill>
          <a:ln>
            <a:noFill/>
          </a:ln>
        </p:spPr>
      </p:sp>
      <p:sp>
        <p:nvSpPr>
          <p:cNvPr id="24" name="TextBox 24"/>
          <p:cNvSpPr txBox="1"/>
          <p:nvPr/>
        </p:nvSpPr>
        <p:spPr>
          <a:xfrm>
            <a:off x="6517958" y="2862739"/>
            <a:ext cx="2748424"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Species-referenced warming</a:t>
            </a:r>
          </a:p>
        </p:txBody>
      </p:sp>
      <p:sp>
        <p:nvSpPr>
          <p:cNvPr id="25" name="TextBox 25"/>
          <p:cNvSpPr txBox="1"/>
          <p:nvPr/>
        </p:nvSpPr>
        <p:spPr>
          <a:xfrm>
            <a:off x="6386512" y="3136106"/>
            <a:ext cx="2749487"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Province anomaly − range anomaly</a:t>
            </a:r>
          </a:p>
        </p:txBody>
      </p:sp>
      <p:sp>
        <p:nvSpPr>
          <p:cNvPr id="26" name="TextBox 26"/>
          <p:cNvSpPr txBox="1"/>
          <p:nvPr/>
        </p:nvSpPr>
        <p:spPr>
          <a:xfrm>
            <a:off x="6386512" y="3364706"/>
            <a:ext cx="1786652"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15-year moving window</a:t>
            </a:r>
          </a:p>
        </p:txBody>
      </p:sp>
      <p:sp>
        <p:nvSpPr>
          <p:cNvPr id="27" name="TextBox 27"/>
          <p:cNvSpPr txBox="1"/>
          <p:nvPr/>
        </p:nvSpPr>
        <p:spPr>
          <a:xfrm>
            <a:off x="6386512" y="3593306"/>
            <a:ext cx="1178719"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1 SD = 0.18 °C</a:t>
            </a:r>
          </a:p>
        </p:txBody>
      </p:sp>
      <p:sp>
        <p:nvSpPr>
          <p:cNvPr id="28" name="Rectangle 28"/>
          <p:cNvSpPr/>
          <p:nvPr/>
        </p:nvSpPr>
        <p:spPr>
          <a:xfrm>
            <a:off x="685800" y="4038600"/>
            <a:ext cx="5295900" cy="1219200"/>
          </a:xfrm>
          <a:prstGeom prst="roundRect">
            <a:avLst>
              <a:gd name="adj" fmla="val 6250"/>
            </a:avLst>
          </a:prstGeom>
          <a:solidFill>
            <a:srgbClr val="17222D"/>
          </a:solidFill>
          <a:ln>
            <a:noFill/>
          </a:ln>
        </p:spPr>
      </p:sp>
      <p:sp>
        <p:nvSpPr>
          <p:cNvPr id="29" name="Rectangle 29"/>
          <p:cNvSpPr/>
          <p:nvPr/>
        </p:nvSpPr>
        <p:spPr>
          <a:xfrm>
            <a:off x="876300" y="4238625"/>
            <a:ext cx="38100" cy="180975"/>
          </a:xfrm>
          <a:prstGeom prst="roundRect">
            <a:avLst>
              <a:gd name="adj" fmla="val 50000"/>
            </a:avLst>
          </a:prstGeom>
          <a:solidFill>
            <a:srgbClr val="7DB2E3"/>
          </a:solidFill>
          <a:ln>
            <a:noFill/>
          </a:ln>
        </p:spPr>
      </p:sp>
      <p:sp>
        <p:nvSpPr>
          <p:cNvPr id="30" name="TextBox 30"/>
          <p:cNvSpPr txBox="1"/>
          <p:nvPr/>
        </p:nvSpPr>
        <p:spPr>
          <a:xfrm>
            <a:off x="993458" y="4253389"/>
            <a:ext cx="1421986"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Survey effort</a:t>
            </a:r>
          </a:p>
        </p:txBody>
      </p:sp>
      <p:sp>
        <p:nvSpPr>
          <p:cNvPr id="31" name="TextBox 31"/>
          <p:cNvSpPr txBox="1"/>
          <p:nvPr/>
        </p:nvSpPr>
        <p:spPr>
          <a:xfrm>
            <a:off x="862012" y="4526756"/>
            <a:ext cx="2913793"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Birding visits per province and year</a:t>
            </a:r>
          </a:p>
        </p:txBody>
      </p:sp>
      <p:sp>
        <p:nvSpPr>
          <p:cNvPr id="32" name="TextBox 32"/>
          <p:cNvSpPr txBox="1"/>
          <p:nvPr/>
        </p:nvSpPr>
        <p:spPr>
          <a:xfrm>
            <a:off x="862012" y="4755356"/>
            <a:ext cx="2816852"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eBird and GBIF, 2.86 million records</a:t>
            </a:r>
          </a:p>
        </p:txBody>
      </p:sp>
      <p:sp>
        <p:nvSpPr>
          <p:cNvPr id="33" name="TextBox 33"/>
          <p:cNvSpPr txBox="1"/>
          <p:nvPr/>
        </p:nvSpPr>
        <p:spPr>
          <a:xfrm>
            <a:off x="862012" y="4983956"/>
            <a:ext cx="2126766"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1 SD = 7.9-fold more visits</a:t>
            </a:r>
          </a:p>
        </p:txBody>
      </p:sp>
      <p:sp>
        <p:nvSpPr>
          <p:cNvPr id="34" name="Rectangle 34"/>
          <p:cNvSpPr/>
          <p:nvPr/>
        </p:nvSpPr>
        <p:spPr>
          <a:xfrm>
            <a:off x="6210300" y="4038600"/>
            <a:ext cx="5295900" cy="1219200"/>
          </a:xfrm>
          <a:prstGeom prst="roundRect">
            <a:avLst>
              <a:gd name="adj" fmla="val 6250"/>
            </a:avLst>
          </a:prstGeom>
          <a:solidFill>
            <a:srgbClr val="17222D"/>
          </a:solidFill>
          <a:ln>
            <a:noFill/>
          </a:ln>
        </p:spPr>
      </p:sp>
      <p:sp>
        <p:nvSpPr>
          <p:cNvPr id="35" name="Rectangle 35"/>
          <p:cNvSpPr/>
          <p:nvPr/>
        </p:nvSpPr>
        <p:spPr>
          <a:xfrm>
            <a:off x="6400800" y="4238625"/>
            <a:ext cx="38100" cy="180975"/>
          </a:xfrm>
          <a:prstGeom prst="roundRect">
            <a:avLst>
              <a:gd name="adj" fmla="val 50000"/>
            </a:avLst>
          </a:prstGeom>
          <a:solidFill>
            <a:srgbClr val="52C7B6"/>
          </a:solidFill>
          <a:ln>
            <a:noFill/>
          </a:ln>
        </p:spPr>
      </p:sp>
      <p:sp>
        <p:nvSpPr>
          <p:cNvPr id="36" name="TextBox 36"/>
          <p:cNvSpPr txBox="1"/>
          <p:nvPr/>
        </p:nvSpPr>
        <p:spPr>
          <a:xfrm>
            <a:off x="6517958" y="4253389"/>
            <a:ext cx="2353651"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Province × year effect</a:t>
            </a:r>
          </a:p>
        </p:txBody>
      </p:sp>
      <p:sp>
        <p:nvSpPr>
          <p:cNvPr id="37" name="TextBox 37"/>
          <p:cNvSpPr txBox="1"/>
          <p:nvPr/>
        </p:nvSpPr>
        <p:spPr>
          <a:xfrm>
            <a:off x="6386512" y="4526756"/>
            <a:ext cx="2775776"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The scale at which surveys happen</a:t>
            </a:r>
          </a:p>
        </p:txBody>
      </p:sp>
      <p:sp>
        <p:nvSpPr>
          <p:cNvPr id="38" name="TextBox 38"/>
          <p:cNvSpPr txBox="1"/>
          <p:nvPr/>
        </p:nvSpPr>
        <p:spPr>
          <a:xfrm>
            <a:off x="6386512" y="4755356"/>
            <a:ext cx="2907221"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Bird races, campaigns, new reserves</a:t>
            </a:r>
          </a:p>
        </p:txBody>
      </p:sp>
      <p:sp>
        <p:nvSpPr>
          <p:cNvPr id="39" name="TextBox 39"/>
          <p:cNvSpPr txBox="1"/>
          <p:nvPr/>
        </p:nvSpPr>
        <p:spPr>
          <a:xfrm>
            <a:off x="6386512" y="4983956"/>
            <a:ext cx="2762631"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The observation process, modelled</a:t>
            </a:r>
          </a:p>
        </p:txBody>
      </p:sp>
      <p:sp>
        <p:nvSpPr>
          <p:cNvPr id="40" name="TextBox 40"/>
          <p:cNvSpPr txBox="1"/>
          <p:nvPr/>
        </p:nvSpPr>
        <p:spPr>
          <a:xfrm>
            <a:off x="672465" y="5449252"/>
            <a:ext cx="8454923" cy="213360"/>
          </a:xfrm>
          <a:prstGeom prst="rect">
            <a:avLst/>
          </a:prstGeom>
          <a:noFill/>
          <a:ln>
            <a:noFill/>
          </a:ln>
        </p:spPr>
        <p:txBody>
          <a:bodyPr wrap="none" lIns="0" tIns="0" rIns="0" bIns="0" anchor="t" anchorCtr="0">
            <a:spAutoFit/>
          </a:bodyPr>
          <a:lstStyle/>
          <a:p>
            <a:pPr algn="l"/>
            <a:r>
              <a:rPr lang="zh-CN" sz="1050" dirty="0">
                <a:solidFill>
                  <a:srgbClr val="7D8996"/>
                </a:solidFill>
                <a:latin typeface="Arial"/>
                <a:ea typeface="Microsoft YaHei"/>
                <a:cs typeface="Arial"/>
              </a:rPr>
              <a:t>Records are dated to their discovery year; an offset corrects the most recent years for unpublished records.</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FINDING 1</a:t>
            </a:r>
          </a:p>
        </p:txBody>
      </p:sp>
      <p:sp>
        <p:nvSpPr>
          <p:cNvPr id="4" name="TextBox 4"/>
          <p:cNvSpPr txBox="1"/>
          <p:nvPr/>
        </p:nvSpPr>
        <p:spPr>
          <a:xfrm>
            <a:off x="660082" y="600551"/>
            <a:ext cx="9798036"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Warming and survey effort contribute comparably and interact</a:t>
            </a:r>
          </a:p>
        </p:txBody>
      </p:sp>
      <p:sp>
        <p:nvSpPr>
          <p:cNvPr id="5" name="TextBox 5"/>
          <p:cNvSpPr txBox="1"/>
          <p:nvPr/>
        </p:nvSpPr>
        <p:spPr>
          <a:xfrm>
            <a:off x="10975562" y="340995"/>
            <a:ext cx="542068"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Figure 1</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2847022"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05 / 19</a:t>
            </a:r>
          </a:p>
        </p:txBody>
      </p:sp>
      <p:sp>
        <p:nvSpPr>
          <p:cNvPr id="10" name="Rectangle 10"/>
          <p:cNvSpPr/>
          <p:nvPr/>
        </p:nvSpPr>
        <p:spPr>
          <a:xfrm>
            <a:off x="590550" y="1028700"/>
            <a:ext cx="5457825" cy="3636645"/>
          </a:xfrm>
          <a:prstGeom prst="roundRect">
            <a:avLst>
              <a:gd name="adj" fmla="val 2095"/>
            </a:avLst>
          </a:prstGeom>
          <a:solidFill>
            <a:srgbClr val="FFFFFF"/>
          </a:solidFill>
          <a:ln>
            <a:noFill/>
          </a:ln>
        </p:spPr>
      </p:sp>
      <p:pic>
        <p:nvPicPr>
          <p:cNvPr id="11" name="Image 11"/>
          <p:cNvPicPr>
            <a:picLocks noChangeAspect="1"/>
          </p:cNvPicPr>
          <p:nvPr/>
        </p:nvPicPr>
        <p:blipFill>
          <a:blip r:embed="rId2"/>
          <a:stretch>
            <a:fillRect/>
          </a:stretch>
        </p:blipFill>
        <p:spPr>
          <a:xfrm>
            <a:off x="685800" y="1123950"/>
            <a:ext cx="5267325" cy="3446145"/>
          </a:xfrm>
          <a:prstGeom prst="rect">
            <a:avLst/>
          </a:prstGeom>
        </p:spPr>
      </p:pic>
      <p:sp>
        <p:nvSpPr>
          <p:cNvPr id="12" name="Rectangle 12"/>
          <p:cNvSpPr/>
          <p:nvPr/>
        </p:nvSpPr>
        <p:spPr>
          <a:xfrm>
            <a:off x="6143625" y="1028700"/>
            <a:ext cx="5457825" cy="3781425"/>
          </a:xfrm>
          <a:prstGeom prst="roundRect">
            <a:avLst>
              <a:gd name="adj" fmla="val 2015"/>
            </a:avLst>
          </a:prstGeom>
          <a:solidFill>
            <a:srgbClr val="FFFFFF"/>
          </a:solidFill>
          <a:ln>
            <a:noFill/>
          </a:ln>
        </p:spPr>
      </p:sp>
      <p:pic>
        <p:nvPicPr>
          <p:cNvPr id="13" name="Image 13"/>
          <p:cNvPicPr>
            <a:picLocks noChangeAspect="1"/>
          </p:cNvPicPr>
          <p:nvPr/>
        </p:nvPicPr>
        <p:blipFill>
          <a:blip r:embed="rId3"/>
          <a:stretch>
            <a:fillRect/>
          </a:stretch>
        </p:blipFill>
        <p:spPr>
          <a:xfrm>
            <a:off x="6238875" y="1123950"/>
            <a:ext cx="5267325" cy="3590925"/>
          </a:xfrm>
          <a:prstGeom prst="rect">
            <a:avLst/>
          </a:prstGeom>
        </p:spPr>
      </p:pic>
      <p:sp>
        <p:nvSpPr>
          <p:cNvPr id="14" name="Rectangle 14"/>
          <p:cNvSpPr/>
          <p:nvPr/>
        </p:nvSpPr>
        <p:spPr>
          <a:xfrm>
            <a:off x="685800" y="5019675"/>
            <a:ext cx="2562225" cy="1162050"/>
          </a:xfrm>
          <a:prstGeom prst="roundRect">
            <a:avLst>
              <a:gd name="adj" fmla="val 6557"/>
            </a:avLst>
          </a:prstGeom>
          <a:solidFill>
            <a:srgbClr val="17222D"/>
          </a:solidFill>
          <a:ln>
            <a:noFill/>
          </a:ln>
        </p:spPr>
      </p:sp>
      <p:sp>
        <p:nvSpPr>
          <p:cNvPr id="15" name="TextBox 15"/>
          <p:cNvSpPr txBox="1"/>
          <p:nvPr/>
        </p:nvSpPr>
        <p:spPr>
          <a:xfrm>
            <a:off x="862965" y="5239702"/>
            <a:ext cx="826682" cy="518160"/>
          </a:xfrm>
          <a:prstGeom prst="rect">
            <a:avLst/>
          </a:prstGeom>
          <a:noFill/>
          <a:ln>
            <a:noFill/>
          </a:ln>
        </p:spPr>
        <p:txBody>
          <a:bodyPr wrap="none" lIns="0" tIns="0" rIns="0" bIns="0" anchor="t" anchorCtr="0">
            <a:spAutoFit/>
          </a:bodyPr>
          <a:lstStyle/>
          <a:p>
            <a:pPr algn="l"/>
            <a:r>
              <a:rPr lang="zh-CN" sz="2550" b="1" dirty="0">
                <a:solidFill>
                  <a:srgbClr val="F2875A"/>
                </a:solidFill>
                <a:latin typeface="Arial"/>
                <a:ea typeface="Microsoft YaHei"/>
                <a:cs typeface="Arial"/>
              </a:rPr>
              <a:t>1.36</a:t>
            </a:r>
          </a:p>
        </p:txBody>
      </p:sp>
      <p:sp>
        <p:nvSpPr>
          <p:cNvPr id="16" name="TextBox 16"/>
          <p:cNvSpPr txBox="1"/>
          <p:nvPr/>
        </p:nvSpPr>
        <p:spPr>
          <a:xfrm>
            <a:off x="881062" y="5698331"/>
            <a:ext cx="1645349"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Accumulated warming</a:t>
            </a:r>
          </a:p>
        </p:txBody>
      </p:sp>
      <p:sp>
        <p:nvSpPr>
          <p:cNvPr id="17" name="TextBox 17"/>
          <p:cNvSpPr txBox="1"/>
          <p:nvPr/>
        </p:nvSpPr>
        <p:spPr>
          <a:xfrm>
            <a:off x="882968" y="5943124"/>
            <a:ext cx="1571215" cy="198120"/>
          </a:xfrm>
          <a:prstGeom prst="rect">
            <a:avLst/>
          </a:prstGeom>
          <a:noFill/>
          <a:ln>
            <a:noFill/>
          </a:ln>
        </p:spPr>
        <p:txBody>
          <a:bodyPr wrap="none" lIns="0" tIns="0" rIns="0" bIns="0" anchor="t" anchorCtr="0">
            <a:spAutoFit/>
          </a:bodyPr>
          <a:lstStyle/>
          <a:p>
            <a:pPr algn="l"/>
            <a:r>
              <a:rPr lang="zh-CN" sz="975" dirty="0">
                <a:solidFill>
                  <a:srgbClr val="7D8996"/>
                </a:solidFill>
                <a:latin typeface="Arial"/>
                <a:ea typeface="Microsoft YaHei"/>
                <a:cs typeface="Arial"/>
              </a:rPr>
              <a:t>HR per SD (1.22–1.53)</a:t>
            </a:r>
          </a:p>
        </p:txBody>
      </p:sp>
      <p:sp>
        <p:nvSpPr>
          <p:cNvPr id="18" name="Rectangle 18"/>
          <p:cNvSpPr/>
          <p:nvPr/>
        </p:nvSpPr>
        <p:spPr>
          <a:xfrm>
            <a:off x="3438525" y="5019675"/>
            <a:ext cx="2562225" cy="1162050"/>
          </a:xfrm>
          <a:prstGeom prst="roundRect">
            <a:avLst>
              <a:gd name="adj" fmla="val 6557"/>
            </a:avLst>
          </a:prstGeom>
          <a:solidFill>
            <a:srgbClr val="17222D"/>
          </a:solidFill>
          <a:ln>
            <a:noFill/>
          </a:ln>
        </p:spPr>
      </p:sp>
      <p:sp>
        <p:nvSpPr>
          <p:cNvPr id="19" name="TextBox 19"/>
          <p:cNvSpPr txBox="1"/>
          <p:nvPr/>
        </p:nvSpPr>
        <p:spPr>
          <a:xfrm>
            <a:off x="3615690" y="5239702"/>
            <a:ext cx="826682" cy="518160"/>
          </a:xfrm>
          <a:prstGeom prst="rect">
            <a:avLst/>
          </a:prstGeom>
          <a:noFill/>
          <a:ln>
            <a:noFill/>
          </a:ln>
        </p:spPr>
        <p:txBody>
          <a:bodyPr wrap="none" lIns="0" tIns="0" rIns="0" bIns="0" anchor="t" anchorCtr="0">
            <a:spAutoFit/>
          </a:bodyPr>
          <a:lstStyle/>
          <a:p>
            <a:pPr algn="l"/>
            <a:r>
              <a:rPr lang="zh-CN" sz="2550" b="1" dirty="0">
                <a:solidFill>
                  <a:srgbClr val="7DB2E3"/>
                </a:solidFill>
                <a:latin typeface="Arial"/>
                <a:ea typeface="Microsoft YaHei"/>
                <a:cs typeface="Arial"/>
              </a:rPr>
              <a:t>1.43</a:t>
            </a:r>
          </a:p>
        </p:txBody>
      </p:sp>
      <p:sp>
        <p:nvSpPr>
          <p:cNvPr id="20" name="TextBox 20"/>
          <p:cNvSpPr txBox="1"/>
          <p:nvPr/>
        </p:nvSpPr>
        <p:spPr>
          <a:xfrm>
            <a:off x="3633788" y="5698331"/>
            <a:ext cx="1185291"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Survey effort</a:t>
            </a:r>
          </a:p>
        </p:txBody>
      </p:sp>
      <p:sp>
        <p:nvSpPr>
          <p:cNvPr id="21" name="TextBox 21"/>
          <p:cNvSpPr txBox="1"/>
          <p:nvPr/>
        </p:nvSpPr>
        <p:spPr>
          <a:xfrm>
            <a:off x="3635692" y="5943124"/>
            <a:ext cx="1571215" cy="198120"/>
          </a:xfrm>
          <a:prstGeom prst="rect">
            <a:avLst/>
          </a:prstGeom>
          <a:noFill/>
          <a:ln>
            <a:noFill/>
          </a:ln>
        </p:spPr>
        <p:txBody>
          <a:bodyPr wrap="none" lIns="0" tIns="0" rIns="0" bIns="0" anchor="t" anchorCtr="0">
            <a:spAutoFit/>
          </a:bodyPr>
          <a:lstStyle/>
          <a:p>
            <a:pPr algn="l"/>
            <a:r>
              <a:rPr lang="zh-CN" sz="975" dirty="0">
                <a:solidFill>
                  <a:srgbClr val="7D8996"/>
                </a:solidFill>
                <a:latin typeface="Arial"/>
                <a:ea typeface="Microsoft YaHei"/>
                <a:cs typeface="Arial"/>
              </a:rPr>
              <a:t>HR per SD (1.27–1.61)</a:t>
            </a:r>
          </a:p>
        </p:txBody>
      </p:sp>
      <p:sp>
        <p:nvSpPr>
          <p:cNvPr id="22" name="Rectangle 22"/>
          <p:cNvSpPr/>
          <p:nvPr/>
        </p:nvSpPr>
        <p:spPr>
          <a:xfrm>
            <a:off x="6191250" y="5019675"/>
            <a:ext cx="2562225" cy="1162050"/>
          </a:xfrm>
          <a:prstGeom prst="roundRect">
            <a:avLst>
              <a:gd name="adj" fmla="val 6557"/>
            </a:avLst>
          </a:prstGeom>
          <a:solidFill>
            <a:srgbClr val="17222D"/>
          </a:solidFill>
          <a:ln>
            <a:noFill/>
          </a:ln>
        </p:spPr>
      </p:sp>
      <p:sp>
        <p:nvSpPr>
          <p:cNvPr id="23" name="TextBox 23"/>
          <p:cNvSpPr txBox="1"/>
          <p:nvPr/>
        </p:nvSpPr>
        <p:spPr>
          <a:xfrm>
            <a:off x="6368415" y="5239702"/>
            <a:ext cx="826682" cy="518160"/>
          </a:xfrm>
          <a:prstGeom prst="rect">
            <a:avLst/>
          </a:prstGeom>
          <a:noFill/>
          <a:ln>
            <a:noFill/>
          </a:ln>
        </p:spPr>
        <p:txBody>
          <a:bodyPr wrap="none" lIns="0" tIns="0" rIns="0" bIns="0" anchor="t" anchorCtr="0">
            <a:spAutoFit/>
          </a:bodyPr>
          <a:lstStyle/>
          <a:p>
            <a:pPr algn="l"/>
            <a:r>
              <a:rPr lang="zh-CN" sz="2550" b="1" dirty="0">
                <a:solidFill>
                  <a:srgbClr val="EEF2F6"/>
                </a:solidFill>
                <a:latin typeface="Arial"/>
                <a:ea typeface="Microsoft YaHei"/>
                <a:cs typeface="Arial"/>
              </a:rPr>
              <a:t>0.84</a:t>
            </a:r>
          </a:p>
        </p:txBody>
      </p:sp>
      <p:sp>
        <p:nvSpPr>
          <p:cNvPr id="24" name="TextBox 24"/>
          <p:cNvSpPr txBox="1"/>
          <p:nvPr/>
        </p:nvSpPr>
        <p:spPr>
          <a:xfrm>
            <a:off x="6386512" y="5698331"/>
            <a:ext cx="1495830"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Warming × effort</a:t>
            </a:r>
          </a:p>
        </p:txBody>
      </p:sp>
      <p:sp>
        <p:nvSpPr>
          <p:cNvPr id="25" name="TextBox 25"/>
          <p:cNvSpPr txBox="1"/>
          <p:nvPr/>
        </p:nvSpPr>
        <p:spPr>
          <a:xfrm>
            <a:off x="6388418" y="5943124"/>
            <a:ext cx="1796205" cy="198120"/>
          </a:xfrm>
          <a:prstGeom prst="rect">
            <a:avLst/>
          </a:prstGeom>
          <a:noFill/>
          <a:ln>
            <a:noFill/>
          </a:ln>
        </p:spPr>
        <p:txBody>
          <a:bodyPr wrap="none" lIns="0" tIns="0" rIns="0" bIns="0" anchor="t" anchorCtr="0">
            <a:spAutoFit/>
          </a:bodyPr>
          <a:lstStyle/>
          <a:p>
            <a:pPr algn="l"/>
            <a:r>
              <a:rPr lang="zh-CN" sz="975" dirty="0">
                <a:solidFill>
                  <a:srgbClr val="7D8996"/>
                </a:solidFill>
                <a:latin typeface="Arial"/>
                <a:ea typeface="Microsoft YaHei"/>
                <a:cs typeface="Arial"/>
              </a:rPr>
              <a:t>strongest where few look</a:t>
            </a:r>
          </a:p>
        </p:txBody>
      </p:sp>
      <p:sp>
        <p:nvSpPr>
          <p:cNvPr id="26" name="Rectangle 26"/>
          <p:cNvSpPr/>
          <p:nvPr/>
        </p:nvSpPr>
        <p:spPr>
          <a:xfrm>
            <a:off x="8943975" y="5019675"/>
            <a:ext cx="2562225" cy="1162050"/>
          </a:xfrm>
          <a:prstGeom prst="roundRect">
            <a:avLst>
              <a:gd name="adj" fmla="val 6557"/>
            </a:avLst>
          </a:prstGeom>
          <a:solidFill>
            <a:srgbClr val="17222D"/>
          </a:solidFill>
          <a:ln>
            <a:noFill/>
          </a:ln>
        </p:spPr>
      </p:sp>
      <p:sp>
        <p:nvSpPr>
          <p:cNvPr id="27" name="TextBox 27"/>
          <p:cNvSpPr txBox="1"/>
          <p:nvPr/>
        </p:nvSpPr>
        <p:spPr>
          <a:xfrm>
            <a:off x="9121140" y="5239702"/>
            <a:ext cx="826682" cy="518160"/>
          </a:xfrm>
          <a:prstGeom prst="rect">
            <a:avLst/>
          </a:prstGeom>
          <a:noFill/>
          <a:ln>
            <a:noFill/>
          </a:ln>
        </p:spPr>
        <p:txBody>
          <a:bodyPr wrap="none" lIns="0" tIns="0" rIns="0" bIns="0" anchor="t" anchorCtr="0">
            <a:spAutoFit/>
          </a:bodyPr>
          <a:lstStyle/>
          <a:p>
            <a:pPr algn="l"/>
            <a:r>
              <a:rPr lang="zh-CN" sz="2550" b="1" dirty="0">
                <a:solidFill>
                  <a:srgbClr val="7D8996"/>
                </a:solidFill>
                <a:latin typeface="Arial"/>
                <a:ea typeface="Microsoft YaHei"/>
                <a:cs typeface="Arial"/>
              </a:rPr>
              <a:t>0.99</a:t>
            </a:r>
          </a:p>
        </p:txBody>
      </p:sp>
      <p:sp>
        <p:nvSpPr>
          <p:cNvPr id="28" name="TextBox 28"/>
          <p:cNvSpPr txBox="1"/>
          <p:nvPr/>
        </p:nvSpPr>
        <p:spPr>
          <a:xfrm>
            <a:off x="9139238" y="5698331"/>
            <a:ext cx="1415320"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Annual variability</a:t>
            </a:r>
          </a:p>
        </p:txBody>
      </p:sp>
      <p:sp>
        <p:nvSpPr>
          <p:cNvPr id="29" name="TextBox 29"/>
          <p:cNvSpPr txBox="1"/>
          <p:nvPr/>
        </p:nvSpPr>
        <p:spPr>
          <a:xfrm>
            <a:off x="9141142" y="5943124"/>
            <a:ext cx="708279" cy="198120"/>
          </a:xfrm>
          <a:prstGeom prst="rect">
            <a:avLst/>
          </a:prstGeom>
          <a:noFill/>
          <a:ln>
            <a:noFill/>
          </a:ln>
        </p:spPr>
        <p:txBody>
          <a:bodyPr wrap="none" lIns="0" tIns="0" rIns="0" bIns="0" anchor="t" anchorCtr="0">
            <a:spAutoFit/>
          </a:bodyPr>
          <a:lstStyle/>
          <a:p>
            <a:pPr algn="l"/>
            <a:r>
              <a:rPr lang="zh-CN" sz="975" dirty="0">
                <a:solidFill>
                  <a:srgbClr val="7D8996"/>
                </a:solidFill>
                <a:latin typeface="Arial"/>
                <a:ea typeface="Microsoft YaHei"/>
                <a:cs typeface="Arial"/>
              </a:rPr>
              <a:t>no effect</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FINDING 1 · ROBUSTNESS</a:t>
            </a:r>
          </a:p>
        </p:txBody>
      </p:sp>
      <p:sp>
        <p:nvSpPr>
          <p:cNvPr id="4" name="TextBox 4"/>
          <p:cNvSpPr txBox="1"/>
          <p:nvPr/>
        </p:nvSpPr>
        <p:spPr>
          <a:xfrm>
            <a:off x="660082" y="600551"/>
            <a:ext cx="9982999"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The balance holds across four criteria and twelve specifications</a:t>
            </a:r>
          </a:p>
        </p:txBody>
      </p:sp>
      <p:sp>
        <p:nvSpPr>
          <p:cNvPr id="5" name="TextBox 5"/>
          <p:cNvSpPr txBox="1"/>
          <p:nvPr/>
        </p:nvSpPr>
        <p:spPr>
          <a:xfrm>
            <a:off x="10167176" y="340995"/>
            <a:ext cx="1350454"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Figure 1c · Figure 3</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3416618"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06 / 19</a:t>
            </a:r>
          </a:p>
        </p:txBody>
      </p:sp>
      <p:sp>
        <p:nvSpPr>
          <p:cNvPr id="10" name="Rectangle 10"/>
          <p:cNvSpPr/>
          <p:nvPr/>
        </p:nvSpPr>
        <p:spPr>
          <a:xfrm>
            <a:off x="2958465" y="1028700"/>
            <a:ext cx="6274118" cy="3333750"/>
          </a:xfrm>
          <a:prstGeom prst="roundRect">
            <a:avLst>
              <a:gd name="adj" fmla="val 2286"/>
            </a:avLst>
          </a:prstGeom>
          <a:solidFill>
            <a:srgbClr val="FFFFFF"/>
          </a:solidFill>
          <a:ln>
            <a:noFill/>
          </a:ln>
        </p:spPr>
      </p:sp>
      <p:pic>
        <p:nvPicPr>
          <p:cNvPr id="11" name="Image 11"/>
          <p:cNvPicPr>
            <a:picLocks noChangeAspect="1"/>
          </p:cNvPicPr>
          <p:nvPr/>
        </p:nvPicPr>
        <p:blipFill>
          <a:blip r:embed="rId2"/>
          <a:stretch>
            <a:fillRect/>
          </a:stretch>
        </p:blipFill>
        <p:spPr>
          <a:xfrm>
            <a:off x="3053715" y="1123950"/>
            <a:ext cx="6083618" cy="3143250"/>
          </a:xfrm>
          <a:prstGeom prst="rect">
            <a:avLst/>
          </a:prstGeom>
        </p:spPr>
      </p:pic>
      <p:sp>
        <p:nvSpPr>
          <p:cNvPr id="12" name="Rectangle 12"/>
          <p:cNvSpPr/>
          <p:nvPr/>
        </p:nvSpPr>
        <p:spPr>
          <a:xfrm>
            <a:off x="685800" y="5105400"/>
            <a:ext cx="3479482" cy="1219200"/>
          </a:xfrm>
          <a:prstGeom prst="roundRect">
            <a:avLst>
              <a:gd name="adj" fmla="val 6250"/>
            </a:avLst>
          </a:prstGeom>
          <a:solidFill>
            <a:srgbClr val="17222D"/>
          </a:solidFill>
          <a:ln>
            <a:noFill/>
          </a:ln>
        </p:spPr>
      </p:sp>
      <p:sp>
        <p:nvSpPr>
          <p:cNvPr id="13" name="Rectangle 13"/>
          <p:cNvSpPr/>
          <p:nvPr/>
        </p:nvSpPr>
        <p:spPr>
          <a:xfrm>
            <a:off x="876300" y="5305425"/>
            <a:ext cx="38100" cy="180975"/>
          </a:xfrm>
          <a:prstGeom prst="roundRect">
            <a:avLst>
              <a:gd name="adj" fmla="val 50000"/>
            </a:avLst>
          </a:prstGeom>
          <a:solidFill>
            <a:srgbClr val="F07B4F"/>
          </a:solidFill>
          <a:ln>
            <a:noFill/>
          </a:ln>
        </p:spPr>
      </p:sp>
      <p:sp>
        <p:nvSpPr>
          <p:cNvPr id="14" name="TextBox 14"/>
          <p:cNvSpPr txBox="1"/>
          <p:nvPr/>
        </p:nvSpPr>
        <p:spPr>
          <a:xfrm>
            <a:off x="993458" y="5320189"/>
            <a:ext cx="2661574"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Cost of dropping each term</a:t>
            </a:r>
          </a:p>
        </p:txBody>
      </p:sp>
      <p:sp>
        <p:nvSpPr>
          <p:cNvPr id="15" name="TextBox 15"/>
          <p:cNvSpPr txBox="1"/>
          <p:nvPr/>
        </p:nvSpPr>
        <p:spPr>
          <a:xfrm>
            <a:off x="862012" y="5593556"/>
            <a:ext cx="2726484"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ΔAIC: warming 29.9 · effort 33.4</a:t>
            </a:r>
          </a:p>
        </p:txBody>
      </p:sp>
      <p:sp>
        <p:nvSpPr>
          <p:cNvPr id="16" name="TextBox 16"/>
          <p:cNvSpPr txBox="1"/>
          <p:nvPr/>
        </p:nvSpPr>
        <p:spPr>
          <a:xfrm>
            <a:off x="862012" y="5822156"/>
            <a:ext cx="2907221"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ΔAUC: warming 0.053 · effort 0.033</a:t>
            </a:r>
          </a:p>
        </p:txBody>
      </p:sp>
      <p:sp>
        <p:nvSpPr>
          <p:cNvPr id="17" name="TextBox 17"/>
          <p:cNvSpPr txBox="1"/>
          <p:nvPr/>
        </p:nvSpPr>
        <p:spPr>
          <a:xfrm>
            <a:off x="862012" y="6050756"/>
            <a:ext cx="2361724"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Conditional R² and |β| agree</a:t>
            </a:r>
          </a:p>
        </p:txBody>
      </p:sp>
      <p:sp>
        <p:nvSpPr>
          <p:cNvPr id="18" name="Rectangle 18"/>
          <p:cNvSpPr/>
          <p:nvPr/>
        </p:nvSpPr>
        <p:spPr>
          <a:xfrm>
            <a:off x="4355782" y="5105400"/>
            <a:ext cx="3479482" cy="1219200"/>
          </a:xfrm>
          <a:prstGeom prst="roundRect">
            <a:avLst>
              <a:gd name="adj" fmla="val 6250"/>
            </a:avLst>
          </a:prstGeom>
          <a:solidFill>
            <a:srgbClr val="17222D"/>
          </a:solidFill>
          <a:ln>
            <a:noFill/>
          </a:ln>
        </p:spPr>
      </p:sp>
      <p:sp>
        <p:nvSpPr>
          <p:cNvPr id="19" name="Rectangle 19"/>
          <p:cNvSpPr/>
          <p:nvPr/>
        </p:nvSpPr>
        <p:spPr>
          <a:xfrm>
            <a:off x="4546282" y="5305425"/>
            <a:ext cx="38100" cy="180975"/>
          </a:xfrm>
          <a:prstGeom prst="roundRect">
            <a:avLst>
              <a:gd name="adj" fmla="val 50000"/>
            </a:avLst>
          </a:prstGeom>
          <a:solidFill>
            <a:srgbClr val="7DB2E3"/>
          </a:solidFill>
          <a:ln>
            <a:noFill/>
          </a:ln>
        </p:spPr>
      </p:sp>
      <p:sp>
        <p:nvSpPr>
          <p:cNvPr id="20" name="TextBox 20"/>
          <p:cNvSpPr txBox="1"/>
          <p:nvPr/>
        </p:nvSpPr>
        <p:spPr>
          <a:xfrm>
            <a:off x="4663440" y="5320189"/>
            <a:ext cx="2085205"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Twelve specifications</a:t>
            </a:r>
          </a:p>
        </p:txBody>
      </p:sp>
      <p:sp>
        <p:nvSpPr>
          <p:cNvPr id="21" name="TextBox 21"/>
          <p:cNvSpPr txBox="1"/>
          <p:nvPr/>
        </p:nvSpPr>
        <p:spPr>
          <a:xfrm>
            <a:off x="4531995" y="5593556"/>
            <a:ext cx="2843141"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SDM thresholds 50/100/200: stable</a:t>
            </a:r>
          </a:p>
        </p:txBody>
      </p:sp>
      <p:sp>
        <p:nvSpPr>
          <p:cNvPr id="22" name="TextBox 22"/>
          <p:cNvSpPr txBox="1"/>
          <p:nvPr/>
        </p:nvSpPr>
        <p:spPr>
          <a:xfrm>
            <a:off x="4531995" y="5822156"/>
            <a:ext cx="3265408"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4 effort proxies × 3 missing-data rules</a:t>
            </a:r>
          </a:p>
        </p:txBody>
      </p:sp>
      <p:sp>
        <p:nvSpPr>
          <p:cNvPr id="23" name="TextBox 23"/>
          <p:cNvSpPr txBox="1"/>
          <p:nvPr/>
        </p:nvSpPr>
        <p:spPr>
          <a:xfrm>
            <a:off x="4531995" y="6050756"/>
            <a:ext cx="3386995"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Effort HR 1.25–1.55 · warming 1.33–1.39</a:t>
            </a:r>
          </a:p>
        </p:txBody>
      </p:sp>
      <p:sp>
        <p:nvSpPr>
          <p:cNvPr id="24" name="Rectangle 24"/>
          <p:cNvSpPr/>
          <p:nvPr/>
        </p:nvSpPr>
        <p:spPr>
          <a:xfrm>
            <a:off x="8026718" y="5105400"/>
            <a:ext cx="3479482" cy="1219200"/>
          </a:xfrm>
          <a:prstGeom prst="roundRect">
            <a:avLst>
              <a:gd name="adj" fmla="val 6250"/>
            </a:avLst>
          </a:prstGeom>
          <a:solidFill>
            <a:srgbClr val="17222D"/>
          </a:solidFill>
          <a:ln>
            <a:noFill/>
          </a:ln>
        </p:spPr>
      </p:sp>
      <p:sp>
        <p:nvSpPr>
          <p:cNvPr id="25" name="Rectangle 25"/>
          <p:cNvSpPr/>
          <p:nvPr/>
        </p:nvSpPr>
        <p:spPr>
          <a:xfrm>
            <a:off x="8217218" y="5305425"/>
            <a:ext cx="38100" cy="180975"/>
          </a:xfrm>
          <a:prstGeom prst="roundRect">
            <a:avLst>
              <a:gd name="adj" fmla="val 50000"/>
            </a:avLst>
          </a:prstGeom>
          <a:solidFill>
            <a:srgbClr val="52C7B6"/>
          </a:solidFill>
          <a:ln>
            <a:noFill/>
          </a:ln>
        </p:spPr>
      </p:sp>
      <p:sp>
        <p:nvSpPr>
          <p:cNvPr id="26" name="TextBox 26"/>
          <p:cNvSpPr txBox="1"/>
          <p:nvPr/>
        </p:nvSpPr>
        <p:spPr>
          <a:xfrm>
            <a:off x="8334375" y="5320189"/>
            <a:ext cx="2306278"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Design-preserving nulls</a:t>
            </a:r>
          </a:p>
        </p:txBody>
      </p:sp>
      <p:sp>
        <p:nvSpPr>
          <p:cNvPr id="27" name="TextBox 27"/>
          <p:cNvSpPr txBox="1"/>
          <p:nvPr/>
        </p:nvSpPr>
        <p:spPr>
          <a:xfrm>
            <a:off x="8202930" y="5593556"/>
            <a:ext cx="2958155" cy="228600"/>
          </a:xfrm>
          <a:prstGeom prst="rect">
            <a:avLst/>
          </a:prstGeom>
          <a:noFill/>
          <a:ln>
            <a:noFill/>
          </a:ln>
        </p:spPr>
        <p:txBody>
          <a:bodyPr wrap="none" lIns="0" tIns="0" rIns="0" bIns="0" anchor="t" anchorCtr="0">
            <a:spAutoFit/>
          </a:bodyPr>
          <a:lstStyle/>
          <a:p>
            <a:pPr algn="l"/>
            <a:r>
              <a:rPr lang="zh-CN" sz="1125" dirty="0">
                <a:solidFill>
                  <a:srgbClr val="F2875A"/>
                </a:solidFill>
                <a:latin typeface="Arial"/>
                <a:ea typeface="Microsoft YaHei"/>
                <a:cs typeface="Arial"/>
              </a:rPr>
              <a:t>Warming null 1.16 → increment ×1.18</a:t>
            </a:r>
          </a:p>
        </p:txBody>
      </p:sp>
      <p:sp>
        <p:nvSpPr>
          <p:cNvPr id="28" name="TextBox 28"/>
          <p:cNvSpPr txBox="1"/>
          <p:nvPr/>
        </p:nvSpPr>
        <p:spPr>
          <a:xfrm>
            <a:off x="8202930" y="5822156"/>
            <a:ext cx="2816852" cy="228600"/>
          </a:xfrm>
          <a:prstGeom prst="rect">
            <a:avLst/>
          </a:prstGeom>
          <a:noFill/>
          <a:ln>
            <a:noFill/>
          </a:ln>
        </p:spPr>
        <p:txBody>
          <a:bodyPr wrap="none" lIns="0" tIns="0" rIns="0" bIns="0" anchor="t" anchorCtr="0">
            <a:spAutoFit/>
          </a:bodyPr>
          <a:lstStyle/>
          <a:p>
            <a:pPr algn="l"/>
            <a:r>
              <a:rPr lang="zh-CN" sz="1125" dirty="0">
                <a:solidFill>
                  <a:srgbClr val="7DB2E3"/>
                </a:solidFill>
                <a:latin typeface="Arial"/>
                <a:ea typeface="Microsoft YaHei"/>
                <a:cs typeface="Arial"/>
              </a:rPr>
              <a:t>Shuffle effort timing: falls to 0.98</a:t>
            </a:r>
          </a:p>
        </p:txBody>
      </p:sp>
      <p:sp>
        <p:nvSpPr>
          <p:cNvPr id="29" name="TextBox 29"/>
          <p:cNvSpPr txBox="1"/>
          <p:nvPr/>
        </p:nvSpPr>
        <p:spPr>
          <a:xfrm>
            <a:off x="8202930" y="6050756"/>
            <a:ext cx="3424785"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Province bootstrap: both lower bounds &gt; 1</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FINDING 2</a:t>
            </a:r>
          </a:p>
        </p:txBody>
      </p:sp>
      <p:sp>
        <p:nvSpPr>
          <p:cNvPr id="4" name="TextBox 4"/>
          <p:cNvSpPr txBox="1"/>
          <p:nvPr/>
        </p:nvSpPr>
        <p:spPr>
          <a:xfrm>
            <a:off x="660082" y="600551"/>
            <a:ext cx="9556644"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Pulses of survey activity are the largest source of variation</a:t>
            </a:r>
          </a:p>
        </p:txBody>
      </p:sp>
      <p:sp>
        <p:nvSpPr>
          <p:cNvPr id="5" name="TextBox 5"/>
          <p:cNvSpPr txBox="1"/>
          <p:nvPr/>
        </p:nvSpPr>
        <p:spPr>
          <a:xfrm>
            <a:off x="10975562" y="340995"/>
            <a:ext cx="542068"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Figure 5</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3986212"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07 / 19</a:t>
            </a:r>
          </a:p>
        </p:txBody>
      </p:sp>
      <p:sp>
        <p:nvSpPr>
          <p:cNvPr id="10" name="Rectangle 10"/>
          <p:cNvSpPr/>
          <p:nvPr/>
        </p:nvSpPr>
        <p:spPr>
          <a:xfrm>
            <a:off x="818198" y="1028700"/>
            <a:ext cx="5003482" cy="4000500"/>
          </a:xfrm>
          <a:prstGeom prst="roundRect">
            <a:avLst>
              <a:gd name="adj" fmla="val 1905"/>
            </a:avLst>
          </a:prstGeom>
          <a:solidFill>
            <a:srgbClr val="FFFFFF"/>
          </a:solidFill>
          <a:ln>
            <a:noFill/>
          </a:ln>
        </p:spPr>
      </p:sp>
      <p:pic>
        <p:nvPicPr>
          <p:cNvPr id="11" name="Image 11"/>
          <p:cNvPicPr>
            <a:picLocks noChangeAspect="1"/>
          </p:cNvPicPr>
          <p:nvPr/>
        </p:nvPicPr>
        <p:blipFill>
          <a:blip r:embed="rId2"/>
          <a:stretch>
            <a:fillRect/>
          </a:stretch>
        </p:blipFill>
        <p:spPr>
          <a:xfrm>
            <a:off x="913448" y="1123950"/>
            <a:ext cx="4812982" cy="3810000"/>
          </a:xfrm>
          <a:prstGeom prst="rect">
            <a:avLst/>
          </a:prstGeom>
        </p:spPr>
      </p:pic>
      <p:sp>
        <p:nvSpPr>
          <p:cNvPr id="12" name="Rectangle 12"/>
          <p:cNvSpPr/>
          <p:nvPr/>
        </p:nvSpPr>
        <p:spPr>
          <a:xfrm>
            <a:off x="6143625" y="1028700"/>
            <a:ext cx="5457825" cy="3921442"/>
          </a:xfrm>
          <a:prstGeom prst="roundRect">
            <a:avLst>
              <a:gd name="adj" fmla="val 1943"/>
            </a:avLst>
          </a:prstGeom>
          <a:solidFill>
            <a:srgbClr val="FFFFFF"/>
          </a:solidFill>
          <a:ln>
            <a:noFill/>
          </a:ln>
        </p:spPr>
      </p:sp>
      <p:pic>
        <p:nvPicPr>
          <p:cNvPr id="13" name="Image 13"/>
          <p:cNvPicPr>
            <a:picLocks noChangeAspect="1"/>
          </p:cNvPicPr>
          <p:nvPr/>
        </p:nvPicPr>
        <p:blipFill>
          <a:blip r:embed="rId3"/>
          <a:stretch>
            <a:fillRect/>
          </a:stretch>
        </p:blipFill>
        <p:spPr>
          <a:xfrm>
            <a:off x="6238875" y="1123950"/>
            <a:ext cx="5267325" cy="3730942"/>
          </a:xfrm>
          <a:prstGeom prst="rect">
            <a:avLst/>
          </a:prstGeom>
        </p:spPr>
      </p:pic>
      <p:sp>
        <p:nvSpPr>
          <p:cNvPr id="14" name="Rectangle 14"/>
          <p:cNvSpPr/>
          <p:nvPr/>
        </p:nvSpPr>
        <p:spPr>
          <a:xfrm>
            <a:off x="685800" y="5238750"/>
            <a:ext cx="3479482" cy="1085850"/>
          </a:xfrm>
          <a:prstGeom prst="roundRect">
            <a:avLst>
              <a:gd name="adj" fmla="val 7018"/>
            </a:avLst>
          </a:prstGeom>
          <a:solidFill>
            <a:srgbClr val="17222D"/>
          </a:solidFill>
          <a:ln>
            <a:noFill/>
          </a:ln>
        </p:spPr>
      </p:sp>
      <p:sp>
        <p:nvSpPr>
          <p:cNvPr id="15" name="TextBox 15"/>
          <p:cNvSpPr txBox="1"/>
          <p:nvPr/>
        </p:nvSpPr>
        <p:spPr>
          <a:xfrm>
            <a:off x="862965" y="5458778"/>
            <a:ext cx="1221455" cy="518160"/>
          </a:xfrm>
          <a:prstGeom prst="rect">
            <a:avLst/>
          </a:prstGeom>
          <a:noFill/>
          <a:ln>
            <a:noFill/>
          </a:ln>
        </p:spPr>
        <p:txBody>
          <a:bodyPr wrap="none" lIns="0" tIns="0" rIns="0" bIns="0" anchor="t" anchorCtr="0">
            <a:spAutoFit/>
          </a:bodyPr>
          <a:lstStyle/>
          <a:p>
            <a:pPr algn="l"/>
            <a:r>
              <a:rPr lang="zh-CN" sz="2550" b="1" dirty="0">
                <a:solidFill>
                  <a:srgbClr val="52C7B6"/>
                </a:solidFill>
                <a:latin typeface="Arial"/>
                <a:ea typeface="Microsoft YaHei"/>
                <a:cs typeface="Arial"/>
              </a:rPr>
              <a:t>×2.22</a:t>
            </a:r>
          </a:p>
        </p:txBody>
      </p:sp>
      <p:sp>
        <p:nvSpPr>
          <p:cNvPr id="16" name="TextBox 16"/>
          <p:cNvSpPr txBox="1"/>
          <p:nvPr/>
        </p:nvSpPr>
        <p:spPr>
          <a:xfrm>
            <a:off x="881062" y="5917406"/>
            <a:ext cx="1356170"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Province × year</a:t>
            </a:r>
          </a:p>
        </p:txBody>
      </p:sp>
      <p:sp>
        <p:nvSpPr>
          <p:cNvPr id="17" name="TextBox 17"/>
          <p:cNvSpPr txBox="1"/>
          <p:nvPr/>
        </p:nvSpPr>
        <p:spPr>
          <a:xfrm>
            <a:off x="882968" y="6162199"/>
            <a:ext cx="1756334" cy="198120"/>
          </a:xfrm>
          <a:prstGeom prst="rect">
            <a:avLst/>
          </a:prstGeom>
          <a:noFill/>
          <a:ln>
            <a:noFill/>
          </a:ln>
        </p:spPr>
        <p:txBody>
          <a:bodyPr wrap="none" lIns="0" tIns="0" rIns="0" bIns="0" anchor="t" anchorCtr="0">
            <a:spAutoFit/>
          </a:bodyPr>
          <a:lstStyle/>
          <a:p>
            <a:pPr algn="l"/>
            <a:r>
              <a:rPr lang="zh-CN" sz="975" dirty="0">
                <a:solidFill>
                  <a:srgbClr val="7D8996"/>
                </a:solidFill>
                <a:latin typeface="Arial"/>
                <a:ea typeface="Microsoft YaHei"/>
                <a:cs typeface="Arial"/>
              </a:rPr>
              <a:t>per SD: survey campaigns</a:t>
            </a:r>
          </a:p>
        </p:txBody>
      </p:sp>
      <p:sp>
        <p:nvSpPr>
          <p:cNvPr id="18" name="Rectangle 18"/>
          <p:cNvSpPr/>
          <p:nvPr/>
        </p:nvSpPr>
        <p:spPr>
          <a:xfrm>
            <a:off x="4355782" y="5238750"/>
            <a:ext cx="3479482" cy="1085850"/>
          </a:xfrm>
          <a:prstGeom prst="roundRect">
            <a:avLst>
              <a:gd name="adj" fmla="val 7018"/>
            </a:avLst>
          </a:prstGeom>
          <a:solidFill>
            <a:srgbClr val="17222D"/>
          </a:solidFill>
          <a:ln>
            <a:noFill/>
          </a:ln>
        </p:spPr>
      </p:sp>
      <p:sp>
        <p:nvSpPr>
          <p:cNvPr id="19" name="TextBox 19"/>
          <p:cNvSpPr txBox="1"/>
          <p:nvPr/>
        </p:nvSpPr>
        <p:spPr>
          <a:xfrm>
            <a:off x="4532948" y="5458778"/>
            <a:ext cx="1221455" cy="518160"/>
          </a:xfrm>
          <a:prstGeom prst="rect">
            <a:avLst/>
          </a:prstGeom>
          <a:noFill/>
          <a:ln>
            <a:noFill/>
          </a:ln>
        </p:spPr>
        <p:txBody>
          <a:bodyPr wrap="none" lIns="0" tIns="0" rIns="0" bIns="0" anchor="t" anchorCtr="0">
            <a:spAutoFit/>
          </a:bodyPr>
          <a:lstStyle/>
          <a:p>
            <a:pPr algn="l"/>
            <a:r>
              <a:rPr lang="zh-CN" sz="2550" b="1" dirty="0">
                <a:solidFill>
                  <a:srgbClr val="52C7B6"/>
                </a:solidFill>
                <a:latin typeface="Arial"/>
                <a:ea typeface="Microsoft YaHei"/>
                <a:cs typeface="Arial"/>
              </a:rPr>
              <a:t>×1.50</a:t>
            </a:r>
          </a:p>
        </p:txBody>
      </p:sp>
      <p:sp>
        <p:nvSpPr>
          <p:cNvPr id="20" name="TextBox 20"/>
          <p:cNvSpPr txBox="1"/>
          <p:nvPr/>
        </p:nvSpPr>
        <p:spPr>
          <a:xfrm>
            <a:off x="4551045" y="5917406"/>
            <a:ext cx="626650"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Species</a:t>
            </a:r>
          </a:p>
        </p:txBody>
      </p:sp>
      <p:sp>
        <p:nvSpPr>
          <p:cNvPr id="21" name="TextBox 21"/>
          <p:cNvSpPr txBox="1"/>
          <p:nvPr/>
        </p:nvSpPr>
        <p:spPr>
          <a:xfrm>
            <a:off x="4552950" y="6162199"/>
            <a:ext cx="1585455" cy="198120"/>
          </a:xfrm>
          <a:prstGeom prst="rect">
            <a:avLst/>
          </a:prstGeom>
          <a:noFill/>
          <a:ln>
            <a:noFill/>
          </a:ln>
        </p:spPr>
        <p:txBody>
          <a:bodyPr wrap="none" lIns="0" tIns="0" rIns="0" bIns="0" anchor="t" anchorCtr="0">
            <a:spAutoFit/>
          </a:bodyPr>
          <a:lstStyle/>
          <a:p>
            <a:pPr algn="l"/>
            <a:r>
              <a:rPr lang="zh-CN" sz="975" dirty="0">
                <a:solidFill>
                  <a:srgbClr val="7D8996"/>
                </a:solidFill>
                <a:latin typeface="Arial"/>
                <a:ea typeface="Microsoft YaHei"/>
                <a:cs typeface="Arial"/>
              </a:rPr>
              <a:t>intrinsic detectability</a:t>
            </a:r>
          </a:p>
        </p:txBody>
      </p:sp>
      <p:sp>
        <p:nvSpPr>
          <p:cNvPr id="22" name="Rectangle 22"/>
          <p:cNvSpPr/>
          <p:nvPr/>
        </p:nvSpPr>
        <p:spPr>
          <a:xfrm>
            <a:off x="8026718" y="5238750"/>
            <a:ext cx="3479482" cy="1085850"/>
          </a:xfrm>
          <a:prstGeom prst="roundRect">
            <a:avLst>
              <a:gd name="adj" fmla="val 7018"/>
            </a:avLst>
          </a:prstGeom>
          <a:solidFill>
            <a:srgbClr val="17222D"/>
          </a:solidFill>
          <a:ln>
            <a:noFill/>
          </a:ln>
        </p:spPr>
      </p:sp>
      <p:sp>
        <p:nvSpPr>
          <p:cNvPr id="23" name="TextBox 23"/>
          <p:cNvSpPr txBox="1"/>
          <p:nvPr/>
        </p:nvSpPr>
        <p:spPr>
          <a:xfrm>
            <a:off x="8203883" y="5458778"/>
            <a:ext cx="1221455" cy="518160"/>
          </a:xfrm>
          <a:prstGeom prst="rect">
            <a:avLst/>
          </a:prstGeom>
          <a:noFill/>
          <a:ln>
            <a:noFill/>
          </a:ln>
        </p:spPr>
        <p:txBody>
          <a:bodyPr wrap="none" lIns="0" tIns="0" rIns="0" bIns="0" anchor="t" anchorCtr="0">
            <a:spAutoFit/>
          </a:bodyPr>
          <a:lstStyle/>
          <a:p>
            <a:pPr algn="l"/>
            <a:r>
              <a:rPr lang="zh-CN" sz="2550" b="1" dirty="0">
                <a:solidFill>
                  <a:srgbClr val="52C7B6"/>
                </a:solidFill>
                <a:latin typeface="Arial"/>
                <a:ea typeface="Microsoft YaHei"/>
                <a:cs typeface="Arial"/>
              </a:rPr>
              <a:t>×1.39</a:t>
            </a:r>
          </a:p>
        </p:txBody>
      </p:sp>
      <p:sp>
        <p:nvSpPr>
          <p:cNvPr id="24" name="TextBox 24"/>
          <p:cNvSpPr txBox="1"/>
          <p:nvPr/>
        </p:nvSpPr>
        <p:spPr>
          <a:xfrm>
            <a:off x="8221980" y="5917406"/>
            <a:ext cx="718661"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Province</a:t>
            </a:r>
          </a:p>
        </p:txBody>
      </p:sp>
      <p:sp>
        <p:nvSpPr>
          <p:cNvPr id="25" name="TextBox 25"/>
          <p:cNvSpPr txBox="1"/>
          <p:nvPr/>
        </p:nvSpPr>
        <p:spPr>
          <a:xfrm>
            <a:off x="8223885" y="6162199"/>
            <a:ext cx="1186739" cy="198120"/>
          </a:xfrm>
          <a:prstGeom prst="rect">
            <a:avLst/>
          </a:prstGeom>
          <a:noFill/>
          <a:ln>
            <a:noFill/>
          </a:ln>
        </p:spPr>
        <p:txBody>
          <a:bodyPr wrap="none" lIns="0" tIns="0" rIns="0" bIns="0" anchor="t" anchorCtr="0">
            <a:spAutoFit/>
          </a:bodyPr>
          <a:lstStyle/>
          <a:p>
            <a:pPr algn="l"/>
            <a:r>
              <a:rPr lang="zh-CN" sz="975" dirty="0">
                <a:solidFill>
                  <a:srgbClr val="7D8996"/>
                </a:solidFill>
                <a:latin typeface="Arial"/>
                <a:ea typeface="Microsoft YaHei"/>
                <a:cs typeface="Arial"/>
              </a:rPr>
              <a:t>regional baseline</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FINDING 3</a:t>
            </a:r>
          </a:p>
        </p:txBody>
      </p:sp>
      <p:sp>
        <p:nvSpPr>
          <p:cNvPr id="4" name="TextBox 4"/>
          <p:cNvSpPr txBox="1"/>
          <p:nvPr/>
        </p:nvSpPr>
        <p:spPr>
          <a:xfrm>
            <a:off x="660082" y="600551"/>
            <a:ext cx="9318386"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The return on effort is falling; the effect of warming is not</a:t>
            </a:r>
          </a:p>
        </p:txBody>
      </p:sp>
      <p:sp>
        <p:nvSpPr>
          <p:cNvPr id="5" name="TextBox 5"/>
          <p:cNvSpPr txBox="1"/>
          <p:nvPr/>
        </p:nvSpPr>
        <p:spPr>
          <a:xfrm>
            <a:off x="9663741" y="340995"/>
            <a:ext cx="1853889"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Figure 5d · SI Notes S3–S4</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4555808"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08 / 19</a:t>
            </a:r>
          </a:p>
        </p:txBody>
      </p:sp>
      <p:sp>
        <p:nvSpPr>
          <p:cNvPr id="10" name="Rectangle 10"/>
          <p:cNvSpPr/>
          <p:nvPr/>
        </p:nvSpPr>
        <p:spPr>
          <a:xfrm>
            <a:off x="590550" y="1047750"/>
            <a:ext cx="6286500" cy="4508182"/>
          </a:xfrm>
          <a:prstGeom prst="roundRect">
            <a:avLst>
              <a:gd name="adj" fmla="val 1690"/>
            </a:avLst>
          </a:prstGeom>
          <a:solidFill>
            <a:srgbClr val="FFFFFF"/>
          </a:solidFill>
          <a:ln>
            <a:noFill/>
          </a:ln>
        </p:spPr>
      </p:sp>
      <p:pic>
        <p:nvPicPr>
          <p:cNvPr id="11" name="Image 11"/>
          <p:cNvPicPr>
            <a:picLocks noChangeAspect="1"/>
          </p:cNvPicPr>
          <p:nvPr/>
        </p:nvPicPr>
        <p:blipFill>
          <a:blip r:embed="rId2"/>
          <a:stretch>
            <a:fillRect/>
          </a:stretch>
        </p:blipFill>
        <p:spPr>
          <a:xfrm>
            <a:off x="685800" y="1143000"/>
            <a:ext cx="6096000" cy="4317682"/>
          </a:xfrm>
          <a:prstGeom prst="rect">
            <a:avLst/>
          </a:prstGeom>
        </p:spPr>
      </p:pic>
      <p:sp>
        <p:nvSpPr>
          <p:cNvPr id="12" name="Rectangle 12"/>
          <p:cNvSpPr/>
          <p:nvPr/>
        </p:nvSpPr>
        <p:spPr>
          <a:xfrm>
            <a:off x="7162800" y="1066800"/>
            <a:ext cx="4343400" cy="1426845"/>
          </a:xfrm>
          <a:prstGeom prst="roundRect">
            <a:avLst>
              <a:gd name="adj" fmla="val 5340"/>
            </a:avLst>
          </a:prstGeom>
          <a:solidFill>
            <a:srgbClr val="17222D"/>
          </a:solidFill>
          <a:ln>
            <a:noFill/>
          </a:ln>
        </p:spPr>
      </p:sp>
      <p:sp>
        <p:nvSpPr>
          <p:cNvPr id="13" name="Rectangle 13"/>
          <p:cNvSpPr/>
          <p:nvPr/>
        </p:nvSpPr>
        <p:spPr>
          <a:xfrm>
            <a:off x="7353300" y="1266825"/>
            <a:ext cx="38100" cy="180975"/>
          </a:xfrm>
          <a:prstGeom prst="roundRect">
            <a:avLst>
              <a:gd name="adj" fmla="val 50000"/>
            </a:avLst>
          </a:prstGeom>
          <a:solidFill>
            <a:srgbClr val="7DB2E3"/>
          </a:solidFill>
          <a:ln>
            <a:noFill/>
          </a:ln>
        </p:spPr>
      </p:sp>
      <p:sp>
        <p:nvSpPr>
          <p:cNvPr id="14" name="TextBox 14"/>
          <p:cNvSpPr txBox="1"/>
          <p:nvPr/>
        </p:nvSpPr>
        <p:spPr>
          <a:xfrm>
            <a:off x="7470458" y="1281589"/>
            <a:ext cx="2882647"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Returns on effort are falling</a:t>
            </a:r>
          </a:p>
        </p:txBody>
      </p:sp>
      <p:sp>
        <p:nvSpPr>
          <p:cNvPr id="15" name="TextBox 15"/>
          <p:cNvSpPr txBox="1"/>
          <p:nvPr/>
        </p:nvSpPr>
        <p:spPr>
          <a:xfrm>
            <a:off x="7339012" y="1554956"/>
            <a:ext cx="2077474" cy="228600"/>
          </a:xfrm>
          <a:prstGeom prst="rect">
            <a:avLst/>
          </a:prstGeom>
          <a:noFill/>
          <a:ln>
            <a:noFill/>
          </a:ln>
        </p:spPr>
        <p:txBody>
          <a:bodyPr wrap="none" lIns="0" tIns="0" rIns="0" bIns="0" anchor="t" anchorCtr="0">
            <a:spAutoFit/>
          </a:bodyPr>
          <a:lstStyle/>
          <a:p>
            <a:pPr algn="l"/>
            <a:r>
              <a:rPr lang="zh-CN" sz="1125" dirty="0">
                <a:solidFill>
                  <a:srgbClr val="7DB2E3"/>
                </a:solidFill>
                <a:latin typeface="Arial"/>
                <a:ea typeface="Microsoft YaHei"/>
                <a:cs typeface="Arial"/>
              </a:rPr>
              <a:t>2002: HR 2.14 (1.61–2.85)</a:t>
            </a:r>
          </a:p>
        </p:txBody>
      </p:sp>
      <p:sp>
        <p:nvSpPr>
          <p:cNvPr id="16" name="TextBox 16"/>
          <p:cNvSpPr txBox="1"/>
          <p:nvPr/>
        </p:nvSpPr>
        <p:spPr>
          <a:xfrm>
            <a:off x="7339012" y="1783556"/>
            <a:ext cx="2077474" cy="228600"/>
          </a:xfrm>
          <a:prstGeom prst="rect">
            <a:avLst/>
          </a:prstGeom>
          <a:noFill/>
          <a:ln>
            <a:noFill/>
          </a:ln>
        </p:spPr>
        <p:txBody>
          <a:bodyPr wrap="none" lIns="0" tIns="0" rIns="0" bIns="0" anchor="t" anchorCtr="0">
            <a:spAutoFit/>
          </a:bodyPr>
          <a:lstStyle/>
          <a:p>
            <a:pPr algn="l"/>
            <a:r>
              <a:rPr lang="zh-CN" sz="1125" dirty="0">
                <a:solidFill>
                  <a:srgbClr val="7DB2E3"/>
                </a:solidFill>
                <a:latin typeface="Arial"/>
                <a:ea typeface="Microsoft YaHei"/>
                <a:cs typeface="Arial"/>
              </a:rPr>
              <a:t>2024: HR 1.13 (0.93–1.37)</a:t>
            </a:r>
          </a:p>
        </p:txBody>
      </p:sp>
      <p:sp>
        <p:nvSpPr>
          <p:cNvPr id="17" name="TextBox 17"/>
          <p:cNvSpPr txBox="1"/>
          <p:nvPr/>
        </p:nvSpPr>
        <p:spPr>
          <a:xfrm>
            <a:off x="7339012" y="2012156"/>
            <a:ext cx="2057757"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Effort × time: P = 0.0021</a:t>
            </a:r>
          </a:p>
        </p:txBody>
      </p:sp>
      <p:sp>
        <p:nvSpPr>
          <p:cNvPr id="18" name="Rectangle 18"/>
          <p:cNvSpPr/>
          <p:nvPr/>
        </p:nvSpPr>
        <p:spPr>
          <a:xfrm>
            <a:off x="7162800" y="2817495"/>
            <a:ext cx="4343400" cy="1198245"/>
          </a:xfrm>
          <a:prstGeom prst="roundRect">
            <a:avLst>
              <a:gd name="adj" fmla="val 6359"/>
            </a:avLst>
          </a:prstGeom>
          <a:solidFill>
            <a:srgbClr val="17222D"/>
          </a:solidFill>
          <a:ln>
            <a:noFill/>
          </a:ln>
        </p:spPr>
      </p:sp>
      <p:sp>
        <p:nvSpPr>
          <p:cNvPr id="19" name="Rectangle 19"/>
          <p:cNvSpPr/>
          <p:nvPr/>
        </p:nvSpPr>
        <p:spPr>
          <a:xfrm>
            <a:off x="7353300" y="3017520"/>
            <a:ext cx="38100" cy="180975"/>
          </a:xfrm>
          <a:prstGeom prst="roundRect">
            <a:avLst>
              <a:gd name="adj" fmla="val 50000"/>
            </a:avLst>
          </a:prstGeom>
          <a:solidFill>
            <a:srgbClr val="F2875A"/>
          </a:solidFill>
          <a:ln>
            <a:noFill/>
          </a:ln>
        </p:spPr>
      </p:sp>
      <p:sp>
        <p:nvSpPr>
          <p:cNvPr id="20" name="TextBox 20"/>
          <p:cNvSpPr txBox="1"/>
          <p:nvPr/>
        </p:nvSpPr>
        <p:spPr>
          <a:xfrm>
            <a:off x="7470458" y="3032284"/>
            <a:ext cx="2829353"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Warming shows no such trend</a:t>
            </a:r>
          </a:p>
        </p:txBody>
      </p:sp>
      <p:sp>
        <p:nvSpPr>
          <p:cNvPr id="21" name="TextBox 21"/>
          <p:cNvSpPr txBox="1"/>
          <p:nvPr/>
        </p:nvSpPr>
        <p:spPr>
          <a:xfrm>
            <a:off x="7339012" y="3305651"/>
            <a:ext cx="1970675" cy="228600"/>
          </a:xfrm>
          <a:prstGeom prst="rect">
            <a:avLst/>
          </a:prstGeom>
          <a:noFill/>
          <a:ln>
            <a:noFill/>
          </a:ln>
        </p:spPr>
        <p:txBody>
          <a:bodyPr wrap="none" lIns="0" tIns="0" rIns="0" bIns="0" anchor="t" anchorCtr="0">
            <a:spAutoFit/>
          </a:bodyPr>
          <a:lstStyle/>
          <a:p>
            <a:pPr algn="l"/>
            <a:r>
              <a:rPr lang="zh-CN" sz="1125" dirty="0">
                <a:solidFill>
                  <a:srgbClr val="F2875A"/>
                </a:solidFill>
                <a:latin typeface="Arial"/>
                <a:ea typeface="Microsoft YaHei"/>
                <a:cs typeface="Arial"/>
              </a:rPr>
              <a:t>Warming × time: P = 1.00</a:t>
            </a:r>
          </a:p>
        </p:txBody>
      </p:sp>
      <p:sp>
        <p:nvSpPr>
          <p:cNvPr id="22" name="TextBox 22"/>
          <p:cNvSpPr txBox="1"/>
          <p:nvPr/>
        </p:nvSpPr>
        <p:spPr>
          <a:xfrm>
            <a:off x="7339012" y="3534251"/>
            <a:ext cx="2810280" cy="228600"/>
          </a:xfrm>
          <a:prstGeom prst="rect">
            <a:avLst/>
          </a:prstGeom>
          <a:noFill/>
          <a:ln>
            <a:noFill/>
          </a:ln>
        </p:spPr>
        <p:txBody>
          <a:bodyPr wrap="none" lIns="0" tIns="0" rIns="0" bIns="0" anchor="t" anchorCtr="0">
            <a:spAutoFit/>
          </a:bodyPr>
          <a:lstStyle/>
          <a:p>
            <a:pPr algn="l"/>
            <a:r>
              <a:rPr lang="zh-CN" sz="1125" dirty="0">
                <a:solidFill>
                  <a:srgbClr val="F2875A"/>
                </a:solidFill>
                <a:latin typeface="Arial"/>
                <a:ea typeface="Microsoft YaHei"/>
                <a:cs typeface="Arial"/>
              </a:rPr>
              <a:t>Time-varying model: warming HR 1.37</a:t>
            </a:r>
          </a:p>
        </p:txBody>
      </p:sp>
      <p:sp>
        <p:nvSpPr>
          <p:cNvPr id="23" name="Rectangle 23"/>
          <p:cNvSpPr/>
          <p:nvPr/>
        </p:nvSpPr>
        <p:spPr>
          <a:xfrm>
            <a:off x="7162800" y="4339590"/>
            <a:ext cx="4343400" cy="1217295"/>
          </a:xfrm>
          <a:prstGeom prst="roundRect">
            <a:avLst>
              <a:gd name="adj" fmla="val 6260"/>
            </a:avLst>
          </a:prstGeom>
          <a:solidFill>
            <a:srgbClr val="F07B4F"/>
          </a:solidFill>
          <a:ln>
            <a:noFill/>
          </a:ln>
        </p:spPr>
      </p:sp>
      <p:sp>
        <p:nvSpPr>
          <p:cNvPr id="24" name="TextBox 24"/>
          <p:cNvSpPr txBox="1"/>
          <p:nvPr/>
        </p:nvSpPr>
        <p:spPr>
          <a:xfrm>
            <a:off x="8393586" y="4611052"/>
            <a:ext cx="1881828" cy="274320"/>
          </a:xfrm>
          <a:prstGeom prst="rect">
            <a:avLst/>
          </a:prstGeom>
          <a:noFill/>
          <a:ln>
            <a:noFill/>
          </a:ln>
        </p:spPr>
        <p:txBody>
          <a:bodyPr wrap="none" lIns="0" tIns="0" rIns="0" bIns="0" anchor="t" anchorCtr="0">
            <a:spAutoFit/>
          </a:bodyPr>
          <a:lstStyle/>
          <a:p>
            <a:pPr algn="ctr"/>
            <a:r>
              <a:rPr lang="zh-CN" sz="1350" b="1" dirty="0">
                <a:solidFill>
                  <a:srgbClr val="10171F"/>
                </a:solidFill>
                <a:latin typeface="Arial"/>
                <a:ea typeface="Microsoft YaHei"/>
                <a:cs typeface="Arial"/>
              </a:rPr>
              <a:t>A stock and a flow</a:t>
            </a:r>
          </a:p>
        </p:txBody>
      </p:sp>
      <p:sp>
        <p:nvSpPr>
          <p:cNvPr id="25" name="TextBox 25"/>
          <p:cNvSpPr txBox="1"/>
          <p:nvPr/>
        </p:nvSpPr>
        <p:spPr>
          <a:xfrm>
            <a:off x="7776972" y="4903470"/>
            <a:ext cx="3115056" cy="243840"/>
          </a:xfrm>
          <a:prstGeom prst="rect">
            <a:avLst/>
          </a:prstGeom>
          <a:noFill/>
          <a:ln>
            <a:noFill/>
          </a:ln>
        </p:spPr>
        <p:txBody>
          <a:bodyPr wrap="none" lIns="0" tIns="0" rIns="0" bIns="0" anchor="t" anchorCtr="0">
            <a:spAutoFit/>
          </a:bodyPr>
          <a:lstStyle/>
          <a:p>
            <a:pPr algn="ctr"/>
            <a:r>
              <a:rPr lang="zh-CN" sz="1200" dirty="0">
                <a:solidFill>
                  <a:srgbClr val="2C1A10"/>
                </a:solidFill>
                <a:latin typeface="Arial"/>
                <a:ea typeface="Microsoft YaHei"/>
                <a:cs typeface="Arial"/>
              </a:rPr>
              <a:t>Effort mines a finite stock of gaps;</a:t>
            </a:r>
          </a:p>
        </p:txBody>
      </p:sp>
      <p:sp>
        <p:nvSpPr>
          <p:cNvPr id="26" name="TextBox 26"/>
          <p:cNvSpPr txBox="1"/>
          <p:nvPr/>
        </p:nvSpPr>
        <p:spPr>
          <a:xfrm>
            <a:off x="7759446" y="5141595"/>
            <a:ext cx="3150108" cy="243840"/>
          </a:xfrm>
          <a:prstGeom prst="rect">
            <a:avLst/>
          </a:prstGeom>
          <a:noFill/>
          <a:ln>
            <a:noFill/>
          </a:ln>
        </p:spPr>
        <p:txBody>
          <a:bodyPr wrap="none" lIns="0" tIns="0" rIns="0" bIns="0" anchor="t" anchorCtr="0">
            <a:spAutoFit/>
          </a:bodyPr>
          <a:lstStyle/>
          <a:p>
            <a:pPr algn="ctr"/>
            <a:r>
              <a:rPr lang="zh-CN" sz="1200" dirty="0">
                <a:solidFill>
                  <a:srgbClr val="2C1A10"/>
                </a:solidFill>
                <a:latin typeface="Arial"/>
                <a:ea typeface="Microsoft YaHei"/>
                <a:cs typeface="Arial"/>
              </a:rPr>
              <a:t>warming keeps adding new candidates</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FINDING 4</a:t>
            </a:r>
          </a:p>
        </p:txBody>
      </p:sp>
      <p:sp>
        <p:nvSpPr>
          <p:cNvPr id="4" name="TextBox 4"/>
          <p:cNvSpPr txBox="1"/>
          <p:nvPr/>
        </p:nvSpPr>
        <p:spPr>
          <a:xfrm>
            <a:off x="660082" y="600551"/>
            <a:ext cx="10547292"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The eastward bias is geometry; net of it, records lean slightly north</a:t>
            </a:r>
          </a:p>
        </p:txBody>
      </p:sp>
      <p:sp>
        <p:nvSpPr>
          <p:cNvPr id="5" name="TextBox 5"/>
          <p:cNvSpPr txBox="1"/>
          <p:nvPr/>
        </p:nvSpPr>
        <p:spPr>
          <a:xfrm>
            <a:off x="9628251" y="340995"/>
            <a:ext cx="1889379"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Figure 6 · SI Tables S9–S10</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5125402"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09 / 19</a:t>
            </a:r>
          </a:p>
        </p:txBody>
      </p:sp>
      <p:sp>
        <p:nvSpPr>
          <p:cNvPr id="10" name="Rectangle 10"/>
          <p:cNvSpPr/>
          <p:nvPr/>
        </p:nvSpPr>
        <p:spPr>
          <a:xfrm>
            <a:off x="590550" y="1047750"/>
            <a:ext cx="5159692" cy="5410200"/>
          </a:xfrm>
          <a:prstGeom prst="roundRect">
            <a:avLst>
              <a:gd name="adj" fmla="val 1477"/>
            </a:avLst>
          </a:prstGeom>
          <a:solidFill>
            <a:srgbClr val="FFFFFF"/>
          </a:solidFill>
          <a:ln>
            <a:noFill/>
          </a:ln>
        </p:spPr>
      </p:sp>
      <p:pic>
        <p:nvPicPr>
          <p:cNvPr id="11" name="Image 11"/>
          <p:cNvPicPr>
            <a:picLocks noChangeAspect="1"/>
          </p:cNvPicPr>
          <p:nvPr/>
        </p:nvPicPr>
        <p:blipFill>
          <a:blip r:embed="rId2"/>
          <a:stretch>
            <a:fillRect/>
          </a:stretch>
        </p:blipFill>
        <p:spPr>
          <a:xfrm>
            <a:off x="685800" y="1143000"/>
            <a:ext cx="4969192" cy="5219700"/>
          </a:xfrm>
          <a:prstGeom prst="rect">
            <a:avLst/>
          </a:prstGeom>
        </p:spPr>
      </p:pic>
      <p:sp>
        <p:nvSpPr>
          <p:cNvPr id="12" name="Rectangle 12"/>
          <p:cNvSpPr/>
          <p:nvPr/>
        </p:nvSpPr>
        <p:spPr>
          <a:xfrm>
            <a:off x="6035992" y="1066800"/>
            <a:ext cx="5470208" cy="1581150"/>
          </a:xfrm>
          <a:prstGeom prst="roundRect">
            <a:avLst>
              <a:gd name="adj" fmla="val 4819"/>
            </a:avLst>
          </a:prstGeom>
          <a:solidFill>
            <a:srgbClr val="17222D"/>
          </a:solidFill>
          <a:ln>
            <a:noFill/>
          </a:ln>
        </p:spPr>
      </p:sp>
      <p:sp>
        <p:nvSpPr>
          <p:cNvPr id="13" name="Rectangle 13"/>
          <p:cNvSpPr/>
          <p:nvPr/>
        </p:nvSpPr>
        <p:spPr>
          <a:xfrm>
            <a:off x="6226492" y="1266825"/>
            <a:ext cx="38100" cy="180975"/>
          </a:xfrm>
          <a:prstGeom prst="roundRect">
            <a:avLst>
              <a:gd name="adj" fmla="val 50000"/>
            </a:avLst>
          </a:prstGeom>
          <a:solidFill>
            <a:srgbClr val="F07B4F"/>
          </a:solidFill>
          <a:ln>
            <a:noFill/>
          </a:ln>
        </p:spPr>
      </p:sp>
      <p:sp>
        <p:nvSpPr>
          <p:cNvPr id="14" name="TextBox 14"/>
          <p:cNvSpPr txBox="1"/>
          <p:nvPr/>
        </p:nvSpPr>
        <p:spPr>
          <a:xfrm>
            <a:off x="6343650" y="1281589"/>
            <a:ext cx="2703025"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Raw bearings (642 records)</a:t>
            </a:r>
          </a:p>
        </p:txBody>
      </p:sp>
      <p:sp>
        <p:nvSpPr>
          <p:cNvPr id="15" name="TextBox 15"/>
          <p:cNvSpPr txBox="1"/>
          <p:nvPr/>
        </p:nvSpPr>
        <p:spPr>
          <a:xfrm>
            <a:off x="6212205" y="1554956"/>
            <a:ext cx="2604897" cy="228600"/>
          </a:xfrm>
          <a:prstGeom prst="rect">
            <a:avLst/>
          </a:prstGeom>
          <a:noFill/>
          <a:ln>
            <a:noFill/>
          </a:ln>
        </p:spPr>
        <p:txBody>
          <a:bodyPr wrap="none" lIns="0" tIns="0" rIns="0" bIns="0" anchor="t" anchorCtr="0">
            <a:spAutoFit/>
          </a:bodyPr>
          <a:lstStyle/>
          <a:p>
            <a:pPr algn="l"/>
            <a:r>
              <a:rPr lang="zh-CN" sz="1125" dirty="0">
                <a:solidFill>
                  <a:srgbClr val="F2875A"/>
                </a:solidFill>
                <a:latin typeface="Arial"/>
                <a:ea typeface="Microsoft YaHei"/>
                <a:cs typeface="Arial"/>
              </a:rPr>
              <a:t>East 36.9% · north-east 27.9%</a:t>
            </a:r>
          </a:p>
        </p:txBody>
      </p:sp>
      <p:sp>
        <p:nvSpPr>
          <p:cNvPr id="16" name="TextBox 16"/>
          <p:cNvSpPr txBox="1"/>
          <p:nvPr/>
        </p:nvSpPr>
        <p:spPr>
          <a:xfrm>
            <a:off x="6212205" y="1783556"/>
            <a:ext cx="2782348"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But China lies east of most ranges</a:t>
            </a:r>
          </a:p>
        </p:txBody>
      </p:sp>
      <p:sp>
        <p:nvSpPr>
          <p:cNvPr id="17" name="Rectangle 17"/>
          <p:cNvSpPr/>
          <p:nvPr/>
        </p:nvSpPr>
        <p:spPr>
          <a:xfrm>
            <a:off x="6035992" y="2971800"/>
            <a:ext cx="5470208" cy="1581150"/>
          </a:xfrm>
          <a:prstGeom prst="roundRect">
            <a:avLst>
              <a:gd name="adj" fmla="val 4819"/>
            </a:avLst>
          </a:prstGeom>
          <a:solidFill>
            <a:srgbClr val="17222D"/>
          </a:solidFill>
          <a:ln>
            <a:noFill/>
          </a:ln>
        </p:spPr>
      </p:sp>
      <p:sp>
        <p:nvSpPr>
          <p:cNvPr id="18" name="Rectangle 18"/>
          <p:cNvSpPr/>
          <p:nvPr/>
        </p:nvSpPr>
        <p:spPr>
          <a:xfrm>
            <a:off x="6226492" y="3171825"/>
            <a:ext cx="38100" cy="180975"/>
          </a:xfrm>
          <a:prstGeom prst="roundRect">
            <a:avLst>
              <a:gd name="adj" fmla="val 50000"/>
            </a:avLst>
          </a:prstGeom>
          <a:solidFill>
            <a:srgbClr val="7D8996"/>
          </a:solidFill>
          <a:ln>
            <a:noFill/>
          </a:ln>
        </p:spPr>
      </p:sp>
      <p:sp>
        <p:nvSpPr>
          <p:cNvPr id="19" name="TextBox 19"/>
          <p:cNvSpPr txBox="1"/>
          <p:nvPr/>
        </p:nvSpPr>
        <p:spPr>
          <a:xfrm>
            <a:off x="6343650" y="3186589"/>
            <a:ext cx="2304304"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Null 1 · geography only</a:t>
            </a:r>
          </a:p>
        </p:txBody>
      </p:sp>
      <p:sp>
        <p:nvSpPr>
          <p:cNvPr id="20" name="TextBox 20"/>
          <p:cNvSpPr txBox="1"/>
          <p:nvPr/>
        </p:nvSpPr>
        <p:spPr>
          <a:xfrm>
            <a:off x="6212205" y="3459956"/>
            <a:ext cx="2713339"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East: 235 expected, 237 observed</a:t>
            </a:r>
          </a:p>
        </p:txBody>
      </p:sp>
      <p:sp>
        <p:nvSpPr>
          <p:cNvPr id="21" name="TextBox 21"/>
          <p:cNvSpPr txBox="1"/>
          <p:nvPr/>
        </p:nvSpPr>
        <p:spPr>
          <a:xfrm>
            <a:off x="6212205" y="3688556"/>
            <a:ext cx="1467898"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No sector differs</a:t>
            </a:r>
          </a:p>
        </p:txBody>
      </p:sp>
      <p:sp>
        <p:nvSpPr>
          <p:cNvPr id="22" name="Rectangle 22"/>
          <p:cNvSpPr/>
          <p:nvPr/>
        </p:nvSpPr>
        <p:spPr>
          <a:xfrm>
            <a:off x="6035992" y="4876800"/>
            <a:ext cx="5470208" cy="1581150"/>
          </a:xfrm>
          <a:prstGeom prst="roundRect">
            <a:avLst>
              <a:gd name="adj" fmla="val 4819"/>
            </a:avLst>
          </a:prstGeom>
          <a:solidFill>
            <a:srgbClr val="17222D"/>
          </a:solidFill>
          <a:ln>
            <a:noFill/>
          </a:ln>
        </p:spPr>
      </p:sp>
      <p:sp>
        <p:nvSpPr>
          <p:cNvPr id="23" name="Rectangle 23"/>
          <p:cNvSpPr/>
          <p:nvPr/>
        </p:nvSpPr>
        <p:spPr>
          <a:xfrm>
            <a:off x="6226492" y="5076825"/>
            <a:ext cx="38100" cy="180975"/>
          </a:xfrm>
          <a:prstGeom prst="roundRect">
            <a:avLst>
              <a:gd name="adj" fmla="val 50000"/>
            </a:avLst>
          </a:prstGeom>
          <a:solidFill>
            <a:srgbClr val="7DB2E3"/>
          </a:solidFill>
          <a:ln>
            <a:noFill/>
          </a:ln>
        </p:spPr>
      </p:sp>
      <p:sp>
        <p:nvSpPr>
          <p:cNvPr id="24" name="TextBox 24"/>
          <p:cNvSpPr txBox="1"/>
          <p:nvPr/>
        </p:nvSpPr>
        <p:spPr>
          <a:xfrm>
            <a:off x="6343650" y="5091589"/>
            <a:ext cx="2809614"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Null 2 · geography + birders</a:t>
            </a:r>
          </a:p>
        </p:txBody>
      </p:sp>
      <p:sp>
        <p:nvSpPr>
          <p:cNvPr id="25" name="TextBox 25"/>
          <p:cNvSpPr txBox="1"/>
          <p:nvPr/>
        </p:nvSpPr>
        <p:spPr>
          <a:xfrm>
            <a:off x="6212205" y="5364956"/>
            <a:ext cx="3278553" cy="228600"/>
          </a:xfrm>
          <a:prstGeom prst="rect">
            <a:avLst/>
          </a:prstGeom>
          <a:noFill/>
          <a:ln>
            <a:noFill/>
          </a:ln>
        </p:spPr>
        <p:txBody>
          <a:bodyPr wrap="none" lIns="0" tIns="0" rIns="0" bIns="0" anchor="t" anchorCtr="0">
            <a:spAutoFit/>
          </a:bodyPr>
          <a:lstStyle/>
          <a:p>
            <a:pPr algn="l"/>
            <a:r>
              <a:rPr lang="zh-CN" sz="1125" dirty="0">
                <a:solidFill>
                  <a:srgbClr val="7DB2E3"/>
                </a:solidFill>
                <a:latin typeface="Arial"/>
                <a:ea typeface="Microsoft YaHei"/>
                <a:cs typeface="Arial"/>
              </a:rPr>
              <a:t>Northern sectors: 40% vs 33% expected</a:t>
            </a:r>
          </a:p>
        </p:txBody>
      </p:sp>
      <p:sp>
        <p:nvSpPr>
          <p:cNvPr id="26" name="TextBox 26"/>
          <p:cNvSpPr txBox="1"/>
          <p:nvPr/>
        </p:nvSpPr>
        <p:spPr>
          <a:xfrm>
            <a:off x="6212205" y="5593556"/>
            <a:ext cx="1666708"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χ² = 26.8, P = 0.001</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USE 1</a:t>
            </a:r>
          </a:p>
        </p:txBody>
      </p:sp>
      <p:sp>
        <p:nvSpPr>
          <p:cNvPr id="4" name="TextBox 4"/>
          <p:cNvSpPr txBox="1"/>
          <p:nvPr/>
        </p:nvSpPr>
        <p:spPr>
          <a:xfrm>
            <a:off x="660082" y="600551"/>
            <a:ext cx="9205528"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Reserves look rich in new records because birders go there</a:t>
            </a:r>
          </a:p>
        </p:txBody>
      </p:sp>
      <p:sp>
        <p:nvSpPr>
          <p:cNvPr id="5" name="TextBox 5"/>
          <p:cNvSpPr txBox="1"/>
          <p:nvPr/>
        </p:nvSpPr>
        <p:spPr>
          <a:xfrm>
            <a:off x="10437952" y="340995"/>
            <a:ext cx="1079678"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SI Figs S12–S14</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5694998"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10 / 19</a:t>
            </a:r>
          </a:p>
        </p:txBody>
      </p:sp>
      <p:sp>
        <p:nvSpPr>
          <p:cNvPr id="10" name="Rectangle 10"/>
          <p:cNvSpPr/>
          <p:nvPr/>
        </p:nvSpPr>
        <p:spPr>
          <a:xfrm>
            <a:off x="590550" y="1047750"/>
            <a:ext cx="6477000" cy="4462462"/>
          </a:xfrm>
          <a:prstGeom prst="roundRect">
            <a:avLst>
              <a:gd name="adj" fmla="val 1708"/>
            </a:avLst>
          </a:prstGeom>
          <a:solidFill>
            <a:srgbClr val="FFFFFF"/>
          </a:solidFill>
          <a:ln>
            <a:noFill/>
          </a:ln>
        </p:spPr>
      </p:sp>
      <p:pic>
        <p:nvPicPr>
          <p:cNvPr id="11" name="Image 11"/>
          <p:cNvPicPr>
            <a:picLocks noChangeAspect="1"/>
          </p:cNvPicPr>
          <p:nvPr/>
        </p:nvPicPr>
        <p:blipFill>
          <a:blip r:embed="rId2"/>
          <a:stretch>
            <a:fillRect/>
          </a:stretch>
        </p:blipFill>
        <p:spPr>
          <a:xfrm>
            <a:off x="685800" y="1143000"/>
            <a:ext cx="6286500" cy="4271962"/>
          </a:xfrm>
          <a:prstGeom prst="rect">
            <a:avLst/>
          </a:prstGeom>
        </p:spPr>
      </p:pic>
      <p:sp>
        <p:nvSpPr>
          <p:cNvPr id="12" name="Rectangle 12"/>
          <p:cNvSpPr/>
          <p:nvPr/>
        </p:nvSpPr>
        <p:spPr>
          <a:xfrm>
            <a:off x="7353300" y="1066800"/>
            <a:ext cx="4152900" cy="1335405"/>
          </a:xfrm>
          <a:prstGeom prst="roundRect">
            <a:avLst>
              <a:gd name="adj" fmla="val 5706"/>
            </a:avLst>
          </a:prstGeom>
          <a:solidFill>
            <a:srgbClr val="17222D"/>
          </a:solidFill>
          <a:ln>
            <a:noFill/>
          </a:ln>
        </p:spPr>
      </p:sp>
      <p:sp>
        <p:nvSpPr>
          <p:cNvPr id="13" name="Rectangle 13"/>
          <p:cNvSpPr/>
          <p:nvPr/>
        </p:nvSpPr>
        <p:spPr>
          <a:xfrm>
            <a:off x="7543800" y="1266825"/>
            <a:ext cx="38100" cy="180975"/>
          </a:xfrm>
          <a:prstGeom prst="roundRect">
            <a:avLst>
              <a:gd name="adj" fmla="val 50000"/>
            </a:avLst>
          </a:prstGeom>
          <a:solidFill>
            <a:srgbClr val="F07B4F"/>
          </a:solidFill>
          <a:ln>
            <a:noFill/>
          </a:ln>
        </p:spPr>
      </p:sp>
      <p:sp>
        <p:nvSpPr>
          <p:cNvPr id="14" name="TextBox 14"/>
          <p:cNvSpPr txBox="1"/>
          <p:nvPr/>
        </p:nvSpPr>
        <p:spPr>
          <a:xfrm>
            <a:off x="7660958" y="1281589"/>
            <a:ext cx="3147145"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An apparent 2.5-fold enrichment</a:t>
            </a:r>
          </a:p>
        </p:txBody>
      </p:sp>
      <p:sp>
        <p:nvSpPr>
          <p:cNvPr id="15" name="TextBox 15"/>
          <p:cNvSpPr txBox="1"/>
          <p:nvPr/>
        </p:nvSpPr>
        <p:spPr>
          <a:xfrm>
            <a:off x="7529512" y="1554956"/>
            <a:ext cx="2529316"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Records inside reserves: 26.2%</a:t>
            </a:r>
          </a:p>
        </p:txBody>
      </p:sp>
      <p:sp>
        <p:nvSpPr>
          <p:cNvPr id="16" name="TextBox 16"/>
          <p:cNvSpPr txBox="1"/>
          <p:nvPr/>
        </p:nvSpPr>
        <p:spPr>
          <a:xfrm>
            <a:off x="7529512" y="1783556"/>
            <a:ext cx="2253282"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Birding effort inside: 10.8%</a:t>
            </a:r>
          </a:p>
        </p:txBody>
      </p:sp>
      <p:sp>
        <p:nvSpPr>
          <p:cNvPr id="17" name="TextBox 17"/>
          <p:cNvSpPr txBox="1"/>
          <p:nvPr/>
        </p:nvSpPr>
        <p:spPr>
          <a:xfrm>
            <a:off x="7529512" y="2012156"/>
            <a:ext cx="1885236"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Land area inside: 10.4%</a:t>
            </a:r>
          </a:p>
        </p:txBody>
      </p:sp>
      <p:sp>
        <p:nvSpPr>
          <p:cNvPr id="18" name="Rectangle 18"/>
          <p:cNvSpPr/>
          <p:nvPr/>
        </p:nvSpPr>
        <p:spPr>
          <a:xfrm>
            <a:off x="7353300" y="2726055"/>
            <a:ext cx="4152900" cy="1335405"/>
          </a:xfrm>
          <a:prstGeom prst="roundRect">
            <a:avLst>
              <a:gd name="adj" fmla="val 5706"/>
            </a:avLst>
          </a:prstGeom>
          <a:solidFill>
            <a:srgbClr val="17222D"/>
          </a:solidFill>
          <a:ln>
            <a:noFill/>
          </a:ln>
        </p:spPr>
      </p:sp>
      <p:sp>
        <p:nvSpPr>
          <p:cNvPr id="19" name="Rectangle 19"/>
          <p:cNvSpPr/>
          <p:nvPr/>
        </p:nvSpPr>
        <p:spPr>
          <a:xfrm>
            <a:off x="7543800" y="2926080"/>
            <a:ext cx="38100" cy="180975"/>
          </a:xfrm>
          <a:prstGeom prst="roundRect">
            <a:avLst>
              <a:gd name="adj" fmla="val 50000"/>
            </a:avLst>
          </a:prstGeom>
          <a:solidFill>
            <a:srgbClr val="7DB2E3"/>
          </a:solidFill>
          <a:ln>
            <a:noFill/>
          </a:ln>
        </p:spPr>
      </p:sp>
      <p:sp>
        <p:nvSpPr>
          <p:cNvPr id="20" name="TextBox 20"/>
          <p:cNvSpPr txBox="1"/>
          <p:nvPr/>
        </p:nvSpPr>
        <p:spPr>
          <a:xfrm>
            <a:off x="7660958" y="2940844"/>
            <a:ext cx="3490598"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Against where birders actually went</a:t>
            </a:r>
          </a:p>
        </p:txBody>
      </p:sp>
      <p:sp>
        <p:nvSpPr>
          <p:cNvPr id="21" name="TextBox 21"/>
          <p:cNvSpPr txBox="1"/>
          <p:nvPr/>
        </p:nvSpPr>
        <p:spPr>
          <a:xfrm>
            <a:off x="7529512" y="3214211"/>
            <a:ext cx="2540818"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Same province and year: OR 1.57</a:t>
            </a:r>
          </a:p>
        </p:txBody>
      </p:sp>
      <p:sp>
        <p:nvSpPr>
          <p:cNvPr id="22" name="TextBox 22"/>
          <p:cNvSpPr txBox="1"/>
          <p:nvPr/>
        </p:nvSpPr>
        <p:spPr>
          <a:xfrm>
            <a:off x="7529512" y="3442811"/>
            <a:ext cx="3000875" cy="228600"/>
          </a:xfrm>
          <a:prstGeom prst="rect">
            <a:avLst/>
          </a:prstGeom>
          <a:noFill/>
          <a:ln>
            <a:noFill/>
          </a:ln>
        </p:spPr>
        <p:txBody>
          <a:bodyPr wrap="none" lIns="0" tIns="0" rIns="0" bIns="0" anchor="t" anchorCtr="0">
            <a:spAutoFit/>
          </a:bodyPr>
          <a:lstStyle/>
          <a:p>
            <a:pPr algn="l"/>
            <a:r>
              <a:rPr lang="zh-CN" sz="1125" dirty="0">
                <a:solidFill>
                  <a:srgbClr val="F2875A"/>
                </a:solidFill>
                <a:latin typeface="Arial"/>
                <a:ea typeface="Microsoft YaHei"/>
                <a:cs typeface="Arial"/>
              </a:rPr>
              <a:t>Without the 2 largest reserves: 1.16</a:t>
            </a:r>
          </a:p>
        </p:txBody>
      </p:sp>
      <p:sp>
        <p:nvSpPr>
          <p:cNvPr id="23" name="TextBox 23"/>
          <p:cNvSpPr txBox="1"/>
          <p:nvPr/>
        </p:nvSpPr>
        <p:spPr>
          <a:xfrm>
            <a:off x="7529512" y="3671411"/>
            <a:ext cx="2435662" cy="228600"/>
          </a:xfrm>
          <a:prstGeom prst="rect">
            <a:avLst/>
          </a:prstGeom>
          <a:noFill/>
          <a:ln>
            <a:noFill/>
          </a:ln>
        </p:spPr>
        <p:txBody>
          <a:bodyPr wrap="none" lIns="0" tIns="0" rIns="0" bIns="0" anchor="t" anchorCtr="0">
            <a:spAutoFit/>
          </a:bodyPr>
          <a:lstStyle/>
          <a:p>
            <a:pPr algn="l"/>
            <a:r>
              <a:rPr lang="zh-CN" sz="1125" dirty="0">
                <a:solidFill>
                  <a:srgbClr val="F2875A"/>
                </a:solidFill>
                <a:latin typeface="Arial"/>
                <a:ea typeface="Microsoft YaHei"/>
                <a:cs typeface="Arial"/>
              </a:rPr>
              <a:t>Before 2013: no effect (0.97)</a:t>
            </a:r>
          </a:p>
        </p:txBody>
      </p:sp>
      <p:sp>
        <p:nvSpPr>
          <p:cNvPr id="24" name="Rectangle 24"/>
          <p:cNvSpPr/>
          <p:nvPr/>
        </p:nvSpPr>
        <p:spPr>
          <a:xfrm>
            <a:off x="7353300" y="4384358"/>
            <a:ext cx="4152900" cy="1125855"/>
          </a:xfrm>
          <a:prstGeom prst="roundRect">
            <a:avLst>
              <a:gd name="adj" fmla="val 6768"/>
            </a:avLst>
          </a:prstGeom>
          <a:solidFill>
            <a:srgbClr val="F07B4F"/>
          </a:solidFill>
          <a:ln>
            <a:noFill/>
          </a:ln>
        </p:spPr>
      </p:sp>
      <p:sp>
        <p:nvSpPr>
          <p:cNvPr id="25" name="TextBox 25"/>
          <p:cNvSpPr txBox="1"/>
          <p:nvPr/>
        </p:nvSpPr>
        <p:spPr>
          <a:xfrm>
            <a:off x="7593281" y="4611052"/>
            <a:ext cx="3672937" cy="274320"/>
          </a:xfrm>
          <a:prstGeom prst="rect">
            <a:avLst/>
          </a:prstGeom>
          <a:noFill/>
          <a:ln>
            <a:noFill/>
          </a:ln>
        </p:spPr>
        <p:txBody>
          <a:bodyPr wrap="none" lIns="0" tIns="0" rIns="0" bIns="0" anchor="t" anchorCtr="0">
            <a:spAutoFit/>
          </a:bodyPr>
          <a:lstStyle/>
          <a:p>
            <a:pPr algn="ctr"/>
            <a:r>
              <a:rPr lang="zh-CN" sz="1350" b="1" dirty="0">
                <a:solidFill>
                  <a:srgbClr val="10171F"/>
                </a:solidFill>
                <a:latin typeface="Arial"/>
                <a:ea typeface="Microsoft YaHei"/>
                <a:cs typeface="Arial"/>
              </a:rPr>
              <a:t>More records ≠ better protection</a:t>
            </a:r>
          </a:p>
        </p:txBody>
      </p:sp>
      <p:sp>
        <p:nvSpPr>
          <p:cNvPr id="26" name="TextBox 26"/>
          <p:cNvSpPr txBox="1"/>
          <p:nvPr/>
        </p:nvSpPr>
        <p:spPr>
          <a:xfrm>
            <a:off x="8103565" y="4903470"/>
            <a:ext cx="2652370" cy="243840"/>
          </a:xfrm>
          <a:prstGeom prst="rect">
            <a:avLst/>
          </a:prstGeom>
          <a:noFill/>
          <a:ln>
            <a:noFill/>
          </a:ln>
        </p:spPr>
        <p:txBody>
          <a:bodyPr wrap="none" lIns="0" tIns="0" rIns="0" bIns="0" anchor="t" anchorCtr="0">
            <a:spAutoFit/>
          </a:bodyPr>
          <a:lstStyle/>
          <a:p>
            <a:pPr algn="ctr"/>
            <a:r>
              <a:rPr lang="zh-CN" sz="1200" dirty="0">
                <a:solidFill>
                  <a:srgbClr val="2C1A10"/>
                </a:solidFill>
                <a:latin typeface="Arial"/>
                <a:ea typeface="Microsoft YaHei"/>
                <a:cs typeface="Arial"/>
              </a:rPr>
              <a:t>Record counts cannot measure</a:t>
            </a:r>
          </a:p>
        </p:txBody>
      </p:sp>
      <p:sp>
        <p:nvSpPr>
          <p:cNvPr id="27" name="TextBox 27"/>
          <p:cNvSpPr txBox="1"/>
          <p:nvPr/>
        </p:nvSpPr>
        <p:spPr>
          <a:xfrm>
            <a:off x="8369960" y="5141595"/>
            <a:ext cx="2119579" cy="243840"/>
          </a:xfrm>
          <a:prstGeom prst="rect">
            <a:avLst/>
          </a:prstGeom>
          <a:noFill/>
          <a:ln>
            <a:noFill/>
          </a:ln>
        </p:spPr>
        <p:txBody>
          <a:bodyPr wrap="none" lIns="0" tIns="0" rIns="0" bIns="0" anchor="t" anchorCtr="0">
            <a:spAutoFit/>
          </a:bodyPr>
          <a:lstStyle/>
          <a:p>
            <a:pPr algn="ctr"/>
            <a:r>
              <a:rPr lang="zh-CN" sz="1200" dirty="0">
                <a:solidFill>
                  <a:srgbClr val="2C1A10"/>
                </a:solidFill>
                <a:latin typeface="Arial"/>
                <a:ea typeface="Microsoft YaHei"/>
                <a:cs typeface="Arial"/>
              </a:rPr>
              <a:t>how well a reserve works</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USE 2</a:t>
            </a:r>
          </a:p>
        </p:txBody>
      </p:sp>
      <p:sp>
        <p:nvSpPr>
          <p:cNvPr id="4" name="TextBox 4"/>
          <p:cNvSpPr txBox="1"/>
          <p:nvPr/>
        </p:nvSpPr>
        <p:spPr>
          <a:xfrm>
            <a:off x="660082" y="600551"/>
            <a:ext cx="7073753"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Predictions can be pushed down to the county</a:t>
            </a:r>
          </a:p>
        </p:txBody>
      </p:sp>
      <p:sp>
        <p:nvSpPr>
          <p:cNvPr id="5" name="TextBox 5"/>
          <p:cNvSpPr txBox="1"/>
          <p:nvPr/>
        </p:nvSpPr>
        <p:spPr>
          <a:xfrm>
            <a:off x="10348570" y="340995"/>
            <a:ext cx="1169060"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Repository module</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6264592"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11 / 19</a:t>
            </a:r>
          </a:p>
        </p:txBody>
      </p:sp>
      <p:sp>
        <p:nvSpPr>
          <p:cNvPr id="10" name="Rectangle 10"/>
          <p:cNvSpPr/>
          <p:nvPr/>
        </p:nvSpPr>
        <p:spPr>
          <a:xfrm>
            <a:off x="590550" y="1047750"/>
            <a:ext cx="6049328" cy="5410200"/>
          </a:xfrm>
          <a:prstGeom prst="roundRect">
            <a:avLst>
              <a:gd name="adj" fmla="val 1408"/>
            </a:avLst>
          </a:prstGeom>
          <a:solidFill>
            <a:srgbClr val="FFFFFF"/>
          </a:solidFill>
          <a:ln>
            <a:noFill/>
          </a:ln>
        </p:spPr>
      </p:sp>
      <p:pic>
        <p:nvPicPr>
          <p:cNvPr id="11" name="Image 11"/>
          <p:cNvPicPr>
            <a:picLocks noChangeAspect="1"/>
          </p:cNvPicPr>
          <p:nvPr/>
        </p:nvPicPr>
        <p:blipFill>
          <a:blip r:embed="rId2"/>
          <a:stretch>
            <a:fillRect/>
          </a:stretch>
        </p:blipFill>
        <p:spPr>
          <a:xfrm>
            <a:off x="685800" y="1143000"/>
            <a:ext cx="5858828" cy="5219700"/>
          </a:xfrm>
          <a:prstGeom prst="rect">
            <a:avLst/>
          </a:prstGeom>
        </p:spPr>
      </p:pic>
      <p:sp>
        <p:nvSpPr>
          <p:cNvPr id="12" name="Rectangle 12"/>
          <p:cNvSpPr/>
          <p:nvPr/>
        </p:nvSpPr>
        <p:spPr>
          <a:xfrm>
            <a:off x="6925628" y="1066800"/>
            <a:ext cx="4580572" cy="1504950"/>
          </a:xfrm>
          <a:prstGeom prst="roundRect">
            <a:avLst>
              <a:gd name="adj" fmla="val 5063"/>
            </a:avLst>
          </a:prstGeom>
          <a:solidFill>
            <a:srgbClr val="17222D"/>
          </a:solidFill>
          <a:ln>
            <a:noFill/>
          </a:ln>
        </p:spPr>
      </p:sp>
      <p:sp>
        <p:nvSpPr>
          <p:cNvPr id="13" name="Rectangle 13"/>
          <p:cNvSpPr/>
          <p:nvPr/>
        </p:nvSpPr>
        <p:spPr>
          <a:xfrm>
            <a:off x="7116128" y="1266825"/>
            <a:ext cx="38100" cy="180975"/>
          </a:xfrm>
          <a:prstGeom prst="roundRect">
            <a:avLst>
              <a:gd name="adj" fmla="val 50000"/>
            </a:avLst>
          </a:prstGeom>
          <a:solidFill>
            <a:srgbClr val="F07B4F"/>
          </a:solidFill>
          <a:ln>
            <a:noFill/>
          </a:ln>
        </p:spPr>
      </p:sp>
      <p:sp>
        <p:nvSpPr>
          <p:cNvPr id="14" name="TextBox 14"/>
          <p:cNvSpPr txBox="1"/>
          <p:nvPr/>
        </p:nvSpPr>
        <p:spPr>
          <a:xfrm>
            <a:off x="7233285" y="1281589"/>
            <a:ext cx="979841"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Two steps</a:t>
            </a:r>
          </a:p>
        </p:txBody>
      </p:sp>
      <p:sp>
        <p:nvSpPr>
          <p:cNvPr id="15" name="TextBox 15"/>
          <p:cNvSpPr txBox="1"/>
          <p:nvPr/>
        </p:nvSpPr>
        <p:spPr>
          <a:xfrm>
            <a:off x="7101840" y="1554956"/>
            <a:ext cx="3018949"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1 Will the province get a new record?</a:t>
            </a:r>
          </a:p>
        </p:txBody>
      </p:sp>
      <p:sp>
        <p:nvSpPr>
          <p:cNvPr id="16" name="TextBox 16"/>
          <p:cNvSpPr txBox="1"/>
          <p:nvPr/>
        </p:nvSpPr>
        <p:spPr>
          <a:xfrm>
            <a:off x="7101840" y="1783556"/>
            <a:ext cx="1801439"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2 If so, which county?</a:t>
            </a:r>
          </a:p>
        </p:txBody>
      </p:sp>
      <p:sp>
        <p:nvSpPr>
          <p:cNvPr id="17" name="Rectangle 17"/>
          <p:cNvSpPr/>
          <p:nvPr/>
        </p:nvSpPr>
        <p:spPr>
          <a:xfrm>
            <a:off x="6925628" y="2895600"/>
            <a:ext cx="4580572" cy="1733550"/>
          </a:xfrm>
          <a:prstGeom prst="roundRect">
            <a:avLst>
              <a:gd name="adj" fmla="val 4396"/>
            </a:avLst>
          </a:prstGeom>
          <a:solidFill>
            <a:srgbClr val="17222D"/>
          </a:solidFill>
          <a:ln>
            <a:noFill/>
          </a:ln>
        </p:spPr>
      </p:sp>
      <p:sp>
        <p:nvSpPr>
          <p:cNvPr id="18" name="Rectangle 18"/>
          <p:cNvSpPr/>
          <p:nvPr/>
        </p:nvSpPr>
        <p:spPr>
          <a:xfrm>
            <a:off x="7116128" y="3095625"/>
            <a:ext cx="38100" cy="180975"/>
          </a:xfrm>
          <a:prstGeom prst="roundRect">
            <a:avLst>
              <a:gd name="adj" fmla="val 50000"/>
            </a:avLst>
          </a:prstGeom>
          <a:solidFill>
            <a:srgbClr val="7DB2E3"/>
          </a:solidFill>
          <a:ln>
            <a:noFill/>
          </a:ln>
        </p:spPr>
      </p:sp>
      <p:sp>
        <p:nvSpPr>
          <p:cNvPr id="19" name="TextBox 19"/>
          <p:cNvSpPr txBox="1"/>
          <p:nvPr/>
        </p:nvSpPr>
        <p:spPr>
          <a:xfrm>
            <a:off x="7233285" y="3110389"/>
            <a:ext cx="3048452"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Out-of-sample skill, 2019–2024</a:t>
            </a:r>
          </a:p>
        </p:txBody>
      </p:sp>
      <p:sp>
        <p:nvSpPr>
          <p:cNvPr id="20" name="TextBox 20"/>
          <p:cNvSpPr txBox="1"/>
          <p:nvPr/>
        </p:nvSpPr>
        <p:spPr>
          <a:xfrm>
            <a:off x="7101840" y="3383756"/>
            <a:ext cx="3173397"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Top county right 16.1% (random ≈ 1%)</a:t>
            </a:r>
          </a:p>
        </p:txBody>
      </p:sp>
      <p:sp>
        <p:nvSpPr>
          <p:cNvPr id="21" name="TextBox 21"/>
          <p:cNvSpPr txBox="1"/>
          <p:nvPr/>
        </p:nvSpPr>
        <p:spPr>
          <a:xfrm>
            <a:off x="7101840" y="3612356"/>
            <a:ext cx="2777419"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True county in the top 10%: 45.4%</a:t>
            </a:r>
          </a:p>
        </p:txBody>
      </p:sp>
      <p:sp>
        <p:nvSpPr>
          <p:cNvPr id="22" name="TextBox 22"/>
          <p:cNvSpPr txBox="1"/>
          <p:nvPr/>
        </p:nvSpPr>
        <p:spPr>
          <a:xfrm>
            <a:off x="7101840" y="3840956"/>
            <a:ext cx="2637758"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Leave one province out: 27 of 29</a:t>
            </a:r>
          </a:p>
        </p:txBody>
      </p:sp>
      <p:sp>
        <p:nvSpPr>
          <p:cNvPr id="23" name="Rectangle 23"/>
          <p:cNvSpPr/>
          <p:nvPr/>
        </p:nvSpPr>
        <p:spPr>
          <a:xfrm>
            <a:off x="6925628" y="4953000"/>
            <a:ext cx="4580572" cy="1504950"/>
          </a:xfrm>
          <a:prstGeom prst="roundRect">
            <a:avLst>
              <a:gd name="adj" fmla="val 5063"/>
            </a:avLst>
          </a:prstGeom>
          <a:solidFill>
            <a:srgbClr val="17222D"/>
          </a:solidFill>
          <a:ln>
            <a:noFill/>
          </a:ln>
        </p:spPr>
      </p:sp>
      <p:sp>
        <p:nvSpPr>
          <p:cNvPr id="24" name="Rectangle 24"/>
          <p:cNvSpPr/>
          <p:nvPr/>
        </p:nvSpPr>
        <p:spPr>
          <a:xfrm>
            <a:off x="7116128" y="5153025"/>
            <a:ext cx="38100" cy="180975"/>
          </a:xfrm>
          <a:prstGeom prst="roundRect">
            <a:avLst>
              <a:gd name="adj" fmla="val 50000"/>
            </a:avLst>
          </a:prstGeom>
          <a:solidFill>
            <a:srgbClr val="F2875A"/>
          </a:solidFill>
          <a:ln>
            <a:noFill/>
          </a:ln>
        </p:spPr>
      </p:sp>
      <p:sp>
        <p:nvSpPr>
          <p:cNvPr id="25" name="TextBox 25"/>
          <p:cNvSpPr txBox="1"/>
          <p:nvPr/>
        </p:nvSpPr>
        <p:spPr>
          <a:xfrm>
            <a:off x="7233285" y="5167789"/>
            <a:ext cx="2827379"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Birders will know these names</a:t>
            </a:r>
          </a:p>
        </p:txBody>
      </p:sp>
      <p:sp>
        <p:nvSpPr>
          <p:cNvPr id="26" name="TextBox 26"/>
          <p:cNvSpPr txBox="1"/>
          <p:nvPr/>
        </p:nvSpPr>
        <p:spPr>
          <a:xfrm>
            <a:off x="7101840" y="5441156"/>
            <a:ext cx="3152037"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Medog · Pudong (Nanhui) · Chongming</a:t>
            </a:r>
          </a:p>
        </p:txBody>
      </p:sp>
      <p:sp>
        <p:nvSpPr>
          <p:cNvPr id="27" name="TextBox 27"/>
          <p:cNvSpPr txBox="1"/>
          <p:nvPr/>
        </p:nvSpPr>
        <p:spPr>
          <a:xfrm>
            <a:off x="7101840" y="5669756"/>
            <a:ext cx="2841498"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Luoshan (Dongzhai) · Yang County</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USE 2 · SCALES</a:t>
            </a:r>
          </a:p>
        </p:txBody>
      </p:sp>
      <p:sp>
        <p:nvSpPr>
          <p:cNvPr id="4" name="TextBox 4"/>
          <p:cNvSpPr txBox="1"/>
          <p:nvPr/>
        </p:nvSpPr>
        <p:spPr>
          <a:xfrm>
            <a:off x="660082" y="600551"/>
            <a:ext cx="9982999"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Province, prefecture and county maps from one consistent model</a:t>
            </a:r>
          </a:p>
        </p:txBody>
      </p:sp>
      <p:sp>
        <p:nvSpPr>
          <p:cNvPr id="5" name="TextBox 5"/>
          <p:cNvSpPr txBox="1"/>
          <p:nvPr/>
        </p:nvSpPr>
        <p:spPr>
          <a:xfrm>
            <a:off x="10348570" y="340995"/>
            <a:ext cx="1169060"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Repository module</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6834188"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12 / 19</a:t>
            </a:r>
          </a:p>
        </p:txBody>
      </p:sp>
      <p:sp>
        <p:nvSpPr>
          <p:cNvPr id="10" name="Rectangle 10"/>
          <p:cNvSpPr/>
          <p:nvPr/>
        </p:nvSpPr>
        <p:spPr>
          <a:xfrm>
            <a:off x="1566862" y="1028700"/>
            <a:ext cx="9057322" cy="4095750"/>
          </a:xfrm>
          <a:prstGeom prst="roundRect">
            <a:avLst>
              <a:gd name="adj" fmla="val 1860"/>
            </a:avLst>
          </a:prstGeom>
          <a:solidFill>
            <a:srgbClr val="FFFFFF"/>
          </a:solidFill>
          <a:ln>
            <a:noFill/>
          </a:ln>
        </p:spPr>
      </p:sp>
      <p:pic>
        <p:nvPicPr>
          <p:cNvPr id="11" name="Image 11"/>
          <p:cNvPicPr>
            <a:picLocks noChangeAspect="1"/>
          </p:cNvPicPr>
          <p:nvPr/>
        </p:nvPicPr>
        <p:blipFill>
          <a:blip r:embed="rId2"/>
          <a:stretch>
            <a:fillRect/>
          </a:stretch>
        </p:blipFill>
        <p:spPr>
          <a:xfrm>
            <a:off x="1662112" y="1123950"/>
            <a:ext cx="8866822" cy="3905250"/>
          </a:xfrm>
          <a:prstGeom prst="rect">
            <a:avLst/>
          </a:prstGeom>
        </p:spPr>
      </p:pic>
      <p:sp>
        <p:nvSpPr>
          <p:cNvPr id="12" name="Rectangle 12"/>
          <p:cNvSpPr/>
          <p:nvPr/>
        </p:nvSpPr>
        <p:spPr>
          <a:xfrm>
            <a:off x="685800" y="5295900"/>
            <a:ext cx="5295900" cy="990600"/>
          </a:xfrm>
          <a:prstGeom prst="roundRect">
            <a:avLst>
              <a:gd name="adj" fmla="val 7692"/>
            </a:avLst>
          </a:prstGeom>
          <a:solidFill>
            <a:srgbClr val="17222D"/>
          </a:solidFill>
          <a:ln>
            <a:noFill/>
          </a:ln>
        </p:spPr>
      </p:sp>
      <p:sp>
        <p:nvSpPr>
          <p:cNvPr id="13" name="Rectangle 13"/>
          <p:cNvSpPr/>
          <p:nvPr/>
        </p:nvSpPr>
        <p:spPr>
          <a:xfrm>
            <a:off x="876300" y="5495925"/>
            <a:ext cx="38100" cy="180975"/>
          </a:xfrm>
          <a:prstGeom prst="roundRect">
            <a:avLst>
              <a:gd name="adj" fmla="val 50000"/>
            </a:avLst>
          </a:prstGeom>
          <a:solidFill>
            <a:srgbClr val="F07B4F"/>
          </a:solidFill>
          <a:ln>
            <a:noFill/>
          </a:ln>
        </p:spPr>
      </p:sp>
      <p:sp>
        <p:nvSpPr>
          <p:cNvPr id="14" name="TextBox 14"/>
          <p:cNvSpPr txBox="1"/>
          <p:nvPr/>
        </p:nvSpPr>
        <p:spPr>
          <a:xfrm>
            <a:off x="993458" y="5510689"/>
            <a:ext cx="2266801"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One model, three scales</a:t>
            </a:r>
          </a:p>
        </p:txBody>
      </p:sp>
      <p:sp>
        <p:nvSpPr>
          <p:cNvPr id="15" name="TextBox 15"/>
          <p:cNvSpPr txBox="1"/>
          <p:nvPr/>
        </p:nvSpPr>
        <p:spPr>
          <a:xfrm>
            <a:off x="862012" y="5784056"/>
            <a:ext cx="3676174"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Expected records (province) × share (unit)</a:t>
            </a:r>
          </a:p>
        </p:txBody>
      </p:sp>
      <p:sp>
        <p:nvSpPr>
          <p:cNvPr id="16" name="TextBox 16"/>
          <p:cNvSpPr txBox="1"/>
          <p:nvPr/>
        </p:nvSpPr>
        <p:spPr>
          <a:xfrm>
            <a:off x="862012" y="6012656"/>
            <a:ext cx="2783991"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371 prefectures · 2,835 counties</a:t>
            </a:r>
          </a:p>
        </p:txBody>
      </p:sp>
      <p:sp>
        <p:nvSpPr>
          <p:cNvPr id="17" name="Rectangle 17"/>
          <p:cNvSpPr/>
          <p:nvPr/>
        </p:nvSpPr>
        <p:spPr>
          <a:xfrm>
            <a:off x="6210300" y="5295900"/>
            <a:ext cx="5295900" cy="990600"/>
          </a:xfrm>
          <a:prstGeom prst="roundRect">
            <a:avLst>
              <a:gd name="adj" fmla="val 7692"/>
            </a:avLst>
          </a:prstGeom>
          <a:solidFill>
            <a:srgbClr val="17222D"/>
          </a:solidFill>
          <a:ln>
            <a:noFill/>
          </a:ln>
        </p:spPr>
      </p:sp>
      <p:sp>
        <p:nvSpPr>
          <p:cNvPr id="18" name="Rectangle 18"/>
          <p:cNvSpPr/>
          <p:nvPr/>
        </p:nvSpPr>
        <p:spPr>
          <a:xfrm>
            <a:off x="6400800" y="5495925"/>
            <a:ext cx="38100" cy="180975"/>
          </a:xfrm>
          <a:prstGeom prst="roundRect">
            <a:avLst>
              <a:gd name="adj" fmla="val 50000"/>
            </a:avLst>
          </a:prstGeom>
          <a:solidFill>
            <a:srgbClr val="7DB2E3"/>
          </a:solidFill>
          <a:ln>
            <a:noFill/>
          </a:ln>
        </p:spPr>
      </p:sp>
      <p:sp>
        <p:nvSpPr>
          <p:cNvPr id="19" name="TextBox 19"/>
          <p:cNvSpPr txBox="1"/>
          <p:nvPr/>
        </p:nvSpPr>
        <p:spPr>
          <a:xfrm>
            <a:off x="6517958" y="5510689"/>
            <a:ext cx="4003803"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Change the model family: maps barely move</a:t>
            </a:r>
          </a:p>
        </p:txBody>
      </p:sp>
      <p:sp>
        <p:nvSpPr>
          <p:cNvPr id="20" name="TextBox 20"/>
          <p:cNvSpPr txBox="1"/>
          <p:nvPr/>
        </p:nvSpPr>
        <p:spPr>
          <a:xfrm>
            <a:off x="6386512" y="5784056"/>
            <a:ext cx="3285125"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Random forest / XGBoost: ρ = 0.59–0.89</a:t>
            </a:r>
          </a:p>
        </p:txBody>
      </p:sp>
      <p:sp>
        <p:nvSpPr>
          <p:cNvPr id="21" name="TextBox 21"/>
          <p:cNvSpPr txBox="1"/>
          <p:nvPr/>
        </p:nvSpPr>
        <p:spPr>
          <a:xfrm>
            <a:off x="6386512" y="6012656"/>
            <a:ext cx="3143822"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Differences sit in the low-effort west</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FUTURES</a:t>
            </a:r>
          </a:p>
        </p:txBody>
      </p:sp>
      <p:sp>
        <p:nvSpPr>
          <p:cNvPr id="4" name="TextBox 4"/>
          <p:cNvSpPr txBox="1"/>
          <p:nvPr/>
        </p:nvSpPr>
        <p:spPr>
          <a:xfrm>
            <a:off x="660082" y="600551"/>
            <a:ext cx="10785549"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Future record counts follow survey effort, not the emission scenario</a:t>
            </a:r>
          </a:p>
        </p:txBody>
      </p:sp>
      <p:sp>
        <p:nvSpPr>
          <p:cNvPr id="5" name="TextBox 5"/>
          <p:cNvSpPr txBox="1"/>
          <p:nvPr/>
        </p:nvSpPr>
        <p:spPr>
          <a:xfrm>
            <a:off x="10348570" y="340995"/>
            <a:ext cx="1169060"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Repository module</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7403782"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13 / 19</a:t>
            </a:r>
          </a:p>
        </p:txBody>
      </p:sp>
      <p:sp>
        <p:nvSpPr>
          <p:cNvPr id="10" name="Line 10"/>
          <p:cNvSpPr/>
          <p:nvPr/>
        </p:nvSpPr>
        <p:spPr>
          <a:xfrm>
            <a:off x="1066800" y="5695950"/>
            <a:ext cx="6191250" cy="9525"/>
          </a:xfrm>
          <a:custGeom>
            <a:avLst/>
            <a:gdLst/>
            <a:ahLst/>
            <a:cxnLst/>
            <a:rect l="l" t="t" r="r" b="b"/>
            <a:pathLst>
              <a:path w="6191250" h="9525">
                <a:moveTo>
                  <a:pt x="0" y="0"/>
                </a:moveTo>
                <a:lnTo>
                  <a:pt x="6191250" y="0"/>
                </a:lnTo>
              </a:path>
            </a:pathLst>
          </a:custGeom>
          <a:noFill/>
          <a:ln w="9525">
            <a:solidFill>
              <a:srgbClr val="26333F"/>
            </a:solidFill>
          </a:ln>
        </p:spPr>
      </p:sp>
      <p:sp>
        <p:nvSpPr>
          <p:cNvPr id="11" name="TextBox 11"/>
          <p:cNvSpPr txBox="1"/>
          <p:nvPr/>
        </p:nvSpPr>
        <p:spPr>
          <a:xfrm>
            <a:off x="880848" y="5638324"/>
            <a:ext cx="103084" cy="198120"/>
          </a:xfrm>
          <a:prstGeom prst="rect">
            <a:avLst/>
          </a:prstGeom>
          <a:noFill/>
          <a:ln>
            <a:noFill/>
          </a:ln>
        </p:spPr>
        <p:txBody>
          <a:bodyPr wrap="none" lIns="0" tIns="0" rIns="0" bIns="0" anchor="t" anchorCtr="0">
            <a:spAutoFit/>
          </a:bodyPr>
          <a:lstStyle/>
          <a:p>
            <a:pPr algn="r"/>
            <a:r>
              <a:rPr lang="zh-CN" sz="975" dirty="0">
                <a:solidFill>
                  <a:srgbClr val="7D8996"/>
                </a:solidFill>
                <a:latin typeface="Arial"/>
                <a:ea typeface="Microsoft YaHei"/>
                <a:cs typeface="Arial"/>
              </a:rPr>
              <a:t>0</a:t>
            </a:r>
          </a:p>
        </p:txBody>
      </p:sp>
      <p:sp>
        <p:nvSpPr>
          <p:cNvPr id="12" name="Line 12"/>
          <p:cNvSpPr/>
          <p:nvPr/>
        </p:nvSpPr>
        <p:spPr>
          <a:xfrm>
            <a:off x="1066800" y="4846320"/>
            <a:ext cx="6191250" cy="9525"/>
          </a:xfrm>
          <a:custGeom>
            <a:avLst/>
            <a:gdLst/>
            <a:ahLst/>
            <a:cxnLst/>
            <a:rect l="l" t="t" r="r" b="b"/>
            <a:pathLst>
              <a:path w="6191250" h="9525">
                <a:moveTo>
                  <a:pt x="0" y="0"/>
                </a:moveTo>
                <a:lnTo>
                  <a:pt x="6191250" y="0"/>
                </a:lnTo>
              </a:path>
            </a:pathLst>
          </a:custGeom>
          <a:noFill/>
          <a:ln w="9525">
            <a:solidFill>
              <a:srgbClr val="26333F"/>
            </a:solidFill>
          </a:ln>
        </p:spPr>
      </p:sp>
      <p:sp>
        <p:nvSpPr>
          <p:cNvPr id="13" name="TextBox 13"/>
          <p:cNvSpPr txBox="1"/>
          <p:nvPr/>
        </p:nvSpPr>
        <p:spPr>
          <a:xfrm>
            <a:off x="802529" y="4788694"/>
            <a:ext cx="181404" cy="198120"/>
          </a:xfrm>
          <a:prstGeom prst="rect">
            <a:avLst/>
          </a:prstGeom>
          <a:noFill/>
          <a:ln>
            <a:noFill/>
          </a:ln>
        </p:spPr>
        <p:txBody>
          <a:bodyPr wrap="none" lIns="0" tIns="0" rIns="0" bIns="0" anchor="t" anchorCtr="0">
            <a:spAutoFit/>
          </a:bodyPr>
          <a:lstStyle/>
          <a:p>
            <a:pPr algn="r"/>
            <a:r>
              <a:rPr lang="zh-CN" sz="975" dirty="0">
                <a:solidFill>
                  <a:srgbClr val="7D8996"/>
                </a:solidFill>
                <a:latin typeface="Arial"/>
                <a:ea typeface="Microsoft YaHei"/>
                <a:cs typeface="Arial"/>
              </a:rPr>
              <a:t>20</a:t>
            </a:r>
          </a:p>
        </p:txBody>
      </p:sp>
      <p:sp>
        <p:nvSpPr>
          <p:cNvPr id="14" name="Line 14"/>
          <p:cNvSpPr/>
          <p:nvPr/>
        </p:nvSpPr>
        <p:spPr>
          <a:xfrm>
            <a:off x="1066800" y="3996690"/>
            <a:ext cx="6191250" cy="9525"/>
          </a:xfrm>
          <a:custGeom>
            <a:avLst/>
            <a:gdLst/>
            <a:ahLst/>
            <a:cxnLst/>
            <a:rect l="l" t="t" r="r" b="b"/>
            <a:pathLst>
              <a:path w="6191250" h="9525">
                <a:moveTo>
                  <a:pt x="0" y="0"/>
                </a:moveTo>
                <a:lnTo>
                  <a:pt x="6191250" y="0"/>
                </a:lnTo>
              </a:path>
            </a:pathLst>
          </a:custGeom>
          <a:noFill/>
          <a:ln w="9525">
            <a:solidFill>
              <a:srgbClr val="26333F"/>
            </a:solidFill>
          </a:ln>
        </p:spPr>
      </p:sp>
      <p:sp>
        <p:nvSpPr>
          <p:cNvPr id="15" name="TextBox 15"/>
          <p:cNvSpPr txBox="1"/>
          <p:nvPr/>
        </p:nvSpPr>
        <p:spPr>
          <a:xfrm>
            <a:off x="802529" y="3939064"/>
            <a:ext cx="181404" cy="198120"/>
          </a:xfrm>
          <a:prstGeom prst="rect">
            <a:avLst/>
          </a:prstGeom>
          <a:noFill/>
          <a:ln>
            <a:noFill/>
          </a:ln>
        </p:spPr>
        <p:txBody>
          <a:bodyPr wrap="none" lIns="0" tIns="0" rIns="0" bIns="0" anchor="t" anchorCtr="0">
            <a:spAutoFit/>
          </a:bodyPr>
          <a:lstStyle/>
          <a:p>
            <a:pPr algn="r"/>
            <a:r>
              <a:rPr lang="zh-CN" sz="975" dirty="0">
                <a:solidFill>
                  <a:srgbClr val="7D8996"/>
                </a:solidFill>
                <a:latin typeface="Arial"/>
                <a:ea typeface="Microsoft YaHei"/>
                <a:cs typeface="Arial"/>
              </a:rPr>
              <a:t>40</a:t>
            </a:r>
          </a:p>
        </p:txBody>
      </p:sp>
      <p:sp>
        <p:nvSpPr>
          <p:cNvPr id="16" name="Line 16"/>
          <p:cNvSpPr/>
          <p:nvPr/>
        </p:nvSpPr>
        <p:spPr>
          <a:xfrm>
            <a:off x="1066800" y="3147060"/>
            <a:ext cx="6191250" cy="9525"/>
          </a:xfrm>
          <a:custGeom>
            <a:avLst/>
            <a:gdLst/>
            <a:ahLst/>
            <a:cxnLst/>
            <a:rect l="l" t="t" r="r" b="b"/>
            <a:pathLst>
              <a:path w="6191250" h="9525">
                <a:moveTo>
                  <a:pt x="0" y="0"/>
                </a:moveTo>
                <a:lnTo>
                  <a:pt x="6191250" y="0"/>
                </a:lnTo>
              </a:path>
            </a:pathLst>
          </a:custGeom>
          <a:noFill/>
          <a:ln w="9525">
            <a:solidFill>
              <a:srgbClr val="26333F"/>
            </a:solidFill>
          </a:ln>
        </p:spPr>
      </p:sp>
      <p:sp>
        <p:nvSpPr>
          <p:cNvPr id="17" name="TextBox 17"/>
          <p:cNvSpPr txBox="1"/>
          <p:nvPr/>
        </p:nvSpPr>
        <p:spPr>
          <a:xfrm>
            <a:off x="802529" y="3089434"/>
            <a:ext cx="181404" cy="198120"/>
          </a:xfrm>
          <a:prstGeom prst="rect">
            <a:avLst/>
          </a:prstGeom>
          <a:noFill/>
          <a:ln>
            <a:noFill/>
          </a:ln>
        </p:spPr>
        <p:txBody>
          <a:bodyPr wrap="none" lIns="0" tIns="0" rIns="0" bIns="0" anchor="t" anchorCtr="0">
            <a:spAutoFit/>
          </a:bodyPr>
          <a:lstStyle/>
          <a:p>
            <a:pPr algn="r"/>
            <a:r>
              <a:rPr lang="zh-CN" sz="975" dirty="0">
                <a:solidFill>
                  <a:srgbClr val="7D8996"/>
                </a:solidFill>
                <a:latin typeface="Arial"/>
                <a:ea typeface="Microsoft YaHei"/>
                <a:cs typeface="Arial"/>
              </a:rPr>
              <a:t>60</a:t>
            </a:r>
          </a:p>
        </p:txBody>
      </p:sp>
      <p:sp>
        <p:nvSpPr>
          <p:cNvPr id="18" name="Line 18"/>
          <p:cNvSpPr/>
          <p:nvPr/>
        </p:nvSpPr>
        <p:spPr>
          <a:xfrm>
            <a:off x="1066800" y="2297430"/>
            <a:ext cx="6191250" cy="9525"/>
          </a:xfrm>
          <a:custGeom>
            <a:avLst/>
            <a:gdLst/>
            <a:ahLst/>
            <a:cxnLst/>
            <a:rect l="l" t="t" r="r" b="b"/>
            <a:pathLst>
              <a:path w="6191250" h="9525">
                <a:moveTo>
                  <a:pt x="0" y="0"/>
                </a:moveTo>
                <a:lnTo>
                  <a:pt x="6191250" y="0"/>
                </a:lnTo>
              </a:path>
            </a:pathLst>
          </a:custGeom>
          <a:noFill/>
          <a:ln w="9525">
            <a:solidFill>
              <a:srgbClr val="26333F"/>
            </a:solidFill>
          </a:ln>
        </p:spPr>
      </p:sp>
      <p:sp>
        <p:nvSpPr>
          <p:cNvPr id="19" name="TextBox 19"/>
          <p:cNvSpPr txBox="1"/>
          <p:nvPr/>
        </p:nvSpPr>
        <p:spPr>
          <a:xfrm>
            <a:off x="802529" y="2239804"/>
            <a:ext cx="181404" cy="198120"/>
          </a:xfrm>
          <a:prstGeom prst="rect">
            <a:avLst/>
          </a:prstGeom>
          <a:noFill/>
          <a:ln>
            <a:noFill/>
          </a:ln>
        </p:spPr>
        <p:txBody>
          <a:bodyPr wrap="none" lIns="0" tIns="0" rIns="0" bIns="0" anchor="t" anchorCtr="0">
            <a:spAutoFit/>
          </a:bodyPr>
          <a:lstStyle/>
          <a:p>
            <a:pPr algn="r"/>
            <a:r>
              <a:rPr lang="zh-CN" sz="975" dirty="0">
                <a:solidFill>
                  <a:srgbClr val="7D8996"/>
                </a:solidFill>
                <a:latin typeface="Arial"/>
                <a:ea typeface="Microsoft YaHei"/>
                <a:cs typeface="Arial"/>
              </a:rPr>
              <a:t>80</a:t>
            </a:r>
          </a:p>
        </p:txBody>
      </p:sp>
      <p:sp>
        <p:nvSpPr>
          <p:cNvPr id="20" name="Line 20"/>
          <p:cNvSpPr/>
          <p:nvPr/>
        </p:nvSpPr>
        <p:spPr>
          <a:xfrm>
            <a:off x="1066800" y="1447800"/>
            <a:ext cx="6191250" cy="9525"/>
          </a:xfrm>
          <a:custGeom>
            <a:avLst/>
            <a:gdLst/>
            <a:ahLst/>
            <a:cxnLst/>
            <a:rect l="l" t="t" r="r" b="b"/>
            <a:pathLst>
              <a:path w="6191250" h="9525">
                <a:moveTo>
                  <a:pt x="0" y="0"/>
                </a:moveTo>
                <a:lnTo>
                  <a:pt x="6191250" y="0"/>
                </a:lnTo>
              </a:path>
            </a:pathLst>
          </a:custGeom>
          <a:noFill/>
          <a:ln w="9525">
            <a:solidFill>
              <a:srgbClr val="26333F"/>
            </a:solidFill>
          </a:ln>
        </p:spPr>
      </p:sp>
      <p:sp>
        <p:nvSpPr>
          <p:cNvPr id="21" name="TextBox 21"/>
          <p:cNvSpPr txBox="1"/>
          <p:nvPr/>
        </p:nvSpPr>
        <p:spPr>
          <a:xfrm>
            <a:off x="724210" y="1390174"/>
            <a:ext cx="259723" cy="198120"/>
          </a:xfrm>
          <a:prstGeom prst="rect">
            <a:avLst/>
          </a:prstGeom>
          <a:noFill/>
          <a:ln>
            <a:noFill/>
          </a:ln>
        </p:spPr>
        <p:txBody>
          <a:bodyPr wrap="none" lIns="0" tIns="0" rIns="0" bIns="0" anchor="t" anchorCtr="0">
            <a:spAutoFit/>
          </a:bodyPr>
          <a:lstStyle/>
          <a:p>
            <a:pPr algn="r"/>
            <a:r>
              <a:rPr lang="zh-CN" sz="975" dirty="0">
                <a:solidFill>
                  <a:srgbClr val="7D8996"/>
                </a:solidFill>
                <a:latin typeface="Arial"/>
                <a:ea typeface="Microsoft YaHei"/>
                <a:cs typeface="Arial"/>
              </a:rPr>
              <a:t>100</a:t>
            </a:r>
          </a:p>
        </p:txBody>
      </p:sp>
      <p:sp>
        <p:nvSpPr>
          <p:cNvPr id="22" name="TextBox 22"/>
          <p:cNvSpPr txBox="1"/>
          <p:nvPr/>
        </p:nvSpPr>
        <p:spPr>
          <a:xfrm>
            <a:off x="671512" y="1078706"/>
            <a:ext cx="2397214" cy="228600"/>
          </a:xfrm>
          <a:prstGeom prst="rect">
            <a:avLst/>
          </a:prstGeom>
          <a:noFill/>
          <a:ln>
            <a:noFill/>
          </a:ln>
        </p:spPr>
        <p:txBody>
          <a:bodyPr wrap="none" lIns="0" tIns="0" rIns="0" bIns="0" anchor="t" anchorCtr="0">
            <a:spAutoFit/>
          </a:bodyPr>
          <a:lstStyle/>
          <a:p>
            <a:pPr algn="l"/>
            <a:r>
              <a:rPr lang="zh-CN" sz="1125" b="1" dirty="0">
                <a:solidFill>
                  <a:srgbClr val="EEF2F6"/>
                </a:solidFill>
                <a:latin typeface="Arial"/>
                <a:ea typeface="Microsoft YaHei"/>
                <a:cs typeface="Arial"/>
              </a:rPr>
              <a:t>New records per year, China</a:t>
            </a:r>
          </a:p>
        </p:txBody>
      </p:sp>
      <p:sp>
        <p:nvSpPr>
          <p:cNvPr id="23" name="Rectangle 23"/>
          <p:cNvSpPr/>
          <p:nvPr/>
        </p:nvSpPr>
        <p:spPr>
          <a:xfrm>
            <a:off x="1361122" y="4589145"/>
            <a:ext cx="449580" cy="1106805"/>
          </a:xfrm>
          <a:prstGeom prst="roundRect">
            <a:avLst>
              <a:gd name="adj" fmla="val 4237"/>
            </a:avLst>
          </a:prstGeom>
          <a:solidFill>
            <a:srgbClr val="F8BDA4"/>
          </a:solidFill>
          <a:ln>
            <a:noFill/>
          </a:ln>
        </p:spPr>
      </p:sp>
      <p:sp>
        <p:nvSpPr>
          <p:cNvPr id="24" name="TextBox 24"/>
          <p:cNvSpPr txBox="1"/>
          <p:nvPr/>
        </p:nvSpPr>
        <p:spPr>
          <a:xfrm>
            <a:off x="1415713" y="4399598"/>
            <a:ext cx="340399" cy="213360"/>
          </a:xfrm>
          <a:prstGeom prst="rect">
            <a:avLst/>
          </a:prstGeom>
          <a:noFill/>
          <a:ln>
            <a:noFill/>
          </a:ln>
        </p:spPr>
        <p:txBody>
          <a:bodyPr wrap="none" lIns="0" tIns="0" rIns="0" bIns="0" anchor="t" anchorCtr="0">
            <a:spAutoFit/>
          </a:bodyPr>
          <a:lstStyle/>
          <a:p>
            <a:pPr algn="ctr"/>
            <a:r>
              <a:rPr lang="zh-CN" sz="1050" b="1" dirty="0">
                <a:solidFill>
                  <a:srgbClr val="EEF2F6"/>
                </a:solidFill>
                <a:latin typeface="Arial"/>
                <a:ea typeface="Microsoft YaHei"/>
                <a:cs typeface="Arial"/>
              </a:rPr>
              <a:t>26.1</a:t>
            </a:r>
          </a:p>
        </p:txBody>
      </p:sp>
      <p:sp>
        <p:nvSpPr>
          <p:cNvPr id="25" name="Rectangle 25"/>
          <p:cNvSpPr/>
          <p:nvPr/>
        </p:nvSpPr>
        <p:spPr>
          <a:xfrm>
            <a:off x="1868805" y="4597718"/>
            <a:ext cx="449580" cy="1098232"/>
          </a:xfrm>
          <a:prstGeom prst="roundRect">
            <a:avLst>
              <a:gd name="adj" fmla="val 4237"/>
            </a:avLst>
          </a:prstGeom>
          <a:solidFill>
            <a:srgbClr val="F2875A"/>
          </a:solidFill>
          <a:ln>
            <a:noFill/>
          </a:ln>
        </p:spPr>
      </p:sp>
      <p:sp>
        <p:nvSpPr>
          <p:cNvPr id="26" name="TextBox 26"/>
          <p:cNvSpPr txBox="1"/>
          <p:nvPr/>
        </p:nvSpPr>
        <p:spPr>
          <a:xfrm>
            <a:off x="1923396" y="4408170"/>
            <a:ext cx="340399" cy="213360"/>
          </a:xfrm>
          <a:prstGeom prst="rect">
            <a:avLst/>
          </a:prstGeom>
          <a:noFill/>
          <a:ln>
            <a:noFill/>
          </a:ln>
        </p:spPr>
        <p:txBody>
          <a:bodyPr wrap="none" lIns="0" tIns="0" rIns="0" bIns="0" anchor="t" anchorCtr="0">
            <a:spAutoFit/>
          </a:bodyPr>
          <a:lstStyle/>
          <a:p>
            <a:pPr algn="ctr"/>
            <a:r>
              <a:rPr lang="zh-CN" sz="1050" b="1" dirty="0">
                <a:solidFill>
                  <a:srgbClr val="EEF2F6"/>
                </a:solidFill>
                <a:latin typeface="Arial"/>
                <a:ea typeface="Microsoft YaHei"/>
                <a:cs typeface="Arial"/>
              </a:rPr>
              <a:t>25.9</a:t>
            </a:r>
          </a:p>
        </p:txBody>
      </p:sp>
      <p:sp>
        <p:nvSpPr>
          <p:cNvPr id="27" name="TextBox 27"/>
          <p:cNvSpPr txBox="1"/>
          <p:nvPr/>
        </p:nvSpPr>
        <p:spPr>
          <a:xfrm>
            <a:off x="1648086" y="5811202"/>
            <a:ext cx="384288" cy="213360"/>
          </a:xfrm>
          <a:prstGeom prst="rect">
            <a:avLst/>
          </a:prstGeom>
          <a:noFill/>
          <a:ln>
            <a:noFill/>
          </a:ln>
        </p:spPr>
        <p:txBody>
          <a:bodyPr wrap="none" lIns="0" tIns="0" rIns="0" bIns="0" anchor="t" anchorCtr="0">
            <a:spAutoFit/>
          </a:bodyPr>
          <a:lstStyle/>
          <a:p>
            <a:pPr algn="ctr"/>
            <a:r>
              <a:rPr lang="zh-CN" sz="1050" b="1" dirty="0">
                <a:solidFill>
                  <a:srgbClr val="EEF2F6"/>
                </a:solidFill>
                <a:latin typeface="Arial"/>
                <a:ea typeface="Microsoft YaHei"/>
                <a:cs typeface="Arial"/>
              </a:rPr>
              <a:t>2030</a:t>
            </a:r>
          </a:p>
        </p:txBody>
      </p:sp>
      <p:sp>
        <p:nvSpPr>
          <p:cNvPr id="28" name="TextBox 28"/>
          <p:cNvSpPr txBox="1"/>
          <p:nvPr/>
        </p:nvSpPr>
        <p:spPr>
          <a:xfrm>
            <a:off x="1326604" y="6009799"/>
            <a:ext cx="1027252" cy="198120"/>
          </a:xfrm>
          <a:prstGeom prst="rect">
            <a:avLst/>
          </a:prstGeom>
          <a:noFill/>
          <a:ln>
            <a:noFill/>
          </a:ln>
        </p:spPr>
        <p:txBody>
          <a:bodyPr wrap="none" lIns="0" tIns="0" rIns="0" bIns="0" anchor="t" anchorCtr="0">
            <a:spAutoFit/>
          </a:bodyPr>
          <a:lstStyle/>
          <a:p>
            <a:pPr algn="ctr"/>
            <a:r>
              <a:rPr lang="zh-CN" sz="975" dirty="0">
                <a:solidFill>
                  <a:srgbClr val="B4BECA"/>
                </a:solidFill>
                <a:latin typeface="Arial"/>
                <a:ea typeface="Microsoft YaHei"/>
                <a:cs typeface="Arial"/>
              </a:rPr>
              <a:t>frozen effort</a:t>
            </a:r>
          </a:p>
        </p:txBody>
      </p:sp>
      <p:sp>
        <p:nvSpPr>
          <p:cNvPr id="29" name="TextBox 29"/>
          <p:cNvSpPr txBox="1"/>
          <p:nvPr/>
        </p:nvSpPr>
        <p:spPr>
          <a:xfrm>
            <a:off x="1207722" y="6198870"/>
            <a:ext cx="1265015" cy="182880"/>
          </a:xfrm>
          <a:prstGeom prst="rect">
            <a:avLst/>
          </a:prstGeom>
          <a:noFill/>
          <a:ln>
            <a:noFill/>
          </a:ln>
        </p:spPr>
        <p:txBody>
          <a:bodyPr wrap="none" lIns="0" tIns="0" rIns="0" bIns="0" anchor="t" anchorCtr="0">
            <a:spAutoFit/>
          </a:bodyPr>
          <a:lstStyle/>
          <a:p>
            <a:pPr algn="ctr"/>
            <a:r>
              <a:rPr lang="zh-CN" sz="900" dirty="0">
                <a:solidFill>
                  <a:srgbClr val="7D8996"/>
                </a:solidFill>
                <a:latin typeface="Arial"/>
                <a:ea typeface="Microsoft YaHei"/>
                <a:cs typeface="Arial"/>
              </a:rPr>
              <a:t>50–53% in support</a:t>
            </a:r>
          </a:p>
        </p:txBody>
      </p:sp>
      <p:sp>
        <p:nvSpPr>
          <p:cNvPr id="30" name="Rectangle 30"/>
          <p:cNvSpPr/>
          <p:nvPr/>
        </p:nvSpPr>
        <p:spPr>
          <a:xfrm>
            <a:off x="2861310" y="4384358"/>
            <a:ext cx="449580" cy="1311592"/>
          </a:xfrm>
          <a:prstGeom prst="roundRect">
            <a:avLst>
              <a:gd name="adj" fmla="val 4237"/>
            </a:avLst>
          </a:prstGeom>
          <a:solidFill>
            <a:srgbClr val="F8BDA4"/>
          </a:solidFill>
          <a:ln>
            <a:noFill/>
          </a:ln>
        </p:spPr>
      </p:sp>
      <p:sp>
        <p:nvSpPr>
          <p:cNvPr id="31" name="TextBox 31"/>
          <p:cNvSpPr txBox="1"/>
          <p:nvPr/>
        </p:nvSpPr>
        <p:spPr>
          <a:xfrm>
            <a:off x="2915901" y="4194810"/>
            <a:ext cx="340399" cy="213360"/>
          </a:xfrm>
          <a:prstGeom prst="rect">
            <a:avLst/>
          </a:prstGeom>
          <a:noFill/>
          <a:ln>
            <a:noFill/>
          </a:ln>
        </p:spPr>
        <p:txBody>
          <a:bodyPr wrap="none" lIns="0" tIns="0" rIns="0" bIns="0" anchor="t" anchorCtr="0">
            <a:spAutoFit/>
          </a:bodyPr>
          <a:lstStyle/>
          <a:p>
            <a:pPr algn="ctr"/>
            <a:r>
              <a:rPr lang="zh-CN" sz="1050" b="1" dirty="0">
                <a:solidFill>
                  <a:srgbClr val="EEF2F6"/>
                </a:solidFill>
                <a:latin typeface="Arial"/>
                <a:ea typeface="Microsoft YaHei"/>
                <a:cs typeface="Arial"/>
              </a:rPr>
              <a:t>30.9</a:t>
            </a:r>
          </a:p>
        </p:txBody>
      </p:sp>
      <p:sp>
        <p:nvSpPr>
          <p:cNvPr id="32" name="Rectangle 32"/>
          <p:cNvSpPr/>
          <p:nvPr/>
        </p:nvSpPr>
        <p:spPr>
          <a:xfrm>
            <a:off x="3368040" y="4400550"/>
            <a:ext cx="449580" cy="1295400"/>
          </a:xfrm>
          <a:prstGeom prst="roundRect">
            <a:avLst>
              <a:gd name="adj" fmla="val 4237"/>
            </a:avLst>
          </a:prstGeom>
          <a:solidFill>
            <a:srgbClr val="F2875A"/>
          </a:solidFill>
          <a:ln>
            <a:noFill/>
          </a:ln>
        </p:spPr>
      </p:sp>
      <p:sp>
        <p:nvSpPr>
          <p:cNvPr id="33" name="TextBox 33"/>
          <p:cNvSpPr txBox="1"/>
          <p:nvPr/>
        </p:nvSpPr>
        <p:spPr>
          <a:xfrm>
            <a:off x="3423583" y="4211002"/>
            <a:ext cx="340399" cy="213360"/>
          </a:xfrm>
          <a:prstGeom prst="rect">
            <a:avLst/>
          </a:prstGeom>
          <a:noFill/>
          <a:ln>
            <a:noFill/>
          </a:ln>
        </p:spPr>
        <p:txBody>
          <a:bodyPr wrap="none" lIns="0" tIns="0" rIns="0" bIns="0" anchor="t" anchorCtr="0">
            <a:spAutoFit/>
          </a:bodyPr>
          <a:lstStyle/>
          <a:p>
            <a:pPr algn="ctr"/>
            <a:r>
              <a:rPr lang="zh-CN" sz="1050" b="1" dirty="0">
                <a:solidFill>
                  <a:srgbClr val="EEF2F6"/>
                </a:solidFill>
                <a:latin typeface="Arial"/>
                <a:ea typeface="Microsoft YaHei"/>
                <a:cs typeface="Arial"/>
              </a:rPr>
              <a:t>30.5</a:t>
            </a:r>
          </a:p>
        </p:txBody>
      </p:sp>
      <p:sp>
        <p:nvSpPr>
          <p:cNvPr id="34" name="TextBox 34"/>
          <p:cNvSpPr txBox="1"/>
          <p:nvPr/>
        </p:nvSpPr>
        <p:spPr>
          <a:xfrm>
            <a:off x="3147321" y="5811202"/>
            <a:ext cx="384288" cy="213360"/>
          </a:xfrm>
          <a:prstGeom prst="rect">
            <a:avLst/>
          </a:prstGeom>
          <a:noFill/>
          <a:ln>
            <a:noFill/>
          </a:ln>
        </p:spPr>
        <p:txBody>
          <a:bodyPr wrap="none" lIns="0" tIns="0" rIns="0" bIns="0" anchor="t" anchorCtr="0">
            <a:spAutoFit/>
          </a:bodyPr>
          <a:lstStyle/>
          <a:p>
            <a:pPr algn="ctr"/>
            <a:r>
              <a:rPr lang="zh-CN" sz="1050" b="1" dirty="0">
                <a:solidFill>
                  <a:srgbClr val="EEF2F6"/>
                </a:solidFill>
                <a:latin typeface="Arial"/>
                <a:ea typeface="Microsoft YaHei"/>
                <a:cs typeface="Arial"/>
              </a:rPr>
              <a:t>2030</a:t>
            </a:r>
          </a:p>
        </p:txBody>
      </p:sp>
      <p:sp>
        <p:nvSpPr>
          <p:cNvPr id="35" name="TextBox 35"/>
          <p:cNvSpPr txBox="1"/>
          <p:nvPr/>
        </p:nvSpPr>
        <p:spPr>
          <a:xfrm>
            <a:off x="2805903" y="6009799"/>
            <a:ext cx="1067124" cy="198120"/>
          </a:xfrm>
          <a:prstGeom prst="rect">
            <a:avLst/>
          </a:prstGeom>
          <a:noFill/>
          <a:ln>
            <a:noFill/>
          </a:ln>
        </p:spPr>
        <p:txBody>
          <a:bodyPr wrap="none" lIns="0" tIns="0" rIns="0" bIns="0" anchor="t" anchorCtr="0">
            <a:spAutoFit/>
          </a:bodyPr>
          <a:lstStyle/>
          <a:p>
            <a:pPr algn="ctr"/>
            <a:r>
              <a:rPr lang="zh-CN" sz="975" dirty="0">
                <a:solidFill>
                  <a:srgbClr val="B4BECA"/>
                </a:solidFill>
                <a:latin typeface="Arial"/>
                <a:ea typeface="Microsoft YaHei"/>
                <a:cs typeface="Arial"/>
              </a:rPr>
              <a:t>growing effort</a:t>
            </a:r>
          </a:p>
        </p:txBody>
      </p:sp>
      <p:sp>
        <p:nvSpPr>
          <p:cNvPr id="36" name="TextBox 36"/>
          <p:cNvSpPr txBox="1"/>
          <p:nvPr/>
        </p:nvSpPr>
        <p:spPr>
          <a:xfrm>
            <a:off x="2706957" y="6198870"/>
            <a:ext cx="1265015" cy="182880"/>
          </a:xfrm>
          <a:prstGeom prst="rect">
            <a:avLst/>
          </a:prstGeom>
          <a:noFill/>
          <a:ln>
            <a:noFill/>
          </a:ln>
        </p:spPr>
        <p:txBody>
          <a:bodyPr wrap="none" lIns="0" tIns="0" rIns="0" bIns="0" anchor="t" anchorCtr="0">
            <a:spAutoFit/>
          </a:bodyPr>
          <a:lstStyle/>
          <a:p>
            <a:pPr algn="ctr"/>
            <a:r>
              <a:rPr lang="zh-CN" sz="900" dirty="0">
                <a:solidFill>
                  <a:srgbClr val="7D8996"/>
                </a:solidFill>
                <a:latin typeface="Arial"/>
                <a:ea typeface="Microsoft YaHei"/>
                <a:cs typeface="Arial"/>
              </a:rPr>
              <a:t>30–33% in support</a:t>
            </a:r>
          </a:p>
        </p:txBody>
      </p:sp>
      <p:sp>
        <p:nvSpPr>
          <p:cNvPr id="37" name="Rectangle 37"/>
          <p:cNvSpPr/>
          <p:nvPr/>
        </p:nvSpPr>
        <p:spPr>
          <a:xfrm>
            <a:off x="4361498" y="4556760"/>
            <a:ext cx="449580" cy="1139190"/>
          </a:xfrm>
          <a:prstGeom prst="roundRect">
            <a:avLst>
              <a:gd name="adj" fmla="val 4237"/>
            </a:avLst>
          </a:prstGeom>
          <a:solidFill>
            <a:srgbClr val="F8BDA4"/>
          </a:solidFill>
          <a:ln>
            <a:noFill/>
          </a:ln>
        </p:spPr>
      </p:sp>
      <p:sp>
        <p:nvSpPr>
          <p:cNvPr id="38" name="TextBox 38"/>
          <p:cNvSpPr txBox="1"/>
          <p:nvPr/>
        </p:nvSpPr>
        <p:spPr>
          <a:xfrm>
            <a:off x="4416088" y="4367212"/>
            <a:ext cx="340399" cy="213360"/>
          </a:xfrm>
          <a:prstGeom prst="rect">
            <a:avLst/>
          </a:prstGeom>
          <a:noFill/>
          <a:ln>
            <a:noFill/>
          </a:ln>
        </p:spPr>
        <p:txBody>
          <a:bodyPr wrap="none" lIns="0" tIns="0" rIns="0" bIns="0" anchor="t" anchorCtr="0">
            <a:spAutoFit/>
          </a:bodyPr>
          <a:lstStyle/>
          <a:p>
            <a:pPr algn="ctr"/>
            <a:r>
              <a:rPr lang="zh-CN" sz="1050" b="1" dirty="0">
                <a:solidFill>
                  <a:srgbClr val="EEF2F6"/>
                </a:solidFill>
                <a:latin typeface="Arial"/>
                <a:ea typeface="Microsoft YaHei"/>
                <a:cs typeface="Arial"/>
              </a:rPr>
              <a:t>26.8</a:t>
            </a:r>
          </a:p>
        </p:txBody>
      </p:sp>
      <p:sp>
        <p:nvSpPr>
          <p:cNvPr id="39" name="Rectangle 39"/>
          <p:cNvSpPr/>
          <p:nvPr/>
        </p:nvSpPr>
        <p:spPr>
          <a:xfrm>
            <a:off x="4868228" y="4551045"/>
            <a:ext cx="449580" cy="1144905"/>
          </a:xfrm>
          <a:prstGeom prst="roundRect">
            <a:avLst>
              <a:gd name="adj" fmla="val 4237"/>
            </a:avLst>
          </a:prstGeom>
          <a:solidFill>
            <a:srgbClr val="F2875A"/>
          </a:solidFill>
          <a:ln>
            <a:noFill/>
          </a:ln>
        </p:spPr>
      </p:sp>
      <p:sp>
        <p:nvSpPr>
          <p:cNvPr id="40" name="TextBox 40"/>
          <p:cNvSpPr txBox="1"/>
          <p:nvPr/>
        </p:nvSpPr>
        <p:spPr>
          <a:xfrm>
            <a:off x="4923771" y="4361498"/>
            <a:ext cx="340399" cy="213360"/>
          </a:xfrm>
          <a:prstGeom prst="rect">
            <a:avLst/>
          </a:prstGeom>
          <a:noFill/>
          <a:ln>
            <a:noFill/>
          </a:ln>
        </p:spPr>
        <p:txBody>
          <a:bodyPr wrap="none" lIns="0" tIns="0" rIns="0" bIns="0" anchor="t" anchorCtr="0">
            <a:spAutoFit/>
          </a:bodyPr>
          <a:lstStyle/>
          <a:p>
            <a:pPr algn="ctr"/>
            <a:r>
              <a:rPr lang="zh-CN" sz="1050" b="1" dirty="0">
                <a:solidFill>
                  <a:srgbClr val="EEF2F6"/>
                </a:solidFill>
                <a:latin typeface="Arial"/>
                <a:ea typeface="Microsoft YaHei"/>
                <a:cs typeface="Arial"/>
              </a:rPr>
              <a:t>26.9</a:t>
            </a:r>
          </a:p>
        </p:txBody>
      </p:sp>
      <p:sp>
        <p:nvSpPr>
          <p:cNvPr id="41" name="TextBox 41"/>
          <p:cNvSpPr txBox="1"/>
          <p:nvPr/>
        </p:nvSpPr>
        <p:spPr>
          <a:xfrm>
            <a:off x="4647508" y="5811202"/>
            <a:ext cx="384288" cy="213360"/>
          </a:xfrm>
          <a:prstGeom prst="rect">
            <a:avLst/>
          </a:prstGeom>
          <a:noFill/>
          <a:ln>
            <a:noFill/>
          </a:ln>
        </p:spPr>
        <p:txBody>
          <a:bodyPr wrap="none" lIns="0" tIns="0" rIns="0" bIns="0" anchor="t" anchorCtr="0">
            <a:spAutoFit/>
          </a:bodyPr>
          <a:lstStyle/>
          <a:p>
            <a:pPr algn="ctr"/>
            <a:r>
              <a:rPr lang="zh-CN" sz="1050" b="1" dirty="0">
                <a:solidFill>
                  <a:srgbClr val="EEF2F6"/>
                </a:solidFill>
                <a:latin typeface="Arial"/>
                <a:ea typeface="Microsoft YaHei"/>
                <a:cs typeface="Arial"/>
              </a:rPr>
              <a:t>2050</a:t>
            </a:r>
          </a:p>
        </p:txBody>
      </p:sp>
      <p:sp>
        <p:nvSpPr>
          <p:cNvPr id="42" name="TextBox 42"/>
          <p:cNvSpPr txBox="1"/>
          <p:nvPr/>
        </p:nvSpPr>
        <p:spPr>
          <a:xfrm>
            <a:off x="4326026" y="6009799"/>
            <a:ext cx="1027252" cy="198120"/>
          </a:xfrm>
          <a:prstGeom prst="rect">
            <a:avLst/>
          </a:prstGeom>
          <a:noFill/>
          <a:ln>
            <a:noFill/>
          </a:ln>
        </p:spPr>
        <p:txBody>
          <a:bodyPr wrap="none" lIns="0" tIns="0" rIns="0" bIns="0" anchor="t" anchorCtr="0">
            <a:spAutoFit/>
          </a:bodyPr>
          <a:lstStyle/>
          <a:p>
            <a:pPr algn="ctr"/>
            <a:r>
              <a:rPr lang="zh-CN" sz="975" dirty="0">
                <a:solidFill>
                  <a:srgbClr val="B4BECA"/>
                </a:solidFill>
                <a:latin typeface="Arial"/>
                <a:ea typeface="Microsoft YaHei"/>
                <a:cs typeface="Arial"/>
              </a:rPr>
              <a:t>frozen effort</a:t>
            </a:r>
          </a:p>
        </p:txBody>
      </p:sp>
      <p:sp>
        <p:nvSpPr>
          <p:cNvPr id="43" name="TextBox 43"/>
          <p:cNvSpPr txBox="1"/>
          <p:nvPr/>
        </p:nvSpPr>
        <p:spPr>
          <a:xfrm>
            <a:off x="4207145" y="6198870"/>
            <a:ext cx="1265015" cy="182880"/>
          </a:xfrm>
          <a:prstGeom prst="rect">
            <a:avLst/>
          </a:prstGeom>
          <a:noFill/>
          <a:ln>
            <a:noFill/>
          </a:ln>
        </p:spPr>
        <p:txBody>
          <a:bodyPr wrap="none" lIns="0" tIns="0" rIns="0" bIns="0" anchor="t" anchorCtr="0">
            <a:spAutoFit/>
          </a:bodyPr>
          <a:lstStyle/>
          <a:p>
            <a:pPr algn="ctr"/>
            <a:r>
              <a:rPr lang="zh-CN" sz="900" dirty="0">
                <a:solidFill>
                  <a:srgbClr val="7D8996"/>
                </a:solidFill>
                <a:latin typeface="Arial"/>
                <a:ea typeface="Microsoft YaHei"/>
                <a:cs typeface="Arial"/>
              </a:rPr>
              <a:t>38–43% in support</a:t>
            </a:r>
          </a:p>
        </p:txBody>
      </p:sp>
      <p:sp>
        <p:nvSpPr>
          <p:cNvPr id="44" name="Rectangle 44"/>
          <p:cNvSpPr/>
          <p:nvPr/>
        </p:nvSpPr>
        <p:spPr>
          <a:xfrm>
            <a:off x="5861685" y="2328862"/>
            <a:ext cx="449580" cy="3367088"/>
          </a:xfrm>
          <a:prstGeom prst="roundRect">
            <a:avLst>
              <a:gd name="adj" fmla="val 4237"/>
            </a:avLst>
          </a:prstGeom>
          <a:solidFill>
            <a:srgbClr val="F8BDA4">
              <a:alpha val="45000"/>
            </a:srgbClr>
          </a:solidFill>
          <a:ln>
            <a:noFill/>
          </a:ln>
        </p:spPr>
      </p:sp>
      <p:sp>
        <p:nvSpPr>
          <p:cNvPr id="45" name="TextBox 45"/>
          <p:cNvSpPr txBox="1"/>
          <p:nvPr/>
        </p:nvSpPr>
        <p:spPr>
          <a:xfrm>
            <a:off x="5916276" y="2139315"/>
            <a:ext cx="340399" cy="213360"/>
          </a:xfrm>
          <a:prstGeom prst="rect">
            <a:avLst/>
          </a:prstGeom>
          <a:noFill/>
          <a:ln>
            <a:noFill/>
          </a:ln>
        </p:spPr>
        <p:txBody>
          <a:bodyPr wrap="none" lIns="0" tIns="0" rIns="0" bIns="0" anchor="t" anchorCtr="0">
            <a:spAutoFit/>
          </a:bodyPr>
          <a:lstStyle/>
          <a:p>
            <a:pPr algn="ctr"/>
            <a:r>
              <a:rPr lang="zh-CN" sz="1050" b="1" dirty="0">
                <a:solidFill>
                  <a:srgbClr val="EEF2F6"/>
                </a:solidFill>
                <a:latin typeface="Arial"/>
                <a:ea typeface="Microsoft YaHei"/>
                <a:cs typeface="Arial"/>
              </a:rPr>
              <a:t>79.3</a:t>
            </a:r>
          </a:p>
        </p:txBody>
      </p:sp>
      <p:sp>
        <p:nvSpPr>
          <p:cNvPr id="46" name="Rectangle 46"/>
          <p:cNvSpPr/>
          <p:nvPr/>
        </p:nvSpPr>
        <p:spPr>
          <a:xfrm>
            <a:off x="6368415" y="1912620"/>
            <a:ext cx="449580" cy="3783330"/>
          </a:xfrm>
          <a:prstGeom prst="roundRect">
            <a:avLst>
              <a:gd name="adj" fmla="val 4237"/>
            </a:avLst>
          </a:prstGeom>
          <a:solidFill>
            <a:srgbClr val="F2875A">
              <a:alpha val="45000"/>
            </a:srgbClr>
          </a:solidFill>
          <a:ln>
            <a:noFill/>
          </a:ln>
        </p:spPr>
      </p:sp>
      <p:sp>
        <p:nvSpPr>
          <p:cNvPr id="47" name="TextBox 47"/>
          <p:cNvSpPr txBox="1"/>
          <p:nvPr/>
        </p:nvSpPr>
        <p:spPr>
          <a:xfrm>
            <a:off x="6423958" y="1723072"/>
            <a:ext cx="340399" cy="213360"/>
          </a:xfrm>
          <a:prstGeom prst="rect">
            <a:avLst/>
          </a:prstGeom>
          <a:noFill/>
          <a:ln>
            <a:noFill/>
          </a:ln>
        </p:spPr>
        <p:txBody>
          <a:bodyPr wrap="none" lIns="0" tIns="0" rIns="0" bIns="0" anchor="t" anchorCtr="0">
            <a:spAutoFit/>
          </a:bodyPr>
          <a:lstStyle/>
          <a:p>
            <a:pPr algn="ctr"/>
            <a:r>
              <a:rPr lang="zh-CN" sz="1050" b="1" dirty="0">
                <a:solidFill>
                  <a:srgbClr val="EEF2F6"/>
                </a:solidFill>
                <a:latin typeface="Arial"/>
                <a:ea typeface="Microsoft YaHei"/>
                <a:cs typeface="Arial"/>
              </a:rPr>
              <a:t>89.0</a:t>
            </a:r>
          </a:p>
        </p:txBody>
      </p:sp>
      <p:sp>
        <p:nvSpPr>
          <p:cNvPr id="48" name="TextBox 48"/>
          <p:cNvSpPr txBox="1"/>
          <p:nvPr/>
        </p:nvSpPr>
        <p:spPr>
          <a:xfrm>
            <a:off x="6147696" y="5811202"/>
            <a:ext cx="384288" cy="213360"/>
          </a:xfrm>
          <a:prstGeom prst="rect">
            <a:avLst/>
          </a:prstGeom>
          <a:noFill/>
          <a:ln>
            <a:noFill/>
          </a:ln>
        </p:spPr>
        <p:txBody>
          <a:bodyPr wrap="none" lIns="0" tIns="0" rIns="0" bIns="0" anchor="t" anchorCtr="0">
            <a:spAutoFit/>
          </a:bodyPr>
          <a:lstStyle/>
          <a:p>
            <a:pPr algn="ctr"/>
            <a:r>
              <a:rPr lang="zh-CN" sz="1050" b="1" dirty="0">
                <a:solidFill>
                  <a:srgbClr val="EEF2F6"/>
                </a:solidFill>
                <a:latin typeface="Arial"/>
                <a:ea typeface="Microsoft YaHei"/>
                <a:cs typeface="Arial"/>
              </a:rPr>
              <a:t>2050</a:t>
            </a:r>
          </a:p>
        </p:txBody>
      </p:sp>
      <p:sp>
        <p:nvSpPr>
          <p:cNvPr id="49" name="TextBox 49"/>
          <p:cNvSpPr txBox="1"/>
          <p:nvPr/>
        </p:nvSpPr>
        <p:spPr>
          <a:xfrm>
            <a:off x="5806278" y="6009799"/>
            <a:ext cx="1067124" cy="198120"/>
          </a:xfrm>
          <a:prstGeom prst="rect">
            <a:avLst/>
          </a:prstGeom>
          <a:noFill/>
          <a:ln>
            <a:noFill/>
          </a:ln>
        </p:spPr>
        <p:txBody>
          <a:bodyPr wrap="none" lIns="0" tIns="0" rIns="0" bIns="0" anchor="t" anchorCtr="0">
            <a:spAutoFit/>
          </a:bodyPr>
          <a:lstStyle/>
          <a:p>
            <a:pPr algn="ctr"/>
            <a:r>
              <a:rPr lang="zh-CN" sz="975" dirty="0">
                <a:solidFill>
                  <a:srgbClr val="B4BECA"/>
                </a:solidFill>
                <a:latin typeface="Arial"/>
                <a:ea typeface="Microsoft YaHei"/>
                <a:cs typeface="Arial"/>
              </a:rPr>
              <a:t>growing effort</a:t>
            </a:r>
          </a:p>
        </p:txBody>
      </p:sp>
      <p:sp>
        <p:nvSpPr>
          <p:cNvPr id="50" name="TextBox 50"/>
          <p:cNvSpPr txBox="1"/>
          <p:nvPr/>
        </p:nvSpPr>
        <p:spPr>
          <a:xfrm>
            <a:off x="5881497" y="6198870"/>
            <a:ext cx="916686" cy="182880"/>
          </a:xfrm>
          <a:prstGeom prst="rect">
            <a:avLst/>
          </a:prstGeom>
          <a:noFill/>
          <a:ln>
            <a:noFill/>
          </a:ln>
        </p:spPr>
        <p:txBody>
          <a:bodyPr wrap="none" lIns="0" tIns="0" rIns="0" bIns="0" anchor="t" anchorCtr="0">
            <a:spAutoFit/>
          </a:bodyPr>
          <a:lstStyle/>
          <a:p>
            <a:pPr algn="ctr"/>
            <a:r>
              <a:rPr lang="zh-CN" sz="900" dirty="0">
                <a:solidFill>
                  <a:srgbClr val="7D8996"/>
                </a:solidFill>
                <a:latin typeface="Arial"/>
                <a:ea typeface="Microsoft YaHei"/>
                <a:cs typeface="Arial"/>
              </a:rPr>
              <a:t>0% in support</a:t>
            </a:r>
          </a:p>
        </p:txBody>
      </p:sp>
      <p:sp>
        <p:nvSpPr>
          <p:cNvPr id="51" name="Rectangle 51"/>
          <p:cNvSpPr/>
          <p:nvPr/>
        </p:nvSpPr>
        <p:spPr>
          <a:xfrm>
            <a:off x="4876800" y="1085850"/>
            <a:ext cx="133350" cy="133350"/>
          </a:xfrm>
          <a:prstGeom prst="roundRect">
            <a:avLst>
              <a:gd name="adj" fmla="val 14286"/>
            </a:avLst>
          </a:prstGeom>
          <a:solidFill>
            <a:srgbClr val="F8BDA4"/>
          </a:solidFill>
          <a:ln>
            <a:noFill/>
          </a:ln>
        </p:spPr>
      </p:sp>
      <p:sp>
        <p:nvSpPr>
          <p:cNvPr id="52" name="TextBox 52"/>
          <p:cNvSpPr txBox="1"/>
          <p:nvPr/>
        </p:nvSpPr>
        <p:spPr>
          <a:xfrm>
            <a:off x="5054918" y="1094899"/>
            <a:ext cx="618568" cy="198120"/>
          </a:xfrm>
          <a:prstGeom prst="rect">
            <a:avLst/>
          </a:prstGeom>
          <a:noFill/>
          <a:ln>
            <a:noFill/>
          </a:ln>
        </p:spPr>
        <p:txBody>
          <a:bodyPr wrap="none" lIns="0" tIns="0" rIns="0" bIns="0" anchor="t" anchorCtr="0">
            <a:spAutoFit/>
          </a:bodyPr>
          <a:lstStyle/>
          <a:p>
            <a:pPr algn="l"/>
            <a:r>
              <a:rPr lang="zh-CN" sz="975" dirty="0">
                <a:solidFill>
                  <a:srgbClr val="B4BECA"/>
                </a:solidFill>
                <a:latin typeface="Arial"/>
                <a:ea typeface="Microsoft YaHei"/>
                <a:cs typeface="Arial"/>
              </a:rPr>
              <a:t>SSP2-4.5</a:t>
            </a:r>
          </a:p>
        </p:txBody>
      </p:sp>
      <p:sp>
        <p:nvSpPr>
          <p:cNvPr id="53" name="Rectangle 53"/>
          <p:cNvSpPr/>
          <p:nvPr/>
        </p:nvSpPr>
        <p:spPr>
          <a:xfrm>
            <a:off x="6019800" y="1085850"/>
            <a:ext cx="133350" cy="133350"/>
          </a:xfrm>
          <a:prstGeom prst="roundRect">
            <a:avLst>
              <a:gd name="adj" fmla="val 14286"/>
            </a:avLst>
          </a:prstGeom>
          <a:solidFill>
            <a:srgbClr val="F2875A"/>
          </a:solidFill>
          <a:ln>
            <a:noFill/>
          </a:ln>
        </p:spPr>
      </p:sp>
      <p:sp>
        <p:nvSpPr>
          <p:cNvPr id="54" name="TextBox 54"/>
          <p:cNvSpPr txBox="1"/>
          <p:nvPr/>
        </p:nvSpPr>
        <p:spPr>
          <a:xfrm>
            <a:off x="6197918" y="1094899"/>
            <a:ext cx="618568" cy="198120"/>
          </a:xfrm>
          <a:prstGeom prst="rect">
            <a:avLst/>
          </a:prstGeom>
          <a:noFill/>
          <a:ln>
            <a:noFill/>
          </a:ln>
        </p:spPr>
        <p:txBody>
          <a:bodyPr wrap="none" lIns="0" tIns="0" rIns="0" bIns="0" anchor="t" anchorCtr="0">
            <a:spAutoFit/>
          </a:bodyPr>
          <a:lstStyle/>
          <a:p>
            <a:pPr algn="l"/>
            <a:r>
              <a:rPr lang="zh-CN" sz="975" dirty="0">
                <a:solidFill>
                  <a:srgbClr val="B4BECA"/>
                </a:solidFill>
                <a:latin typeface="Arial"/>
                <a:ea typeface="Microsoft YaHei"/>
                <a:cs typeface="Arial"/>
              </a:rPr>
              <a:t>SSP5-8.5</a:t>
            </a:r>
          </a:p>
        </p:txBody>
      </p:sp>
      <p:sp>
        <p:nvSpPr>
          <p:cNvPr id="55" name="Line 55"/>
          <p:cNvSpPr/>
          <p:nvPr/>
        </p:nvSpPr>
        <p:spPr>
          <a:xfrm>
            <a:off x="1066800" y="5695950"/>
            <a:ext cx="6191250" cy="9525"/>
          </a:xfrm>
          <a:custGeom>
            <a:avLst/>
            <a:gdLst/>
            <a:ahLst/>
            <a:cxnLst/>
            <a:rect l="l" t="t" r="r" b="b"/>
            <a:pathLst>
              <a:path w="6191250" h="9525">
                <a:moveTo>
                  <a:pt x="0" y="0"/>
                </a:moveTo>
                <a:lnTo>
                  <a:pt x="6191250" y="0"/>
                </a:lnTo>
              </a:path>
            </a:pathLst>
          </a:custGeom>
          <a:noFill/>
          <a:ln w="9525">
            <a:solidFill>
              <a:srgbClr val="B4BECA"/>
            </a:solidFill>
          </a:ln>
        </p:spPr>
      </p:sp>
      <p:sp>
        <p:nvSpPr>
          <p:cNvPr id="56" name="Rectangle 56"/>
          <p:cNvSpPr/>
          <p:nvPr/>
        </p:nvSpPr>
        <p:spPr>
          <a:xfrm>
            <a:off x="7581900" y="1066800"/>
            <a:ext cx="3924300" cy="1759268"/>
          </a:xfrm>
          <a:prstGeom prst="roundRect">
            <a:avLst>
              <a:gd name="adj" fmla="val 4331"/>
            </a:avLst>
          </a:prstGeom>
          <a:solidFill>
            <a:srgbClr val="17222D"/>
          </a:solidFill>
          <a:ln>
            <a:noFill/>
          </a:ln>
        </p:spPr>
      </p:sp>
      <p:sp>
        <p:nvSpPr>
          <p:cNvPr id="57" name="Rectangle 57"/>
          <p:cNvSpPr/>
          <p:nvPr/>
        </p:nvSpPr>
        <p:spPr>
          <a:xfrm>
            <a:off x="7772400" y="1266825"/>
            <a:ext cx="38100" cy="180975"/>
          </a:xfrm>
          <a:prstGeom prst="roundRect">
            <a:avLst>
              <a:gd name="adj" fmla="val 50000"/>
            </a:avLst>
          </a:prstGeom>
          <a:solidFill>
            <a:srgbClr val="F07B4F"/>
          </a:solidFill>
          <a:ln>
            <a:noFill/>
          </a:ln>
        </p:spPr>
      </p:sp>
      <p:sp>
        <p:nvSpPr>
          <p:cNvPr id="58" name="TextBox 58"/>
          <p:cNvSpPr txBox="1"/>
          <p:nvPr/>
        </p:nvSpPr>
        <p:spPr>
          <a:xfrm>
            <a:off x="7889558" y="1281589"/>
            <a:ext cx="3474807"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Two climate × two effort scenarios</a:t>
            </a:r>
          </a:p>
        </p:txBody>
      </p:sp>
      <p:sp>
        <p:nvSpPr>
          <p:cNvPr id="59" name="TextBox 59"/>
          <p:cNvSpPr txBox="1"/>
          <p:nvPr/>
        </p:nvSpPr>
        <p:spPr>
          <a:xfrm>
            <a:off x="7758112" y="1554956"/>
            <a:ext cx="2338721" cy="228600"/>
          </a:xfrm>
          <a:prstGeom prst="rect">
            <a:avLst/>
          </a:prstGeom>
          <a:noFill/>
          <a:ln>
            <a:noFill/>
          </a:ln>
        </p:spPr>
        <p:txBody>
          <a:bodyPr wrap="none" lIns="0" tIns="0" rIns="0" bIns="0" anchor="t" anchorCtr="0">
            <a:spAutoFit/>
          </a:bodyPr>
          <a:lstStyle/>
          <a:p>
            <a:pPr algn="l"/>
            <a:r>
              <a:rPr lang="zh-CN" sz="1125" dirty="0">
                <a:solidFill>
                  <a:srgbClr val="F2875A"/>
                </a:solidFill>
                <a:latin typeface="Arial"/>
                <a:ea typeface="Microsoft YaHei"/>
                <a:cs typeface="Arial"/>
              </a:rPr>
              <a:t>Climate: SSP2-4.5 or SSP5-8.5</a:t>
            </a:r>
          </a:p>
        </p:txBody>
      </p:sp>
      <p:sp>
        <p:nvSpPr>
          <p:cNvPr id="60" name="TextBox 60"/>
          <p:cNvSpPr txBox="1"/>
          <p:nvPr/>
        </p:nvSpPr>
        <p:spPr>
          <a:xfrm>
            <a:off x="7758112" y="1783556"/>
            <a:ext cx="2871073" cy="228600"/>
          </a:xfrm>
          <a:prstGeom prst="rect">
            <a:avLst/>
          </a:prstGeom>
          <a:noFill/>
          <a:ln>
            <a:noFill/>
          </a:ln>
        </p:spPr>
        <p:txBody>
          <a:bodyPr wrap="none" lIns="0" tIns="0" rIns="0" bIns="0" anchor="t" anchorCtr="0">
            <a:spAutoFit/>
          </a:bodyPr>
          <a:lstStyle/>
          <a:p>
            <a:pPr algn="l"/>
            <a:r>
              <a:rPr lang="zh-CN" sz="1125" dirty="0">
                <a:solidFill>
                  <a:srgbClr val="7DB2E3"/>
                </a:solidFill>
                <a:latin typeface="Arial"/>
                <a:ea typeface="Microsoft YaHei"/>
                <a:cs typeface="Arial"/>
              </a:rPr>
              <a:t>Effort: frozen, or +0.6 SD a decade</a:t>
            </a:r>
          </a:p>
        </p:txBody>
      </p:sp>
      <p:sp>
        <p:nvSpPr>
          <p:cNvPr id="61" name="TextBox 61"/>
          <p:cNvSpPr txBox="1"/>
          <p:nvPr/>
        </p:nvSpPr>
        <p:spPr>
          <a:xfrm>
            <a:off x="7758112" y="2012156"/>
            <a:ext cx="1921383"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Horizons: 2030 and 2050</a:t>
            </a:r>
          </a:p>
        </p:txBody>
      </p:sp>
      <p:sp>
        <p:nvSpPr>
          <p:cNvPr id="62" name="Rectangle 62"/>
          <p:cNvSpPr/>
          <p:nvPr/>
        </p:nvSpPr>
        <p:spPr>
          <a:xfrm>
            <a:off x="7581900" y="3149918"/>
            <a:ext cx="3924300" cy="1530668"/>
          </a:xfrm>
          <a:prstGeom prst="roundRect">
            <a:avLst>
              <a:gd name="adj" fmla="val 4978"/>
            </a:avLst>
          </a:prstGeom>
          <a:solidFill>
            <a:srgbClr val="17222D"/>
          </a:solidFill>
          <a:ln>
            <a:noFill/>
          </a:ln>
        </p:spPr>
      </p:sp>
      <p:sp>
        <p:nvSpPr>
          <p:cNvPr id="63" name="Rectangle 63"/>
          <p:cNvSpPr/>
          <p:nvPr/>
        </p:nvSpPr>
        <p:spPr>
          <a:xfrm>
            <a:off x="7772400" y="3349942"/>
            <a:ext cx="38100" cy="180975"/>
          </a:xfrm>
          <a:prstGeom prst="roundRect">
            <a:avLst>
              <a:gd name="adj" fmla="val 50000"/>
            </a:avLst>
          </a:prstGeom>
          <a:solidFill>
            <a:srgbClr val="7DB2E3"/>
          </a:solidFill>
          <a:ln>
            <a:noFill/>
          </a:ln>
        </p:spPr>
      </p:sp>
      <p:sp>
        <p:nvSpPr>
          <p:cNvPr id="64" name="TextBox 64"/>
          <p:cNvSpPr txBox="1"/>
          <p:nvPr/>
        </p:nvSpPr>
        <p:spPr>
          <a:xfrm>
            <a:off x="7889558" y="3364706"/>
            <a:ext cx="3437303"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What changes the expected count?</a:t>
            </a:r>
          </a:p>
        </p:txBody>
      </p:sp>
      <p:sp>
        <p:nvSpPr>
          <p:cNvPr id="65" name="TextBox 65"/>
          <p:cNvSpPr txBox="1"/>
          <p:nvPr/>
        </p:nvSpPr>
        <p:spPr>
          <a:xfrm>
            <a:off x="7758112" y="3638074"/>
            <a:ext cx="2486597" cy="228600"/>
          </a:xfrm>
          <a:prstGeom prst="rect">
            <a:avLst/>
          </a:prstGeom>
          <a:noFill/>
          <a:ln>
            <a:noFill/>
          </a:ln>
        </p:spPr>
        <p:txBody>
          <a:bodyPr wrap="none" lIns="0" tIns="0" rIns="0" bIns="0" anchor="t" anchorCtr="0">
            <a:spAutoFit/>
          </a:bodyPr>
          <a:lstStyle/>
          <a:p>
            <a:pPr algn="l"/>
            <a:r>
              <a:rPr lang="zh-CN" sz="1125" dirty="0">
                <a:solidFill>
                  <a:srgbClr val="F2875A"/>
                </a:solidFill>
                <a:latin typeface="Arial"/>
                <a:ea typeface="Microsoft YaHei"/>
                <a:cs typeface="Arial"/>
              </a:rPr>
              <a:t>Switch climate: barely anything</a:t>
            </a:r>
          </a:p>
        </p:txBody>
      </p:sp>
      <p:sp>
        <p:nvSpPr>
          <p:cNvPr id="66" name="TextBox 66"/>
          <p:cNvSpPr txBox="1"/>
          <p:nvPr/>
        </p:nvSpPr>
        <p:spPr>
          <a:xfrm>
            <a:off x="7758112" y="3866674"/>
            <a:ext cx="2861215" cy="228600"/>
          </a:xfrm>
          <a:prstGeom prst="rect">
            <a:avLst/>
          </a:prstGeom>
          <a:noFill/>
          <a:ln>
            <a:noFill/>
          </a:ln>
        </p:spPr>
        <p:txBody>
          <a:bodyPr wrap="none" lIns="0" tIns="0" rIns="0" bIns="0" anchor="t" anchorCtr="0">
            <a:spAutoFit/>
          </a:bodyPr>
          <a:lstStyle/>
          <a:p>
            <a:pPr algn="l"/>
            <a:r>
              <a:rPr lang="zh-CN" sz="1125" dirty="0">
                <a:solidFill>
                  <a:srgbClr val="7DB2E3"/>
                </a:solidFill>
                <a:latin typeface="Arial"/>
                <a:ea typeface="Microsoft YaHei"/>
                <a:cs typeface="Arial"/>
              </a:rPr>
              <a:t>Keep effort growing: roughly triple</a:t>
            </a:r>
          </a:p>
        </p:txBody>
      </p:sp>
      <p:sp>
        <p:nvSpPr>
          <p:cNvPr id="67" name="Rectangle 67"/>
          <p:cNvSpPr/>
          <p:nvPr/>
        </p:nvSpPr>
        <p:spPr>
          <a:xfrm>
            <a:off x="7581900" y="5003482"/>
            <a:ext cx="3924300" cy="1321118"/>
          </a:xfrm>
          <a:prstGeom prst="roundRect">
            <a:avLst>
              <a:gd name="adj" fmla="val 5768"/>
            </a:avLst>
          </a:prstGeom>
          <a:solidFill>
            <a:srgbClr val="F07B4F"/>
          </a:solidFill>
          <a:ln>
            <a:noFill/>
          </a:ln>
        </p:spPr>
      </p:sp>
      <p:sp>
        <p:nvSpPr>
          <p:cNvPr id="68" name="TextBox 68"/>
          <p:cNvSpPr txBox="1"/>
          <p:nvPr/>
        </p:nvSpPr>
        <p:spPr>
          <a:xfrm>
            <a:off x="7506944" y="5447348"/>
            <a:ext cx="4074213" cy="274320"/>
          </a:xfrm>
          <a:prstGeom prst="rect">
            <a:avLst/>
          </a:prstGeom>
          <a:noFill/>
          <a:ln>
            <a:noFill/>
          </a:ln>
        </p:spPr>
        <p:txBody>
          <a:bodyPr wrap="none" lIns="0" tIns="0" rIns="0" bIns="0" anchor="t" anchorCtr="0">
            <a:spAutoFit/>
          </a:bodyPr>
          <a:lstStyle/>
          <a:p>
            <a:pPr algn="ctr"/>
            <a:r>
              <a:rPr lang="zh-CN" sz="1350" b="1" dirty="0">
                <a:solidFill>
                  <a:srgbClr val="10171F"/>
                </a:solidFill>
                <a:latin typeface="Arial"/>
                <a:ea typeface="Microsoft YaHei"/>
                <a:cs typeface="Arial"/>
              </a:rPr>
              <a:t>Most of that rise lies outside the data</a:t>
            </a:r>
          </a:p>
        </p:txBody>
      </p:sp>
      <p:sp>
        <p:nvSpPr>
          <p:cNvPr id="69" name="TextBox 69"/>
          <p:cNvSpPr txBox="1"/>
          <p:nvPr/>
        </p:nvSpPr>
        <p:spPr>
          <a:xfrm>
            <a:off x="8259928" y="5739765"/>
            <a:ext cx="2568245" cy="243840"/>
          </a:xfrm>
          <a:prstGeom prst="rect">
            <a:avLst/>
          </a:prstGeom>
          <a:noFill/>
          <a:ln>
            <a:noFill/>
          </a:ln>
        </p:spPr>
        <p:txBody>
          <a:bodyPr wrap="none" lIns="0" tIns="0" rIns="0" bIns="0" anchor="t" anchorCtr="0">
            <a:spAutoFit/>
          </a:bodyPr>
          <a:lstStyle/>
          <a:p>
            <a:pPr algn="ctr"/>
            <a:r>
              <a:rPr lang="zh-CN" sz="1200" dirty="0">
                <a:solidFill>
                  <a:srgbClr val="2C1A10"/>
                </a:solidFill>
                <a:latin typeface="Arial"/>
                <a:ea typeface="Microsoft YaHei"/>
                <a:cs typeface="Arial"/>
              </a:rPr>
              <a:t>Faded bars: no cell in support</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FUTURES · MODELS</a:t>
            </a:r>
          </a:p>
        </p:txBody>
      </p:sp>
      <p:sp>
        <p:nvSpPr>
          <p:cNvPr id="4" name="TextBox 4"/>
          <p:cNvSpPr txBox="1"/>
          <p:nvPr/>
        </p:nvSpPr>
        <p:spPr>
          <a:xfrm>
            <a:off x="660082" y="600551"/>
            <a:ext cx="10083317"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Same futures, three model families: they diverge outside the data</a:t>
            </a:r>
          </a:p>
        </p:txBody>
      </p:sp>
      <p:sp>
        <p:nvSpPr>
          <p:cNvPr id="5" name="TextBox 5"/>
          <p:cNvSpPr txBox="1"/>
          <p:nvPr/>
        </p:nvSpPr>
        <p:spPr>
          <a:xfrm>
            <a:off x="10348570" y="340995"/>
            <a:ext cx="1169060"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Repository module</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7973378"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14 / 19</a:t>
            </a:r>
          </a:p>
        </p:txBody>
      </p:sp>
      <p:sp>
        <p:nvSpPr>
          <p:cNvPr id="10" name="Line 10"/>
          <p:cNvSpPr/>
          <p:nvPr/>
        </p:nvSpPr>
        <p:spPr>
          <a:xfrm>
            <a:off x="1257300" y="5829300"/>
            <a:ext cx="4095750" cy="9525"/>
          </a:xfrm>
          <a:custGeom>
            <a:avLst/>
            <a:gdLst/>
            <a:ahLst/>
            <a:cxnLst/>
            <a:rect l="l" t="t" r="r" b="b"/>
            <a:pathLst>
              <a:path w="4095750" h="9525">
                <a:moveTo>
                  <a:pt x="0" y="0"/>
                </a:moveTo>
                <a:lnTo>
                  <a:pt x="4095750" y="0"/>
                </a:lnTo>
              </a:path>
            </a:pathLst>
          </a:custGeom>
          <a:noFill/>
          <a:ln w="9525">
            <a:solidFill>
              <a:srgbClr val="26333F"/>
            </a:solidFill>
          </a:ln>
        </p:spPr>
      </p:sp>
      <p:sp>
        <p:nvSpPr>
          <p:cNvPr id="11" name="TextBox 11"/>
          <p:cNvSpPr txBox="1"/>
          <p:nvPr/>
        </p:nvSpPr>
        <p:spPr>
          <a:xfrm>
            <a:off x="1071348" y="5771674"/>
            <a:ext cx="103084" cy="198120"/>
          </a:xfrm>
          <a:prstGeom prst="rect">
            <a:avLst/>
          </a:prstGeom>
          <a:noFill/>
          <a:ln>
            <a:noFill/>
          </a:ln>
        </p:spPr>
        <p:txBody>
          <a:bodyPr wrap="none" lIns="0" tIns="0" rIns="0" bIns="0" anchor="t" anchorCtr="0">
            <a:spAutoFit/>
          </a:bodyPr>
          <a:lstStyle/>
          <a:p>
            <a:pPr algn="r"/>
            <a:r>
              <a:rPr lang="zh-CN" sz="975" dirty="0">
                <a:solidFill>
                  <a:srgbClr val="7D8996"/>
                </a:solidFill>
                <a:latin typeface="Arial"/>
                <a:ea typeface="Microsoft YaHei"/>
                <a:cs typeface="Arial"/>
              </a:rPr>
              <a:t>0</a:t>
            </a:r>
          </a:p>
        </p:txBody>
      </p:sp>
      <p:sp>
        <p:nvSpPr>
          <p:cNvPr id="12" name="Line 12"/>
          <p:cNvSpPr/>
          <p:nvPr/>
        </p:nvSpPr>
        <p:spPr>
          <a:xfrm>
            <a:off x="1257300" y="4972050"/>
            <a:ext cx="4095750" cy="9525"/>
          </a:xfrm>
          <a:custGeom>
            <a:avLst/>
            <a:gdLst/>
            <a:ahLst/>
            <a:cxnLst/>
            <a:rect l="l" t="t" r="r" b="b"/>
            <a:pathLst>
              <a:path w="4095750" h="9525">
                <a:moveTo>
                  <a:pt x="0" y="0"/>
                </a:moveTo>
                <a:lnTo>
                  <a:pt x="4095750" y="0"/>
                </a:lnTo>
              </a:path>
            </a:pathLst>
          </a:custGeom>
          <a:noFill/>
          <a:ln w="9525">
            <a:solidFill>
              <a:srgbClr val="26333F"/>
            </a:solidFill>
          </a:ln>
        </p:spPr>
      </p:sp>
      <p:sp>
        <p:nvSpPr>
          <p:cNvPr id="13" name="TextBox 13"/>
          <p:cNvSpPr txBox="1"/>
          <p:nvPr/>
        </p:nvSpPr>
        <p:spPr>
          <a:xfrm>
            <a:off x="993029" y="4914424"/>
            <a:ext cx="181404" cy="198120"/>
          </a:xfrm>
          <a:prstGeom prst="rect">
            <a:avLst/>
          </a:prstGeom>
          <a:noFill/>
          <a:ln>
            <a:noFill/>
          </a:ln>
        </p:spPr>
        <p:txBody>
          <a:bodyPr wrap="none" lIns="0" tIns="0" rIns="0" bIns="0" anchor="t" anchorCtr="0">
            <a:spAutoFit/>
          </a:bodyPr>
          <a:lstStyle/>
          <a:p>
            <a:pPr algn="r"/>
            <a:r>
              <a:rPr lang="zh-CN" sz="975" dirty="0">
                <a:solidFill>
                  <a:srgbClr val="7D8996"/>
                </a:solidFill>
                <a:latin typeface="Arial"/>
                <a:ea typeface="Microsoft YaHei"/>
                <a:cs typeface="Arial"/>
              </a:rPr>
              <a:t>20</a:t>
            </a:r>
          </a:p>
        </p:txBody>
      </p:sp>
      <p:sp>
        <p:nvSpPr>
          <p:cNvPr id="14" name="Line 14"/>
          <p:cNvSpPr/>
          <p:nvPr/>
        </p:nvSpPr>
        <p:spPr>
          <a:xfrm>
            <a:off x="1257300" y="4114800"/>
            <a:ext cx="4095750" cy="9525"/>
          </a:xfrm>
          <a:custGeom>
            <a:avLst/>
            <a:gdLst/>
            <a:ahLst/>
            <a:cxnLst/>
            <a:rect l="l" t="t" r="r" b="b"/>
            <a:pathLst>
              <a:path w="4095750" h="9525">
                <a:moveTo>
                  <a:pt x="0" y="0"/>
                </a:moveTo>
                <a:lnTo>
                  <a:pt x="4095750" y="0"/>
                </a:lnTo>
              </a:path>
            </a:pathLst>
          </a:custGeom>
          <a:noFill/>
          <a:ln w="9525">
            <a:solidFill>
              <a:srgbClr val="26333F"/>
            </a:solidFill>
          </a:ln>
        </p:spPr>
      </p:sp>
      <p:sp>
        <p:nvSpPr>
          <p:cNvPr id="15" name="TextBox 15"/>
          <p:cNvSpPr txBox="1"/>
          <p:nvPr/>
        </p:nvSpPr>
        <p:spPr>
          <a:xfrm>
            <a:off x="993029" y="4057174"/>
            <a:ext cx="181404" cy="198120"/>
          </a:xfrm>
          <a:prstGeom prst="rect">
            <a:avLst/>
          </a:prstGeom>
          <a:noFill/>
          <a:ln>
            <a:noFill/>
          </a:ln>
        </p:spPr>
        <p:txBody>
          <a:bodyPr wrap="none" lIns="0" tIns="0" rIns="0" bIns="0" anchor="t" anchorCtr="0">
            <a:spAutoFit/>
          </a:bodyPr>
          <a:lstStyle/>
          <a:p>
            <a:pPr algn="r"/>
            <a:r>
              <a:rPr lang="zh-CN" sz="975" dirty="0">
                <a:solidFill>
                  <a:srgbClr val="7D8996"/>
                </a:solidFill>
                <a:latin typeface="Arial"/>
                <a:ea typeface="Microsoft YaHei"/>
                <a:cs typeface="Arial"/>
              </a:rPr>
              <a:t>40</a:t>
            </a:r>
          </a:p>
        </p:txBody>
      </p:sp>
      <p:sp>
        <p:nvSpPr>
          <p:cNvPr id="16" name="Line 16"/>
          <p:cNvSpPr/>
          <p:nvPr/>
        </p:nvSpPr>
        <p:spPr>
          <a:xfrm>
            <a:off x="1257300" y="3257550"/>
            <a:ext cx="4095750" cy="9525"/>
          </a:xfrm>
          <a:custGeom>
            <a:avLst/>
            <a:gdLst/>
            <a:ahLst/>
            <a:cxnLst/>
            <a:rect l="l" t="t" r="r" b="b"/>
            <a:pathLst>
              <a:path w="4095750" h="9525">
                <a:moveTo>
                  <a:pt x="0" y="0"/>
                </a:moveTo>
                <a:lnTo>
                  <a:pt x="4095750" y="0"/>
                </a:lnTo>
              </a:path>
            </a:pathLst>
          </a:custGeom>
          <a:noFill/>
          <a:ln w="9525">
            <a:solidFill>
              <a:srgbClr val="26333F"/>
            </a:solidFill>
          </a:ln>
        </p:spPr>
      </p:sp>
      <p:sp>
        <p:nvSpPr>
          <p:cNvPr id="17" name="TextBox 17"/>
          <p:cNvSpPr txBox="1"/>
          <p:nvPr/>
        </p:nvSpPr>
        <p:spPr>
          <a:xfrm>
            <a:off x="993029" y="3199924"/>
            <a:ext cx="181404" cy="198120"/>
          </a:xfrm>
          <a:prstGeom prst="rect">
            <a:avLst/>
          </a:prstGeom>
          <a:noFill/>
          <a:ln>
            <a:noFill/>
          </a:ln>
        </p:spPr>
        <p:txBody>
          <a:bodyPr wrap="none" lIns="0" tIns="0" rIns="0" bIns="0" anchor="t" anchorCtr="0">
            <a:spAutoFit/>
          </a:bodyPr>
          <a:lstStyle/>
          <a:p>
            <a:pPr algn="r"/>
            <a:r>
              <a:rPr lang="zh-CN" sz="975" dirty="0">
                <a:solidFill>
                  <a:srgbClr val="7D8996"/>
                </a:solidFill>
                <a:latin typeface="Arial"/>
                <a:ea typeface="Microsoft YaHei"/>
                <a:cs typeface="Arial"/>
              </a:rPr>
              <a:t>60</a:t>
            </a:r>
          </a:p>
        </p:txBody>
      </p:sp>
      <p:sp>
        <p:nvSpPr>
          <p:cNvPr id="18" name="Line 18"/>
          <p:cNvSpPr/>
          <p:nvPr/>
        </p:nvSpPr>
        <p:spPr>
          <a:xfrm>
            <a:off x="1257300" y="2400300"/>
            <a:ext cx="4095750" cy="9525"/>
          </a:xfrm>
          <a:custGeom>
            <a:avLst/>
            <a:gdLst/>
            <a:ahLst/>
            <a:cxnLst/>
            <a:rect l="l" t="t" r="r" b="b"/>
            <a:pathLst>
              <a:path w="4095750" h="9525">
                <a:moveTo>
                  <a:pt x="0" y="0"/>
                </a:moveTo>
                <a:lnTo>
                  <a:pt x="4095750" y="0"/>
                </a:lnTo>
              </a:path>
            </a:pathLst>
          </a:custGeom>
          <a:noFill/>
          <a:ln w="9525">
            <a:solidFill>
              <a:srgbClr val="26333F"/>
            </a:solidFill>
          </a:ln>
        </p:spPr>
      </p:sp>
      <p:sp>
        <p:nvSpPr>
          <p:cNvPr id="19" name="TextBox 19"/>
          <p:cNvSpPr txBox="1"/>
          <p:nvPr/>
        </p:nvSpPr>
        <p:spPr>
          <a:xfrm>
            <a:off x="993029" y="2342674"/>
            <a:ext cx="181404" cy="198120"/>
          </a:xfrm>
          <a:prstGeom prst="rect">
            <a:avLst/>
          </a:prstGeom>
          <a:noFill/>
          <a:ln>
            <a:noFill/>
          </a:ln>
        </p:spPr>
        <p:txBody>
          <a:bodyPr wrap="none" lIns="0" tIns="0" rIns="0" bIns="0" anchor="t" anchorCtr="0">
            <a:spAutoFit/>
          </a:bodyPr>
          <a:lstStyle/>
          <a:p>
            <a:pPr algn="r"/>
            <a:r>
              <a:rPr lang="zh-CN" sz="975" dirty="0">
                <a:solidFill>
                  <a:srgbClr val="7D8996"/>
                </a:solidFill>
                <a:latin typeface="Arial"/>
                <a:ea typeface="Microsoft YaHei"/>
                <a:cs typeface="Arial"/>
              </a:rPr>
              <a:t>80</a:t>
            </a:r>
          </a:p>
        </p:txBody>
      </p:sp>
      <p:sp>
        <p:nvSpPr>
          <p:cNvPr id="20" name="Line 20"/>
          <p:cNvSpPr/>
          <p:nvPr/>
        </p:nvSpPr>
        <p:spPr>
          <a:xfrm>
            <a:off x="1257300" y="1543050"/>
            <a:ext cx="4095750" cy="9525"/>
          </a:xfrm>
          <a:custGeom>
            <a:avLst/>
            <a:gdLst/>
            <a:ahLst/>
            <a:cxnLst/>
            <a:rect l="l" t="t" r="r" b="b"/>
            <a:pathLst>
              <a:path w="4095750" h="9525">
                <a:moveTo>
                  <a:pt x="0" y="0"/>
                </a:moveTo>
                <a:lnTo>
                  <a:pt x="4095750" y="0"/>
                </a:lnTo>
              </a:path>
            </a:pathLst>
          </a:custGeom>
          <a:noFill/>
          <a:ln w="9525">
            <a:solidFill>
              <a:srgbClr val="26333F"/>
            </a:solidFill>
          </a:ln>
        </p:spPr>
      </p:sp>
      <p:sp>
        <p:nvSpPr>
          <p:cNvPr id="21" name="TextBox 21"/>
          <p:cNvSpPr txBox="1"/>
          <p:nvPr/>
        </p:nvSpPr>
        <p:spPr>
          <a:xfrm>
            <a:off x="914710" y="1485424"/>
            <a:ext cx="259723" cy="198120"/>
          </a:xfrm>
          <a:prstGeom prst="rect">
            <a:avLst/>
          </a:prstGeom>
          <a:noFill/>
          <a:ln>
            <a:noFill/>
          </a:ln>
        </p:spPr>
        <p:txBody>
          <a:bodyPr wrap="none" lIns="0" tIns="0" rIns="0" bIns="0" anchor="t" anchorCtr="0">
            <a:spAutoFit/>
          </a:bodyPr>
          <a:lstStyle/>
          <a:p>
            <a:pPr algn="r"/>
            <a:r>
              <a:rPr lang="zh-CN" sz="975" dirty="0">
                <a:solidFill>
                  <a:srgbClr val="7D8996"/>
                </a:solidFill>
                <a:latin typeface="Arial"/>
                <a:ea typeface="Microsoft YaHei"/>
                <a:cs typeface="Arial"/>
              </a:rPr>
              <a:t>100</a:t>
            </a:r>
          </a:p>
        </p:txBody>
      </p:sp>
      <p:sp>
        <p:nvSpPr>
          <p:cNvPr id="22" name="TextBox 22"/>
          <p:cNvSpPr txBox="1"/>
          <p:nvPr/>
        </p:nvSpPr>
        <p:spPr>
          <a:xfrm>
            <a:off x="671512" y="1078706"/>
            <a:ext cx="3471810" cy="228600"/>
          </a:xfrm>
          <a:prstGeom prst="rect">
            <a:avLst/>
          </a:prstGeom>
          <a:noFill/>
          <a:ln>
            <a:noFill/>
          </a:ln>
        </p:spPr>
        <p:txBody>
          <a:bodyPr wrap="none" lIns="0" tIns="0" rIns="0" bIns="0" anchor="t" anchorCtr="0">
            <a:spAutoFit/>
          </a:bodyPr>
          <a:lstStyle/>
          <a:p>
            <a:pPr algn="l"/>
            <a:r>
              <a:rPr lang="zh-CN" sz="1125" b="1" dirty="0">
                <a:solidFill>
                  <a:srgbClr val="EEF2F6"/>
                </a:solidFill>
                <a:latin typeface="Arial"/>
                <a:ea typeface="Microsoft YaHei"/>
                <a:cs typeface="Arial"/>
              </a:rPr>
              <a:t>New records per year in 2050 (SSP2-4.5)</a:t>
            </a:r>
          </a:p>
        </p:txBody>
      </p:sp>
      <p:sp>
        <p:nvSpPr>
          <p:cNvPr id="23" name="TextBox 23"/>
          <p:cNvSpPr txBox="1"/>
          <p:nvPr/>
        </p:nvSpPr>
        <p:spPr>
          <a:xfrm>
            <a:off x="1180414" y="5963602"/>
            <a:ext cx="1106272" cy="213360"/>
          </a:xfrm>
          <a:prstGeom prst="rect">
            <a:avLst/>
          </a:prstGeom>
          <a:noFill/>
          <a:ln>
            <a:noFill/>
          </a:ln>
        </p:spPr>
        <p:txBody>
          <a:bodyPr wrap="none" lIns="0" tIns="0" rIns="0" bIns="0" anchor="t" anchorCtr="0">
            <a:spAutoFit/>
          </a:bodyPr>
          <a:lstStyle/>
          <a:p>
            <a:pPr algn="ctr"/>
            <a:r>
              <a:rPr lang="zh-CN" sz="1050" dirty="0">
                <a:solidFill>
                  <a:srgbClr val="B4BECA"/>
                </a:solidFill>
                <a:latin typeface="Arial"/>
                <a:ea typeface="Microsoft YaHei"/>
                <a:cs typeface="Arial"/>
              </a:rPr>
              <a:t>effort frozen</a:t>
            </a:r>
          </a:p>
        </p:txBody>
      </p:sp>
      <p:sp>
        <p:nvSpPr>
          <p:cNvPr id="24" name="TextBox 24"/>
          <p:cNvSpPr txBox="1"/>
          <p:nvPr/>
        </p:nvSpPr>
        <p:spPr>
          <a:xfrm>
            <a:off x="4492695" y="5963602"/>
            <a:ext cx="1149210" cy="213360"/>
          </a:xfrm>
          <a:prstGeom prst="rect">
            <a:avLst/>
          </a:prstGeom>
          <a:noFill/>
          <a:ln>
            <a:noFill/>
          </a:ln>
        </p:spPr>
        <p:txBody>
          <a:bodyPr wrap="none" lIns="0" tIns="0" rIns="0" bIns="0" anchor="t" anchorCtr="0">
            <a:spAutoFit/>
          </a:bodyPr>
          <a:lstStyle/>
          <a:p>
            <a:pPr algn="ctr"/>
            <a:r>
              <a:rPr lang="zh-CN" sz="1050" dirty="0">
                <a:solidFill>
                  <a:srgbClr val="B4BECA"/>
                </a:solidFill>
                <a:latin typeface="Arial"/>
                <a:ea typeface="Microsoft YaHei"/>
                <a:cs typeface="Arial"/>
              </a:rPr>
              <a:t>effort growing</a:t>
            </a:r>
          </a:p>
        </p:txBody>
      </p:sp>
      <p:sp>
        <p:nvSpPr>
          <p:cNvPr id="25" name="Line 25"/>
          <p:cNvSpPr/>
          <p:nvPr/>
        </p:nvSpPr>
        <p:spPr>
          <a:xfrm>
            <a:off x="1733550" y="2431732"/>
            <a:ext cx="3333750" cy="2247900"/>
          </a:xfrm>
          <a:custGeom>
            <a:avLst/>
            <a:gdLst/>
            <a:ahLst/>
            <a:cxnLst/>
            <a:rect l="l" t="t" r="r" b="b"/>
            <a:pathLst>
              <a:path w="3333750" h="2247900">
                <a:moveTo>
                  <a:pt x="0" y="2247900"/>
                </a:moveTo>
                <a:lnTo>
                  <a:pt x="3333750" y="0"/>
                </a:lnTo>
              </a:path>
            </a:pathLst>
          </a:custGeom>
          <a:noFill/>
          <a:ln w="38100">
            <a:solidFill>
              <a:srgbClr val="7DB2E3"/>
            </a:solidFill>
          </a:ln>
        </p:spPr>
      </p:sp>
      <p:sp>
        <p:nvSpPr>
          <p:cNvPr id="26" name="Ellipse 26"/>
          <p:cNvSpPr/>
          <p:nvPr/>
        </p:nvSpPr>
        <p:spPr>
          <a:xfrm>
            <a:off x="1666875" y="4612958"/>
            <a:ext cx="133350" cy="133350"/>
          </a:xfrm>
          <a:prstGeom prst="ellipse">
            <a:avLst/>
          </a:prstGeom>
          <a:solidFill>
            <a:srgbClr val="7DB2E3"/>
          </a:solidFill>
          <a:ln>
            <a:noFill/>
          </a:ln>
        </p:spPr>
      </p:sp>
      <p:sp>
        <p:nvSpPr>
          <p:cNvPr id="27" name="Ellipse 27"/>
          <p:cNvSpPr/>
          <p:nvPr/>
        </p:nvSpPr>
        <p:spPr>
          <a:xfrm>
            <a:off x="5000625" y="2365058"/>
            <a:ext cx="133350" cy="133350"/>
          </a:xfrm>
          <a:prstGeom prst="ellipse">
            <a:avLst/>
          </a:prstGeom>
          <a:solidFill>
            <a:srgbClr val="7DB2E3"/>
          </a:solidFill>
          <a:ln>
            <a:noFill/>
          </a:ln>
        </p:spPr>
      </p:sp>
      <p:sp>
        <p:nvSpPr>
          <p:cNvPr id="28" name="TextBox 28"/>
          <p:cNvSpPr txBox="1"/>
          <p:nvPr/>
        </p:nvSpPr>
        <p:spPr>
          <a:xfrm>
            <a:off x="5205412" y="2367439"/>
            <a:ext cx="2122034" cy="228600"/>
          </a:xfrm>
          <a:prstGeom prst="rect">
            <a:avLst/>
          </a:prstGeom>
          <a:noFill/>
          <a:ln>
            <a:noFill/>
          </a:ln>
        </p:spPr>
        <p:txBody>
          <a:bodyPr wrap="none" lIns="0" tIns="0" rIns="0" bIns="0" anchor="t" anchorCtr="0">
            <a:spAutoFit/>
          </a:bodyPr>
          <a:lstStyle/>
          <a:p>
            <a:pPr algn="l"/>
            <a:r>
              <a:rPr lang="zh-CN" sz="1125" b="1" dirty="0">
                <a:solidFill>
                  <a:srgbClr val="7DB2E3"/>
                </a:solidFill>
                <a:latin typeface="Arial"/>
                <a:ea typeface="Microsoft YaHei"/>
                <a:cs typeface="Arial"/>
              </a:rPr>
              <a:t>Hazard model 26.8 → 79.3</a:t>
            </a:r>
          </a:p>
        </p:txBody>
      </p:sp>
      <p:sp>
        <p:nvSpPr>
          <p:cNvPr id="29" name="Line 29"/>
          <p:cNvSpPr/>
          <p:nvPr/>
        </p:nvSpPr>
        <p:spPr>
          <a:xfrm>
            <a:off x="1733550" y="4777740"/>
            <a:ext cx="3333750" cy="26670"/>
          </a:xfrm>
          <a:custGeom>
            <a:avLst/>
            <a:gdLst/>
            <a:ahLst/>
            <a:cxnLst/>
            <a:rect l="l" t="t" r="r" b="b"/>
            <a:pathLst>
              <a:path w="3333750" h="26670">
                <a:moveTo>
                  <a:pt x="0" y="0"/>
                </a:moveTo>
                <a:lnTo>
                  <a:pt x="3333750" y="26670"/>
                </a:lnTo>
              </a:path>
            </a:pathLst>
          </a:custGeom>
          <a:noFill/>
          <a:ln w="38100">
            <a:solidFill>
              <a:srgbClr val="7D8996"/>
            </a:solidFill>
          </a:ln>
        </p:spPr>
      </p:sp>
      <p:sp>
        <p:nvSpPr>
          <p:cNvPr id="30" name="Ellipse 30"/>
          <p:cNvSpPr/>
          <p:nvPr/>
        </p:nvSpPr>
        <p:spPr>
          <a:xfrm>
            <a:off x="1666875" y="4711065"/>
            <a:ext cx="133350" cy="133350"/>
          </a:xfrm>
          <a:prstGeom prst="ellipse">
            <a:avLst/>
          </a:prstGeom>
          <a:solidFill>
            <a:srgbClr val="7D8996"/>
          </a:solidFill>
          <a:ln>
            <a:noFill/>
          </a:ln>
        </p:spPr>
      </p:sp>
      <p:sp>
        <p:nvSpPr>
          <p:cNvPr id="31" name="Ellipse 31"/>
          <p:cNvSpPr/>
          <p:nvPr/>
        </p:nvSpPr>
        <p:spPr>
          <a:xfrm>
            <a:off x="5000625" y="4737735"/>
            <a:ext cx="133350" cy="133350"/>
          </a:xfrm>
          <a:prstGeom prst="ellipse">
            <a:avLst/>
          </a:prstGeom>
          <a:solidFill>
            <a:srgbClr val="7D8996"/>
          </a:solidFill>
          <a:ln>
            <a:noFill/>
          </a:ln>
        </p:spPr>
      </p:sp>
      <p:sp>
        <p:nvSpPr>
          <p:cNvPr id="32" name="TextBox 32"/>
          <p:cNvSpPr txBox="1"/>
          <p:nvPr/>
        </p:nvSpPr>
        <p:spPr>
          <a:xfrm>
            <a:off x="5205412" y="4740116"/>
            <a:ext cx="2268332" cy="228600"/>
          </a:xfrm>
          <a:prstGeom prst="rect">
            <a:avLst/>
          </a:prstGeom>
          <a:noFill/>
          <a:ln>
            <a:noFill/>
          </a:ln>
        </p:spPr>
        <p:txBody>
          <a:bodyPr wrap="none" lIns="0" tIns="0" rIns="0" bIns="0" anchor="t" anchorCtr="0">
            <a:spAutoFit/>
          </a:bodyPr>
          <a:lstStyle/>
          <a:p>
            <a:pPr algn="l"/>
            <a:r>
              <a:rPr lang="zh-CN" sz="1125" b="1" dirty="0">
                <a:solidFill>
                  <a:srgbClr val="7D8996"/>
                </a:solidFill>
                <a:latin typeface="Arial"/>
                <a:ea typeface="Microsoft YaHei"/>
                <a:cs typeface="Arial"/>
              </a:rPr>
              <a:t>Random forest 24.5 → 23.9</a:t>
            </a:r>
          </a:p>
        </p:txBody>
      </p:sp>
      <p:sp>
        <p:nvSpPr>
          <p:cNvPr id="33" name="Line 33"/>
          <p:cNvSpPr/>
          <p:nvPr/>
        </p:nvSpPr>
        <p:spPr>
          <a:xfrm>
            <a:off x="1733550" y="5202555"/>
            <a:ext cx="3333750" cy="309562"/>
          </a:xfrm>
          <a:custGeom>
            <a:avLst/>
            <a:gdLst/>
            <a:ahLst/>
            <a:cxnLst/>
            <a:rect l="l" t="t" r="r" b="b"/>
            <a:pathLst>
              <a:path w="3333750" h="309562">
                <a:moveTo>
                  <a:pt x="0" y="0"/>
                </a:moveTo>
                <a:lnTo>
                  <a:pt x="3333750" y="309562"/>
                </a:lnTo>
              </a:path>
            </a:pathLst>
          </a:custGeom>
          <a:noFill/>
          <a:ln w="38100">
            <a:solidFill>
              <a:srgbClr val="F2875A"/>
            </a:solidFill>
          </a:ln>
        </p:spPr>
      </p:sp>
      <p:sp>
        <p:nvSpPr>
          <p:cNvPr id="34" name="Ellipse 34"/>
          <p:cNvSpPr/>
          <p:nvPr/>
        </p:nvSpPr>
        <p:spPr>
          <a:xfrm>
            <a:off x="1666875" y="5135880"/>
            <a:ext cx="133350" cy="133350"/>
          </a:xfrm>
          <a:prstGeom prst="ellipse">
            <a:avLst/>
          </a:prstGeom>
          <a:solidFill>
            <a:srgbClr val="F2875A"/>
          </a:solidFill>
          <a:ln>
            <a:noFill/>
          </a:ln>
        </p:spPr>
      </p:sp>
      <p:sp>
        <p:nvSpPr>
          <p:cNvPr id="35" name="Ellipse 35"/>
          <p:cNvSpPr/>
          <p:nvPr/>
        </p:nvSpPr>
        <p:spPr>
          <a:xfrm>
            <a:off x="5000625" y="5445442"/>
            <a:ext cx="133350" cy="133350"/>
          </a:xfrm>
          <a:prstGeom prst="ellipse">
            <a:avLst/>
          </a:prstGeom>
          <a:solidFill>
            <a:srgbClr val="F2875A"/>
          </a:solidFill>
          <a:ln>
            <a:noFill/>
          </a:ln>
        </p:spPr>
      </p:sp>
      <p:sp>
        <p:nvSpPr>
          <p:cNvPr id="36" name="TextBox 36"/>
          <p:cNvSpPr txBox="1"/>
          <p:nvPr/>
        </p:nvSpPr>
        <p:spPr>
          <a:xfrm>
            <a:off x="5205412" y="5447824"/>
            <a:ext cx="1629148" cy="228600"/>
          </a:xfrm>
          <a:prstGeom prst="rect">
            <a:avLst/>
          </a:prstGeom>
          <a:noFill/>
          <a:ln>
            <a:noFill/>
          </a:ln>
        </p:spPr>
        <p:txBody>
          <a:bodyPr wrap="none" lIns="0" tIns="0" rIns="0" bIns="0" anchor="t" anchorCtr="0">
            <a:spAutoFit/>
          </a:bodyPr>
          <a:lstStyle/>
          <a:p>
            <a:pPr algn="l"/>
            <a:r>
              <a:rPr lang="zh-CN" sz="1125" b="1" dirty="0">
                <a:solidFill>
                  <a:srgbClr val="F2875A"/>
                </a:solidFill>
                <a:latin typeface="Arial"/>
                <a:ea typeface="Microsoft YaHei"/>
                <a:cs typeface="Arial"/>
              </a:rPr>
              <a:t>XGBoost 14.6 → 7.4</a:t>
            </a:r>
          </a:p>
        </p:txBody>
      </p:sp>
      <p:sp>
        <p:nvSpPr>
          <p:cNvPr id="37" name="Rectangle 37"/>
          <p:cNvSpPr/>
          <p:nvPr/>
        </p:nvSpPr>
        <p:spPr>
          <a:xfrm>
            <a:off x="7581900" y="1066800"/>
            <a:ext cx="3924300" cy="1454468"/>
          </a:xfrm>
          <a:prstGeom prst="roundRect">
            <a:avLst>
              <a:gd name="adj" fmla="val 5239"/>
            </a:avLst>
          </a:prstGeom>
          <a:solidFill>
            <a:srgbClr val="17222D"/>
          </a:solidFill>
          <a:ln>
            <a:noFill/>
          </a:ln>
        </p:spPr>
      </p:sp>
      <p:sp>
        <p:nvSpPr>
          <p:cNvPr id="38" name="Rectangle 38"/>
          <p:cNvSpPr/>
          <p:nvPr/>
        </p:nvSpPr>
        <p:spPr>
          <a:xfrm>
            <a:off x="7772400" y="1266825"/>
            <a:ext cx="38100" cy="180975"/>
          </a:xfrm>
          <a:prstGeom prst="roundRect">
            <a:avLst>
              <a:gd name="adj" fmla="val 50000"/>
            </a:avLst>
          </a:prstGeom>
          <a:solidFill>
            <a:srgbClr val="F07B4F"/>
          </a:solidFill>
          <a:ln>
            <a:noFill/>
          </a:ln>
        </p:spPr>
      </p:sp>
      <p:sp>
        <p:nvSpPr>
          <p:cNvPr id="39" name="TextBox 39"/>
          <p:cNvSpPr txBox="1"/>
          <p:nvPr/>
        </p:nvSpPr>
        <p:spPr>
          <a:xfrm>
            <a:off x="7889558" y="1281589"/>
            <a:ext cx="3490598"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Same scenarios, three model families</a:t>
            </a:r>
          </a:p>
        </p:txBody>
      </p:sp>
      <p:sp>
        <p:nvSpPr>
          <p:cNvPr id="40" name="TextBox 40"/>
          <p:cNvSpPr txBox="1"/>
          <p:nvPr/>
        </p:nvSpPr>
        <p:spPr>
          <a:xfrm>
            <a:off x="7758112" y="1554956"/>
            <a:ext cx="2499741"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All agree on where records fall</a:t>
            </a:r>
          </a:p>
        </p:txBody>
      </p:sp>
      <p:sp>
        <p:nvSpPr>
          <p:cNvPr id="41" name="TextBox 41"/>
          <p:cNvSpPr txBox="1"/>
          <p:nvPr/>
        </p:nvSpPr>
        <p:spPr>
          <a:xfrm>
            <a:off x="7758112" y="1783556"/>
            <a:ext cx="2259854"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ρ = 0.59–0.89 across units</a:t>
            </a:r>
          </a:p>
        </p:txBody>
      </p:sp>
      <p:sp>
        <p:nvSpPr>
          <p:cNvPr id="42" name="Rectangle 42"/>
          <p:cNvSpPr/>
          <p:nvPr/>
        </p:nvSpPr>
        <p:spPr>
          <a:xfrm>
            <a:off x="7581900" y="2845118"/>
            <a:ext cx="3924300" cy="1683068"/>
          </a:xfrm>
          <a:prstGeom prst="roundRect">
            <a:avLst>
              <a:gd name="adj" fmla="val 4527"/>
            </a:avLst>
          </a:prstGeom>
          <a:solidFill>
            <a:srgbClr val="17222D"/>
          </a:solidFill>
          <a:ln>
            <a:noFill/>
          </a:ln>
        </p:spPr>
      </p:sp>
      <p:sp>
        <p:nvSpPr>
          <p:cNvPr id="43" name="Rectangle 43"/>
          <p:cNvSpPr/>
          <p:nvPr/>
        </p:nvSpPr>
        <p:spPr>
          <a:xfrm>
            <a:off x="7772400" y="3045142"/>
            <a:ext cx="38100" cy="180975"/>
          </a:xfrm>
          <a:prstGeom prst="roundRect">
            <a:avLst>
              <a:gd name="adj" fmla="val 50000"/>
            </a:avLst>
          </a:prstGeom>
          <a:solidFill>
            <a:srgbClr val="7DB2E3"/>
          </a:solidFill>
          <a:ln>
            <a:noFill/>
          </a:ln>
        </p:spPr>
      </p:sp>
      <p:sp>
        <p:nvSpPr>
          <p:cNvPr id="44" name="TextBox 44"/>
          <p:cNvSpPr txBox="1"/>
          <p:nvPr/>
        </p:nvSpPr>
        <p:spPr>
          <a:xfrm>
            <a:off x="7889558" y="3059906"/>
            <a:ext cx="2551038"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They disagree on how many</a:t>
            </a:r>
          </a:p>
        </p:txBody>
      </p:sp>
      <p:sp>
        <p:nvSpPr>
          <p:cNvPr id="45" name="TextBox 45"/>
          <p:cNvSpPr txBox="1"/>
          <p:nvPr/>
        </p:nvSpPr>
        <p:spPr>
          <a:xfrm>
            <a:off x="7758112" y="3333274"/>
            <a:ext cx="1513904" cy="228600"/>
          </a:xfrm>
          <a:prstGeom prst="rect">
            <a:avLst/>
          </a:prstGeom>
          <a:noFill/>
          <a:ln>
            <a:noFill/>
          </a:ln>
        </p:spPr>
        <p:txBody>
          <a:bodyPr wrap="none" lIns="0" tIns="0" rIns="0" bIns="0" anchor="t" anchorCtr="0">
            <a:spAutoFit/>
          </a:bodyPr>
          <a:lstStyle/>
          <a:p>
            <a:pPr algn="l"/>
            <a:r>
              <a:rPr lang="zh-CN" sz="1125" dirty="0">
                <a:solidFill>
                  <a:srgbClr val="7DB2E3"/>
                </a:solidFill>
                <a:latin typeface="Arial"/>
                <a:ea typeface="Microsoft YaHei"/>
                <a:cs typeface="Arial"/>
              </a:rPr>
              <a:t>Hazard model rises</a:t>
            </a:r>
          </a:p>
        </p:txBody>
      </p:sp>
      <p:sp>
        <p:nvSpPr>
          <p:cNvPr id="46" name="TextBox 46"/>
          <p:cNvSpPr txBox="1"/>
          <p:nvPr/>
        </p:nvSpPr>
        <p:spPr>
          <a:xfrm>
            <a:off x="7758112" y="3561874"/>
            <a:ext cx="2072545"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Random forest stays flat</a:t>
            </a:r>
          </a:p>
        </p:txBody>
      </p:sp>
      <p:sp>
        <p:nvSpPr>
          <p:cNvPr id="47" name="TextBox 47"/>
          <p:cNvSpPr txBox="1"/>
          <p:nvPr/>
        </p:nvSpPr>
        <p:spPr>
          <a:xfrm>
            <a:off x="7758112" y="3790474"/>
            <a:ext cx="1093280" cy="228600"/>
          </a:xfrm>
          <a:prstGeom prst="rect">
            <a:avLst/>
          </a:prstGeom>
          <a:noFill/>
          <a:ln>
            <a:noFill/>
          </a:ln>
        </p:spPr>
        <p:txBody>
          <a:bodyPr wrap="none" lIns="0" tIns="0" rIns="0" bIns="0" anchor="t" anchorCtr="0">
            <a:spAutoFit/>
          </a:bodyPr>
          <a:lstStyle/>
          <a:p>
            <a:pPr algn="l"/>
            <a:r>
              <a:rPr lang="zh-CN" sz="1125" dirty="0">
                <a:solidFill>
                  <a:srgbClr val="F2875A"/>
                </a:solidFill>
                <a:latin typeface="Arial"/>
                <a:ea typeface="Microsoft YaHei"/>
                <a:cs typeface="Arial"/>
              </a:rPr>
              <a:t>XGBoost falls</a:t>
            </a:r>
          </a:p>
        </p:txBody>
      </p:sp>
      <p:sp>
        <p:nvSpPr>
          <p:cNvPr id="48" name="Rectangle 48"/>
          <p:cNvSpPr/>
          <p:nvPr/>
        </p:nvSpPr>
        <p:spPr>
          <a:xfrm>
            <a:off x="7581900" y="4851082"/>
            <a:ext cx="3924300" cy="1473518"/>
          </a:xfrm>
          <a:prstGeom prst="roundRect">
            <a:avLst>
              <a:gd name="adj" fmla="val 5171"/>
            </a:avLst>
          </a:prstGeom>
          <a:solidFill>
            <a:srgbClr val="F07B4F"/>
          </a:solidFill>
          <a:ln>
            <a:noFill/>
          </a:ln>
        </p:spPr>
      </p:sp>
      <p:sp>
        <p:nvSpPr>
          <p:cNvPr id="49" name="TextBox 49"/>
          <p:cNvSpPr txBox="1"/>
          <p:nvPr/>
        </p:nvSpPr>
        <p:spPr>
          <a:xfrm>
            <a:off x="8017943" y="5252085"/>
            <a:ext cx="3052215" cy="274320"/>
          </a:xfrm>
          <a:prstGeom prst="rect">
            <a:avLst/>
          </a:prstGeom>
          <a:noFill/>
          <a:ln>
            <a:noFill/>
          </a:ln>
        </p:spPr>
        <p:txBody>
          <a:bodyPr wrap="none" lIns="0" tIns="0" rIns="0" bIns="0" anchor="t" anchorCtr="0">
            <a:spAutoFit/>
          </a:bodyPr>
          <a:lstStyle/>
          <a:p>
            <a:pPr algn="ctr"/>
            <a:r>
              <a:rPr lang="zh-CN" sz="1350" b="1" dirty="0">
                <a:solidFill>
                  <a:srgbClr val="10171F"/>
                </a:solidFill>
                <a:latin typeface="Arial"/>
                <a:ea typeface="Microsoft YaHei"/>
                <a:cs typeface="Arial"/>
              </a:rPr>
              <a:t>Not a contest between models</a:t>
            </a:r>
          </a:p>
        </p:txBody>
      </p:sp>
      <p:sp>
        <p:nvSpPr>
          <p:cNvPr id="50" name="TextBox 50"/>
          <p:cNvSpPr txBox="1"/>
          <p:nvPr/>
        </p:nvSpPr>
        <p:spPr>
          <a:xfrm>
            <a:off x="8039100" y="5544502"/>
            <a:ext cx="3009900" cy="243840"/>
          </a:xfrm>
          <a:prstGeom prst="rect">
            <a:avLst/>
          </a:prstGeom>
          <a:noFill/>
          <a:ln>
            <a:noFill/>
          </a:ln>
        </p:spPr>
        <p:txBody>
          <a:bodyPr wrap="none" lIns="0" tIns="0" rIns="0" bIns="0" anchor="t" anchorCtr="0">
            <a:spAutoFit/>
          </a:bodyPr>
          <a:lstStyle/>
          <a:p>
            <a:pPr algn="ctr"/>
            <a:r>
              <a:rPr lang="zh-CN" sz="1200" dirty="0">
                <a:solidFill>
                  <a:srgbClr val="2C1A10"/>
                </a:solidFill>
                <a:latin typeface="Arial"/>
                <a:ea typeface="Microsoft YaHei"/>
                <a:cs typeface="Arial"/>
              </a:rPr>
              <a:t>Outside the data nobody can check</a:t>
            </a:r>
          </a:p>
        </p:txBody>
      </p:sp>
      <p:sp>
        <p:nvSpPr>
          <p:cNvPr id="51" name="TextBox 51"/>
          <p:cNvSpPr txBox="1"/>
          <p:nvPr/>
        </p:nvSpPr>
        <p:spPr>
          <a:xfrm>
            <a:off x="8536838" y="5782628"/>
            <a:ext cx="2014423" cy="243840"/>
          </a:xfrm>
          <a:prstGeom prst="rect">
            <a:avLst/>
          </a:prstGeom>
          <a:noFill/>
          <a:ln>
            <a:noFill/>
          </a:ln>
        </p:spPr>
        <p:txBody>
          <a:bodyPr wrap="none" lIns="0" tIns="0" rIns="0" bIns="0" anchor="t" anchorCtr="0">
            <a:spAutoFit/>
          </a:bodyPr>
          <a:lstStyle/>
          <a:p>
            <a:pPr algn="ctr"/>
            <a:r>
              <a:rPr lang="zh-CN" sz="1200" dirty="0">
                <a:solidFill>
                  <a:srgbClr val="2C1A10"/>
                </a:solidFill>
                <a:latin typeface="Arial"/>
                <a:ea typeface="Microsoft YaHei"/>
                <a:cs typeface="Arial"/>
              </a:rPr>
              <a:t>which direction is right</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USE 3</a:t>
            </a:r>
          </a:p>
        </p:txBody>
      </p:sp>
      <p:sp>
        <p:nvSpPr>
          <p:cNvPr id="4" name="TextBox 4"/>
          <p:cNvSpPr txBox="1"/>
          <p:nvPr/>
        </p:nvSpPr>
        <p:spPr>
          <a:xfrm>
            <a:off x="660082" y="600551"/>
            <a:ext cx="8390437"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Data support, not ambition, sets the forecast horizon</a:t>
            </a:r>
          </a:p>
        </p:txBody>
      </p:sp>
      <p:sp>
        <p:nvSpPr>
          <p:cNvPr id="5" name="TextBox 5"/>
          <p:cNvSpPr txBox="1"/>
          <p:nvPr/>
        </p:nvSpPr>
        <p:spPr>
          <a:xfrm>
            <a:off x="9847764" y="340995"/>
            <a:ext cx="1669866"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Figure 7 · SI Figs S6–S8</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8542020"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15 / 19</a:t>
            </a:r>
          </a:p>
        </p:txBody>
      </p:sp>
      <p:sp>
        <p:nvSpPr>
          <p:cNvPr id="10" name="Rectangle 10"/>
          <p:cNvSpPr/>
          <p:nvPr/>
        </p:nvSpPr>
        <p:spPr>
          <a:xfrm>
            <a:off x="590550" y="1047750"/>
            <a:ext cx="6096000" cy="4373880"/>
          </a:xfrm>
          <a:prstGeom prst="roundRect">
            <a:avLst>
              <a:gd name="adj" fmla="val 1742"/>
            </a:avLst>
          </a:prstGeom>
          <a:solidFill>
            <a:srgbClr val="FFFFFF"/>
          </a:solidFill>
          <a:ln>
            <a:noFill/>
          </a:ln>
        </p:spPr>
      </p:sp>
      <p:pic>
        <p:nvPicPr>
          <p:cNvPr id="11" name="Image 11"/>
          <p:cNvPicPr>
            <a:picLocks noChangeAspect="1"/>
          </p:cNvPicPr>
          <p:nvPr/>
        </p:nvPicPr>
        <p:blipFill>
          <a:blip r:embed="rId2"/>
          <a:stretch>
            <a:fillRect/>
          </a:stretch>
        </p:blipFill>
        <p:spPr>
          <a:xfrm>
            <a:off x="685800" y="1143000"/>
            <a:ext cx="5905500" cy="4183380"/>
          </a:xfrm>
          <a:prstGeom prst="rect">
            <a:avLst/>
          </a:prstGeom>
        </p:spPr>
      </p:pic>
      <p:sp>
        <p:nvSpPr>
          <p:cNvPr id="12" name="Rectangle 12"/>
          <p:cNvSpPr/>
          <p:nvPr/>
        </p:nvSpPr>
        <p:spPr>
          <a:xfrm>
            <a:off x="6972300" y="1066800"/>
            <a:ext cx="4533900" cy="1229678"/>
          </a:xfrm>
          <a:prstGeom prst="roundRect">
            <a:avLst>
              <a:gd name="adj" fmla="val 6197"/>
            </a:avLst>
          </a:prstGeom>
          <a:solidFill>
            <a:srgbClr val="17222D"/>
          </a:solidFill>
          <a:ln>
            <a:noFill/>
          </a:ln>
        </p:spPr>
      </p:sp>
      <p:sp>
        <p:nvSpPr>
          <p:cNvPr id="13" name="Rectangle 13"/>
          <p:cNvSpPr/>
          <p:nvPr/>
        </p:nvSpPr>
        <p:spPr>
          <a:xfrm>
            <a:off x="7162800" y="1266825"/>
            <a:ext cx="38100" cy="180975"/>
          </a:xfrm>
          <a:prstGeom prst="roundRect">
            <a:avLst>
              <a:gd name="adj" fmla="val 50000"/>
            </a:avLst>
          </a:prstGeom>
          <a:solidFill>
            <a:srgbClr val="F07B4F"/>
          </a:solidFill>
          <a:ln>
            <a:noFill/>
          </a:ln>
        </p:spPr>
      </p:sp>
      <p:sp>
        <p:nvSpPr>
          <p:cNvPr id="14" name="TextBox 14"/>
          <p:cNvSpPr txBox="1"/>
          <p:nvPr/>
        </p:nvSpPr>
        <p:spPr>
          <a:xfrm>
            <a:off x="7279958" y="1281589"/>
            <a:ext cx="3200440"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Support shrinks fast (SSP2-4.5)</a:t>
            </a:r>
          </a:p>
        </p:txBody>
      </p:sp>
      <p:sp>
        <p:nvSpPr>
          <p:cNvPr id="15" name="TextBox 15"/>
          <p:cNvSpPr txBox="1"/>
          <p:nvPr/>
        </p:nvSpPr>
        <p:spPr>
          <a:xfrm>
            <a:off x="7148512" y="1554956"/>
            <a:ext cx="2355152"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Cells inside the fitted range:</a:t>
            </a:r>
          </a:p>
        </p:txBody>
      </p:sp>
      <p:sp>
        <p:nvSpPr>
          <p:cNvPr id="16" name="TextBox 16"/>
          <p:cNvSpPr txBox="1"/>
          <p:nvPr/>
        </p:nvSpPr>
        <p:spPr>
          <a:xfrm>
            <a:off x="7148512" y="1783556"/>
            <a:ext cx="3036398" cy="228600"/>
          </a:xfrm>
          <a:prstGeom prst="rect">
            <a:avLst/>
          </a:prstGeom>
          <a:noFill/>
          <a:ln>
            <a:noFill/>
          </a:ln>
        </p:spPr>
        <p:txBody>
          <a:bodyPr wrap="none" lIns="0" tIns="0" rIns="0" bIns="0" anchor="t" anchorCtr="0">
            <a:spAutoFit/>
          </a:bodyPr>
          <a:lstStyle/>
          <a:p>
            <a:pPr algn="l"/>
            <a:r>
              <a:rPr lang="zh-CN" sz="1125" b="1" dirty="0">
                <a:solidFill>
                  <a:srgbClr val="EEF2F6"/>
                </a:solidFill>
                <a:latin typeface="Arial"/>
                <a:ea typeface="Microsoft YaHei"/>
                <a:cs typeface="Arial"/>
              </a:rPr>
              <a:t>2030: 46% → 2050: 6% → 2080: none</a:t>
            </a:r>
          </a:p>
        </p:txBody>
      </p:sp>
      <p:sp>
        <p:nvSpPr>
          <p:cNvPr id="17" name="Rectangle 17"/>
          <p:cNvSpPr/>
          <p:nvPr/>
        </p:nvSpPr>
        <p:spPr>
          <a:xfrm>
            <a:off x="6972300" y="2620328"/>
            <a:ext cx="4533900" cy="1229678"/>
          </a:xfrm>
          <a:prstGeom prst="roundRect">
            <a:avLst>
              <a:gd name="adj" fmla="val 6197"/>
            </a:avLst>
          </a:prstGeom>
          <a:solidFill>
            <a:srgbClr val="17222D"/>
          </a:solidFill>
          <a:ln>
            <a:noFill/>
          </a:ln>
        </p:spPr>
      </p:sp>
      <p:sp>
        <p:nvSpPr>
          <p:cNvPr id="18" name="Rectangle 18"/>
          <p:cNvSpPr/>
          <p:nvPr/>
        </p:nvSpPr>
        <p:spPr>
          <a:xfrm>
            <a:off x="7162800" y="2820352"/>
            <a:ext cx="38100" cy="180975"/>
          </a:xfrm>
          <a:prstGeom prst="roundRect">
            <a:avLst>
              <a:gd name="adj" fmla="val 50000"/>
            </a:avLst>
          </a:prstGeom>
          <a:solidFill>
            <a:srgbClr val="7DB2E3"/>
          </a:solidFill>
          <a:ln>
            <a:noFill/>
          </a:ln>
        </p:spPr>
      </p:sp>
      <p:sp>
        <p:nvSpPr>
          <p:cNvPr id="19" name="TextBox 19"/>
          <p:cNvSpPr txBox="1"/>
          <p:nvPr/>
        </p:nvSpPr>
        <p:spPr>
          <a:xfrm>
            <a:off x="7279958" y="2835116"/>
            <a:ext cx="3500467"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Machine learning does not rescue it</a:t>
            </a:r>
          </a:p>
        </p:txBody>
      </p:sp>
      <p:sp>
        <p:nvSpPr>
          <p:cNvPr id="20" name="TextBox 20"/>
          <p:cNvSpPr txBox="1"/>
          <p:nvPr/>
        </p:nvSpPr>
        <p:spPr>
          <a:xfrm>
            <a:off x="7148512" y="3108484"/>
            <a:ext cx="2757702"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Agree inside the range (ρ = 0.56)</a:t>
            </a:r>
          </a:p>
        </p:txBody>
      </p:sp>
      <p:sp>
        <p:nvSpPr>
          <p:cNvPr id="21" name="TextBox 21"/>
          <p:cNvSpPr txBox="1"/>
          <p:nvPr/>
        </p:nvSpPr>
        <p:spPr>
          <a:xfrm>
            <a:off x="7148512" y="3337084"/>
            <a:ext cx="1467898"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Diverge outside it</a:t>
            </a:r>
          </a:p>
        </p:txBody>
      </p:sp>
      <p:sp>
        <p:nvSpPr>
          <p:cNvPr id="22" name="Rectangle 22"/>
          <p:cNvSpPr/>
          <p:nvPr/>
        </p:nvSpPr>
        <p:spPr>
          <a:xfrm>
            <a:off x="6972300" y="4172902"/>
            <a:ext cx="4533900" cy="1248728"/>
          </a:xfrm>
          <a:prstGeom prst="roundRect">
            <a:avLst>
              <a:gd name="adj" fmla="val 6102"/>
            </a:avLst>
          </a:prstGeom>
          <a:solidFill>
            <a:srgbClr val="F07B4F"/>
          </a:solidFill>
          <a:ln>
            <a:noFill/>
          </a:ln>
        </p:spPr>
      </p:sp>
      <p:sp>
        <p:nvSpPr>
          <p:cNvPr id="23" name="TextBox 23"/>
          <p:cNvSpPr txBox="1"/>
          <p:nvPr/>
        </p:nvSpPr>
        <p:spPr>
          <a:xfrm>
            <a:off x="7771662" y="4460558"/>
            <a:ext cx="2935176" cy="274320"/>
          </a:xfrm>
          <a:prstGeom prst="rect">
            <a:avLst/>
          </a:prstGeom>
          <a:noFill/>
          <a:ln>
            <a:noFill/>
          </a:ln>
        </p:spPr>
        <p:txBody>
          <a:bodyPr wrap="none" lIns="0" tIns="0" rIns="0" bIns="0" anchor="t" anchorCtr="0">
            <a:spAutoFit/>
          </a:bodyPr>
          <a:lstStyle/>
          <a:p>
            <a:pPr algn="ctr"/>
            <a:r>
              <a:rPr lang="zh-CN" sz="1350" b="1" dirty="0">
                <a:solidFill>
                  <a:srgbClr val="10171F"/>
                </a:solidFill>
                <a:latin typeface="Arial"/>
                <a:ea typeface="Microsoft YaHei"/>
                <a:cs typeface="Arial"/>
              </a:rPr>
              <a:t>Report where a model breaks</a:t>
            </a:r>
          </a:p>
        </p:txBody>
      </p:sp>
      <p:sp>
        <p:nvSpPr>
          <p:cNvPr id="24" name="TextBox 24"/>
          <p:cNvSpPr txBox="1"/>
          <p:nvPr/>
        </p:nvSpPr>
        <p:spPr>
          <a:xfrm>
            <a:off x="8708746" y="4752975"/>
            <a:ext cx="1061009" cy="243840"/>
          </a:xfrm>
          <a:prstGeom prst="rect">
            <a:avLst/>
          </a:prstGeom>
          <a:noFill/>
          <a:ln>
            <a:noFill/>
          </a:ln>
        </p:spPr>
        <p:txBody>
          <a:bodyPr wrap="none" lIns="0" tIns="0" rIns="0" bIns="0" anchor="t" anchorCtr="0">
            <a:spAutoFit/>
          </a:bodyPr>
          <a:lstStyle/>
          <a:p>
            <a:pPr algn="ctr"/>
            <a:r>
              <a:rPr lang="zh-CN" sz="1200" dirty="0">
                <a:solidFill>
                  <a:srgbClr val="2C1A10"/>
                </a:solidFill>
                <a:latin typeface="Arial"/>
                <a:ea typeface="Microsoft YaHei"/>
                <a:cs typeface="Arial"/>
              </a:rPr>
              <a:t>2030: usable</a:t>
            </a:r>
          </a:p>
        </p:txBody>
      </p:sp>
      <p:sp>
        <p:nvSpPr>
          <p:cNvPr id="25" name="TextBox 25"/>
          <p:cNvSpPr txBox="1"/>
          <p:nvPr/>
        </p:nvSpPr>
        <p:spPr>
          <a:xfrm>
            <a:off x="7415327" y="4991100"/>
            <a:ext cx="3647846" cy="243840"/>
          </a:xfrm>
          <a:prstGeom prst="rect">
            <a:avLst/>
          </a:prstGeom>
          <a:noFill/>
          <a:ln>
            <a:noFill/>
          </a:ln>
        </p:spPr>
        <p:txBody>
          <a:bodyPr wrap="none" lIns="0" tIns="0" rIns="0" bIns="0" anchor="t" anchorCtr="0">
            <a:spAutoFit/>
          </a:bodyPr>
          <a:lstStyle/>
          <a:p>
            <a:pPr algn="ctr"/>
            <a:r>
              <a:rPr lang="zh-CN" sz="1200" dirty="0">
                <a:solidFill>
                  <a:srgbClr val="2C1A10"/>
                </a:solidFill>
                <a:latin typeface="Arial"/>
                <a:ea typeface="Microsoft YaHei"/>
                <a:cs typeface="Arial"/>
              </a:rPr>
              <a:t>End of century: illustration, not forecast</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LIMITS</a:t>
            </a:r>
          </a:p>
        </p:txBody>
      </p:sp>
      <p:sp>
        <p:nvSpPr>
          <p:cNvPr id="4" name="TextBox 4"/>
          <p:cNvSpPr txBox="1"/>
          <p:nvPr/>
        </p:nvSpPr>
        <p:spPr>
          <a:xfrm>
            <a:off x="660082" y="600551"/>
            <a:ext cx="6710097"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Four limits that travel with the conclusions</a:t>
            </a:r>
          </a:p>
        </p:txBody>
      </p:sp>
      <p:sp>
        <p:nvSpPr>
          <p:cNvPr id="5" name="TextBox 5"/>
          <p:cNvSpPr txBox="1"/>
          <p:nvPr/>
        </p:nvSpPr>
        <p:spPr>
          <a:xfrm>
            <a:off x="10832287" y="340995"/>
            <a:ext cx="685343"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Discussion</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9111615"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16 / 19</a:t>
            </a:r>
          </a:p>
        </p:txBody>
      </p:sp>
      <p:sp>
        <p:nvSpPr>
          <p:cNvPr id="10" name="Rectangle 10"/>
          <p:cNvSpPr/>
          <p:nvPr/>
        </p:nvSpPr>
        <p:spPr>
          <a:xfrm>
            <a:off x="685800" y="1066800"/>
            <a:ext cx="10820400" cy="1123950"/>
          </a:xfrm>
          <a:prstGeom prst="roundRect">
            <a:avLst>
              <a:gd name="adj" fmla="val 6780"/>
            </a:avLst>
          </a:prstGeom>
          <a:solidFill>
            <a:srgbClr val="17222D"/>
          </a:solidFill>
          <a:ln>
            <a:noFill/>
          </a:ln>
        </p:spPr>
      </p:sp>
      <p:sp>
        <p:nvSpPr>
          <p:cNvPr id="11" name="Rectangle 11"/>
          <p:cNvSpPr/>
          <p:nvPr/>
        </p:nvSpPr>
        <p:spPr>
          <a:xfrm>
            <a:off x="685800" y="1066800"/>
            <a:ext cx="57150" cy="1123950"/>
          </a:xfrm>
          <a:prstGeom prst="roundRect">
            <a:avLst>
              <a:gd name="adj" fmla="val 50000"/>
            </a:avLst>
          </a:prstGeom>
          <a:solidFill>
            <a:srgbClr val="F07B4F"/>
          </a:solidFill>
          <a:ln>
            <a:noFill/>
          </a:ln>
        </p:spPr>
      </p:sp>
      <p:sp>
        <p:nvSpPr>
          <p:cNvPr id="12" name="TextBox 12"/>
          <p:cNvSpPr txBox="1"/>
          <p:nvPr/>
        </p:nvSpPr>
        <p:spPr>
          <a:xfrm>
            <a:off x="972502" y="1351121"/>
            <a:ext cx="4960177" cy="289560"/>
          </a:xfrm>
          <a:prstGeom prst="rect">
            <a:avLst/>
          </a:prstGeom>
          <a:noFill/>
          <a:ln>
            <a:noFill/>
          </a:ln>
        </p:spPr>
        <p:txBody>
          <a:bodyPr wrap="none" lIns="0" tIns="0" rIns="0" bIns="0" anchor="t" anchorCtr="0">
            <a:spAutoFit/>
          </a:bodyPr>
          <a:lstStyle/>
          <a:p>
            <a:pPr algn="l"/>
            <a:r>
              <a:rPr lang="zh-CN" sz="1425" b="1" dirty="0">
                <a:solidFill>
                  <a:srgbClr val="EEF2F6"/>
                </a:solidFill>
                <a:latin typeface="Arial"/>
                <a:ea typeface="Microsoft YaHei"/>
                <a:cs typeface="Arial"/>
              </a:rPr>
              <a:t>Events are published records, not detections</a:t>
            </a:r>
          </a:p>
        </p:txBody>
      </p:sp>
      <p:sp>
        <p:nvSpPr>
          <p:cNvPr id="13" name="TextBox 13"/>
          <p:cNvSpPr txBox="1"/>
          <p:nvPr/>
        </p:nvSpPr>
        <p:spPr>
          <a:xfrm>
            <a:off x="975360" y="1737360"/>
            <a:ext cx="5836844" cy="243840"/>
          </a:xfrm>
          <a:prstGeom prst="rect">
            <a:avLst/>
          </a:prstGeom>
          <a:noFill/>
          <a:ln>
            <a:noFill/>
          </a:ln>
        </p:spPr>
        <p:txBody>
          <a:bodyPr wrap="none" lIns="0" tIns="0" rIns="0" bIns="0" anchor="t" anchorCtr="0">
            <a:spAutoFit/>
          </a:bodyPr>
          <a:lstStyle/>
          <a:p>
            <a:pPr algn="l"/>
            <a:r>
              <a:rPr lang="zh-CN" sz="1200" dirty="0">
                <a:solidFill>
                  <a:srgbClr val="B4BECA"/>
                </a:solidFill>
                <a:latin typeface="Arial"/>
                <a:ea typeface="Microsoft YaHei"/>
                <a:cs typeface="Arial"/>
              </a:rPr>
              <a:t>We explain how records are documented, not range expansion itself.</a:t>
            </a:r>
          </a:p>
        </p:txBody>
      </p:sp>
      <p:sp>
        <p:nvSpPr>
          <p:cNvPr id="14" name="Rectangle 14"/>
          <p:cNvSpPr/>
          <p:nvPr/>
        </p:nvSpPr>
        <p:spPr>
          <a:xfrm>
            <a:off x="685800" y="2362200"/>
            <a:ext cx="10820400" cy="1123950"/>
          </a:xfrm>
          <a:prstGeom prst="roundRect">
            <a:avLst>
              <a:gd name="adj" fmla="val 6780"/>
            </a:avLst>
          </a:prstGeom>
          <a:solidFill>
            <a:srgbClr val="17222D"/>
          </a:solidFill>
          <a:ln>
            <a:noFill/>
          </a:ln>
        </p:spPr>
      </p:sp>
      <p:sp>
        <p:nvSpPr>
          <p:cNvPr id="15" name="Rectangle 15"/>
          <p:cNvSpPr/>
          <p:nvPr/>
        </p:nvSpPr>
        <p:spPr>
          <a:xfrm>
            <a:off x="685800" y="2362200"/>
            <a:ext cx="57150" cy="1123950"/>
          </a:xfrm>
          <a:prstGeom prst="roundRect">
            <a:avLst>
              <a:gd name="adj" fmla="val 50000"/>
            </a:avLst>
          </a:prstGeom>
          <a:solidFill>
            <a:srgbClr val="F07B4F"/>
          </a:solidFill>
          <a:ln>
            <a:noFill/>
          </a:ln>
        </p:spPr>
      </p:sp>
      <p:sp>
        <p:nvSpPr>
          <p:cNvPr id="16" name="TextBox 16"/>
          <p:cNvSpPr txBox="1"/>
          <p:nvPr/>
        </p:nvSpPr>
        <p:spPr>
          <a:xfrm>
            <a:off x="972502" y="2646521"/>
            <a:ext cx="5046215" cy="289560"/>
          </a:xfrm>
          <a:prstGeom prst="rect">
            <a:avLst/>
          </a:prstGeom>
          <a:noFill/>
          <a:ln>
            <a:noFill/>
          </a:ln>
        </p:spPr>
        <p:txBody>
          <a:bodyPr wrap="none" lIns="0" tIns="0" rIns="0" bIns="0" anchor="t" anchorCtr="0">
            <a:spAutoFit/>
          </a:bodyPr>
          <a:lstStyle/>
          <a:p>
            <a:pPr algn="l"/>
            <a:r>
              <a:rPr lang="zh-CN" sz="1425" b="1" dirty="0">
                <a:solidFill>
                  <a:srgbClr val="EEF2F6"/>
                </a:solidFill>
                <a:latin typeface="Arial"/>
                <a:ea typeface="Microsoft YaHei"/>
                <a:cs typeface="Arial"/>
              </a:rPr>
              <a:t>Coordinates are precise to about 1 km at best</a:t>
            </a:r>
          </a:p>
        </p:txBody>
      </p:sp>
      <p:sp>
        <p:nvSpPr>
          <p:cNvPr id="17" name="TextBox 17"/>
          <p:cNvSpPr txBox="1"/>
          <p:nvPr/>
        </p:nvSpPr>
        <p:spPr>
          <a:xfrm>
            <a:off x="975360" y="3032760"/>
            <a:ext cx="6700876" cy="243840"/>
          </a:xfrm>
          <a:prstGeom prst="rect">
            <a:avLst/>
          </a:prstGeom>
          <a:noFill/>
          <a:ln>
            <a:noFill/>
          </a:ln>
        </p:spPr>
        <p:txBody>
          <a:bodyPr wrap="none" lIns="0" tIns="0" rIns="0" bIns="0" anchor="t" anchorCtr="0">
            <a:spAutoFit/>
          </a:bodyPr>
          <a:lstStyle/>
          <a:p>
            <a:pPr algn="l"/>
            <a:r>
              <a:rPr lang="zh-CN" sz="1200" dirty="0">
                <a:solidFill>
                  <a:srgbClr val="B4BECA"/>
                </a:solidFill>
                <a:latin typeface="Arial"/>
                <a:ea typeface="Microsoft YaHei"/>
                <a:cs typeface="Arial"/>
              </a:rPr>
              <a:t>Reserve-overlap tests therefore use 0–5 km buffers as a sensitivity check.</a:t>
            </a:r>
          </a:p>
        </p:txBody>
      </p:sp>
      <p:sp>
        <p:nvSpPr>
          <p:cNvPr id="18" name="Rectangle 18"/>
          <p:cNvSpPr/>
          <p:nvPr/>
        </p:nvSpPr>
        <p:spPr>
          <a:xfrm>
            <a:off x="685800" y="3657600"/>
            <a:ext cx="10820400" cy="1123950"/>
          </a:xfrm>
          <a:prstGeom prst="roundRect">
            <a:avLst>
              <a:gd name="adj" fmla="val 6780"/>
            </a:avLst>
          </a:prstGeom>
          <a:solidFill>
            <a:srgbClr val="17222D"/>
          </a:solidFill>
          <a:ln>
            <a:noFill/>
          </a:ln>
        </p:spPr>
      </p:sp>
      <p:sp>
        <p:nvSpPr>
          <p:cNvPr id="19" name="Rectangle 19"/>
          <p:cNvSpPr/>
          <p:nvPr/>
        </p:nvSpPr>
        <p:spPr>
          <a:xfrm>
            <a:off x="685800" y="3657600"/>
            <a:ext cx="57150" cy="1123950"/>
          </a:xfrm>
          <a:prstGeom prst="roundRect">
            <a:avLst>
              <a:gd name="adj" fmla="val 50000"/>
            </a:avLst>
          </a:prstGeom>
          <a:solidFill>
            <a:srgbClr val="F07B4F"/>
          </a:solidFill>
          <a:ln>
            <a:noFill/>
          </a:ln>
        </p:spPr>
      </p:sp>
      <p:sp>
        <p:nvSpPr>
          <p:cNvPr id="20" name="TextBox 20"/>
          <p:cNvSpPr txBox="1"/>
          <p:nvPr/>
        </p:nvSpPr>
        <p:spPr>
          <a:xfrm>
            <a:off x="972502" y="3941921"/>
            <a:ext cx="6160288" cy="289560"/>
          </a:xfrm>
          <a:prstGeom prst="rect">
            <a:avLst/>
          </a:prstGeom>
          <a:noFill/>
          <a:ln>
            <a:noFill/>
          </a:ln>
        </p:spPr>
        <p:txBody>
          <a:bodyPr wrap="none" lIns="0" tIns="0" rIns="0" bIns="0" anchor="t" anchorCtr="0">
            <a:spAutoFit/>
          </a:bodyPr>
          <a:lstStyle/>
          <a:p>
            <a:pPr algn="l"/>
            <a:r>
              <a:rPr lang="zh-CN" sz="1425" b="1" dirty="0">
                <a:solidFill>
                  <a:srgbClr val="EEF2F6"/>
                </a:solidFill>
                <a:latin typeface="Arial"/>
                <a:ea typeface="Microsoft YaHei"/>
                <a:cs typeface="Arial"/>
              </a:rPr>
              <a:t>Reserve polygons cover about a third of listed reserves</a:t>
            </a:r>
          </a:p>
        </p:txBody>
      </p:sp>
      <p:sp>
        <p:nvSpPr>
          <p:cNvPr id="21" name="TextBox 21"/>
          <p:cNvSpPr txBox="1"/>
          <p:nvPr/>
        </p:nvSpPr>
        <p:spPr>
          <a:xfrm>
            <a:off x="975360" y="4328160"/>
            <a:ext cx="4860646" cy="243840"/>
          </a:xfrm>
          <a:prstGeom prst="rect">
            <a:avLst/>
          </a:prstGeom>
          <a:noFill/>
          <a:ln>
            <a:noFill/>
          </a:ln>
        </p:spPr>
        <p:txBody>
          <a:bodyPr wrap="none" lIns="0" tIns="0" rIns="0" bIns="0" anchor="t" anchorCtr="0">
            <a:spAutoFit/>
          </a:bodyPr>
          <a:lstStyle/>
          <a:p>
            <a:pPr algn="l"/>
            <a:r>
              <a:rPr lang="zh-CN" sz="1200" dirty="0">
                <a:solidFill>
                  <a:srgbClr val="B4BECA"/>
                </a:solidFill>
                <a:latin typeface="Arial"/>
                <a:ea typeface="Microsoft YaHei"/>
                <a:cs typeface="Arial"/>
              </a:rPr>
              <a:t>1,028 mapped reserves: no gap analysis, no 30×30 claims.</a:t>
            </a:r>
          </a:p>
        </p:txBody>
      </p:sp>
      <p:sp>
        <p:nvSpPr>
          <p:cNvPr id="22" name="Rectangle 22"/>
          <p:cNvSpPr/>
          <p:nvPr/>
        </p:nvSpPr>
        <p:spPr>
          <a:xfrm>
            <a:off x="685800" y="4953000"/>
            <a:ext cx="10820400" cy="1123950"/>
          </a:xfrm>
          <a:prstGeom prst="roundRect">
            <a:avLst>
              <a:gd name="adj" fmla="val 6780"/>
            </a:avLst>
          </a:prstGeom>
          <a:solidFill>
            <a:srgbClr val="17222D"/>
          </a:solidFill>
          <a:ln>
            <a:noFill/>
          </a:ln>
        </p:spPr>
      </p:sp>
      <p:sp>
        <p:nvSpPr>
          <p:cNvPr id="23" name="Rectangle 23"/>
          <p:cNvSpPr/>
          <p:nvPr/>
        </p:nvSpPr>
        <p:spPr>
          <a:xfrm>
            <a:off x="685800" y="4953000"/>
            <a:ext cx="57150" cy="1123950"/>
          </a:xfrm>
          <a:prstGeom prst="roundRect">
            <a:avLst>
              <a:gd name="adj" fmla="val 50000"/>
            </a:avLst>
          </a:prstGeom>
          <a:solidFill>
            <a:srgbClr val="F07B4F"/>
          </a:solidFill>
          <a:ln>
            <a:noFill/>
          </a:ln>
        </p:spPr>
      </p:sp>
      <p:sp>
        <p:nvSpPr>
          <p:cNvPr id="24" name="TextBox 24"/>
          <p:cNvSpPr txBox="1"/>
          <p:nvPr/>
        </p:nvSpPr>
        <p:spPr>
          <a:xfrm>
            <a:off x="972502" y="5237321"/>
            <a:ext cx="5330800" cy="289560"/>
          </a:xfrm>
          <a:prstGeom prst="rect">
            <a:avLst/>
          </a:prstGeom>
          <a:noFill/>
          <a:ln>
            <a:noFill/>
          </a:ln>
        </p:spPr>
        <p:txBody>
          <a:bodyPr wrap="none" lIns="0" tIns="0" rIns="0" bIns="0" anchor="t" anchorCtr="0">
            <a:spAutoFit/>
          </a:bodyPr>
          <a:lstStyle/>
          <a:p>
            <a:pPr algn="l"/>
            <a:r>
              <a:rPr lang="zh-CN" sz="1425" b="1" dirty="0">
                <a:solidFill>
                  <a:srgbClr val="EEF2F6"/>
                </a:solidFill>
                <a:latin typeface="Arial"/>
                <a:ea typeface="Microsoft YaHei"/>
                <a:cs typeface="Arial"/>
              </a:rPr>
              <a:t>Projections leave the fitted support after 2030</a:t>
            </a:r>
          </a:p>
        </p:txBody>
      </p:sp>
      <p:sp>
        <p:nvSpPr>
          <p:cNvPr id="25" name="TextBox 25"/>
          <p:cNvSpPr txBox="1"/>
          <p:nvPr/>
        </p:nvSpPr>
        <p:spPr>
          <a:xfrm>
            <a:off x="975360" y="5623560"/>
            <a:ext cx="7272223" cy="243840"/>
          </a:xfrm>
          <a:prstGeom prst="rect">
            <a:avLst/>
          </a:prstGeom>
          <a:noFill/>
          <a:ln>
            <a:noFill/>
          </a:ln>
        </p:spPr>
        <p:txBody>
          <a:bodyPr wrap="none" lIns="0" tIns="0" rIns="0" bIns="0" anchor="t" anchorCtr="0">
            <a:spAutoFit/>
          </a:bodyPr>
          <a:lstStyle/>
          <a:p>
            <a:pPr algn="l"/>
            <a:r>
              <a:rPr lang="zh-CN" sz="1200" dirty="0">
                <a:solidFill>
                  <a:srgbClr val="B4BECA"/>
                </a:solidFill>
                <a:latin typeface="Arial"/>
                <a:ea typeface="Microsoft YaHei"/>
                <a:cs typeface="Arial"/>
              </a:rPr>
              <a:t>Late-century maps are illustrations; the effort coefficient used is an upper bound.</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TAKE-HOME</a:t>
            </a:r>
          </a:p>
        </p:txBody>
      </p:sp>
      <p:sp>
        <p:nvSpPr>
          <p:cNvPr id="4" name="TextBox 4"/>
          <p:cNvSpPr txBox="1"/>
          <p:nvPr/>
        </p:nvSpPr>
        <p:spPr>
          <a:xfrm>
            <a:off x="660082" y="600551"/>
            <a:ext cx="3938789"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Four take-home messages</a:t>
            </a:r>
          </a:p>
        </p:txBody>
      </p:sp>
      <p:sp>
        <p:nvSpPr>
          <p:cNvPr id="5" name="TextBox 5"/>
          <p:cNvSpPr txBox="1"/>
          <p:nvPr/>
        </p:nvSpPr>
        <p:spPr>
          <a:xfrm>
            <a:off x="10758678" y="340995"/>
            <a:ext cx="758952"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Conclusions</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9681210"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17 / 19</a:t>
            </a:r>
          </a:p>
        </p:txBody>
      </p:sp>
      <p:sp>
        <p:nvSpPr>
          <p:cNvPr id="10" name="Rectangle 10"/>
          <p:cNvSpPr/>
          <p:nvPr/>
        </p:nvSpPr>
        <p:spPr>
          <a:xfrm>
            <a:off x="685800" y="1047750"/>
            <a:ext cx="5295900" cy="990600"/>
          </a:xfrm>
          <a:prstGeom prst="roundRect">
            <a:avLst>
              <a:gd name="adj" fmla="val 7692"/>
            </a:avLst>
          </a:prstGeom>
          <a:solidFill>
            <a:srgbClr val="17222D"/>
          </a:solidFill>
          <a:ln>
            <a:noFill/>
          </a:ln>
        </p:spPr>
      </p:sp>
      <p:sp>
        <p:nvSpPr>
          <p:cNvPr id="11" name="Rectangle 11"/>
          <p:cNvSpPr/>
          <p:nvPr/>
        </p:nvSpPr>
        <p:spPr>
          <a:xfrm>
            <a:off x="876300" y="1247775"/>
            <a:ext cx="38100" cy="180975"/>
          </a:xfrm>
          <a:prstGeom prst="roundRect">
            <a:avLst>
              <a:gd name="adj" fmla="val 50000"/>
            </a:avLst>
          </a:prstGeom>
          <a:solidFill>
            <a:srgbClr val="F2875A"/>
          </a:solidFill>
          <a:ln>
            <a:noFill/>
          </a:ln>
        </p:spPr>
      </p:sp>
      <p:sp>
        <p:nvSpPr>
          <p:cNvPr id="12" name="TextBox 12"/>
          <p:cNvSpPr txBox="1"/>
          <p:nvPr/>
        </p:nvSpPr>
        <p:spPr>
          <a:xfrm>
            <a:off x="992505" y="1254442"/>
            <a:ext cx="3710557" cy="274320"/>
          </a:xfrm>
          <a:prstGeom prst="rect">
            <a:avLst/>
          </a:prstGeom>
          <a:noFill/>
          <a:ln>
            <a:noFill/>
          </a:ln>
        </p:spPr>
        <p:txBody>
          <a:bodyPr wrap="none" lIns="0" tIns="0" rIns="0" bIns="0" anchor="t" anchorCtr="0">
            <a:spAutoFit/>
          </a:bodyPr>
          <a:lstStyle/>
          <a:p>
            <a:pPr algn="l"/>
            <a:r>
              <a:rPr lang="zh-CN" sz="1350" b="1" dirty="0">
                <a:solidFill>
                  <a:srgbClr val="EEF2F6"/>
                </a:solidFill>
                <a:latin typeface="Arial"/>
                <a:ea typeface="Microsoft YaHei"/>
                <a:cs typeface="Arial"/>
              </a:rPr>
              <a:t>1 New records carry a climate signal</a:t>
            </a:r>
          </a:p>
        </p:txBody>
      </p:sp>
      <p:sp>
        <p:nvSpPr>
          <p:cNvPr id="13" name="TextBox 13"/>
          <p:cNvSpPr txBox="1"/>
          <p:nvPr/>
        </p:nvSpPr>
        <p:spPr>
          <a:xfrm>
            <a:off x="861060" y="1527810"/>
            <a:ext cx="3008147" cy="243840"/>
          </a:xfrm>
          <a:prstGeom prst="rect">
            <a:avLst/>
          </a:prstGeom>
          <a:noFill/>
          <a:ln>
            <a:noFill/>
          </a:ln>
        </p:spPr>
        <p:txBody>
          <a:bodyPr wrap="none" lIns="0" tIns="0" rIns="0" bIns="0" anchor="t" anchorCtr="0">
            <a:spAutoFit/>
          </a:bodyPr>
          <a:lstStyle/>
          <a:p>
            <a:pPr algn="l"/>
            <a:r>
              <a:rPr lang="zh-CN" sz="1200" dirty="0">
                <a:solidFill>
                  <a:srgbClr val="EEF2F6"/>
                </a:solidFill>
                <a:latin typeface="Arial"/>
                <a:ea typeface="Microsoft YaHei"/>
                <a:cs typeface="Arial"/>
              </a:rPr>
              <a:t>Warming 1.36 vs effort 1.43 per SD</a:t>
            </a:r>
          </a:p>
        </p:txBody>
      </p:sp>
      <p:sp>
        <p:nvSpPr>
          <p:cNvPr id="14" name="TextBox 14"/>
          <p:cNvSpPr txBox="1"/>
          <p:nvPr/>
        </p:nvSpPr>
        <p:spPr>
          <a:xfrm>
            <a:off x="861060" y="1756410"/>
            <a:ext cx="3304337" cy="243840"/>
          </a:xfrm>
          <a:prstGeom prst="rect">
            <a:avLst/>
          </a:prstGeom>
          <a:noFill/>
          <a:ln>
            <a:noFill/>
          </a:ln>
        </p:spPr>
        <p:txBody>
          <a:bodyPr wrap="none" lIns="0" tIns="0" rIns="0" bIns="0" anchor="t" anchorCtr="0">
            <a:spAutoFit/>
          </a:bodyPr>
          <a:lstStyle/>
          <a:p>
            <a:pPr algn="l"/>
            <a:r>
              <a:rPr lang="zh-CN" sz="1200" dirty="0">
                <a:solidFill>
                  <a:srgbClr val="B4BECA"/>
                </a:solidFill>
                <a:latin typeface="Arial"/>
                <a:ea typeface="Microsoft YaHei"/>
                <a:cs typeface="Arial"/>
              </a:rPr>
              <a:t>comparable, and separable in one model</a:t>
            </a:r>
          </a:p>
        </p:txBody>
      </p:sp>
      <p:sp>
        <p:nvSpPr>
          <p:cNvPr id="15" name="Rectangle 15"/>
          <p:cNvSpPr/>
          <p:nvPr/>
        </p:nvSpPr>
        <p:spPr>
          <a:xfrm>
            <a:off x="6210300" y="1047750"/>
            <a:ext cx="5295900" cy="990600"/>
          </a:xfrm>
          <a:prstGeom prst="roundRect">
            <a:avLst>
              <a:gd name="adj" fmla="val 7692"/>
            </a:avLst>
          </a:prstGeom>
          <a:solidFill>
            <a:srgbClr val="17222D"/>
          </a:solidFill>
          <a:ln>
            <a:noFill/>
          </a:ln>
        </p:spPr>
      </p:sp>
      <p:sp>
        <p:nvSpPr>
          <p:cNvPr id="16" name="Rectangle 16"/>
          <p:cNvSpPr/>
          <p:nvPr/>
        </p:nvSpPr>
        <p:spPr>
          <a:xfrm>
            <a:off x="6400800" y="1247775"/>
            <a:ext cx="38100" cy="180975"/>
          </a:xfrm>
          <a:prstGeom prst="roundRect">
            <a:avLst>
              <a:gd name="adj" fmla="val 50000"/>
            </a:avLst>
          </a:prstGeom>
          <a:solidFill>
            <a:srgbClr val="EEF2F6"/>
          </a:solidFill>
          <a:ln>
            <a:noFill/>
          </a:ln>
        </p:spPr>
      </p:sp>
      <p:sp>
        <p:nvSpPr>
          <p:cNvPr id="17" name="TextBox 17"/>
          <p:cNvSpPr txBox="1"/>
          <p:nvPr/>
        </p:nvSpPr>
        <p:spPr>
          <a:xfrm>
            <a:off x="6517005" y="1254442"/>
            <a:ext cx="4005243" cy="274320"/>
          </a:xfrm>
          <a:prstGeom prst="rect">
            <a:avLst/>
          </a:prstGeom>
          <a:noFill/>
          <a:ln>
            <a:noFill/>
          </a:ln>
        </p:spPr>
        <p:txBody>
          <a:bodyPr wrap="none" lIns="0" tIns="0" rIns="0" bIns="0" anchor="t" anchorCtr="0">
            <a:spAutoFit/>
          </a:bodyPr>
          <a:lstStyle/>
          <a:p>
            <a:pPr algn="l"/>
            <a:r>
              <a:rPr lang="zh-CN" sz="1350" b="1" dirty="0">
                <a:solidFill>
                  <a:srgbClr val="EEF2F6"/>
                </a:solidFill>
                <a:latin typeface="Arial"/>
                <a:ea typeface="Microsoft YaHei"/>
                <a:cs typeface="Arial"/>
              </a:rPr>
              <a:t>2 Warming matters most where few look</a:t>
            </a:r>
          </a:p>
        </p:txBody>
      </p:sp>
      <p:sp>
        <p:nvSpPr>
          <p:cNvPr id="18" name="TextBox 18"/>
          <p:cNvSpPr txBox="1"/>
          <p:nvPr/>
        </p:nvSpPr>
        <p:spPr>
          <a:xfrm>
            <a:off x="6385560" y="1527810"/>
            <a:ext cx="2144116" cy="243840"/>
          </a:xfrm>
          <a:prstGeom prst="rect">
            <a:avLst/>
          </a:prstGeom>
          <a:noFill/>
          <a:ln>
            <a:noFill/>
          </a:ln>
        </p:spPr>
        <p:txBody>
          <a:bodyPr wrap="none" lIns="0" tIns="0" rIns="0" bIns="0" anchor="t" anchorCtr="0">
            <a:spAutoFit/>
          </a:bodyPr>
          <a:lstStyle/>
          <a:p>
            <a:pPr algn="l"/>
            <a:r>
              <a:rPr lang="zh-CN" sz="1200" dirty="0">
                <a:solidFill>
                  <a:srgbClr val="EEF2F6"/>
                </a:solidFill>
                <a:latin typeface="Arial"/>
                <a:ea typeface="Microsoft YaHei"/>
                <a:cs typeface="Arial"/>
              </a:rPr>
              <a:t>Warming × effort = 0.84</a:t>
            </a:r>
          </a:p>
        </p:txBody>
      </p:sp>
      <p:sp>
        <p:nvSpPr>
          <p:cNvPr id="19" name="TextBox 19"/>
          <p:cNvSpPr txBox="1"/>
          <p:nvPr/>
        </p:nvSpPr>
        <p:spPr>
          <a:xfrm>
            <a:off x="6385560" y="1756410"/>
            <a:ext cx="3395472" cy="243840"/>
          </a:xfrm>
          <a:prstGeom prst="rect">
            <a:avLst/>
          </a:prstGeom>
          <a:noFill/>
          <a:ln>
            <a:noFill/>
          </a:ln>
        </p:spPr>
        <p:txBody>
          <a:bodyPr wrap="none" lIns="0" tIns="0" rIns="0" bIns="0" anchor="t" anchorCtr="0">
            <a:spAutoFit/>
          </a:bodyPr>
          <a:lstStyle/>
          <a:p>
            <a:pPr algn="l"/>
            <a:r>
              <a:rPr lang="zh-CN" sz="1200" dirty="0">
                <a:solidFill>
                  <a:srgbClr val="B4BECA"/>
                </a:solidFill>
                <a:latin typeface="Arial"/>
                <a:ea typeface="Microsoft YaHei"/>
                <a:cs typeface="Arial"/>
              </a:rPr>
              <a:t>under-surveyed regions hide the signal</a:t>
            </a:r>
          </a:p>
        </p:txBody>
      </p:sp>
      <p:sp>
        <p:nvSpPr>
          <p:cNvPr id="20" name="Rectangle 20"/>
          <p:cNvSpPr/>
          <p:nvPr/>
        </p:nvSpPr>
        <p:spPr>
          <a:xfrm>
            <a:off x="685800" y="2457450"/>
            <a:ext cx="5295900" cy="990600"/>
          </a:xfrm>
          <a:prstGeom prst="roundRect">
            <a:avLst>
              <a:gd name="adj" fmla="val 7692"/>
            </a:avLst>
          </a:prstGeom>
          <a:solidFill>
            <a:srgbClr val="17222D"/>
          </a:solidFill>
          <a:ln>
            <a:noFill/>
          </a:ln>
        </p:spPr>
      </p:sp>
      <p:sp>
        <p:nvSpPr>
          <p:cNvPr id="21" name="Rectangle 21"/>
          <p:cNvSpPr/>
          <p:nvPr/>
        </p:nvSpPr>
        <p:spPr>
          <a:xfrm>
            <a:off x="876300" y="2657475"/>
            <a:ext cx="38100" cy="180975"/>
          </a:xfrm>
          <a:prstGeom prst="roundRect">
            <a:avLst>
              <a:gd name="adj" fmla="val 50000"/>
            </a:avLst>
          </a:prstGeom>
          <a:solidFill>
            <a:srgbClr val="52C7B6"/>
          </a:solidFill>
          <a:ln>
            <a:noFill/>
          </a:ln>
        </p:spPr>
      </p:sp>
      <p:sp>
        <p:nvSpPr>
          <p:cNvPr id="22" name="TextBox 22"/>
          <p:cNvSpPr txBox="1"/>
          <p:nvPr/>
        </p:nvSpPr>
        <p:spPr>
          <a:xfrm>
            <a:off x="992505" y="2664142"/>
            <a:ext cx="3403331" cy="274320"/>
          </a:xfrm>
          <a:prstGeom prst="rect">
            <a:avLst/>
          </a:prstGeom>
          <a:noFill/>
          <a:ln>
            <a:noFill/>
          </a:ln>
        </p:spPr>
        <p:txBody>
          <a:bodyPr wrap="none" lIns="0" tIns="0" rIns="0" bIns="0" anchor="t" anchorCtr="0">
            <a:spAutoFit/>
          </a:bodyPr>
          <a:lstStyle/>
          <a:p>
            <a:pPr algn="l"/>
            <a:r>
              <a:rPr lang="zh-CN" sz="1350" b="1" dirty="0">
                <a:solidFill>
                  <a:srgbClr val="EEF2F6"/>
                </a:solidFill>
                <a:latin typeface="Arial"/>
                <a:ea typeface="Microsoft YaHei"/>
                <a:cs typeface="Arial"/>
              </a:rPr>
              <a:t>3 Model the observation process</a:t>
            </a:r>
          </a:p>
        </p:txBody>
      </p:sp>
      <p:sp>
        <p:nvSpPr>
          <p:cNvPr id="23" name="TextBox 23"/>
          <p:cNvSpPr txBox="1"/>
          <p:nvPr/>
        </p:nvSpPr>
        <p:spPr>
          <a:xfrm>
            <a:off x="861060" y="2937510"/>
            <a:ext cx="3761765" cy="243840"/>
          </a:xfrm>
          <a:prstGeom prst="rect">
            <a:avLst/>
          </a:prstGeom>
          <a:noFill/>
          <a:ln>
            <a:noFill/>
          </a:ln>
        </p:spPr>
        <p:txBody>
          <a:bodyPr wrap="none" lIns="0" tIns="0" rIns="0" bIns="0" anchor="t" anchorCtr="0">
            <a:spAutoFit/>
          </a:bodyPr>
          <a:lstStyle/>
          <a:p>
            <a:pPr algn="l"/>
            <a:r>
              <a:rPr lang="zh-CN" sz="1200" dirty="0">
                <a:solidFill>
                  <a:srgbClr val="EEF2F6"/>
                </a:solidFill>
                <a:latin typeface="Arial"/>
                <a:ea typeface="Microsoft YaHei"/>
                <a:cs typeface="Arial"/>
              </a:rPr>
              <a:t>Province × year ×2.22 is the largest part;</a:t>
            </a:r>
          </a:p>
        </p:txBody>
      </p:sp>
      <p:sp>
        <p:nvSpPr>
          <p:cNvPr id="24" name="TextBox 24"/>
          <p:cNvSpPr txBox="1"/>
          <p:nvPr/>
        </p:nvSpPr>
        <p:spPr>
          <a:xfrm>
            <a:off x="861060" y="3166110"/>
            <a:ext cx="2561234" cy="243840"/>
          </a:xfrm>
          <a:prstGeom prst="rect">
            <a:avLst/>
          </a:prstGeom>
          <a:noFill/>
          <a:ln>
            <a:noFill/>
          </a:ln>
        </p:spPr>
        <p:txBody>
          <a:bodyPr wrap="none" lIns="0" tIns="0" rIns="0" bIns="0" anchor="t" anchorCtr="0">
            <a:spAutoFit/>
          </a:bodyPr>
          <a:lstStyle/>
          <a:p>
            <a:pPr algn="l"/>
            <a:r>
              <a:rPr lang="zh-CN" sz="1200" dirty="0">
                <a:solidFill>
                  <a:srgbClr val="B4BECA"/>
                </a:solidFill>
                <a:latin typeface="Arial"/>
                <a:ea typeface="Microsoft YaHei"/>
                <a:cs typeface="Arial"/>
              </a:rPr>
              <a:t>returns on effort are falling</a:t>
            </a:r>
          </a:p>
        </p:txBody>
      </p:sp>
      <p:sp>
        <p:nvSpPr>
          <p:cNvPr id="25" name="Rectangle 25"/>
          <p:cNvSpPr/>
          <p:nvPr/>
        </p:nvSpPr>
        <p:spPr>
          <a:xfrm>
            <a:off x="6210300" y="2457450"/>
            <a:ext cx="5295900" cy="990600"/>
          </a:xfrm>
          <a:prstGeom prst="roundRect">
            <a:avLst>
              <a:gd name="adj" fmla="val 7692"/>
            </a:avLst>
          </a:prstGeom>
          <a:solidFill>
            <a:srgbClr val="17222D"/>
          </a:solidFill>
          <a:ln>
            <a:noFill/>
          </a:ln>
        </p:spPr>
      </p:sp>
      <p:sp>
        <p:nvSpPr>
          <p:cNvPr id="26" name="Rectangle 26"/>
          <p:cNvSpPr/>
          <p:nvPr/>
        </p:nvSpPr>
        <p:spPr>
          <a:xfrm>
            <a:off x="6400800" y="2657475"/>
            <a:ext cx="38100" cy="180975"/>
          </a:xfrm>
          <a:prstGeom prst="roundRect">
            <a:avLst>
              <a:gd name="adj" fmla="val 50000"/>
            </a:avLst>
          </a:prstGeom>
          <a:solidFill>
            <a:srgbClr val="7DB2E3"/>
          </a:solidFill>
          <a:ln>
            <a:noFill/>
          </a:ln>
        </p:spPr>
      </p:sp>
      <p:sp>
        <p:nvSpPr>
          <p:cNvPr id="27" name="TextBox 27"/>
          <p:cNvSpPr txBox="1"/>
          <p:nvPr/>
        </p:nvSpPr>
        <p:spPr>
          <a:xfrm>
            <a:off x="6517005" y="2664142"/>
            <a:ext cx="3300922" cy="274320"/>
          </a:xfrm>
          <a:prstGeom prst="rect">
            <a:avLst/>
          </a:prstGeom>
          <a:noFill/>
          <a:ln>
            <a:noFill/>
          </a:ln>
        </p:spPr>
        <p:txBody>
          <a:bodyPr wrap="none" lIns="0" tIns="0" rIns="0" bIns="0" anchor="t" anchorCtr="0">
            <a:spAutoFit/>
          </a:bodyPr>
          <a:lstStyle/>
          <a:p>
            <a:pPr algn="l"/>
            <a:r>
              <a:rPr lang="zh-CN" sz="1350" b="1" dirty="0">
                <a:solidFill>
                  <a:srgbClr val="EEF2F6"/>
                </a:solidFill>
                <a:latin typeface="Arial"/>
                <a:ea typeface="Microsoft YaHei"/>
                <a:cs typeface="Arial"/>
              </a:rPr>
              <a:t>4 Futures depend on how we look</a:t>
            </a:r>
          </a:p>
        </p:txBody>
      </p:sp>
      <p:sp>
        <p:nvSpPr>
          <p:cNvPr id="28" name="TextBox 28"/>
          <p:cNvSpPr txBox="1"/>
          <p:nvPr/>
        </p:nvSpPr>
        <p:spPr>
          <a:xfrm>
            <a:off x="6385560" y="2937510"/>
            <a:ext cx="2897734" cy="243840"/>
          </a:xfrm>
          <a:prstGeom prst="rect">
            <a:avLst/>
          </a:prstGeom>
          <a:noFill/>
          <a:ln>
            <a:noFill/>
          </a:ln>
        </p:spPr>
        <p:txBody>
          <a:bodyPr wrap="none" lIns="0" tIns="0" rIns="0" bIns="0" anchor="t" anchorCtr="0">
            <a:spAutoFit/>
          </a:bodyPr>
          <a:lstStyle/>
          <a:p>
            <a:pPr algn="l"/>
            <a:r>
              <a:rPr lang="zh-CN" sz="1200" dirty="0">
                <a:solidFill>
                  <a:srgbClr val="EEF2F6"/>
                </a:solidFill>
                <a:latin typeface="Arial"/>
                <a:ea typeface="Microsoft YaHei"/>
                <a:cs typeface="Arial"/>
              </a:rPr>
              <a:t>Emission scenario barely matters;</a:t>
            </a:r>
          </a:p>
        </p:txBody>
      </p:sp>
      <p:sp>
        <p:nvSpPr>
          <p:cNvPr id="29" name="TextBox 29"/>
          <p:cNvSpPr txBox="1"/>
          <p:nvPr/>
        </p:nvSpPr>
        <p:spPr>
          <a:xfrm>
            <a:off x="6385560" y="3166110"/>
            <a:ext cx="3444545" cy="243840"/>
          </a:xfrm>
          <a:prstGeom prst="rect">
            <a:avLst/>
          </a:prstGeom>
          <a:noFill/>
          <a:ln>
            <a:noFill/>
          </a:ln>
        </p:spPr>
        <p:txBody>
          <a:bodyPr wrap="none" lIns="0" tIns="0" rIns="0" bIns="0" anchor="t" anchorCtr="0">
            <a:spAutoFit/>
          </a:bodyPr>
          <a:lstStyle/>
          <a:p>
            <a:pPr algn="l"/>
            <a:r>
              <a:rPr lang="zh-CN" sz="1200" dirty="0">
                <a:solidFill>
                  <a:srgbClr val="B4BECA"/>
                </a:solidFill>
                <a:latin typeface="Arial"/>
                <a:ea typeface="Microsoft YaHei"/>
                <a:cs typeface="Arial"/>
              </a:rPr>
              <a:t>most projected change is extrapolation</a:t>
            </a:r>
          </a:p>
        </p:txBody>
      </p:sp>
      <p:sp>
        <p:nvSpPr>
          <p:cNvPr id="30" name="Rectangle 30"/>
          <p:cNvSpPr/>
          <p:nvPr/>
        </p:nvSpPr>
        <p:spPr>
          <a:xfrm>
            <a:off x="685800" y="3981450"/>
            <a:ext cx="10820400" cy="1066800"/>
          </a:xfrm>
          <a:prstGeom prst="roundRect">
            <a:avLst>
              <a:gd name="adj" fmla="val 7143"/>
            </a:avLst>
          </a:prstGeom>
          <a:solidFill>
            <a:srgbClr val="F07B4F"/>
          </a:solidFill>
          <a:ln>
            <a:noFill/>
          </a:ln>
        </p:spPr>
      </p:sp>
      <p:sp>
        <p:nvSpPr>
          <p:cNvPr id="31" name="TextBox 31"/>
          <p:cNvSpPr txBox="1"/>
          <p:nvPr/>
        </p:nvSpPr>
        <p:spPr>
          <a:xfrm>
            <a:off x="4695917" y="4135279"/>
            <a:ext cx="2800166" cy="320040"/>
          </a:xfrm>
          <a:prstGeom prst="rect">
            <a:avLst/>
          </a:prstGeom>
          <a:noFill/>
          <a:ln>
            <a:noFill/>
          </a:ln>
        </p:spPr>
        <p:txBody>
          <a:bodyPr wrap="none" lIns="0" tIns="0" rIns="0" bIns="0" anchor="t" anchorCtr="0">
            <a:spAutoFit/>
          </a:bodyPr>
          <a:lstStyle/>
          <a:p>
            <a:pPr algn="ctr"/>
            <a:r>
              <a:rPr lang="zh-CN" sz="1575" b="1" dirty="0">
                <a:solidFill>
                  <a:srgbClr val="10171F"/>
                </a:solidFill>
                <a:latin typeface="Arial"/>
                <a:ea typeface="Microsoft YaHei"/>
                <a:cs typeface="Arial"/>
              </a:rPr>
              <a:t>Birds or birders? Both.</a:t>
            </a:r>
          </a:p>
        </p:txBody>
      </p:sp>
      <p:sp>
        <p:nvSpPr>
          <p:cNvPr id="32" name="TextBox 32"/>
          <p:cNvSpPr txBox="1"/>
          <p:nvPr/>
        </p:nvSpPr>
        <p:spPr>
          <a:xfrm>
            <a:off x="4496991" y="4462939"/>
            <a:ext cx="3198019" cy="259080"/>
          </a:xfrm>
          <a:prstGeom prst="rect">
            <a:avLst/>
          </a:prstGeom>
          <a:noFill/>
          <a:ln>
            <a:noFill/>
          </a:ln>
        </p:spPr>
        <p:txBody>
          <a:bodyPr wrap="none" lIns="0" tIns="0" rIns="0" bIns="0" anchor="t" anchorCtr="0">
            <a:spAutoFit/>
          </a:bodyPr>
          <a:lstStyle/>
          <a:p>
            <a:pPr algn="ctr"/>
            <a:r>
              <a:rPr lang="zh-CN" sz="1275" dirty="0">
                <a:solidFill>
                  <a:srgbClr val="2C1A10"/>
                </a:solidFill>
                <a:latin typeface="Arial"/>
                <a:ea typeface="Microsoft YaHei"/>
                <a:cs typeface="Arial"/>
              </a:rPr>
              <a:t>New records carry a climate signal,</a:t>
            </a:r>
          </a:p>
        </p:txBody>
      </p:sp>
      <p:sp>
        <p:nvSpPr>
          <p:cNvPr id="33" name="TextBox 33"/>
          <p:cNvSpPr txBox="1"/>
          <p:nvPr/>
        </p:nvSpPr>
        <p:spPr>
          <a:xfrm>
            <a:off x="3848967" y="4720114"/>
            <a:ext cx="4494066" cy="259080"/>
          </a:xfrm>
          <a:prstGeom prst="rect">
            <a:avLst/>
          </a:prstGeom>
          <a:noFill/>
          <a:ln>
            <a:noFill/>
          </a:ln>
        </p:spPr>
        <p:txBody>
          <a:bodyPr wrap="none" lIns="0" tIns="0" rIns="0" bIns="0" anchor="t" anchorCtr="0">
            <a:spAutoFit/>
          </a:bodyPr>
          <a:lstStyle/>
          <a:p>
            <a:pPr algn="ctr"/>
            <a:r>
              <a:rPr lang="zh-CN" sz="1275" dirty="0">
                <a:solidFill>
                  <a:srgbClr val="2C1A10"/>
                </a:solidFill>
                <a:latin typeface="Arial"/>
                <a:ea typeface="Microsoft YaHei"/>
                <a:cs typeface="Arial"/>
              </a:rPr>
              <a:t>but we can read it only once we model how we look.</a:t>
            </a:r>
          </a:p>
        </p:txBody>
      </p:sp>
      <p:sp>
        <p:nvSpPr>
          <p:cNvPr id="34" name="TextBox 34"/>
          <p:cNvSpPr txBox="1"/>
          <p:nvPr/>
        </p:nvSpPr>
        <p:spPr>
          <a:xfrm>
            <a:off x="670560" y="5585460"/>
            <a:ext cx="446617" cy="243840"/>
          </a:xfrm>
          <a:prstGeom prst="rect">
            <a:avLst/>
          </a:prstGeom>
          <a:noFill/>
          <a:ln>
            <a:noFill/>
          </a:ln>
        </p:spPr>
        <p:txBody>
          <a:bodyPr wrap="none" lIns="0" tIns="0" rIns="0" bIns="0" anchor="t" anchorCtr="0">
            <a:spAutoFit/>
          </a:bodyPr>
          <a:lstStyle/>
          <a:p>
            <a:pPr algn="l"/>
            <a:r>
              <a:rPr lang="zh-CN" sz="1200" b="1" dirty="0">
                <a:solidFill>
                  <a:srgbClr val="EEF2F6"/>
                </a:solidFill>
                <a:latin typeface="Arial"/>
                <a:ea typeface="Microsoft YaHei"/>
                <a:cs typeface="Arial"/>
              </a:rPr>
              <a:t>Next</a:t>
            </a:r>
          </a:p>
        </p:txBody>
      </p:sp>
      <p:sp>
        <p:nvSpPr>
          <p:cNvPr id="35" name="TextBox 35"/>
          <p:cNvSpPr txBox="1"/>
          <p:nvPr/>
        </p:nvSpPr>
        <p:spPr>
          <a:xfrm>
            <a:off x="671512" y="5860256"/>
            <a:ext cx="9090065"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Reptiles and amphibians · monitoring priority = climate exposure × (1 − current coverage), mapped to counties</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IMPLICATION</a:t>
            </a:r>
          </a:p>
        </p:txBody>
      </p:sp>
      <p:sp>
        <p:nvSpPr>
          <p:cNvPr id="4" name="TextBox 4"/>
          <p:cNvSpPr txBox="1"/>
          <p:nvPr/>
        </p:nvSpPr>
        <p:spPr>
          <a:xfrm>
            <a:off x="660082" y="600551"/>
            <a:ext cx="8327738"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Put effort where warming is fast and records are few</a:t>
            </a:r>
          </a:p>
        </p:txBody>
      </p:sp>
      <p:sp>
        <p:nvSpPr>
          <p:cNvPr id="5" name="TextBox 5"/>
          <p:cNvSpPr txBox="1"/>
          <p:nvPr/>
        </p:nvSpPr>
        <p:spPr>
          <a:xfrm>
            <a:off x="10832287" y="340995"/>
            <a:ext cx="685343"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Discussion</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10250805"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18 / 19</a:t>
            </a:r>
          </a:p>
        </p:txBody>
      </p:sp>
      <p:sp>
        <p:nvSpPr>
          <p:cNvPr id="10" name="Rectangle 10"/>
          <p:cNvSpPr/>
          <p:nvPr/>
        </p:nvSpPr>
        <p:spPr>
          <a:xfrm>
            <a:off x="685800" y="1066800"/>
            <a:ext cx="5295900" cy="1219200"/>
          </a:xfrm>
          <a:prstGeom prst="roundRect">
            <a:avLst>
              <a:gd name="adj" fmla="val 6250"/>
            </a:avLst>
          </a:prstGeom>
          <a:solidFill>
            <a:srgbClr val="17222D"/>
          </a:solidFill>
          <a:ln>
            <a:noFill/>
          </a:ln>
        </p:spPr>
      </p:sp>
      <p:sp>
        <p:nvSpPr>
          <p:cNvPr id="11" name="Rectangle 11"/>
          <p:cNvSpPr/>
          <p:nvPr/>
        </p:nvSpPr>
        <p:spPr>
          <a:xfrm>
            <a:off x="876300" y="1266825"/>
            <a:ext cx="38100" cy="180975"/>
          </a:xfrm>
          <a:prstGeom prst="roundRect">
            <a:avLst>
              <a:gd name="adj" fmla="val 50000"/>
            </a:avLst>
          </a:prstGeom>
          <a:solidFill>
            <a:srgbClr val="F2875A"/>
          </a:solidFill>
          <a:ln>
            <a:noFill/>
          </a:ln>
        </p:spPr>
      </p:sp>
      <p:sp>
        <p:nvSpPr>
          <p:cNvPr id="12" name="TextBox 12"/>
          <p:cNvSpPr txBox="1"/>
          <p:nvPr/>
        </p:nvSpPr>
        <p:spPr>
          <a:xfrm>
            <a:off x="993458" y="1281589"/>
            <a:ext cx="3666272"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Where the climate signal is strongest</a:t>
            </a:r>
          </a:p>
        </p:txBody>
      </p:sp>
      <p:sp>
        <p:nvSpPr>
          <p:cNvPr id="13" name="TextBox 13"/>
          <p:cNvSpPr txBox="1"/>
          <p:nvPr/>
        </p:nvSpPr>
        <p:spPr>
          <a:xfrm>
            <a:off x="862012" y="1554956"/>
            <a:ext cx="3244048"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Warming effect is largest at low effort</a:t>
            </a:r>
          </a:p>
        </p:txBody>
      </p:sp>
      <p:sp>
        <p:nvSpPr>
          <p:cNvPr id="14" name="TextBox 14"/>
          <p:cNvSpPr txBox="1"/>
          <p:nvPr/>
        </p:nvSpPr>
        <p:spPr>
          <a:xfrm>
            <a:off x="862012" y="1783556"/>
            <a:ext cx="2769203"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Low-effort provinces lie mostly in</a:t>
            </a:r>
          </a:p>
        </p:txBody>
      </p:sp>
      <p:sp>
        <p:nvSpPr>
          <p:cNvPr id="15" name="TextBox 15"/>
          <p:cNvSpPr txBox="1"/>
          <p:nvPr/>
        </p:nvSpPr>
        <p:spPr>
          <a:xfrm>
            <a:off x="862012" y="2012156"/>
            <a:ext cx="2079117"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the west and the interior</a:t>
            </a:r>
          </a:p>
        </p:txBody>
      </p:sp>
      <p:sp>
        <p:nvSpPr>
          <p:cNvPr id="16" name="Rectangle 16"/>
          <p:cNvSpPr/>
          <p:nvPr/>
        </p:nvSpPr>
        <p:spPr>
          <a:xfrm>
            <a:off x="6210300" y="1066800"/>
            <a:ext cx="5295900" cy="1219200"/>
          </a:xfrm>
          <a:prstGeom prst="roundRect">
            <a:avLst>
              <a:gd name="adj" fmla="val 6250"/>
            </a:avLst>
          </a:prstGeom>
          <a:solidFill>
            <a:srgbClr val="17222D"/>
          </a:solidFill>
          <a:ln>
            <a:noFill/>
          </a:ln>
        </p:spPr>
      </p:sp>
      <p:sp>
        <p:nvSpPr>
          <p:cNvPr id="17" name="Rectangle 17"/>
          <p:cNvSpPr/>
          <p:nvPr/>
        </p:nvSpPr>
        <p:spPr>
          <a:xfrm>
            <a:off x="6400800" y="1266825"/>
            <a:ext cx="38100" cy="180975"/>
          </a:xfrm>
          <a:prstGeom prst="roundRect">
            <a:avLst>
              <a:gd name="adj" fmla="val 50000"/>
            </a:avLst>
          </a:prstGeom>
          <a:solidFill>
            <a:srgbClr val="7DB2E3"/>
          </a:solidFill>
          <a:ln>
            <a:noFill/>
          </a:ln>
        </p:spPr>
      </p:sp>
      <p:sp>
        <p:nvSpPr>
          <p:cNvPr id="18" name="TextBox 18"/>
          <p:cNvSpPr txBox="1"/>
          <p:nvPr/>
        </p:nvSpPr>
        <p:spPr>
          <a:xfrm>
            <a:off x="6517958" y="1281589"/>
            <a:ext cx="2939889"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Where more effort adds little</a:t>
            </a:r>
          </a:p>
        </p:txBody>
      </p:sp>
      <p:sp>
        <p:nvSpPr>
          <p:cNvPr id="19" name="TextBox 19"/>
          <p:cNvSpPr txBox="1"/>
          <p:nvPr/>
        </p:nvSpPr>
        <p:spPr>
          <a:xfrm>
            <a:off x="6386512" y="1554956"/>
            <a:ext cx="3239119"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Returns on effort fell from 2.14 to 1.13</a:t>
            </a:r>
          </a:p>
        </p:txBody>
      </p:sp>
      <p:sp>
        <p:nvSpPr>
          <p:cNvPr id="20" name="TextBox 20"/>
          <p:cNvSpPr txBox="1"/>
          <p:nvPr/>
        </p:nvSpPr>
        <p:spPr>
          <a:xfrm>
            <a:off x="6386512" y="1783556"/>
            <a:ext cx="3137249"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Eastern hotspots are near saturation</a:t>
            </a:r>
          </a:p>
        </p:txBody>
      </p:sp>
      <p:sp>
        <p:nvSpPr>
          <p:cNvPr id="21" name="TextBox 21"/>
          <p:cNvSpPr txBox="1"/>
          <p:nvPr/>
        </p:nvSpPr>
        <p:spPr>
          <a:xfrm>
            <a:off x="6386512" y="2012156"/>
            <a:ext cx="2678835"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Province level: IRR 0.71, P = 0.028</a:t>
            </a:r>
          </a:p>
        </p:txBody>
      </p:sp>
      <p:sp>
        <p:nvSpPr>
          <p:cNvPr id="22" name="Rectangle 22"/>
          <p:cNvSpPr/>
          <p:nvPr/>
        </p:nvSpPr>
        <p:spPr>
          <a:xfrm>
            <a:off x="685800" y="2552700"/>
            <a:ext cx="10820400" cy="1066800"/>
          </a:xfrm>
          <a:prstGeom prst="roundRect">
            <a:avLst>
              <a:gd name="adj" fmla="val 7143"/>
            </a:avLst>
          </a:prstGeom>
          <a:solidFill>
            <a:srgbClr val="F07B4F"/>
          </a:solidFill>
          <a:ln>
            <a:noFill/>
          </a:ln>
        </p:spPr>
      </p:sp>
      <p:sp>
        <p:nvSpPr>
          <p:cNvPr id="23" name="TextBox 23"/>
          <p:cNvSpPr txBox="1"/>
          <p:nvPr/>
        </p:nvSpPr>
        <p:spPr>
          <a:xfrm>
            <a:off x="4965780" y="2714625"/>
            <a:ext cx="2260441" cy="304800"/>
          </a:xfrm>
          <a:prstGeom prst="rect">
            <a:avLst/>
          </a:prstGeom>
          <a:noFill/>
          <a:ln>
            <a:noFill/>
          </a:ln>
        </p:spPr>
        <p:txBody>
          <a:bodyPr wrap="none" lIns="0" tIns="0" rIns="0" bIns="0" anchor="t" anchorCtr="0">
            <a:spAutoFit/>
          </a:bodyPr>
          <a:lstStyle/>
          <a:p>
            <a:pPr algn="ctr"/>
            <a:r>
              <a:rPr lang="zh-CN" sz="1500" b="1" dirty="0">
                <a:solidFill>
                  <a:srgbClr val="10171F"/>
                </a:solidFill>
                <a:latin typeface="Arial"/>
                <a:ea typeface="Microsoft YaHei"/>
                <a:cs typeface="Arial"/>
              </a:rPr>
              <a:t>Monitoring priority</a:t>
            </a:r>
          </a:p>
        </p:txBody>
      </p:sp>
      <p:sp>
        <p:nvSpPr>
          <p:cNvPr id="24" name="TextBox 24"/>
          <p:cNvSpPr txBox="1"/>
          <p:nvPr/>
        </p:nvSpPr>
        <p:spPr>
          <a:xfrm>
            <a:off x="3294050" y="3034189"/>
            <a:ext cx="5603900" cy="259080"/>
          </a:xfrm>
          <a:prstGeom prst="rect">
            <a:avLst/>
          </a:prstGeom>
          <a:noFill/>
          <a:ln>
            <a:noFill/>
          </a:ln>
        </p:spPr>
        <p:txBody>
          <a:bodyPr wrap="none" lIns="0" tIns="0" rIns="0" bIns="0" anchor="t" anchorCtr="0">
            <a:spAutoFit/>
          </a:bodyPr>
          <a:lstStyle/>
          <a:p>
            <a:pPr algn="ctr"/>
            <a:r>
              <a:rPr lang="zh-CN" sz="1275" dirty="0">
                <a:solidFill>
                  <a:srgbClr val="2C1A10"/>
                </a:solidFill>
                <a:latin typeface="Arial"/>
                <a:ea typeface="Microsoft YaHei"/>
                <a:cs typeface="Arial"/>
              </a:rPr>
              <a:t>Send effort to climatically exposed, under-surveyed regions:</a:t>
            </a:r>
          </a:p>
        </p:txBody>
      </p:sp>
      <p:sp>
        <p:nvSpPr>
          <p:cNvPr id="25" name="TextBox 25"/>
          <p:cNvSpPr txBox="1"/>
          <p:nvPr/>
        </p:nvSpPr>
        <p:spPr>
          <a:xfrm>
            <a:off x="3282877" y="3291364"/>
            <a:ext cx="5626246" cy="259080"/>
          </a:xfrm>
          <a:prstGeom prst="rect">
            <a:avLst/>
          </a:prstGeom>
          <a:noFill/>
          <a:ln>
            <a:noFill/>
          </a:ln>
        </p:spPr>
        <p:txBody>
          <a:bodyPr wrap="none" lIns="0" tIns="0" rIns="0" bIns="0" anchor="t" anchorCtr="0">
            <a:spAutoFit/>
          </a:bodyPr>
          <a:lstStyle/>
          <a:p>
            <a:pPr algn="ctr"/>
            <a:r>
              <a:rPr lang="zh-CN" sz="1275" dirty="0">
                <a:solidFill>
                  <a:srgbClr val="2C1A10"/>
                </a:solidFill>
                <a:latin typeface="Arial"/>
                <a:ea typeface="Microsoft YaHei"/>
                <a:cs typeface="Arial"/>
              </a:rPr>
              <a:t>that is where new records carry the most climate information</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THANK YOU</a:t>
            </a:r>
          </a:p>
        </p:txBody>
      </p:sp>
      <p:sp>
        <p:nvSpPr>
          <p:cNvPr id="4" name="TextBox 4"/>
          <p:cNvSpPr txBox="1"/>
          <p:nvPr/>
        </p:nvSpPr>
        <p:spPr>
          <a:xfrm>
            <a:off x="660082" y="600551"/>
            <a:ext cx="5117536"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Open data, open code, and thanks</a:t>
            </a:r>
          </a:p>
        </p:txBody>
      </p:sp>
      <p:sp>
        <p:nvSpPr>
          <p:cNvPr id="5" name="TextBox 5"/>
          <p:cNvSpPr txBox="1"/>
          <p:nvPr/>
        </p:nvSpPr>
        <p:spPr>
          <a:xfrm>
            <a:off x="10458983" y="340995"/>
            <a:ext cx="1058647"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Data availability</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Rectangle 7"/>
          <p:cNvSpPr/>
          <p:nvPr/>
        </p:nvSpPr>
        <p:spPr>
          <a:xfrm>
            <a:off x="685800" y="6538912"/>
            <a:ext cx="10820400" cy="28575"/>
          </a:xfrm>
          <a:prstGeom prst="rect">
            <a:avLst/>
          </a:prstGeom>
          <a:solidFill>
            <a:srgbClr val="F07B4F"/>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19 / 19</a:t>
            </a:r>
          </a:p>
        </p:txBody>
      </p:sp>
      <p:sp>
        <p:nvSpPr>
          <p:cNvPr id="10" name="Rectangle 10"/>
          <p:cNvSpPr/>
          <p:nvPr/>
        </p:nvSpPr>
        <p:spPr>
          <a:xfrm>
            <a:off x="685800" y="1066800"/>
            <a:ext cx="5295900" cy="1562100"/>
          </a:xfrm>
          <a:prstGeom prst="roundRect">
            <a:avLst>
              <a:gd name="adj" fmla="val 4878"/>
            </a:avLst>
          </a:prstGeom>
          <a:solidFill>
            <a:srgbClr val="17222D"/>
          </a:solidFill>
          <a:ln>
            <a:noFill/>
          </a:ln>
        </p:spPr>
      </p:sp>
      <p:sp>
        <p:nvSpPr>
          <p:cNvPr id="11" name="Rectangle 11"/>
          <p:cNvSpPr/>
          <p:nvPr/>
        </p:nvSpPr>
        <p:spPr>
          <a:xfrm>
            <a:off x="876300" y="1266825"/>
            <a:ext cx="38100" cy="180975"/>
          </a:xfrm>
          <a:prstGeom prst="roundRect">
            <a:avLst>
              <a:gd name="adj" fmla="val 50000"/>
            </a:avLst>
          </a:prstGeom>
          <a:solidFill>
            <a:srgbClr val="F07B4F"/>
          </a:solidFill>
          <a:ln>
            <a:noFill/>
          </a:ln>
        </p:spPr>
      </p:sp>
      <p:sp>
        <p:nvSpPr>
          <p:cNvPr id="12" name="TextBox 12"/>
          <p:cNvSpPr txBox="1"/>
          <p:nvPr/>
        </p:nvSpPr>
        <p:spPr>
          <a:xfrm>
            <a:off x="993458" y="1281589"/>
            <a:ext cx="1879923"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Open data and code</a:t>
            </a:r>
          </a:p>
        </p:txBody>
      </p:sp>
      <p:sp>
        <p:nvSpPr>
          <p:cNvPr id="13" name="TextBox 13"/>
          <p:cNvSpPr txBox="1"/>
          <p:nvPr/>
        </p:nvSpPr>
        <p:spPr>
          <a:xfrm>
            <a:off x="862012" y="1554956"/>
            <a:ext cx="1411442" cy="228600"/>
          </a:xfrm>
          <a:prstGeom prst="rect">
            <a:avLst/>
          </a:prstGeom>
          <a:noFill/>
          <a:ln>
            <a:noFill/>
          </a:ln>
        </p:spPr>
        <p:txBody>
          <a:bodyPr wrap="none" lIns="0" tIns="0" rIns="0" bIns="0" anchor="t" anchorCtr="0">
            <a:spAutoFit/>
          </a:bodyPr>
          <a:lstStyle/>
          <a:p>
            <a:pPr algn="l"/>
            <a:r>
              <a:rPr lang="zh-CN" sz="1125" b="1" dirty="0">
                <a:solidFill>
                  <a:srgbClr val="EEF2F6"/>
                </a:solidFill>
                <a:latin typeface="Arial"/>
                <a:ea typeface="Microsoft YaHei"/>
                <a:cs typeface="Arial"/>
              </a:rPr>
              <a:t>CBNR (CC BY 4.0)</a:t>
            </a:r>
          </a:p>
        </p:txBody>
      </p:sp>
      <p:sp>
        <p:nvSpPr>
          <p:cNvPr id="14" name="TextBox 14"/>
          <p:cNvSpPr txBox="1"/>
          <p:nvPr/>
        </p:nvSpPr>
        <p:spPr>
          <a:xfrm>
            <a:off x="862012" y="1821656"/>
            <a:ext cx="2673906" cy="228600"/>
          </a:xfrm>
          <a:prstGeom prst="rect">
            <a:avLst/>
          </a:prstGeom>
          <a:noFill/>
          <a:ln>
            <a:noFill/>
          </a:ln>
        </p:spPr>
        <p:txBody>
          <a:bodyPr wrap="none" lIns="0" tIns="0" rIns="0" bIns="0" anchor="t" anchorCtr="0">
            <a:spAutoFit/>
          </a:bodyPr>
          <a:lstStyle/>
          <a:p>
            <a:pPr algn="l"/>
            <a:r>
              <a:rPr lang="zh-CN" sz="1125" dirty="0">
                <a:solidFill>
                  <a:srgbClr val="7DB2E3"/>
                </a:solidFill>
                <a:latin typeface="Arial"/>
                <a:ea typeface="Microsoft YaHei"/>
                <a:cs typeface="Arial"/>
              </a:rPr>
              <a:t>doi.org/10.5281/zenodo.20809949</a:t>
            </a:r>
          </a:p>
        </p:txBody>
      </p:sp>
      <p:sp>
        <p:nvSpPr>
          <p:cNvPr id="15" name="TextBox 15"/>
          <p:cNvSpPr txBox="1"/>
          <p:nvPr/>
        </p:nvSpPr>
        <p:spPr>
          <a:xfrm>
            <a:off x="862012" y="2088356"/>
            <a:ext cx="2189202" cy="228600"/>
          </a:xfrm>
          <a:prstGeom prst="rect">
            <a:avLst/>
          </a:prstGeom>
          <a:noFill/>
          <a:ln>
            <a:noFill/>
          </a:ln>
        </p:spPr>
        <p:txBody>
          <a:bodyPr wrap="none" lIns="0" tIns="0" rIns="0" bIns="0" anchor="t" anchorCtr="0">
            <a:spAutoFit/>
          </a:bodyPr>
          <a:lstStyle/>
          <a:p>
            <a:pPr algn="l"/>
            <a:r>
              <a:rPr lang="zh-CN" sz="1125" dirty="0">
                <a:solidFill>
                  <a:srgbClr val="7DB2E3"/>
                </a:solidFill>
                <a:latin typeface="Arial"/>
                <a:ea typeface="Microsoft YaHei"/>
                <a:cs typeface="Arial"/>
              </a:rPr>
              <a:t>github.com/dingchenchen6/</a:t>
            </a:r>
          </a:p>
        </p:txBody>
      </p:sp>
      <p:sp>
        <p:nvSpPr>
          <p:cNvPr id="16" name="TextBox 16"/>
          <p:cNvSpPr txBox="1"/>
          <p:nvPr/>
        </p:nvSpPr>
        <p:spPr>
          <a:xfrm>
            <a:off x="862012" y="2355056"/>
            <a:ext cx="2696909" cy="228600"/>
          </a:xfrm>
          <a:prstGeom prst="rect">
            <a:avLst/>
          </a:prstGeom>
          <a:noFill/>
          <a:ln>
            <a:noFill/>
          </a:ln>
        </p:spPr>
        <p:txBody>
          <a:bodyPr wrap="none" lIns="0" tIns="0" rIns="0" bIns="0" anchor="t" anchorCtr="0">
            <a:spAutoFit/>
          </a:bodyPr>
          <a:lstStyle/>
          <a:p>
            <a:pPr algn="l"/>
            <a:r>
              <a:rPr lang="zh-CN" sz="1125" dirty="0">
                <a:solidFill>
                  <a:srgbClr val="7DB2E3"/>
                </a:solidFill>
                <a:latin typeface="Arial"/>
                <a:ea typeface="Microsoft YaHei"/>
                <a:cs typeface="Arial"/>
              </a:rPr>
              <a:t>bird-newrecord-discovery-dated</a:t>
            </a:r>
          </a:p>
        </p:txBody>
      </p:sp>
      <p:sp>
        <p:nvSpPr>
          <p:cNvPr id="17" name="Rectangle 17"/>
          <p:cNvSpPr/>
          <p:nvPr/>
        </p:nvSpPr>
        <p:spPr>
          <a:xfrm>
            <a:off x="6210300" y="1066800"/>
            <a:ext cx="5295900" cy="1562100"/>
          </a:xfrm>
          <a:prstGeom prst="roundRect">
            <a:avLst>
              <a:gd name="adj" fmla="val 4878"/>
            </a:avLst>
          </a:prstGeom>
          <a:solidFill>
            <a:srgbClr val="17222D"/>
          </a:solidFill>
          <a:ln>
            <a:noFill/>
          </a:ln>
        </p:spPr>
      </p:sp>
      <p:sp>
        <p:nvSpPr>
          <p:cNvPr id="18" name="Rectangle 18"/>
          <p:cNvSpPr/>
          <p:nvPr/>
        </p:nvSpPr>
        <p:spPr>
          <a:xfrm>
            <a:off x="6400800" y="1266825"/>
            <a:ext cx="38100" cy="180975"/>
          </a:xfrm>
          <a:prstGeom prst="roundRect">
            <a:avLst>
              <a:gd name="adj" fmla="val 50000"/>
            </a:avLst>
          </a:prstGeom>
          <a:solidFill>
            <a:srgbClr val="7DB2E3"/>
          </a:solidFill>
          <a:ln>
            <a:noFill/>
          </a:ln>
        </p:spPr>
      </p:sp>
      <p:sp>
        <p:nvSpPr>
          <p:cNvPr id="19" name="TextBox 19"/>
          <p:cNvSpPr txBox="1"/>
          <p:nvPr/>
        </p:nvSpPr>
        <p:spPr>
          <a:xfrm>
            <a:off x="6517958" y="1281589"/>
            <a:ext cx="1090377"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Other data</a:t>
            </a:r>
          </a:p>
        </p:txBody>
      </p:sp>
      <p:sp>
        <p:nvSpPr>
          <p:cNvPr id="20" name="TextBox 20"/>
          <p:cNvSpPr txBox="1"/>
          <p:nvPr/>
        </p:nvSpPr>
        <p:spPr>
          <a:xfrm>
            <a:off x="6386512" y="1554956"/>
            <a:ext cx="2480024"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Ranges: BirdLife International</a:t>
            </a:r>
          </a:p>
        </p:txBody>
      </p:sp>
      <p:sp>
        <p:nvSpPr>
          <p:cNvPr id="21" name="TextBox 21"/>
          <p:cNvSpPr txBox="1"/>
          <p:nvPr/>
        </p:nvSpPr>
        <p:spPr>
          <a:xfrm>
            <a:off x="6386512" y="1821656"/>
            <a:ext cx="3623596"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Climate: CRU TS 4.09 · WorldClim 2.1 · CMIP6</a:t>
            </a:r>
          </a:p>
        </p:txBody>
      </p:sp>
      <p:sp>
        <p:nvSpPr>
          <p:cNvPr id="22" name="TextBox 22"/>
          <p:cNvSpPr txBox="1"/>
          <p:nvPr/>
        </p:nvSpPr>
        <p:spPr>
          <a:xfrm>
            <a:off x="6386512" y="2088356"/>
            <a:ext cx="3237476" cy="228600"/>
          </a:xfrm>
          <a:prstGeom prst="rect">
            <a:avLst/>
          </a:prstGeom>
          <a:noFill/>
          <a:ln>
            <a:noFill/>
          </a:ln>
        </p:spPr>
        <p:txBody>
          <a:bodyPr wrap="none" lIns="0" tIns="0" rIns="0" bIns="0" anchor="t" anchorCtr="0">
            <a:spAutoFit/>
          </a:bodyPr>
          <a:lstStyle/>
          <a:p>
            <a:pPr algn="l"/>
            <a:r>
              <a:rPr lang="zh-CN" sz="1125" dirty="0">
                <a:solidFill>
                  <a:srgbClr val="EEF2F6"/>
                </a:solidFill>
                <a:latin typeface="Arial"/>
                <a:ea typeface="Microsoft YaHei"/>
                <a:cs typeface="Arial"/>
              </a:rPr>
              <a:t>Effort: 2.86 million GBIF / eBird records</a:t>
            </a:r>
          </a:p>
        </p:txBody>
      </p:sp>
      <p:sp>
        <p:nvSpPr>
          <p:cNvPr id="23" name="TextBox 23"/>
          <p:cNvSpPr txBox="1"/>
          <p:nvPr/>
        </p:nvSpPr>
        <p:spPr>
          <a:xfrm>
            <a:off x="6386512" y="2355056"/>
            <a:ext cx="2940082" cy="228600"/>
          </a:xfrm>
          <a:prstGeom prst="rect">
            <a:avLst/>
          </a:prstGeom>
          <a:noFill/>
          <a:ln>
            <a:noFill/>
          </a:ln>
        </p:spPr>
        <p:txBody>
          <a:bodyPr wrap="none" lIns="0" tIns="0" rIns="0" bIns="0" anchor="t" anchorCtr="0">
            <a:spAutoFit/>
          </a:bodyPr>
          <a:lstStyle/>
          <a:p>
            <a:pPr algn="l"/>
            <a:r>
              <a:rPr lang="zh-CN" sz="1125" dirty="0">
                <a:solidFill>
                  <a:srgbClr val="B4BECA"/>
                </a:solidFill>
                <a:latin typeface="Arial"/>
                <a:ea typeface="Microsoft YaHei"/>
                <a:cs typeface="Arial"/>
              </a:rPr>
              <a:t>Base map: approval no. GS(2019)1822</a:t>
            </a:r>
          </a:p>
        </p:txBody>
      </p:sp>
      <p:sp>
        <p:nvSpPr>
          <p:cNvPr id="24" name="Rectangle 24"/>
          <p:cNvSpPr/>
          <p:nvPr/>
        </p:nvSpPr>
        <p:spPr>
          <a:xfrm>
            <a:off x="685800" y="2838450"/>
            <a:ext cx="10820400" cy="876300"/>
          </a:xfrm>
          <a:prstGeom prst="roundRect">
            <a:avLst>
              <a:gd name="adj" fmla="val 8696"/>
            </a:avLst>
          </a:prstGeom>
          <a:solidFill>
            <a:srgbClr val="17222D"/>
          </a:solidFill>
          <a:ln>
            <a:noFill/>
          </a:ln>
        </p:spPr>
      </p:sp>
      <p:sp>
        <p:nvSpPr>
          <p:cNvPr id="25" name="TextBox 25"/>
          <p:cNvSpPr txBox="1"/>
          <p:nvPr/>
        </p:nvSpPr>
        <p:spPr>
          <a:xfrm>
            <a:off x="898208" y="3062764"/>
            <a:ext cx="1745700" cy="259080"/>
          </a:xfrm>
          <a:prstGeom prst="rect">
            <a:avLst/>
          </a:prstGeom>
          <a:noFill/>
          <a:ln>
            <a:noFill/>
          </a:ln>
        </p:spPr>
        <p:txBody>
          <a:bodyPr wrap="none" lIns="0" tIns="0" rIns="0" bIns="0" anchor="t" anchorCtr="0">
            <a:spAutoFit/>
          </a:bodyPr>
          <a:lstStyle/>
          <a:p>
            <a:pPr algn="l"/>
            <a:r>
              <a:rPr lang="zh-CN" sz="1275" b="1" dirty="0">
                <a:solidFill>
                  <a:srgbClr val="EEF2F6"/>
                </a:solidFill>
                <a:latin typeface="Arial"/>
                <a:ea typeface="Microsoft YaHei"/>
                <a:cs typeface="Arial"/>
              </a:rPr>
              <a:t>Acknowledgements</a:t>
            </a:r>
          </a:p>
        </p:txBody>
      </p:sp>
      <p:sp>
        <p:nvSpPr>
          <p:cNvPr id="26" name="TextBox 26"/>
          <p:cNvSpPr txBox="1"/>
          <p:nvPr/>
        </p:nvSpPr>
        <p:spPr>
          <a:xfrm>
            <a:off x="899160" y="3356610"/>
            <a:ext cx="6872630" cy="243840"/>
          </a:xfrm>
          <a:prstGeom prst="rect">
            <a:avLst/>
          </a:prstGeom>
          <a:noFill/>
          <a:ln>
            <a:noFill/>
          </a:ln>
        </p:spPr>
        <p:txBody>
          <a:bodyPr wrap="none" lIns="0" tIns="0" rIns="0" bIns="0" anchor="t" anchorCtr="0">
            <a:spAutoFit/>
          </a:bodyPr>
          <a:lstStyle/>
          <a:p>
            <a:pPr algn="l"/>
            <a:r>
              <a:rPr lang="zh-CN" sz="1200" dirty="0">
                <a:solidFill>
                  <a:srgbClr val="B4BECA"/>
                </a:solidFill>
                <a:latin typeface="Arial"/>
                <a:ea typeface="Microsoft YaHei"/>
                <a:cs typeface="Arial"/>
              </a:rPr>
              <a:t>Birdwatchers across China, and every author whose records made CBNR possible.</a:t>
            </a:r>
          </a:p>
        </p:txBody>
      </p:sp>
      <p:sp>
        <p:nvSpPr>
          <p:cNvPr id="27" name="Rectangle 27"/>
          <p:cNvSpPr/>
          <p:nvPr/>
        </p:nvSpPr>
        <p:spPr>
          <a:xfrm>
            <a:off x="10172700" y="3867150"/>
            <a:ext cx="1409700" cy="1409700"/>
          </a:xfrm>
          <a:prstGeom prst="roundRect">
            <a:avLst>
              <a:gd name="adj" fmla="val 4054"/>
            </a:avLst>
          </a:prstGeom>
          <a:solidFill>
            <a:srgbClr val="FFFFFF"/>
          </a:solidFill>
          <a:ln>
            <a:noFill/>
          </a:ln>
        </p:spPr>
      </p:sp>
      <p:pic>
        <p:nvPicPr>
          <p:cNvPr id="28" name="Image 28"/>
          <p:cNvPicPr>
            <a:picLocks noChangeAspect="1"/>
          </p:cNvPicPr>
          <p:nvPr/>
        </p:nvPicPr>
        <p:blipFill>
          <a:blip r:embed="rId2"/>
          <a:stretch>
            <a:fillRect/>
          </a:stretch>
        </p:blipFill>
        <p:spPr>
          <a:xfrm>
            <a:off x="10248900" y="3943350"/>
            <a:ext cx="1257300" cy="1257300"/>
          </a:xfrm>
          <a:prstGeom prst="rect">
            <a:avLst/>
          </a:prstGeom>
        </p:spPr>
      </p:pic>
      <p:sp>
        <p:nvSpPr>
          <p:cNvPr id="29" name="TextBox 29"/>
          <p:cNvSpPr txBox="1"/>
          <p:nvPr/>
        </p:nvSpPr>
        <p:spPr>
          <a:xfrm>
            <a:off x="9163812" y="4385310"/>
            <a:ext cx="871728" cy="243840"/>
          </a:xfrm>
          <a:prstGeom prst="rect">
            <a:avLst/>
          </a:prstGeom>
          <a:noFill/>
          <a:ln>
            <a:noFill/>
          </a:ln>
        </p:spPr>
        <p:txBody>
          <a:bodyPr wrap="none" lIns="0" tIns="0" rIns="0" bIns="0" anchor="t" anchorCtr="0">
            <a:spAutoFit/>
          </a:bodyPr>
          <a:lstStyle/>
          <a:p>
            <a:pPr algn="r"/>
            <a:r>
              <a:rPr lang="zh-CN" sz="1200" dirty="0">
                <a:solidFill>
                  <a:srgbClr val="B4BECA"/>
                </a:solidFill>
                <a:latin typeface="Arial"/>
                <a:ea typeface="Microsoft YaHei"/>
                <a:cs typeface="Arial"/>
              </a:rPr>
              <a:t>CBNR data</a:t>
            </a:r>
          </a:p>
        </p:txBody>
      </p:sp>
      <p:sp>
        <p:nvSpPr>
          <p:cNvPr id="30" name="TextBox 30"/>
          <p:cNvSpPr txBox="1"/>
          <p:nvPr/>
        </p:nvSpPr>
        <p:spPr>
          <a:xfrm>
            <a:off x="8749474" y="4630102"/>
            <a:ext cx="1284161" cy="213360"/>
          </a:xfrm>
          <a:prstGeom prst="rect">
            <a:avLst/>
          </a:prstGeom>
          <a:noFill/>
          <a:ln>
            <a:noFill/>
          </a:ln>
        </p:spPr>
        <p:txBody>
          <a:bodyPr wrap="none" lIns="0" tIns="0" rIns="0" bIns="0" anchor="t" anchorCtr="0">
            <a:spAutoFit/>
          </a:bodyPr>
          <a:lstStyle/>
          <a:p>
            <a:pPr algn="r"/>
            <a:r>
              <a:rPr lang="zh-CN" sz="1050" dirty="0">
                <a:solidFill>
                  <a:srgbClr val="7D8996"/>
                </a:solidFill>
                <a:latin typeface="Arial"/>
                <a:ea typeface="Microsoft YaHei"/>
                <a:cs typeface="Arial"/>
              </a:rPr>
              <a:t>scan to download</a:t>
            </a:r>
          </a:p>
        </p:txBody>
      </p:sp>
      <p:sp>
        <p:nvSpPr>
          <p:cNvPr id="31" name="TextBox 31"/>
          <p:cNvSpPr txBox="1"/>
          <p:nvPr/>
        </p:nvSpPr>
        <p:spPr>
          <a:xfrm>
            <a:off x="653415" y="4258628"/>
            <a:ext cx="5638967" cy="518160"/>
          </a:xfrm>
          <a:prstGeom prst="rect">
            <a:avLst/>
          </a:prstGeom>
          <a:noFill/>
          <a:ln>
            <a:noFill/>
          </a:ln>
        </p:spPr>
        <p:txBody>
          <a:bodyPr wrap="none" lIns="0" tIns="0" rIns="0" bIns="0" anchor="t" anchorCtr="0">
            <a:spAutoFit/>
          </a:bodyPr>
          <a:lstStyle/>
          <a:p>
            <a:pPr algn="l"/>
            <a:r>
              <a:rPr lang="zh-CN" sz="2550" b="1" dirty="0">
                <a:solidFill>
                  <a:srgbClr val="EEF2F6"/>
                </a:solidFill>
                <a:latin typeface="Arial"/>
                <a:ea typeface="Microsoft YaHei"/>
                <a:cs typeface="Arial"/>
              </a:rPr>
              <a:t>Thank you. Questions welcome</a:t>
            </a:r>
          </a:p>
        </p:txBody>
      </p:sp>
      <p:sp>
        <p:nvSpPr>
          <p:cNvPr id="32" name="TextBox 32"/>
          <p:cNvSpPr txBox="1"/>
          <p:nvPr/>
        </p:nvSpPr>
        <p:spPr>
          <a:xfrm>
            <a:off x="666750" y="4752975"/>
            <a:ext cx="2800636" cy="304800"/>
          </a:xfrm>
          <a:prstGeom prst="rect">
            <a:avLst/>
          </a:prstGeom>
          <a:noFill/>
          <a:ln>
            <a:noFill/>
          </a:ln>
        </p:spPr>
        <p:txBody>
          <a:bodyPr wrap="none" lIns="0" tIns="0" rIns="0" bIns="0" anchor="t" anchorCtr="0">
            <a:spAutoFit/>
          </a:bodyPr>
          <a:lstStyle/>
          <a:p>
            <a:pPr algn="l"/>
            <a:r>
              <a:rPr lang="zh-CN" sz="1500" dirty="0">
                <a:solidFill>
                  <a:srgbClr val="F07B4F"/>
                </a:solidFill>
                <a:latin typeface="Arial"/>
                <a:ea typeface="Microsoft YaHei"/>
                <a:cs typeface="Arial"/>
              </a:rPr>
              <a:t>chenchen.ding@pku.edu.cn</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BACKUP</a:t>
            </a:r>
          </a:p>
        </p:txBody>
      </p:sp>
      <p:sp>
        <p:nvSpPr>
          <p:cNvPr id="4" name="TextBox 4"/>
          <p:cNvSpPr txBox="1"/>
          <p:nvPr/>
        </p:nvSpPr>
        <p:spPr>
          <a:xfrm>
            <a:off x="660082" y="600551"/>
            <a:ext cx="12917324"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Dating records to publication inflates effort and creates a phantom climate effect</a:t>
            </a:r>
          </a:p>
        </p:txBody>
      </p:sp>
      <p:sp>
        <p:nvSpPr>
          <p:cNvPr id="5" name="TextBox 5"/>
          <p:cNvSpPr txBox="1"/>
          <p:nvPr/>
        </p:nvSpPr>
        <p:spPr>
          <a:xfrm>
            <a:off x="10314394" y="340995"/>
            <a:ext cx="1203236"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Figure 2 · Table 1</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TextBox 7"/>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8" name="TextBox 8"/>
          <p:cNvSpPr txBox="1"/>
          <p:nvPr/>
        </p:nvSpPr>
        <p:spPr>
          <a:xfrm>
            <a:off x="11348866" y="6646545"/>
            <a:ext cx="168764"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B1</a:t>
            </a:r>
          </a:p>
        </p:txBody>
      </p:sp>
      <p:sp>
        <p:nvSpPr>
          <p:cNvPr id="9" name="Rectangle 9"/>
          <p:cNvSpPr/>
          <p:nvPr/>
        </p:nvSpPr>
        <p:spPr>
          <a:xfrm>
            <a:off x="1756410" y="971550"/>
            <a:ext cx="8679180" cy="5524500"/>
          </a:xfrm>
          <a:prstGeom prst="roundRect">
            <a:avLst>
              <a:gd name="adj" fmla="val 1379"/>
            </a:avLst>
          </a:prstGeom>
          <a:solidFill>
            <a:srgbClr val="FFFFFF"/>
          </a:solidFill>
          <a:ln>
            <a:noFill/>
          </a:ln>
        </p:spPr>
      </p:sp>
      <p:pic>
        <p:nvPicPr>
          <p:cNvPr id="10" name="Image 10"/>
          <p:cNvPicPr>
            <a:picLocks noChangeAspect="1"/>
          </p:cNvPicPr>
          <p:nvPr/>
        </p:nvPicPr>
        <p:blipFill>
          <a:blip r:embed="rId2"/>
          <a:stretch>
            <a:fillRect/>
          </a:stretch>
        </p:blipFill>
        <p:spPr>
          <a:xfrm>
            <a:off x="1851660" y="1066800"/>
            <a:ext cx="8488680" cy="5334000"/>
          </a:xfrm>
          <a:prstGeom prst="rect">
            <a:avLst/>
          </a:prstGeom>
        </p:spPr>
      </p:pic>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BACKUP</a:t>
            </a:r>
          </a:p>
        </p:txBody>
      </p:sp>
      <p:sp>
        <p:nvSpPr>
          <p:cNvPr id="4" name="TextBox 4"/>
          <p:cNvSpPr txBox="1"/>
          <p:nvPr/>
        </p:nvSpPr>
        <p:spPr>
          <a:xfrm>
            <a:off x="660082" y="600551"/>
            <a:ext cx="10584912"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Specification robustness: climate indicator, window and effort proxy</a:t>
            </a:r>
          </a:p>
        </p:txBody>
      </p:sp>
      <p:sp>
        <p:nvSpPr>
          <p:cNvPr id="5" name="TextBox 5"/>
          <p:cNvSpPr txBox="1"/>
          <p:nvPr/>
        </p:nvSpPr>
        <p:spPr>
          <a:xfrm>
            <a:off x="10975562" y="340995"/>
            <a:ext cx="542068"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Figure 3</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TextBox 7"/>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8" name="TextBox 8"/>
          <p:cNvSpPr txBox="1"/>
          <p:nvPr/>
        </p:nvSpPr>
        <p:spPr>
          <a:xfrm>
            <a:off x="11348866" y="6646545"/>
            <a:ext cx="168764"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B2</a:t>
            </a:r>
          </a:p>
        </p:txBody>
      </p:sp>
      <p:sp>
        <p:nvSpPr>
          <p:cNvPr id="9" name="Rectangle 9"/>
          <p:cNvSpPr/>
          <p:nvPr/>
        </p:nvSpPr>
        <p:spPr>
          <a:xfrm>
            <a:off x="1934528" y="971550"/>
            <a:ext cx="8323898" cy="5524500"/>
          </a:xfrm>
          <a:prstGeom prst="roundRect">
            <a:avLst>
              <a:gd name="adj" fmla="val 1379"/>
            </a:avLst>
          </a:prstGeom>
          <a:solidFill>
            <a:srgbClr val="FFFFFF"/>
          </a:solidFill>
          <a:ln>
            <a:noFill/>
          </a:ln>
        </p:spPr>
      </p:sp>
      <p:pic>
        <p:nvPicPr>
          <p:cNvPr id="10" name="Image 10"/>
          <p:cNvPicPr>
            <a:picLocks noChangeAspect="1"/>
          </p:cNvPicPr>
          <p:nvPr/>
        </p:nvPicPr>
        <p:blipFill>
          <a:blip r:embed="rId2"/>
          <a:stretch>
            <a:fillRect/>
          </a:stretch>
        </p:blipFill>
        <p:spPr>
          <a:xfrm>
            <a:off x="2029778" y="1066800"/>
            <a:ext cx="8133398" cy="5334000"/>
          </a:xfrm>
          <a:prstGeom prst="rect">
            <a:avLst/>
          </a:prstGeom>
        </p:spPr>
      </p:pic>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0"/>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F07B4F"/>
                </a:solidFill>
                <a:latin typeface="Arial"/>
                <a:ea typeface="Microsoft YaHei"/>
                <a:cs typeface="Arial"/>
              </a:rPr>
              <a:t>BACKUP</a:t>
            </a:r>
          </a:p>
        </p:txBody>
      </p:sp>
      <p:sp>
        <p:nvSpPr>
          <p:cNvPr id="4" name="TextBox 4"/>
          <p:cNvSpPr txBox="1"/>
          <p:nvPr/>
        </p:nvSpPr>
        <p:spPr>
          <a:xfrm>
            <a:off x="660082" y="600551"/>
            <a:ext cx="8920246" cy="411480"/>
          </a:xfrm>
          <a:prstGeom prst="rect">
            <a:avLst/>
          </a:prstGeom>
          <a:noFill/>
          <a:ln>
            <a:noFill/>
          </a:ln>
        </p:spPr>
        <p:txBody>
          <a:bodyPr wrap="none" lIns="0" tIns="0" rIns="0" bIns="0" anchor="t" anchorCtr="0">
            <a:spAutoFit/>
          </a:bodyPr>
          <a:lstStyle/>
          <a:p>
            <a:pPr algn="l"/>
            <a:r>
              <a:rPr lang="zh-CN" sz="2025" b="1" dirty="0">
                <a:solidFill>
                  <a:srgbClr val="EEF2F6"/>
                </a:solidFill>
                <a:latin typeface="Arial"/>
                <a:ea typeface="Microsoft YaHei"/>
                <a:cs typeface="Arial"/>
              </a:rPr>
              <a:t>Model anatomy: climate referenced to each species' range</a:t>
            </a:r>
          </a:p>
        </p:txBody>
      </p:sp>
      <p:sp>
        <p:nvSpPr>
          <p:cNvPr id="5" name="TextBox 5"/>
          <p:cNvSpPr txBox="1"/>
          <p:nvPr/>
        </p:nvSpPr>
        <p:spPr>
          <a:xfrm>
            <a:off x="10975562" y="340995"/>
            <a:ext cx="542068" cy="182880"/>
          </a:xfrm>
          <a:prstGeom prst="rect">
            <a:avLst/>
          </a:prstGeom>
          <a:noFill/>
          <a:ln>
            <a:noFill/>
          </a:ln>
        </p:spPr>
        <p:txBody>
          <a:bodyPr wrap="none" lIns="0" tIns="0" rIns="0" bIns="0" anchor="t" anchorCtr="0">
            <a:spAutoFit/>
          </a:bodyPr>
          <a:lstStyle/>
          <a:p>
            <a:pPr algn="r"/>
            <a:r>
              <a:rPr lang="zh-CN" sz="900" dirty="0">
                <a:solidFill>
                  <a:srgbClr val="7D8996"/>
                </a:solidFill>
                <a:latin typeface="Arial"/>
                <a:ea typeface="Microsoft YaHei"/>
                <a:cs typeface="Arial"/>
              </a:rPr>
              <a:t>Figure 4</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26333F"/>
            </a:solidFill>
          </a:ln>
        </p:spPr>
      </p:sp>
      <p:sp>
        <p:nvSpPr>
          <p:cNvPr id="7" name="TextBox 7"/>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7D8996"/>
                </a:solidFill>
                <a:latin typeface="Arial"/>
                <a:ea typeface="Microsoft YaHei"/>
                <a:cs typeface="Arial"/>
              </a:rPr>
              <a:t>Birds or birders? · AOC 2026, Singapore</a:t>
            </a:r>
          </a:p>
        </p:txBody>
      </p:sp>
      <p:sp>
        <p:nvSpPr>
          <p:cNvPr id="8" name="TextBox 8"/>
          <p:cNvSpPr txBox="1"/>
          <p:nvPr/>
        </p:nvSpPr>
        <p:spPr>
          <a:xfrm>
            <a:off x="11348866" y="6646545"/>
            <a:ext cx="168764" cy="182880"/>
          </a:xfrm>
          <a:prstGeom prst="rect">
            <a:avLst/>
          </a:prstGeom>
          <a:noFill/>
          <a:ln>
            <a:noFill/>
          </a:ln>
        </p:spPr>
        <p:txBody>
          <a:bodyPr wrap="none" lIns="0" tIns="0" rIns="0" bIns="0" anchor="t" anchorCtr="0">
            <a:spAutoFit/>
          </a:bodyPr>
          <a:lstStyle/>
          <a:p>
            <a:pPr algn="r"/>
            <a:r>
              <a:rPr lang="zh-CN" sz="900" dirty="0">
                <a:solidFill>
                  <a:srgbClr val="B4BECA"/>
                </a:solidFill>
                <a:latin typeface="Arial"/>
                <a:ea typeface="Microsoft YaHei"/>
                <a:cs typeface="Arial"/>
              </a:rPr>
              <a:t>B3</a:t>
            </a:r>
          </a:p>
        </p:txBody>
      </p:sp>
      <p:sp>
        <p:nvSpPr>
          <p:cNvPr id="9" name="Rectangle 9"/>
          <p:cNvSpPr/>
          <p:nvPr/>
        </p:nvSpPr>
        <p:spPr>
          <a:xfrm>
            <a:off x="2303145" y="971550"/>
            <a:ext cx="7585710" cy="5524500"/>
          </a:xfrm>
          <a:prstGeom prst="roundRect">
            <a:avLst>
              <a:gd name="adj" fmla="val 1379"/>
            </a:avLst>
          </a:prstGeom>
          <a:solidFill>
            <a:srgbClr val="FFFFFF"/>
          </a:solidFill>
          <a:ln>
            <a:noFill/>
          </a:ln>
        </p:spPr>
      </p:sp>
      <p:pic>
        <p:nvPicPr>
          <p:cNvPr id="10" name="Image 10"/>
          <p:cNvPicPr>
            <a:picLocks noChangeAspect="1"/>
          </p:cNvPicPr>
          <p:nvPr/>
        </p:nvPicPr>
        <p:blipFill>
          <a:blip r:embed="rId2"/>
          <a:stretch>
            <a:fillRect/>
          </a:stretch>
        </p:blipFill>
        <p:spPr>
          <a:xfrm>
            <a:off x="2398395" y="1066800"/>
            <a:ext cx="7395210" cy="5334000"/>
          </a:xfrm>
          <a:prstGeom prst="rect">
            <a:avLst/>
          </a:prstGeom>
        </p:spPr>
      </p:pic>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Disentangling climate signals from survey effort in new bird distribution records across China</dc:title>
  <dc:subject/>
  <dc:creator>Chenchen Ding</dc:creator>
  <cp:keywords/>
  <dc:description/>
  <cp:lastModifiedBy>Chenchen Ding</cp:lastModifiedBy>
  <cp:revision>1</cp:revision>
  <dcterms:created xsi:type="dcterms:W3CDTF">2026-10-14T09:06:03Z</dcterms:created>
  <dcterms:modified xsi:type="dcterms:W3CDTF">2026-10-14T09:06:03Z</dcterms:modified>
  <cp:category/>
</cp:coreProperties>
</file>