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  <Relationship Id="rId29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[约 25 秒]</a:t>
            </a:r>
          </a:p>
          <a:p>
            <a:endParaRPr lang="zh-CN" dirty="0"/>
          </a:p>
          <a:p>
            <a:r>
              <a:rPr lang="zh-CN" dirty="0"/>
              <a:t>大家早上好，我是北京大学的丁晨晨。今天想讨论一个关于鸟类新纪录的简单问题：一个物种出现在新的省份，是鸟真的移动了，还是我们看得更仔细了？我们的答案是：两者都有，而且分量相当。下面我会说明，怎样用一个模型把两者分开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[约 40 秒]</a:t>
            </a:r>
          </a:p>
          <a:p>
            <a:endParaRPr lang="zh-CN" dirty="0"/>
          </a:p>
          <a:p>
            <a:r>
              <a:rPr lang="zh-CN" dirty="0"/>
              <a:t>每条纪录都需要两样东西：一只鸟，和一个观鸟者。所以纪录地图总是把鸟在哪里和人在哪里看混在一起。2000年以后，这两者在中国都变化很快：气候在变暖，观鸟访问量增长了大约175倍。只放其中一个因素的模型，会把两者的功劳都算给它。下方是原始论文对自己纪录的解释：61%归因于分布区变化，只有7%提到调查努力。所以我们的问题是：新纪录的积累中，多少来自增温，多少来自调查努力？</a:t>
            </a:r>
          </a:p>
          <a:p>
            <a:endParaRPr lang="zh-CN" dirty="0"/>
          </a:p>
          <a:p>
            <a:r>
              <a:rPr lang="zh-CN" dirty="0"/>
              <a:t>若被问到：这些比例从哪里来？来自 CBNR 的“推断发现原因”字段，记录了每篇原始论文给出或隐含的原因。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[约 30 秒]</a:t>
            </a:r>
          </a:p>
          <a:p>
            <a:endParaRPr lang="zh-CN" dirty="0"/>
          </a:p>
          <a:p>
            <a:r>
              <a:rPr lang="zh-CN" dirty="0"/>
              <a:t>数据来自CBNR，中国鸟类新纪录数据集，由我们团队从同行评议文献中整理，并逐条人工核对。当前版本共1,076条纪录、588种，覆盖33个省级单元，时间为2000到2025年。今天展示的分析基于已发布的v2版，共1,029条，在建模时段内对应649条首次纪录。每条纪录都按发现年份定年。数据以CCBY许可开放，扫码即可下载。</a:t>
            </a:r>
          </a:p>
          <a:p>
            <a:endParaRPr lang="zh-CN" dirty="0"/>
          </a:p>
          <a:p>
            <a:r>
              <a:rPr lang="zh-CN" dirty="0"/>
              <a:t>若被问到：为什么模型用 v2 而不是 v1.1？v2 是可引用的 Zenodo 发布版；v1.1 新增 47 条，尚未上传 Zenodo。</a:t>
            </a:r>
          </a:p>
          <a:p>
            <a:endParaRPr lang="zh-CN" dirty="0"/>
          </a:p>
          <a:p>
            <a:r>
              <a:rPr lang="zh-CN" dirty="0"/>
              <a:t>若被问到：CBNR 完整吗？它覆盖同行评议文献中的省级新纪录，不含灰色文献和未发表的观察。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[约 40 秒]</a:t>
            </a:r>
          </a:p>
          <a:p>
            <a:endParaRPr lang="zh-CN" dirty="0"/>
          </a:p>
          <a:p>
            <a:r>
              <a:rPr lang="zh-CN" dirty="0"/>
              <a:t>我们把问题转成一个离散时间风险模型：对每个物种、它可能到达的每个省份、每一年，问一句：这一年是不是它的首次纪录？模型有四个关键部分。完整的风险集，保证分母是真实的机会。以物种自身分布区为参照的增温，因为只有差值才对这个物种有意义。来自几百万条eBird和GBIF记录的调查努力。还有省份×年份随机效应，专项调查等事件就体现在这里。纪录按发现年份定年，并用offset校正最近几年。</a:t>
            </a:r>
          </a:p>
          <a:p>
            <a:endParaRPr lang="zh-CN" dirty="0"/>
          </a:p>
          <a:p>
            <a:r>
              <a:rPr lang="zh-CN" dirty="0"/>
              <a:t>若被问到：为什么用 cloglog？它是比例风险模型的离散时间形式，exp(β) 是与时间步长无关的风险比。</a:t>
            </a:r>
          </a:p>
          <a:p>
            <a:endParaRPr lang="zh-CN" dirty="0"/>
          </a:p>
          <a:p>
            <a:r>
              <a:rPr lang="zh-CN" dirty="0"/>
              <a:t>若被问到：“可能到达”怎么定义？物种分布模型中至少有 50 个适宜栅格的省份；改为 100 或 200 结果不变。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[约 20 秒]</a:t>
            </a:r>
          </a:p>
          <a:p>
            <a:endParaRPr lang="zh-CN" dirty="0"/>
          </a:p>
          <a:p>
            <a:r>
              <a:rPr lang="zh-CN" dirty="0"/>
              <a:t>第一个发现：增温与调查努力的贡献大致相当，每个标准差的风险比分别是1.36和1.40。两者还存在负交互。右图说明了含义：观鸟的人少的地方，增温曲线很陡；观鸟的人多的地方，曲线变平。年际气候变率则完全没有效应。</a:t>
            </a:r>
          </a:p>
          <a:p>
            <a:endParaRPr lang="zh-CN" dirty="0"/>
          </a:p>
          <a:p>
            <a:r>
              <a:rPr lang="zh-CN" dirty="0"/>
              <a:t>若被问到：增温效应到底多大？置换零模型的基线是 1.16，所以物种特异的增量约为每个标准差 ×1.18。</a:t>
            </a:r>
          </a:p>
          <a:p>
            <a:endParaRPr lang="zh-CN" dirty="0"/>
          </a:p>
          <a:p>
            <a:r>
              <a:rPr lang="zh-CN" dirty="0"/>
              <a:t>若被问到：1 个标准差的增温是多少？以物种分布区为参照的累积增温 0.18 °C。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[约 25 秒]  [可删]</a:t>
            </a:r>
          </a:p>
          <a:p>
            <a:endParaRPr lang="zh-CN" dirty="0"/>
          </a:p>
          <a:p>
            <a:r>
              <a:rPr lang="zh-CN" dirty="0"/>
              <a:t>这个平衡并不脆弱。去掉任何一项，模型损失都差不多，各约29个AIC单位。在十二种设定下，包括不同的分布模型阈值、努力指标和缺失处理，数字基本不变。用保留设计的零模型检验，两个效应都成立：增温相对零模型的增量约1.18，而打乱努力的时间，它会降到0.98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[约 30 秒]</a:t>
            </a:r>
          </a:p>
          <a:p>
            <a:endParaRPr lang="zh-CN" dirty="0"/>
          </a:p>
          <a:p>
            <a:r>
              <a:rPr lang="zh-CN" dirty="0"/>
              <a:t>第二个发现：最大的单一成分根本不是驱动因子，而是省份×年份效应。一个标准差会让风险乘以2.23，超过增温和调查努力。省级鸟类调查、大型观鸟活动、新建保护区，都会体现在这里。加入这一层后，条件AUC从0.72提高到0.85，固定效应不变。如果把它当成噪声，调查的历史就会被误读为分布区的变化。</a:t>
            </a:r>
          </a:p>
          <a:p>
            <a:endParaRPr lang="zh-CN" dirty="0"/>
          </a:p>
          <a:p>
            <a:r>
              <a:rPr lang="zh-CN" dirty="0"/>
              <a:t>若被问到：省份 × 年份效应会不会也吸收了气候异常？部分会；这样保护了固定效应，代价是损失一些气候信号，论文中已说明。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[约 30 秒]</a:t>
            </a:r>
          </a:p>
          <a:p>
            <a:endParaRPr lang="zh-CN" dirty="0"/>
          </a:p>
          <a:p>
            <a:r>
              <a:rPr lang="zh-CN" dirty="0"/>
              <a:t>第三个发现：调查努力正在饱和。它的风险比从2002年的2.2降到2024年的约1.1，2022年之后已与1没有差别，容易填的空白已经填上了。增温没有这种趋势。可以把它理解为存量与流量：努力在挖掘有限的未发现纪录，而增温不断带来新的候选种。两条趋势没有相互检验，所以我会说“与之相符”，而不是“已经证明”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[约 35 秒]  [可删]</a:t>
            </a:r>
          </a:p>
          <a:p>
            <a:endParaRPr lang="zh-CN" dirty="0"/>
          </a:p>
          <a:p>
            <a:r>
              <a:rPr lang="zh-CN" dirty="0"/>
              <a:t>第四：方向。以物种分布区中心为参照，新纪录看起来明显偏东。但这些物种的分布区大多位于中国的西侧或南侧，所以中国境内的几乎任何纪录都会落在东边。把每条纪录随机放到它可能出现的省份，单靠几何就能重现偏东的格局。只有再按观鸟者去的地方加权，才留下一个信号，而且指向北方：一个温和的向极偏移，只有用对了零假设才能看到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[约 30 秒]</a:t>
            </a:r>
          </a:p>
          <a:p>
            <a:endParaRPr lang="zh-CN" dirty="0"/>
          </a:p>
          <a:p>
            <a:r>
              <a:rPr lang="zh-CN" dirty="0"/>
              <a:t>接下来是几个应用。保护区看起来是新纪录的热点：26%的纪录落在只占10%国土的保护区里。但观鸟者也常去那里。把每条纪录与同省同年观鸟者实际去过的地点比较，效应就缩小了；去掉最大的两个保护区，或只看2013年以前，效应就消失了。保护区里纪录多，并不能证明保护区管得好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[约 25 秒]</a:t>
            </a:r>
          </a:p>
          <a:p>
            <a:endParaRPr lang="zh-CN" dirty="0"/>
          </a:p>
          <a:p>
            <a:r>
              <a:rPr lang="zh-CN" dirty="0"/>
              <a:t>第二个应用是把预测细化到县。我们把问题拆成两步：一个省会不会出现新纪录；如果会，在哪个县？用2019到2024年检验，排名第一的县命中率为16%，随机只有约1%。看看这些地名：墨脱、浦东南汇、崇明、罗山董寨、洋县。国内的观鸟者都熟悉，而模型事先并不知道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[约 15 秒]  [可删]</a:t>
            </a:r>
          </a:p>
          <a:p>
            <a:endParaRPr lang="zh-CN" dirty="0"/>
          </a:p>
          <a:p>
            <a:r>
              <a:rPr lang="zh-CN" dirty="0"/>
              <a:t>这是同一个模型在省、市、县三个尺度上的结果。我们还用随机森林和XGBoost重新拟合，地图几乎不变，秩相关在0.62到0.90之间。先去哪里找，对模型选择并不敏感。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[约 30 秒]</a:t>
            </a:r>
          </a:p>
          <a:p>
            <a:endParaRPr lang="zh-CN" dirty="0"/>
          </a:p>
          <a:p>
            <a:r>
              <a:rPr lang="zh-CN" dirty="0"/>
              <a:t>未来会怎样？我们把两种气候情景和两种努力情景交叉组合。从SSP2-4.5换到SSP5-8.5，全国期望纪录数从每年23.2条变成23.1条，几乎没变。如果调查努力继续增长，到2050年数量会翻一倍多。我们将记录到什么，更多取决于我们怎么看，而不是气候怎么变。但这部分增长大多落在拟合数据的范围之外。</a:t>
            </a:r>
          </a:p>
          <a:p>
            <a:endParaRPr lang="zh-CN" dirty="0"/>
          </a:p>
          <a:p>
            <a:r>
              <a:rPr lang="zh-CN" dirty="0"/>
              <a:t>若被问到：每年 57–62 条是预测吗？不是。到 2050 年只有 2% 的单元在拟合范围内；可信的说法是：2030 年在任一情景下约每年 23–27 条。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[约 25 秒]  [可删]</a:t>
            </a:r>
          </a:p>
          <a:p>
            <a:endParaRPr lang="zh-CN" dirty="0"/>
          </a:p>
          <a:p>
            <a:r>
              <a:rPr lang="zh-CN" dirty="0"/>
              <a:t>再提醒一下机器学习的问题。我们用三类模型跑同样的情景，都校准到同一个2024年基线。2050年努力持续增长时，风险模型升到每年57条，随机森林持平，XGBoost反而下降。三者对“在哪里”意见一致；但在数据范围之外，树模型只返回边界值，没人能检验哪个方向是对的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[约 15 秒]</a:t>
            </a:r>
          </a:p>
          <a:p>
            <a:endParaRPr lang="zh-CN" dirty="0"/>
          </a:p>
          <a:p>
            <a:r>
              <a:rPr lang="zh-CN" dirty="0"/>
              <a:t>所以我们的规则很简单：报告模型在哪里失效。在SSP2-4.5下，落在拟合范围内的物种×省份组合比例，从2030年的48%降到2050年的10%，2080年只剩2%。所以2030年可用，世纪末的地图只是示意，不是预测。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[约 25 秒]</a:t>
            </a:r>
          </a:p>
          <a:p>
            <a:endParaRPr lang="zh-CN" dirty="0"/>
          </a:p>
          <a:p>
            <a:r>
              <a:rPr lang="zh-CN" dirty="0"/>
              <a:t>四条局限要和结论一起带走。我们的事件是已发表的纪录，不是探测本身，所以我们解释的是纪录如何产生，而不是分布区如何扩张。坐标精度最好也只有一公里左右。保护区边界只覆盖约三分之一。2030年以后的预测超出了数据范围，世纪末的地图只是示意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[约 35 秒]</a:t>
            </a:r>
          </a:p>
          <a:p>
            <a:endParaRPr lang="zh-CN" dirty="0"/>
          </a:p>
          <a:p>
            <a:r>
              <a:rPr lang="zh-CN" dirty="0"/>
              <a:t>四个要点。一：新纪录确实带有气候信号，增温与调查努力的贡献相当。二：看的人越少，增温的作用越大。三：把观测过程纳入模型；调查脉冲是最大的成分，努力的回报在下降。四：未来的纪录数取决于我们怎么看，多数预测变化属于外推。所以，是鸟还是看鸟的人？两者都是。但只有把“怎么看”纳入模型，才能读出气候信号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[约 25 秒]</a:t>
            </a:r>
          </a:p>
          <a:p>
            <a:endParaRPr lang="zh-CN" dirty="0"/>
          </a:p>
          <a:p>
            <a:r>
              <a:rPr lang="zh-CN" dirty="0"/>
              <a:t>这对监测意味着什么？增温效应在低努力处最大，而低努力的省份主要位于西部和内陆。与此同时，东部热点的努力回报已经接近耗尽。所以监测优先级很清楚：把调查力量投向气候暴露高、调查不足的地区，那里的新纪录携带最多的气候信息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[约 15 秒]</a:t>
            </a:r>
          </a:p>
          <a:p>
            <a:endParaRPr lang="zh-CN" dirty="0"/>
          </a:p>
          <a:p>
            <a:r>
              <a:rPr lang="zh-CN" dirty="0"/>
              <a:t>所有内容都已开放：CBNR数据在Zenodo，全部分析代码在GitHub，报告里的每个数字都能追溯到结果表。感谢全国的观鸟者，以及每一位贡献纪录的作者。谢谢大家，欢迎提问。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[约 25 秒]  [可删]</a:t>
            </a:r>
          </a:p>
          <a:p>
            <a:endParaRPr lang="zh-CN" dirty="0"/>
          </a:p>
          <a:p>
            <a:r>
              <a:rPr lang="zh-CN" dirty="0"/>
              <a:t>如被问到定年：按发表年份定年时，努力的风险比是1.79而不是1.31，被夸大37%；还会出现一个年际气候变率效应0.85，P小于0.001。按发现年份定年后，这个效应消失，增温几乎不变。发表比发现平均晚约两年，而且这个滞后随观鸟数据库一起增长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[约 10 秒]  [可删]</a:t>
            </a:r>
          </a:p>
          <a:p>
            <a:endParaRPr lang="zh-CN" dirty="0"/>
          </a:p>
          <a:p>
            <a:r>
              <a:rPr lang="zh-CN" dirty="0"/>
              <a:t>如被问到设定：信号集中在15–20年窗口的年均温；在不同努力指标和缺失处理下，系数都很稳定。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[约 15 秒]  [可删]</a:t>
            </a:r>
          </a:p>
          <a:p>
            <a:endParaRPr lang="zh-CN" dirty="0"/>
          </a:p>
          <a:p>
            <a:r>
              <a:rPr lang="zh-CN" dirty="0"/>
              <a:t>如被问到增温怎么度量：同一省份同一年，相对不同物种的分布区，可以多暖也可以少暖；这个物种特异的差值就是气候协变量。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8e790484f26c03d9.png"/>
  <Relationship Id="rId3" Type="http://schemas.openxmlformats.org/officeDocument/2006/relationships/image" Target="../media/image_ab39142e67679a80.png"/>
  <Relationship Id="rId4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582f5b337129e964.png"/>
  <Relationship Id="rId3" Type="http://schemas.openxmlformats.org/officeDocument/2006/relationships/image" Target="../media/image_59a010da15edc166.png"/>
  <Relationship Id="rId4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9eceb8047ae57460.pn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8889d446b47cde48.png"/>
  <Relationship Id="rId3" Type="http://schemas.openxmlformats.org/officeDocument/2006/relationships/image" Target="../media/image_94acc12a4c2aae39.png"/>
  <Relationship Id="rId4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fdbbcfb0e61d52d.pn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387b06e4749a4c92.pn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2f54da6e7fd7d5d4.pn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d4be9f55c9151a50.pn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5e3cf0eaa7a61991.png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8ae65c5956cb6f15.png"/>
  <Relationship Id="rId3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ab39142e67679a80.png"/>
  <Relationship Id="rId3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b0d94034425a7dde.png"/>
  <Relationship Id="rId3" Type="http://schemas.openxmlformats.org/officeDocument/2006/relationships/notesSlide" Target="../notesSlides/notesSlide20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b1e9b3abf655a71d.png"/>
  <Relationship Id="rId3" Type="http://schemas.openxmlformats.org/officeDocument/2006/relationships/notesSlide" Target="../notesSlides/notesSlide21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1cb03d411865e55c.png"/>
  <Relationship Id="rId3" Type="http://schemas.openxmlformats.org/officeDocument/2006/relationships/notesSlide" Target="../notesSlides/notesSlide2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685800" y="1162050"/>
            <a:ext cx="533400" cy="57150"/>
          </a:xfrm>
          <a:prstGeom prst="roundRect">
            <a:avLst>
              <a:gd name="adj" fmla="val 50000"/>
            </a:avLst>
          </a:prstGeom>
          <a:solidFill>
            <a:srgbClr val="D1552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85800" y="855345"/>
            <a:ext cx="6667500" cy="214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125" b="1" dirty="0">
                <a:solidFill>
                  <a:srgbClr val="D1552C"/>
                </a:solidFill>
                <a:latin typeface="Arial"/>
                <a:ea typeface="Microsoft YaHei"/>
                <a:cs typeface="Arial"/>
              </a:rPr>
              <a:t>鸟变了，还是看鸟的人变了？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9605" y="1559242"/>
            <a:ext cx="9779165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从调查努力中分离气候信号：中国鸟类新分布纪录</a:t>
            </a:r>
          </a:p>
        </p:txBody>
      </p:sp>
      <p:sp>
        <p:nvSpPr>
          <p:cNvPr id="6" name="Rectangle 6"/>
          <p:cNvSpPr/>
          <p:nvPr/>
        </p:nvSpPr>
        <p:spPr>
          <a:xfrm>
            <a:off x="685800" y="2686050"/>
            <a:ext cx="3365182" cy="1181100"/>
          </a:xfrm>
          <a:prstGeom prst="roundRect">
            <a:avLst>
              <a:gd name="adj" fmla="val 6452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62965" y="2906078"/>
            <a:ext cx="1043807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F5F9E"/>
                </a:solidFill>
                <a:latin typeface="Arial"/>
                <a:ea typeface="Microsoft YaHei"/>
                <a:cs typeface="Arial"/>
              </a:rPr>
              <a:t>1,076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81062" y="3364706"/>
            <a:ext cx="10144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条省级新纪录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82968" y="3609499"/>
            <a:ext cx="13220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588 种 · CBNR v1.1</a:t>
            </a:r>
          </a:p>
        </p:txBody>
      </p:sp>
      <p:sp>
        <p:nvSpPr>
          <p:cNvPr id="10" name="Rectangle 10"/>
          <p:cNvSpPr/>
          <p:nvPr/>
        </p:nvSpPr>
        <p:spPr>
          <a:xfrm>
            <a:off x="4241482" y="2686050"/>
            <a:ext cx="3365182" cy="1181100"/>
          </a:xfrm>
          <a:prstGeom prst="roundRect">
            <a:avLst>
              <a:gd name="adj" fmla="val 6452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418648" y="2906078"/>
            <a:ext cx="1478058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F5F9E"/>
                </a:solidFill>
                <a:latin typeface="Arial"/>
                <a:ea typeface="Microsoft YaHei"/>
                <a:cs typeface="Arial"/>
              </a:rPr>
              <a:t>175,901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436745" y="3364706"/>
            <a:ext cx="155333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物种 × 省份 × 年份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438650" y="3609499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风险集单元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798118" y="2686050"/>
            <a:ext cx="3365182" cy="1181100"/>
          </a:xfrm>
          <a:prstGeom prst="roundRect">
            <a:avLst>
              <a:gd name="adj" fmla="val 6452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975283" y="2906078"/>
            <a:ext cx="716146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C24A23"/>
                </a:solidFill>
                <a:latin typeface="Arial"/>
                <a:ea typeface="Microsoft YaHei"/>
                <a:cs typeface="Arial"/>
              </a:rPr>
              <a:t>649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93380" y="3364706"/>
            <a:ext cx="15073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条首次纪录进入模型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95285" y="3609499"/>
            <a:ext cx="20382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392 种 · 31 个省级单元（v2）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65798" y="4306729"/>
            <a:ext cx="8254654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Chenchen Ding¹, Zhengwang Zhang², Zhigang Jiang³, Zhiheng Wang¹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2465" y="4649152"/>
            <a:ext cx="2613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1 北京大学城市与环境学院生态研究所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72465" y="4877752"/>
            <a:ext cx="37163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2 北京师范大学生命科学学院 3 中国科学院动物研究所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73418" y="6409849"/>
            <a:ext cx="449323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第三届亚洲鸟类学大会 · 新加坡国立大学 · 2026 年 11 月 14–17 日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85800" y="320040"/>
            <a:ext cx="6667500" cy="1857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975" b="1" dirty="0">
                <a:solidFill>
                  <a:srgbClr val="D1552C"/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0082" y="600551"/>
            <a:ext cx="7575347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一条新纪录：可能是鸟动了，也可能是终于有人去看了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31880" y="340995"/>
            <a:ext cx="2857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引言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6553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2E5E9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6538912"/>
            <a:ext cx="1139190" cy="28575"/>
          </a:xfrm>
          <a:prstGeom prst="rect">
            <a:avLst/>
          </a:prstGeom>
          <a:solidFill>
            <a:srgbClr val="1F5F9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4370" y="6646545"/>
            <a:ext cx="29356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鸟变了，还是看鸟的人变了？ · AOC 2026 新加坡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7857" y="66465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02 / 19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85800" y="1066800"/>
            <a:ext cx="5295900" cy="1447800"/>
          </a:xfrm>
          <a:prstGeom prst="roundRect">
            <a:avLst>
              <a:gd name="adj" fmla="val 5263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876300" y="1266825"/>
            <a:ext cx="38100" cy="180975"/>
          </a:xfrm>
          <a:prstGeom prst="roundRect">
            <a:avLst>
              <a:gd name="adj" fmla="val 50000"/>
            </a:avLst>
          </a:prstGeom>
          <a:solidFill>
            <a:srgbClr val="1F5F9E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93458" y="1281589"/>
            <a:ext cx="319057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每条纪录都需要一只鸟和一个观鸟者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62012" y="1554956"/>
            <a:ext cx="15073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分布图由纪录拼成。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62012" y="1783556"/>
            <a:ext cx="246688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纪录 = 鸟在哪里 × 人在哪里看。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62012" y="2012156"/>
            <a:ext cx="21645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原始数据里，两者无法区分。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210300" y="1066800"/>
            <a:ext cx="5295900" cy="1447800"/>
          </a:xfrm>
          <a:prstGeom prst="roundRect">
            <a:avLst>
              <a:gd name="adj" fmla="val 5263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6400800" y="1266825"/>
            <a:ext cx="38100" cy="180975"/>
          </a:xfrm>
          <a:prstGeom prst="roundRect">
            <a:avLst>
              <a:gd name="adj" fmla="val 50000"/>
            </a:avLst>
          </a:prstGeom>
          <a:solidFill>
            <a:srgbClr val="C24A23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517958" y="1281589"/>
            <a:ext cx="309582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2000 年后，中国两者都在快速增长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386512" y="1554956"/>
            <a:ext cx="11787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C24A23"/>
                </a:solidFill>
                <a:latin typeface="Arial"/>
                <a:ea typeface="Microsoft YaHei"/>
                <a:cs typeface="Arial"/>
              </a:rPr>
              <a:t>气候快速变暖。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386512" y="1783556"/>
            <a:ext cx="326376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5F9E"/>
                </a:solidFill>
                <a:latin typeface="Arial"/>
                <a:ea typeface="Microsoft YaHei"/>
                <a:cs typeface="Arial"/>
              </a:rPr>
              <a:t>观鸟访问量约增长 175 倍（2002–2024）。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386512" y="2012156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只含其中一个因素的模型，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386512" y="2240756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会把两者的功劳都算给它。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85800" y="2743200"/>
            <a:ext cx="10820400" cy="1028700"/>
          </a:xfrm>
          <a:prstGeom prst="roundRect">
            <a:avLst>
              <a:gd name="adj" fmla="val 7407"/>
            </a:avLst>
          </a:prstGeom>
          <a:solidFill>
            <a:srgbClr val="1F5F9E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5556361" y="2921318"/>
            <a:ext cx="107927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我们的问题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766310" y="3213735"/>
            <a:ext cx="26593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7E4F2"/>
                </a:solidFill>
                <a:latin typeface="Arial"/>
                <a:ea typeface="Microsoft YaHei"/>
                <a:cs typeface="Arial"/>
              </a:rPr>
              <a:t>新纪录的积累中，多少来自增温，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292090" y="3451860"/>
            <a:ext cx="16078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7E4F2"/>
                </a:solidFill>
                <a:latin typeface="Arial"/>
                <a:ea typeface="Microsoft YaHei"/>
                <a:cs typeface="Arial"/>
              </a:rPr>
              <a:t>多少来自调查努力？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70560" y="3947160"/>
            <a:ext cx="403394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原始论文如何解释 CBNR v2 的纪录（n = 1,029）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72465" y="428720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分布区变化</a:t>
            </a:r>
          </a:p>
        </p:txBody>
      </p:sp>
      <p:sp>
        <p:nvSpPr>
          <p:cNvPr id="29" name="Rectangle 29"/>
          <p:cNvSpPr/>
          <p:nvPr/>
        </p:nvSpPr>
        <p:spPr>
          <a:xfrm>
            <a:off x="4191000" y="4276725"/>
            <a:ext cx="5715000" cy="171450"/>
          </a:xfrm>
          <a:prstGeom prst="roundRect">
            <a:avLst>
              <a:gd name="adj" fmla="val 16667"/>
            </a:avLst>
          </a:prstGeom>
          <a:solidFill>
            <a:srgbClr val="C24A23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987915" y="4296728"/>
            <a:ext cx="4785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61.1%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72465" y="4572952"/>
            <a:ext cx="24803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调查努力（单独或兼有分布区变化）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191000" y="4562475"/>
            <a:ext cx="682942" cy="171450"/>
          </a:xfrm>
          <a:prstGeom prst="roundRect">
            <a:avLst>
              <a:gd name="adj" fmla="val 16667"/>
            </a:avLst>
          </a:prstGeom>
          <a:solidFill>
            <a:srgbClr val="1F5F9E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4955858" y="4582478"/>
            <a:ext cx="3891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7.3%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72465" y="485870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未说明</a:t>
            </a:r>
          </a:p>
        </p:txBody>
      </p:sp>
      <p:sp>
        <p:nvSpPr>
          <p:cNvPr id="35" name="Rectangle 35"/>
          <p:cNvSpPr/>
          <p:nvPr/>
        </p:nvSpPr>
        <p:spPr>
          <a:xfrm>
            <a:off x="4191000" y="4848225"/>
            <a:ext cx="2899410" cy="171450"/>
          </a:xfrm>
          <a:prstGeom prst="roundRect">
            <a:avLst>
              <a:gd name="adj" fmla="val 16667"/>
            </a:avLst>
          </a:prstGeom>
          <a:solidFill>
            <a:srgbClr val="8A9099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7172325" y="4868228"/>
            <a:ext cx="4785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31.0%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72465" y="514445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其他（如分类修订）</a:t>
            </a:r>
          </a:p>
        </p:txBody>
      </p:sp>
      <p:sp>
        <p:nvSpPr>
          <p:cNvPr id="38" name="Rectangle 38"/>
          <p:cNvSpPr/>
          <p:nvPr/>
        </p:nvSpPr>
        <p:spPr>
          <a:xfrm>
            <a:off x="4191000" y="5133975"/>
            <a:ext cx="56198" cy="171450"/>
          </a:xfrm>
          <a:prstGeom prst="roundRect">
            <a:avLst>
              <a:gd name="adj" fmla="val 50000"/>
            </a:avLst>
          </a:prstGeom>
          <a:solidFill>
            <a:srgbClr val="8A9099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4329112" y="5153978"/>
            <a:ext cx="3891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0.6%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85800" y="320040"/>
            <a:ext cx="6667500" cy="1857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975" b="1" dirty="0">
                <a:solidFill>
                  <a:srgbClr val="D1552C"/>
                </a:solidFill>
                <a:latin typeface="Arial"/>
                <a:ea typeface="Microsoft YaHei"/>
                <a:cs typeface="Arial"/>
              </a:rPr>
              <a:t>数据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0082" y="600551"/>
            <a:ext cx="5995325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CBNR：2000–2025 年中国鸟类省级新纪录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922688" y="340995"/>
            <a:ext cx="15949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CBNR · Zenodo 20809949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6553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2E5E9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6538912"/>
            <a:ext cx="1708785" cy="28575"/>
          </a:xfrm>
          <a:prstGeom prst="rect">
            <a:avLst/>
          </a:prstGeom>
          <a:solidFill>
            <a:srgbClr val="1F5F9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4370" y="6646545"/>
            <a:ext cx="29356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鸟变了，还是看鸟的人变了？ · AOC 2026 新加坡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7857" y="66465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03 / 19</a:t>
            </a:r>
          </a:p>
        </p:txBody>
      </p:sp>
      <p:pic>
        <p:nvPicPr>
          <p:cNvPr id="10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04900"/>
            <a:ext cx="5895022" cy="5219700"/>
          </a:xfrm>
          <a:prstGeom prst="rect">
            <a:avLst/>
          </a:prstGeom>
        </p:spPr>
      </p:pic>
      <p:sp>
        <p:nvSpPr>
          <p:cNvPr id="11" name="Rectangle 11"/>
          <p:cNvSpPr/>
          <p:nvPr/>
        </p:nvSpPr>
        <p:spPr>
          <a:xfrm>
            <a:off x="6866572" y="1028700"/>
            <a:ext cx="4639628" cy="1447800"/>
          </a:xfrm>
          <a:prstGeom prst="roundRect">
            <a:avLst>
              <a:gd name="adj" fmla="val 5263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7057072" y="1228725"/>
            <a:ext cx="38100" cy="180975"/>
          </a:xfrm>
          <a:prstGeom prst="roundRect">
            <a:avLst>
              <a:gd name="adj" fmla="val 50000"/>
            </a:avLst>
          </a:prstGeom>
          <a:solidFill>
            <a:srgbClr val="1F5F9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174230" y="1243489"/>
            <a:ext cx="112985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CBNR 数据集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042785" y="1516856"/>
            <a:ext cx="23536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v1.1：1,076 条纪录 · 588 种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042785" y="1745456"/>
            <a:ext cx="290722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23 目 · 33 个省级单元 · 2000–2025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042785" y="1974056"/>
            <a:ext cx="18359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从同行评议文献中提取，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042785" y="2202656"/>
            <a:ext cx="16716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每条纪录均经人工核对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866572" y="2609850"/>
            <a:ext cx="4639628" cy="1219200"/>
          </a:xfrm>
          <a:prstGeom prst="roundRect">
            <a:avLst>
              <a:gd name="adj" fmla="val 6250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7057072" y="2809875"/>
            <a:ext cx="38100" cy="180975"/>
          </a:xfrm>
          <a:prstGeom prst="roundRect">
            <a:avLst>
              <a:gd name="adj" fmla="val 50000"/>
            </a:avLst>
          </a:prstGeom>
          <a:solidFill>
            <a:srgbClr val="23867A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7174230" y="2824639"/>
            <a:ext cx="141409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模型使用的数据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42785" y="3098006"/>
            <a:ext cx="2090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已发布的 v2 版（1,029 条）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042785" y="3326606"/>
            <a:ext cx="15073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纪录按发现年份定年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042785" y="3555206"/>
            <a:ext cx="23305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2002–2024 年 649 条首次纪录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866572" y="3962400"/>
            <a:ext cx="4639628" cy="2362200"/>
          </a:xfrm>
          <a:prstGeom prst="roundRect">
            <a:avLst>
              <a:gd name="adj" fmla="val 3226"/>
            </a:avLst>
          </a:prstGeom>
          <a:solidFill>
            <a:srgbClr val="1F5F9E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10191750" y="4533900"/>
            <a:ext cx="1219200" cy="12192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26" name="Imag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9850" y="4572000"/>
            <a:ext cx="1143000" cy="11430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7059930" y="4186714"/>
            <a:ext cx="198651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开放数据 · CC BY 4.0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061835" y="4469606"/>
            <a:ext cx="135288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D7E4F2"/>
                </a:solidFill>
                <a:latin typeface="Arial"/>
                <a:ea typeface="Microsoft YaHei"/>
                <a:cs typeface="Arial"/>
              </a:rPr>
              <a:t>doi.org/10.5281/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061835" y="4679156"/>
            <a:ext cx="134959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D7E4F2"/>
                </a:solidFill>
                <a:latin typeface="Arial"/>
                <a:ea typeface="Microsoft YaHei"/>
                <a:cs typeface="Arial"/>
              </a:rPr>
              <a:t>zenodo.20809949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85800" y="320040"/>
            <a:ext cx="6667500" cy="1857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975" b="1" dirty="0">
                <a:solidFill>
                  <a:srgbClr val="D1552C"/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0082" y="600551"/>
            <a:ext cx="4753880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用离散时间风险模型分离两个过程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31880" y="340995"/>
            <a:ext cx="2857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6553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2E5E9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6538912"/>
            <a:ext cx="2278380" cy="28575"/>
          </a:xfrm>
          <a:prstGeom prst="rect">
            <a:avLst/>
          </a:prstGeom>
          <a:solidFill>
            <a:srgbClr val="1F5F9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4370" y="6646545"/>
            <a:ext cx="29356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鸟变了，还是看鸟的人变了？ · AOC 2026 新加坡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7857" y="66465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04 / 19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0560" y="1013460"/>
            <a:ext cx="59893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对每个物种、它可能到达的每个省份、每一年：这一年是不是它的首次纪录？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85800" y="1314450"/>
            <a:ext cx="10820400" cy="1104900"/>
          </a:xfrm>
          <a:prstGeom prst="roundRect">
            <a:avLst>
              <a:gd name="adj" fmla="val 6897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97255" y="1530668"/>
            <a:ext cx="643040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首次纪录 ~ 增温 × 调查努力 + 年际气候变率 + offset(log 报告完整度)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7255" y="1835468"/>
            <a:ext cx="53518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+ (1 | species) + (1 | province) + (1 | province × year)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08522" y="1859756"/>
            <a:ext cx="178336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二项分布，cloglog 连接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01065" y="2153602"/>
            <a:ext cx="40506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离散时间风险模型：exp(β) 即每个标准差的风险比（HR）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85800" y="2647950"/>
            <a:ext cx="5295900" cy="1219200"/>
          </a:xfrm>
          <a:prstGeom prst="roundRect">
            <a:avLst>
              <a:gd name="adj" fmla="val 6250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876300" y="2847975"/>
            <a:ext cx="38100" cy="180975"/>
          </a:xfrm>
          <a:prstGeom prst="roundRect">
            <a:avLst>
              <a:gd name="adj" fmla="val 50000"/>
            </a:avLst>
          </a:prstGeom>
          <a:solidFill>
            <a:srgbClr val="1F5F9E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93458" y="2862739"/>
            <a:ext cx="101931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完整风险集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62012" y="3136106"/>
            <a:ext cx="18359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只含物种可能到达的省份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62012" y="3364706"/>
            <a:ext cx="16716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首次纪录后退出风险集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62012" y="3593306"/>
            <a:ext cx="137588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分母 = 真实的机会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210300" y="2647950"/>
            <a:ext cx="5295900" cy="1219200"/>
          </a:xfrm>
          <a:prstGeom prst="roundRect">
            <a:avLst>
              <a:gd name="adj" fmla="val 6250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6400800" y="2847975"/>
            <a:ext cx="38100" cy="180975"/>
          </a:xfrm>
          <a:prstGeom prst="roundRect">
            <a:avLst>
              <a:gd name="adj" fmla="val 50000"/>
            </a:avLst>
          </a:prstGeom>
          <a:solidFill>
            <a:srgbClr val="C24A23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517958" y="2862739"/>
            <a:ext cx="240102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以物种分布区为参照的增温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386512" y="3136106"/>
            <a:ext cx="177679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省份距平 − 分布区距平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386512" y="3364706"/>
            <a:ext cx="10834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15 年滑动窗口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386512" y="3593306"/>
            <a:ext cx="16519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1 个标准差 = 0.18 °C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85800" y="4038600"/>
            <a:ext cx="5295900" cy="1219200"/>
          </a:xfrm>
          <a:prstGeom prst="roundRect">
            <a:avLst>
              <a:gd name="adj" fmla="val 6250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876300" y="4238625"/>
            <a:ext cx="38100" cy="180975"/>
          </a:xfrm>
          <a:prstGeom prst="roundRect">
            <a:avLst>
              <a:gd name="adj" fmla="val 50000"/>
            </a:avLst>
          </a:prstGeom>
          <a:solidFill>
            <a:srgbClr val="1F5F9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93458" y="4253389"/>
            <a:ext cx="82193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调查努力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62012" y="4526756"/>
            <a:ext cx="18359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每省每年的观鸟访问次数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62012" y="4755356"/>
            <a:ext cx="22253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eBird 与 GBIF，286 万条记录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62012" y="4983956"/>
            <a:ext cx="2343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1 个标准差 = 访问量增至 7.7 倍</a:t>
            </a:r>
          </a:p>
        </p:txBody>
      </p:sp>
      <p:sp>
        <p:nvSpPr>
          <p:cNvPr id="34" name="Rectangle 34"/>
          <p:cNvSpPr/>
          <p:nvPr/>
        </p:nvSpPr>
        <p:spPr>
          <a:xfrm>
            <a:off x="6210300" y="4038600"/>
            <a:ext cx="5295900" cy="1219200"/>
          </a:xfrm>
          <a:prstGeom prst="roundRect">
            <a:avLst>
              <a:gd name="adj" fmla="val 6250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6400800" y="4238625"/>
            <a:ext cx="38100" cy="180975"/>
          </a:xfrm>
          <a:prstGeom prst="roundRect">
            <a:avLst>
              <a:gd name="adj" fmla="val 50000"/>
            </a:avLst>
          </a:prstGeom>
          <a:solidFill>
            <a:srgbClr val="23867A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517958" y="4253389"/>
            <a:ext cx="154041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省份 × 年份效应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386512" y="4526756"/>
            <a:ext cx="11787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调查发生的尺度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386512" y="4755356"/>
            <a:ext cx="23288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观鸟赛、专项调查、新建保护区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386512" y="4983956"/>
            <a:ext cx="15073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把观测过程纳入模型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72465" y="5449252"/>
            <a:ext cx="45781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纪录按发现年份定年；offset 用于校正最近几年尚未发表的纪录。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85800" y="320040"/>
            <a:ext cx="6667500" cy="1857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975" b="1" dirty="0">
                <a:solidFill>
                  <a:srgbClr val="D1552C"/>
                </a:solidFill>
                <a:latin typeface="Arial"/>
                <a:ea typeface="Microsoft YaHei"/>
                <a:cs typeface="Arial"/>
              </a:rPr>
              <a:t>发现 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0082" y="600551"/>
            <a:ext cx="5380873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增温与调查努力贡献相当，且存在交互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48968" y="340995"/>
            <a:ext cx="26866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图 1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6553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2E5E9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6538912"/>
            <a:ext cx="2847022" cy="28575"/>
          </a:xfrm>
          <a:prstGeom prst="rect">
            <a:avLst/>
          </a:prstGeom>
          <a:solidFill>
            <a:srgbClr val="1F5F9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4370" y="6646545"/>
            <a:ext cx="29356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鸟变了，还是看鸟的人变了？ · AOC 2026 新加坡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7857" y="66465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05 / 19</a:t>
            </a:r>
          </a:p>
        </p:txBody>
      </p:sp>
      <p:pic>
        <p:nvPicPr>
          <p:cNvPr id="10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23950"/>
            <a:ext cx="5267325" cy="3446145"/>
          </a:xfrm>
          <a:prstGeom prst="rect">
            <a:avLst/>
          </a:prstGeom>
        </p:spPr>
      </p:pic>
      <p:pic>
        <p:nvPicPr>
          <p:cNvPr id="11" name="Imag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123950"/>
            <a:ext cx="5267325" cy="3590925"/>
          </a:xfrm>
          <a:prstGeom prst="rect">
            <a:avLst/>
          </a:prstGeom>
        </p:spPr>
      </p:pic>
      <p:sp>
        <p:nvSpPr>
          <p:cNvPr id="12" name="Rectangle 12"/>
          <p:cNvSpPr/>
          <p:nvPr/>
        </p:nvSpPr>
        <p:spPr>
          <a:xfrm>
            <a:off x="685800" y="4924425"/>
            <a:ext cx="2562225" cy="1162050"/>
          </a:xfrm>
          <a:prstGeom prst="roundRect">
            <a:avLst>
              <a:gd name="adj" fmla="val 6557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62965" y="5144452"/>
            <a:ext cx="82668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C24A23"/>
                </a:solidFill>
                <a:latin typeface="Arial"/>
                <a:ea typeface="Microsoft YaHei"/>
                <a:cs typeface="Arial"/>
              </a:rPr>
              <a:t>1.36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81062" y="5603081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累积增温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82968" y="5847874"/>
            <a:ext cx="182183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每 SD 风险比（1.22–1.52）</a:t>
            </a:r>
          </a:p>
        </p:txBody>
      </p:sp>
      <p:sp>
        <p:nvSpPr>
          <p:cNvPr id="16" name="Rectangle 16"/>
          <p:cNvSpPr/>
          <p:nvPr/>
        </p:nvSpPr>
        <p:spPr>
          <a:xfrm>
            <a:off x="3438525" y="4924425"/>
            <a:ext cx="2562225" cy="1162050"/>
          </a:xfrm>
          <a:prstGeom prst="roundRect">
            <a:avLst>
              <a:gd name="adj" fmla="val 6557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3615690" y="5144452"/>
            <a:ext cx="82668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F5F9E"/>
                </a:solidFill>
                <a:latin typeface="Arial"/>
                <a:ea typeface="Microsoft YaHei"/>
                <a:cs typeface="Arial"/>
              </a:rPr>
              <a:t>1.40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633788" y="5603081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调查努力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635692" y="5847874"/>
            <a:ext cx="182183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每 SD 风险比（1.25–1.58）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4924425"/>
            <a:ext cx="2562225" cy="1162050"/>
          </a:xfrm>
          <a:prstGeom prst="roundRect">
            <a:avLst>
              <a:gd name="adj" fmla="val 6557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368415" y="5144452"/>
            <a:ext cx="82668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0.85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386512" y="5603081"/>
            <a:ext cx="9552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增温 × 努力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88418" y="5847874"/>
            <a:ext cx="17335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看的人越少，增温作用越大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943975" y="4924425"/>
            <a:ext cx="2562225" cy="1162050"/>
          </a:xfrm>
          <a:prstGeom prst="roundRect">
            <a:avLst>
              <a:gd name="adj" fmla="val 6557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121140" y="5144452"/>
            <a:ext cx="82668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1.00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139238" y="5603081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年际变率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141142" y="5847874"/>
            <a:ext cx="4519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无效应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85800" y="320040"/>
            <a:ext cx="6667500" cy="1857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975" b="1" dirty="0">
                <a:solidFill>
                  <a:srgbClr val="D1552C"/>
                </a:solidFill>
                <a:latin typeface="Arial"/>
                <a:ea typeface="Microsoft YaHei"/>
                <a:cs typeface="Arial"/>
              </a:rPr>
              <a:t>发现 1 · 稳健性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0082" y="600551"/>
            <a:ext cx="4753880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四项标准、十二种设定下结论一致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713987" y="340995"/>
            <a:ext cx="80364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图 1c · 图 3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6553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2E5E9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6538912"/>
            <a:ext cx="3416618" cy="28575"/>
          </a:xfrm>
          <a:prstGeom prst="rect">
            <a:avLst/>
          </a:prstGeom>
          <a:solidFill>
            <a:srgbClr val="1F5F9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4370" y="6646545"/>
            <a:ext cx="29356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鸟变了，还是看鸟的人变了？ · AOC 2026 新加坡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7857" y="66465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06 / 19</a:t>
            </a:r>
          </a:p>
        </p:txBody>
      </p:sp>
      <p:pic>
        <p:nvPicPr>
          <p:cNvPr id="10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3715" y="1123950"/>
            <a:ext cx="6083618" cy="3143250"/>
          </a:xfrm>
          <a:prstGeom prst="rect">
            <a:avLst/>
          </a:prstGeom>
        </p:spPr>
      </p:pic>
      <p:sp>
        <p:nvSpPr>
          <p:cNvPr id="11" name="Rectangle 11"/>
          <p:cNvSpPr/>
          <p:nvPr/>
        </p:nvSpPr>
        <p:spPr>
          <a:xfrm>
            <a:off x="685800" y="5105400"/>
            <a:ext cx="3479482" cy="1219200"/>
          </a:xfrm>
          <a:prstGeom prst="roundRect">
            <a:avLst>
              <a:gd name="adj" fmla="val 6250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876300" y="5305425"/>
            <a:ext cx="38100" cy="180975"/>
          </a:xfrm>
          <a:prstGeom prst="roundRect">
            <a:avLst>
              <a:gd name="adj" fmla="val 50000"/>
            </a:avLst>
          </a:prstGeom>
          <a:solidFill>
            <a:srgbClr val="1F5F9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93458" y="5320189"/>
            <a:ext cx="141409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去掉一项的代价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62012" y="5593556"/>
            <a:ext cx="229928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ΔAIC：增温 28.7 · 努力 29.5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62012" y="5822156"/>
            <a:ext cx="24800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ΔAUC：增温 0.053 · 努力 0.032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62012" y="6050756"/>
            <a:ext cx="190166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条件 R² 与 |β| 结论一致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355782" y="5105400"/>
            <a:ext cx="3479482" cy="1219200"/>
          </a:xfrm>
          <a:prstGeom prst="roundRect">
            <a:avLst>
              <a:gd name="adj" fmla="val 6250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4546282" y="5305425"/>
            <a:ext cx="38100" cy="180975"/>
          </a:xfrm>
          <a:prstGeom prst="roundRect">
            <a:avLst>
              <a:gd name="adj" fmla="val 50000"/>
            </a:avLst>
          </a:prstGeom>
          <a:solidFill>
            <a:srgbClr val="1F5F9E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4663440" y="5320189"/>
            <a:ext cx="101931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十二种设定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31995" y="5593556"/>
            <a:ext cx="218591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SDM 阈值 50/100/200：稳定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31995" y="5822156"/>
            <a:ext cx="22269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4 种努力指标 × 3 种缺失处理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531995" y="6050756"/>
            <a:ext cx="289407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努力 HR 1.25–1.52 · 增温 1.35–1.37</a:t>
            </a:r>
          </a:p>
        </p:txBody>
      </p:sp>
      <p:sp>
        <p:nvSpPr>
          <p:cNvPr id="23" name="Rectangle 23"/>
          <p:cNvSpPr/>
          <p:nvPr/>
        </p:nvSpPr>
        <p:spPr>
          <a:xfrm>
            <a:off x="8026718" y="5105400"/>
            <a:ext cx="3479482" cy="1219200"/>
          </a:xfrm>
          <a:prstGeom prst="roundRect">
            <a:avLst>
              <a:gd name="adj" fmla="val 6250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8217218" y="5305425"/>
            <a:ext cx="38100" cy="180975"/>
          </a:xfrm>
          <a:prstGeom prst="roundRect">
            <a:avLst>
              <a:gd name="adj" fmla="val 50000"/>
            </a:avLst>
          </a:prstGeom>
          <a:solidFill>
            <a:srgbClr val="23867A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334375" y="5320189"/>
            <a:ext cx="161147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保留设计的零模型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202930" y="5593556"/>
            <a:ext cx="235186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C24A23"/>
                </a:solidFill>
                <a:latin typeface="Arial"/>
                <a:ea typeface="Microsoft YaHei"/>
                <a:cs typeface="Arial"/>
              </a:rPr>
              <a:t>增温零模型 1.16 → 增量 ×1.18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02930" y="5822156"/>
            <a:ext cx="20413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5F9E"/>
                </a:solidFill>
                <a:latin typeface="Arial"/>
                <a:ea typeface="Microsoft YaHei"/>
                <a:cs typeface="Arial"/>
              </a:rPr>
              <a:t>打乱努力的时间：降到 0.98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202930" y="6050756"/>
            <a:ext cx="212348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省级自助法：两者下限都 &gt; 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85800" y="320040"/>
            <a:ext cx="6667500" cy="1857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975" b="1" dirty="0">
                <a:solidFill>
                  <a:srgbClr val="D1552C"/>
                </a:solidFill>
                <a:latin typeface="Arial"/>
                <a:ea typeface="Microsoft YaHei"/>
                <a:cs typeface="Arial"/>
              </a:rPr>
              <a:t>发现 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0082" y="600551"/>
            <a:ext cx="4753880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调查活动的脉冲是最大的变异来源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48968" y="340995"/>
            <a:ext cx="26866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图 5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6553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2E5E9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6538912"/>
            <a:ext cx="3986212" cy="28575"/>
          </a:xfrm>
          <a:prstGeom prst="rect">
            <a:avLst/>
          </a:prstGeom>
          <a:solidFill>
            <a:srgbClr val="1F5F9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4370" y="6646545"/>
            <a:ext cx="29356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鸟变了，还是看鸟的人变了？ · AOC 2026 新加坡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7857" y="66465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07 / 19</a:t>
            </a:r>
          </a:p>
        </p:txBody>
      </p:sp>
      <p:pic>
        <p:nvPicPr>
          <p:cNvPr id="10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48" y="1123950"/>
            <a:ext cx="4812982" cy="3810000"/>
          </a:xfrm>
          <a:prstGeom prst="rect">
            <a:avLst/>
          </a:prstGeom>
        </p:spPr>
      </p:pic>
      <p:pic>
        <p:nvPicPr>
          <p:cNvPr id="11" name="Imag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123950"/>
            <a:ext cx="5267325" cy="3730942"/>
          </a:xfrm>
          <a:prstGeom prst="rect">
            <a:avLst/>
          </a:prstGeom>
        </p:spPr>
      </p:pic>
      <p:sp>
        <p:nvSpPr>
          <p:cNvPr id="12" name="Rectangle 12"/>
          <p:cNvSpPr/>
          <p:nvPr/>
        </p:nvSpPr>
        <p:spPr>
          <a:xfrm>
            <a:off x="685800" y="5143500"/>
            <a:ext cx="3479482" cy="1162050"/>
          </a:xfrm>
          <a:prstGeom prst="roundRect">
            <a:avLst>
              <a:gd name="adj" fmla="val 6557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62965" y="5363528"/>
            <a:ext cx="1221455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23867A"/>
                </a:solidFill>
                <a:latin typeface="Arial"/>
                <a:ea typeface="Microsoft YaHei"/>
                <a:cs typeface="Arial"/>
              </a:rPr>
              <a:t>×2.23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81062" y="5822156"/>
            <a:ext cx="9552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省份 × 年份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82968" y="6066949"/>
            <a:ext cx="12266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每 SD：专项调查等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355782" y="5143500"/>
            <a:ext cx="3479482" cy="1162050"/>
          </a:xfrm>
          <a:prstGeom prst="roundRect">
            <a:avLst>
              <a:gd name="adj" fmla="val 6557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532948" y="5363528"/>
            <a:ext cx="1221455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23867A"/>
                </a:solidFill>
                <a:latin typeface="Arial"/>
                <a:ea typeface="Microsoft YaHei"/>
                <a:cs typeface="Arial"/>
              </a:rPr>
              <a:t>×1.50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51045" y="5822156"/>
            <a:ext cx="3571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物种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52950" y="606694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固有可检测性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026718" y="5143500"/>
            <a:ext cx="3479482" cy="1162050"/>
          </a:xfrm>
          <a:prstGeom prst="roundRect">
            <a:avLst>
              <a:gd name="adj" fmla="val 6557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203883" y="5363528"/>
            <a:ext cx="1221455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23867A"/>
                </a:solidFill>
                <a:latin typeface="Arial"/>
                <a:ea typeface="Microsoft YaHei"/>
                <a:cs typeface="Arial"/>
              </a:rPr>
              <a:t>×1.39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221980" y="5822156"/>
            <a:ext cx="3571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省份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223885" y="606694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区域基线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85800" y="320040"/>
            <a:ext cx="6667500" cy="1857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975" b="1" dirty="0">
                <a:solidFill>
                  <a:srgbClr val="D1552C"/>
                </a:solidFill>
                <a:latin typeface="Arial"/>
                <a:ea typeface="Microsoft YaHei"/>
                <a:cs typeface="Arial"/>
              </a:rPr>
              <a:t>发现 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0082" y="600551"/>
            <a:ext cx="5694369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调查努力的回报在下降，增温的作用没有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042303" y="340995"/>
            <a:ext cx="147532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图 5d · SI 附注 S3–S4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6553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2E5E9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6538912"/>
            <a:ext cx="4555808" cy="28575"/>
          </a:xfrm>
          <a:prstGeom prst="rect">
            <a:avLst/>
          </a:prstGeom>
          <a:solidFill>
            <a:srgbClr val="1F5F9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4370" y="6646545"/>
            <a:ext cx="29356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鸟变了，还是看鸟的人变了？ · AOC 2026 新加坡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7857" y="66465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08 / 19</a:t>
            </a:r>
          </a:p>
        </p:txBody>
      </p:sp>
      <p:pic>
        <p:nvPicPr>
          <p:cNvPr id="10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6096000" cy="4317682"/>
          </a:xfrm>
          <a:prstGeom prst="rect">
            <a:avLst/>
          </a:prstGeom>
        </p:spPr>
      </p:pic>
      <p:sp>
        <p:nvSpPr>
          <p:cNvPr id="11" name="Rectangle 11"/>
          <p:cNvSpPr/>
          <p:nvPr/>
        </p:nvSpPr>
        <p:spPr>
          <a:xfrm>
            <a:off x="7067550" y="1066800"/>
            <a:ext cx="4438650" cy="1394460"/>
          </a:xfrm>
          <a:prstGeom prst="roundRect">
            <a:avLst>
              <a:gd name="adj" fmla="val 5464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7258050" y="1266825"/>
            <a:ext cx="38100" cy="180975"/>
          </a:xfrm>
          <a:prstGeom prst="roundRect">
            <a:avLst>
              <a:gd name="adj" fmla="val 50000"/>
            </a:avLst>
          </a:prstGeom>
          <a:solidFill>
            <a:srgbClr val="1F5F9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375208" y="1281589"/>
            <a:ext cx="161147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努力的回报在下降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43762" y="1554956"/>
            <a:ext cx="245209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5F9E"/>
                </a:solidFill>
                <a:latin typeface="Arial"/>
                <a:ea typeface="Microsoft YaHei"/>
                <a:cs typeface="Arial"/>
              </a:rPr>
              <a:t>2002 年：HR 2.18（1.63–2.90）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43762" y="1783556"/>
            <a:ext cx="245209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5F9E"/>
                </a:solidFill>
                <a:latin typeface="Arial"/>
                <a:ea typeface="Microsoft YaHei"/>
                <a:cs typeface="Arial"/>
              </a:rPr>
              <a:t>2024 年：HR 1.07（0.88–1.30）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43762" y="2012156"/>
            <a:ext cx="199696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努力 × 时间：P = 0.00077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067550" y="2785110"/>
            <a:ext cx="4438650" cy="1165860"/>
          </a:xfrm>
          <a:prstGeom prst="roundRect">
            <a:avLst>
              <a:gd name="adj" fmla="val 6536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7258050" y="2985135"/>
            <a:ext cx="38100" cy="180975"/>
          </a:xfrm>
          <a:prstGeom prst="roundRect">
            <a:avLst>
              <a:gd name="adj" fmla="val 50000"/>
            </a:avLst>
          </a:prstGeom>
          <a:solidFill>
            <a:srgbClr val="C24A23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375208" y="2999899"/>
            <a:ext cx="161147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增温没有这种趋势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243762" y="3273266"/>
            <a:ext cx="172585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C24A23"/>
                </a:solidFill>
                <a:latin typeface="Arial"/>
                <a:ea typeface="Microsoft YaHei"/>
                <a:cs typeface="Arial"/>
              </a:rPr>
              <a:t>增温 × 时间：P = 0.82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43762" y="3501866"/>
            <a:ext cx="178500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C24A23"/>
                </a:solidFill>
                <a:latin typeface="Arial"/>
                <a:ea typeface="Microsoft YaHei"/>
                <a:cs typeface="Arial"/>
              </a:rPr>
              <a:t>时变模型：增温 HR 1.37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067550" y="4275772"/>
            <a:ext cx="4438650" cy="1184910"/>
          </a:xfrm>
          <a:prstGeom prst="roundRect">
            <a:avLst>
              <a:gd name="adj" fmla="val 6431"/>
            </a:avLst>
          </a:prstGeom>
          <a:solidFill>
            <a:srgbClr val="1F5F9E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747236" y="4531995"/>
            <a:ext cx="107927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存量与流量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132445" y="4824412"/>
            <a:ext cx="2308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7E4F2"/>
                </a:solidFill>
                <a:latin typeface="Arial"/>
                <a:ea typeface="Microsoft YaHei"/>
                <a:cs typeface="Arial"/>
              </a:rPr>
              <a:t>努力在挖掘有限的空白存量；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307705" y="5062538"/>
            <a:ext cx="1958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7E4F2"/>
                </a:solidFill>
                <a:latin typeface="Arial"/>
                <a:ea typeface="Microsoft YaHei"/>
                <a:cs typeface="Arial"/>
              </a:rPr>
              <a:t>增温不断带来新的候选种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85800" y="320040"/>
            <a:ext cx="6667500" cy="1857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975" b="1" dirty="0">
                <a:solidFill>
                  <a:srgbClr val="D1552C"/>
                </a:solidFill>
                <a:latin typeface="Arial"/>
                <a:ea typeface="Microsoft YaHei"/>
                <a:cs typeface="Arial"/>
              </a:rPr>
              <a:t>发现 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0082" y="600551"/>
            <a:ext cx="5067376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“偏东”是几何假象；扣除后略偏北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175062" y="340995"/>
            <a:ext cx="13425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图 6 · SI 表 S9–S10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6553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2E5E9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6538912"/>
            <a:ext cx="5125402" cy="28575"/>
          </a:xfrm>
          <a:prstGeom prst="rect">
            <a:avLst/>
          </a:prstGeom>
          <a:solidFill>
            <a:srgbClr val="1F5F9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4370" y="6646545"/>
            <a:ext cx="29356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鸟变了，还是看鸟的人变了？ · AOC 2026 新加坡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7857" y="66465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09 / 19</a:t>
            </a:r>
          </a:p>
        </p:txBody>
      </p:sp>
      <p:pic>
        <p:nvPicPr>
          <p:cNvPr id="10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4969192" cy="5219700"/>
          </a:xfrm>
          <a:prstGeom prst="rect">
            <a:avLst/>
          </a:prstGeom>
        </p:spPr>
      </p:pic>
      <p:sp>
        <p:nvSpPr>
          <p:cNvPr id="11" name="Rectangle 11"/>
          <p:cNvSpPr/>
          <p:nvPr/>
        </p:nvSpPr>
        <p:spPr>
          <a:xfrm>
            <a:off x="5940742" y="1066800"/>
            <a:ext cx="5565458" cy="1549718"/>
          </a:xfrm>
          <a:prstGeom prst="roundRect">
            <a:avLst>
              <a:gd name="adj" fmla="val 4917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6131242" y="1266825"/>
            <a:ext cx="38100" cy="180975"/>
          </a:xfrm>
          <a:prstGeom prst="roundRect">
            <a:avLst>
              <a:gd name="adj" fmla="val 50000"/>
            </a:avLst>
          </a:prstGeom>
          <a:solidFill>
            <a:srgbClr val="1F5F9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248400" y="1281589"/>
            <a:ext cx="180294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原始方位（642 条）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116955" y="1554956"/>
            <a:ext cx="180965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C24A23"/>
                </a:solidFill>
                <a:latin typeface="Arial"/>
                <a:ea typeface="Microsoft YaHei"/>
                <a:cs typeface="Arial"/>
              </a:rPr>
              <a:t>东 36.9% · 东北 27.9%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116955" y="1783556"/>
            <a:ext cx="21645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但中国位于多数分布区的东侧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940742" y="2940368"/>
            <a:ext cx="5565458" cy="1549718"/>
          </a:xfrm>
          <a:prstGeom prst="roundRect">
            <a:avLst>
              <a:gd name="adj" fmla="val 4917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6131242" y="3140392"/>
            <a:ext cx="38100" cy="180975"/>
          </a:xfrm>
          <a:prstGeom prst="roundRect">
            <a:avLst>
              <a:gd name="adj" fmla="val 50000"/>
            </a:avLst>
          </a:prstGeom>
          <a:solidFill>
            <a:srgbClr val="8A909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248400" y="3155156"/>
            <a:ext cx="171214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零假设 1 · 仅几何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116955" y="3428524"/>
            <a:ext cx="199039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东向：期望 235，观测 237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116955" y="3657124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没有扇区显著偏离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940742" y="4812982"/>
            <a:ext cx="5565458" cy="1549718"/>
          </a:xfrm>
          <a:prstGeom prst="roundRect">
            <a:avLst>
              <a:gd name="adj" fmla="val 4917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6131242" y="5013008"/>
            <a:ext cx="38100" cy="180975"/>
          </a:xfrm>
          <a:prstGeom prst="roundRect">
            <a:avLst>
              <a:gd name="adj" fmla="val 50000"/>
            </a:avLst>
          </a:prstGeom>
          <a:solidFill>
            <a:srgbClr val="1F5F9E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6248400" y="5027771"/>
            <a:ext cx="234378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零假设 2 · 几何 + 观鸟者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116955" y="5301139"/>
            <a:ext cx="203639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5F9E"/>
                </a:solidFill>
                <a:latin typeface="Arial"/>
                <a:ea typeface="Microsoft YaHei"/>
                <a:cs typeface="Arial"/>
              </a:rPr>
              <a:t>北侧扇区：40%，期望 33%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116955" y="5529739"/>
            <a:ext cx="17324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χ² = 25.8，P = 0.001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85800" y="320040"/>
            <a:ext cx="6667500" cy="1857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975" b="1" dirty="0">
                <a:solidFill>
                  <a:srgbClr val="D1552C"/>
                </a:solidFill>
                <a:latin typeface="Arial"/>
                <a:ea typeface="Microsoft YaHei"/>
                <a:cs typeface="Arial"/>
              </a:rPr>
              <a:t>应用 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0082" y="600551"/>
            <a:ext cx="5067376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保护区新纪录多，是因为观鸟者常去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564139" y="340995"/>
            <a:ext cx="95349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SI 图 S12–S14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6553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2E5E9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6538912"/>
            <a:ext cx="5694998" cy="28575"/>
          </a:xfrm>
          <a:prstGeom prst="rect">
            <a:avLst/>
          </a:prstGeom>
          <a:solidFill>
            <a:srgbClr val="1F5F9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4370" y="6646545"/>
            <a:ext cx="29356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鸟变了，还是看鸟的人变了？ · AOC 2026 新加坡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7857" y="66465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10 / 19</a:t>
            </a:r>
          </a:p>
        </p:txBody>
      </p:sp>
      <p:pic>
        <p:nvPicPr>
          <p:cNvPr id="10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6286500" cy="4271962"/>
          </a:xfrm>
          <a:prstGeom prst="rect">
            <a:avLst/>
          </a:prstGeom>
        </p:spPr>
      </p:pic>
      <p:sp>
        <p:nvSpPr>
          <p:cNvPr id="11" name="Rectangle 11"/>
          <p:cNvSpPr/>
          <p:nvPr/>
        </p:nvSpPr>
        <p:spPr>
          <a:xfrm>
            <a:off x="7258050" y="1066800"/>
            <a:ext cx="4248150" cy="1303020"/>
          </a:xfrm>
          <a:prstGeom prst="roundRect">
            <a:avLst>
              <a:gd name="adj" fmla="val 5848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7448550" y="1266825"/>
            <a:ext cx="38100" cy="180975"/>
          </a:xfrm>
          <a:prstGeom prst="roundRect">
            <a:avLst>
              <a:gd name="adj" fmla="val 50000"/>
            </a:avLst>
          </a:prstGeom>
          <a:solidFill>
            <a:srgbClr val="1F5F9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565708" y="1281589"/>
            <a:ext cx="161542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表面上富集 2.5 倍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34262" y="1554956"/>
            <a:ext cx="163549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保护区内纪录：26.2%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34262" y="1783556"/>
            <a:ext cx="196410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保护区内观鸟努力：10.8%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34262" y="2012156"/>
            <a:ext cx="147118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保护区面积：10.4%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258050" y="2693670"/>
            <a:ext cx="4248150" cy="1303020"/>
          </a:xfrm>
          <a:prstGeom prst="roundRect">
            <a:avLst>
              <a:gd name="adj" fmla="val 5848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7448550" y="2893695"/>
            <a:ext cx="38100" cy="180975"/>
          </a:xfrm>
          <a:prstGeom prst="roundRect">
            <a:avLst>
              <a:gd name="adj" fmla="val 50000"/>
            </a:avLst>
          </a:prstGeom>
          <a:solidFill>
            <a:srgbClr val="1F5F9E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565708" y="2908459"/>
            <a:ext cx="220363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对照观鸟者实际去的地方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434262" y="3181826"/>
            <a:ext cx="17324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同省同年对照：OR 1.57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434262" y="3410426"/>
            <a:ext cx="21842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C24A23"/>
                </a:solidFill>
                <a:latin typeface="Arial"/>
                <a:ea typeface="Microsoft YaHei"/>
                <a:cs typeface="Arial"/>
              </a:rPr>
              <a:t>去掉最大的 2 个保护区：1.16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34262" y="3639026"/>
            <a:ext cx="223849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C24A23"/>
                </a:solidFill>
                <a:latin typeface="Arial"/>
                <a:ea typeface="Microsoft YaHei"/>
                <a:cs typeface="Arial"/>
              </a:rPr>
              <a:t>2013 年以前：无效应（0.97）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258050" y="4321492"/>
            <a:ext cx="4248150" cy="1093470"/>
          </a:xfrm>
          <a:prstGeom prst="roundRect">
            <a:avLst>
              <a:gd name="adj" fmla="val 6969"/>
            </a:avLst>
          </a:prstGeom>
          <a:solidFill>
            <a:srgbClr val="1F5F9E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566609" y="4531995"/>
            <a:ext cx="16310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纪录多 ≠ 保护好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490585" y="4824412"/>
            <a:ext cx="17830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7E4F2"/>
                </a:solidFill>
                <a:latin typeface="Arial"/>
                <a:ea typeface="Microsoft YaHei"/>
                <a:cs typeface="Arial"/>
              </a:rPr>
              <a:t>纪录数量不能用来衡量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841105" y="5062538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7E4F2"/>
                </a:solidFill>
                <a:latin typeface="Arial"/>
                <a:ea typeface="Microsoft YaHei"/>
                <a:cs typeface="Arial"/>
              </a:rPr>
              <a:t>保护区的成效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85800" y="320040"/>
            <a:ext cx="6667500" cy="1857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975" b="1" dirty="0">
                <a:solidFill>
                  <a:srgbClr val="D1552C"/>
                </a:solidFill>
                <a:latin typeface="Arial"/>
                <a:ea typeface="Microsoft YaHei"/>
                <a:cs typeface="Arial"/>
              </a:rPr>
              <a:t>应用 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0082" y="600551"/>
            <a:ext cx="2559406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预测可以细化到县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37545" y="340995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代码库模块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6553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2E5E9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6538912"/>
            <a:ext cx="6264592" cy="28575"/>
          </a:xfrm>
          <a:prstGeom prst="rect">
            <a:avLst/>
          </a:prstGeom>
          <a:solidFill>
            <a:srgbClr val="1F5F9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4370" y="6646545"/>
            <a:ext cx="29356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鸟变了，还是看鸟的人变了？ · AOC 2026 新加坡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7857" y="66465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11 / 19</a:t>
            </a:r>
          </a:p>
        </p:txBody>
      </p:sp>
      <p:pic>
        <p:nvPicPr>
          <p:cNvPr id="10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5858828" cy="5219700"/>
          </a:xfrm>
          <a:prstGeom prst="rect">
            <a:avLst/>
          </a:prstGeom>
        </p:spPr>
      </p:pic>
      <p:sp>
        <p:nvSpPr>
          <p:cNvPr id="11" name="Rectangle 11"/>
          <p:cNvSpPr/>
          <p:nvPr/>
        </p:nvSpPr>
        <p:spPr>
          <a:xfrm>
            <a:off x="6830378" y="1066800"/>
            <a:ext cx="4675822" cy="1473518"/>
          </a:xfrm>
          <a:prstGeom prst="roundRect">
            <a:avLst>
              <a:gd name="adj" fmla="val 5171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7020878" y="1266825"/>
            <a:ext cx="38100" cy="180975"/>
          </a:xfrm>
          <a:prstGeom prst="roundRect">
            <a:avLst>
              <a:gd name="adj" fmla="val 50000"/>
            </a:avLst>
          </a:prstGeom>
          <a:solidFill>
            <a:srgbClr val="1F5F9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138035" y="1281589"/>
            <a:ext cx="62454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两步走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006590" y="1554956"/>
            <a:ext cx="197889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1 这个省会出现新纪录吗？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006590" y="1783556"/>
            <a:ext cx="16502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2 如果会，在哪个县？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830378" y="2864168"/>
            <a:ext cx="4675822" cy="1702118"/>
          </a:xfrm>
          <a:prstGeom prst="roundRect">
            <a:avLst>
              <a:gd name="adj" fmla="val 4477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7020878" y="3064192"/>
            <a:ext cx="38100" cy="180975"/>
          </a:xfrm>
          <a:prstGeom prst="roundRect">
            <a:avLst>
              <a:gd name="adj" fmla="val 50000"/>
            </a:avLst>
          </a:prstGeom>
          <a:solidFill>
            <a:srgbClr val="1F5F9E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7138035" y="3078956"/>
            <a:ext cx="228259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样本外检验，2019–2024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006590" y="3352324"/>
            <a:ext cx="29565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排名第一的县命中 16.1%（随机约 1%）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006590" y="3580924"/>
            <a:ext cx="217277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真实县份落在前 10%：45.4%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06590" y="3809524"/>
            <a:ext cx="202653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留一省检验：29 个中 27 个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830378" y="4889182"/>
            <a:ext cx="4675822" cy="1473518"/>
          </a:xfrm>
          <a:prstGeom prst="roundRect">
            <a:avLst>
              <a:gd name="adj" fmla="val 5171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7020878" y="5089208"/>
            <a:ext cx="38100" cy="180975"/>
          </a:xfrm>
          <a:prstGeom prst="roundRect">
            <a:avLst>
              <a:gd name="adj" fmla="val 50000"/>
            </a:avLst>
          </a:prstGeom>
          <a:solidFill>
            <a:srgbClr val="C24A23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138035" y="5103971"/>
            <a:ext cx="180886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观鸟者熟悉这些地名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006590" y="5377339"/>
            <a:ext cx="22105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墨脱 · 浦东（南汇） · 崇明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006590" y="5605939"/>
            <a:ext cx="161248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罗山（董寨） · 洋县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85800" y="320040"/>
            <a:ext cx="6667500" cy="1857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975" b="1" dirty="0">
                <a:solidFill>
                  <a:srgbClr val="D1552C"/>
                </a:solidFill>
                <a:latin typeface="Arial"/>
                <a:ea typeface="Microsoft YaHei"/>
                <a:cs typeface="Arial"/>
              </a:rPr>
              <a:t>应用 2 · 尺度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0082" y="600551"/>
            <a:ext cx="5067376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同一个模型给出省、市、县三级地图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37545" y="340995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代码库模块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6553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2E5E9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6538912"/>
            <a:ext cx="6834188" cy="28575"/>
          </a:xfrm>
          <a:prstGeom prst="rect">
            <a:avLst/>
          </a:prstGeom>
          <a:solidFill>
            <a:srgbClr val="1F5F9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4370" y="6646545"/>
            <a:ext cx="29356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鸟变了，还是看鸟的人变了？ · AOC 2026 新加坡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7857" y="66465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12 / 19</a:t>
            </a:r>
          </a:p>
        </p:txBody>
      </p:sp>
      <p:pic>
        <p:nvPicPr>
          <p:cNvPr id="10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112" y="1123950"/>
            <a:ext cx="8866822" cy="3905250"/>
          </a:xfrm>
          <a:prstGeom prst="rect">
            <a:avLst/>
          </a:prstGeom>
        </p:spPr>
      </p:pic>
      <p:sp>
        <p:nvSpPr>
          <p:cNvPr id="11" name="Rectangle 11"/>
          <p:cNvSpPr/>
          <p:nvPr/>
        </p:nvSpPr>
        <p:spPr>
          <a:xfrm>
            <a:off x="685800" y="5200650"/>
            <a:ext cx="5295900" cy="990600"/>
          </a:xfrm>
          <a:prstGeom prst="roundRect">
            <a:avLst>
              <a:gd name="adj" fmla="val 7692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876300" y="5400675"/>
            <a:ext cx="38100" cy="180975"/>
          </a:xfrm>
          <a:prstGeom prst="roundRect">
            <a:avLst>
              <a:gd name="adj" fmla="val 50000"/>
            </a:avLst>
          </a:prstGeom>
          <a:solidFill>
            <a:srgbClr val="1F5F9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93458" y="5415439"/>
            <a:ext cx="180886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一个模型，三个尺度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62012" y="5688806"/>
            <a:ext cx="254574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期望纪录数（省）× 份额（单元）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62012" y="5917406"/>
            <a:ext cx="272484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371 个地级单元 · 2,835 个县级单元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210300" y="5200650"/>
            <a:ext cx="5295900" cy="990600"/>
          </a:xfrm>
          <a:prstGeom prst="roundRect">
            <a:avLst>
              <a:gd name="adj" fmla="val 7692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6400800" y="5400675"/>
            <a:ext cx="38100" cy="180975"/>
          </a:xfrm>
          <a:prstGeom prst="roundRect">
            <a:avLst>
              <a:gd name="adj" fmla="val 50000"/>
            </a:avLst>
          </a:prstGeom>
          <a:solidFill>
            <a:srgbClr val="1F5F9E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517958" y="5415439"/>
            <a:ext cx="220363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换模型族：地图几乎不变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386512" y="5688806"/>
            <a:ext cx="28513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随机森林 / XGBoost：ρ = 0.62–0.90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386512" y="5917406"/>
            <a:ext cx="18359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差异集中在调查少的西部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85800" y="320040"/>
            <a:ext cx="6667500" cy="1857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975" b="1" dirty="0">
                <a:solidFill>
                  <a:srgbClr val="D1552C"/>
                </a:solidFill>
                <a:latin typeface="Arial"/>
                <a:ea typeface="Microsoft YaHei"/>
                <a:cs typeface="Arial"/>
              </a:rPr>
              <a:t>未来情景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0082" y="600551"/>
            <a:ext cx="6007865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未来纪录数取决于调查努力，而非排放情景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37545" y="340995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代码库模块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6553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2E5E9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6538912"/>
            <a:ext cx="7403782" cy="28575"/>
          </a:xfrm>
          <a:prstGeom prst="rect">
            <a:avLst/>
          </a:prstGeom>
          <a:solidFill>
            <a:srgbClr val="1F5F9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4370" y="6646545"/>
            <a:ext cx="29356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鸟变了，还是看鸟的人变了？ · AOC 2026 新加坡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7857" y="66465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13 / 19</a:t>
            </a:r>
          </a:p>
        </p:txBody>
      </p:sp>
      <p:sp>
        <p:nvSpPr>
          <p:cNvPr id="10" name="Line 10"/>
          <p:cNvSpPr/>
          <p:nvPr/>
        </p:nvSpPr>
        <p:spPr>
          <a:xfrm>
            <a:off x="1066800" y="5695950"/>
            <a:ext cx="6191250" cy="9525"/>
          </a:xfrm>
          <a:custGeom>
            <a:avLst/>
            <a:gdLst/>
            <a:ahLst/>
            <a:cxnLst/>
            <a:rect l="l" t="t" r="r" b="b"/>
            <a:pathLst>
              <a:path w="6191250" h="9525">
                <a:moveTo>
                  <a:pt x="0" y="0"/>
                </a:moveTo>
                <a:lnTo>
                  <a:pt x="6191250" y="0"/>
                </a:lnTo>
              </a:path>
            </a:pathLst>
          </a:custGeom>
          <a:noFill/>
          <a:ln w="9525">
            <a:solidFill>
              <a:srgbClr val="E2E5E9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880848" y="5638324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0</a:t>
            </a:r>
          </a:p>
        </p:txBody>
      </p:sp>
      <p:sp>
        <p:nvSpPr>
          <p:cNvPr id="12" name="Line 12"/>
          <p:cNvSpPr/>
          <p:nvPr/>
        </p:nvSpPr>
        <p:spPr>
          <a:xfrm>
            <a:off x="1066800" y="4482465"/>
            <a:ext cx="6191250" cy="9525"/>
          </a:xfrm>
          <a:custGeom>
            <a:avLst/>
            <a:gdLst/>
            <a:ahLst/>
            <a:cxnLst/>
            <a:rect l="l" t="t" r="r" b="b"/>
            <a:pathLst>
              <a:path w="6191250" h="9525">
                <a:moveTo>
                  <a:pt x="0" y="0"/>
                </a:moveTo>
                <a:lnTo>
                  <a:pt x="6191250" y="0"/>
                </a:lnTo>
              </a:path>
            </a:pathLst>
          </a:custGeom>
          <a:noFill/>
          <a:ln w="9525">
            <a:solidFill>
              <a:srgbClr val="E2E5E9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802529" y="4424839"/>
            <a:ext cx="1814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  <p:sp>
        <p:nvSpPr>
          <p:cNvPr id="14" name="Line 14"/>
          <p:cNvSpPr/>
          <p:nvPr/>
        </p:nvSpPr>
        <p:spPr>
          <a:xfrm>
            <a:off x="1066800" y="3268028"/>
            <a:ext cx="6191250" cy="9525"/>
          </a:xfrm>
          <a:custGeom>
            <a:avLst/>
            <a:gdLst/>
            <a:ahLst/>
            <a:cxnLst/>
            <a:rect l="l" t="t" r="r" b="b"/>
            <a:pathLst>
              <a:path w="6191250" h="9525">
                <a:moveTo>
                  <a:pt x="0" y="0"/>
                </a:moveTo>
                <a:lnTo>
                  <a:pt x="6191250" y="0"/>
                </a:lnTo>
              </a:path>
            </a:pathLst>
          </a:custGeom>
          <a:noFill/>
          <a:ln w="9525">
            <a:solidFill>
              <a:srgbClr val="E2E5E9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802529" y="3210401"/>
            <a:ext cx="1814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40</a:t>
            </a:r>
          </a:p>
        </p:txBody>
      </p:sp>
      <p:sp>
        <p:nvSpPr>
          <p:cNvPr id="16" name="Line 16"/>
          <p:cNvSpPr/>
          <p:nvPr/>
        </p:nvSpPr>
        <p:spPr>
          <a:xfrm>
            <a:off x="1066800" y="2054542"/>
            <a:ext cx="6191250" cy="9525"/>
          </a:xfrm>
          <a:custGeom>
            <a:avLst/>
            <a:gdLst/>
            <a:ahLst/>
            <a:cxnLst/>
            <a:rect l="l" t="t" r="r" b="b"/>
            <a:pathLst>
              <a:path w="6191250" h="9525">
                <a:moveTo>
                  <a:pt x="0" y="0"/>
                </a:moveTo>
                <a:lnTo>
                  <a:pt x="6191250" y="0"/>
                </a:lnTo>
              </a:path>
            </a:pathLst>
          </a:custGeom>
          <a:noFill/>
          <a:ln w="9525">
            <a:solidFill>
              <a:srgbClr val="E2E5E9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802529" y="1996916"/>
            <a:ext cx="1814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60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1512" y="1078706"/>
            <a:ext cx="21185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全国每年新纪录数（期望）</a:t>
            </a:r>
          </a:p>
        </p:txBody>
      </p:sp>
      <p:sp>
        <p:nvSpPr>
          <p:cNvPr id="19" name="Rectangle 19"/>
          <p:cNvSpPr/>
          <p:nvPr/>
        </p:nvSpPr>
        <p:spPr>
          <a:xfrm>
            <a:off x="1361122" y="4288155"/>
            <a:ext cx="449580" cy="1407795"/>
          </a:xfrm>
          <a:prstGeom prst="roundRect">
            <a:avLst>
              <a:gd name="adj" fmla="val 4237"/>
            </a:avLst>
          </a:prstGeom>
          <a:solidFill>
            <a:srgbClr val="DD9B86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415713" y="4098608"/>
            <a:ext cx="3403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23.2</a:t>
            </a:r>
          </a:p>
        </p:txBody>
      </p:sp>
      <p:sp>
        <p:nvSpPr>
          <p:cNvPr id="21" name="Rectangle 21"/>
          <p:cNvSpPr/>
          <p:nvPr/>
        </p:nvSpPr>
        <p:spPr>
          <a:xfrm>
            <a:off x="1868805" y="4294822"/>
            <a:ext cx="449580" cy="1401128"/>
          </a:xfrm>
          <a:prstGeom prst="roundRect">
            <a:avLst>
              <a:gd name="adj" fmla="val 4237"/>
            </a:avLst>
          </a:prstGeom>
          <a:solidFill>
            <a:srgbClr val="C24A23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923396" y="4105275"/>
            <a:ext cx="3403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23.1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48086" y="5811202"/>
            <a:ext cx="3842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2030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43050" y="60097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努力冻结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12980" y="6198870"/>
            <a:ext cx="12545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拟合范围内 51–55%</a:t>
            </a:r>
          </a:p>
        </p:txBody>
      </p:sp>
      <p:sp>
        <p:nvSpPr>
          <p:cNvPr id="26" name="Rectangle 26"/>
          <p:cNvSpPr/>
          <p:nvPr/>
        </p:nvSpPr>
        <p:spPr>
          <a:xfrm>
            <a:off x="2861310" y="4070032"/>
            <a:ext cx="449580" cy="1625918"/>
          </a:xfrm>
          <a:prstGeom prst="roundRect">
            <a:avLst>
              <a:gd name="adj" fmla="val 4237"/>
            </a:avLst>
          </a:prstGeom>
          <a:solidFill>
            <a:srgbClr val="DD9B86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2915901" y="3880485"/>
            <a:ext cx="3403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26.8</a:t>
            </a:r>
          </a:p>
        </p:txBody>
      </p:sp>
      <p:sp>
        <p:nvSpPr>
          <p:cNvPr id="28" name="Rectangle 28"/>
          <p:cNvSpPr/>
          <p:nvPr/>
        </p:nvSpPr>
        <p:spPr>
          <a:xfrm>
            <a:off x="3368040" y="4090035"/>
            <a:ext cx="449580" cy="1605915"/>
          </a:xfrm>
          <a:prstGeom prst="roundRect">
            <a:avLst>
              <a:gd name="adj" fmla="val 4237"/>
            </a:avLst>
          </a:prstGeom>
          <a:solidFill>
            <a:srgbClr val="C24A23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3423583" y="3900488"/>
            <a:ext cx="3403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26.5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147321" y="5811202"/>
            <a:ext cx="3842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2030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042285" y="60097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努力增长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712215" y="6198870"/>
            <a:ext cx="12545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拟合范围内 34–37%</a:t>
            </a:r>
          </a:p>
        </p:txBody>
      </p:sp>
      <p:sp>
        <p:nvSpPr>
          <p:cNvPr id="33" name="Rectangle 33"/>
          <p:cNvSpPr/>
          <p:nvPr/>
        </p:nvSpPr>
        <p:spPr>
          <a:xfrm>
            <a:off x="4361498" y="4262438"/>
            <a:ext cx="449580" cy="1433512"/>
          </a:xfrm>
          <a:prstGeom prst="roundRect">
            <a:avLst>
              <a:gd name="adj" fmla="val 4237"/>
            </a:avLst>
          </a:prstGeom>
          <a:solidFill>
            <a:srgbClr val="DD9B86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4416088" y="4072890"/>
            <a:ext cx="3403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23.6</a:t>
            </a:r>
          </a:p>
        </p:txBody>
      </p:sp>
      <p:sp>
        <p:nvSpPr>
          <p:cNvPr id="35" name="Rectangle 35"/>
          <p:cNvSpPr/>
          <p:nvPr/>
        </p:nvSpPr>
        <p:spPr>
          <a:xfrm>
            <a:off x="4868228" y="4259580"/>
            <a:ext cx="449580" cy="1436370"/>
          </a:xfrm>
          <a:prstGeom prst="roundRect">
            <a:avLst>
              <a:gd name="adj" fmla="val 4237"/>
            </a:avLst>
          </a:prstGeom>
          <a:solidFill>
            <a:srgbClr val="C24A23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4923771" y="4070032"/>
            <a:ext cx="3403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23.7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647508" y="5811202"/>
            <a:ext cx="3842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2050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542472" y="60097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努力冻结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212403" y="6198870"/>
            <a:ext cx="12545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拟合范围内 40–44%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861685" y="2209800"/>
            <a:ext cx="449580" cy="3486150"/>
          </a:xfrm>
          <a:prstGeom prst="roundRect">
            <a:avLst>
              <a:gd name="adj" fmla="val 4237"/>
            </a:avLst>
          </a:prstGeom>
          <a:solidFill>
            <a:srgbClr val="DD9B86">
              <a:alpha val="45000"/>
            </a:srgbClr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5916276" y="2020252"/>
            <a:ext cx="3403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57.4</a:t>
            </a:r>
          </a:p>
        </p:txBody>
      </p:sp>
      <p:sp>
        <p:nvSpPr>
          <p:cNvPr id="42" name="Rectangle 42"/>
          <p:cNvSpPr/>
          <p:nvPr/>
        </p:nvSpPr>
        <p:spPr>
          <a:xfrm>
            <a:off x="6368415" y="1942148"/>
            <a:ext cx="449580" cy="3753802"/>
          </a:xfrm>
          <a:prstGeom prst="roundRect">
            <a:avLst>
              <a:gd name="adj" fmla="val 4237"/>
            </a:avLst>
          </a:prstGeom>
          <a:solidFill>
            <a:srgbClr val="C24A23">
              <a:alpha val="45000"/>
            </a:srgbClr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6423958" y="1752600"/>
            <a:ext cx="3403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61.9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147696" y="5811202"/>
            <a:ext cx="3842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2050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042660" y="60097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努力增长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886755" y="6198870"/>
            <a:ext cx="9061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拟合范围内 2%</a:t>
            </a:r>
          </a:p>
        </p:txBody>
      </p:sp>
      <p:sp>
        <p:nvSpPr>
          <p:cNvPr id="47" name="Rectangle 47"/>
          <p:cNvSpPr/>
          <p:nvPr/>
        </p:nvSpPr>
        <p:spPr>
          <a:xfrm>
            <a:off x="4876800" y="1085850"/>
            <a:ext cx="133350" cy="133350"/>
          </a:xfrm>
          <a:prstGeom prst="roundRect">
            <a:avLst>
              <a:gd name="adj" fmla="val 14286"/>
            </a:avLst>
          </a:prstGeom>
          <a:solidFill>
            <a:srgbClr val="DD9B86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5054918" y="1094899"/>
            <a:ext cx="61856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SSP2-4.5</a:t>
            </a:r>
          </a:p>
        </p:txBody>
      </p:sp>
      <p:sp>
        <p:nvSpPr>
          <p:cNvPr id="49" name="Rectangle 49"/>
          <p:cNvSpPr/>
          <p:nvPr/>
        </p:nvSpPr>
        <p:spPr>
          <a:xfrm>
            <a:off x="6019800" y="1085850"/>
            <a:ext cx="133350" cy="133350"/>
          </a:xfrm>
          <a:prstGeom prst="roundRect">
            <a:avLst>
              <a:gd name="adj" fmla="val 14286"/>
            </a:avLst>
          </a:prstGeom>
          <a:solidFill>
            <a:srgbClr val="C24A23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6197918" y="1094899"/>
            <a:ext cx="61856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SSP5-8.5</a:t>
            </a:r>
          </a:p>
        </p:txBody>
      </p:sp>
      <p:sp>
        <p:nvSpPr>
          <p:cNvPr id="51" name="Line 51"/>
          <p:cNvSpPr/>
          <p:nvPr/>
        </p:nvSpPr>
        <p:spPr>
          <a:xfrm>
            <a:off x="1066800" y="5695950"/>
            <a:ext cx="6191250" cy="9525"/>
          </a:xfrm>
          <a:custGeom>
            <a:avLst/>
            <a:gdLst/>
            <a:ahLst/>
            <a:cxnLst/>
            <a:rect l="l" t="t" r="r" b="b"/>
            <a:pathLst>
              <a:path w="6191250" h="9525">
                <a:moveTo>
                  <a:pt x="0" y="0"/>
                </a:moveTo>
                <a:lnTo>
                  <a:pt x="6191250" y="0"/>
                </a:lnTo>
              </a:path>
            </a:pathLst>
          </a:custGeom>
          <a:noFill/>
          <a:ln w="9525">
            <a:solidFill>
              <a:srgbClr val="4F565E"/>
            </a:solidFill>
          </a:ln>
        </p:spPr>
      </p:sp>
      <p:sp>
        <p:nvSpPr>
          <p:cNvPr id="52" name="Rectangle 52"/>
          <p:cNvSpPr/>
          <p:nvPr/>
        </p:nvSpPr>
        <p:spPr>
          <a:xfrm>
            <a:off x="7581900" y="1066800"/>
            <a:ext cx="3924300" cy="1759268"/>
          </a:xfrm>
          <a:prstGeom prst="roundRect">
            <a:avLst>
              <a:gd name="adj" fmla="val 4331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53" name="Rectangle 53"/>
          <p:cNvSpPr/>
          <p:nvPr/>
        </p:nvSpPr>
        <p:spPr>
          <a:xfrm>
            <a:off x="7772400" y="1266825"/>
            <a:ext cx="38100" cy="180975"/>
          </a:xfrm>
          <a:prstGeom prst="roundRect">
            <a:avLst>
              <a:gd name="adj" fmla="val 50000"/>
            </a:avLst>
          </a:prstGeom>
          <a:solidFill>
            <a:srgbClr val="1F5F9E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7889558" y="1281589"/>
            <a:ext cx="232996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两种气候 × 两种努力情景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758112" y="1554956"/>
            <a:ext cx="216127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C24A23"/>
                </a:solidFill>
                <a:latin typeface="Arial"/>
                <a:ea typeface="Microsoft YaHei"/>
                <a:cs typeface="Arial"/>
              </a:rPr>
              <a:t>气候：SSP2-4.5 或 SSP5-8.5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758112" y="1783556"/>
            <a:ext cx="227957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5F9E"/>
                </a:solidFill>
                <a:latin typeface="Arial"/>
                <a:ea typeface="Microsoft YaHei"/>
                <a:cs typeface="Arial"/>
              </a:rPr>
              <a:t>努力：冻结，或每十年 +0.6 SD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7758112" y="2012156"/>
            <a:ext cx="151390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时间：2030 与 2050</a:t>
            </a:r>
          </a:p>
        </p:txBody>
      </p:sp>
      <p:sp>
        <p:nvSpPr>
          <p:cNvPr id="58" name="Rectangle 58"/>
          <p:cNvSpPr/>
          <p:nvPr/>
        </p:nvSpPr>
        <p:spPr>
          <a:xfrm>
            <a:off x="7581900" y="3149918"/>
            <a:ext cx="3924300" cy="1530668"/>
          </a:xfrm>
          <a:prstGeom prst="roundRect">
            <a:avLst>
              <a:gd name="adj" fmla="val 4978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59" name="Rectangle 59"/>
          <p:cNvSpPr/>
          <p:nvPr/>
        </p:nvSpPr>
        <p:spPr>
          <a:xfrm>
            <a:off x="7772400" y="3349942"/>
            <a:ext cx="38100" cy="180975"/>
          </a:xfrm>
          <a:prstGeom prst="roundRect">
            <a:avLst>
              <a:gd name="adj" fmla="val 50000"/>
            </a:avLst>
          </a:prstGeom>
          <a:solidFill>
            <a:srgbClr val="1F5F9E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7889558" y="3364706"/>
            <a:ext cx="220363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什么改变了期望纪录数？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758112" y="3638074"/>
            <a:ext cx="16716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C24A23"/>
                </a:solidFill>
                <a:latin typeface="Arial"/>
                <a:ea typeface="Microsoft YaHei"/>
                <a:cs typeface="Arial"/>
              </a:rPr>
              <a:t>换气候情景：几乎不变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758112" y="3866674"/>
            <a:ext cx="18359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5F9E"/>
                </a:solidFill>
                <a:latin typeface="Arial"/>
                <a:ea typeface="Microsoft YaHei"/>
                <a:cs typeface="Arial"/>
              </a:rPr>
              <a:t>努力继续增长：翻倍以上</a:t>
            </a:r>
          </a:p>
        </p:txBody>
      </p:sp>
      <p:sp>
        <p:nvSpPr>
          <p:cNvPr id="63" name="Rectangle 63"/>
          <p:cNvSpPr/>
          <p:nvPr/>
        </p:nvSpPr>
        <p:spPr>
          <a:xfrm>
            <a:off x="7581900" y="5003482"/>
            <a:ext cx="3924300" cy="1321118"/>
          </a:xfrm>
          <a:prstGeom prst="roundRect">
            <a:avLst>
              <a:gd name="adj" fmla="val 5768"/>
            </a:avLst>
          </a:prstGeom>
          <a:solidFill>
            <a:srgbClr val="1F5F9E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8063922" y="5447348"/>
            <a:ext cx="29602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这部分增长大多在数据范围之外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123225" y="5739765"/>
            <a:ext cx="284165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7E4F2"/>
                </a:solidFill>
                <a:latin typeface="Arial"/>
                <a:ea typeface="Microsoft YaHei"/>
                <a:cs typeface="Arial"/>
              </a:rPr>
              <a:t>浅色柱：仅 2% 的单元在拟合范围内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85800" y="320040"/>
            <a:ext cx="6667500" cy="1857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975" b="1" dirty="0">
                <a:solidFill>
                  <a:srgbClr val="D1552C"/>
                </a:solidFill>
                <a:latin typeface="Arial"/>
                <a:ea typeface="Microsoft YaHei"/>
                <a:cs typeface="Arial"/>
              </a:rPr>
              <a:t>未来情景 · 模型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0082" y="600551"/>
            <a:ext cx="6007865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同样的情景，三类模型在数据之外分道扬镳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37545" y="340995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代码库模块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6553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2E5E9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6538912"/>
            <a:ext cx="7973378" cy="28575"/>
          </a:xfrm>
          <a:prstGeom prst="rect">
            <a:avLst/>
          </a:prstGeom>
          <a:solidFill>
            <a:srgbClr val="1F5F9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4370" y="6646545"/>
            <a:ext cx="29356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鸟变了，还是看鸟的人变了？ · AOC 2026 新加坡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7857" y="66465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14 / 19</a:t>
            </a:r>
          </a:p>
        </p:txBody>
      </p:sp>
      <p:sp>
        <p:nvSpPr>
          <p:cNvPr id="10" name="Line 10"/>
          <p:cNvSpPr/>
          <p:nvPr/>
        </p:nvSpPr>
        <p:spPr>
          <a:xfrm>
            <a:off x="1257300" y="5829300"/>
            <a:ext cx="4095750" cy="9525"/>
          </a:xfrm>
          <a:custGeom>
            <a:avLst/>
            <a:gdLst/>
            <a:ahLst/>
            <a:cxnLst/>
            <a:rect l="l" t="t" r="r" b="b"/>
            <a:pathLst>
              <a:path w="4095750" h="9525">
                <a:moveTo>
                  <a:pt x="0" y="0"/>
                </a:moveTo>
                <a:lnTo>
                  <a:pt x="4095750" y="0"/>
                </a:lnTo>
              </a:path>
            </a:pathLst>
          </a:custGeom>
          <a:noFill/>
          <a:ln w="9525">
            <a:solidFill>
              <a:srgbClr val="E2E5E9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071348" y="5771674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0</a:t>
            </a:r>
          </a:p>
        </p:txBody>
      </p:sp>
      <p:sp>
        <p:nvSpPr>
          <p:cNvPr id="12" name="Line 12"/>
          <p:cNvSpPr/>
          <p:nvPr/>
        </p:nvSpPr>
        <p:spPr>
          <a:xfrm>
            <a:off x="1257300" y="4510088"/>
            <a:ext cx="4095750" cy="9525"/>
          </a:xfrm>
          <a:custGeom>
            <a:avLst/>
            <a:gdLst/>
            <a:ahLst/>
            <a:cxnLst/>
            <a:rect l="l" t="t" r="r" b="b"/>
            <a:pathLst>
              <a:path w="4095750" h="9525">
                <a:moveTo>
                  <a:pt x="0" y="0"/>
                </a:moveTo>
                <a:lnTo>
                  <a:pt x="4095750" y="0"/>
                </a:lnTo>
              </a:path>
            </a:pathLst>
          </a:custGeom>
          <a:noFill/>
          <a:ln w="9525">
            <a:solidFill>
              <a:srgbClr val="E2E5E9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993029" y="4452461"/>
            <a:ext cx="1814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  <p:sp>
        <p:nvSpPr>
          <p:cNvPr id="14" name="Line 14"/>
          <p:cNvSpPr/>
          <p:nvPr/>
        </p:nvSpPr>
        <p:spPr>
          <a:xfrm>
            <a:off x="1257300" y="3191828"/>
            <a:ext cx="4095750" cy="9525"/>
          </a:xfrm>
          <a:custGeom>
            <a:avLst/>
            <a:gdLst/>
            <a:ahLst/>
            <a:cxnLst/>
            <a:rect l="l" t="t" r="r" b="b"/>
            <a:pathLst>
              <a:path w="4095750" h="9525">
                <a:moveTo>
                  <a:pt x="0" y="0"/>
                </a:moveTo>
                <a:lnTo>
                  <a:pt x="4095750" y="0"/>
                </a:lnTo>
              </a:path>
            </a:pathLst>
          </a:custGeom>
          <a:noFill/>
          <a:ln w="9525">
            <a:solidFill>
              <a:srgbClr val="E2E5E9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993029" y="3134201"/>
            <a:ext cx="1814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40</a:t>
            </a:r>
          </a:p>
        </p:txBody>
      </p:sp>
      <p:sp>
        <p:nvSpPr>
          <p:cNvPr id="16" name="Line 16"/>
          <p:cNvSpPr/>
          <p:nvPr/>
        </p:nvSpPr>
        <p:spPr>
          <a:xfrm>
            <a:off x="1257300" y="1872615"/>
            <a:ext cx="4095750" cy="9525"/>
          </a:xfrm>
          <a:custGeom>
            <a:avLst/>
            <a:gdLst/>
            <a:ahLst/>
            <a:cxnLst/>
            <a:rect l="l" t="t" r="r" b="b"/>
            <a:pathLst>
              <a:path w="4095750" h="9525">
                <a:moveTo>
                  <a:pt x="0" y="0"/>
                </a:moveTo>
                <a:lnTo>
                  <a:pt x="4095750" y="0"/>
                </a:lnTo>
              </a:path>
            </a:pathLst>
          </a:custGeom>
          <a:noFill/>
          <a:ln w="9525">
            <a:solidFill>
              <a:srgbClr val="E2E5E9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993029" y="1814989"/>
            <a:ext cx="1814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60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1512" y="1078706"/>
            <a:ext cx="310954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2050 年全国每年新纪录数（SSP2-4.5）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13510" y="59636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努力冻结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747260" y="59636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努力增长</a:t>
            </a:r>
          </a:p>
        </p:txBody>
      </p:sp>
      <p:sp>
        <p:nvSpPr>
          <p:cNvPr id="21" name="Line 21"/>
          <p:cNvSpPr/>
          <p:nvPr/>
        </p:nvSpPr>
        <p:spPr>
          <a:xfrm>
            <a:off x="1733550" y="2041208"/>
            <a:ext cx="3333750" cy="2230755"/>
          </a:xfrm>
          <a:custGeom>
            <a:avLst/>
            <a:gdLst/>
            <a:ahLst/>
            <a:cxnLst/>
            <a:rect l="l" t="t" r="r" b="b"/>
            <a:pathLst>
              <a:path w="3333750" h="2230755">
                <a:moveTo>
                  <a:pt x="0" y="2230755"/>
                </a:moveTo>
                <a:lnTo>
                  <a:pt x="3333750" y="0"/>
                </a:lnTo>
              </a:path>
            </a:pathLst>
          </a:custGeom>
          <a:noFill/>
          <a:ln w="38100">
            <a:solidFill>
              <a:srgbClr val="1F5F9E"/>
            </a:solidFill>
          </a:ln>
        </p:spPr>
      </p:sp>
      <p:sp>
        <p:nvSpPr>
          <p:cNvPr id="22" name="Ellipse 22"/>
          <p:cNvSpPr/>
          <p:nvPr/>
        </p:nvSpPr>
        <p:spPr>
          <a:xfrm>
            <a:off x="1666875" y="4205288"/>
            <a:ext cx="133350" cy="133350"/>
          </a:xfrm>
          <a:prstGeom prst="ellipse">
            <a:avLst/>
          </a:prstGeom>
          <a:solidFill>
            <a:srgbClr val="1F5F9E"/>
          </a:solidFill>
          <a:ln>
            <a:noFill/>
          </a:ln>
        </p:spPr>
      </p:sp>
      <p:sp>
        <p:nvSpPr>
          <p:cNvPr id="23" name="Ellipse 23"/>
          <p:cNvSpPr/>
          <p:nvPr/>
        </p:nvSpPr>
        <p:spPr>
          <a:xfrm>
            <a:off x="5000625" y="1974532"/>
            <a:ext cx="133350" cy="133350"/>
          </a:xfrm>
          <a:prstGeom prst="ellipse">
            <a:avLst/>
          </a:prstGeom>
          <a:solidFill>
            <a:srgbClr val="1F5F9E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5205412" y="1976914"/>
            <a:ext cx="173887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5F9E"/>
                </a:solidFill>
                <a:latin typeface="Arial"/>
                <a:ea typeface="Microsoft YaHei"/>
                <a:cs typeface="Arial"/>
              </a:rPr>
              <a:t>风险模型 23.6 → 57.4</a:t>
            </a:r>
          </a:p>
        </p:txBody>
      </p:sp>
      <p:sp>
        <p:nvSpPr>
          <p:cNvPr id="25" name="Line 25"/>
          <p:cNvSpPr/>
          <p:nvPr/>
        </p:nvSpPr>
        <p:spPr>
          <a:xfrm>
            <a:off x="1733550" y="4305300"/>
            <a:ext cx="3333750" cy="9525"/>
          </a:xfrm>
          <a:custGeom>
            <a:avLst/>
            <a:gdLst/>
            <a:ahLst/>
            <a:cxnLst/>
            <a:rect l="l" t="t" r="r" b="b"/>
            <a:pathLst>
              <a:path w="3333750" h="9525">
                <a:moveTo>
                  <a:pt x="0" y="0"/>
                </a:moveTo>
                <a:lnTo>
                  <a:pt x="3333750" y="4762"/>
                </a:lnTo>
              </a:path>
            </a:pathLst>
          </a:custGeom>
          <a:noFill/>
          <a:ln w="38100">
            <a:solidFill>
              <a:srgbClr val="8A9099"/>
            </a:solidFill>
          </a:ln>
        </p:spPr>
      </p:sp>
      <p:sp>
        <p:nvSpPr>
          <p:cNvPr id="26" name="Ellipse 26"/>
          <p:cNvSpPr/>
          <p:nvPr/>
        </p:nvSpPr>
        <p:spPr>
          <a:xfrm>
            <a:off x="1666875" y="4238625"/>
            <a:ext cx="133350" cy="133350"/>
          </a:xfrm>
          <a:prstGeom prst="ellipse">
            <a:avLst/>
          </a:prstGeom>
          <a:solidFill>
            <a:srgbClr val="8A9099"/>
          </a:solidFill>
          <a:ln>
            <a:noFill/>
          </a:ln>
        </p:spPr>
      </p:sp>
      <p:sp>
        <p:nvSpPr>
          <p:cNvPr id="27" name="Ellipse 27"/>
          <p:cNvSpPr/>
          <p:nvPr/>
        </p:nvSpPr>
        <p:spPr>
          <a:xfrm>
            <a:off x="5000625" y="4243388"/>
            <a:ext cx="133350" cy="133350"/>
          </a:xfrm>
          <a:prstGeom prst="ellipse">
            <a:avLst/>
          </a:prstGeom>
          <a:solidFill>
            <a:srgbClr val="8A9099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205412" y="4245769"/>
            <a:ext cx="173887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随机森林 23.1 → 23.0</a:t>
            </a:r>
          </a:p>
        </p:txBody>
      </p:sp>
      <p:sp>
        <p:nvSpPr>
          <p:cNvPr id="29" name="Line 29"/>
          <p:cNvSpPr/>
          <p:nvPr/>
        </p:nvSpPr>
        <p:spPr>
          <a:xfrm>
            <a:off x="1733550" y="4936808"/>
            <a:ext cx="3333750" cy="489585"/>
          </a:xfrm>
          <a:custGeom>
            <a:avLst/>
            <a:gdLst/>
            <a:ahLst/>
            <a:cxnLst/>
            <a:rect l="l" t="t" r="r" b="b"/>
            <a:pathLst>
              <a:path w="3333750" h="489585">
                <a:moveTo>
                  <a:pt x="0" y="0"/>
                </a:moveTo>
                <a:lnTo>
                  <a:pt x="3333750" y="489585"/>
                </a:lnTo>
              </a:path>
            </a:pathLst>
          </a:custGeom>
          <a:noFill/>
          <a:ln w="38100">
            <a:solidFill>
              <a:srgbClr val="C24A23"/>
            </a:solidFill>
          </a:ln>
        </p:spPr>
      </p:sp>
      <p:sp>
        <p:nvSpPr>
          <p:cNvPr id="30" name="Ellipse 30"/>
          <p:cNvSpPr/>
          <p:nvPr/>
        </p:nvSpPr>
        <p:spPr>
          <a:xfrm>
            <a:off x="1666875" y="4870132"/>
            <a:ext cx="133350" cy="133350"/>
          </a:xfrm>
          <a:prstGeom prst="ellipse">
            <a:avLst/>
          </a:prstGeom>
          <a:solidFill>
            <a:srgbClr val="C24A23"/>
          </a:solidFill>
          <a:ln>
            <a:noFill/>
          </a:ln>
        </p:spPr>
      </p:sp>
      <p:sp>
        <p:nvSpPr>
          <p:cNvPr id="31" name="Ellipse 31"/>
          <p:cNvSpPr/>
          <p:nvPr/>
        </p:nvSpPr>
        <p:spPr>
          <a:xfrm>
            <a:off x="5000625" y="5359718"/>
            <a:ext cx="133350" cy="133350"/>
          </a:xfrm>
          <a:prstGeom prst="ellipse">
            <a:avLst/>
          </a:prstGeom>
          <a:solidFill>
            <a:srgbClr val="C24A23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5205412" y="5362099"/>
            <a:ext cx="162914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C24A23"/>
                </a:solidFill>
                <a:latin typeface="Arial"/>
                <a:ea typeface="Microsoft YaHei"/>
                <a:cs typeface="Arial"/>
              </a:rPr>
              <a:t>XGBoost 13.5 → 6.1</a:t>
            </a:r>
          </a:p>
        </p:txBody>
      </p:sp>
      <p:sp>
        <p:nvSpPr>
          <p:cNvPr id="33" name="Rectangle 33"/>
          <p:cNvSpPr/>
          <p:nvPr/>
        </p:nvSpPr>
        <p:spPr>
          <a:xfrm>
            <a:off x="7581900" y="1066800"/>
            <a:ext cx="3924300" cy="1454468"/>
          </a:xfrm>
          <a:prstGeom prst="roundRect">
            <a:avLst>
              <a:gd name="adj" fmla="val 5239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7772400" y="1266825"/>
            <a:ext cx="38100" cy="180975"/>
          </a:xfrm>
          <a:prstGeom prst="roundRect">
            <a:avLst>
              <a:gd name="adj" fmla="val 50000"/>
            </a:avLst>
          </a:prstGeom>
          <a:solidFill>
            <a:srgbClr val="1F5F9E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7889558" y="1281589"/>
            <a:ext cx="200625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同样的情景，三类模型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758112" y="1554956"/>
            <a:ext cx="16716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对“在哪里”意见一致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758112" y="1783556"/>
            <a:ext cx="173407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单元间 ρ = 0.62–0.90</a:t>
            </a:r>
          </a:p>
        </p:txBody>
      </p:sp>
      <p:sp>
        <p:nvSpPr>
          <p:cNvPr id="38" name="Rectangle 38"/>
          <p:cNvSpPr/>
          <p:nvPr/>
        </p:nvSpPr>
        <p:spPr>
          <a:xfrm>
            <a:off x="7581900" y="2845118"/>
            <a:ext cx="3924300" cy="1683068"/>
          </a:xfrm>
          <a:prstGeom prst="roundRect">
            <a:avLst>
              <a:gd name="adj" fmla="val 4527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7772400" y="3045142"/>
            <a:ext cx="38100" cy="180975"/>
          </a:xfrm>
          <a:prstGeom prst="roundRect">
            <a:avLst>
              <a:gd name="adj" fmla="val 50000"/>
            </a:avLst>
          </a:prstGeom>
          <a:solidFill>
            <a:srgbClr val="1F5F9E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7889558" y="3059906"/>
            <a:ext cx="161147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对“有多少”分歧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758112" y="3333274"/>
            <a:ext cx="10144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5F9E"/>
                </a:solidFill>
                <a:latin typeface="Arial"/>
                <a:ea typeface="Microsoft YaHei"/>
                <a:cs typeface="Arial"/>
              </a:rPr>
              <a:t>风险模型上升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758112" y="3561874"/>
            <a:ext cx="10144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随机森林持平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758112" y="3790474"/>
            <a:ext cx="10538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C24A23"/>
                </a:solidFill>
                <a:latin typeface="Arial"/>
                <a:ea typeface="Microsoft YaHei"/>
                <a:cs typeface="Arial"/>
              </a:rPr>
              <a:t>XGBoost 下降</a:t>
            </a:r>
          </a:p>
        </p:txBody>
      </p:sp>
      <p:sp>
        <p:nvSpPr>
          <p:cNvPr id="44" name="Rectangle 44"/>
          <p:cNvSpPr/>
          <p:nvPr/>
        </p:nvSpPr>
        <p:spPr>
          <a:xfrm>
            <a:off x="7581900" y="4851082"/>
            <a:ext cx="3924300" cy="1473518"/>
          </a:xfrm>
          <a:prstGeom prst="roundRect">
            <a:avLst>
              <a:gd name="adj" fmla="val 5171"/>
            </a:avLst>
          </a:prstGeom>
          <a:solidFill>
            <a:srgbClr val="1F5F9E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8586416" y="5252085"/>
            <a:ext cx="19152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不是模型之间的比赛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564880" y="5544502"/>
            <a:ext cx="1958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7E4F2"/>
                </a:solidFill>
                <a:latin typeface="Arial"/>
                <a:ea typeface="Microsoft YaHei"/>
                <a:cs typeface="Arial"/>
              </a:rPr>
              <a:t>在数据之外，没人能检验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915400" y="5782628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7E4F2"/>
                </a:solidFill>
                <a:latin typeface="Arial"/>
                <a:ea typeface="Microsoft YaHei"/>
                <a:cs typeface="Arial"/>
              </a:rPr>
              <a:t>哪个方向是对的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85800" y="320040"/>
            <a:ext cx="6667500" cy="1857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975" b="1" dirty="0">
                <a:solidFill>
                  <a:srgbClr val="D1552C"/>
                </a:solidFill>
                <a:latin typeface="Arial"/>
                <a:ea typeface="Microsoft YaHei"/>
                <a:cs typeface="Arial"/>
              </a:rPr>
              <a:t>应用 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0082" y="600551"/>
            <a:ext cx="5067376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预测能走多远，由数据支撑范围决定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47357" y="340995"/>
            <a:ext cx="12702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图 7 · SI 图 S6–S8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6553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2E5E9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6538912"/>
            <a:ext cx="8542020" cy="28575"/>
          </a:xfrm>
          <a:prstGeom prst="rect">
            <a:avLst/>
          </a:prstGeom>
          <a:solidFill>
            <a:srgbClr val="1F5F9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4370" y="6646545"/>
            <a:ext cx="29356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鸟变了，还是看鸟的人变了？ · AOC 2026 新加坡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7857" y="66465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15 / 19</a:t>
            </a:r>
          </a:p>
        </p:txBody>
      </p:sp>
      <p:pic>
        <p:nvPicPr>
          <p:cNvPr id="10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5905500" cy="4183380"/>
          </a:xfrm>
          <a:prstGeom prst="rect">
            <a:avLst/>
          </a:prstGeom>
        </p:spPr>
      </p:pic>
      <p:sp>
        <p:nvSpPr>
          <p:cNvPr id="11" name="Rectangle 11"/>
          <p:cNvSpPr/>
          <p:nvPr/>
        </p:nvSpPr>
        <p:spPr>
          <a:xfrm>
            <a:off x="6877050" y="1066800"/>
            <a:ext cx="4629150" cy="1197292"/>
          </a:xfrm>
          <a:prstGeom prst="roundRect">
            <a:avLst>
              <a:gd name="adj" fmla="val 6364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7067550" y="1266825"/>
            <a:ext cx="38100" cy="180975"/>
          </a:xfrm>
          <a:prstGeom prst="roundRect">
            <a:avLst>
              <a:gd name="adj" fmla="val 50000"/>
            </a:avLst>
          </a:prstGeom>
          <a:solidFill>
            <a:srgbClr val="1F5F9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184708" y="1281589"/>
            <a:ext cx="282935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支撑范围迅速缩小（SSP2-4.5）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053262" y="1554956"/>
            <a:ext cx="18359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落在拟合范围内的单元：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053262" y="1783556"/>
            <a:ext cx="31948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2030：48% → 2050：10% → 2080：2%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877050" y="2587942"/>
            <a:ext cx="4629150" cy="1197292"/>
          </a:xfrm>
          <a:prstGeom prst="roundRect">
            <a:avLst>
              <a:gd name="adj" fmla="val 6364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7067550" y="2787968"/>
            <a:ext cx="38100" cy="180975"/>
          </a:xfrm>
          <a:prstGeom prst="roundRect">
            <a:avLst>
              <a:gd name="adj" fmla="val 50000"/>
            </a:avLst>
          </a:prstGeom>
          <a:solidFill>
            <a:srgbClr val="1F5F9E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7184708" y="2802731"/>
            <a:ext cx="161147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机器学习也救不了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053262" y="3076099"/>
            <a:ext cx="18573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范围内一致（ρ = 0.54）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053262" y="3304699"/>
            <a:ext cx="8501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范围外分歧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877050" y="4109085"/>
            <a:ext cx="4629150" cy="1216342"/>
          </a:xfrm>
          <a:prstGeom prst="roundRect">
            <a:avLst>
              <a:gd name="adj" fmla="val 6265"/>
            </a:avLst>
          </a:prstGeom>
          <a:solidFill>
            <a:srgbClr val="1F5F9E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233991" y="4381500"/>
            <a:ext cx="19152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报告模型在哪里失效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605037" y="4673918"/>
            <a:ext cx="117317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7E4F2"/>
                </a:solidFill>
                <a:latin typeface="Arial"/>
                <a:ea typeface="Microsoft YaHei"/>
                <a:cs typeface="Arial"/>
              </a:rPr>
              <a:t>2030 年：可用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12455" y="4912042"/>
            <a:ext cx="1958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7E4F2"/>
                </a:solidFill>
                <a:latin typeface="Arial"/>
                <a:ea typeface="Microsoft YaHei"/>
                <a:cs typeface="Arial"/>
              </a:rPr>
              <a:t>世纪末：示意，不是预测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85800" y="320040"/>
            <a:ext cx="6667500" cy="1857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975" b="1" dirty="0">
                <a:solidFill>
                  <a:srgbClr val="D1552C"/>
                </a:solidFill>
                <a:latin typeface="Arial"/>
                <a:ea typeface="Microsoft YaHei"/>
                <a:cs typeface="Arial"/>
              </a:rPr>
              <a:t>局限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0082" y="600551"/>
            <a:ext cx="3813391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随结论一起带走的四条局限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31880" y="340995"/>
            <a:ext cx="2857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讨论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6553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2E5E9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6538912"/>
            <a:ext cx="9111615" cy="28575"/>
          </a:xfrm>
          <a:prstGeom prst="rect">
            <a:avLst/>
          </a:prstGeom>
          <a:solidFill>
            <a:srgbClr val="1F5F9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4370" y="6646545"/>
            <a:ext cx="29356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鸟变了，还是看鸟的人变了？ · AOC 2026 新加坡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7857" y="66465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16 / 19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85800" y="1066800"/>
            <a:ext cx="10820400" cy="1123950"/>
          </a:xfrm>
          <a:prstGeom prst="roundRect">
            <a:avLst>
              <a:gd name="adj" fmla="val 6780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685800" y="1066800"/>
            <a:ext cx="57150" cy="1123950"/>
          </a:xfrm>
          <a:prstGeom prst="roundRect">
            <a:avLst>
              <a:gd name="adj" fmla="val 50000"/>
            </a:avLst>
          </a:prstGeom>
          <a:solidFill>
            <a:srgbClr val="D1552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72502" y="1351121"/>
            <a:ext cx="3565931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事件是已发表的纪录，不是探测本身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75360" y="1737360"/>
            <a:ext cx="42367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我们解释的是纪录如何产生，而不是分布区扩张本身。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85800" y="2362200"/>
            <a:ext cx="10820400" cy="1123950"/>
          </a:xfrm>
          <a:prstGeom prst="roundRect">
            <a:avLst>
              <a:gd name="adj" fmla="val 6780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685800" y="2362200"/>
            <a:ext cx="57150" cy="1123950"/>
          </a:xfrm>
          <a:prstGeom prst="roundRect">
            <a:avLst>
              <a:gd name="adj" fmla="val 50000"/>
            </a:avLst>
          </a:prstGeom>
          <a:solidFill>
            <a:srgbClr val="D1552C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972502" y="2646521"/>
            <a:ext cx="209006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坐标精度最好约 1 km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75360" y="3032760"/>
            <a:ext cx="426826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因此保护区叠加检验用 0–5 km 缓冲区做敏感性分析。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85800" y="3657600"/>
            <a:ext cx="10820400" cy="1123950"/>
          </a:xfrm>
          <a:prstGeom prst="roundRect">
            <a:avLst>
              <a:gd name="adj" fmla="val 6780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685800" y="3657600"/>
            <a:ext cx="57150" cy="1123950"/>
          </a:xfrm>
          <a:prstGeom prst="roundRect">
            <a:avLst>
              <a:gd name="adj" fmla="val 50000"/>
            </a:avLst>
          </a:prstGeom>
          <a:solidFill>
            <a:srgbClr val="D1552C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72502" y="3941921"/>
            <a:ext cx="4227757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保护区边界只覆盖约三分之一的已列保护区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75360" y="4328160"/>
            <a:ext cx="446806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1,028 个有边界的保护区：不做空缺分析，不谈 30×30。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85800" y="4953000"/>
            <a:ext cx="10820400" cy="1123950"/>
          </a:xfrm>
          <a:prstGeom prst="roundRect">
            <a:avLst>
              <a:gd name="adj" fmla="val 6780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685800" y="4953000"/>
            <a:ext cx="57150" cy="1123950"/>
          </a:xfrm>
          <a:prstGeom prst="roundRect">
            <a:avLst>
              <a:gd name="adj" fmla="val 50000"/>
            </a:avLst>
          </a:prstGeom>
          <a:solidFill>
            <a:srgbClr val="D1552C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72502" y="5237321"/>
            <a:ext cx="3239431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2030 年以后的预测超出拟合范围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75360" y="5623560"/>
            <a:ext cx="38862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世纪末的地图只是示意；所用的努力系数是上限。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85800" y="320040"/>
            <a:ext cx="6667500" cy="1857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975" b="1" dirty="0">
                <a:solidFill>
                  <a:srgbClr val="D1552C"/>
                </a:solidFill>
                <a:latin typeface="Arial"/>
                <a:ea typeface="Microsoft YaHei"/>
                <a:cs typeface="Arial"/>
              </a:rPr>
              <a:t>要点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0082" y="600551"/>
            <a:ext cx="1305420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四个要点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31880" y="340995"/>
            <a:ext cx="2857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6553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2E5E9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6538912"/>
            <a:ext cx="9681210" cy="28575"/>
          </a:xfrm>
          <a:prstGeom prst="rect">
            <a:avLst/>
          </a:prstGeom>
          <a:solidFill>
            <a:srgbClr val="1F5F9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4370" y="6646545"/>
            <a:ext cx="29356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鸟变了，还是看鸟的人变了？ · AOC 2026 新加坡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7857" y="66465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17 / 19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85800" y="1047750"/>
            <a:ext cx="5295900" cy="990600"/>
          </a:xfrm>
          <a:prstGeom prst="roundRect">
            <a:avLst>
              <a:gd name="adj" fmla="val 7692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876300" y="1247775"/>
            <a:ext cx="38100" cy="180975"/>
          </a:xfrm>
          <a:prstGeom prst="roundRect">
            <a:avLst>
              <a:gd name="adj" fmla="val 50000"/>
            </a:avLst>
          </a:prstGeom>
          <a:solidFill>
            <a:srgbClr val="C24A23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92505" y="1254442"/>
            <a:ext cx="251509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1 新纪录确实带有气候信号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61060" y="1527810"/>
            <a:ext cx="274701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每个标准差：增温 1.36，努力 1.40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61060" y="1756410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分量相当，可在一个模型中分开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210300" y="1047750"/>
            <a:ext cx="5295900" cy="990600"/>
          </a:xfrm>
          <a:prstGeom prst="roundRect">
            <a:avLst>
              <a:gd name="adj" fmla="val 7692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6400800" y="1247775"/>
            <a:ext cx="38100" cy="180975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517005" y="1254442"/>
            <a:ext cx="272408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2 看的人越少，增温作用越大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385560" y="1527810"/>
            <a:ext cx="156751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增温 × 努力 = 0.85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385560" y="1756410"/>
            <a:ext cx="2133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调查不足的地区掩盖了信号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85800" y="2457450"/>
            <a:ext cx="5295900" cy="990600"/>
          </a:xfrm>
          <a:prstGeom prst="roundRect">
            <a:avLst>
              <a:gd name="adj" fmla="val 7692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876300" y="2657475"/>
            <a:ext cx="38100" cy="180975"/>
          </a:xfrm>
          <a:prstGeom prst="roundRect">
            <a:avLst>
              <a:gd name="adj" fmla="val 50000"/>
            </a:avLst>
          </a:prstGeom>
          <a:solidFill>
            <a:srgbClr val="23867A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992505" y="2664142"/>
            <a:ext cx="209709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3 把观测过程纳入模型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61060" y="2937510"/>
            <a:ext cx="28714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省份 × 年份 ×2.23 是最大的成分；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61060" y="3166110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努力的回报在下降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210300" y="2457450"/>
            <a:ext cx="5295900" cy="990600"/>
          </a:xfrm>
          <a:prstGeom prst="roundRect">
            <a:avLst>
              <a:gd name="adj" fmla="val 7692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6400800" y="2657475"/>
            <a:ext cx="38100" cy="180975"/>
          </a:xfrm>
          <a:prstGeom prst="roundRect">
            <a:avLst>
              <a:gd name="adj" fmla="val 50000"/>
            </a:avLst>
          </a:prstGeom>
          <a:solidFill>
            <a:srgbClr val="1F5F9E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6517005" y="2664142"/>
            <a:ext cx="23060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4 未来取决于我们怎么看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385560" y="2937510"/>
            <a:ext cx="17830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排放情景几乎不影响；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385560" y="3166110"/>
            <a:ext cx="17830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多数预测变化属于外推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85800" y="3981450"/>
            <a:ext cx="10820400" cy="1066800"/>
          </a:xfrm>
          <a:prstGeom prst="roundRect">
            <a:avLst>
              <a:gd name="adj" fmla="val 7143"/>
            </a:avLst>
          </a:prstGeom>
          <a:solidFill>
            <a:srgbClr val="1F5F9E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4247269" y="4135279"/>
            <a:ext cx="3697462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是鸟，还是看鸟的人？两者都是。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148739" y="4462939"/>
            <a:ext cx="189452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D7E4F2"/>
                </a:solidFill>
                <a:latin typeface="Arial"/>
                <a:ea typeface="Microsoft YaHei"/>
                <a:cs typeface="Arial"/>
              </a:rPr>
              <a:t>新纪录带有气候信号，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217670" y="4720114"/>
            <a:ext cx="375666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D7E4F2"/>
                </a:solidFill>
                <a:latin typeface="Arial"/>
                <a:ea typeface="Microsoft YaHei"/>
                <a:cs typeface="Arial"/>
              </a:rPr>
              <a:t>但只有把“怎么看”纳入模型，才能读出它。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70560" y="5585460"/>
            <a:ext cx="58780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下一步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71512" y="5860256"/>
            <a:ext cx="501527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两栖爬行类 · 监测优先级 = 气候暴露 ×（1 − 现有覆盖），落到县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85800" y="320040"/>
            <a:ext cx="6667500" cy="1857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975" b="1" dirty="0">
                <a:solidFill>
                  <a:srgbClr val="D1552C"/>
                </a:solidFill>
                <a:latin typeface="Arial"/>
                <a:ea typeface="Microsoft YaHei"/>
                <a:cs typeface="Arial"/>
              </a:rPr>
              <a:t>启示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0082" y="600551"/>
            <a:ext cx="5380873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把调查力量放到增温快、纪录少的地方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31880" y="340995"/>
            <a:ext cx="2857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讨论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6553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2E5E9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6538912"/>
            <a:ext cx="10250805" cy="28575"/>
          </a:xfrm>
          <a:prstGeom prst="rect">
            <a:avLst/>
          </a:prstGeom>
          <a:solidFill>
            <a:srgbClr val="1F5F9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4370" y="6646545"/>
            <a:ext cx="29356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鸟变了，还是看鸟的人变了？ · AOC 2026 新加坡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7857" y="66465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18 / 19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85800" y="1066800"/>
            <a:ext cx="5295900" cy="1219200"/>
          </a:xfrm>
          <a:prstGeom prst="roundRect">
            <a:avLst>
              <a:gd name="adj" fmla="val 6250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876300" y="1266825"/>
            <a:ext cx="38100" cy="180975"/>
          </a:xfrm>
          <a:prstGeom prst="roundRect">
            <a:avLst>
              <a:gd name="adj" fmla="val 50000"/>
            </a:avLst>
          </a:prstGeom>
          <a:solidFill>
            <a:srgbClr val="C24A23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93458" y="1281589"/>
            <a:ext cx="180886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气候信号最强的地方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62012" y="1554956"/>
            <a:ext cx="18359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增温效应在低努力处最大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62012" y="1783556"/>
            <a:ext cx="15073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低努力省份主要位于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62012" y="2012156"/>
            <a:ext cx="8501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西部与内陆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210300" y="1066800"/>
            <a:ext cx="5295900" cy="1219200"/>
          </a:xfrm>
          <a:prstGeom prst="roundRect">
            <a:avLst>
              <a:gd name="adj" fmla="val 6250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6400800" y="1266825"/>
            <a:ext cx="38100" cy="180975"/>
          </a:xfrm>
          <a:prstGeom prst="roundRect">
            <a:avLst>
              <a:gd name="adj" fmla="val 50000"/>
            </a:avLst>
          </a:prstGeom>
          <a:solidFill>
            <a:srgbClr val="1F5F9E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517958" y="1281589"/>
            <a:ext cx="220363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多投入也收获不大的地方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386512" y="1554956"/>
            <a:ext cx="21349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努力的回报从 2.18 降到 1.07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386512" y="1783556"/>
            <a:ext cx="15073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东部热点已接近饱和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386512" y="2012156"/>
            <a:ext cx="202818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省级：IRR 0.71，P = 0.028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85800" y="2552700"/>
            <a:ext cx="10820400" cy="1066800"/>
          </a:xfrm>
          <a:prstGeom prst="roundRect">
            <a:avLst>
              <a:gd name="adj" fmla="val 7143"/>
            </a:avLst>
          </a:prstGeom>
          <a:solidFill>
            <a:srgbClr val="1F5F9E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5496401" y="2714625"/>
            <a:ext cx="119919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监测优先级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124563" y="3034189"/>
            <a:ext cx="394287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D7E4F2"/>
                </a:solidFill>
                <a:latin typeface="Arial"/>
                <a:ea typeface="Microsoft YaHei"/>
                <a:cs typeface="Arial"/>
              </a:rPr>
              <a:t>把调查力量投向气候暴露高、调查不足的地区：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683204" y="3291364"/>
            <a:ext cx="282559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D7E4F2"/>
                </a:solidFill>
                <a:latin typeface="Arial"/>
                <a:ea typeface="Microsoft YaHei"/>
                <a:cs typeface="Arial"/>
              </a:rPr>
              <a:t>那里的新纪录携带最多的气候信息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85800" y="320040"/>
            <a:ext cx="6667500" cy="1857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975" b="1" dirty="0">
                <a:solidFill>
                  <a:srgbClr val="D1552C"/>
                </a:solidFill>
                <a:latin typeface="Arial"/>
                <a:ea typeface="Microsoft YaHei"/>
                <a:cs typeface="Arial"/>
              </a:rPr>
              <a:t>致谢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0082" y="600551"/>
            <a:ext cx="2872902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数据与代码全部开放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37545" y="340995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数据可用性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6553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2E5E9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85800" y="6538912"/>
            <a:ext cx="10820400" cy="28575"/>
          </a:xfrm>
          <a:prstGeom prst="rect">
            <a:avLst/>
          </a:prstGeom>
          <a:solidFill>
            <a:srgbClr val="1F5F9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4370" y="6646545"/>
            <a:ext cx="29356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鸟变了，还是看鸟的人变了？ · AOC 2026 新加坡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7857" y="66465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19 / 19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85800" y="1066800"/>
            <a:ext cx="5295900" cy="1562100"/>
          </a:xfrm>
          <a:prstGeom prst="roundRect">
            <a:avLst>
              <a:gd name="adj" fmla="val 4878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876300" y="1266825"/>
            <a:ext cx="38100" cy="180975"/>
          </a:xfrm>
          <a:prstGeom prst="roundRect">
            <a:avLst>
              <a:gd name="adj" fmla="val 50000"/>
            </a:avLst>
          </a:prstGeom>
          <a:solidFill>
            <a:srgbClr val="1F5F9E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93458" y="1281589"/>
            <a:ext cx="141409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开放数据与代码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62012" y="1554956"/>
            <a:ext cx="14114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CBNR (CC BY 4.0)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62012" y="1821656"/>
            <a:ext cx="26739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5F9E"/>
                </a:solidFill>
                <a:latin typeface="Arial"/>
                <a:ea typeface="Microsoft YaHei"/>
                <a:cs typeface="Arial"/>
              </a:rPr>
              <a:t>doi.org/10.5281/zenodo.20809949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62012" y="2088356"/>
            <a:ext cx="218920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5F9E"/>
                </a:solidFill>
                <a:latin typeface="Arial"/>
                <a:ea typeface="Microsoft YaHei"/>
                <a:cs typeface="Arial"/>
              </a:rPr>
              <a:t>github.com/dingchenchen6/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62012" y="2355056"/>
            <a:ext cx="269690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5F9E"/>
                </a:solidFill>
                <a:latin typeface="Arial"/>
                <a:ea typeface="Microsoft YaHei"/>
                <a:cs typeface="Arial"/>
              </a:rPr>
              <a:t>bird-newrecord-discovery-dated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210300" y="1066800"/>
            <a:ext cx="5295900" cy="1562100"/>
          </a:xfrm>
          <a:prstGeom prst="roundRect">
            <a:avLst>
              <a:gd name="adj" fmla="val 4878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6400800" y="1266825"/>
            <a:ext cx="38100" cy="180975"/>
          </a:xfrm>
          <a:prstGeom prst="roundRect">
            <a:avLst>
              <a:gd name="adj" fmla="val 50000"/>
            </a:avLst>
          </a:prstGeom>
          <a:solidFill>
            <a:srgbClr val="1F5F9E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517958" y="1281589"/>
            <a:ext cx="82193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其他数据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386512" y="1554956"/>
            <a:ext cx="248659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分布区：BirdLife International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386512" y="1821656"/>
            <a:ext cx="34658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气候：CRU TS 4.09 · WorldClim 2.1 · CMIP6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386512" y="2088356"/>
            <a:ext cx="258682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努力：286 万条 GBIF / eBird 记录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86512" y="2355056"/>
            <a:ext cx="215798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底图：审图号 GS(2019)1822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85800" y="2838450"/>
            <a:ext cx="10820400" cy="876300"/>
          </a:xfrm>
          <a:prstGeom prst="roundRect">
            <a:avLst>
              <a:gd name="adj" fmla="val 8696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98208" y="3062764"/>
            <a:ext cx="42715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致谢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99160" y="3356610"/>
            <a:ext cx="45662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感谢全国的观鸟者，以及每一位为 CBNR 贡献纪录的作者。</a:t>
            </a:r>
          </a:p>
        </p:txBody>
      </p:sp>
      <p:sp>
        <p:nvSpPr>
          <p:cNvPr id="27" name="Rectangle 27"/>
          <p:cNvSpPr/>
          <p:nvPr/>
        </p:nvSpPr>
        <p:spPr>
          <a:xfrm>
            <a:off x="10172700" y="3867150"/>
            <a:ext cx="1409700" cy="14097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28" name="Imag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900" y="3943350"/>
            <a:ext cx="1257300" cy="125730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9205874" y="4385310"/>
            <a:ext cx="8296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CBNR 数据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93555" y="46301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扫码下载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53415" y="4258628"/>
            <a:ext cx="3617728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感谢垂听，敬请讨论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6750" y="4752975"/>
            <a:ext cx="28006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F5F9E"/>
                </a:solidFill>
                <a:latin typeface="Arial"/>
                <a:ea typeface="Microsoft YaHei"/>
                <a:cs typeface="Arial"/>
              </a:rPr>
              <a:t>chenchen.ding@pku.edu.cn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85800" y="320040"/>
            <a:ext cx="6667500" cy="1857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975" b="1" dirty="0">
                <a:solidFill>
                  <a:srgbClr val="D1552C"/>
                </a:solidFill>
                <a:latin typeface="Arial"/>
                <a:ea typeface="Microsoft YaHei"/>
                <a:cs typeface="Arial"/>
              </a:rPr>
              <a:t>备用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0082" y="600551"/>
            <a:ext cx="7888843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按发表年份定年会夸大努力效应，并制造虚假的气候效应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787596" y="340995"/>
            <a:ext cx="7300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图 2 · 表 1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6553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2E5E9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674370" y="6646545"/>
            <a:ext cx="29356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鸟变了，还是看鸟的人变了？ · AOC 2026 新加坡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48866" y="6646545"/>
            <a:ext cx="1687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B1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660" y="1066800"/>
            <a:ext cx="8488680" cy="5334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85800" y="320040"/>
            <a:ext cx="6667500" cy="1857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975" b="1" dirty="0">
                <a:solidFill>
                  <a:srgbClr val="D1552C"/>
                </a:solidFill>
                <a:latin typeface="Arial"/>
                <a:ea typeface="Microsoft YaHei"/>
                <a:cs typeface="Arial"/>
              </a:rPr>
              <a:t>备用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0082" y="600551"/>
            <a:ext cx="6321361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设定稳健性：气候指标、时间窗口与努力指标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48968" y="340995"/>
            <a:ext cx="26866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图 3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6553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2E5E9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674370" y="6646545"/>
            <a:ext cx="29356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鸟变了，还是看鸟的人变了？ · AOC 2026 新加坡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48866" y="6646545"/>
            <a:ext cx="1687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B2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778" y="1066800"/>
            <a:ext cx="8133398" cy="5334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85800" y="320040"/>
            <a:ext cx="6667500" cy="1857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975" b="1" dirty="0">
                <a:solidFill>
                  <a:srgbClr val="D1552C"/>
                </a:solidFill>
                <a:latin typeface="Arial"/>
                <a:ea typeface="Microsoft YaHei"/>
                <a:cs typeface="Arial"/>
              </a:rPr>
              <a:t>备用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0082" y="600551"/>
            <a:ext cx="5380873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模型解剖：以物种分布区为参照的气候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48968" y="340995"/>
            <a:ext cx="26866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图 4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65532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E2E5E9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674370" y="6646545"/>
            <a:ext cx="29356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099"/>
                </a:solidFill>
                <a:latin typeface="Arial"/>
                <a:ea typeface="Microsoft YaHei"/>
                <a:cs typeface="Arial"/>
              </a:rPr>
              <a:t>鸟变了，还是看鸟的人变了？ · AOC 2026 新加坡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48866" y="6646545"/>
            <a:ext cx="1687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4F565E"/>
                </a:solidFill>
                <a:latin typeface="Arial"/>
                <a:ea typeface="Microsoft YaHei"/>
                <a:cs typeface="Arial"/>
              </a:rPr>
              <a:t>B3</a:t>
            </a:r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395" y="1066800"/>
            <a:ext cx="7395210" cy="5334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/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